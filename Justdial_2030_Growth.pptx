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1" d="100"/>
          <a:sy n="131" d="100"/>
        </p:scale>
        <p:origin x="9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062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852160" y="4023360"/>
            <a:ext cx="3291840" cy="11201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852160" y="0"/>
            <a:ext cx="137160" cy="514350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  •  FY26 → FY30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Justdial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68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growth strategy.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457200" cy="36576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65760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organic wedges. Two inorganic. A path to ₹3,250 Cr in revenue by FY30 — and a plan for the ₹5,570 Cr that funds it.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deeper.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4480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what we can't build.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Transformation  •  May 2026  •  Internal Discussion Document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one page.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055364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" cy="150876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56232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2112264"/>
            <a:ext cx="3598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 engine. Shifting category.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598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 ₹1,214 Cr at 29% margins. But quarterly traffic fell 4.7% YoY while paid campaigns rose only 4.3%. The classic search-directory model is being unbundled by AI assistants and vertical specialists.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31436" y="1691640"/>
            <a:ext cx="4055364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31436" y="1691640"/>
            <a:ext cx="54864" cy="150876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60036" y="1856232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ASPIRATION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60036" y="2112264"/>
            <a:ext cx="3598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₹3,250 Cr by FY30 — at 30% margins.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60036" y="2560320"/>
            <a:ext cx="3598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~2.7x revenue in four years. Paid SME base from 631K to 1.4M. Treasury yield no longer the dominant profit lever. Revenue mix diversified across ads, transactions, and AI-native products.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4055364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54864" cy="15087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" y="3483864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739896"/>
            <a:ext cx="3598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wedges. Four to build, two to buy.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4187952"/>
            <a:ext cx="3598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Organic: monetisation depth, vertical expansion, AI-native concierge, Reliance synergy. Inorganic: bolt-on M&amp;A in adjacent SME platforms, strategic partnerships for capability gaps.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31436" y="3319272"/>
            <a:ext cx="4055364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31436" y="3319272"/>
            <a:ext cx="54864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60036" y="3483864"/>
            <a:ext cx="35981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CAPITAL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0036" y="3739896"/>
            <a:ext cx="35981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₹3,500 Cr; return ₹2,000 Cr.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0036" y="4187952"/>
            <a:ext cx="35981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cash pile is the strategic asset. Suggested allocation: ~₹2,000 Cr M&amp;A war chest, ~₹1,500 Cr in capability builds and partnerships, ~₹2,000 Cr returned to shareholders via buybacks and dividends.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high-margin engine inside a category that is moving.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Top-line resilience and balance-sheet strength have masked an accelerating divergence between user demand and paid monetisation.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₹1,214 Cr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+6.3% YoY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47088" y="2057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38528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28.9%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938528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38528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36976" y="2057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28416" y="2148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₹5,570 Cr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28416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investments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8416" y="2807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+12.7% YoY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182.4M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users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950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−4.7% YoY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847088" y="3200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38528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631.5K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938528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campaigns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38528" y="3950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+4.3% YoY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36976" y="3200400"/>
            <a:ext cx="1325880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28416" y="32918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1.15%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328416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penetration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28416" y="39502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54.7M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4632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2057400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2057400"/>
            <a:ext cx="45720" cy="7315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2157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40680" y="21488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is becoming agentic.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23682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increasingly resolve "best AC repair near me" inside ChatGPT, Perplexity, and Google AI Overviews. Directory pages get bypassed.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46320" y="2843784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46320" y="2843784"/>
            <a:ext cx="45720" cy="7315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983480" y="294436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440680" y="2935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specialists pull intent.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40680" y="315468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Company, Practo, Zomato, MakeMyTrip, Apna own discrete verticals end-to-end. Justdial converts the long tail.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630168"/>
            <a:ext cx="384048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846320" y="3630168"/>
            <a:ext cx="45720" cy="7315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83480" y="37307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440680" y="372160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optionality is underused.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40680" y="39410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RRVL's 66.95% stake and the JioMart / WhatsApp / Reliance Retail distribution surface remain a strategic option not on the P&amp;L.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40080" y="445312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question.   </a:t>
            </a: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today's engine is monetising harder on a flat-to-shrinking audience, what does the next ₹2,000 Cr of revenue look like — and what funds it?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AMBITION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local search engine to India's SME growth platform.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deliberate shifts in what Justdial is, who pays for it, and what it earns from each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8229600" cy="7589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854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search directory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218541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97680" y="218541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SME platform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2724912"/>
            <a:ext cx="8229600" cy="7589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28163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EARN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30358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 on a search page</a:t>
            </a:r>
            <a:endParaRPr lang="en-US" sz="16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0358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97680" y="3035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Ads + transactions + SaaS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57200" y="3575304"/>
            <a:ext cx="8229600" cy="7589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40080" y="36667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PAYS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0080" y="3886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631K paying SMEs</a:t>
            </a:r>
            <a:endParaRPr lang="en-US" sz="16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8862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97680" y="3886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1.4M paying SMEs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40080" y="445312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headline.   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₹1,214 Cr → ₹3,250 Cr by FY30. ~28% revenue CAGR. EBITDA margins held at 28–30% through the journey.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wedges. Four to build. Two to buy.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wedge sized in incremental FY30 revenue. Together they bridge the ₹1,214 Cr → ₹3,250 Cr gap.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532120" cy="29260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 •  BUILD DEEPER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260604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63640" y="1874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 •  BUY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670048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3160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68680" y="2404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847088" y="24048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+₹500 Cr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" y="27066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Monetisation depth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94360" y="2980944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more of 54.7M listings; raise ARPC.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218688" y="2286000"/>
            <a:ext cx="2670048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18688" y="2286000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2423160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630168" y="2404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608576" y="24048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+₹350 Cr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355848" y="270662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expansion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355848" y="2980944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three verticals end-to-end.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457200" y="3410712"/>
            <a:ext cx="2670048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57200" y="3410712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47872"/>
            <a:ext cx="237744" cy="23774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68680" y="3529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1847088" y="352958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+₹250 Cr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594360" y="38313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concierge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594360" y="4105656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local discovery + transactions.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218688" y="3410712"/>
            <a:ext cx="2670048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3218688" y="3410712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3547872"/>
            <a:ext cx="237744" cy="23774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30168" y="3529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4608576" y="352958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+₹400 Cr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3355848" y="38313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synergy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3355848" y="4105656"/>
            <a:ext cx="2395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JioMart, WhatsApp, Reliance Retail, Jio Fin.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6080760" y="2286000"/>
            <a:ext cx="2606040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6080760" y="2286000"/>
            <a:ext cx="26060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423160"/>
            <a:ext cx="237744" cy="23774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6492240" y="24048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7406640" y="240487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+₹300 Cr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6217920" y="27066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M&amp;A</a:t>
            </a:r>
            <a:endParaRPr lang="en-US" sz="1250" dirty="0"/>
          </a:p>
        </p:txBody>
      </p:sp>
      <p:sp>
        <p:nvSpPr>
          <p:cNvPr id="44" name="Text 37"/>
          <p:cNvSpPr/>
          <p:nvPr/>
        </p:nvSpPr>
        <p:spPr>
          <a:xfrm>
            <a:off x="6217920" y="29809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acquisitions; capability + speed.</a:t>
            </a:r>
            <a:endParaRPr lang="en-US" sz="950" dirty="0"/>
          </a:p>
        </p:txBody>
      </p:sp>
      <p:sp>
        <p:nvSpPr>
          <p:cNvPr id="45" name="Shape 38"/>
          <p:cNvSpPr/>
          <p:nvPr/>
        </p:nvSpPr>
        <p:spPr>
          <a:xfrm>
            <a:off x="6080760" y="3410712"/>
            <a:ext cx="2606040" cy="10332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39"/>
          <p:cNvSpPr/>
          <p:nvPr/>
        </p:nvSpPr>
        <p:spPr>
          <a:xfrm>
            <a:off x="6080760" y="3410712"/>
            <a:ext cx="260604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3547872"/>
            <a:ext cx="237744" cy="237744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92240" y="352958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1300" dirty="0"/>
          </a:p>
        </p:txBody>
      </p:sp>
      <p:sp>
        <p:nvSpPr>
          <p:cNvPr id="49" name="Text 41"/>
          <p:cNvSpPr/>
          <p:nvPr/>
        </p:nvSpPr>
        <p:spPr>
          <a:xfrm>
            <a:off x="7406640" y="352958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i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+₹150 Cr</a:t>
            </a:r>
            <a:endParaRPr lang="en-US" sz="1300" dirty="0"/>
          </a:p>
        </p:txBody>
      </p:sp>
      <p:sp>
        <p:nvSpPr>
          <p:cNvPr id="50" name="Text 42"/>
          <p:cNvSpPr/>
          <p:nvPr/>
        </p:nvSpPr>
        <p:spPr>
          <a:xfrm>
            <a:off x="6217920" y="383133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</a:t>
            </a:r>
            <a:endParaRPr lang="en-US" sz="1250" dirty="0"/>
          </a:p>
        </p:txBody>
      </p:sp>
      <p:sp>
        <p:nvSpPr>
          <p:cNvPr id="51" name="Text 43"/>
          <p:cNvSpPr/>
          <p:nvPr/>
        </p:nvSpPr>
        <p:spPr>
          <a:xfrm>
            <a:off x="6217920" y="410565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infra, payments, logistics, JVs.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45"/>
          <p:cNvSpPr/>
          <p:nvPr/>
        </p:nvSpPr>
        <p:spPr>
          <a:xfrm>
            <a:off x="640080" y="445312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Wedges sum to </a:t>
            </a:r>
            <a:r>
              <a:rPr lang="en-US" sz="11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+₹1,950 Cr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incremental revenue.  Plus ~₹86 Cr baseline organic drift →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₹3,250 Cr FY30 target.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WEDGE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Monetisation depth.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1.15% paid penetration to 2.5%.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+₹500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2651760" cy="22860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54.7M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listings on the platform.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631K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paying. That's </a:t>
            </a:r>
            <a:r>
              <a:rPr lang="en-US" sz="11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1.15% paid penetration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well below sector benchmarks (IndiaMART: ~2.4%; Yelp: ~3%).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700K paying SMEs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 inside the existing free base — discovered, contacted, but unconverted.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PLAYS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2194560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46120" y="2194560"/>
            <a:ext cx="36576" cy="5486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37560" y="224942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03320" y="224942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pricing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244144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Per-lead and per-transaction tiers alongside subscription; align price with SME ROI.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46120" y="2779776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46120" y="2779776"/>
            <a:ext cx="36576" cy="5486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37560" y="2834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03320" y="283464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sales pods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03320" y="302666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intelligence + lead scoring across ~9,000 telesales reps; +15% conversion.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364992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46120" y="3364992"/>
            <a:ext cx="36576" cy="5486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337560" y="341985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03320" y="34198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funnel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03320" y="361188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dashboards for free listings; convert based on demonstrated lead value.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46120" y="3950208"/>
            <a:ext cx="26517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46120" y="3950208"/>
            <a:ext cx="36576" cy="54864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37560" y="400507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400507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ARPC ladder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03320" y="4197096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 with verified-vendor, RFQ priority, and analytics; +40% ARPC over 4 years.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TARGETS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0" y="2194560"/>
            <a:ext cx="2651760" cy="548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72200" y="2267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penetration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2468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1.15%</a:t>
            </a:r>
            <a:endParaRPr lang="en-US" sz="1200" dirty="0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505456"/>
            <a:ext cx="146304" cy="146304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269480" y="24688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2.50%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6035040" y="2779776"/>
            <a:ext cx="2651760" cy="548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172200" y="28529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SMEs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172200" y="30540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631 K</a:t>
            </a:r>
            <a:endParaRPr lang="en-US" sz="1200" dirty="0"/>
          </a:p>
        </p:txBody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090672"/>
            <a:ext cx="146304" cy="14630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269480" y="3054096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1.40 M</a:t>
            </a:r>
            <a:endParaRPr lang="en-US" sz="1300" dirty="0"/>
          </a:p>
        </p:txBody>
      </p:sp>
      <p:sp>
        <p:nvSpPr>
          <p:cNvPr id="45" name="Shape 41"/>
          <p:cNvSpPr/>
          <p:nvPr/>
        </p:nvSpPr>
        <p:spPr>
          <a:xfrm>
            <a:off x="6035040" y="3364992"/>
            <a:ext cx="2651760" cy="548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2"/>
          <p:cNvSpPr/>
          <p:nvPr/>
        </p:nvSpPr>
        <p:spPr>
          <a:xfrm>
            <a:off x="6172200" y="343814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ARPC</a:t>
            </a:r>
            <a:endParaRPr lang="en-US" sz="950" dirty="0"/>
          </a:p>
        </p:txBody>
      </p:sp>
      <p:sp>
        <p:nvSpPr>
          <p:cNvPr id="47" name="Text 43"/>
          <p:cNvSpPr/>
          <p:nvPr/>
        </p:nvSpPr>
        <p:spPr>
          <a:xfrm>
            <a:off x="6172200" y="363931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₹19.2 K</a:t>
            </a:r>
            <a:endParaRPr lang="en-US" sz="1200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3675888"/>
            <a:ext cx="146304" cy="146304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269480" y="36393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₹26 K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6035040" y="3950208"/>
            <a:ext cx="2651760" cy="548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6"/>
          <p:cNvSpPr/>
          <p:nvPr/>
        </p:nvSpPr>
        <p:spPr>
          <a:xfrm>
            <a:off x="6172200" y="4023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monetisation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6172200" y="42245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₹1,214 Cr</a:t>
            </a:r>
            <a:endParaRPr lang="en-US" sz="1200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261104"/>
            <a:ext cx="146304" cy="146304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269480" y="42245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₹1,714 Cr</a:t>
            </a:r>
            <a:endParaRPr lang="en-US" sz="1300" dirty="0"/>
          </a:p>
        </p:txBody>
      </p:sp>
      <p:sp>
        <p:nvSpPr>
          <p:cNvPr id="55" name="Shape 49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WEDGE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expansion.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three verticals end-to-end — from discovery to transaction.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+₹350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wins long-tail discovery but loses deep-vertical intent. The fix: pick three verticals where lead-to-transaction loops can be owned in-house — not licensed to Urban Company, Practo, or Zomato.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70048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53512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2944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services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05840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₹85,000 Cr TAM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344728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spend category, repeat behaviour, JD has the brand recall and SME density.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0080" y="3977640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MOVES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0080" y="4160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 network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+ payment in-app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guarantee + SLAs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36976" y="2788920"/>
            <a:ext cx="2670048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3236976" y="2788920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856" y="295351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785616" y="2944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3785616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 Cr TAM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19856" y="344728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and 1mg leave room in tier-2/3; JD's clinic listings cover what aggregators don't.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419856" y="3977640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MOVES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3419856" y="4160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+ tele-consult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lab routing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click-to-deliver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016752" y="2788920"/>
            <a:ext cx="2670048" cy="17830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6016752" y="2788920"/>
            <a:ext cx="2670048" cy="4572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2953512"/>
            <a:ext cx="292608" cy="29260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565392" y="2944368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6565392" y="317296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 Cr TAM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199632" y="3447288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Hyper-fragmented, mostly offline, no dominant aggregator outside test-prep. Coaching, schools, upskilling.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6199632" y="3977640"/>
            <a:ext cx="2304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MOVES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199632" y="4160520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institute directory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Demo-to-enrolment funnel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financing via Jio Fin.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WEDGE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concierge.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fight agentic search — be the local layer underneath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+₹250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THESIS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8686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ASSETS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5420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54.7M verified listings • 25 years of intent + reviews data • 631K paying SME relationships • ground sales force across 11,000+ pin codes.</a:t>
            </a:r>
            <a:endParaRPr lang="en-US" sz="10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60604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02920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29200" y="254203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chat-first agent that searches verified listings, books, transacts, and follows up — embedded in Justdial, JioMart, WhatsApp, and exposed as an API to AI assistants.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3246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ROLLOUT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3520440"/>
            <a:ext cx="2670048" cy="132588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54864" cy="13258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8368" y="36576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01  •  FY27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58368" y="38862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preview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58368" y="42519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agent on top of existing listings; one vertical (home services); learn what queries it actually solves.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236976" y="3520440"/>
            <a:ext cx="2670048" cy="132588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3236976" y="3520440"/>
            <a:ext cx="54864" cy="13258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38144" y="36576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02  •  FY28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438144" y="38862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 beta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3438144" y="42519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 in Justdial app; agentic flows for top 5 verticals; expose retrieval API to AI assistants.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016752" y="3520440"/>
            <a:ext cx="2670048" cy="132588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016752" y="3520440"/>
            <a:ext cx="54864" cy="13258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17920" y="3657600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03  •  FY29–30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217920" y="3886200"/>
            <a:ext cx="2304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Monetisation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6217920" y="4251960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on transactions; sponsored placements in agent responses; SaaS for SMEs to manage agent presence.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WEDGE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Reliance synergy unlock.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RRVL's 66.95% stake from cap-table to operating leverage.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+₹400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INTEGRATION VECTORS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" cy="10972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Distribution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400M+ Jio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Justdial verified-vendor listings into JioMart hyperlocal flows. Co-promotion of paid SMEs to Jio's consumer base.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2423160"/>
            <a:ext cx="777240" cy="82296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2487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FY30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66160" y="2670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+₹120 Cr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0233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5720" cy="10972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395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Commerce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28032" y="26517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 India users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28529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lead-gen and booking via WhatsApp Business API. SMEs respond in the messaging flow consumers are already in.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772400" y="2423160"/>
            <a:ext cx="777240" cy="82296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0" y="2487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FY30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0" y="2670048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+₹100 Cr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3493008"/>
            <a:ext cx="40233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493008"/>
            <a:ext cx="45720" cy="10972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Financial Services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credit + payments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" y="40599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Co-underwrite working capital loans to JD's 631K paying SMEs using JD's transaction and intent data; revenue share with JFS.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566160" y="3630168"/>
            <a:ext cx="777240" cy="82296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0" y="3694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FY30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66160" y="38770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+₹100 Cr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63440" y="3493008"/>
            <a:ext cx="402336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493008"/>
            <a:ext cx="45720" cy="109728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3602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Retail / Kirana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28032" y="38587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 kirana network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4059936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Justdial-Mart B2B procurement with Retail's kirana digitisation push. Single SME stack for both inbound and outbound.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72400" y="3630168"/>
            <a:ext cx="777240" cy="82296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772400" y="369417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FY30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772400" y="3877056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+₹80 Cr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WEDGE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W5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Bolt-on M&amp;A.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acquisitions over 24 months — for capability, not for scale.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+₹300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M&amp;A ARCHETYPES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2670048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267004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4231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Vertical platforms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0906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proven product in one of W2's three verticals. Plug into JD's SME book and Reliance distribution.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healthcare booking, salon SaaS, fitness.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776472"/>
            <a:ext cx="2670048" cy="201168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776472"/>
            <a:ext cx="1602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₹150–400 Cr each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5726" y="3776472"/>
            <a:ext cx="9765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targets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36976" y="2286000"/>
            <a:ext cx="2670048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36976" y="2286000"/>
            <a:ext cx="267004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9856" y="24231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B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19856" y="26334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 enablement SaaS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19856" y="30906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billing, inventory, payments, marketing tools for SMEs. Move JD from lead-gen to operating system.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19856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vertical POS, GST/invoicing, lite-CRM.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36976" y="3776472"/>
            <a:ext cx="2670048" cy="201168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74136" y="3776472"/>
            <a:ext cx="1602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₹100–250 Cr each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5502" y="3776472"/>
            <a:ext cx="9765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targets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16752" y="2286000"/>
            <a:ext cx="2670048" cy="169164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16752" y="2286000"/>
            <a:ext cx="2670048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99632" y="2423160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ARCHETYPE C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199632" y="2633472"/>
            <a:ext cx="2304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 local platforms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99632" y="3090672"/>
            <a:ext cx="2304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nascent gen-AI commerce platforms. Acquire teams, models, modern UX — leapfrog build-cycles.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99632" y="3602736"/>
            <a:ext cx="23042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conversational commerce, agent infra.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16752" y="3776472"/>
            <a:ext cx="2670048" cy="201168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53912" y="3776472"/>
            <a:ext cx="16020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₹50–200 Cr each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85278" y="3776472"/>
            <a:ext cx="9765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target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0080" y="413308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allocation.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war chest: 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₹1,500–2,000 Cr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over FY27–FY29. Funded entirely from existing cash. EBITDA-accretive within 18 months per deal.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INORGANIC WEDGE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W6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011680" y="868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partnerships.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capability access faster than we can build it — and at lower commitment than acquiring it.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0" y="777240"/>
            <a:ext cx="182880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0" y="841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+₹150 Cr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 incremental revenue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CAPABILITY GAPS, FOUR PARTNER ARCHETYPES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57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GAP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1792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 models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816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21792" y="29809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 partner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2423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Co-tune retrieval + agent stack on JD's listing graph; avoid building model R&amp;D from scratch.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4320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shape: </a:t>
            </a: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agreement + minority investment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57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3774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GAP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828032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payments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8163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28032" y="29809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/ acquirer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49440" y="24231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payments across booking + B2B flows. Capture transaction take rate.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49440" y="29992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shape: </a:t>
            </a: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JV (rev-share)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447288"/>
            <a:ext cx="402336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447288"/>
            <a:ext cx="457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" y="3538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GAP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21792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Hyperlocal logistics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" y="3977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21792" y="4142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network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0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transaction completion in home services, F&amp;B, B2B sample movement.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74320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shape: </a:t>
            </a: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partner + equity option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447288"/>
            <a:ext cx="4023360" cy="10515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663440" y="3447288"/>
            <a:ext cx="4572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28032" y="3538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GAP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828032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SaaS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28032" y="3977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828032" y="414223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Category-leading SMB software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49440" y="3584448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acquisition is too expensive, partner-and-distribute via JD's salesforce.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94944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shape: </a:t>
            </a: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Co-sell + minority equity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CREATION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bridge from ₹1,214 Cr to ₹3,250 Cr.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wedge sized at expected FY30 incremental revenue. Coral bars are organic, teal are inorganic.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70304" y="3310405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535936" y="3250831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401568" y="2904467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67200" y="2662012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32832" y="2488831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98464" y="2211740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64096" y="2003921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729728" y="1900012"/>
            <a:ext cx="109728" cy="91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3319549"/>
            <a:ext cx="755904" cy="840971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072661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₹1,214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80032" y="3259975"/>
            <a:ext cx="755904" cy="59575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42872" y="3013087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2872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645664" y="2913611"/>
            <a:ext cx="755904" cy="34636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08504" y="2666723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08504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Monet.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511296" y="2671156"/>
            <a:ext cx="755904" cy="242455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74136" y="2424268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74136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Verticals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376928" y="2497975"/>
            <a:ext cx="755904" cy="173182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239768" y="2251087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39768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AI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42560" y="2220884"/>
            <a:ext cx="755904" cy="277091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05400" y="1973996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4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05400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Reliance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08192" y="2013065"/>
            <a:ext cx="755904" cy="20781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71032" y="1766177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71032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 M&amp;A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973824" y="1909156"/>
            <a:ext cx="755904" cy="10390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36664" y="1662268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36664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Partners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39456" y="1909156"/>
            <a:ext cx="755904" cy="2251364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02296" y="1662268"/>
            <a:ext cx="1030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₹3,250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02296" y="4206240"/>
            <a:ext cx="1030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" y="4160520"/>
            <a:ext cx="82296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57200" y="4419468"/>
            <a:ext cx="2670048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457200" y="4419468"/>
            <a:ext cx="45720" cy="38404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21792" y="44651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CAGR FY26–30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21792" y="4593204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~28%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36976" y="4419468"/>
            <a:ext cx="2670048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236976" y="4419468"/>
            <a:ext cx="45720" cy="384048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401568" y="44651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(steady)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401568" y="4593204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28–30%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016752" y="4419468"/>
            <a:ext cx="2670048" cy="38404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16752" y="4419468"/>
            <a:ext cx="457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181344" y="4465188"/>
            <a:ext cx="23957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DEPLOYED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181344" y="4593204"/>
            <a:ext cx="23957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~₹2,000 Cr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SENSITIVITIES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risks. Each one is also a decision point.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view: 60% probability of base case, 25% upside, 15% downside.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772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0644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2130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displaces local-search traffic faster than expected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194560"/>
            <a:ext cx="1005840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06440" y="21305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(AI-native concierge) is the structural hedge. Accelerate Phase 02 if quarterly UV declines &gt;7%.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578608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6060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integration stays narrative-only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670048"/>
            <a:ext cx="1005840" cy="237744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7720" y="26700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06440" y="260604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synergy unlock to named owner + monthly review with RRVL. If no P&amp;L impact by Q3 FY27, replan.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054096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3081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integration failures destroy expected value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145536"/>
            <a:ext cx="1005840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17720" y="314553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06440" y="308152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thesis hygiene; max 2 deals concurrently; dedicated integration team; 18-month review gates.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529584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5570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demand softens (macro, GST, payment cycles)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17720" y="3621024"/>
            <a:ext cx="1005840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36210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06440" y="35570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Outcome-based pricing reduces SME risk; financial-services partner (JFS) provides credit cushion.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822960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0325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seen as slow → activist / valuation pressure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17720" y="4096512"/>
            <a:ext cx="1005840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4096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403250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capital policy by Q2 FY27. Begin buyback in parallel with M&amp;A; communicate single coherent plan.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4453128"/>
            <a:ext cx="7955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65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range. 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₹2,650 Cr  •  Base case ₹3,250 Cr  •  Upside ₹3,800 Cr.  </a:t>
            </a:r>
            <a:r>
              <a:rPr lang="en-US" sz="10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downside is +118% on FY26.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7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24 months.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→ Scaling → Expansion. Each horizon ships at least one wedge into the P&amp;L.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670048" cy="2834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670048" cy="5486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23134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0 – 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3200400"/>
            <a:ext cx="457200" cy="1828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pilot: 1 vertical (home services)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Reliance: 2 use cases live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pipeline + capital policy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research preview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1874520"/>
            <a:ext cx="2670048" cy="2834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36976" y="1874520"/>
            <a:ext cx="2670048" cy="5486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65576" y="205740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65576" y="23134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65576" y="28803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 – 18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65576" y="3200400"/>
            <a:ext cx="457200" cy="18288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11296" y="329184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nat'l rollout; outcome pricing GA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verticals 1–2 launch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M&amp;A deals closed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concierge: consumer beta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16752" y="1874520"/>
            <a:ext cx="2670048" cy="2834640"/>
          </a:xfrm>
          <a:prstGeom prst="rect">
            <a:avLst/>
          </a:prstGeom>
          <a:solidFill>
            <a:srgbClr val="0A1733"/>
          </a:solidFill>
          <a:ln w="12700">
            <a:solidFill>
              <a:srgbClr val="0A17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16752" y="187452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45352" y="2057400"/>
            <a:ext cx="2212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45352" y="2313432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45352" y="28803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18 – 24+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45352" y="3200400"/>
            <a:ext cx="45720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3291840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third vertical scales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3–5; integrate full SaaS stack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monetisation live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economics in P&amp;L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29200"/>
            <a:ext cx="9144000" cy="45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GROWTH STRATEGY  •  ORGANIC &amp; INORGANIC LEVERS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55280" y="48646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771900"/>
            <a:ext cx="20116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26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 /   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in the next 90 days.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plan depends on these — and they are leadership's to make, not the team's.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2670048" cy="18288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670048" cy="5486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5877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wedge 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₹3,250 Cr FY30 as the operating north star. Sequence wedges in this order — W1, W4, W3 first.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19856" y="2423160"/>
            <a:ext cx="2670048" cy="18288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19856" y="2423160"/>
            <a:ext cx="26700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48456" y="25877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48456" y="30632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Sanction the capital plan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48456" y="36118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Ringfence ₹2,000 Cr for M&amp;A and ₹1,500 Cr for capability builds. Announce buyback policy in parallel.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2423160"/>
            <a:ext cx="2670048" cy="182880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2423160"/>
            <a:ext cx="2670048" cy="54864"/>
          </a:xfrm>
          <a:prstGeom prst="rect">
            <a:avLst/>
          </a:prstGeom>
          <a:solidFill>
            <a:srgbClr val="F26522"/>
          </a:solidFill>
          <a:ln w="12700">
            <a:solidFill>
              <a:srgbClr val="F265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8232" y="25877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i="1" dirty="0">
                <a:solidFill>
                  <a:srgbClr val="F265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28232" y="306324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integration owners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28232" y="361188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named owner per wedge, accountable to a quarterly board review. Reliance synergy needs a dedicated MD.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48646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Justdial 2030  •  Strategy &amp; Transformation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955280" y="4864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2460</Words>
  <Application>Microsoft Office PowerPoint</Application>
  <PresentationFormat>On-screen Show (16:9)</PresentationFormat>
  <Paragraphs>415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Justdial 2030 — Growth Strategy</dc:title>
  <dc:subject>PptxGenJS Presentation</dc:subject>
  <dc:creator>Strategy &amp; Transformation</dc:creator>
  <cp:lastModifiedBy>Bhattacharya, Bodhisatwa</cp:lastModifiedBy>
  <cp:revision>2</cp:revision>
  <dcterms:created xsi:type="dcterms:W3CDTF">2026-05-21T04:31:57Z</dcterms:created>
  <dcterms:modified xsi:type="dcterms:W3CDTF">2026-05-21T04:34:56Z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2026-05-21T04:34:56Z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d2732189-82e5-4928-aecf-c32e39405dc0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10, 3, 0, 1</vt:lpwstr>
  </property>
</Properties>
</file>