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88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payments</c:v>
                </c:pt>
              </c:strCache>
            </c:strRef>
          </c:tx>
          <c:spPr>
            <a:solidFill>
              <a:srgbClr val="0B1F3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2027E</c:v>
                </c:pt>
                <c:pt idx="2">
                  <c:v>2030E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95</c:v>
                </c:pt>
                <c:pt idx="2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6-4758-8A2A-D3DB610C5E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lending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2027E</c:v>
                </c:pt>
                <c:pt idx="2">
                  <c:v>2030E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</c:v>
                </c:pt>
                <c:pt idx="1">
                  <c:v>85</c:v>
                </c:pt>
                <c:pt idx="2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B6-4758-8A2A-D3DB610C5E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Wealth + Insure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2027E</c:v>
                </c:pt>
                <c:pt idx="2">
                  <c:v>2030E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</c:v>
                </c:pt>
                <c:pt idx="1">
                  <c:v>42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B6-4758-8A2A-D3DB610C5E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Neobanking + other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2027E</c:v>
                </c:pt>
                <c:pt idx="2">
                  <c:v>2030E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</c:v>
                </c:pt>
                <c:pt idx="1">
                  <c:v>28</c:v>
                </c:pt>
                <c:pt idx="2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5B6-4758-8A2A-D3DB610C5E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67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71730"/>
          </a:solidFill>
          <a:ln w="12700">
            <a:solidFill>
              <a:srgbClr val="07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chapter of Pine Labs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inorganic growth blueprint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109728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three targeted acquisitions can lock-in offline scale, leap-frog online payments orchestration, and</a:t>
            </a:r>
            <a:r>
              <a:rPr lang="en-US" sz="1400" i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a profitable adjacency in corporate spend.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9244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DOCUMENT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9244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office of the CEO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Corporate Development team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244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pic>
        <p:nvPicPr>
          <p:cNvPr id="1028" name="Picture 4" descr="Top 10 PineLabs Alternatives &amp; Competitors in 2026 | G2">
            <a:extLst>
              <a:ext uri="{FF2B5EF4-FFF2-40B4-BE49-F238E27FC236}">
                <a16:creationId xmlns:a16="http://schemas.microsoft.com/office/drawing/2014/main" id="{F04442E4-DE6B-0A0E-356D-D01AA7A27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5395" y="-957283"/>
            <a:ext cx="4989313" cy="2619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to defend the core, capture the online tier, and open a profitable adjacency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 Labs has the scale, brand and post-IPO balance sheet to consolidate Indian merchant payments; we recommend a sequenced M&amp;A program over 18–24 months.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70332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70332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7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acquiring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 POS at India scale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3886200"/>
            <a:ext cx="457200" cy="228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40233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Mswipe to absorb the #3 mPOS network, take out ~₹200 Cr of duplicated infra cost, and lift offline market share from ~38% to ~50%.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5577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₹1,800–2,400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5800" y="59893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DEAL RANGE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434840" y="2148840"/>
            <a:ext cx="370332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434840" y="2148840"/>
            <a:ext cx="370332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37744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1208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21208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orchestration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663440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the platform behind every checkout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4663440" y="3886200"/>
            <a:ext cx="457200" cy="228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663440" y="40233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Juspay to own the orchestration layer powering Amazon, Flipkart, Google Pay, CRED; combine with Plural and Shopflo to control India's online payment stack.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663440" y="5577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₹10,000–12,500 Cr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663440" y="59893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DEAL RANGE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8412480" y="2148840"/>
            <a:ext cx="370332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412480" y="2148840"/>
            <a:ext cx="370332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37744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89720" y="2350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918972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spend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641080" y="30175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profitable B2B SaaS adjacency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8641080" y="3886200"/>
            <a:ext cx="457200" cy="228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8641080" y="402336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Zaggle (NSE-listed) to bolt on a profitable spend-management business, cross-sell into the 988K Pine Labs merchant base, and bring an additional ~₹500 Cr of high-margin revenue.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641080" y="5577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₹4,000–5,000 Cr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8641080" y="59893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DEAL RANGE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pic>
        <p:nvPicPr>
          <p:cNvPr id="2050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B8C486F6-B13E-5589-2930-7F7BE4CF5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SCENE  | 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Indian fintech evolved: from PSU monopoly to a $250B revenue prize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wave of policy created a new fintech category. The current wave — consolidation and orchestration — is where Pine Labs must win.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280160" y="3931920"/>
            <a:ext cx="9601200" cy="0"/>
          </a:xfrm>
          <a:prstGeom prst="line">
            <a:avLst/>
          </a:prstGeom>
          <a:noFill/>
          <a:ln w="254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88720" y="3840480"/>
            <a:ext cx="182880" cy="18288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338328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Liberalization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networks (Visa/MC) enter India; first private banks issue cards.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08960" y="3840480"/>
            <a:ext cx="182880" cy="18288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338328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RuPay &amp; NPCI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rails go live; IMPS in 2010 enables real-time retail payments.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3840480"/>
            <a:ext cx="182880" cy="18288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20640" y="338328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+ Demonetization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0624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launches; ₹500/1,000 notes withdrawn drive 10× jump in digital adoption.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49440" y="3840480"/>
            <a:ext cx="182880" cy="18288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040880" y="338328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2648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+ QR go pervasive; UPI volume crosses 10 Bn/month by 2023.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69680" y="3840480"/>
            <a:ext cx="182880" cy="18288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961120" y="338328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381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tightens PAs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Net-worth thresholds, PA licensing freeze, lending guardrails force a shake-out.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789920" y="3840480"/>
            <a:ext cx="182880" cy="182880"/>
          </a:xfrm>
          <a:prstGeom prst="ellipse">
            <a:avLst/>
          </a:prstGeom>
          <a:solidFill>
            <a:srgbClr val="C9A227"/>
          </a:solidFill>
          <a:ln w="1905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881360" y="3383280"/>
            <a:ext cx="0" cy="457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0584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2025–26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9669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wave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966960" y="4114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 Labs, Mobikwik IPOs; PayU exits India PG; private valuations reset.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2194560"/>
            <a:ext cx="3749040" cy="292608"/>
          </a:xfrm>
          <a:prstGeom prst="rect">
            <a:avLst/>
          </a:prstGeom>
          <a:solidFill>
            <a:srgbClr val="64748B">
              <a:alpha val="15000"/>
            </a:srgbClr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 |  Rail-building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80560" y="2194560"/>
            <a:ext cx="3749040" cy="292608"/>
          </a:xfrm>
          <a:prstGeom prst="rect">
            <a:avLst/>
          </a:prstGeom>
          <a:solidFill>
            <a:srgbClr val="1E40AF">
              <a:alpha val="15000"/>
            </a:srgbClr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8056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 |  Land-grab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21040" y="2194560"/>
            <a:ext cx="3749040" cy="292608"/>
          </a:xfrm>
          <a:prstGeom prst="rect">
            <a:avLst/>
          </a:prstGeom>
          <a:solidFill>
            <a:srgbClr val="C9A227">
              <a:alpha val="15000"/>
            </a:srgbClr>
          </a:solidFill>
          <a:ln w="63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21040" y="2194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 |  Consolidation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5486400"/>
            <a:ext cx="73152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5800" y="5532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5800" y="5760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is the M&amp;A phase. Sub-scale players (Mswipe, BharatPe lite, mid-tier PGs) face shrinking unit economics; PA-license bottlenecks favor incumbents with regulatory standing and balance sheet — Pine Labs sits at the intersection.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pic>
        <p:nvPicPr>
          <p:cNvPr id="51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8C8DDFCB-1F62-CEA1-EF28-A3F0ADFA8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SCENE  | 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market: $113B today, on a path to $550B+ — payments and digital lending lead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 Pine Labs plays in (digital payments + issuing + merchant credit) is ~$80B today and roughly triples by 2030.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FINTECH REVENUE POOL ($Bn)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377440"/>
          <a:ext cx="65836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3152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POINTS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732520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total Indian fintech revenue (2024–32E)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15200" y="3108960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0" y="31363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5.7Bn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732520" y="31821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transactions per month, ~12× ATM withdrawal volumes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0" y="3822192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0" y="384962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732520" y="389534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share of global real-time payment volumes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315200" y="4535424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0" y="45628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$1.3T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732520" y="460857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TAM by 2030 across payments + lending + wealth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15200" y="5248656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315200" y="5276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988K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732520" y="5321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 Labs merchants — the foundation we build 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315200" y="5961888"/>
            <a:ext cx="4663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61264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Mordor Intelligence (Jan 2026), TechSci (FY24 report), Citi Ventures (2024), BCG India Fintech 2030, NPCI; figures rebased to USD using ₹85 = $1.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pic>
        <p:nvPicPr>
          <p:cNvPr id="29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E57BE5F0-EF8F-166A-3D02-5E9F0E9E8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 |  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payments value chain: where margin sits and where it is moving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are migrating from network rents toward orchestration, issuing, and embedded credit — three of Pine Labs' sweet spots.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057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20574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78024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2990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" y="3264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MDR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merchant</a:t>
            </a:r>
            <a:endParaRPr lang="en-US" sz="8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740" y="2542032"/>
            <a:ext cx="137160" cy="137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51760" y="2423160"/>
            <a:ext cx="2057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2651760" y="2423160"/>
            <a:ext cx="2057400" cy="320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2478024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1752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/ Bank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761488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rate: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761488" y="2990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1.20–1.60%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2761488" y="3264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interchange + credit spread</a:t>
            </a:r>
            <a:endParaRPr lang="en-US" sz="8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542032"/>
            <a:ext cx="137160" cy="1371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846320" y="2423160"/>
            <a:ext cx="2057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846320" y="2423160"/>
            <a:ext cx="205740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78024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956048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rate: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956048" y="2990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0.10–0.20%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956048" y="3264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Visa, MC, RuPay,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(zero MDR)</a:t>
            </a:r>
            <a:endParaRPr lang="en-US" sz="8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2542032"/>
            <a:ext cx="137160" cy="13716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040880" y="2423160"/>
            <a:ext cx="2057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7040880" y="2423160"/>
            <a:ext cx="2057400" cy="3200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478024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066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 / PA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7150608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rate: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7150608" y="2990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0.20–0.40%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150608" y="3264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 Labs, Mswipe,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8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420" y="2542032"/>
            <a:ext cx="137160" cy="13716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9235440" y="2423160"/>
            <a:ext cx="205740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0"/>
          <p:cNvSpPr/>
          <p:nvPr/>
        </p:nvSpPr>
        <p:spPr>
          <a:xfrm>
            <a:off x="9235440" y="2423160"/>
            <a:ext cx="2057400" cy="32004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2478024"/>
            <a:ext cx="228600" cy="22860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60120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9345168" y="28346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rate: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9345168" y="2990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cost</a:t>
            </a:r>
            <a:endParaRPr lang="en-US" sz="1400" dirty="0"/>
          </a:p>
        </p:txBody>
      </p:sp>
      <p:sp>
        <p:nvSpPr>
          <p:cNvPr id="45" name="Text 34"/>
          <p:cNvSpPr/>
          <p:nvPr/>
        </p:nvSpPr>
        <p:spPr>
          <a:xfrm>
            <a:off x="9345168" y="32644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988K Pine Labs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850" dirty="0"/>
          </a:p>
        </p:txBody>
      </p:sp>
      <p:sp>
        <p:nvSpPr>
          <p:cNvPr id="46" name="Text 35"/>
          <p:cNvSpPr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MARGINS ARE MIGRATING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457200" y="42519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457200" y="4251960"/>
            <a:ext cx="54864" cy="1783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/>
          <p:nvPr/>
        </p:nvSpPr>
        <p:spPr>
          <a:xfrm>
            <a:off x="640080" y="4343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 Orchestration &amp; checkout</a:t>
            </a:r>
            <a:endParaRPr lang="en-US" sz="1300" dirty="0"/>
          </a:p>
        </p:txBody>
      </p:sp>
      <p:sp>
        <p:nvSpPr>
          <p:cNvPr id="50" name="Text 39"/>
          <p:cNvSpPr/>
          <p:nvPr/>
        </p:nvSpPr>
        <p:spPr>
          <a:xfrm>
            <a:off x="640080" y="47548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fragmentation pushes merchants to orchestration layers (Juspay, Razorpay, Cashfree). Take rates of 5–15 bps on top of PG fees, with SaaS retention.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4251960" y="42519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1"/>
          <p:cNvSpPr/>
          <p:nvPr/>
        </p:nvSpPr>
        <p:spPr>
          <a:xfrm>
            <a:off x="4251960" y="4251960"/>
            <a:ext cx="54864" cy="1783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/>
          <p:nvPr/>
        </p:nvSpPr>
        <p:spPr>
          <a:xfrm>
            <a:off x="4434840" y="4343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↗ Issuing-as-a-service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4434840" y="47548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prepaid + co-branded card growth (Qwikcilver, Hyperface, M2P). High-margin platform fees and float economics scale faster than acquiring.</a:t>
            </a:r>
            <a:endParaRPr lang="en-US" sz="1050" dirty="0"/>
          </a:p>
        </p:txBody>
      </p:sp>
      <p:sp>
        <p:nvSpPr>
          <p:cNvPr id="55" name="Shape 44"/>
          <p:cNvSpPr/>
          <p:nvPr/>
        </p:nvSpPr>
        <p:spPr>
          <a:xfrm>
            <a:off x="8092440" y="425196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5"/>
          <p:cNvSpPr/>
          <p:nvPr/>
        </p:nvSpPr>
        <p:spPr>
          <a:xfrm>
            <a:off x="8092440" y="4251960"/>
            <a:ext cx="54864" cy="1783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6"/>
          <p:cNvSpPr/>
          <p:nvPr/>
        </p:nvSpPr>
        <p:spPr>
          <a:xfrm>
            <a:off x="8275320" y="4343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↘ Pure POS acquiring</a:t>
            </a:r>
            <a:endParaRPr lang="en-US" sz="1300" dirty="0"/>
          </a:p>
        </p:txBody>
      </p:sp>
      <p:sp>
        <p:nvSpPr>
          <p:cNvPr id="58" name="Text 47"/>
          <p:cNvSpPr/>
          <p:nvPr/>
        </p:nvSpPr>
        <p:spPr>
          <a:xfrm>
            <a:off x="8275320" y="475488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zero-MDR + intense competition compresses POS economics. Survival requires scale, value-added services (EMI, lending, spend mgmt).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457200" y="61264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Take-rate ranges per BCG India payments primer (2024), Pine Labs RHP (Nov 2025), RBI MDR notifications; illustrative for credit card transactions.</a:t>
            </a:r>
            <a:endParaRPr lang="en-US" sz="800" dirty="0"/>
          </a:p>
        </p:txBody>
      </p:sp>
      <p:sp>
        <p:nvSpPr>
          <p:cNvPr id="60" name="Shape 4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62" name="Text 51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pic>
        <p:nvPicPr>
          <p:cNvPr id="63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63793223-2618-FC49-43B6-A72C76740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 | 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 Labs has the breadth, but uneven depth — offline strong, online sub-scale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the broadest payments franchise in India. The investment thesis is to convert breadth into depth in two segments (orchestration, spend) and consolidate in one (POS).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2194560"/>
            <a:ext cx="1728216" cy="41148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34640" y="21945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08576" y="2194560"/>
            <a:ext cx="1728216" cy="41148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08576" y="21945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82512" y="2194560"/>
            <a:ext cx="1728216" cy="41148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2512" y="21945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&amp; Prepaid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6448" y="2194560"/>
            <a:ext cx="1728216" cy="41148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56448" y="21945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Mgmt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30384" y="2194560"/>
            <a:ext cx="1728216" cy="41148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30384" y="2194560"/>
            <a:ext cx="1728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(merchants / TPV)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34640" y="269748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34640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08576" y="2697480"/>
            <a:ext cx="1728216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08576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FAST-FOLLOW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82512" y="269748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82512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56448" y="2697480"/>
            <a:ext cx="1728216" cy="502920"/>
          </a:xfrm>
          <a:prstGeom prst="rect">
            <a:avLst/>
          </a:prstGeom>
          <a:solidFill>
            <a:srgbClr val="FECAC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56448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30384" y="2697480"/>
            <a:ext cx="1728216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30384" y="269748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FAST-FOLLOW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product depth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34640" y="324612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34640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08576" y="3246120"/>
            <a:ext cx="1728216" cy="502920"/>
          </a:xfrm>
          <a:prstGeom prst="rect">
            <a:avLst/>
          </a:prstGeom>
          <a:solidFill>
            <a:srgbClr val="F4E4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08576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82512" y="324612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82512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56448" y="3246120"/>
            <a:ext cx="1728216" cy="502920"/>
          </a:xfrm>
          <a:prstGeom prst="rect">
            <a:avLst/>
          </a:prstGeom>
          <a:solidFill>
            <a:srgbClr val="FECAC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156448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930384" y="324612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30384" y="324612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enterprise relationships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34640" y="379476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834640" y="37947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08576" y="3794760"/>
            <a:ext cx="1728216" cy="502920"/>
          </a:xfrm>
          <a:prstGeom prst="rect">
            <a:avLst/>
          </a:prstGeom>
          <a:solidFill>
            <a:srgbClr val="F4E4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08576" y="37947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82512" y="379476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82512" y="37947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56448" y="3794760"/>
            <a:ext cx="1728216" cy="502920"/>
          </a:xfrm>
          <a:prstGeom prst="rect">
            <a:avLst/>
          </a:prstGeom>
          <a:solidFill>
            <a:srgbClr val="FECAC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156448" y="37947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930384" y="379476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930384" y="379476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contribution profit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34640" y="4343400"/>
            <a:ext cx="1728216" cy="502920"/>
          </a:xfrm>
          <a:prstGeom prst="rect">
            <a:avLst/>
          </a:prstGeom>
          <a:solidFill>
            <a:srgbClr val="F4E4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34640" y="434340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BREAK-EVEN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08576" y="4343400"/>
            <a:ext cx="1728216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08576" y="434340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82512" y="4343400"/>
            <a:ext cx="1728216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82512" y="434340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56448" y="4343400"/>
            <a:ext cx="1728216" cy="502920"/>
          </a:xfrm>
          <a:prstGeom prst="rect">
            <a:avLst/>
          </a:prstGeom>
          <a:solidFill>
            <a:srgbClr val="FECAC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156448" y="434340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930384" y="4343400"/>
            <a:ext cx="1728216" cy="502920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930384" y="434340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720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M&amp;A should focus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834640" y="4892040"/>
            <a:ext cx="1728216" cy="502920"/>
          </a:xfrm>
          <a:prstGeom prst="rect">
            <a:avLst/>
          </a:prstGeom>
          <a:solidFill>
            <a:srgbClr val="0B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834640" y="4892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08576" y="4892040"/>
            <a:ext cx="1728216" cy="502920"/>
          </a:xfrm>
          <a:prstGeom prst="rect">
            <a:avLst/>
          </a:prstGeom>
          <a:solidFill>
            <a:srgbClr val="0B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608576" y="4892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LEADER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82512" y="4892040"/>
            <a:ext cx="1728216" cy="502920"/>
          </a:xfrm>
          <a:prstGeom prst="rect">
            <a:avLst/>
          </a:prstGeom>
          <a:solidFill>
            <a:srgbClr val="0B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382512" y="4892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156448" y="4892040"/>
            <a:ext cx="1728216" cy="502920"/>
          </a:xfrm>
          <a:prstGeom prst="rect">
            <a:avLst/>
          </a:prstGeom>
          <a:solidFill>
            <a:srgbClr val="0B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156448" y="4892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930384" y="4892040"/>
            <a:ext cx="1728216" cy="502920"/>
          </a:xfrm>
          <a:prstGeom prst="rect">
            <a:avLst/>
          </a:prstGeom>
          <a:solidFill>
            <a:srgbClr val="0B1F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930384" y="4892040"/>
            <a:ext cx="1728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57200" y="5852160"/>
            <a:ext cx="182880" cy="182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85800" y="5824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STRONG / PROFITABLE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743200" y="5852160"/>
            <a:ext cx="182880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971800" y="5824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FAST-FOLLOW / AT SCALE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029200" y="5852160"/>
            <a:ext cx="182880" cy="182880"/>
          </a:xfrm>
          <a:prstGeom prst="rect">
            <a:avLst/>
          </a:prstGeom>
          <a:solidFill>
            <a:srgbClr val="F4E4A6"/>
          </a:solidFill>
          <a:ln w="12700">
            <a:solidFill>
              <a:srgbClr val="F4E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257800" y="5824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/ BREAK-EVEN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315200" y="5852160"/>
            <a:ext cx="182880" cy="182880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543800" y="5824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/ SUB-SCALE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9601200" y="5852160"/>
            <a:ext cx="182880" cy="18288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829800" y="58247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LEVER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pic>
        <p:nvPicPr>
          <p:cNvPr id="85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DA6EC598-18F7-D063-1983-2E768BFFF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three-horizon agenda: defend the core, win online, build the credit + spend franchise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horizon has an organic plan; M&amp;A is the accelerant where the build cost or time is prohibitive.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703320" cy="77724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670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0–18 months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2715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offline acquiring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smart-POS upgrade across legacy fleet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EMI + insurance + spend mgmt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terminal utilization from ~62% to 75%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4937760"/>
            <a:ext cx="3246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5029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INORGANIC ACCELERANT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Mswipe acquisition — eliminate #3 competitor, take out duplicated cost, lock in 50%+ POS share.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1945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2194560"/>
            <a:ext cx="3703320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2670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12–30 months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2715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orchestration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3383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Shopflo + Plural onto unified stack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top-50 D2C and quick commerce brands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AI-led checkout (ARR upside)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937760"/>
            <a:ext cx="3246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5029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INORGANIC ACCELERANT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5257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Juspay acquisition — buy the orchestration leader powering 8 of top-10 Indian PG flows; instant scale to global D2C and bank infrastructure.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2194560"/>
            <a:ext cx="370332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12480" y="2194560"/>
            <a:ext cx="3703320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4108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41080" y="2670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months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554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641080" y="2715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+ corporate spend franchise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4108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41080" y="3383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Setu open-banking infrastructure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credit at POS via NBFC + bank partners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Internationalize Qwikcilver issuing platform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41080" y="4937760"/>
            <a:ext cx="3246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641080" y="5029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INORGANIC ACCELERANT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41080" y="52578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Zaggle acquisition — listed B2B SaaS in corporate spend; bolt-on to issuing + cross-sell into 988K merchants and 716 brands.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pic>
        <p:nvPicPr>
          <p:cNvPr id="43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AC34DA95-8609-EF89-76E0-9EAC67AFB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THESIS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the moment: a once-in-a-cycle buyer's market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are aligned for the first time since 2018 — and they may not last past FY27.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53212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77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359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 prices have reset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92040" y="23591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−40% to −60%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288036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fintech valuations are 40–60% below 2021–22 highs. Mswipe last private mark is 2017; Juspay just hit unicorn at $1.27B vs. private comparables of $3–4B; PayU exiting India PG.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2194560"/>
            <a:ext cx="553212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72200" y="2194560"/>
            <a:ext cx="73152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49440" y="2359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favors incumbents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607040" y="235915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 + lending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446520" y="288036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PA license freeze (Feb 2024) and tightening of digital lending guardrails have erected meaningful moats. Pine Labs holds PA, prepaid, issuing licenses — many targets do not.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4297680"/>
            <a:ext cx="553212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57200" y="4297680"/>
            <a:ext cx="73152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805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 Labs has firepower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892040" y="4462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₹2,600 Cr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731520" y="49834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net proceeds (after OFS) of ~₹2,080 Cr + existing cash + post-IPO equity currency at ~25,000 Cr market cap. Sufficient for two of three targets in cash, all three with equity.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172200" y="4297680"/>
            <a:ext cx="553212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172200" y="4297680"/>
            <a:ext cx="73152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48056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9440" y="4462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reset is real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10607040" y="446227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cloud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446520" y="498348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embedded checkout, and real-time fraud are rebuilding payment infrastructure. Sub-scale players cannot fund the rebuild; we can consolidate engineering talent and customer bases.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pic>
        <p:nvPicPr>
          <p:cNvPr id="34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C63F0AE7-6102-60A9-C8DD-071EF7567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IDENTIFICATION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universe of 30+ candidates to a shortlist of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applied four hard filters and one strategic-fit overlay to a long-list of 32 Indian payments and adjacent fintechs.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914400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2286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companies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2926080"/>
            <a:ext cx="7772400" cy="5486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4274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1: Scale &amp; quality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0070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companies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3566160"/>
            <a:ext cx="6400800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48840" y="3566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2: Capability fit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32120" y="35661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companies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4206240"/>
            <a:ext cx="5029200" cy="548640"/>
          </a:xfrm>
          <a:prstGeom prst="rect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834640" y="420624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3: Synergy &amp; integrability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63540" y="42062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companies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4846320"/>
            <a:ext cx="3657600" cy="54864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20440" y="4846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4: Doability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484632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companies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SHORTLIST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0" y="2651760"/>
            <a:ext cx="16459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58400" y="2651760"/>
            <a:ext cx="1645920" cy="27432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Mswipe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0" y="3794760"/>
            <a:ext cx="16459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058400" y="3794760"/>
            <a:ext cx="1645920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584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Juspay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058400" y="4937760"/>
            <a:ext cx="16459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058400" y="4937760"/>
            <a:ext cx="164592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58400" y="4937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Zaggle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5257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(listed)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pic>
        <p:nvPicPr>
          <p:cNvPr id="38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1E55D5E6-4C0F-4273-2B20-9FEDF6A17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01  |  DEFEND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Mswipe — the offline consolidation play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the #3 mPOS player to take out a direct competitor, capture cost synergies, and lift offline market share to ~50%.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4160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2770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Mswipe Technologies Pvt. Ltd.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266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/ HQ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3172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 |  Mumbai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mPOS, QR, soundbox, payment gateway, MSME lending (Mcapital)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31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~16,000 pin codes, 800+ cities, ~700K active merchants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33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4379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₹342 Cr  |  +21% YoY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6360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P&amp;L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4782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₹277 Cr  |  Loss ₹46 Cr  |  EBITDA margin (2.1)%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038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PRIVATE ROUND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5184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 — $20M Series F (Alpha Wave + existing investors)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FUNDING / LAST MARK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5586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$126M raised  |  $210M valuation (2017)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8430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INVESTORS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Wave, B Capital, Matrix, DSG, Epiq, UC-RNT, Ola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WANT 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8775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overlap = direct synergy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761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Mswipe runs a competing POS network covering the same SME segment as Pine Labs. ~₹200 Cr of duplicated terminal, hosting, and bank-partner cost can be taken out.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73075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— and accretive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904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competitor that has consistently undercut on terminal economics; combined entity prices to value rather than to grab share.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87375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4800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Distressed acquirer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5047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valuation was 2017; 2024 round was a down-round bridge from existing investors. Investor patience after 13 years is thin — willing seller likely.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2194560"/>
            <a:ext cx="3200400" cy="416052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03920" y="2194560"/>
            <a:ext cx="73152" cy="4160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868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ARC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takeout (terminal infra, hosting, BD)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6984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₹160 Cr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run-rate; 60% of overlapping cost base.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800" y="3474720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8680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Qwikcilver, EMI, lending into base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69848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₹80 Cr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0" y="3813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high-margin revenue uplift on 700K merchants.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686800" y="4315968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86800" y="4379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Mcapital lending portfolio + license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69848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 Cr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86800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credit underwriting on the combined merchant base.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686800" y="5157216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86800" y="5852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run-rate synergy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86800" y="5989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₹280 Cr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pic>
        <p:nvPicPr>
          <p:cNvPr id="58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CF36C89D-CF00-8A9D-5584-1D6F5ADCD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02  |  WIN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Juspay — the orchestration crown jewel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transformational deal: buy the layer powering Amazon, Flipkart, Google Pay and HDFC. Expensive — but it is the platform we cannot build in time.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4160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2770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Juspay Technologies Pvt. Ltd.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266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/ HQ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3172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 |  Bengaluru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orchestration (merchant side) + bank checkout infrastructure (issuing side)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31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 daily txns  |  ~$1T annualized TPV  |  1,325 employees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33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4379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top-10 PG flows: Amazon, Flipkart, Google, Zepto, IndiGo, HDFC, HSBC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6360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4782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₹514 Cr  |  +61% YoY  |  FY25 PAT ₹62 Cr (first profitable year)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038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VALUATION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5184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~₹10,600 Cr ($1.27B) — unicorn round Jan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5586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+ Brazil (PIX), Dublin, Singapore, US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8430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INVESTORS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SoftBank Vision Fund 2, Accel, Kedaara, WestBridge, VEF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WANT 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8775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layer above every PG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761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Juspay sits between merchants and PGs. As Razorpay/Cashfree/PhonePe fragment, orchestration is the durable layer. Plural can never reach this scale organically.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68503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infrastructure embedded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8587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revenue is bank-side (HDFC, HSBC) — Pine Labs gains a TSP relationship with the largest issuers in India, complementing Setu.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78231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4709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optionality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9560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Brazil (PIX), Dublin, Singapore, US. Aligns with our SEA / MEA / US ambition without building local presence from scratch.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2194560"/>
            <a:ext cx="3200400" cy="416052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03920" y="2194560"/>
            <a:ext cx="73152" cy="4160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868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ARC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+ Shopflo onto Juspay rails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6984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₹120 Cr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takeout of duplicated PG and orchestration tech.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800" y="3474720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8680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issuing-as-a-service to Juspay bank clients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69848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₹180 Cr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0" y="3813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Qwikcilver + Setu platform to HDFC, HSBC, Yes.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686800" y="4315968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86800" y="4379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catalyst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69848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₹100 Cr+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86800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SEA / MEA entry without building country-by-country.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686800" y="5157216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86800" y="5852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run-rate synergy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86800" y="5989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₹400+ Cr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pic>
        <p:nvPicPr>
          <p:cNvPr id="58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BE621A14-4DD9-C313-E760-3EDC44E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03  |  BUILD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Zaggle — a listed, profitable adjacency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corporate-spend SaaS at ~40× P/E. Bolt onto Qwikcilver issuing, cross-sell into 988K merchants, and add ~₹500 Cr of high-margin revenue.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41605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0080" y="2770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Zaggle Prepaid Ocean Services Ltd  (NSE: ZAGGLE)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266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/ HQ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0080" y="3172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 |  Hyderabad / Bengaluru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corporate spend SaaS + prepaid issuing (Save, Propel, CEMS, Payroll Card)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313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corporates, banks (Federal, Yes); deals with Honasa, Supreme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336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0080" y="4379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~₹3,400 Cr  |  PE ~42×  |  PB ~7.5×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6360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0080" y="4782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~₹775 Cr  |  +60% YoY (FY24: ~₹485 Cr)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50383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" y="5184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~10%  |  PAT ~₹85 Cr (FY25)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M&amp;A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40080" y="5586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Enterprises (May 2026, ₹68 Cr); previously TaxSpanner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8430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/ LIQUIDITY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008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Sept 2023; ~73% non-promoter; F&amp;O tradeable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WANT 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8775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514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bolt-on, day one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761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Mswipe and Juspay, Zaggle is profitable and listed. Public-market premium can be financed with Pine Labs equity at a similar trading multiple.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68503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— not overlapping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8587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management is a category Pine Labs does not play in today. Zaggle adds the corporate side to our merchant-side strength.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782312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4709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engine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9560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Zaggle's 3,000 corporates + Pine Labs' 988K merchants = a closed-loop B2B network for cards, FX, expense, and rewards.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2194560"/>
            <a:ext cx="3200400" cy="416052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503920" y="2194560"/>
            <a:ext cx="73152" cy="4160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8680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ARC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platform consolidation onto Qwikcilver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69848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₹60 Cr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Zaggle prepaid card BIN sponsorship + processing.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86800" y="3474720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8680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into Pine Labs merchants / brands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698480" y="3538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₹120 Cr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686800" y="3813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Penetrate the 716 brand and 988K merchant base.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686800" y="4315968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86800" y="4379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Public-currency synergy in M&amp;A roll-up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69848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E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 Cr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86800" y="46542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cost base for next India spend / fintech tuck-ins.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686800" y="5157216"/>
            <a:ext cx="2834640" cy="0"/>
          </a:xfrm>
          <a:prstGeom prst="line">
            <a:avLst/>
          </a:prstGeom>
          <a:noFill/>
          <a:ln w="635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86800" y="5852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F4E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run-rate synergy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86800" y="5989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₹220 Cr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pic>
        <p:nvPicPr>
          <p:cNvPr id="58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7D297CDE-3836-5D5B-99E7-7926595FE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 |  MSWIPE DEAL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Mswipe is the most actionable target — illustrative deal economics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₹2,000 Cr deal, 50/50 cash-stock, ~₹280 Cr run-rate synergy by Year 2, EPS accretive from Year 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VALUATION BRIDGE (₹ Cr)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Mswipe standalone EV (3.5× FY25 rev)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2679192"/>
            <a:ext cx="1267968" cy="310896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1500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₹1,200 Cr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6400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synergies NPV @ 12% × 5y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3246120"/>
            <a:ext cx="612851" cy="31089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3172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₹580 Cr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21608"/>
            <a:ext cx="6400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7398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synergies NPV @ 12% × 5y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3813048"/>
            <a:ext cx="285293" cy="31089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15000" y="37398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₹270 Cr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288536"/>
            <a:ext cx="6400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premium (~10%)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4379976"/>
            <a:ext cx="211328" cy="310896"/>
          </a:xfrm>
          <a:prstGeom prst="rect">
            <a:avLst/>
          </a:prstGeom>
          <a:solidFill>
            <a:srgbClr val="F4E4A6"/>
          </a:solidFill>
          <a:ln w="12700">
            <a:solidFill>
              <a:srgbClr val="F4E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15000" y="43068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₹200 Cr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55464"/>
            <a:ext cx="64008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737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Indicative offer envelope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4946904"/>
            <a:ext cx="2377440" cy="3108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15000" y="4873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₹2,250 Cr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0" y="2194560"/>
            <a:ext cx="438912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SNAPSHOT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26974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deal value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0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₹1,800–2,400 Cr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98080" y="301752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0" y="30815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EV / FY25 revenue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0" y="3081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5.3–7.0×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340156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 mix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0" y="34655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cash, ~50% Pine Labs stock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0" y="378561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98080" y="3849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use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0" y="38496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~₹1,000–1,200 Cr (within IPO proceeds)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416966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98080" y="42336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to Pine Labs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058400" y="4233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~3.5–4.5%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98080" y="455371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98080" y="4617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synergies (Yr 2)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58400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₹280 Cr (cost + cross-sell)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98080" y="4937760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498080" y="5001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Synergies / deal value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058400" y="5001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98080" y="5321808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98080" y="5385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accretion (Yr 2)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058400" y="5385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 to +9%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98080" y="5705856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498080" y="5769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(synergy NPV / equity check)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058400" y="57698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years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498080" y="6089904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61264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in companion Excel. Synergy figures are illustrative for discussion; subject to diligence. Assumes 8.5× exit multiple in DCF terminal year.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pic>
        <p:nvPicPr>
          <p:cNvPr id="60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24A616C5-8B7B-DCBF-1F9D-F97653B9C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mitigations, and a sequenced 18-month execution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73152" cy="4572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Mswipe first (highest-conviction, lowest execution risk), Zaggle second (listed-company optionality), Juspay last (largest prize, requires post-deal credibility).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65760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657600" cy="320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999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networks notoriously hard to merge — terminal SKUs, bank tie-ups, BIN sponsorships.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94360" y="3730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separate brands for 12 months; consolidate cloud &amp; BD first, terminal rollout in Yr 2.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2423160"/>
            <a:ext cx="365760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51960" y="2423160"/>
            <a:ext cx="3657600" cy="320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approval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9120" y="2999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clearance non-trivial given offline concentration (Pine Labs + Mswipe ~50% share).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0" y="3730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Pre-file with CCI; offer divestiture commitments on smaller verticals (parking, transit POS).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423160"/>
            <a:ext cx="3657600" cy="1737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46720" y="2423160"/>
            <a:ext cx="3657600" cy="3200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83880" y="2423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retention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8388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83880" y="2999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Mswipe engineering and BD talent — likelihood of attrition post-deal.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8388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83880" y="3730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pool of 8–10% of deal value vesting over 3 years for top 100 employees.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18-MONTH EXECUTION ROADMAP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1247120" cy="0"/>
          </a:xfrm>
          <a:prstGeom prst="line">
            <a:avLst/>
          </a:prstGeom>
          <a:noFill/>
          <a:ln w="254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5138928"/>
            <a:ext cx="146304" cy="146304"/>
          </a:xfrm>
          <a:prstGeom prst="ellipse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937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 |  Mobilize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394960"/>
            <a:ext cx="2560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54406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M&amp;A office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advisors (Axis/Avendus)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Mswipe board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10128" y="5138928"/>
            <a:ext cx="146304" cy="14630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83280" y="4937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 |  Mswipe close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83280" y="5394960"/>
            <a:ext cx="2560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74720" y="54406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+ CCI filing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+ announce Mswipe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Zaggle approach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36208" y="5138928"/>
            <a:ext cx="146304" cy="146304"/>
          </a:xfrm>
          <a:prstGeom prst="ellipse">
            <a:avLst/>
          </a:prstGeom>
          <a:solidFill>
            <a:srgbClr val="C9A227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4937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Q5–Q6  |  Zaggle + integration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5394960"/>
            <a:ext cx="256032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0" y="54406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offer for Zaggle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Mswipe integration milestones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Juspay board conversations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62288" y="5138928"/>
            <a:ext cx="146304" cy="146304"/>
          </a:xfrm>
          <a:prstGeom prst="ellipse">
            <a:avLst/>
          </a:prstGeom>
          <a:solidFill>
            <a:srgbClr val="0B1F3D"/>
          </a:solidFill>
          <a:ln w="12700">
            <a:solidFill>
              <a:srgbClr val="0B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35440" y="4937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B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Q7–Q8  |  Juspay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235440" y="5394960"/>
            <a:ext cx="228600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326880" y="54406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sheet w/ Juspay investors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delivery on Mswipe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EPS accretion proof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Pinnacle  |  Strategy &amp; Corporate Development  |  Discussion Document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  <p:pic>
        <p:nvPicPr>
          <p:cNvPr id="50" name="Picture 2" descr="Top 10 PineLabs Alternatives &amp; Competitors in 2026 | G2">
            <a:extLst>
              <a:ext uri="{FF2B5EF4-FFF2-40B4-BE49-F238E27FC236}">
                <a16:creationId xmlns:a16="http://schemas.microsoft.com/office/drawing/2014/main" id="{57F85974-2EFE-767E-C5F1-491140368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560" y="-878226"/>
            <a:ext cx="4320218" cy="226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3063</Words>
  <Application>Microsoft Office PowerPoint</Application>
  <PresentationFormat>Widescreen</PresentationFormat>
  <Paragraphs>453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Pinnacle — Pine Labs Inorganic Growth Strategy</dc:title>
  <dc:subject>PptxGenJS Presentation</dc:subject>
  <dc:creator>Strategy &amp; Corporate Development</dc:creator>
  <cp:lastModifiedBy>Bhattacharya, Bodhisatwa</cp:lastModifiedBy>
  <cp:revision>2</cp:revision>
  <dcterms:created xsi:type="dcterms:W3CDTF">2026-05-11T17:14:25Z</dcterms:created>
  <dcterms:modified xsi:type="dcterms:W3CDTF">2026-05-12T07:53:17Z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2026-05-12T07:53:17Z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6c43b5eb-a9d0-4d73-8478-a70d92deba48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