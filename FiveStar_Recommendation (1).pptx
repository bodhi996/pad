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Formal credit met</c:v>
                </c:pt>
              </c:strCache>
            </c:strRef>
          </c:tx>
          <c:spPr>
            <a:solidFill>
              <a:srgbClr val="C0902C"/>
            </a:solidFill>
            <a:effectLst/>
          </c:spPr>
          <c:invertIfNegative val="0"/>
          <c:dLbls>
            <c:numFmt formatCode="0&quot;%&quot;" sourceLinked="0"/>
            <c:txPr>
              <a:bodyPr/>
              <a:lstStyle/>
              <a:p>
                <a:pPr>
                  <a:defRPr b="1" i="0" strike="noStrike" sz="1300" u="none">
                    <a:solidFill>
                      <a:srgbClr val="16284A"/>
                    </a:solidFill>
                    <a:latin typeface="Arial"/>
                  </a:defRPr>
                </a:pPr>
              </a:p>
            </c:txPr>
            <c:showLegendKey val="0"/>
            <c:showVal val="1"/>
            <c:showCatName val="0"/>
            <c:showSerName val="0"/>
            <c:showPercent val="0"/>
            <c:showBubbleSize val="0"/>
            <c:showLeaderLines val="0"/>
          </c:dLbls>
          <c:dPt>
            <c:idx val="0"/>
            <c:invertIfNegative val="0"/>
            <c:bubble3D val="0"/>
            <c:spPr>
              <a:solidFill>
                <a:srgbClr val="C0902C"/>
              </a:solidFill>
              <a:effectLst/>
            </c:spPr>
          </c:dPt>
          <c:dPt>
            <c:idx val="1"/>
            <c:invertIfNegative val="0"/>
            <c:bubble3D val="0"/>
            <c:spPr>
              <a:solidFill>
                <a:srgbClr val="44618E"/>
              </a:solidFill>
              <a:effectLst/>
            </c:spPr>
          </c:dPt>
          <c:cat>
            <c:multiLvlStrRef>
              <c:f>Sheet1!$A$2:$A$3</c:f>
              <c:multiLvlStrCache>
                <c:ptCount val="2"/>
                <c:lvl>
                  <c:pt idx="0">
                    <c:v>Smaller MSMEs</c:v>
                  </c:pt>
                  <c:pt idx="1">
                    <c:v>Larger MSMEs</c:v>
                  </c:pt>
                </c:lvl>
              </c:multiLvlStrCache>
            </c:multiLvlStrRef>
          </c:cat>
          <c:val>
            <c:numRef>
              <c:f>Sheet1!$B$2:$B$3</c:f>
              <c:numCache>
                <c:formatCode>General</c:formatCode>
                <c:ptCount val="2"/>
                <c:pt idx="0">
                  <c:v>7</c:v>
                </c:pt>
                <c:pt idx="1">
                  <c:v>29</c:v>
                </c:pt>
              </c:numCache>
            </c:numRef>
          </c:val>
        </c:ser>
        <c:dLbls>
          <c:numFmt formatCode="0&quot;%&quot;" sourceLinked="0"/>
          <c:txPr>
            <a:bodyPr/>
            <a:lstStyle/>
            <a:p>
              <a:pPr>
                <a:defRPr b="1" i="0" strike="noStrike" sz="1300" u="none">
                  <a:solidFill>
                    <a:srgbClr val="16284A"/>
                  </a:solidFill>
                  <a:latin typeface="Arial"/>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1" i="0" u="none" strike="noStrike">
                <a:solidFill>
                  <a:srgbClr val="1A2238"/>
                </a:solidFill>
                <a:latin typeface="Arial"/>
              </a:defRPr>
            </a:pPr>
            <a:endParaRPr lang="en-US"/>
          </a:p>
        </c:txPr>
        <c:crossAx val="2094734552"/>
        <c:crosses val="autoZero"/>
        <c:auto val="1"/>
        <c:lblAlgn val="ctr"/>
        <c:noMultiLvlLbl val="1"/>
      </c:catAx>
      <c:valAx>
        <c:axId val="2094734552"/>
        <c:scaling>
          <c:orientation val="minMax"/>
          <c:max val="3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PAT</c:v>
                </c:pt>
              </c:strCache>
            </c:strRef>
          </c:tx>
          <c:spPr>
            <a:solidFill>
              <a:srgbClr val="44618E"/>
            </a:solidFill>
            <a:effectLst/>
          </c:spPr>
          <c:invertIfNegative val="0"/>
          <c:dLbls>
            <c:numFmt formatCode="#,##0" sourceLinked="0"/>
            <c:txPr>
              <a:bodyPr/>
              <a:lstStyle/>
              <a:p>
                <a:pPr>
                  <a:defRPr b="1" i="0" strike="noStrike" sz="1050" u="none">
                    <a:solidFill>
                      <a:srgbClr val="16284A"/>
                    </a:solidFill>
                    <a:latin typeface="Arial"/>
                  </a:defRPr>
                </a:pPr>
              </a:p>
            </c:txPr>
            <c:showLegendKey val="0"/>
            <c:showVal val="1"/>
            <c:showCatName val="0"/>
            <c:showSerName val="0"/>
            <c:showPercent val="0"/>
            <c:showBubbleSize val="0"/>
            <c:showLeaderLines val="0"/>
          </c:dLbls>
          <c:dPt>
            <c:idx val="0"/>
            <c:invertIfNegative val="0"/>
            <c:bubble3D val="0"/>
            <c:spPr>
              <a:solidFill>
                <a:srgbClr val="44618E"/>
              </a:solidFill>
              <a:effectLst/>
            </c:spPr>
          </c:dPt>
          <c:dPt>
            <c:idx val="1"/>
            <c:invertIfNegative val="0"/>
            <c:bubble3D val="0"/>
            <c:spPr>
              <a:solidFill>
                <a:srgbClr val="C0902C"/>
              </a:solidFill>
              <a:effectLst/>
            </c:spPr>
          </c:dPt>
          <c:dPt>
            <c:idx val="2"/>
            <c:invertIfNegative val="0"/>
            <c:bubble3D val="0"/>
            <c:spPr>
              <a:solidFill>
                <a:srgbClr val="C0902C"/>
              </a:solidFill>
              <a:effectLst/>
            </c:spPr>
          </c:dPt>
          <c:dPt>
            <c:idx val="3"/>
            <c:invertIfNegative val="0"/>
            <c:bubble3D val="0"/>
            <c:spPr>
              <a:solidFill>
                <a:srgbClr val="C0902C"/>
              </a:solidFill>
              <a:effectLst/>
            </c:spPr>
          </c:dPt>
          <c:dPt>
            <c:idx val="4"/>
            <c:invertIfNegative val="0"/>
            <c:bubble3D val="0"/>
            <c:spPr>
              <a:solidFill>
                <a:srgbClr val="C0902C"/>
              </a:solidFill>
              <a:effectLst/>
            </c:spPr>
          </c:dPt>
          <c:cat>
            <c:multiLvlStrRef>
              <c:f>Sheet1!$A$2:$A$6</c:f>
              <c:multiLvlStrCache>
                <c:ptCount val="5"/>
                <c:lvl>
                  <c:pt idx="0">
                    <c:v>FY26</c:v>
                  </c:pt>
                  <c:pt idx="1">
                    <c:v>FY27</c:v>
                  </c:pt>
                  <c:pt idx="2">
                    <c:v>FY28</c:v>
                  </c:pt>
                  <c:pt idx="3">
                    <c:v>FY29</c:v>
                  </c:pt>
                  <c:pt idx="4">
                    <c:v>FY30</c:v>
                  </c:pt>
                </c:lvl>
              </c:multiLvlStrCache>
            </c:multiLvlStrRef>
          </c:cat>
          <c:val>
            <c:numRef>
              <c:f>Sheet1!$B$2:$B$6</c:f>
              <c:numCache>
                <c:formatCode>General</c:formatCode>
                <c:ptCount val="5"/>
                <c:pt idx="0">
                  <c:v>1099</c:v>
                </c:pt>
                <c:pt idx="1">
                  <c:v>1249</c:v>
                </c:pt>
                <c:pt idx="2">
                  <c:v>1501</c:v>
                </c:pt>
                <c:pt idx="3">
                  <c:v>1770</c:v>
                </c:pt>
                <c:pt idx="4">
                  <c:v>2089</c:v>
                </c:pt>
              </c:numCache>
            </c:numRef>
          </c:val>
        </c:ser>
        <c:dLbls>
          <c:numFmt formatCode="#,##0" sourceLinked="0"/>
          <c:txPr>
            <a:bodyPr/>
            <a:lstStyle/>
            <a:p>
              <a:pPr>
                <a:defRPr b="1" i="0" strike="noStrike" sz="1050" u="none">
                  <a:solidFill>
                    <a:srgbClr val="16284A"/>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A2238"/>
                </a:solidFill>
                <a:latin typeface="Arial"/>
              </a:defRPr>
            </a:pPr>
            <a:endParaRPr lang="en-US"/>
          </a:p>
        </c:txPr>
        <c:crossAx val="2094734552"/>
        <c:crosses val="autoZero"/>
        <c:auto val="1"/>
        <c:lblAlgn val="ctr"/>
        <c:noMultiLvlLbl val="1"/>
      </c:catAx>
      <c:valAx>
        <c:axId val="2094734552"/>
        <c:scaling>
          <c:orientation val="minMax"/>
          <c:max val="24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38912"/>
            <a:ext cx="118872" cy="118872"/>
          </a:xfrm>
          <a:prstGeom prst="rect">
            <a:avLst/>
          </a:prstGeom>
          <a:solidFill>
            <a:srgbClr val="C0902C"/>
          </a:solidFill>
          <a:ln/>
        </p:spPr>
      </p:sp>
      <p:sp>
        <p:nvSpPr>
          <p:cNvPr id="3" name="Text 1"/>
          <p:cNvSpPr/>
          <p:nvPr/>
        </p:nvSpPr>
        <p:spPr>
          <a:xfrm>
            <a:off x="786384" y="365760"/>
            <a:ext cx="10789920" cy="274320"/>
          </a:xfrm>
          <a:prstGeom prst="rect">
            <a:avLst/>
          </a:prstGeom>
          <a:noFill/>
          <a:ln/>
        </p:spPr>
        <p:txBody>
          <a:bodyPr wrap="square" lIns="0" tIns="0" rIns="0" bIns="0" rtlCol="0" anchor="ctr"/>
          <a:lstStyle/>
          <a:p>
            <a:pPr indent="0" marL="0">
              <a:buNone/>
            </a:pPr>
            <a:r>
              <a:rPr lang="en-US" sz="1100" b="1" spc="200" kern="0" dirty="0">
                <a:solidFill>
                  <a:srgbClr val="C0902C"/>
                </a:solidFill>
                <a:latin typeface="Arial" pitchFamily="34" charset="0"/>
                <a:ea typeface="Arial" pitchFamily="34" charset="-122"/>
                <a:cs typeface="Arial" pitchFamily="34" charset="-120"/>
              </a:rPr>
              <a:t>INVESTMENT RECOMMENDATION  |  TVS CAPITAL FUNDS</a:t>
            </a:r>
            <a:endParaRPr lang="en-US" sz="1100" dirty="0"/>
          </a:p>
        </p:txBody>
      </p:sp>
      <p:sp>
        <p:nvSpPr>
          <p:cNvPr id="4" name="Text 2"/>
          <p:cNvSpPr/>
          <p:nvPr/>
        </p:nvSpPr>
        <p:spPr>
          <a:xfrm>
            <a:off x="566928" y="658368"/>
            <a:ext cx="8686800" cy="548640"/>
          </a:xfrm>
          <a:prstGeom prst="rect">
            <a:avLst/>
          </a:prstGeom>
          <a:noFill/>
          <a:ln/>
        </p:spPr>
        <p:txBody>
          <a:bodyPr wrap="square" lIns="0" tIns="0" rIns="0" bIns="0" rtlCol="0" anchor="ctr"/>
          <a:lstStyle/>
          <a:p>
            <a:pPr indent="0" marL="0">
              <a:buNone/>
            </a:pPr>
            <a:r>
              <a:rPr lang="en-US" sz="2700" b="1" dirty="0">
                <a:solidFill>
                  <a:srgbClr val="16284A"/>
                </a:solidFill>
                <a:latin typeface="Arial" pitchFamily="34" charset="0"/>
                <a:ea typeface="Arial" pitchFamily="34" charset="-122"/>
                <a:cs typeface="Arial" pitchFamily="34" charset="-120"/>
              </a:rPr>
              <a:t>Five-Star Business Finance</a:t>
            </a:r>
            <a:endParaRPr lang="en-US" sz="2700" dirty="0"/>
          </a:p>
        </p:txBody>
      </p:sp>
      <p:sp>
        <p:nvSpPr>
          <p:cNvPr id="5" name="Shape 3"/>
          <p:cNvSpPr/>
          <p:nvPr/>
        </p:nvSpPr>
        <p:spPr>
          <a:xfrm>
            <a:off x="566928" y="1371600"/>
            <a:ext cx="11055096" cy="640080"/>
          </a:xfrm>
          <a:prstGeom prst="roundRect">
            <a:avLst>
              <a:gd name="adj" fmla="val 7143"/>
            </a:avLst>
          </a:prstGeom>
          <a:solidFill>
            <a:srgbClr val="16284A"/>
          </a:solidFill>
          <a:ln/>
        </p:spPr>
      </p:sp>
      <p:sp>
        <p:nvSpPr>
          <p:cNvPr id="6" name="Text 4"/>
          <p:cNvSpPr/>
          <p:nvPr/>
        </p:nvSpPr>
        <p:spPr>
          <a:xfrm>
            <a:off x="841248" y="1371600"/>
            <a:ext cx="10506456" cy="640080"/>
          </a:xfrm>
          <a:prstGeom prst="rect">
            <a:avLst/>
          </a:prstGeom>
          <a:noFill/>
          <a:ln/>
        </p:spPr>
        <p:txBody>
          <a:bodyPr wrap="square" lIns="0" tIns="0" rIns="0" bIns="0" rtlCol="0" anchor="ctr"/>
          <a:lstStyle/>
          <a:p>
            <a:pPr indent="0" marL="0">
              <a:buNone/>
            </a:pPr>
            <a:r>
              <a:rPr lang="en-US" sz="1450" b="1" dirty="0">
                <a:solidFill>
                  <a:srgbClr val="E7D6A8"/>
                </a:solidFill>
                <a:latin typeface="Arial" pitchFamily="34" charset="0"/>
                <a:ea typeface="Arial" pitchFamily="34" charset="-122"/>
                <a:cs typeface="Arial" pitchFamily="34" charset="-120"/>
              </a:rPr>
              <a:t>RECOMMENDATION:  </a:t>
            </a:r>
            <a:pPr indent="0" marL="0">
              <a:buNone/>
            </a:pPr>
            <a:r>
              <a:rPr lang="en-US" sz="1450" b="1" dirty="0">
                <a:solidFill>
                  <a:srgbClr val="FFFFFF"/>
                </a:solidFill>
                <a:latin typeface="Arial" pitchFamily="34" charset="0"/>
                <a:ea typeface="Arial" pitchFamily="34" charset="-122"/>
                <a:cs typeface="Arial" pitchFamily="34" charset="-120"/>
              </a:rPr>
              <a:t>INVEST  /  ACCUMULATE up to ~Rs 520 per share (current ~Rs 480) for a 20% four-year IRR</a:t>
            </a:r>
            <a:endParaRPr lang="en-US" sz="1450" dirty="0"/>
          </a:p>
        </p:txBody>
      </p:sp>
      <p:sp>
        <p:nvSpPr>
          <p:cNvPr id="7" name="Text 5"/>
          <p:cNvSpPr/>
          <p:nvPr/>
        </p:nvSpPr>
        <p:spPr>
          <a:xfrm>
            <a:off x="566928" y="2212848"/>
            <a:ext cx="7315200" cy="274320"/>
          </a:xfrm>
          <a:prstGeom prst="rect">
            <a:avLst/>
          </a:prstGeom>
          <a:noFill/>
          <a:ln/>
        </p:spPr>
        <p:txBody>
          <a:bodyPr wrap="square" lIns="0" tIns="0" rIns="0" bIns="0" rtlCol="0" anchor="ctr"/>
          <a:lstStyle/>
          <a:p>
            <a:pPr indent="0" marL="0">
              <a:buNone/>
            </a:pPr>
            <a:r>
              <a:rPr lang="en-US" sz="1200" b="1" spc="150" kern="0" dirty="0">
                <a:solidFill>
                  <a:srgbClr val="C0902C"/>
                </a:solidFill>
                <a:latin typeface="Arial" pitchFamily="34" charset="0"/>
                <a:ea typeface="Arial" pitchFamily="34" charset="-122"/>
                <a:cs typeface="Arial" pitchFamily="34" charset="-120"/>
              </a:rPr>
              <a:t>INVESTMENT THESIS</a:t>
            </a:r>
            <a:endParaRPr lang="en-US" sz="1200" dirty="0"/>
          </a:p>
        </p:txBody>
      </p:sp>
      <p:sp>
        <p:nvSpPr>
          <p:cNvPr id="8" name="Shape 6"/>
          <p:cNvSpPr/>
          <p:nvPr/>
        </p:nvSpPr>
        <p:spPr>
          <a:xfrm>
            <a:off x="566928" y="2505456"/>
            <a:ext cx="11055096" cy="1783080"/>
          </a:xfrm>
          <a:prstGeom prst="roundRect">
            <a:avLst>
              <a:gd name="adj" fmla="val 3590"/>
            </a:avLst>
          </a:prstGeom>
          <a:solidFill>
            <a:srgbClr val="F4F6F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9" name="Text 7"/>
          <p:cNvSpPr/>
          <p:nvPr/>
        </p:nvSpPr>
        <p:spPr>
          <a:xfrm>
            <a:off x="822960" y="2651760"/>
            <a:ext cx="10543032" cy="1508760"/>
          </a:xfrm>
          <a:prstGeom prst="rect">
            <a:avLst/>
          </a:prstGeom>
          <a:noFill/>
          <a:ln/>
        </p:spPr>
        <p:txBody>
          <a:bodyPr wrap="square" lIns="0" tIns="0" rIns="0" bIns="0" rtlCol="0" anchor="ctr"/>
          <a:lstStyle/>
          <a:p>
            <a:pPr algn="l" indent="0" marL="0">
              <a:lnSpc>
                <a:spcPct val="112000"/>
              </a:lnSpc>
              <a:buNone/>
            </a:pPr>
            <a:r>
              <a:rPr lang="en-US" sz="1350" dirty="0">
                <a:solidFill>
                  <a:srgbClr val="1A2238"/>
                </a:solidFill>
                <a:latin typeface="Arial" pitchFamily="34" charset="0"/>
                <a:ea typeface="Arial" pitchFamily="34" charset="-122"/>
                <a:cs typeface="Arial" pitchFamily="34" charset="-120"/>
              </a:rPr>
              <a:t>We recommend investing in Five-Star Business Finance and accumulating up to about Rs 520 per share. Five-Star is a best-in-class lender to India's self-employed informal economy, earning a return on assets near 7% and yields above 24% through a two-decade-old, fully in-house secured underwriting model that banks and fintechs cannot easily replicate. FY26 profit was held roughly flat as management deliberately slowed disbursements to protect asset quality through a small-ticket credit cycle; the franchise did not break, and slippage is already recovering. A roughly 30% de-rating, driven by private-equity exit selling rather than by fundamentals, leaves the stock near 12x earnings and 1.8x book, the cheapest in its peer set despite the highest returns. At the current price our base case yields a 22% four-year IRR, clearing the 20% hurdle with modest headroom.</a:t>
            </a:r>
            <a:endParaRPr lang="en-US" sz="1350" dirty="0"/>
          </a:p>
        </p:txBody>
      </p:sp>
      <p:sp>
        <p:nvSpPr>
          <p:cNvPr id="10" name="Shape 8"/>
          <p:cNvSpPr/>
          <p:nvPr/>
        </p:nvSpPr>
        <p:spPr>
          <a:xfrm>
            <a:off x="566928" y="4526280"/>
            <a:ext cx="2592324" cy="960120"/>
          </a:xfrm>
          <a:prstGeom prst="roundRect">
            <a:avLst>
              <a:gd name="adj" fmla="val 6667"/>
            </a:avLst>
          </a:prstGeom>
          <a:solidFill>
            <a:srgbClr val="16284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11" name="Text 9"/>
          <p:cNvSpPr/>
          <p:nvPr/>
        </p:nvSpPr>
        <p:spPr>
          <a:xfrm>
            <a:off x="612648" y="4645152"/>
            <a:ext cx="2500884" cy="45720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~Rs 480</a:t>
            </a:r>
            <a:endParaRPr lang="en-US" sz="2100" dirty="0"/>
          </a:p>
        </p:txBody>
      </p:sp>
      <p:sp>
        <p:nvSpPr>
          <p:cNvPr id="12" name="Text 10"/>
          <p:cNvSpPr/>
          <p:nvPr/>
        </p:nvSpPr>
        <p:spPr>
          <a:xfrm>
            <a:off x="612648" y="5120640"/>
            <a:ext cx="2500884" cy="292608"/>
          </a:xfrm>
          <a:prstGeom prst="rect">
            <a:avLst/>
          </a:prstGeom>
          <a:noFill/>
          <a:ln/>
        </p:spPr>
        <p:txBody>
          <a:bodyPr wrap="square" lIns="0" tIns="0" rIns="0" bIns="0" rtlCol="0" anchor="ctr"/>
          <a:lstStyle/>
          <a:p>
            <a:pPr algn="ctr" indent="0" marL="0">
              <a:buNone/>
            </a:pPr>
            <a:r>
              <a:rPr lang="en-US" sz="1050" dirty="0">
                <a:solidFill>
                  <a:srgbClr val="C7D2E6"/>
                </a:solidFill>
                <a:latin typeface="Arial" pitchFamily="34" charset="0"/>
                <a:ea typeface="Arial" pitchFamily="34" charset="-122"/>
                <a:cs typeface="Arial" pitchFamily="34" charset="-120"/>
              </a:rPr>
              <a:t>Current share price</a:t>
            </a:r>
            <a:endParaRPr lang="en-US" sz="1050" dirty="0"/>
          </a:p>
        </p:txBody>
      </p:sp>
      <p:sp>
        <p:nvSpPr>
          <p:cNvPr id="13" name="Shape 11"/>
          <p:cNvSpPr/>
          <p:nvPr/>
        </p:nvSpPr>
        <p:spPr>
          <a:xfrm>
            <a:off x="3387852" y="4526280"/>
            <a:ext cx="2592324" cy="960120"/>
          </a:xfrm>
          <a:prstGeom prst="roundRect">
            <a:avLst>
              <a:gd name="adj" fmla="val 6667"/>
            </a:avLst>
          </a:prstGeom>
          <a:solidFill>
            <a:srgbClr val="16284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14" name="Text 12"/>
          <p:cNvSpPr/>
          <p:nvPr/>
        </p:nvSpPr>
        <p:spPr>
          <a:xfrm>
            <a:off x="3433572" y="4645152"/>
            <a:ext cx="2500884" cy="45720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~22%</a:t>
            </a:r>
            <a:endParaRPr lang="en-US" sz="2100" dirty="0"/>
          </a:p>
        </p:txBody>
      </p:sp>
      <p:sp>
        <p:nvSpPr>
          <p:cNvPr id="15" name="Text 13"/>
          <p:cNvSpPr/>
          <p:nvPr/>
        </p:nvSpPr>
        <p:spPr>
          <a:xfrm>
            <a:off x="3433572" y="5120640"/>
            <a:ext cx="2500884" cy="292608"/>
          </a:xfrm>
          <a:prstGeom prst="rect">
            <a:avLst/>
          </a:prstGeom>
          <a:noFill/>
          <a:ln/>
        </p:spPr>
        <p:txBody>
          <a:bodyPr wrap="square" lIns="0" tIns="0" rIns="0" bIns="0" rtlCol="0" anchor="ctr"/>
          <a:lstStyle/>
          <a:p>
            <a:pPr algn="ctr" indent="0" marL="0">
              <a:buNone/>
            </a:pPr>
            <a:r>
              <a:rPr lang="en-US" sz="1050" dirty="0">
                <a:solidFill>
                  <a:srgbClr val="C7D2E6"/>
                </a:solidFill>
                <a:latin typeface="Arial" pitchFamily="34" charset="0"/>
                <a:ea typeface="Arial" pitchFamily="34" charset="-122"/>
                <a:cs typeface="Arial" pitchFamily="34" charset="-120"/>
              </a:rPr>
              <a:t>Base-case 4-yr IRR</a:t>
            </a:r>
            <a:endParaRPr lang="en-US" sz="1050" dirty="0"/>
          </a:p>
        </p:txBody>
      </p:sp>
      <p:sp>
        <p:nvSpPr>
          <p:cNvPr id="16" name="Shape 14"/>
          <p:cNvSpPr/>
          <p:nvPr/>
        </p:nvSpPr>
        <p:spPr>
          <a:xfrm>
            <a:off x="6208776" y="4526280"/>
            <a:ext cx="2592324" cy="960120"/>
          </a:xfrm>
          <a:prstGeom prst="roundRect">
            <a:avLst>
              <a:gd name="adj" fmla="val 6667"/>
            </a:avLst>
          </a:prstGeom>
          <a:solidFill>
            <a:srgbClr val="16284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17" name="Text 15"/>
          <p:cNvSpPr/>
          <p:nvPr/>
        </p:nvSpPr>
        <p:spPr>
          <a:xfrm>
            <a:off x="6254496" y="4645152"/>
            <a:ext cx="2500884" cy="45720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~Rs 520</a:t>
            </a:r>
            <a:endParaRPr lang="en-US" sz="2100" dirty="0"/>
          </a:p>
        </p:txBody>
      </p:sp>
      <p:sp>
        <p:nvSpPr>
          <p:cNvPr id="18" name="Text 16"/>
          <p:cNvSpPr/>
          <p:nvPr/>
        </p:nvSpPr>
        <p:spPr>
          <a:xfrm>
            <a:off x="6254496" y="5120640"/>
            <a:ext cx="2500884" cy="292608"/>
          </a:xfrm>
          <a:prstGeom prst="rect">
            <a:avLst/>
          </a:prstGeom>
          <a:noFill/>
          <a:ln/>
        </p:spPr>
        <p:txBody>
          <a:bodyPr wrap="square" lIns="0" tIns="0" rIns="0" bIns="0" rtlCol="0" anchor="ctr"/>
          <a:lstStyle/>
          <a:p>
            <a:pPr algn="ctr" indent="0" marL="0">
              <a:buNone/>
            </a:pPr>
            <a:r>
              <a:rPr lang="en-US" sz="1050" dirty="0">
                <a:solidFill>
                  <a:srgbClr val="C7D2E6"/>
                </a:solidFill>
                <a:latin typeface="Arial" pitchFamily="34" charset="0"/>
                <a:ea typeface="Arial" pitchFamily="34" charset="-122"/>
                <a:cs typeface="Arial" pitchFamily="34" charset="-120"/>
              </a:rPr>
              <a:t>Max entry for 20% IRR</a:t>
            </a:r>
            <a:endParaRPr lang="en-US" sz="1050" dirty="0"/>
          </a:p>
        </p:txBody>
      </p:sp>
      <p:sp>
        <p:nvSpPr>
          <p:cNvPr id="19" name="Shape 17"/>
          <p:cNvSpPr/>
          <p:nvPr/>
        </p:nvSpPr>
        <p:spPr>
          <a:xfrm>
            <a:off x="9029700" y="4526280"/>
            <a:ext cx="2592324" cy="960120"/>
          </a:xfrm>
          <a:prstGeom prst="roundRect">
            <a:avLst>
              <a:gd name="adj" fmla="val 6667"/>
            </a:avLst>
          </a:prstGeom>
          <a:solidFill>
            <a:srgbClr val="16284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20" name="Text 18"/>
          <p:cNvSpPr/>
          <p:nvPr/>
        </p:nvSpPr>
        <p:spPr>
          <a:xfrm>
            <a:off x="9075420" y="4645152"/>
            <a:ext cx="2500884" cy="45720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~7% / ~16%</a:t>
            </a:r>
            <a:endParaRPr lang="en-US" sz="2100" dirty="0"/>
          </a:p>
        </p:txBody>
      </p:sp>
      <p:sp>
        <p:nvSpPr>
          <p:cNvPr id="21" name="Text 19"/>
          <p:cNvSpPr/>
          <p:nvPr/>
        </p:nvSpPr>
        <p:spPr>
          <a:xfrm>
            <a:off x="9075420" y="5120640"/>
            <a:ext cx="2500884" cy="292608"/>
          </a:xfrm>
          <a:prstGeom prst="rect">
            <a:avLst/>
          </a:prstGeom>
          <a:noFill/>
          <a:ln/>
        </p:spPr>
        <p:txBody>
          <a:bodyPr wrap="square" lIns="0" tIns="0" rIns="0" bIns="0" rtlCol="0" anchor="ctr"/>
          <a:lstStyle/>
          <a:p>
            <a:pPr algn="ctr" indent="0" marL="0">
              <a:buNone/>
            </a:pPr>
            <a:r>
              <a:rPr lang="en-US" sz="1050" dirty="0">
                <a:solidFill>
                  <a:srgbClr val="C7D2E6"/>
                </a:solidFill>
                <a:latin typeface="Arial" pitchFamily="34" charset="0"/>
                <a:ea typeface="Arial" pitchFamily="34" charset="-122"/>
                <a:cs typeface="Arial" pitchFamily="34" charset="-120"/>
              </a:rPr>
              <a:t>ROA / ROE</a:t>
            </a:r>
            <a:endParaRPr lang="en-US" sz="1050" dirty="0"/>
          </a:p>
        </p:txBody>
      </p:sp>
      <p:sp>
        <p:nvSpPr>
          <p:cNvPr id="22" name="Text 20"/>
          <p:cNvSpPr/>
          <p:nvPr/>
        </p:nvSpPr>
        <p:spPr>
          <a:xfrm>
            <a:off x="566928" y="5715000"/>
            <a:ext cx="11055096" cy="365760"/>
          </a:xfrm>
          <a:prstGeom prst="rect">
            <a:avLst/>
          </a:prstGeom>
          <a:noFill/>
          <a:ln/>
        </p:spPr>
        <p:txBody>
          <a:bodyPr wrap="square" lIns="0" tIns="0" rIns="0" bIns="0" rtlCol="0" anchor="ctr"/>
          <a:lstStyle/>
          <a:p>
            <a:pPr indent="0" marL="0">
              <a:buNone/>
            </a:pPr>
            <a:r>
              <a:rPr lang="en-US" sz="950" i="1" dirty="0">
                <a:solidFill>
                  <a:srgbClr val="6E7686"/>
                </a:solidFill>
                <a:latin typeface="Arial" pitchFamily="34" charset="0"/>
                <a:ea typeface="Arial" pitchFamily="34" charset="-122"/>
                <a:cs typeface="Arial" pitchFamily="34" charset="-120"/>
              </a:rPr>
              <a:t>Conclusion-first; the following seven slides build the supporting analysis. Prepared as an assessment exercise; not investment advice.</a:t>
            </a:r>
            <a:endParaRPr lang="en-US" sz="950" dirty="0"/>
          </a:p>
        </p:txBody>
      </p:sp>
      <p:sp>
        <p:nvSpPr>
          <p:cNvPr id="23" name="Text 21"/>
          <p:cNvSpPr/>
          <p:nvPr/>
        </p:nvSpPr>
        <p:spPr>
          <a:xfrm>
            <a:off x="566928" y="6510528"/>
            <a:ext cx="9509760" cy="256032"/>
          </a:xfrm>
          <a:prstGeom prst="rect">
            <a:avLst/>
          </a:prstGeom>
          <a:noFill/>
          <a:ln/>
        </p:spPr>
        <p:txBody>
          <a:bodyPr wrap="square" lIns="0" tIns="0" rIns="0" bIns="0" rtlCol="0" anchor="ctr"/>
          <a:lstStyle/>
          <a:p>
            <a:pPr indent="0" marL="0">
              <a:buNone/>
            </a:pPr>
            <a:r>
              <a:rPr lang="en-US" sz="750" i="1" dirty="0">
                <a:solidFill>
                  <a:srgbClr val="6E7686"/>
                </a:solidFill>
                <a:latin typeface="Arial" pitchFamily="34" charset="0"/>
                <a:ea typeface="Arial" pitchFamily="34" charset="-122"/>
                <a:cs typeface="Arial" pitchFamily="34" charset="-120"/>
              </a:rPr>
              <a:t>Source: Company FY26 results and investor materials; broker estimates (Investec, Motilal Oswal); NSE market data, June 2026. Figures rounded.</a:t>
            </a:r>
            <a:endParaRPr lang="en-US" sz="750" dirty="0"/>
          </a:p>
        </p:txBody>
      </p:sp>
      <p:sp>
        <p:nvSpPr>
          <p:cNvPr id="24" name="Text 22"/>
          <p:cNvSpPr/>
          <p:nvPr/>
        </p:nvSpPr>
        <p:spPr>
          <a:xfrm>
            <a:off x="8165592" y="6510528"/>
            <a:ext cx="3383280" cy="256032"/>
          </a:xfrm>
          <a:prstGeom prst="rect">
            <a:avLst/>
          </a:prstGeom>
          <a:noFill/>
          <a:ln/>
        </p:spPr>
        <p:txBody>
          <a:bodyPr wrap="square" lIns="0" tIns="0" rIns="0" bIns="0" rtlCol="0" anchor="ctr"/>
          <a:lstStyle/>
          <a:p>
            <a:pPr algn="r" indent="0" marL="0">
              <a:buNone/>
            </a:pPr>
            <a:r>
              <a:rPr lang="en-US" sz="750" dirty="0">
                <a:solidFill>
                  <a:srgbClr val="6E7686"/>
                </a:solidFill>
                <a:latin typeface="Arial" pitchFamily="34" charset="0"/>
                <a:ea typeface="Arial" pitchFamily="34" charset="-122"/>
                <a:cs typeface="Arial" pitchFamily="34" charset="-120"/>
              </a:rPr>
              <a:t>Five-Star Business Finance  |  Investment Recommendation  |  1 of 8</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18872" cy="118872"/>
          </a:xfrm>
          <a:prstGeom prst="rect">
            <a:avLst/>
          </a:prstGeom>
          <a:solidFill>
            <a:srgbClr val="C0902C"/>
          </a:solidFill>
          <a:ln/>
        </p:spPr>
      </p:sp>
      <p:sp>
        <p:nvSpPr>
          <p:cNvPr id="3" name="Text 1"/>
          <p:cNvSpPr/>
          <p:nvPr/>
        </p:nvSpPr>
        <p:spPr>
          <a:xfrm>
            <a:off x="786384" y="384048"/>
            <a:ext cx="10789920" cy="274320"/>
          </a:xfrm>
          <a:prstGeom prst="rect">
            <a:avLst/>
          </a:prstGeom>
          <a:noFill/>
          <a:ln/>
        </p:spPr>
        <p:txBody>
          <a:bodyPr wrap="square" lIns="0" tIns="0" rIns="0" bIns="0" rtlCol="0" anchor="ctr"/>
          <a:lstStyle/>
          <a:p>
            <a:pPr indent="0" marL="0">
              <a:buNone/>
            </a:pPr>
            <a:r>
              <a:rPr lang="en-US" sz="1100" b="1" spc="200" kern="0" dirty="0">
                <a:solidFill>
                  <a:srgbClr val="C0902C"/>
                </a:solidFill>
                <a:latin typeface="Arial" pitchFamily="34" charset="0"/>
                <a:ea typeface="Arial" pitchFamily="34" charset="-122"/>
                <a:cs typeface="Arial" pitchFamily="34" charset="-120"/>
              </a:rPr>
              <a:t>THE OPPORTUNITY  |  SECTOR</a:t>
            </a:r>
            <a:endParaRPr lang="en-US" sz="1100" dirty="0"/>
          </a:p>
        </p:txBody>
      </p:sp>
      <p:sp>
        <p:nvSpPr>
          <p:cNvPr id="4" name="Text 2"/>
          <p:cNvSpPr/>
          <p:nvPr/>
        </p:nvSpPr>
        <p:spPr>
          <a:xfrm>
            <a:off x="566928" y="676656"/>
            <a:ext cx="11055096" cy="777240"/>
          </a:xfrm>
          <a:prstGeom prst="rect">
            <a:avLst/>
          </a:prstGeom>
          <a:noFill/>
          <a:ln/>
        </p:spPr>
        <p:txBody>
          <a:bodyPr wrap="square" lIns="0" tIns="0" rIns="0" bIns="0" rtlCol="0" anchor="t"/>
          <a:lstStyle/>
          <a:p>
            <a:pPr indent="0" marL="0">
              <a:lnSpc>
                <a:spcPct val="102000"/>
              </a:lnSpc>
              <a:buNone/>
            </a:pPr>
            <a:r>
              <a:rPr lang="en-US" sz="2000" b="1" dirty="0">
                <a:solidFill>
                  <a:srgbClr val="16284A"/>
                </a:solidFill>
                <a:latin typeface="Arial" pitchFamily="34" charset="0"/>
                <a:ea typeface="Arial" pitchFamily="34" charset="-122"/>
                <a:cs typeface="Arial" pitchFamily="34" charset="-120"/>
              </a:rPr>
              <a:t>Secured small-business lending is the most attractive way to close India's Rs 85 trillion credit gap</a:t>
            </a:r>
            <a:endParaRPr lang="en-US" sz="2000" dirty="0"/>
          </a:p>
        </p:txBody>
      </p:sp>
      <p:sp>
        <p:nvSpPr>
          <p:cNvPr id="5" name="Shape 3"/>
          <p:cNvSpPr/>
          <p:nvPr/>
        </p:nvSpPr>
        <p:spPr>
          <a:xfrm>
            <a:off x="566928" y="1691640"/>
            <a:ext cx="4617720" cy="960120"/>
          </a:xfrm>
          <a:prstGeom prst="roundRect">
            <a:avLst>
              <a:gd name="adj" fmla="val 6667"/>
            </a:avLst>
          </a:prstGeom>
          <a:solidFill>
            <a:srgbClr val="F4F6F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6" name="Text 4"/>
          <p:cNvSpPr/>
          <p:nvPr/>
        </p:nvSpPr>
        <p:spPr>
          <a:xfrm>
            <a:off x="749808" y="1801368"/>
            <a:ext cx="1783080" cy="731520"/>
          </a:xfrm>
          <a:prstGeom prst="rect">
            <a:avLst/>
          </a:prstGeom>
          <a:noFill/>
          <a:ln/>
        </p:spPr>
        <p:txBody>
          <a:bodyPr wrap="square" lIns="0" tIns="0" rIns="0" bIns="0" rtlCol="0" anchor="ctr"/>
          <a:lstStyle/>
          <a:p>
            <a:pPr indent="0" marL="0">
              <a:buNone/>
            </a:pPr>
            <a:r>
              <a:rPr lang="en-US" sz="2700" b="1" dirty="0">
                <a:solidFill>
                  <a:srgbClr val="C0902C"/>
                </a:solidFill>
                <a:latin typeface="Arial" pitchFamily="34" charset="0"/>
                <a:ea typeface="Arial" pitchFamily="34" charset="-122"/>
                <a:cs typeface="Arial" pitchFamily="34" charset="-120"/>
              </a:rPr>
              <a:t>Rs 85 tn</a:t>
            </a:r>
            <a:endParaRPr lang="en-US" sz="2700" dirty="0"/>
          </a:p>
        </p:txBody>
      </p:sp>
      <p:sp>
        <p:nvSpPr>
          <p:cNvPr id="7" name="Text 5"/>
          <p:cNvSpPr/>
          <p:nvPr/>
        </p:nvSpPr>
        <p:spPr>
          <a:xfrm>
            <a:off x="2578608" y="1783080"/>
            <a:ext cx="2468880" cy="768096"/>
          </a:xfrm>
          <a:prstGeom prst="rect">
            <a:avLst/>
          </a:prstGeom>
          <a:noFill/>
          <a:ln/>
        </p:spPr>
        <p:txBody>
          <a:bodyPr wrap="square" lIns="0" tIns="0" rIns="0" bIns="0" rtlCol="0" anchor="ctr"/>
          <a:lstStyle/>
          <a:p>
            <a:pPr indent="0" marL="0">
              <a:lnSpc>
                <a:spcPct val="104000"/>
              </a:lnSpc>
              <a:buNone/>
            </a:pPr>
            <a:r>
              <a:rPr lang="en-US" sz="1050" dirty="0">
                <a:solidFill>
                  <a:srgbClr val="1A2238"/>
                </a:solidFill>
                <a:latin typeface="Arial" pitchFamily="34" charset="0"/>
                <a:ea typeface="Arial" pitchFamily="34" charset="-122"/>
                <a:cs typeface="Arial" pitchFamily="34" charset="-120"/>
              </a:rPr>
              <a:t>MSME credit gap (formal supply vs demand)</a:t>
            </a:r>
            <a:endParaRPr lang="en-US" sz="1050" dirty="0"/>
          </a:p>
        </p:txBody>
      </p:sp>
      <p:sp>
        <p:nvSpPr>
          <p:cNvPr id="8" name="Shape 6"/>
          <p:cNvSpPr/>
          <p:nvPr/>
        </p:nvSpPr>
        <p:spPr>
          <a:xfrm>
            <a:off x="566928" y="2770632"/>
            <a:ext cx="4617720" cy="960120"/>
          </a:xfrm>
          <a:prstGeom prst="roundRect">
            <a:avLst>
              <a:gd name="adj" fmla="val 6667"/>
            </a:avLst>
          </a:prstGeom>
          <a:solidFill>
            <a:srgbClr val="F4F6F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9" name="Text 7"/>
          <p:cNvSpPr/>
          <p:nvPr/>
        </p:nvSpPr>
        <p:spPr>
          <a:xfrm>
            <a:off x="749808" y="2880360"/>
            <a:ext cx="1783080" cy="731520"/>
          </a:xfrm>
          <a:prstGeom prst="rect">
            <a:avLst/>
          </a:prstGeom>
          <a:noFill/>
          <a:ln/>
        </p:spPr>
        <p:txBody>
          <a:bodyPr wrap="square" lIns="0" tIns="0" rIns="0" bIns="0" rtlCol="0" anchor="ctr"/>
          <a:lstStyle/>
          <a:p>
            <a:pPr indent="0" marL="0">
              <a:buNone/>
            </a:pPr>
            <a:r>
              <a:rPr lang="en-US" sz="2700" b="1" dirty="0">
                <a:solidFill>
                  <a:srgbClr val="C0902C"/>
                </a:solidFill>
                <a:latin typeface="Arial" pitchFamily="34" charset="0"/>
                <a:ea typeface="Arial" pitchFamily="34" charset="-122"/>
                <a:cs typeface="Arial" pitchFamily="34" charset="-120"/>
              </a:rPr>
              <a:t>~7%</a:t>
            </a:r>
            <a:endParaRPr lang="en-US" sz="2700" dirty="0"/>
          </a:p>
        </p:txBody>
      </p:sp>
      <p:sp>
        <p:nvSpPr>
          <p:cNvPr id="10" name="Text 8"/>
          <p:cNvSpPr/>
          <p:nvPr/>
        </p:nvSpPr>
        <p:spPr>
          <a:xfrm>
            <a:off x="2578608" y="2862072"/>
            <a:ext cx="2468880" cy="768096"/>
          </a:xfrm>
          <a:prstGeom prst="rect">
            <a:avLst/>
          </a:prstGeom>
          <a:noFill/>
          <a:ln/>
        </p:spPr>
        <p:txBody>
          <a:bodyPr wrap="square" lIns="0" tIns="0" rIns="0" bIns="0" rtlCol="0" anchor="ctr"/>
          <a:lstStyle/>
          <a:p>
            <a:pPr indent="0" marL="0">
              <a:lnSpc>
                <a:spcPct val="104000"/>
              </a:lnSpc>
              <a:buNone/>
            </a:pPr>
            <a:r>
              <a:rPr lang="en-US" sz="1050" dirty="0">
                <a:solidFill>
                  <a:srgbClr val="1A2238"/>
                </a:solidFill>
                <a:latin typeface="Arial" pitchFamily="34" charset="0"/>
                <a:ea typeface="Arial" pitchFamily="34" charset="-122"/>
                <a:cs typeface="Arial" pitchFamily="34" charset="-120"/>
              </a:rPr>
              <a:t>Of small-MSME credit needs met formally (vs 29% for larger firms)</a:t>
            </a:r>
            <a:endParaRPr lang="en-US" sz="1050" dirty="0"/>
          </a:p>
        </p:txBody>
      </p:sp>
      <p:sp>
        <p:nvSpPr>
          <p:cNvPr id="11" name="Shape 9"/>
          <p:cNvSpPr/>
          <p:nvPr/>
        </p:nvSpPr>
        <p:spPr>
          <a:xfrm>
            <a:off x="566928" y="3849624"/>
            <a:ext cx="4617720" cy="960120"/>
          </a:xfrm>
          <a:prstGeom prst="roundRect">
            <a:avLst>
              <a:gd name="adj" fmla="val 6667"/>
            </a:avLst>
          </a:prstGeom>
          <a:solidFill>
            <a:srgbClr val="F4F6F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12" name="Text 10"/>
          <p:cNvSpPr/>
          <p:nvPr/>
        </p:nvSpPr>
        <p:spPr>
          <a:xfrm>
            <a:off x="749808" y="3959352"/>
            <a:ext cx="1783080" cy="731520"/>
          </a:xfrm>
          <a:prstGeom prst="rect">
            <a:avLst/>
          </a:prstGeom>
          <a:noFill/>
          <a:ln/>
        </p:spPr>
        <p:txBody>
          <a:bodyPr wrap="square" lIns="0" tIns="0" rIns="0" bIns="0" rtlCol="0" anchor="ctr"/>
          <a:lstStyle/>
          <a:p>
            <a:pPr indent="0" marL="0">
              <a:buNone/>
            </a:pPr>
            <a:r>
              <a:rPr lang="en-US" sz="2700" b="1" dirty="0">
                <a:solidFill>
                  <a:srgbClr val="C0902C"/>
                </a:solidFill>
                <a:latin typeface="Arial" pitchFamily="34" charset="0"/>
                <a:ea typeface="Arial" pitchFamily="34" charset="-122"/>
                <a:cs typeface="Arial" pitchFamily="34" charset="-120"/>
              </a:rPr>
              <a:t>2.7%</a:t>
            </a:r>
            <a:endParaRPr lang="en-US" sz="2700" dirty="0"/>
          </a:p>
        </p:txBody>
      </p:sp>
      <p:sp>
        <p:nvSpPr>
          <p:cNvPr id="13" name="Text 11"/>
          <p:cNvSpPr/>
          <p:nvPr/>
        </p:nvSpPr>
        <p:spPr>
          <a:xfrm>
            <a:off x="2578608" y="3941064"/>
            <a:ext cx="2468880" cy="768096"/>
          </a:xfrm>
          <a:prstGeom prst="rect">
            <a:avLst/>
          </a:prstGeom>
          <a:noFill/>
          <a:ln/>
        </p:spPr>
        <p:txBody>
          <a:bodyPr wrap="square" lIns="0" tIns="0" rIns="0" bIns="0" rtlCol="0" anchor="ctr"/>
          <a:lstStyle/>
          <a:p>
            <a:pPr indent="0" marL="0">
              <a:lnSpc>
                <a:spcPct val="104000"/>
              </a:lnSpc>
              <a:buNone/>
            </a:pPr>
            <a:r>
              <a:rPr lang="en-US" sz="1050" dirty="0">
                <a:solidFill>
                  <a:srgbClr val="1A2238"/>
                </a:solidFill>
                <a:latin typeface="Arial" pitchFamily="34" charset="0"/>
                <a:ea typeface="Arial" pitchFamily="34" charset="-122"/>
                <a:cs typeface="Arial" pitchFamily="34" charset="-120"/>
              </a:rPr>
              <a:t>Five-Star share of a Rs 22 tn addressable segment: a long runway</a:t>
            </a:r>
            <a:endParaRPr lang="en-US" sz="1050" dirty="0"/>
          </a:p>
        </p:txBody>
      </p:sp>
      <p:sp>
        <p:nvSpPr>
          <p:cNvPr id="14" name="Text 12"/>
          <p:cNvSpPr/>
          <p:nvPr/>
        </p:nvSpPr>
        <p:spPr>
          <a:xfrm>
            <a:off x="5532120" y="1664208"/>
            <a:ext cx="6035040" cy="292608"/>
          </a:xfrm>
          <a:prstGeom prst="rect">
            <a:avLst/>
          </a:prstGeom>
          <a:noFill/>
          <a:ln/>
        </p:spPr>
        <p:txBody>
          <a:bodyPr wrap="square" lIns="0" tIns="0" rIns="0" bIns="0" rtlCol="0" anchor="ctr"/>
          <a:lstStyle/>
          <a:p>
            <a:pPr indent="0" marL="0">
              <a:buNone/>
            </a:pPr>
            <a:r>
              <a:rPr lang="en-US" sz="1250" b="1" dirty="0">
                <a:solidFill>
                  <a:srgbClr val="16284A"/>
                </a:solidFill>
                <a:latin typeface="Arial" pitchFamily="34" charset="0"/>
                <a:ea typeface="Arial" pitchFamily="34" charset="-122"/>
                <a:cs typeface="Arial" pitchFamily="34" charset="-120"/>
              </a:rPr>
              <a:t>Formal credit reaches the smallest firms least</a:t>
            </a:r>
            <a:endParaRPr lang="en-US" sz="1250" dirty="0"/>
          </a:p>
        </p:txBody>
      </p:sp>
      <p:graphicFrame>
        <p:nvGraphicFramePr>
          <p:cNvPr id="15" name="Chart 0" descr=""/>
          <p:cNvGraphicFramePr/>
          <p:nvPr/>
        </p:nvGraphicFramePr>
        <p:xfrm>
          <a:off x="5486400" y="2011680"/>
          <a:ext cx="6126480" cy="155448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5486400" y="3794760"/>
            <a:ext cx="6126480" cy="2514600"/>
          </a:xfrm>
          <a:prstGeom prst="roundRect">
            <a:avLst>
              <a:gd name="adj" fmla="val 2545"/>
            </a:avLst>
          </a:prstGeom>
          <a:solidFill>
            <a:srgbClr val="F4F6F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17" name="Text 14"/>
          <p:cNvSpPr/>
          <p:nvPr/>
        </p:nvSpPr>
        <p:spPr>
          <a:xfrm>
            <a:off x="5715000" y="3931920"/>
            <a:ext cx="5669280" cy="292608"/>
          </a:xfrm>
          <a:prstGeom prst="rect">
            <a:avLst/>
          </a:prstGeom>
          <a:noFill/>
          <a:ln/>
        </p:spPr>
        <p:txBody>
          <a:bodyPr wrap="square" lIns="0" tIns="0" rIns="0" bIns="0" rtlCol="0" anchor="ctr"/>
          <a:lstStyle/>
          <a:p>
            <a:pPr indent="0" marL="0">
              <a:buNone/>
            </a:pPr>
            <a:r>
              <a:rPr lang="en-US" sz="1250" b="1" dirty="0">
                <a:solidFill>
                  <a:srgbClr val="16284A"/>
                </a:solidFill>
                <a:latin typeface="Arial" pitchFamily="34" charset="0"/>
                <a:ea typeface="Arial" pitchFamily="34" charset="-122"/>
                <a:cs typeface="Arial" pitchFamily="34" charset="-120"/>
              </a:rPr>
              <a:t>Why this is the niche to own</a:t>
            </a:r>
            <a:endParaRPr lang="en-US" sz="1250" dirty="0"/>
          </a:p>
        </p:txBody>
      </p:sp>
      <p:sp>
        <p:nvSpPr>
          <p:cNvPr id="18" name="Text 15"/>
          <p:cNvSpPr/>
          <p:nvPr/>
        </p:nvSpPr>
        <p:spPr>
          <a:xfrm>
            <a:off x="5715000" y="4261104"/>
            <a:ext cx="5669280" cy="1965960"/>
          </a:xfrm>
          <a:prstGeom prst="rect">
            <a:avLst/>
          </a:prstGeom>
          <a:noFill/>
          <a:ln/>
        </p:spPr>
        <p:txBody>
          <a:bodyPr wrap="square" lIns="0" tIns="0" rIns="0" bIns="0" rtlCol="0" anchor="ctr"/>
          <a:lstStyle/>
          <a:p>
            <a:pPr marL="177800" indent="-177800">
              <a:lnSpc>
                <a:spcPct val="103000"/>
              </a:lnSpc>
              <a:spcAft>
                <a:spcPts val="600"/>
              </a:spcAft>
              <a:buSzPct val="100000"/>
              <a:buChar char="•"/>
            </a:pPr>
            <a:r>
              <a:rPr lang="en-US" sz="1100" dirty="0">
                <a:solidFill>
                  <a:srgbClr val="1A2238"/>
                </a:solidFill>
                <a:latin typeface="Arial" pitchFamily="34" charset="0"/>
                <a:ea typeface="Arial" pitchFamily="34" charset="-122"/>
                <a:cs typeface="Arial" pitchFamily="34" charset="-120"/>
              </a:rPr>
              <a:t>Higher yields (mid-20s) than housing, auto or personal loans, over a medium tenure</a:t>
            </a:r>
            <a:endParaRPr lang="en-US" sz="1100" dirty="0"/>
          </a:p>
          <a:p>
            <a:pPr marL="177800" indent="-177800">
              <a:lnSpc>
                <a:spcPct val="103000"/>
              </a:lnSpc>
              <a:spcAft>
                <a:spcPts val="600"/>
              </a:spcAft>
              <a:buSzPct val="100000"/>
              <a:buChar char="•"/>
            </a:pPr>
            <a:r>
              <a:rPr lang="en-US" sz="1100" dirty="0">
                <a:solidFill>
                  <a:srgbClr val="1A2238"/>
                </a:solidFill>
                <a:latin typeface="Arial" pitchFamily="34" charset="0"/>
                <a:ea typeface="Arial" pitchFamily="34" charset="-122"/>
                <a:cs typeface="Arial" pitchFamily="34" charset="-120"/>
              </a:rPr>
              <a:t>Property collateral plus essential-services cash flows give a low loss-given-default</a:t>
            </a:r>
            <a:endParaRPr lang="en-US" sz="1100" dirty="0"/>
          </a:p>
          <a:p>
            <a:pPr marL="177800" indent="-177800">
              <a:lnSpc>
                <a:spcPct val="103000"/>
              </a:lnSpc>
              <a:spcAft>
                <a:spcPts val="600"/>
              </a:spcAft>
              <a:buSzPct val="100000"/>
              <a:buChar char="•"/>
            </a:pPr>
            <a:r>
              <a:rPr lang="en-US" sz="1100" dirty="0">
                <a:solidFill>
                  <a:srgbClr val="1A2238"/>
                </a:solidFill>
                <a:latin typeface="Arial" pitchFamily="34" charset="0"/>
                <a:ea typeface="Arial" pitchFamily="34" charset="-122"/>
                <a:cs typeface="Arial" pitchFamily="34" charset="-120"/>
              </a:rPr>
              <a:t>These loans are the last a small entrepreneur defaults on: a through-cycle cushion</a:t>
            </a:r>
            <a:endParaRPr lang="en-US" sz="1100" dirty="0"/>
          </a:p>
          <a:p>
            <a:pPr marL="177800" indent="-177800">
              <a:lnSpc>
                <a:spcPct val="103000"/>
              </a:lnSpc>
              <a:spcAft>
                <a:spcPts val="600"/>
              </a:spcAft>
              <a:buSzPct val="100000"/>
              <a:buChar char="•"/>
            </a:pPr>
            <a:r>
              <a:rPr lang="en-US" sz="1100" dirty="0">
                <a:solidFill>
                  <a:srgbClr val="1A2238"/>
                </a:solidFill>
                <a:latin typeface="Arial" pitchFamily="34" charset="0"/>
                <a:ea typeface="Arial" pitchFamily="34" charset="-122"/>
                <a:cs typeface="Arial" pitchFamily="34" charset="-120"/>
              </a:rPr>
              <a:t>Banks stay away (no documented income, tickets too small), leaving the field to specialists</a:t>
            </a:r>
            <a:endParaRPr lang="en-US" sz="1100" dirty="0"/>
          </a:p>
          <a:p>
            <a:pPr marL="177800" indent="-177800">
              <a:lnSpc>
                <a:spcPct val="103000"/>
              </a:lnSpc>
              <a:spcAft>
                <a:spcPts val="600"/>
              </a:spcAft>
              <a:buSzPct val="100000"/>
              <a:buChar char="•"/>
            </a:pPr>
            <a:r>
              <a:rPr lang="en-US" sz="1100" dirty="0">
                <a:solidFill>
                  <a:srgbClr val="1A2238"/>
                </a:solidFill>
                <a:latin typeface="Arial" pitchFamily="34" charset="0"/>
                <a:ea typeface="Arial" pitchFamily="34" charset="-122"/>
                <a:cs typeface="Arial" pitchFamily="34" charset="-120"/>
              </a:rPr>
              <a:t>Formalization, the Account Aggregator framework and digital footprints are expanding the addressable pool</a:t>
            </a:r>
            <a:endParaRPr lang="en-US" sz="1100" dirty="0"/>
          </a:p>
        </p:txBody>
      </p:sp>
      <p:sp>
        <p:nvSpPr>
          <p:cNvPr id="19" name="Text 16"/>
          <p:cNvSpPr/>
          <p:nvPr/>
        </p:nvSpPr>
        <p:spPr>
          <a:xfrm>
            <a:off x="566928" y="6510528"/>
            <a:ext cx="9509760" cy="256032"/>
          </a:xfrm>
          <a:prstGeom prst="rect">
            <a:avLst/>
          </a:prstGeom>
          <a:noFill/>
          <a:ln/>
        </p:spPr>
        <p:txBody>
          <a:bodyPr wrap="square" lIns="0" tIns="0" rIns="0" bIns="0" rtlCol="0" anchor="ctr"/>
          <a:lstStyle/>
          <a:p>
            <a:pPr indent="0" marL="0">
              <a:buNone/>
            </a:pPr>
            <a:r>
              <a:rPr lang="en-US" sz="750" i="1" dirty="0">
                <a:solidFill>
                  <a:srgbClr val="6E7686"/>
                </a:solidFill>
                <a:latin typeface="Arial" pitchFamily="34" charset="0"/>
                <a:ea typeface="Arial" pitchFamily="34" charset="-122"/>
                <a:cs typeface="Arial" pitchFamily="34" charset="-120"/>
              </a:rPr>
              <a:t>Source: CRISIL Research and company DRHP (credit-gap and addressable-market estimates); National Sample Survey. Figures rounded.</a:t>
            </a:r>
            <a:endParaRPr lang="en-US" sz="750" dirty="0"/>
          </a:p>
        </p:txBody>
      </p:sp>
      <p:sp>
        <p:nvSpPr>
          <p:cNvPr id="20" name="Text 17"/>
          <p:cNvSpPr/>
          <p:nvPr/>
        </p:nvSpPr>
        <p:spPr>
          <a:xfrm>
            <a:off x="8165592" y="6510528"/>
            <a:ext cx="3383280" cy="256032"/>
          </a:xfrm>
          <a:prstGeom prst="rect">
            <a:avLst/>
          </a:prstGeom>
          <a:noFill/>
          <a:ln/>
        </p:spPr>
        <p:txBody>
          <a:bodyPr wrap="square" lIns="0" tIns="0" rIns="0" bIns="0" rtlCol="0" anchor="ctr"/>
          <a:lstStyle/>
          <a:p>
            <a:pPr algn="r" indent="0" marL="0">
              <a:buNone/>
            </a:pPr>
            <a:r>
              <a:rPr lang="en-US" sz="750" dirty="0">
                <a:solidFill>
                  <a:srgbClr val="6E7686"/>
                </a:solidFill>
                <a:latin typeface="Arial" pitchFamily="34" charset="0"/>
                <a:ea typeface="Arial" pitchFamily="34" charset="-122"/>
                <a:cs typeface="Arial" pitchFamily="34" charset="-120"/>
              </a:rPr>
              <a:t>Five-Star Business Finance  |  Investment Recommendation  |  2 of 8</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18872" cy="118872"/>
          </a:xfrm>
          <a:prstGeom prst="rect">
            <a:avLst/>
          </a:prstGeom>
          <a:solidFill>
            <a:srgbClr val="C0902C"/>
          </a:solidFill>
          <a:ln/>
        </p:spPr>
      </p:sp>
      <p:sp>
        <p:nvSpPr>
          <p:cNvPr id="3" name="Text 1"/>
          <p:cNvSpPr/>
          <p:nvPr/>
        </p:nvSpPr>
        <p:spPr>
          <a:xfrm>
            <a:off x="786384" y="384048"/>
            <a:ext cx="10789920" cy="274320"/>
          </a:xfrm>
          <a:prstGeom prst="rect">
            <a:avLst/>
          </a:prstGeom>
          <a:noFill/>
          <a:ln/>
        </p:spPr>
        <p:txBody>
          <a:bodyPr wrap="square" lIns="0" tIns="0" rIns="0" bIns="0" rtlCol="0" anchor="ctr"/>
          <a:lstStyle/>
          <a:p>
            <a:pPr indent="0" marL="0">
              <a:buNone/>
            </a:pPr>
            <a:r>
              <a:rPr lang="en-US" sz="1100" b="1" spc="200" kern="0" dirty="0">
                <a:solidFill>
                  <a:srgbClr val="C0902C"/>
                </a:solidFill>
                <a:latin typeface="Arial" pitchFamily="34" charset="0"/>
                <a:ea typeface="Arial" pitchFamily="34" charset="-122"/>
                <a:cs typeface="Arial" pitchFamily="34" charset="-120"/>
              </a:rPr>
              <a:t>THE OPPORTUNITY  |  COMPANY AND MOAT</a:t>
            </a:r>
            <a:endParaRPr lang="en-US" sz="1100" dirty="0"/>
          </a:p>
        </p:txBody>
      </p:sp>
      <p:sp>
        <p:nvSpPr>
          <p:cNvPr id="4" name="Text 2"/>
          <p:cNvSpPr/>
          <p:nvPr/>
        </p:nvSpPr>
        <p:spPr>
          <a:xfrm>
            <a:off x="566928" y="676656"/>
            <a:ext cx="11055096" cy="777240"/>
          </a:xfrm>
          <a:prstGeom prst="rect">
            <a:avLst/>
          </a:prstGeom>
          <a:noFill/>
          <a:ln/>
        </p:spPr>
        <p:txBody>
          <a:bodyPr wrap="square" lIns="0" tIns="0" rIns="0" bIns="0" rtlCol="0" anchor="t"/>
          <a:lstStyle/>
          <a:p>
            <a:pPr indent="0" marL="0">
              <a:lnSpc>
                <a:spcPct val="102000"/>
              </a:lnSpc>
              <a:buNone/>
            </a:pPr>
            <a:r>
              <a:rPr lang="en-US" sz="2000" b="1" dirty="0">
                <a:solidFill>
                  <a:srgbClr val="16284A"/>
                </a:solidFill>
                <a:latin typeface="Arial" pitchFamily="34" charset="0"/>
                <a:ea typeface="Arial" pitchFamily="34" charset="-122"/>
                <a:cs typeface="Arial" pitchFamily="34" charset="-120"/>
              </a:rPr>
              <a:t>The moat is a proprietary, in-house '3C' underwriting model that prices intent, not paperwork</a:t>
            </a:r>
            <a:endParaRPr lang="en-US" sz="2000" dirty="0"/>
          </a:p>
        </p:txBody>
      </p:sp>
      <p:sp>
        <p:nvSpPr>
          <p:cNvPr id="5" name="Shape 3"/>
          <p:cNvSpPr/>
          <p:nvPr/>
        </p:nvSpPr>
        <p:spPr>
          <a:xfrm>
            <a:off x="566928" y="1737360"/>
            <a:ext cx="3514344" cy="1874520"/>
          </a:xfrm>
          <a:prstGeom prst="roundRect">
            <a:avLst>
              <a:gd name="adj" fmla="val 3415"/>
            </a:avLst>
          </a:prstGeom>
          <a:solidFill>
            <a:srgbClr val="FFFFFF"/>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6" name="Shape 4"/>
          <p:cNvSpPr/>
          <p:nvPr/>
        </p:nvSpPr>
        <p:spPr>
          <a:xfrm>
            <a:off x="566928" y="1737360"/>
            <a:ext cx="3514344" cy="457200"/>
          </a:xfrm>
          <a:prstGeom prst="roundRect">
            <a:avLst>
              <a:gd name="adj" fmla="val 10000"/>
            </a:avLst>
          </a:prstGeom>
          <a:solidFill>
            <a:srgbClr val="16284A"/>
          </a:solidFill>
          <a:ln/>
        </p:spPr>
      </p:sp>
      <p:sp>
        <p:nvSpPr>
          <p:cNvPr id="7" name="Text 5"/>
          <p:cNvSpPr/>
          <p:nvPr/>
        </p:nvSpPr>
        <p:spPr>
          <a:xfrm>
            <a:off x="749808" y="1737360"/>
            <a:ext cx="3148584" cy="4572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1   Character</a:t>
            </a:r>
            <a:endParaRPr lang="en-US" sz="1400" dirty="0"/>
          </a:p>
        </p:txBody>
      </p:sp>
      <p:sp>
        <p:nvSpPr>
          <p:cNvPr id="8" name="Text 6"/>
          <p:cNvSpPr/>
          <p:nvPr/>
        </p:nvSpPr>
        <p:spPr>
          <a:xfrm>
            <a:off x="749808" y="2286000"/>
            <a:ext cx="3148584" cy="1216152"/>
          </a:xfrm>
          <a:prstGeom prst="rect">
            <a:avLst/>
          </a:prstGeom>
          <a:noFill/>
          <a:ln/>
        </p:spPr>
        <p:txBody>
          <a:bodyPr wrap="square" lIns="0" tIns="0" rIns="0" bIns="0" rtlCol="0" anchor="t"/>
          <a:lstStyle/>
          <a:p>
            <a:pPr indent="0" marL="0">
              <a:lnSpc>
                <a:spcPct val="106000"/>
              </a:lnSpc>
              <a:buNone/>
            </a:pPr>
            <a:r>
              <a:rPr lang="en-US" sz="1070" dirty="0">
                <a:solidFill>
                  <a:srgbClr val="1A2238"/>
                </a:solidFill>
                <a:latin typeface="Arial" pitchFamily="34" charset="0"/>
                <a:ea typeface="Arial" pitchFamily="34" charset="-122"/>
                <a:cs typeface="Arial" pitchFamily="34" charset="-120"/>
              </a:rPr>
              <a:t>Intent over ability for new-to-credit borrowers; individual visits and neighbour or reference checks; a mandatory family co-applicant</a:t>
            </a:r>
            <a:endParaRPr lang="en-US" sz="1070" dirty="0"/>
          </a:p>
        </p:txBody>
      </p:sp>
      <p:sp>
        <p:nvSpPr>
          <p:cNvPr id="9" name="Shape 7"/>
          <p:cNvSpPr/>
          <p:nvPr/>
        </p:nvSpPr>
        <p:spPr>
          <a:xfrm>
            <a:off x="4337304" y="1737360"/>
            <a:ext cx="3514344" cy="1874520"/>
          </a:xfrm>
          <a:prstGeom prst="roundRect">
            <a:avLst>
              <a:gd name="adj" fmla="val 3415"/>
            </a:avLst>
          </a:prstGeom>
          <a:solidFill>
            <a:srgbClr val="FFFFFF"/>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10" name="Shape 8"/>
          <p:cNvSpPr/>
          <p:nvPr/>
        </p:nvSpPr>
        <p:spPr>
          <a:xfrm>
            <a:off x="4337304" y="1737360"/>
            <a:ext cx="3514344" cy="457200"/>
          </a:xfrm>
          <a:prstGeom prst="roundRect">
            <a:avLst>
              <a:gd name="adj" fmla="val 10000"/>
            </a:avLst>
          </a:prstGeom>
          <a:solidFill>
            <a:srgbClr val="16284A"/>
          </a:solidFill>
          <a:ln/>
        </p:spPr>
      </p:sp>
      <p:sp>
        <p:nvSpPr>
          <p:cNvPr id="11" name="Text 9"/>
          <p:cNvSpPr/>
          <p:nvPr/>
        </p:nvSpPr>
        <p:spPr>
          <a:xfrm>
            <a:off x="4520184" y="1737360"/>
            <a:ext cx="3148584" cy="4572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2   Cash Flow</a:t>
            </a:r>
            <a:endParaRPr lang="en-US" sz="1400" dirty="0"/>
          </a:p>
        </p:txBody>
      </p:sp>
      <p:sp>
        <p:nvSpPr>
          <p:cNvPr id="12" name="Text 10"/>
          <p:cNvSpPr/>
          <p:nvPr/>
        </p:nvSpPr>
        <p:spPr>
          <a:xfrm>
            <a:off x="4520184" y="2286000"/>
            <a:ext cx="3148584" cy="1216152"/>
          </a:xfrm>
          <a:prstGeom prst="rect">
            <a:avLst/>
          </a:prstGeom>
          <a:noFill/>
          <a:ln/>
        </p:spPr>
        <p:txBody>
          <a:bodyPr wrap="square" lIns="0" tIns="0" rIns="0" bIns="0" rtlCol="0" anchor="t"/>
          <a:lstStyle/>
          <a:p>
            <a:pPr indent="0" marL="0">
              <a:lnSpc>
                <a:spcPct val="106000"/>
              </a:lnSpc>
              <a:buNone/>
            </a:pPr>
            <a:r>
              <a:rPr lang="en-US" sz="1070" dirty="0">
                <a:solidFill>
                  <a:srgbClr val="1A2238"/>
                </a:solidFill>
                <a:latin typeface="Arial" pitchFamily="34" charset="0"/>
                <a:ea typeface="Arial" pitchFamily="34" charset="-122"/>
                <a:cs typeface="Arial" pitchFamily="34" charset="-120"/>
              </a:rPr>
              <a:t>Physical business visit; lifestyle and asset-creation assessment; bank statements, GST surrogates and utility patterns triangulated; FOIR capped 40 to 50%</a:t>
            </a:r>
            <a:endParaRPr lang="en-US" sz="1070" dirty="0"/>
          </a:p>
        </p:txBody>
      </p:sp>
      <p:sp>
        <p:nvSpPr>
          <p:cNvPr id="13" name="Shape 11"/>
          <p:cNvSpPr/>
          <p:nvPr/>
        </p:nvSpPr>
        <p:spPr>
          <a:xfrm>
            <a:off x="8107680" y="1737360"/>
            <a:ext cx="3514344" cy="1874520"/>
          </a:xfrm>
          <a:prstGeom prst="roundRect">
            <a:avLst>
              <a:gd name="adj" fmla="val 3415"/>
            </a:avLst>
          </a:prstGeom>
          <a:solidFill>
            <a:srgbClr val="FFFFFF"/>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14" name="Shape 12"/>
          <p:cNvSpPr/>
          <p:nvPr/>
        </p:nvSpPr>
        <p:spPr>
          <a:xfrm>
            <a:off x="8107680" y="1737360"/>
            <a:ext cx="3514344" cy="457200"/>
          </a:xfrm>
          <a:prstGeom prst="roundRect">
            <a:avLst>
              <a:gd name="adj" fmla="val 10000"/>
            </a:avLst>
          </a:prstGeom>
          <a:solidFill>
            <a:srgbClr val="16284A"/>
          </a:solidFill>
          <a:ln/>
        </p:spPr>
      </p:sp>
      <p:sp>
        <p:nvSpPr>
          <p:cNvPr id="15" name="Text 13"/>
          <p:cNvSpPr/>
          <p:nvPr/>
        </p:nvSpPr>
        <p:spPr>
          <a:xfrm>
            <a:off x="8290560" y="1737360"/>
            <a:ext cx="3148584" cy="4572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3   Collateral</a:t>
            </a:r>
            <a:endParaRPr lang="en-US" sz="1400" dirty="0"/>
          </a:p>
        </p:txBody>
      </p:sp>
      <p:sp>
        <p:nvSpPr>
          <p:cNvPr id="16" name="Text 14"/>
          <p:cNvSpPr/>
          <p:nvPr/>
        </p:nvSpPr>
        <p:spPr>
          <a:xfrm>
            <a:off x="8290560" y="2286000"/>
            <a:ext cx="3148584" cy="1216152"/>
          </a:xfrm>
          <a:prstGeom prst="rect">
            <a:avLst/>
          </a:prstGeom>
          <a:noFill/>
          <a:ln/>
        </p:spPr>
        <p:txBody>
          <a:bodyPr wrap="square" lIns="0" tIns="0" rIns="0" bIns="0" rtlCol="0" anchor="t"/>
          <a:lstStyle/>
          <a:p>
            <a:pPr indent="0" marL="0">
              <a:lnSpc>
                <a:spcPct val="106000"/>
              </a:lnSpc>
              <a:buNone/>
            </a:pPr>
            <a:r>
              <a:rPr lang="en-US" sz="1070" dirty="0">
                <a:solidFill>
                  <a:srgbClr val="1A2238"/>
                </a:solidFill>
                <a:latin typeface="Arial" pitchFamily="34" charset="0"/>
                <a:ea typeface="Arial" pitchFamily="34" charset="-122"/>
                <a:cs typeface="Arial" pitchFamily="34" charset="-120"/>
              </a:rPr>
              <a:t>100% secured by self-occupied residential property; internal valuers and ~60 in-house lawyers verify title; distressed-valuation LTV, 47% of book below 40%</a:t>
            </a:r>
            <a:endParaRPr lang="en-US" sz="1070" dirty="0"/>
          </a:p>
        </p:txBody>
      </p:sp>
      <p:sp>
        <p:nvSpPr>
          <p:cNvPr id="17" name="Text 15"/>
          <p:cNvSpPr/>
          <p:nvPr/>
        </p:nvSpPr>
        <p:spPr>
          <a:xfrm>
            <a:off x="566928" y="3794760"/>
            <a:ext cx="10972800" cy="274320"/>
          </a:xfrm>
          <a:prstGeom prst="rect">
            <a:avLst/>
          </a:prstGeom>
          <a:noFill/>
          <a:ln/>
        </p:spPr>
        <p:txBody>
          <a:bodyPr wrap="square" lIns="0" tIns="0" rIns="0" bIns="0" rtlCol="0" anchor="ctr"/>
          <a:lstStyle/>
          <a:p>
            <a:pPr indent="0" marL="0">
              <a:buNone/>
            </a:pPr>
            <a:r>
              <a:rPr lang="en-US" sz="1100" b="1" spc="100" kern="0" dirty="0">
                <a:solidFill>
                  <a:srgbClr val="C0902C"/>
                </a:solidFill>
                <a:latin typeface="Arial" pitchFamily="34" charset="0"/>
                <a:ea typeface="Arial" pitchFamily="34" charset="-122"/>
                <a:cs typeface="Arial" pitchFamily="34" charset="-120"/>
              </a:rPr>
              <a:t>A FIVE-LAYER, SEGREGATED, FEET-ON-STREET FILTER BEFORE APPROVAL</a:t>
            </a:r>
            <a:endParaRPr lang="en-US" sz="1100" dirty="0"/>
          </a:p>
        </p:txBody>
      </p:sp>
      <p:sp>
        <p:nvSpPr>
          <p:cNvPr id="18" name="Shape 16"/>
          <p:cNvSpPr/>
          <p:nvPr/>
        </p:nvSpPr>
        <p:spPr>
          <a:xfrm>
            <a:off x="566928" y="4114800"/>
            <a:ext cx="2079346" cy="566928"/>
          </a:xfrm>
          <a:prstGeom prst="roundRect">
            <a:avLst>
              <a:gd name="adj" fmla="val 8065"/>
            </a:avLst>
          </a:prstGeom>
          <a:solidFill>
            <a:srgbClr val="1F3A63"/>
          </a:solidFill>
          <a:ln/>
        </p:spPr>
      </p:sp>
      <p:sp>
        <p:nvSpPr>
          <p:cNvPr id="19" name="Text 17"/>
          <p:cNvSpPr/>
          <p:nvPr/>
        </p:nvSpPr>
        <p:spPr>
          <a:xfrm>
            <a:off x="640080" y="4114800"/>
            <a:ext cx="1933042" cy="566928"/>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Arial" pitchFamily="34" charset="0"/>
                <a:ea typeface="Arial" pitchFamily="34" charset="-122"/>
                <a:cs typeface="Arial" pitchFamily="34" charset="-120"/>
              </a:rPr>
              <a:t>1.  Pre-login (RO)</a:t>
            </a:r>
            <a:endParaRPr lang="en-US" sz="1000" dirty="0"/>
          </a:p>
        </p:txBody>
      </p:sp>
      <p:sp>
        <p:nvSpPr>
          <p:cNvPr id="20" name="Shape 18"/>
          <p:cNvSpPr/>
          <p:nvPr/>
        </p:nvSpPr>
        <p:spPr>
          <a:xfrm>
            <a:off x="2810866" y="4114800"/>
            <a:ext cx="2079346" cy="566928"/>
          </a:xfrm>
          <a:prstGeom prst="roundRect">
            <a:avLst>
              <a:gd name="adj" fmla="val 8065"/>
            </a:avLst>
          </a:prstGeom>
          <a:solidFill>
            <a:srgbClr val="1F3A63"/>
          </a:solidFill>
          <a:ln/>
        </p:spPr>
      </p:sp>
      <p:sp>
        <p:nvSpPr>
          <p:cNvPr id="21" name="Text 19"/>
          <p:cNvSpPr/>
          <p:nvPr/>
        </p:nvSpPr>
        <p:spPr>
          <a:xfrm>
            <a:off x="2884018" y="4114800"/>
            <a:ext cx="1933042" cy="566928"/>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Arial" pitchFamily="34" charset="0"/>
                <a:ea typeface="Arial" pitchFamily="34" charset="-122"/>
                <a:cs typeface="Arial" pitchFamily="34" charset="-120"/>
              </a:rPr>
              <a:t>2.  Field inspection</a:t>
            </a:r>
            <a:endParaRPr lang="en-US" sz="1000" dirty="0"/>
          </a:p>
        </p:txBody>
      </p:sp>
      <p:sp>
        <p:nvSpPr>
          <p:cNvPr id="22" name="Shape 20"/>
          <p:cNvSpPr/>
          <p:nvPr/>
        </p:nvSpPr>
        <p:spPr>
          <a:xfrm>
            <a:off x="5054803" y="4114800"/>
            <a:ext cx="2079346" cy="566928"/>
          </a:xfrm>
          <a:prstGeom prst="roundRect">
            <a:avLst>
              <a:gd name="adj" fmla="val 8065"/>
            </a:avLst>
          </a:prstGeom>
          <a:solidFill>
            <a:srgbClr val="1F3A63"/>
          </a:solidFill>
          <a:ln/>
        </p:spPr>
      </p:sp>
      <p:sp>
        <p:nvSpPr>
          <p:cNvPr id="23" name="Text 21"/>
          <p:cNvSpPr/>
          <p:nvPr/>
        </p:nvSpPr>
        <p:spPr>
          <a:xfrm>
            <a:off x="5127955" y="4114800"/>
            <a:ext cx="1933042" cy="566928"/>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Arial" pitchFamily="34" charset="0"/>
                <a:ea typeface="Arial" pitchFamily="34" charset="-122"/>
                <a:cs typeface="Arial" pitchFamily="34" charset="-120"/>
              </a:rPr>
              <a:t>3.  Branch review + valuation</a:t>
            </a:r>
            <a:endParaRPr lang="en-US" sz="1000" dirty="0"/>
          </a:p>
        </p:txBody>
      </p:sp>
      <p:sp>
        <p:nvSpPr>
          <p:cNvPr id="24" name="Shape 22"/>
          <p:cNvSpPr/>
          <p:nvPr/>
        </p:nvSpPr>
        <p:spPr>
          <a:xfrm>
            <a:off x="7298741" y="4114800"/>
            <a:ext cx="2079346" cy="566928"/>
          </a:xfrm>
          <a:prstGeom prst="roundRect">
            <a:avLst>
              <a:gd name="adj" fmla="val 8065"/>
            </a:avLst>
          </a:prstGeom>
          <a:solidFill>
            <a:srgbClr val="1F3A63"/>
          </a:solidFill>
          <a:ln/>
        </p:spPr>
      </p:sp>
      <p:sp>
        <p:nvSpPr>
          <p:cNvPr id="25" name="Text 23"/>
          <p:cNvSpPr/>
          <p:nvPr/>
        </p:nvSpPr>
        <p:spPr>
          <a:xfrm>
            <a:off x="7371893" y="4114800"/>
            <a:ext cx="1933042" cy="566928"/>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Arial" pitchFamily="34" charset="0"/>
                <a:ea typeface="Arial" pitchFamily="34" charset="-122"/>
                <a:cs typeface="Arial" pitchFamily="34" charset="-120"/>
              </a:rPr>
              <a:t>4.  Field credit verification</a:t>
            </a:r>
            <a:endParaRPr lang="en-US" sz="1000" dirty="0"/>
          </a:p>
        </p:txBody>
      </p:sp>
      <p:sp>
        <p:nvSpPr>
          <p:cNvPr id="26" name="Shape 24"/>
          <p:cNvSpPr/>
          <p:nvPr/>
        </p:nvSpPr>
        <p:spPr>
          <a:xfrm>
            <a:off x="9542678" y="4114800"/>
            <a:ext cx="2079346" cy="566928"/>
          </a:xfrm>
          <a:prstGeom prst="roundRect">
            <a:avLst>
              <a:gd name="adj" fmla="val 8065"/>
            </a:avLst>
          </a:prstGeom>
          <a:solidFill>
            <a:srgbClr val="C0902C"/>
          </a:solidFill>
          <a:ln/>
        </p:spPr>
      </p:sp>
      <p:sp>
        <p:nvSpPr>
          <p:cNvPr id="27" name="Text 25"/>
          <p:cNvSpPr/>
          <p:nvPr/>
        </p:nvSpPr>
        <p:spPr>
          <a:xfrm>
            <a:off x="9615830" y="4114800"/>
            <a:ext cx="1933042" cy="566928"/>
          </a:xfrm>
          <a:prstGeom prst="rect">
            <a:avLst/>
          </a:prstGeom>
          <a:noFill/>
          <a:ln/>
        </p:spPr>
        <p:txBody>
          <a:bodyPr wrap="square" lIns="0" tIns="0" rIns="0" bIns="0" rtlCol="0" anchor="ctr"/>
          <a:lstStyle/>
          <a:p>
            <a:pPr algn="ctr" indent="0" marL="0">
              <a:lnSpc>
                <a:spcPct val="95000"/>
              </a:lnSpc>
              <a:buNone/>
            </a:pPr>
            <a:r>
              <a:rPr lang="en-US" sz="1000" b="1" dirty="0">
                <a:solidFill>
                  <a:srgbClr val="FFFFFF"/>
                </a:solidFill>
                <a:latin typeface="Arial" pitchFamily="34" charset="0"/>
                <a:ea typeface="Arial" pitchFamily="34" charset="-122"/>
                <a:cs typeface="Arial" pitchFamily="34" charset="-120"/>
              </a:rPr>
              <a:t>5.  File credit sign-off</a:t>
            </a:r>
            <a:endParaRPr lang="en-US" sz="1000" dirty="0"/>
          </a:p>
        </p:txBody>
      </p:sp>
      <p:sp>
        <p:nvSpPr>
          <p:cNvPr id="28" name="Shape 26"/>
          <p:cNvSpPr/>
          <p:nvPr/>
        </p:nvSpPr>
        <p:spPr>
          <a:xfrm>
            <a:off x="566928" y="4983480"/>
            <a:ext cx="5623560" cy="1280160"/>
          </a:xfrm>
          <a:prstGeom prst="roundRect">
            <a:avLst>
              <a:gd name="adj" fmla="val 5000"/>
            </a:avLst>
          </a:prstGeom>
          <a:solidFill>
            <a:srgbClr val="F4F6F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29" name="Text 27"/>
          <p:cNvSpPr/>
          <p:nvPr/>
        </p:nvSpPr>
        <p:spPr>
          <a:xfrm>
            <a:off x="768096" y="5084064"/>
            <a:ext cx="5212080" cy="256032"/>
          </a:xfrm>
          <a:prstGeom prst="rect">
            <a:avLst/>
          </a:prstGeom>
          <a:noFill/>
          <a:ln/>
        </p:spPr>
        <p:txBody>
          <a:bodyPr wrap="square" lIns="0" tIns="0" rIns="0" bIns="0" rtlCol="0" anchor="ctr"/>
          <a:lstStyle/>
          <a:p>
            <a:pPr indent="0" marL="0">
              <a:buNone/>
            </a:pPr>
            <a:r>
              <a:rPr lang="en-US" sz="1050" b="1" spc="100" kern="0" dirty="0">
                <a:solidFill>
                  <a:srgbClr val="C0902C"/>
                </a:solidFill>
                <a:latin typeface="Arial" pitchFamily="34" charset="0"/>
                <a:ea typeface="Arial" pitchFamily="34" charset="-122"/>
                <a:cs typeface="Arial" pitchFamily="34" charset="-120"/>
              </a:rPr>
              <a:t>THE FRANCHISE</a:t>
            </a:r>
            <a:endParaRPr lang="en-US" sz="1050" dirty="0"/>
          </a:p>
        </p:txBody>
      </p:sp>
      <p:sp>
        <p:nvSpPr>
          <p:cNvPr id="30" name="Text 28"/>
          <p:cNvSpPr/>
          <p:nvPr/>
        </p:nvSpPr>
        <p:spPr>
          <a:xfrm>
            <a:off x="768096" y="5340096"/>
            <a:ext cx="5212080" cy="868680"/>
          </a:xfrm>
          <a:prstGeom prst="rect">
            <a:avLst/>
          </a:prstGeom>
          <a:noFill/>
          <a:ln/>
        </p:spPr>
        <p:txBody>
          <a:bodyPr wrap="square" lIns="0" tIns="0" rIns="0" bIns="0" rtlCol="0" anchor="ctr"/>
          <a:lstStyle/>
          <a:p>
            <a:pPr indent="0" marL="0">
              <a:lnSpc>
                <a:spcPct val="104000"/>
              </a:lnSpc>
              <a:buNone/>
            </a:pPr>
            <a:r>
              <a:rPr lang="en-US" sz="1030" dirty="0">
                <a:solidFill>
                  <a:srgbClr val="1A2238"/>
                </a:solidFill>
                <a:latin typeface="Arial" pitchFamily="34" charset="0"/>
                <a:ea typeface="Arial" pitchFamily="34" charset="-122"/>
                <a:cs typeface="Arial" pitchFamily="34" charset="-120"/>
              </a:rPr>
              <a:t>Ticket ~Rs 3.5 lakh (Rs 1 to 10 lakh); self-employed, household income Rs 25 to 40k per month; ~800 branches, ~94% South India; 100% in-house sourcing (no DSAs); yield &gt;24%, NIM ~16%, debt-to-equity ~1.2x.</a:t>
            </a:r>
            <a:endParaRPr lang="en-US" sz="1030" dirty="0"/>
          </a:p>
        </p:txBody>
      </p:sp>
      <p:sp>
        <p:nvSpPr>
          <p:cNvPr id="31" name="Shape 29"/>
          <p:cNvSpPr/>
          <p:nvPr/>
        </p:nvSpPr>
        <p:spPr>
          <a:xfrm>
            <a:off x="6419088" y="4983480"/>
            <a:ext cx="5202936" cy="1280160"/>
          </a:xfrm>
          <a:prstGeom prst="roundRect">
            <a:avLst>
              <a:gd name="adj" fmla="val 5000"/>
            </a:avLst>
          </a:prstGeom>
          <a:solidFill>
            <a:srgbClr val="16284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32" name="Text 30"/>
          <p:cNvSpPr/>
          <p:nvPr/>
        </p:nvSpPr>
        <p:spPr>
          <a:xfrm>
            <a:off x="6620256" y="5084064"/>
            <a:ext cx="4937760" cy="256032"/>
          </a:xfrm>
          <a:prstGeom prst="rect">
            <a:avLst/>
          </a:prstGeom>
          <a:noFill/>
          <a:ln/>
        </p:spPr>
        <p:txBody>
          <a:bodyPr wrap="square" lIns="0" tIns="0" rIns="0" bIns="0" rtlCol="0" anchor="ctr"/>
          <a:lstStyle/>
          <a:p>
            <a:pPr indent="0" marL="0">
              <a:buNone/>
            </a:pPr>
            <a:r>
              <a:rPr lang="en-US" sz="1050" b="1" spc="100" kern="0" dirty="0">
                <a:solidFill>
                  <a:srgbClr val="E7D6A8"/>
                </a:solidFill>
                <a:latin typeface="Arial" pitchFamily="34" charset="0"/>
                <a:ea typeface="Arial" pitchFamily="34" charset="-122"/>
                <a:cs typeface="Arial" pitchFamily="34" charset="-120"/>
              </a:rPr>
              <a:t>WHY IT IS DEFENSIBLE</a:t>
            </a:r>
            <a:endParaRPr lang="en-US" sz="1050" dirty="0"/>
          </a:p>
        </p:txBody>
      </p:sp>
      <p:sp>
        <p:nvSpPr>
          <p:cNvPr id="33" name="Text 31"/>
          <p:cNvSpPr/>
          <p:nvPr/>
        </p:nvSpPr>
        <p:spPr>
          <a:xfrm>
            <a:off x="6620256" y="5340096"/>
            <a:ext cx="4937760" cy="868680"/>
          </a:xfrm>
          <a:prstGeom prst="rect">
            <a:avLst/>
          </a:prstGeom>
          <a:noFill/>
          <a:ln/>
        </p:spPr>
        <p:txBody>
          <a:bodyPr wrap="square" lIns="0" tIns="0" rIns="0" bIns="0" rtlCol="0" anchor="ctr"/>
          <a:lstStyle/>
          <a:p>
            <a:pPr indent="0" marL="0">
              <a:lnSpc>
                <a:spcPct val="104000"/>
              </a:lnSpc>
              <a:buNone/>
            </a:pPr>
            <a:r>
              <a:rPr lang="en-US" sz="1030" dirty="0">
                <a:solidFill>
                  <a:srgbClr val="DCE4F2"/>
                </a:solidFill>
                <a:latin typeface="Arial" pitchFamily="34" charset="0"/>
                <a:ea typeface="Arial" pitchFamily="34" charset="-122"/>
                <a:cs typeface="Arial" pitchFamily="34" charset="-120"/>
              </a:rPr>
              <a:t>The method is now industry-standard; the edge is execution depth and the sub-Rs 5 lakh focus. Tech (mobility sourcing, geo-tagged inspection, e-NACH, Account Aggregator) is digitizing the workflow, but on-ground verification remains the core. </a:t>
            </a:r>
            <a:endParaRPr lang="en-US" sz="1030" dirty="0"/>
          </a:p>
        </p:txBody>
      </p:sp>
      <p:sp>
        <p:nvSpPr>
          <p:cNvPr id="34" name="Text 32"/>
          <p:cNvSpPr/>
          <p:nvPr/>
        </p:nvSpPr>
        <p:spPr>
          <a:xfrm>
            <a:off x="566928" y="6510528"/>
            <a:ext cx="9509760" cy="256032"/>
          </a:xfrm>
          <a:prstGeom prst="rect">
            <a:avLst/>
          </a:prstGeom>
          <a:noFill/>
          <a:ln/>
        </p:spPr>
        <p:txBody>
          <a:bodyPr wrap="square" lIns="0" tIns="0" rIns="0" bIns="0" rtlCol="0" anchor="ctr"/>
          <a:lstStyle/>
          <a:p>
            <a:pPr indent="0" marL="0">
              <a:buNone/>
            </a:pPr>
            <a:r>
              <a:rPr lang="en-US" sz="750" i="1" dirty="0">
                <a:solidFill>
                  <a:srgbClr val="6E7686"/>
                </a:solidFill>
                <a:latin typeface="Arial" pitchFamily="34" charset="0"/>
                <a:ea typeface="Arial" pitchFamily="34" charset="-122"/>
                <a:cs typeface="Arial" pitchFamily="34" charset="-120"/>
              </a:rPr>
              <a:t>Source: Company DRHP and investor materials; broker initiation notes (MNCL, JM Financial, HDFC Securities, I-Sec); ICRA rationale.</a:t>
            </a:r>
            <a:endParaRPr lang="en-US" sz="750" dirty="0"/>
          </a:p>
        </p:txBody>
      </p:sp>
      <p:sp>
        <p:nvSpPr>
          <p:cNvPr id="35" name="Text 33"/>
          <p:cNvSpPr/>
          <p:nvPr/>
        </p:nvSpPr>
        <p:spPr>
          <a:xfrm>
            <a:off x="8165592" y="6510528"/>
            <a:ext cx="3383280" cy="256032"/>
          </a:xfrm>
          <a:prstGeom prst="rect">
            <a:avLst/>
          </a:prstGeom>
          <a:noFill/>
          <a:ln/>
        </p:spPr>
        <p:txBody>
          <a:bodyPr wrap="square" lIns="0" tIns="0" rIns="0" bIns="0" rtlCol="0" anchor="ctr"/>
          <a:lstStyle/>
          <a:p>
            <a:pPr algn="r" indent="0" marL="0">
              <a:buNone/>
            </a:pPr>
            <a:r>
              <a:rPr lang="en-US" sz="750" dirty="0">
                <a:solidFill>
                  <a:srgbClr val="6E7686"/>
                </a:solidFill>
                <a:latin typeface="Arial" pitchFamily="34" charset="0"/>
                <a:ea typeface="Arial" pitchFamily="34" charset="-122"/>
                <a:cs typeface="Arial" pitchFamily="34" charset="-120"/>
              </a:rPr>
              <a:t>Five-Star Business Finance  |  Investment Recommendation  |  3 of 8</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18872" cy="118872"/>
          </a:xfrm>
          <a:prstGeom prst="rect">
            <a:avLst/>
          </a:prstGeom>
          <a:solidFill>
            <a:srgbClr val="C0902C"/>
          </a:solidFill>
          <a:ln/>
        </p:spPr>
      </p:sp>
      <p:sp>
        <p:nvSpPr>
          <p:cNvPr id="3" name="Text 1"/>
          <p:cNvSpPr/>
          <p:nvPr/>
        </p:nvSpPr>
        <p:spPr>
          <a:xfrm>
            <a:off x="786384" y="384048"/>
            <a:ext cx="10789920" cy="274320"/>
          </a:xfrm>
          <a:prstGeom prst="rect">
            <a:avLst/>
          </a:prstGeom>
          <a:noFill/>
          <a:ln/>
        </p:spPr>
        <p:txBody>
          <a:bodyPr wrap="square" lIns="0" tIns="0" rIns="0" bIns="0" rtlCol="0" anchor="ctr"/>
          <a:lstStyle/>
          <a:p>
            <a:pPr indent="0" marL="0">
              <a:buNone/>
            </a:pPr>
            <a:r>
              <a:rPr lang="en-US" sz="1100" b="1" spc="200" kern="0" dirty="0">
                <a:solidFill>
                  <a:srgbClr val="C0902C"/>
                </a:solidFill>
                <a:latin typeface="Arial" pitchFamily="34" charset="0"/>
                <a:ea typeface="Arial" pitchFamily="34" charset="-122"/>
                <a:cs typeface="Arial" pitchFamily="34" charset="-120"/>
              </a:rPr>
              <a:t>COMPETITIVE POSITIONING</a:t>
            </a:r>
            <a:endParaRPr lang="en-US" sz="1100" dirty="0"/>
          </a:p>
        </p:txBody>
      </p:sp>
      <p:sp>
        <p:nvSpPr>
          <p:cNvPr id="4" name="Text 2"/>
          <p:cNvSpPr/>
          <p:nvPr/>
        </p:nvSpPr>
        <p:spPr>
          <a:xfrm>
            <a:off x="566928" y="676656"/>
            <a:ext cx="11055096" cy="777240"/>
          </a:xfrm>
          <a:prstGeom prst="rect">
            <a:avLst/>
          </a:prstGeom>
          <a:noFill/>
          <a:ln/>
        </p:spPr>
        <p:txBody>
          <a:bodyPr wrap="square" lIns="0" tIns="0" rIns="0" bIns="0" rtlCol="0" anchor="t"/>
          <a:lstStyle/>
          <a:p>
            <a:pPr indent="0" marL="0">
              <a:lnSpc>
                <a:spcPct val="102000"/>
              </a:lnSpc>
              <a:buNone/>
            </a:pPr>
            <a:r>
              <a:rPr lang="en-US" sz="2000" b="1" dirty="0">
                <a:solidFill>
                  <a:srgbClr val="16284A"/>
                </a:solidFill>
                <a:latin typeface="Arial" pitchFamily="34" charset="0"/>
                <a:ea typeface="Arial" pitchFamily="34" charset="-122"/>
                <a:cs typeface="Arial" pitchFamily="34" charset="-120"/>
              </a:rPr>
              <a:t>Five-Star leads the peer set on returns and yield, yet trades at the lowest multiple</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11055096" cy="914400"/>
        </p:xfrm>
        <a:graphic>
          <a:graphicData uri="http://schemas.openxmlformats.org/drawingml/2006/table">
            <a:tbl>
              <a:tblPr/>
              <a:tblGrid>
                <a:gridCol w="1399990"/>
                <a:gridCol w="1593092"/>
                <a:gridCol w="1110337"/>
                <a:gridCol w="1013786"/>
                <a:gridCol w="1013786"/>
                <a:gridCol w="965511"/>
                <a:gridCol w="917235"/>
                <a:gridCol w="1013786"/>
                <a:gridCol w="1013786"/>
                <a:gridCol w="1013786"/>
              </a:tblGrid>
              <a:tr h="475488">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Lender</a:t>
                      </a:r>
                      <a:endParaRPr lang="en-US" sz="105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16284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Focus</a:t>
                      </a:r>
                      <a:endParaRPr lang="en-US" sz="105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16284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AUM</a:t>
                      </a:r>
                      <a:endParaRPr lang="en-US" sz="1050" dirty="0">
                        <a:latin typeface="Arial" charset="0"/>
                        <a:ea typeface="Arial" charset="0"/>
                        <a:cs typeface="Arial" charset="0"/>
                      </a:endParaRPr>
                    </a:p>
                    <a:p>
                      <a:pPr algn="ctr" indent="0" marL="0">
                        <a:buNone/>
                      </a:pPr>
                      <a:r>
                        <a:rPr lang="en-US" sz="1050" b="1" dirty="0">
                          <a:solidFill>
                            <a:srgbClr val="FFFFFF"/>
                          </a:solidFill>
                          <a:latin typeface="Arial" pitchFamily="34" charset="0"/>
                          <a:ea typeface="Arial" pitchFamily="34" charset="-122"/>
                          <a:cs typeface="Arial" pitchFamily="34" charset="-120"/>
                        </a:rPr>
                        <a:t>(Rs Cr)</a:t>
                      </a:r>
                      <a:endParaRPr lang="en-US" sz="105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16284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AUM gr.</a:t>
                      </a:r>
                      <a:endParaRPr lang="en-US" sz="1050" dirty="0">
                        <a:latin typeface="Arial" charset="0"/>
                        <a:ea typeface="Arial" charset="0"/>
                        <a:cs typeface="Arial" charset="0"/>
                      </a:endParaRPr>
                    </a:p>
                    <a:p>
                      <a:pPr algn="ctr" indent="0" marL="0">
                        <a:buNone/>
                      </a:pPr>
                      <a:r>
                        <a:rPr lang="en-US" sz="1050" b="1" dirty="0">
                          <a:solidFill>
                            <a:srgbClr val="FFFFFF"/>
                          </a:solidFill>
                          <a:latin typeface="Arial" pitchFamily="34" charset="0"/>
                          <a:ea typeface="Arial" pitchFamily="34" charset="-122"/>
                          <a:cs typeface="Arial" pitchFamily="34" charset="-120"/>
                        </a:rPr>
                        <a:t>FY26</a:t>
                      </a:r>
                      <a:endParaRPr lang="en-US" sz="105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16284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Yield</a:t>
                      </a:r>
                      <a:endParaRPr lang="en-US" sz="105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16284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ROA</a:t>
                      </a:r>
                      <a:endParaRPr lang="en-US" sz="105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16284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ROE</a:t>
                      </a:r>
                      <a:endParaRPr lang="en-US" sz="105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16284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GNPA</a:t>
                      </a:r>
                      <a:endParaRPr lang="en-US" sz="105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16284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P/E</a:t>
                      </a:r>
                      <a:endParaRPr lang="en-US" sz="105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16284A"/>
                    </a:solidFill>
                  </a:tcPr>
                </a:tc>
                <a:tc>
                  <a:txBody>
                    <a:bodyPr/>
                    <a:lstStyle/>
                    <a:p>
                      <a:pPr algn="ctr" indent="0" marL="0">
                        <a:buNone/>
                      </a:pPr>
                      <a:r>
                        <a:rPr lang="en-US" sz="1050" b="1" dirty="0">
                          <a:solidFill>
                            <a:srgbClr val="FFFFFF"/>
                          </a:solidFill>
                          <a:latin typeface="Arial" pitchFamily="34" charset="0"/>
                          <a:ea typeface="Arial" pitchFamily="34" charset="-122"/>
                          <a:cs typeface="Arial" pitchFamily="34" charset="-120"/>
                        </a:rPr>
                        <a:t>P/B</a:t>
                      </a:r>
                      <a:endParaRPr lang="en-US" sz="105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16284A"/>
                    </a:solidFill>
                  </a:tcPr>
                </a:tc>
              </a:tr>
              <a:tr h="475488">
                <a:tc>
                  <a:txBody>
                    <a:bodyPr/>
                    <a:lstStyle/>
                    <a:p>
                      <a:pPr algn="l" indent="0" marL="0">
                        <a:buNone/>
                      </a:pPr>
                      <a:r>
                        <a:rPr lang="en-US" sz="1100" b="1" dirty="0">
                          <a:solidFill>
                            <a:srgbClr val="16284A"/>
                          </a:solidFill>
                          <a:latin typeface="Arial" pitchFamily="34" charset="0"/>
                          <a:ea typeface="Arial" pitchFamily="34" charset="-122"/>
                          <a:cs typeface="Arial" pitchFamily="34" charset="-120"/>
                        </a:rPr>
                        <a:t>Five-Star</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E7D6A8"/>
                    </a:solidFill>
                  </a:tcPr>
                </a:tc>
                <a:tc>
                  <a:txBody>
                    <a:bodyPr/>
                    <a:lstStyle/>
                    <a:p>
                      <a:pPr algn="l" indent="0" marL="0">
                        <a:buNone/>
                      </a:pPr>
                      <a:r>
                        <a:rPr lang="en-US" sz="1100" b="1" dirty="0">
                          <a:solidFill>
                            <a:srgbClr val="16284A"/>
                          </a:solidFill>
                          <a:latin typeface="Arial" pitchFamily="34" charset="0"/>
                          <a:ea typeface="Arial" pitchFamily="34" charset="-122"/>
                          <a:cs typeface="Arial" pitchFamily="34" charset="-120"/>
                        </a:rPr>
                        <a:t>Micro-LAP</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E7D6A8"/>
                    </a:solidFill>
                  </a:tcPr>
                </a:tc>
                <a:tc>
                  <a:txBody>
                    <a:bodyPr/>
                    <a:lstStyle/>
                    <a:p>
                      <a:pPr algn="ctr" indent="0" marL="0">
                        <a:buNone/>
                      </a:pPr>
                      <a:r>
                        <a:rPr lang="en-US" sz="1100" b="1" dirty="0">
                          <a:solidFill>
                            <a:srgbClr val="16284A"/>
                          </a:solidFill>
                          <a:latin typeface="Arial" pitchFamily="34" charset="0"/>
                          <a:ea typeface="Arial" pitchFamily="34" charset="-122"/>
                          <a:cs typeface="Arial" pitchFamily="34" charset="-120"/>
                        </a:rPr>
                        <a:t>13,225</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E7D6A8"/>
                    </a:solidFill>
                  </a:tcPr>
                </a:tc>
                <a:tc>
                  <a:txBody>
                    <a:bodyPr/>
                    <a:lstStyle/>
                    <a:p>
                      <a:pPr algn="ctr" indent="0" marL="0">
                        <a:buNone/>
                      </a:pPr>
                      <a:r>
                        <a:rPr lang="en-US" sz="1100" b="1" dirty="0">
                          <a:solidFill>
                            <a:srgbClr val="16284A"/>
                          </a:solidFill>
                          <a:latin typeface="Arial" pitchFamily="34" charset="0"/>
                          <a:ea typeface="Arial" pitchFamily="34" charset="-122"/>
                          <a:cs typeface="Arial" pitchFamily="34" charset="-120"/>
                        </a:rPr>
                        <a:t>+11%</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E7D6A8"/>
                    </a:solidFill>
                  </a:tcPr>
                </a:tc>
                <a:tc>
                  <a:txBody>
                    <a:bodyPr/>
                    <a:lstStyle/>
                    <a:p>
                      <a:pPr algn="ctr" indent="0" marL="0">
                        <a:buNone/>
                      </a:pPr>
                      <a:r>
                        <a:rPr lang="en-US" sz="1100" b="1" dirty="0">
                          <a:solidFill>
                            <a:srgbClr val="16284A"/>
                          </a:solidFill>
                          <a:latin typeface="Arial" pitchFamily="34" charset="0"/>
                          <a:ea typeface="Arial" pitchFamily="34" charset="-122"/>
                          <a:cs typeface="Arial" pitchFamily="34" charset="-120"/>
                        </a:rPr>
                        <a:t>&gt;24%</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E7D6A8"/>
                    </a:solidFill>
                  </a:tcPr>
                </a:tc>
                <a:tc>
                  <a:txBody>
                    <a:bodyPr/>
                    <a:lstStyle/>
                    <a:p>
                      <a:pPr algn="ctr" indent="0" marL="0">
                        <a:buNone/>
                      </a:pPr>
                      <a:r>
                        <a:rPr lang="en-US" sz="1100" b="1" dirty="0">
                          <a:solidFill>
                            <a:srgbClr val="16284A"/>
                          </a:solidFill>
                          <a:latin typeface="Arial" pitchFamily="34" charset="0"/>
                          <a:ea typeface="Arial" pitchFamily="34" charset="-122"/>
                          <a:cs typeface="Arial" pitchFamily="34" charset="-120"/>
                        </a:rPr>
                        <a:t>7.0%</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E7D6A8"/>
                    </a:solidFill>
                  </a:tcPr>
                </a:tc>
                <a:tc>
                  <a:txBody>
                    <a:bodyPr/>
                    <a:lstStyle/>
                    <a:p>
                      <a:pPr algn="ctr" indent="0" marL="0">
                        <a:buNone/>
                      </a:pPr>
                      <a:r>
                        <a:rPr lang="en-US" sz="1100" b="1" dirty="0">
                          <a:solidFill>
                            <a:srgbClr val="16284A"/>
                          </a:solidFill>
                          <a:latin typeface="Arial" pitchFamily="34" charset="0"/>
                          <a:ea typeface="Arial" pitchFamily="34" charset="-122"/>
                          <a:cs typeface="Arial" pitchFamily="34" charset="-120"/>
                        </a:rPr>
                        <a:t>16%</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E7D6A8"/>
                    </a:solidFill>
                  </a:tcPr>
                </a:tc>
                <a:tc>
                  <a:txBody>
                    <a:bodyPr/>
                    <a:lstStyle/>
                    <a:p>
                      <a:pPr algn="ctr" indent="0" marL="0">
                        <a:buNone/>
                      </a:pPr>
                      <a:r>
                        <a:rPr lang="en-US" sz="1100" b="1" dirty="0">
                          <a:solidFill>
                            <a:srgbClr val="16284A"/>
                          </a:solidFill>
                          <a:latin typeface="Arial" pitchFamily="34" charset="0"/>
                          <a:ea typeface="Arial" pitchFamily="34" charset="-122"/>
                          <a:cs typeface="Arial" pitchFamily="34" charset="-120"/>
                        </a:rPr>
                        <a:t>~3.0%</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E7D6A8"/>
                    </a:solidFill>
                  </a:tcPr>
                </a:tc>
                <a:tc>
                  <a:txBody>
                    <a:bodyPr/>
                    <a:lstStyle/>
                    <a:p>
                      <a:pPr algn="ctr" indent="0" marL="0">
                        <a:buNone/>
                      </a:pPr>
                      <a:r>
                        <a:rPr lang="en-US" sz="1100" b="1" dirty="0">
                          <a:solidFill>
                            <a:srgbClr val="16284A"/>
                          </a:solidFill>
                          <a:latin typeface="Arial" pitchFamily="34" charset="0"/>
                          <a:ea typeface="Arial" pitchFamily="34" charset="-122"/>
                          <a:cs typeface="Arial" pitchFamily="34" charset="-120"/>
                        </a:rPr>
                        <a:t>~12x</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E7D6A8"/>
                    </a:solidFill>
                  </a:tcPr>
                </a:tc>
                <a:tc>
                  <a:txBody>
                    <a:bodyPr/>
                    <a:lstStyle/>
                    <a:p>
                      <a:pPr algn="ctr" indent="0" marL="0">
                        <a:buNone/>
                      </a:pPr>
                      <a:r>
                        <a:rPr lang="en-US" sz="1100" b="1" dirty="0">
                          <a:solidFill>
                            <a:srgbClr val="16284A"/>
                          </a:solidFill>
                          <a:latin typeface="Arial" pitchFamily="34" charset="0"/>
                          <a:ea typeface="Arial" pitchFamily="34" charset="-122"/>
                          <a:cs typeface="Arial" pitchFamily="34" charset="-120"/>
                        </a:rPr>
                        <a:t>~1.8x</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E7D6A8"/>
                    </a:solidFill>
                  </a:tcPr>
                </a:tc>
              </a:tr>
              <a:tr h="475488">
                <a:tc>
                  <a:txBody>
                    <a:bodyPr/>
                    <a:lstStyle/>
                    <a:p>
                      <a:pPr algn="l" indent="0" marL="0">
                        <a:buNone/>
                      </a:pPr>
                      <a:r>
                        <a:rPr lang="en-US" sz="1100" b="1" dirty="0">
                          <a:solidFill>
                            <a:srgbClr val="1A2238"/>
                          </a:solidFill>
                          <a:latin typeface="Arial" pitchFamily="34" charset="0"/>
                          <a:ea typeface="Arial" pitchFamily="34" charset="-122"/>
                          <a:cs typeface="Arial" pitchFamily="34" charset="-120"/>
                        </a:rPr>
                        <a:t>Aptus</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2238"/>
                          </a:solidFill>
                          <a:latin typeface="Arial" pitchFamily="34" charset="0"/>
                          <a:ea typeface="Arial" pitchFamily="34" charset="-122"/>
                          <a:cs typeface="Arial" pitchFamily="34" charset="-120"/>
                        </a:rPr>
                        <a:t>Housing + LAP</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13,107</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+21%</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~17%</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7.9%</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20%</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1.5%</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~16x</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~3.5x</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r>
              <a:tr h="475488">
                <a:tc>
                  <a:txBody>
                    <a:bodyPr/>
                    <a:lstStyle/>
                    <a:p>
                      <a:pPr algn="l" indent="0" marL="0">
                        <a:buNone/>
                      </a:pPr>
                      <a:r>
                        <a:rPr lang="en-US" sz="1100" b="1" dirty="0">
                          <a:solidFill>
                            <a:srgbClr val="1A2238"/>
                          </a:solidFill>
                          <a:latin typeface="Arial" pitchFamily="34" charset="0"/>
                          <a:ea typeface="Arial" pitchFamily="34" charset="-122"/>
                          <a:cs typeface="Arial" pitchFamily="34" charset="-120"/>
                        </a:rPr>
                        <a:t>SBFC</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238"/>
                          </a:solidFill>
                          <a:latin typeface="Arial" pitchFamily="34" charset="0"/>
                          <a:ea typeface="Arial" pitchFamily="34" charset="-122"/>
                          <a:cs typeface="Arial" pitchFamily="34" charset="-120"/>
                        </a:rPr>
                        <a:t>Secured MSME</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~10,500</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+30%</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~16%</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4.4%</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13%</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2.8%</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~28x</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~3.2x</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r>
              <a:tr h="475488">
                <a:tc>
                  <a:txBody>
                    <a:bodyPr/>
                    <a:lstStyle/>
                    <a:p>
                      <a:pPr algn="l" indent="0" marL="0">
                        <a:buNone/>
                      </a:pPr>
                      <a:r>
                        <a:rPr lang="en-US" sz="1100" b="1" dirty="0">
                          <a:solidFill>
                            <a:srgbClr val="1A2238"/>
                          </a:solidFill>
                          <a:latin typeface="Arial" pitchFamily="34" charset="0"/>
                          <a:ea typeface="Arial" pitchFamily="34" charset="-122"/>
                          <a:cs typeface="Arial" pitchFamily="34" charset="-120"/>
                        </a:rPr>
                        <a:t>Aavas</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l" indent="0" marL="0">
                        <a:buNone/>
                      </a:pPr>
                      <a:r>
                        <a:rPr lang="en-US" sz="1100" dirty="0">
                          <a:solidFill>
                            <a:srgbClr val="1A2238"/>
                          </a:solidFill>
                          <a:latin typeface="Arial" pitchFamily="34" charset="0"/>
                          <a:ea typeface="Arial" pitchFamily="34" charset="-122"/>
                          <a:cs typeface="Arial" pitchFamily="34" charset="-120"/>
                        </a:rPr>
                        <a:t>Aff. housing</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~22,000</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+19%</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~13%</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3.1%</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14%</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1.1%</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~24x</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~3.2x</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r>
              <a:tr h="475488">
                <a:tc>
                  <a:txBody>
                    <a:bodyPr/>
                    <a:lstStyle/>
                    <a:p>
                      <a:pPr algn="l" indent="0" marL="0">
                        <a:buNone/>
                      </a:pPr>
                      <a:r>
                        <a:rPr lang="en-US" sz="1100" b="1" dirty="0">
                          <a:solidFill>
                            <a:srgbClr val="1A2238"/>
                          </a:solidFill>
                          <a:latin typeface="Arial" pitchFamily="34" charset="0"/>
                          <a:ea typeface="Arial" pitchFamily="34" charset="-122"/>
                          <a:cs typeface="Arial" pitchFamily="34" charset="-120"/>
                        </a:rPr>
                        <a:t>Home First</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238"/>
                          </a:solidFill>
                          <a:latin typeface="Arial" pitchFamily="34" charset="0"/>
                          <a:ea typeface="Arial" pitchFamily="34" charset="-122"/>
                          <a:cs typeface="Arial" pitchFamily="34" charset="-120"/>
                        </a:rPr>
                        <a:t>Aff. housing</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~16,000</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+28%</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~13%</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3.8%</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15%</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1.7%</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~33x</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A2238"/>
                          </a:solidFill>
                          <a:latin typeface="Arial" pitchFamily="34" charset="0"/>
                          <a:ea typeface="Arial" pitchFamily="34" charset="-122"/>
                          <a:cs typeface="Arial" pitchFamily="34" charset="-120"/>
                        </a:rPr>
                        <a:t>~4.5x</a:t>
                      </a:r>
                      <a:endParaRPr lang="en-US" sz="1100" dirty="0">
                        <a:latin typeface="Arial" charset="0"/>
                        <a:ea typeface="Arial" charset="0"/>
                        <a:cs typeface="Arial" charset="0"/>
                      </a:endParaRPr>
                    </a:p>
                  </a:txBody>
                  <a:tcPr marL="50800" marR="50800" marT="38100" marB="381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FFFFF"/>
                    </a:solidFill>
                  </a:tcPr>
                </a:tc>
              </a:tr>
            </a:tbl>
          </a:graphicData>
        </a:graphic>
      </p:graphicFrame>
      <p:sp>
        <p:nvSpPr>
          <p:cNvPr id="6" name="Shape 3"/>
          <p:cNvSpPr/>
          <p:nvPr/>
        </p:nvSpPr>
        <p:spPr>
          <a:xfrm>
            <a:off x="566928" y="4956048"/>
            <a:ext cx="11055096" cy="1298448"/>
          </a:xfrm>
          <a:prstGeom prst="roundRect">
            <a:avLst>
              <a:gd name="adj" fmla="val 4930"/>
            </a:avLst>
          </a:prstGeom>
          <a:solidFill>
            <a:srgbClr val="F4F6F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7" name="Text 4"/>
          <p:cNvSpPr/>
          <p:nvPr/>
        </p:nvSpPr>
        <p:spPr>
          <a:xfrm>
            <a:off x="795528" y="5065776"/>
            <a:ext cx="5486400" cy="256032"/>
          </a:xfrm>
          <a:prstGeom prst="rect">
            <a:avLst/>
          </a:prstGeom>
          <a:noFill/>
          <a:ln/>
        </p:spPr>
        <p:txBody>
          <a:bodyPr wrap="square" lIns="0" tIns="0" rIns="0" bIns="0" rtlCol="0" anchor="ctr"/>
          <a:lstStyle/>
          <a:p>
            <a:pPr indent="0" marL="0">
              <a:buNone/>
            </a:pPr>
            <a:r>
              <a:rPr lang="en-US" sz="1100" b="1" spc="100" kern="0" dirty="0">
                <a:solidFill>
                  <a:srgbClr val="C0902C"/>
                </a:solidFill>
                <a:latin typeface="Arial" pitchFamily="34" charset="0"/>
                <a:ea typeface="Arial" pitchFamily="34" charset="-122"/>
                <a:cs typeface="Arial" pitchFamily="34" charset="-120"/>
              </a:rPr>
              <a:t>READING THE TABLE</a:t>
            </a:r>
            <a:endParaRPr lang="en-US" sz="1100" dirty="0"/>
          </a:p>
        </p:txBody>
      </p:sp>
      <p:sp>
        <p:nvSpPr>
          <p:cNvPr id="8" name="Text 5"/>
          <p:cNvSpPr/>
          <p:nvPr/>
        </p:nvSpPr>
        <p:spPr>
          <a:xfrm>
            <a:off x="795528" y="5321808"/>
            <a:ext cx="10597896" cy="868680"/>
          </a:xfrm>
          <a:prstGeom prst="rect">
            <a:avLst/>
          </a:prstGeom>
          <a:noFill/>
          <a:ln/>
        </p:spPr>
        <p:txBody>
          <a:bodyPr wrap="square" lIns="0" tIns="0" rIns="0" bIns="0" rtlCol="0" anchor="ctr"/>
          <a:lstStyle/>
          <a:p>
            <a:pPr indent="0" marL="0">
              <a:lnSpc>
                <a:spcPct val="104000"/>
              </a:lnSpc>
              <a:buNone/>
            </a:pPr>
            <a:r>
              <a:rPr lang="en-US" sz="1060" b="1" dirty="0">
                <a:solidFill>
                  <a:srgbClr val="16284A"/>
                </a:solidFill>
                <a:latin typeface="Arial" pitchFamily="34" charset="0"/>
                <a:ea typeface="Arial" pitchFamily="34" charset="-122"/>
                <a:cs typeface="Arial" pitchFamily="34" charset="-120"/>
              </a:rPr>
              <a:t>Returns: </a:t>
            </a:r>
            <a:pPr indent="0" marL="0">
              <a:lnSpc>
                <a:spcPct val="104000"/>
              </a:lnSpc>
              <a:buNone/>
            </a:pPr>
            <a:r>
              <a:rPr lang="en-US" sz="1060" dirty="0">
                <a:solidFill>
                  <a:srgbClr val="1A2238"/>
                </a:solidFill>
                <a:latin typeface="Arial" pitchFamily="34" charset="0"/>
                <a:ea typeface="Arial" pitchFamily="34" charset="-122"/>
                <a:cs typeface="Arial" pitchFamily="34" charset="-120"/>
              </a:rPr>
              <a:t>Five-Star's ~7% ROA and &gt;24% yield are top of the group, matched only by Aptus.   </a:t>
            </a:r>
            <a:pPr indent="0" marL="0">
              <a:lnSpc>
                <a:spcPct val="104000"/>
              </a:lnSpc>
              <a:buNone/>
            </a:pPr>
            <a:r>
              <a:rPr lang="en-US" sz="1060" b="1" dirty="0">
                <a:solidFill>
                  <a:srgbClr val="16284A"/>
                </a:solidFill>
                <a:latin typeface="Arial" pitchFamily="34" charset="0"/>
                <a:ea typeface="Arial" pitchFamily="34" charset="-122"/>
                <a:cs typeface="Arial" pitchFamily="34" charset="-120"/>
              </a:rPr>
              <a:t>Valuation: </a:t>
            </a:r>
            <a:pPr indent="0" marL="0">
              <a:lnSpc>
                <a:spcPct val="104000"/>
              </a:lnSpc>
              <a:buNone/>
            </a:pPr>
            <a:r>
              <a:rPr lang="en-US" sz="1060" dirty="0">
                <a:solidFill>
                  <a:srgbClr val="1A2238"/>
                </a:solidFill>
                <a:latin typeface="Arial" pitchFamily="34" charset="0"/>
                <a:ea typeface="Arial" pitchFamily="34" charset="-122"/>
                <a:cs typeface="Arial" pitchFamily="34" charset="-120"/>
              </a:rPr>
              <a:t>despite that, it trades at ~12x earnings and ~1.8x book, a third to a quarter of where Home First, Aavas and SBFC trade.   </a:t>
            </a:r>
            <a:pPr indent="0" marL="0">
              <a:lnSpc>
                <a:spcPct val="104000"/>
              </a:lnSpc>
              <a:buNone/>
            </a:pPr>
            <a:r>
              <a:rPr lang="en-US" sz="1060" b="1" dirty="0">
                <a:solidFill>
                  <a:srgbClr val="16284A"/>
                </a:solidFill>
                <a:latin typeface="Arial" pitchFamily="34" charset="0"/>
                <a:ea typeface="Arial" pitchFamily="34" charset="-122"/>
                <a:cs typeface="Arial" pitchFamily="34" charset="-120"/>
              </a:rPr>
              <a:t>Method: </a:t>
            </a:r>
            <a:pPr indent="0" marL="0">
              <a:lnSpc>
                <a:spcPct val="104000"/>
              </a:lnSpc>
              <a:buNone/>
            </a:pPr>
            <a:r>
              <a:rPr lang="en-US" sz="1060" dirty="0">
                <a:solidFill>
                  <a:srgbClr val="1A2238"/>
                </a:solidFill>
                <a:latin typeface="Arial" pitchFamily="34" charset="0"/>
                <a:ea typeface="Arial" pitchFamily="34" charset="-122"/>
                <a:cs typeface="Arial" pitchFamily="34" charset="-120"/>
              </a:rPr>
              <a:t>peers use the same secured cash-flow playbook with a family co-applicant; Five-Star's edge is execution and its sub-Rs 5 lakh focus, while the pure small-ticket players (Five-Star, SBFC) carry the FY26 credit-cycle stress that housing-tilted names avoided.</a:t>
            </a:r>
            <a:endParaRPr lang="en-US" sz="1060" dirty="0"/>
          </a:p>
        </p:txBody>
      </p:sp>
      <p:sp>
        <p:nvSpPr>
          <p:cNvPr id="9" name="Text 6"/>
          <p:cNvSpPr/>
          <p:nvPr/>
        </p:nvSpPr>
        <p:spPr>
          <a:xfrm>
            <a:off x="566928" y="6510528"/>
            <a:ext cx="9509760" cy="256032"/>
          </a:xfrm>
          <a:prstGeom prst="rect">
            <a:avLst/>
          </a:prstGeom>
          <a:noFill/>
          <a:ln/>
        </p:spPr>
        <p:txBody>
          <a:bodyPr wrap="square" lIns="0" tIns="0" rIns="0" bIns="0" rtlCol="0" anchor="ctr"/>
          <a:lstStyle/>
          <a:p>
            <a:pPr indent="0" marL="0">
              <a:buNone/>
            </a:pPr>
            <a:r>
              <a:rPr lang="en-US" sz="750" i="1" dirty="0">
                <a:solidFill>
                  <a:srgbClr val="6E7686"/>
                </a:solidFill>
                <a:latin typeface="Arial" pitchFamily="34" charset="0"/>
                <a:ea typeface="Arial" pitchFamily="34" charset="-122"/>
                <a:cs typeface="Arial" pitchFamily="34" charset="-120"/>
              </a:rPr>
              <a:t>Source: Company FY26 results; Investec and Factset consensus for selected peer estimates; NSE market data, June 2026. Five-Star GNPA reflects elevated stage-3 post credit-cycle stress; multiples on current price. Approximate.</a:t>
            </a:r>
            <a:endParaRPr lang="en-US" sz="750" dirty="0"/>
          </a:p>
        </p:txBody>
      </p:sp>
      <p:sp>
        <p:nvSpPr>
          <p:cNvPr id="10" name="Text 7"/>
          <p:cNvSpPr/>
          <p:nvPr/>
        </p:nvSpPr>
        <p:spPr>
          <a:xfrm>
            <a:off x="8165592" y="6510528"/>
            <a:ext cx="3383280" cy="256032"/>
          </a:xfrm>
          <a:prstGeom prst="rect">
            <a:avLst/>
          </a:prstGeom>
          <a:noFill/>
          <a:ln/>
        </p:spPr>
        <p:txBody>
          <a:bodyPr wrap="square" lIns="0" tIns="0" rIns="0" bIns="0" rtlCol="0" anchor="ctr"/>
          <a:lstStyle/>
          <a:p>
            <a:pPr algn="r" indent="0" marL="0">
              <a:buNone/>
            </a:pPr>
            <a:r>
              <a:rPr lang="en-US" sz="750" dirty="0">
                <a:solidFill>
                  <a:srgbClr val="6E7686"/>
                </a:solidFill>
                <a:latin typeface="Arial" pitchFamily="34" charset="0"/>
                <a:ea typeface="Arial" pitchFamily="34" charset="-122"/>
                <a:cs typeface="Arial" pitchFamily="34" charset="-120"/>
              </a:rPr>
              <a:t>Five-Star Business Finance  |  Investment Recommendation  |  4 of 8</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18872" cy="118872"/>
          </a:xfrm>
          <a:prstGeom prst="rect">
            <a:avLst/>
          </a:prstGeom>
          <a:solidFill>
            <a:srgbClr val="C0902C"/>
          </a:solidFill>
          <a:ln/>
        </p:spPr>
      </p:sp>
      <p:sp>
        <p:nvSpPr>
          <p:cNvPr id="3" name="Text 1"/>
          <p:cNvSpPr/>
          <p:nvPr/>
        </p:nvSpPr>
        <p:spPr>
          <a:xfrm>
            <a:off x="786384" y="384048"/>
            <a:ext cx="10789920" cy="274320"/>
          </a:xfrm>
          <a:prstGeom prst="rect">
            <a:avLst/>
          </a:prstGeom>
          <a:noFill/>
          <a:ln/>
        </p:spPr>
        <p:txBody>
          <a:bodyPr wrap="square" lIns="0" tIns="0" rIns="0" bIns="0" rtlCol="0" anchor="ctr"/>
          <a:lstStyle/>
          <a:p>
            <a:pPr indent="0" marL="0">
              <a:buNone/>
            </a:pPr>
            <a:r>
              <a:rPr lang="en-US" sz="1100" b="1" spc="200" kern="0" dirty="0">
                <a:solidFill>
                  <a:srgbClr val="C0902C"/>
                </a:solidFill>
                <a:latin typeface="Arial" pitchFamily="34" charset="0"/>
                <a:ea typeface="Arial" pitchFamily="34" charset="-122"/>
                <a:cs typeface="Arial" pitchFamily="34" charset="-120"/>
              </a:rPr>
              <a:t>GROWTH AND RETURN DRIVERS</a:t>
            </a:r>
            <a:endParaRPr lang="en-US" sz="1100" dirty="0"/>
          </a:p>
        </p:txBody>
      </p:sp>
      <p:sp>
        <p:nvSpPr>
          <p:cNvPr id="4" name="Text 2"/>
          <p:cNvSpPr/>
          <p:nvPr/>
        </p:nvSpPr>
        <p:spPr>
          <a:xfrm>
            <a:off x="566928" y="676656"/>
            <a:ext cx="11055096" cy="777240"/>
          </a:xfrm>
          <a:prstGeom prst="rect">
            <a:avLst/>
          </a:prstGeom>
          <a:noFill/>
          <a:ln/>
        </p:spPr>
        <p:txBody>
          <a:bodyPr wrap="square" lIns="0" tIns="0" rIns="0" bIns="0" rtlCol="0" anchor="t"/>
          <a:lstStyle/>
          <a:p>
            <a:pPr indent="0" marL="0">
              <a:lnSpc>
                <a:spcPct val="102000"/>
              </a:lnSpc>
              <a:buNone/>
            </a:pPr>
            <a:r>
              <a:rPr lang="en-US" sz="2000" b="1" dirty="0">
                <a:solidFill>
                  <a:srgbClr val="16284A"/>
                </a:solidFill>
                <a:latin typeface="Arial" pitchFamily="34" charset="0"/>
                <a:ea typeface="Arial" pitchFamily="34" charset="-122"/>
                <a:cs typeface="Arial" pitchFamily="34" charset="-120"/>
              </a:rPr>
              <a:t>Four levers drive the return: AUM runway, operating leverage, capital headroom and re-rating optionality</a:t>
            </a:r>
            <a:endParaRPr lang="en-US" sz="2000" dirty="0"/>
          </a:p>
        </p:txBody>
      </p:sp>
      <p:sp>
        <p:nvSpPr>
          <p:cNvPr id="5" name="Shape 3"/>
          <p:cNvSpPr/>
          <p:nvPr/>
        </p:nvSpPr>
        <p:spPr>
          <a:xfrm>
            <a:off x="566928" y="1737360"/>
            <a:ext cx="5390388" cy="1325880"/>
          </a:xfrm>
          <a:prstGeom prst="roundRect">
            <a:avLst>
              <a:gd name="adj" fmla="val 4828"/>
            </a:avLst>
          </a:prstGeom>
          <a:solidFill>
            <a:srgbClr val="FFFFFF"/>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6" name="Shape 4"/>
          <p:cNvSpPr/>
          <p:nvPr/>
        </p:nvSpPr>
        <p:spPr>
          <a:xfrm>
            <a:off x="768096" y="1938528"/>
            <a:ext cx="457200" cy="457200"/>
          </a:xfrm>
          <a:prstGeom prst="ellipse">
            <a:avLst/>
          </a:prstGeom>
          <a:solidFill>
            <a:srgbClr val="16284A"/>
          </a:solidFill>
          <a:ln/>
        </p:spPr>
      </p:sp>
      <p:sp>
        <p:nvSpPr>
          <p:cNvPr id="7" name="Text 5"/>
          <p:cNvSpPr/>
          <p:nvPr/>
        </p:nvSpPr>
        <p:spPr>
          <a:xfrm>
            <a:off x="768096" y="1938528"/>
            <a:ext cx="457200" cy="457200"/>
          </a:xfrm>
          <a:prstGeom prst="rect">
            <a:avLst/>
          </a:prstGeom>
          <a:noFill/>
          <a:ln/>
        </p:spPr>
        <p:txBody>
          <a:bodyPr wrap="square" lIns="0" tIns="0" rIns="0" bIns="0" rtlCol="0" anchor="ctr"/>
          <a:lstStyle/>
          <a:p>
            <a:pPr algn="ctr" indent="0" marL="0">
              <a:buNone/>
            </a:pPr>
            <a:r>
              <a:rPr lang="en-US" sz="1800" b="1" dirty="0">
                <a:solidFill>
                  <a:srgbClr val="C0902C"/>
                </a:solidFill>
                <a:latin typeface="Arial" pitchFamily="34" charset="0"/>
                <a:ea typeface="Arial" pitchFamily="34" charset="-122"/>
                <a:cs typeface="Arial" pitchFamily="34" charset="-120"/>
              </a:rPr>
              <a:t>1</a:t>
            </a:r>
            <a:endParaRPr lang="en-US" sz="1800" dirty="0"/>
          </a:p>
        </p:txBody>
      </p:sp>
      <p:sp>
        <p:nvSpPr>
          <p:cNvPr id="8" name="Text 6"/>
          <p:cNvSpPr/>
          <p:nvPr/>
        </p:nvSpPr>
        <p:spPr>
          <a:xfrm>
            <a:off x="1344168" y="1938528"/>
            <a:ext cx="4430268" cy="365760"/>
          </a:xfrm>
          <a:prstGeom prst="rect">
            <a:avLst/>
          </a:prstGeom>
          <a:noFill/>
          <a:ln/>
        </p:spPr>
        <p:txBody>
          <a:bodyPr wrap="square" lIns="0" tIns="0" rIns="0" bIns="0" rtlCol="0" anchor="ctr"/>
          <a:lstStyle/>
          <a:p>
            <a:pPr indent="0" marL="0">
              <a:buNone/>
            </a:pPr>
            <a:r>
              <a:rPr lang="en-US" sz="1350" b="1" dirty="0">
                <a:solidFill>
                  <a:srgbClr val="16284A"/>
                </a:solidFill>
                <a:latin typeface="Arial" pitchFamily="34" charset="0"/>
                <a:ea typeface="Arial" pitchFamily="34" charset="-122"/>
                <a:cs typeface="Arial" pitchFamily="34" charset="-120"/>
              </a:rPr>
              <a:t>AUM growth runway</a:t>
            </a:r>
            <a:endParaRPr lang="en-US" sz="1350" dirty="0"/>
          </a:p>
        </p:txBody>
      </p:sp>
      <p:sp>
        <p:nvSpPr>
          <p:cNvPr id="9" name="Text 7"/>
          <p:cNvSpPr/>
          <p:nvPr/>
        </p:nvSpPr>
        <p:spPr>
          <a:xfrm>
            <a:off x="1344168" y="2340864"/>
            <a:ext cx="4430268" cy="640080"/>
          </a:xfrm>
          <a:prstGeom prst="rect">
            <a:avLst/>
          </a:prstGeom>
          <a:noFill/>
          <a:ln/>
        </p:spPr>
        <p:txBody>
          <a:bodyPr wrap="square" lIns="0" tIns="0" rIns="0" bIns="0" rtlCol="0" anchor="ctr"/>
          <a:lstStyle/>
          <a:p>
            <a:pPr indent="0" marL="0">
              <a:lnSpc>
                <a:spcPct val="105000"/>
              </a:lnSpc>
              <a:buNone/>
            </a:pPr>
            <a:r>
              <a:rPr lang="en-US" sz="1070" dirty="0">
                <a:solidFill>
                  <a:srgbClr val="1A2238"/>
                </a:solidFill>
                <a:latin typeface="Arial" pitchFamily="34" charset="0"/>
                <a:ea typeface="Arial" pitchFamily="34" charset="-122"/>
                <a:cs typeface="Arial" pitchFamily="34" charset="-120"/>
              </a:rPr>
              <a:t>Only 2.7% of a Rs 22 trillion addressable segment; management guides ~20% FY27 AUM growth as disbursements normalize after the deliberate FY26 pause</a:t>
            </a:r>
            <a:endParaRPr lang="en-US" sz="1070" dirty="0"/>
          </a:p>
        </p:txBody>
      </p:sp>
      <p:sp>
        <p:nvSpPr>
          <p:cNvPr id="10" name="Shape 8"/>
          <p:cNvSpPr/>
          <p:nvPr/>
        </p:nvSpPr>
        <p:spPr>
          <a:xfrm>
            <a:off x="6231636" y="1737360"/>
            <a:ext cx="5390388" cy="1325880"/>
          </a:xfrm>
          <a:prstGeom prst="roundRect">
            <a:avLst>
              <a:gd name="adj" fmla="val 4828"/>
            </a:avLst>
          </a:prstGeom>
          <a:solidFill>
            <a:srgbClr val="FFFFFF"/>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11" name="Shape 9"/>
          <p:cNvSpPr/>
          <p:nvPr/>
        </p:nvSpPr>
        <p:spPr>
          <a:xfrm>
            <a:off x="6432804" y="1938528"/>
            <a:ext cx="457200" cy="457200"/>
          </a:xfrm>
          <a:prstGeom prst="ellipse">
            <a:avLst/>
          </a:prstGeom>
          <a:solidFill>
            <a:srgbClr val="16284A"/>
          </a:solidFill>
          <a:ln/>
        </p:spPr>
      </p:sp>
      <p:sp>
        <p:nvSpPr>
          <p:cNvPr id="12" name="Text 10"/>
          <p:cNvSpPr/>
          <p:nvPr/>
        </p:nvSpPr>
        <p:spPr>
          <a:xfrm>
            <a:off x="6432804" y="1938528"/>
            <a:ext cx="457200" cy="457200"/>
          </a:xfrm>
          <a:prstGeom prst="rect">
            <a:avLst/>
          </a:prstGeom>
          <a:noFill/>
          <a:ln/>
        </p:spPr>
        <p:txBody>
          <a:bodyPr wrap="square" lIns="0" tIns="0" rIns="0" bIns="0" rtlCol="0" anchor="ctr"/>
          <a:lstStyle/>
          <a:p>
            <a:pPr algn="ctr" indent="0" marL="0">
              <a:buNone/>
            </a:pPr>
            <a:r>
              <a:rPr lang="en-US" sz="1800" b="1" dirty="0">
                <a:solidFill>
                  <a:srgbClr val="C0902C"/>
                </a:solidFill>
                <a:latin typeface="Arial" pitchFamily="34" charset="0"/>
                <a:ea typeface="Arial" pitchFamily="34" charset="-122"/>
                <a:cs typeface="Arial" pitchFamily="34" charset="-120"/>
              </a:rPr>
              <a:t>2</a:t>
            </a:r>
            <a:endParaRPr lang="en-US" sz="1800" dirty="0"/>
          </a:p>
        </p:txBody>
      </p:sp>
      <p:sp>
        <p:nvSpPr>
          <p:cNvPr id="13" name="Text 11"/>
          <p:cNvSpPr/>
          <p:nvPr/>
        </p:nvSpPr>
        <p:spPr>
          <a:xfrm>
            <a:off x="7008876" y="1938528"/>
            <a:ext cx="4430268" cy="365760"/>
          </a:xfrm>
          <a:prstGeom prst="rect">
            <a:avLst/>
          </a:prstGeom>
          <a:noFill/>
          <a:ln/>
        </p:spPr>
        <p:txBody>
          <a:bodyPr wrap="square" lIns="0" tIns="0" rIns="0" bIns="0" rtlCol="0" anchor="ctr"/>
          <a:lstStyle/>
          <a:p>
            <a:pPr indent="0" marL="0">
              <a:buNone/>
            </a:pPr>
            <a:r>
              <a:rPr lang="en-US" sz="1350" b="1" dirty="0">
                <a:solidFill>
                  <a:srgbClr val="16284A"/>
                </a:solidFill>
                <a:latin typeface="Arial" pitchFamily="34" charset="0"/>
                <a:ea typeface="Arial" pitchFamily="34" charset="-122"/>
                <a:cs typeface="Arial" pitchFamily="34" charset="-120"/>
              </a:rPr>
              <a:t>Operating leverage</a:t>
            </a:r>
            <a:endParaRPr lang="en-US" sz="1350" dirty="0"/>
          </a:p>
        </p:txBody>
      </p:sp>
      <p:sp>
        <p:nvSpPr>
          <p:cNvPr id="14" name="Text 12"/>
          <p:cNvSpPr/>
          <p:nvPr/>
        </p:nvSpPr>
        <p:spPr>
          <a:xfrm>
            <a:off x="7008876" y="2340864"/>
            <a:ext cx="4430268" cy="640080"/>
          </a:xfrm>
          <a:prstGeom prst="rect">
            <a:avLst/>
          </a:prstGeom>
          <a:noFill/>
          <a:ln/>
        </p:spPr>
        <p:txBody>
          <a:bodyPr wrap="square" lIns="0" tIns="0" rIns="0" bIns="0" rtlCol="0" anchor="ctr"/>
          <a:lstStyle/>
          <a:p>
            <a:pPr indent="0" marL="0">
              <a:lnSpc>
                <a:spcPct val="105000"/>
              </a:lnSpc>
              <a:buNone/>
            </a:pPr>
            <a:r>
              <a:rPr lang="en-US" sz="1070" dirty="0">
                <a:solidFill>
                  <a:srgbClr val="1A2238"/>
                </a:solidFill>
                <a:latin typeface="Arial" pitchFamily="34" charset="0"/>
                <a:ea typeface="Arial" pitchFamily="34" charset="-122"/>
                <a:cs typeface="Arial" pitchFamily="34" charset="-120"/>
              </a:rPr>
              <a:t>A high-touch cost base spread over a larger book lowers cost-to-income over time, lifting pre-provision profit faster than AUM</a:t>
            </a:r>
            <a:endParaRPr lang="en-US" sz="1070" dirty="0"/>
          </a:p>
        </p:txBody>
      </p:sp>
      <p:sp>
        <p:nvSpPr>
          <p:cNvPr id="15" name="Shape 13"/>
          <p:cNvSpPr/>
          <p:nvPr/>
        </p:nvSpPr>
        <p:spPr>
          <a:xfrm>
            <a:off x="566928" y="3264408"/>
            <a:ext cx="5390388" cy="1325880"/>
          </a:xfrm>
          <a:prstGeom prst="roundRect">
            <a:avLst>
              <a:gd name="adj" fmla="val 4828"/>
            </a:avLst>
          </a:prstGeom>
          <a:solidFill>
            <a:srgbClr val="FFFFFF"/>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16" name="Shape 14"/>
          <p:cNvSpPr/>
          <p:nvPr/>
        </p:nvSpPr>
        <p:spPr>
          <a:xfrm>
            <a:off x="768096" y="3465576"/>
            <a:ext cx="457200" cy="457200"/>
          </a:xfrm>
          <a:prstGeom prst="ellipse">
            <a:avLst/>
          </a:prstGeom>
          <a:solidFill>
            <a:srgbClr val="16284A"/>
          </a:solidFill>
          <a:ln/>
        </p:spPr>
      </p:sp>
      <p:sp>
        <p:nvSpPr>
          <p:cNvPr id="17" name="Text 15"/>
          <p:cNvSpPr/>
          <p:nvPr/>
        </p:nvSpPr>
        <p:spPr>
          <a:xfrm>
            <a:off x="768096" y="3465576"/>
            <a:ext cx="457200" cy="457200"/>
          </a:xfrm>
          <a:prstGeom prst="rect">
            <a:avLst/>
          </a:prstGeom>
          <a:noFill/>
          <a:ln/>
        </p:spPr>
        <p:txBody>
          <a:bodyPr wrap="square" lIns="0" tIns="0" rIns="0" bIns="0" rtlCol="0" anchor="ctr"/>
          <a:lstStyle/>
          <a:p>
            <a:pPr algn="ctr" indent="0" marL="0">
              <a:buNone/>
            </a:pPr>
            <a:r>
              <a:rPr lang="en-US" sz="1800" b="1" dirty="0">
                <a:solidFill>
                  <a:srgbClr val="C0902C"/>
                </a:solidFill>
                <a:latin typeface="Arial" pitchFamily="34" charset="0"/>
                <a:ea typeface="Arial" pitchFamily="34" charset="-122"/>
                <a:cs typeface="Arial" pitchFamily="34" charset="-120"/>
              </a:rPr>
              <a:t>3</a:t>
            </a:r>
            <a:endParaRPr lang="en-US" sz="1800" dirty="0"/>
          </a:p>
        </p:txBody>
      </p:sp>
      <p:sp>
        <p:nvSpPr>
          <p:cNvPr id="18" name="Text 16"/>
          <p:cNvSpPr/>
          <p:nvPr/>
        </p:nvSpPr>
        <p:spPr>
          <a:xfrm>
            <a:off x="1344168" y="3465576"/>
            <a:ext cx="4430268" cy="365760"/>
          </a:xfrm>
          <a:prstGeom prst="rect">
            <a:avLst/>
          </a:prstGeom>
          <a:noFill/>
          <a:ln/>
        </p:spPr>
        <p:txBody>
          <a:bodyPr wrap="square" lIns="0" tIns="0" rIns="0" bIns="0" rtlCol="0" anchor="ctr"/>
          <a:lstStyle/>
          <a:p>
            <a:pPr indent="0" marL="0">
              <a:buNone/>
            </a:pPr>
            <a:r>
              <a:rPr lang="en-US" sz="1350" b="1" dirty="0">
                <a:solidFill>
                  <a:srgbClr val="16284A"/>
                </a:solidFill>
                <a:latin typeface="Arial" pitchFamily="34" charset="0"/>
                <a:ea typeface="Arial" pitchFamily="34" charset="-122"/>
                <a:cs typeface="Arial" pitchFamily="34" charset="-120"/>
              </a:rPr>
              <a:t>Capital headroom</a:t>
            </a:r>
            <a:endParaRPr lang="en-US" sz="1350" dirty="0"/>
          </a:p>
        </p:txBody>
      </p:sp>
      <p:sp>
        <p:nvSpPr>
          <p:cNvPr id="19" name="Text 17"/>
          <p:cNvSpPr/>
          <p:nvPr/>
        </p:nvSpPr>
        <p:spPr>
          <a:xfrm>
            <a:off x="1344168" y="3867912"/>
            <a:ext cx="4430268" cy="640080"/>
          </a:xfrm>
          <a:prstGeom prst="rect">
            <a:avLst/>
          </a:prstGeom>
          <a:noFill/>
          <a:ln/>
        </p:spPr>
        <p:txBody>
          <a:bodyPr wrap="square" lIns="0" tIns="0" rIns="0" bIns="0" rtlCol="0" anchor="ctr"/>
          <a:lstStyle/>
          <a:p>
            <a:pPr indent="0" marL="0">
              <a:lnSpc>
                <a:spcPct val="105000"/>
              </a:lnSpc>
              <a:buNone/>
            </a:pPr>
            <a:r>
              <a:rPr lang="en-US" sz="1070" dirty="0">
                <a:solidFill>
                  <a:srgbClr val="1A2238"/>
                </a:solidFill>
                <a:latin typeface="Arial" pitchFamily="34" charset="0"/>
                <a:ea typeface="Arial" pitchFamily="34" charset="-122"/>
                <a:cs typeface="Arial" pitchFamily="34" charset="-120"/>
              </a:rPr>
              <a:t>Debt-to-equity is only ~1.2x against very high capital adequacy: the balance sheet can fund years of growth and lever up without dilution</a:t>
            </a:r>
            <a:endParaRPr lang="en-US" sz="1070" dirty="0"/>
          </a:p>
        </p:txBody>
      </p:sp>
      <p:sp>
        <p:nvSpPr>
          <p:cNvPr id="20" name="Shape 18"/>
          <p:cNvSpPr/>
          <p:nvPr/>
        </p:nvSpPr>
        <p:spPr>
          <a:xfrm>
            <a:off x="6231636" y="3264408"/>
            <a:ext cx="5390388" cy="1325880"/>
          </a:xfrm>
          <a:prstGeom prst="roundRect">
            <a:avLst>
              <a:gd name="adj" fmla="val 4828"/>
            </a:avLst>
          </a:prstGeom>
          <a:solidFill>
            <a:srgbClr val="FFFFFF"/>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21" name="Shape 19"/>
          <p:cNvSpPr/>
          <p:nvPr/>
        </p:nvSpPr>
        <p:spPr>
          <a:xfrm>
            <a:off x="6432804" y="3465576"/>
            <a:ext cx="457200" cy="457200"/>
          </a:xfrm>
          <a:prstGeom prst="ellipse">
            <a:avLst/>
          </a:prstGeom>
          <a:solidFill>
            <a:srgbClr val="16284A"/>
          </a:solidFill>
          <a:ln/>
        </p:spPr>
      </p:sp>
      <p:sp>
        <p:nvSpPr>
          <p:cNvPr id="22" name="Text 20"/>
          <p:cNvSpPr/>
          <p:nvPr/>
        </p:nvSpPr>
        <p:spPr>
          <a:xfrm>
            <a:off x="6432804" y="3465576"/>
            <a:ext cx="457200" cy="457200"/>
          </a:xfrm>
          <a:prstGeom prst="rect">
            <a:avLst/>
          </a:prstGeom>
          <a:noFill/>
          <a:ln/>
        </p:spPr>
        <p:txBody>
          <a:bodyPr wrap="square" lIns="0" tIns="0" rIns="0" bIns="0" rtlCol="0" anchor="ctr"/>
          <a:lstStyle/>
          <a:p>
            <a:pPr algn="ctr" indent="0" marL="0">
              <a:buNone/>
            </a:pPr>
            <a:r>
              <a:rPr lang="en-US" sz="1800" b="1" dirty="0">
                <a:solidFill>
                  <a:srgbClr val="C0902C"/>
                </a:solidFill>
                <a:latin typeface="Arial" pitchFamily="34" charset="0"/>
                <a:ea typeface="Arial" pitchFamily="34" charset="-122"/>
                <a:cs typeface="Arial" pitchFamily="34" charset="-120"/>
              </a:rPr>
              <a:t>4</a:t>
            </a:r>
            <a:endParaRPr lang="en-US" sz="1800" dirty="0"/>
          </a:p>
        </p:txBody>
      </p:sp>
      <p:sp>
        <p:nvSpPr>
          <p:cNvPr id="23" name="Text 21"/>
          <p:cNvSpPr/>
          <p:nvPr/>
        </p:nvSpPr>
        <p:spPr>
          <a:xfrm>
            <a:off x="7008876" y="3465576"/>
            <a:ext cx="4430268" cy="365760"/>
          </a:xfrm>
          <a:prstGeom prst="rect">
            <a:avLst/>
          </a:prstGeom>
          <a:noFill/>
          <a:ln/>
        </p:spPr>
        <p:txBody>
          <a:bodyPr wrap="square" lIns="0" tIns="0" rIns="0" bIns="0" rtlCol="0" anchor="ctr"/>
          <a:lstStyle/>
          <a:p>
            <a:pPr indent="0" marL="0">
              <a:buNone/>
            </a:pPr>
            <a:r>
              <a:rPr lang="en-US" sz="1350" b="1" dirty="0">
                <a:solidFill>
                  <a:srgbClr val="16284A"/>
                </a:solidFill>
                <a:latin typeface="Arial" pitchFamily="34" charset="0"/>
                <a:ea typeface="Arial" pitchFamily="34" charset="-122"/>
                <a:cs typeface="Arial" pitchFamily="34" charset="-120"/>
              </a:rPr>
              <a:t>Re-rating optionality</a:t>
            </a:r>
            <a:endParaRPr lang="en-US" sz="1350" dirty="0"/>
          </a:p>
        </p:txBody>
      </p:sp>
      <p:sp>
        <p:nvSpPr>
          <p:cNvPr id="24" name="Text 22"/>
          <p:cNvSpPr/>
          <p:nvPr/>
        </p:nvSpPr>
        <p:spPr>
          <a:xfrm>
            <a:off x="7008876" y="3867912"/>
            <a:ext cx="4430268" cy="640080"/>
          </a:xfrm>
          <a:prstGeom prst="rect">
            <a:avLst/>
          </a:prstGeom>
          <a:noFill/>
          <a:ln/>
        </p:spPr>
        <p:txBody>
          <a:bodyPr wrap="square" lIns="0" tIns="0" rIns="0" bIns="0" rtlCol="0" anchor="ctr"/>
          <a:lstStyle/>
          <a:p>
            <a:pPr indent="0" marL="0">
              <a:lnSpc>
                <a:spcPct val="105000"/>
              </a:lnSpc>
              <a:buNone/>
            </a:pPr>
            <a:r>
              <a:rPr lang="en-US" sz="1070" dirty="0">
                <a:solidFill>
                  <a:srgbClr val="1A2238"/>
                </a:solidFill>
                <a:latin typeface="Arial" pitchFamily="34" charset="0"/>
                <a:ea typeface="Arial" pitchFamily="34" charset="-122"/>
                <a:cs typeface="Arial" pitchFamily="34" charset="-120"/>
              </a:rPr>
              <a:t>At ~12x earnings versus peers at 16 to 33x, a partial re-rating as growth returns is a second, independent source of return</a:t>
            </a:r>
            <a:endParaRPr lang="en-US" sz="1070" dirty="0"/>
          </a:p>
        </p:txBody>
      </p:sp>
      <p:sp>
        <p:nvSpPr>
          <p:cNvPr id="25" name="Shape 23"/>
          <p:cNvSpPr/>
          <p:nvPr/>
        </p:nvSpPr>
        <p:spPr>
          <a:xfrm>
            <a:off x="566928" y="4983480"/>
            <a:ext cx="11055096" cy="1280160"/>
          </a:xfrm>
          <a:prstGeom prst="roundRect">
            <a:avLst>
              <a:gd name="adj" fmla="val 5000"/>
            </a:avLst>
          </a:prstGeom>
          <a:solidFill>
            <a:srgbClr val="16284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26" name="Text 24"/>
          <p:cNvSpPr/>
          <p:nvPr/>
        </p:nvSpPr>
        <p:spPr>
          <a:xfrm>
            <a:off x="841248" y="5093208"/>
            <a:ext cx="7315200" cy="274320"/>
          </a:xfrm>
          <a:prstGeom prst="rect">
            <a:avLst/>
          </a:prstGeom>
          <a:noFill/>
          <a:ln/>
        </p:spPr>
        <p:txBody>
          <a:bodyPr wrap="square" lIns="0" tIns="0" rIns="0" bIns="0" rtlCol="0" anchor="ctr"/>
          <a:lstStyle/>
          <a:p>
            <a:pPr indent="0" marL="0">
              <a:buNone/>
            </a:pPr>
            <a:r>
              <a:rPr lang="en-US" sz="1100" b="1" spc="100" kern="0" dirty="0">
                <a:solidFill>
                  <a:srgbClr val="E7D6A8"/>
                </a:solidFill>
                <a:latin typeface="Arial" pitchFamily="34" charset="0"/>
                <a:ea typeface="Arial" pitchFamily="34" charset="-122"/>
                <a:cs typeface="Arial" pitchFamily="34" charset="-120"/>
              </a:rPr>
              <a:t>THE FY26 PAUSE IN CONTEXT</a:t>
            </a:r>
            <a:endParaRPr lang="en-US" sz="1100" dirty="0"/>
          </a:p>
        </p:txBody>
      </p:sp>
      <p:sp>
        <p:nvSpPr>
          <p:cNvPr id="27" name="Text 25"/>
          <p:cNvSpPr/>
          <p:nvPr/>
        </p:nvSpPr>
        <p:spPr>
          <a:xfrm>
            <a:off x="841248" y="5358384"/>
            <a:ext cx="10506456" cy="841248"/>
          </a:xfrm>
          <a:prstGeom prst="rect">
            <a:avLst/>
          </a:prstGeom>
          <a:noFill/>
          <a:ln/>
        </p:spPr>
        <p:txBody>
          <a:bodyPr wrap="square" lIns="0" tIns="0" rIns="0" bIns="0" rtlCol="0" anchor="ctr"/>
          <a:lstStyle/>
          <a:p>
            <a:pPr indent="0" marL="0">
              <a:lnSpc>
                <a:spcPct val="104000"/>
              </a:lnSpc>
              <a:buNone/>
            </a:pPr>
            <a:r>
              <a:rPr lang="en-US" sz="1060" dirty="0">
                <a:solidFill>
                  <a:srgbClr val="DCE4F2"/>
                </a:solidFill>
                <a:latin typeface="Arial" pitchFamily="34" charset="0"/>
                <a:ea typeface="Arial" pitchFamily="34" charset="-122"/>
                <a:cs typeface="Arial" pitchFamily="34" charset="-120"/>
              </a:rPr>
              <a:t>FY26 profit grew only ~2% and AUM ~11% because management cut disbursements to protect asset quality through a small-ticket credit cycle, not because the model failed. Slippage fell to 0.7% in Q4 (from 1.9% in Q3) and collection efficiency was ~98%. The base case assumes growth re-accelerates toward the ~20% guide; that assumption is the single biggest driver of the return.</a:t>
            </a:r>
            <a:endParaRPr lang="en-US" sz="1060" dirty="0"/>
          </a:p>
        </p:txBody>
      </p:sp>
      <p:sp>
        <p:nvSpPr>
          <p:cNvPr id="28" name="Text 26"/>
          <p:cNvSpPr/>
          <p:nvPr/>
        </p:nvSpPr>
        <p:spPr>
          <a:xfrm>
            <a:off x="566928" y="6510528"/>
            <a:ext cx="9509760" cy="256032"/>
          </a:xfrm>
          <a:prstGeom prst="rect">
            <a:avLst/>
          </a:prstGeom>
          <a:noFill/>
          <a:ln/>
        </p:spPr>
        <p:txBody>
          <a:bodyPr wrap="square" lIns="0" tIns="0" rIns="0" bIns="0" rtlCol="0" anchor="ctr"/>
          <a:lstStyle/>
          <a:p>
            <a:pPr indent="0" marL="0">
              <a:buNone/>
            </a:pPr>
            <a:r>
              <a:rPr lang="en-US" sz="750" i="1" dirty="0">
                <a:solidFill>
                  <a:srgbClr val="6E7686"/>
                </a:solidFill>
                <a:latin typeface="Arial" pitchFamily="34" charset="0"/>
                <a:ea typeface="Arial" pitchFamily="34" charset="-122"/>
                <a:cs typeface="Arial" pitchFamily="34" charset="-120"/>
              </a:rPr>
              <a:t>Source: Company FY26 results and earnings calls; broker notes; CRISIL Research. Figures rounded.</a:t>
            </a:r>
            <a:endParaRPr lang="en-US" sz="750" dirty="0"/>
          </a:p>
        </p:txBody>
      </p:sp>
      <p:sp>
        <p:nvSpPr>
          <p:cNvPr id="29" name="Text 27"/>
          <p:cNvSpPr/>
          <p:nvPr/>
        </p:nvSpPr>
        <p:spPr>
          <a:xfrm>
            <a:off x="8165592" y="6510528"/>
            <a:ext cx="3383280" cy="256032"/>
          </a:xfrm>
          <a:prstGeom prst="rect">
            <a:avLst/>
          </a:prstGeom>
          <a:noFill/>
          <a:ln/>
        </p:spPr>
        <p:txBody>
          <a:bodyPr wrap="square" lIns="0" tIns="0" rIns="0" bIns="0" rtlCol="0" anchor="ctr"/>
          <a:lstStyle/>
          <a:p>
            <a:pPr algn="r" indent="0" marL="0">
              <a:buNone/>
            </a:pPr>
            <a:r>
              <a:rPr lang="en-US" sz="750" dirty="0">
                <a:solidFill>
                  <a:srgbClr val="6E7686"/>
                </a:solidFill>
                <a:latin typeface="Arial" pitchFamily="34" charset="0"/>
                <a:ea typeface="Arial" pitchFamily="34" charset="-122"/>
                <a:cs typeface="Arial" pitchFamily="34" charset="-120"/>
              </a:rPr>
              <a:t>Five-Star Business Finance  |  Investment Recommendation  |  5 of 8</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18872" cy="118872"/>
          </a:xfrm>
          <a:prstGeom prst="rect">
            <a:avLst/>
          </a:prstGeom>
          <a:solidFill>
            <a:srgbClr val="C0902C"/>
          </a:solidFill>
          <a:ln/>
        </p:spPr>
      </p:sp>
      <p:sp>
        <p:nvSpPr>
          <p:cNvPr id="3" name="Text 1"/>
          <p:cNvSpPr/>
          <p:nvPr/>
        </p:nvSpPr>
        <p:spPr>
          <a:xfrm>
            <a:off x="786384" y="384048"/>
            <a:ext cx="10789920" cy="274320"/>
          </a:xfrm>
          <a:prstGeom prst="rect">
            <a:avLst/>
          </a:prstGeom>
          <a:noFill/>
          <a:ln/>
        </p:spPr>
        <p:txBody>
          <a:bodyPr wrap="square" lIns="0" tIns="0" rIns="0" bIns="0" rtlCol="0" anchor="ctr"/>
          <a:lstStyle/>
          <a:p>
            <a:pPr indent="0" marL="0">
              <a:buNone/>
            </a:pPr>
            <a:r>
              <a:rPr lang="en-US" sz="1100" b="1" spc="200" kern="0" dirty="0">
                <a:solidFill>
                  <a:srgbClr val="C0902C"/>
                </a:solidFill>
                <a:latin typeface="Arial" pitchFamily="34" charset="0"/>
                <a:ea typeface="Arial" pitchFamily="34" charset="-122"/>
                <a:cs typeface="Arial" pitchFamily="34" charset="-120"/>
              </a:rPr>
              <a:t>KEY RISKS</a:t>
            </a:r>
            <a:endParaRPr lang="en-US" sz="1100" dirty="0"/>
          </a:p>
        </p:txBody>
      </p:sp>
      <p:sp>
        <p:nvSpPr>
          <p:cNvPr id="4" name="Text 2"/>
          <p:cNvSpPr/>
          <p:nvPr/>
        </p:nvSpPr>
        <p:spPr>
          <a:xfrm>
            <a:off x="566928" y="676656"/>
            <a:ext cx="11055096" cy="777240"/>
          </a:xfrm>
          <a:prstGeom prst="rect">
            <a:avLst/>
          </a:prstGeom>
          <a:noFill/>
          <a:ln/>
        </p:spPr>
        <p:txBody>
          <a:bodyPr wrap="square" lIns="0" tIns="0" rIns="0" bIns="0" rtlCol="0" anchor="t"/>
          <a:lstStyle/>
          <a:p>
            <a:pPr indent="0" marL="0">
              <a:lnSpc>
                <a:spcPct val="102000"/>
              </a:lnSpc>
              <a:buNone/>
            </a:pPr>
            <a:r>
              <a:rPr lang="en-US" sz="2000" b="1" dirty="0">
                <a:solidFill>
                  <a:srgbClr val="16284A"/>
                </a:solidFill>
                <a:latin typeface="Arial" pitchFamily="34" charset="0"/>
                <a:ea typeface="Arial" pitchFamily="34" charset="-122"/>
                <a:cs typeface="Arial" pitchFamily="34" charset="-120"/>
              </a:rPr>
              <a:t>Six risks frame the case; the secured model and conservative capital are the principal mitigants</a:t>
            </a:r>
            <a:endParaRPr lang="en-US" sz="2000" dirty="0"/>
          </a:p>
        </p:txBody>
      </p:sp>
      <p:sp>
        <p:nvSpPr>
          <p:cNvPr id="5" name="Shape 3"/>
          <p:cNvSpPr/>
          <p:nvPr/>
        </p:nvSpPr>
        <p:spPr>
          <a:xfrm>
            <a:off x="566928" y="1755648"/>
            <a:ext cx="3514344" cy="2103120"/>
          </a:xfrm>
          <a:prstGeom prst="roundRect">
            <a:avLst>
              <a:gd name="adj" fmla="val 3043"/>
            </a:avLst>
          </a:prstGeom>
          <a:solidFill>
            <a:srgbClr val="FFFFFF"/>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6" name="Shape 4"/>
          <p:cNvSpPr/>
          <p:nvPr/>
        </p:nvSpPr>
        <p:spPr>
          <a:xfrm>
            <a:off x="749808" y="1956816"/>
            <a:ext cx="384048" cy="384048"/>
          </a:xfrm>
          <a:prstGeom prst="ellipse">
            <a:avLst/>
          </a:prstGeom>
          <a:solidFill>
            <a:srgbClr val="16284A"/>
          </a:solidFill>
          <a:ln/>
        </p:spPr>
      </p:sp>
      <p:sp>
        <p:nvSpPr>
          <p:cNvPr id="7" name="Text 5"/>
          <p:cNvSpPr/>
          <p:nvPr/>
        </p:nvSpPr>
        <p:spPr>
          <a:xfrm>
            <a:off x="749808" y="1956816"/>
            <a:ext cx="384048" cy="384048"/>
          </a:xfrm>
          <a:prstGeom prst="rect">
            <a:avLst/>
          </a:prstGeom>
          <a:noFill/>
          <a:ln/>
        </p:spPr>
        <p:txBody>
          <a:bodyPr wrap="square" lIns="0" tIns="0" rIns="0" bIns="0" rtlCol="0" anchor="ctr"/>
          <a:lstStyle/>
          <a:p>
            <a:pPr algn="ctr" indent="0" marL="0">
              <a:buNone/>
            </a:pPr>
            <a:r>
              <a:rPr lang="en-US" sz="1500" b="1" dirty="0">
                <a:solidFill>
                  <a:srgbClr val="C0902C"/>
                </a:solidFill>
                <a:latin typeface="Arial" pitchFamily="34" charset="0"/>
                <a:ea typeface="Arial" pitchFamily="34" charset="-122"/>
                <a:cs typeface="Arial" pitchFamily="34" charset="-120"/>
              </a:rPr>
              <a:t>1</a:t>
            </a:r>
            <a:endParaRPr lang="en-US" sz="1500" dirty="0"/>
          </a:p>
        </p:txBody>
      </p:sp>
      <p:sp>
        <p:nvSpPr>
          <p:cNvPr id="8" name="Text 6"/>
          <p:cNvSpPr/>
          <p:nvPr/>
        </p:nvSpPr>
        <p:spPr>
          <a:xfrm>
            <a:off x="1225296" y="1975104"/>
            <a:ext cx="2691384" cy="365760"/>
          </a:xfrm>
          <a:prstGeom prst="rect">
            <a:avLst/>
          </a:prstGeom>
          <a:noFill/>
          <a:ln/>
        </p:spPr>
        <p:txBody>
          <a:bodyPr wrap="square" lIns="0" tIns="0" rIns="0" bIns="0" rtlCol="0" anchor="ctr"/>
          <a:lstStyle/>
          <a:p>
            <a:pPr indent="0" marL="0">
              <a:lnSpc>
                <a:spcPct val="95000"/>
              </a:lnSpc>
              <a:buNone/>
            </a:pPr>
            <a:r>
              <a:rPr lang="en-US" sz="1250" b="1" dirty="0">
                <a:solidFill>
                  <a:srgbClr val="16284A"/>
                </a:solidFill>
                <a:latin typeface="Arial" pitchFamily="34" charset="0"/>
                <a:ea typeface="Arial" pitchFamily="34" charset="-122"/>
                <a:cs typeface="Arial" pitchFamily="34" charset="-120"/>
              </a:rPr>
              <a:t>Credit cycle</a:t>
            </a:r>
            <a:endParaRPr lang="en-US" sz="1250" dirty="0"/>
          </a:p>
        </p:txBody>
      </p:sp>
      <p:sp>
        <p:nvSpPr>
          <p:cNvPr id="9" name="Text 7"/>
          <p:cNvSpPr/>
          <p:nvPr/>
        </p:nvSpPr>
        <p:spPr>
          <a:xfrm>
            <a:off x="768096" y="2432304"/>
            <a:ext cx="3112008" cy="603504"/>
          </a:xfrm>
          <a:prstGeom prst="rect">
            <a:avLst/>
          </a:prstGeom>
          <a:noFill/>
          <a:ln/>
        </p:spPr>
        <p:txBody>
          <a:bodyPr wrap="square" lIns="0" tIns="0" rIns="0" bIns="0" rtlCol="0" anchor="ctr"/>
          <a:lstStyle/>
          <a:p>
            <a:pPr indent="0" marL="0">
              <a:lnSpc>
                <a:spcPct val="103000"/>
              </a:lnSpc>
              <a:buNone/>
            </a:pPr>
            <a:r>
              <a:rPr lang="en-US" sz="1030" dirty="0">
                <a:solidFill>
                  <a:srgbClr val="1A2238"/>
                </a:solidFill>
                <a:latin typeface="Arial" pitchFamily="34" charset="0"/>
                <a:ea typeface="Arial" pitchFamily="34" charset="-122"/>
                <a:cs typeface="Arial" pitchFamily="34" charset="-120"/>
              </a:rPr>
              <a:t>Small-ticket stress hit FY26</a:t>
            </a:r>
            <a:endParaRPr lang="en-US" sz="1030" dirty="0"/>
          </a:p>
        </p:txBody>
      </p:sp>
      <p:sp>
        <p:nvSpPr>
          <p:cNvPr id="10" name="Shape 8"/>
          <p:cNvSpPr/>
          <p:nvPr/>
        </p:nvSpPr>
        <p:spPr>
          <a:xfrm>
            <a:off x="768096" y="3090672"/>
            <a:ext cx="3112008" cy="0"/>
          </a:xfrm>
          <a:prstGeom prst="line">
            <a:avLst/>
          </a:prstGeom>
          <a:noFill/>
          <a:ln w="12700">
            <a:solidFill>
              <a:srgbClr val="D4DBE8"/>
            </a:solidFill>
            <a:prstDash val="solid"/>
          </a:ln>
        </p:spPr>
      </p:sp>
      <p:sp>
        <p:nvSpPr>
          <p:cNvPr id="11" name="Text 9"/>
          <p:cNvSpPr/>
          <p:nvPr/>
        </p:nvSpPr>
        <p:spPr>
          <a:xfrm>
            <a:off x="768096" y="3145536"/>
            <a:ext cx="3112008" cy="640080"/>
          </a:xfrm>
          <a:prstGeom prst="rect">
            <a:avLst/>
          </a:prstGeom>
          <a:noFill/>
          <a:ln/>
        </p:spPr>
        <p:txBody>
          <a:bodyPr wrap="square" lIns="0" tIns="0" rIns="0" bIns="0" rtlCol="0" anchor="ctr"/>
          <a:lstStyle/>
          <a:p>
            <a:pPr indent="0" marL="0">
              <a:lnSpc>
                <a:spcPct val="102000"/>
              </a:lnSpc>
              <a:buNone/>
            </a:pPr>
            <a:r>
              <a:rPr lang="en-US" sz="970" b="1" dirty="0">
                <a:solidFill>
                  <a:srgbClr val="2E7D52"/>
                </a:solidFill>
                <a:latin typeface="Arial" pitchFamily="34" charset="0"/>
                <a:ea typeface="Arial" pitchFamily="34" charset="-122"/>
                <a:cs typeface="Arial" pitchFamily="34" charset="-120"/>
              </a:rPr>
              <a:t>Mitigant:  </a:t>
            </a:r>
            <a:pPr indent="0" marL="0">
              <a:lnSpc>
                <a:spcPct val="102000"/>
              </a:lnSpc>
              <a:buNone/>
            </a:pPr>
            <a:r>
              <a:rPr lang="en-US" sz="970" i="1" dirty="0">
                <a:solidFill>
                  <a:srgbClr val="1A2238"/>
                </a:solidFill>
                <a:latin typeface="Arial" pitchFamily="34" charset="0"/>
                <a:ea typeface="Arial" pitchFamily="34" charset="-122"/>
                <a:cs typeface="Arial" pitchFamily="34" charset="-120"/>
              </a:rPr>
              <a:t>Secured by property; strong collections; slippage recovering</a:t>
            </a:r>
            <a:endParaRPr lang="en-US" sz="970" dirty="0"/>
          </a:p>
        </p:txBody>
      </p:sp>
      <p:sp>
        <p:nvSpPr>
          <p:cNvPr id="12" name="Shape 10"/>
          <p:cNvSpPr/>
          <p:nvPr/>
        </p:nvSpPr>
        <p:spPr>
          <a:xfrm>
            <a:off x="4337304" y="1755648"/>
            <a:ext cx="3514344" cy="2103120"/>
          </a:xfrm>
          <a:prstGeom prst="roundRect">
            <a:avLst>
              <a:gd name="adj" fmla="val 3043"/>
            </a:avLst>
          </a:prstGeom>
          <a:solidFill>
            <a:srgbClr val="FFFFFF"/>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13" name="Shape 11"/>
          <p:cNvSpPr/>
          <p:nvPr/>
        </p:nvSpPr>
        <p:spPr>
          <a:xfrm>
            <a:off x="4520184" y="1956816"/>
            <a:ext cx="384048" cy="384048"/>
          </a:xfrm>
          <a:prstGeom prst="ellipse">
            <a:avLst/>
          </a:prstGeom>
          <a:solidFill>
            <a:srgbClr val="16284A"/>
          </a:solidFill>
          <a:ln/>
        </p:spPr>
      </p:sp>
      <p:sp>
        <p:nvSpPr>
          <p:cNvPr id="14" name="Text 12"/>
          <p:cNvSpPr/>
          <p:nvPr/>
        </p:nvSpPr>
        <p:spPr>
          <a:xfrm>
            <a:off x="4520184" y="1956816"/>
            <a:ext cx="384048" cy="384048"/>
          </a:xfrm>
          <a:prstGeom prst="rect">
            <a:avLst/>
          </a:prstGeom>
          <a:noFill/>
          <a:ln/>
        </p:spPr>
        <p:txBody>
          <a:bodyPr wrap="square" lIns="0" tIns="0" rIns="0" bIns="0" rtlCol="0" anchor="ctr"/>
          <a:lstStyle/>
          <a:p>
            <a:pPr algn="ctr" indent="0" marL="0">
              <a:buNone/>
            </a:pPr>
            <a:r>
              <a:rPr lang="en-US" sz="1500" b="1" dirty="0">
                <a:solidFill>
                  <a:srgbClr val="C0902C"/>
                </a:solidFill>
                <a:latin typeface="Arial" pitchFamily="34" charset="0"/>
                <a:ea typeface="Arial" pitchFamily="34" charset="-122"/>
                <a:cs typeface="Arial" pitchFamily="34" charset="-120"/>
              </a:rPr>
              <a:t>2</a:t>
            </a:r>
            <a:endParaRPr lang="en-US" sz="1500" dirty="0"/>
          </a:p>
        </p:txBody>
      </p:sp>
      <p:sp>
        <p:nvSpPr>
          <p:cNvPr id="15" name="Text 13"/>
          <p:cNvSpPr/>
          <p:nvPr/>
        </p:nvSpPr>
        <p:spPr>
          <a:xfrm>
            <a:off x="4995672" y="1975104"/>
            <a:ext cx="2691384" cy="365760"/>
          </a:xfrm>
          <a:prstGeom prst="rect">
            <a:avLst/>
          </a:prstGeom>
          <a:noFill/>
          <a:ln/>
        </p:spPr>
        <p:txBody>
          <a:bodyPr wrap="square" lIns="0" tIns="0" rIns="0" bIns="0" rtlCol="0" anchor="ctr"/>
          <a:lstStyle/>
          <a:p>
            <a:pPr indent="0" marL="0">
              <a:lnSpc>
                <a:spcPct val="95000"/>
              </a:lnSpc>
              <a:buNone/>
            </a:pPr>
            <a:r>
              <a:rPr lang="en-US" sz="1250" b="1" dirty="0">
                <a:solidFill>
                  <a:srgbClr val="16284A"/>
                </a:solidFill>
                <a:latin typeface="Arial" pitchFamily="34" charset="0"/>
                <a:ea typeface="Arial" pitchFamily="34" charset="-122"/>
                <a:cs typeface="Arial" pitchFamily="34" charset="-120"/>
              </a:rPr>
              <a:t>Competition / margin</a:t>
            </a:r>
            <a:endParaRPr lang="en-US" sz="1250" dirty="0"/>
          </a:p>
        </p:txBody>
      </p:sp>
      <p:sp>
        <p:nvSpPr>
          <p:cNvPr id="16" name="Text 14"/>
          <p:cNvSpPr/>
          <p:nvPr/>
        </p:nvSpPr>
        <p:spPr>
          <a:xfrm>
            <a:off x="4538472" y="2432304"/>
            <a:ext cx="3112008" cy="603504"/>
          </a:xfrm>
          <a:prstGeom prst="rect">
            <a:avLst/>
          </a:prstGeom>
          <a:noFill/>
          <a:ln/>
        </p:spPr>
        <p:txBody>
          <a:bodyPr wrap="square" lIns="0" tIns="0" rIns="0" bIns="0" rtlCol="0" anchor="ctr"/>
          <a:lstStyle/>
          <a:p>
            <a:pPr indent="0" marL="0">
              <a:lnSpc>
                <a:spcPct val="103000"/>
              </a:lnSpc>
              <a:buNone/>
            </a:pPr>
            <a:r>
              <a:rPr lang="en-US" sz="1030" dirty="0">
                <a:solidFill>
                  <a:srgbClr val="1A2238"/>
                </a:solidFill>
                <a:latin typeface="Arial" pitchFamily="34" charset="0"/>
                <a:ea typeface="Arial" pitchFamily="34" charset="-122"/>
                <a:cs typeface="Arial" pitchFamily="34" charset="-120"/>
              </a:rPr>
              <a:t>Banks down-ticket, NBFC crowding</a:t>
            </a:r>
            <a:endParaRPr lang="en-US" sz="1030" dirty="0"/>
          </a:p>
        </p:txBody>
      </p:sp>
      <p:sp>
        <p:nvSpPr>
          <p:cNvPr id="17" name="Shape 15"/>
          <p:cNvSpPr/>
          <p:nvPr/>
        </p:nvSpPr>
        <p:spPr>
          <a:xfrm>
            <a:off x="4538472" y="3090672"/>
            <a:ext cx="3112008" cy="0"/>
          </a:xfrm>
          <a:prstGeom prst="line">
            <a:avLst/>
          </a:prstGeom>
          <a:noFill/>
          <a:ln w="12700">
            <a:solidFill>
              <a:srgbClr val="D4DBE8"/>
            </a:solidFill>
            <a:prstDash val="solid"/>
          </a:ln>
        </p:spPr>
      </p:sp>
      <p:sp>
        <p:nvSpPr>
          <p:cNvPr id="18" name="Text 16"/>
          <p:cNvSpPr/>
          <p:nvPr/>
        </p:nvSpPr>
        <p:spPr>
          <a:xfrm>
            <a:off x="4538472" y="3145536"/>
            <a:ext cx="3112008" cy="640080"/>
          </a:xfrm>
          <a:prstGeom prst="rect">
            <a:avLst/>
          </a:prstGeom>
          <a:noFill/>
          <a:ln/>
        </p:spPr>
        <p:txBody>
          <a:bodyPr wrap="square" lIns="0" tIns="0" rIns="0" bIns="0" rtlCol="0" anchor="ctr"/>
          <a:lstStyle/>
          <a:p>
            <a:pPr indent="0" marL="0">
              <a:lnSpc>
                <a:spcPct val="102000"/>
              </a:lnSpc>
              <a:buNone/>
            </a:pPr>
            <a:r>
              <a:rPr lang="en-US" sz="970" b="1" dirty="0">
                <a:solidFill>
                  <a:srgbClr val="2E7D52"/>
                </a:solidFill>
                <a:latin typeface="Arial" pitchFamily="34" charset="0"/>
                <a:ea typeface="Arial" pitchFamily="34" charset="-122"/>
                <a:cs typeface="Arial" pitchFamily="34" charset="-120"/>
              </a:rPr>
              <a:t>Mitigant:  </a:t>
            </a:r>
            <a:pPr indent="0" marL="0">
              <a:lnSpc>
                <a:spcPct val="102000"/>
              </a:lnSpc>
              <a:buNone/>
            </a:pPr>
            <a:r>
              <a:rPr lang="en-US" sz="970" i="1" dirty="0">
                <a:solidFill>
                  <a:srgbClr val="1A2238"/>
                </a:solidFill>
                <a:latin typeface="Arial" pitchFamily="34" charset="0"/>
                <a:ea typeface="Arial" pitchFamily="34" charset="-122"/>
                <a:cs typeface="Arial" pitchFamily="34" charset="-120"/>
              </a:rPr>
              <a:t>High in-house yields; sub-Rs 5 lakh niche banks underserve</a:t>
            </a:r>
            <a:endParaRPr lang="en-US" sz="970" dirty="0"/>
          </a:p>
        </p:txBody>
      </p:sp>
      <p:sp>
        <p:nvSpPr>
          <p:cNvPr id="19" name="Shape 17"/>
          <p:cNvSpPr/>
          <p:nvPr/>
        </p:nvSpPr>
        <p:spPr>
          <a:xfrm>
            <a:off x="8107680" y="1755648"/>
            <a:ext cx="3514344" cy="2103120"/>
          </a:xfrm>
          <a:prstGeom prst="roundRect">
            <a:avLst>
              <a:gd name="adj" fmla="val 3043"/>
            </a:avLst>
          </a:prstGeom>
          <a:solidFill>
            <a:srgbClr val="FFFFFF"/>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20" name="Shape 18"/>
          <p:cNvSpPr/>
          <p:nvPr/>
        </p:nvSpPr>
        <p:spPr>
          <a:xfrm>
            <a:off x="8290560" y="1956816"/>
            <a:ext cx="384048" cy="384048"/>
          </a:xfrm>
          <a:prstGeom prst="ellipse">
            <a:avLst/>
          </a:prstGeom>
          <a:solidFill>
            <a:srgbClr val="16284A"/>
          </a:solidFill>
          <a:ln/>
        </p:spPr>
      </p:sp>
      <p:sp>
        <p:nvSpPr>
          <p:cNvPr id="21" name="Text 19"/>
          <p:cNvSpPr/>
          <p:nvPr/>
        </p:nvSpPr>
        <p:spPr>
          <a:xfrm>
            <a:off x="8290560" y="1956816"/>
            <a:ext cx="384048" cy="384048"/>
          </a:xfrm>
          <a:prstGeom prst="rect">
            <a:avLst/>
          </a:prstGeom>
          <a:noFill/>
          <a:ln/>
        </p:spPr>
        <p:txBody>
          <a:bodyPr wrap="square" lIns="0" tIns="0" rIns="0" bIns="0" rtlCol="0" anchor="ctr"/>
          <a:lstStyle/>
          <a:p>
            <a:pPr algn="ctr" indent="0" marL="0">
              <a:buNone/>
            </a:pPr>
            <a:r>
              <a:rPr lang="en-US" sz="1500" b="1" dirty="0">
                <a:solidFill>
                  <a:srgbClr val="C0902C"/>
                </a:solidFill>
                <a:latin typeface="Arial" pitchFamily="34" charset="0"/>
                <a:ea typeface="Arial" pitchFamily="34" charset="-122"/>
                <a:cs typeface="Arial" pitchFamily="34" charset="-120"/>
              </a:rPr>
              <a:t>3</a:t>
            </a:r>
            <a:endParaRPr lang="en-US" sz="1500" dirty="0"/>
          </a:p>
        </p:txBody>
      </p:sp>
      <p:sp>
        <p:nvSpPr>
          <p:cNvPr id="22" name="Text 20"/>
          <p:cNvSpPr/>
          <p:nvPr/>
        </p:nvSpPr>
        <p:spPr>
          <a:xfrm>
            <a:off x="8766048" y="1975104"/>
            <a:ext cx="2691384" cy="365760"/>
          </a:xfrm>
          <a:prstGeom prst="rect">
            <a:avLst/>
          </a:prstGeom>
          <a:noFill/>
          <a:ln/>
        </p:spPr>
        <p:txBody>
          <a:bodyPr wrap="square" lIns="0" tIns="0" rIns="0" bIns="0" rtlCol="0" anchor="ctr"/>
          <a:lstStyle/>
          <a:p>
            <a:pPr indent="0" marL="0">
              <a:lnSpc>
                <a:spcPct val="95000"/>
              </a:lnSpc>
              <a:buNone/>
            </a:pPr>
            <a:r>
              <a:rPr lang="en-US" sz="1250" b="1" dirty="0">
                <a:solidFill>
                  <a:srgbClr val="16284A"/>
                </a:solidFill>
                <a:latin typeface="Arial" pitchFamily="34" charset="0"/>
                <a:ea typeface="Arial" pitchFamily="34" charset="-122"/>
                <a:cs typeface="Arial" pitchFamily="34" charset="-120"/>
              </a:rPr>
              <a:t>Concentration</a:t>
            </a:r>
            <a:endParaRPr lang="en-US" sz="1250" dirty="0"/>
          </a:p>
        </p:txBody>
      </p:sp>
      <p:sp>
        <p:nvSpPr>
          <p:cNvPr id="23" name="Text 21"/>
          <p:cNvSpPr/>
          <p:nvPr/>
        </p:nvSpPr>
        <p:spPr>
          <a:xfrm>
            <a:off x="8308848" y="2432304"/>
            <a:ext cx="3112008" cy="603504"/>
          </a:xfrm>
          <a:prstGeom prst="rect">
            <a:avLst/>
          </a:prstGeom>
          <a:noFill/>
          <a:ln/>
        </p:spPr>
        <p:txBody>
          <a:bodyPr wrap="square" lIns="0" tIns="0" rIns="0" bIns="0" rtlCol="0" anchor="ctr"/>
          <a:lstStyle/>
          <a:p>
            <a:pPr indent="0" marL="0">
              <a:lnSpc>
                <a:spcPct val="103000"/>
              </a:lnSpc>
              <a:buNone/>
            </a:pPr>
            <a:r>
              <a:rPr lang="en-US" sz="1030" dirty="0">
                <a:solidFill>
                  <a:srgbClr val="1A2238"/>
                </a:solidFill>
                <a:latin typeface="Arial" pitchFamily="34" charset="0"/>
                <a:ea typeface="Arial" pitchFamily="34" charset="-122"/>
                <a:cs typeface="Arial" pitchFamily="34" charset="-120"/>
              </a:rPr>
              <a:t>~94% of book in four southern states</a:t>
            </a:r>
            <a:endParaRPr lang="en-US" sz="1030" dirty="0"/>
          </a:p>
        </p:txBody>
      </p:sp>
      <p:sp>
        <p:nvSpPr>
          <p:cNvPr id="24" name="Shape 22"/>
          <p:cNvSpPr/>
          <p:nvPr/>
        </p:nvSpPr>
        <p:spPr>
          <a:xfrm>
            <a:off x="8308848" y="3090672"/>
            <a:ext cx="3112008" cy="0"/>
          </a:xfrm>
          <a:prstGeom prst="line">
            <a:avLst/>
          </a:prstGeom>
          <a:noFill/>
          <a:ln w="12700">
            <a:solidFill>
              <a:srgbClr val="D4DBE8"/>
            </a:solidFill>
            <a:prstDash val="solid"/>
          </a:ln>
        </p:spPr>
      </p:sp>
      <p:sp>
        <p:nvSpPr>
          <p:cNvPr id="25" name="Text 23"/>
          <p:cNvSpPr/>
          <p:nvPr/>
        </p:nvSpPr>
        <p:spPr>
          <a:xfrm>
            <a:off x="8308848" y="3145536"/>
            <a:ext cx="3112008" cy="640080"/>
          </a:xfrm>
          <a:prstGeom prst="rect">
            <a:avLst/>
          </a:prstGeom>
          <a:noFill/>
          <a:ln/>
        </p:spPr>
        <p:txBody>
          <a:bodyPr wrap="square" lIns="0" tIns="0" rIns="0" bIns="0" rtlCol="0" anchor="ctr"/>
          <a:lstStyle/>
          <a:p>
            <a:pPr indent="0" marL="0">
              <a:lnSpc>
                <a:spcPct val="102000"/>
              </a:lnSpc>
              <a:buNone/>
            </a:pPr>
            <a:r>
              <a:rPr lang="en-US" sz="970" b="1" dirty="0">
                <a:solidFill>
                  <a:srgbClr val="2E7D52"/>
                </a:solidFill>
                <a:latin typeface="Arial" pitchFamily="34" charset="0"/>
                <a:ea typeface="Arial" pitchFamily="34" charset="-122"/>
                <a:cs typeface="Arial" pitchFamily="34" charset="-120"/>
              </a:rPr>
              <a:t>Mitigant:  </a:t>
            </a:r>
            <a:pPr indent="0" marL="0">
              <a:lnSpc>
                <a:spcPct val="102000"/>
              </a:lnSpc>
              <a:buNone/>
            </a:pPr>
            <a:r>
              <a:rPr lang="en-US" sz="970" i="1" dirty="0">
                <a:solidFill>
                  <a:srgbClr val="1A2238"/>
                </a:solidFill>
                <a:latin typeface="Arial" pitchFamily="34" charset="0"/>
                <a:ea typeface="Arial" pitchFamily="34" charset="-122"/>
                <a:cs typeface="Arial" pitchFamily="34" charset="-120"/>
              </a:rPr>
              <a:t>Measured, contiguous expansion north and central</a:t>
            </a:r>
            <a:endParaRPr lang="en-US" sz="970" dirty="0"/>
          </a:p>
        </p:txBody>
      </p:sp>
      <p:sp>
        <p:nvSpPr>
          <p:cNvPr id="26" name="Shape 24"/>
          <p:cNvSpPr/>
          <p:nvPr/>
        </p:nvSpPr>
        <p:spPr>
          <a:xfrm>
            <a:off x="566928" y="4133088"/>
            <a:ext cx="3514344" cy="2103120"/>
          </a:xfrm>
          <a:prstGeom prst="roundRect">
            <a:avLst>
              <a:gd name="adj" fmla="val 3043"/>
            </a:avLst>
          </a:prstGeom>
          <a:solidFill>
            <a:srgbClr val="FFFFFF"/>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27" name="Shape 25"/>
          <p:cNvSpPr/>
          <p:nvPr/>
        </p:nvSpPr>
        <p:spPr>
          <a:xfrm>
            <a:off x="749808" y="4334256"/>
            <a:ext cx="384048" cy="384048"/>
          </a:xfrm>
          <a:prstGeom prst="ellipse">
            <a:avLst/>
          </a:prstGeom>
          <a:solidFill>
            <a:srgbClr val="16284A"/>
          </a:solidFill>
          <a:ln/>
        </p:spPr>
      </p:sp>
      <p:sp>
        <p:nvSpPr>
          <p:cNvPr id="28" name="Text 26"/>
          <p:cNvSpPr/>
          <p:nvPr/>
        </p:nvSpPr>
        <p:spPr>
          <a:xfrm>
            <a:off x="749808" y="4334256"/>
            <a:ext cx="384048" cy="384048"/>
          </a:xfrm>
          <a:prstGeom prst="rect">
            <a:avLst/>
          </a:prstGeom>
          <a:noFill/>
          <a:ln/>
        </p:spPr>
        <p:txBody>
          <a:bodyPr wrap="square" lIns="0" tIns="0" rIns="0" bIns="0" rtlCol="0" anchor="ctr"/>
          <a:lstStyle/>
          <a:p>
            <a:pPr algn="ctr" indent="0" marL="0">
              <a:buNone/>
            </a:pPr>
            <a:r>
              <a:rPr lang="en-US" sz="1500" b="1" dirty="0">
                <a:solidFill>
                  <a:srgbClr val="C0902C"/>
                </a:solidFill>
                <a:latin typeface="Arial" pitchFamily="34" charset="0"/>
                <a:ea typeface="Arial" pitchFamily="34" charset="-122"/>
                <a:cs typeface="Arial" pitchFamily="34" charset="-120"/>
              </a:rPr>
              <a:t>4</a:t>
            </a:r>
            <a:endParaRPr lang="en-US" sz="1500" dirty="0"/>
          </a:p>
        </p:txBody>
      </p:sp>
      <p:sp>
        <p:nvSpPr>
          <p:cNvPr id="29" name="Text 27"/>
          <p:cNvSpPr/>
          <p:nvPr/>
        </p:nvSpPr>
        <p:spPr>
          <a:xfrm>
            <a:off x="1225296" y="4352544"/>
            <a:ext cx="2691384" cy="365760"/>
          </a:xfrm>
          <a:prstGeom prst="rect">
            <a:avLst/>
          </a:prstGeom>
          <a:noFill/>
          <a:ln/>
        </p:spPr>
        <p:txBody>
          <a:bodyPr wrap="square" lIns="0" tIns="0" rIns="0" bIns="0" rtlCol="0" anchor="ctr"/>
          <a:lstStyle/>
          <a:p>
            <a:pPr indent="0" marL="0">
              <a:lnSpc>
                <a:spcPct val="95000"/>
              </a:lnSpc>
              <a:buNone/>
            </a:pPr>
            <a:r>
              <a:rPr lang="en-US" sz="1250" b="1" dirty="0">
                <a:solidFill>
                  <a:srgbClr val="16284A"/>
                </a:solidFill>
                <a:latin typeface="Arial" pitchFamily="34" charset="0"/>
                <a:ea typeface="Arial" pitchFamily="34" charset="-122"/>
                <a:cs typeface="Arial" pitchFamily="34" charset="-120"/>
              </a:rPr>
              <a:t>Regulation</a:t>
            </a:r>
            <a:endParaRPr lang="en-US" sz="1250" dirty="0"/>
          </a:p>
        </p:txBody>
      </p:sp>
      <p:sp>
        <p:nvSpPr>
          <p:cNvPr id="30" name="Text 28"/>
          <p:cNvSpPr/>
          <p:nvPr/>
        </p:nvSpPr>
        <p:spPr>
          <a:xfrm>
            <a:off x="768096" y="4809744"/>
            <a:ext cx="3112008" cy="603504"/>
          </a:xfrm>
          <a:prstGeom prst="rect">
            <a:avLst/>
          </a:prstGeom>
          <a:noFill/>
          <a:ln/>
        </p:spPr>
        <p:txBody>
          <a:bodyPr wrap="square" lIns="0" tIns="0" rIns="0" bIns="0" rtlCol="0" anchor="ctr"/>
          <a:lstStyle/>
          <a:p>
            <a:pPr indent="0" marL="0">
              <a:lnSpc>
                <a:spcPct val="103000"/>
              </a:lnSpc>
              <a:buNone/>
            </a:pPr>
            <a:r>
              <a:rPr lang="en-US" sz="1030" dirty="0">
                <a:solidFill>
                  <a:srgbClr val="1A2238"/>
                </a:solidFill>
                <a:latin typeface="Arial" pitchFamily="34" charset="0"/>
                <a:ea typeface="Arial" pitchFamily="34" charset="-122"/>
                <a:cs typeface="Arial" pitchFamily="34" charset="-120"/>
              </a:rPr>
              <a:t>RBI scale-based norms; SARFAESI gap below Rs 20 lakh</a:t>
            </a:r>
            <a:endParaRPr lang="en-US" sz="1030" dirty="0"/>
          </a:p>
        </p:txBody>
      </p:sp>
      <p:sp>
        <p:nvSpPr>
          <p:cNvPr id="31" name="Shape 29"/>
          <p:cNvSpPr/>
          <p:nvPr/>
        </p:nvSpPr>
        <p:spPr>
          <a:xfrm>
            <a:off x="768096" y="5468112"/>
            <a:ext cx="3112008" cy="0"/>
          </a:xfrm>
          <a:prstGeom prst="line">
            <a:avLst/>
          </a:prstGeom>
          <a:noFill/>
          <a:ln w="12700">
            <a:solidFill>
              <a:srgbClr val="D4DBE8"/>
            </a:solidFill>
            <a:prstDash val="solid"/>
          </a:ln>
        </p:spPr>
      </p:sp>
      <p:sp>
        <p:nvSpPr>
          <p:cNvPr id="32" name="Text 30"/>
          <p:cNvSpPr/>
          <p:nvPr/>
        </p:nvSpPr>
        <p:spPr>
          <a:xfrm>
            <a:off x="768096" y="5522976"/>
            <a:ext cx="3112008" cy="640080"/>
          </a:xfrm>
          <a:prstGeom prst="rect">
            <a:avLst/>
          </a:prstGeom>
          <a:noFill/>
          <a:ln/>
        </p:spPr>
        <p:txBody>
          <a:bodyPr wrap="square" lIns="0" tIns="0" rIns="0" bIns="0" rtlCol="0" anchor="ctr"/>
          <a:lstStyle/>
          <a:p>
            <a:pPr indent="0" marL="0">
              <a:lnSpc>
                <a:spcPct val="102000"/>
              </a:lnSpc>
              <a:buNone/>
            </a:pPr>
            <a:r>
              <a:rPr lang="en-US" sz="970" b="1" dirty="0">
                <a:solidFill>
                  <a:srgbClr val="2E7D52"/>
                </a:solidFill>
                <a:latin typeface="Arial" pitchFamily="34" charset="0"/>
                <a:ea typeface="Arial" pitchFamily="34" charset="-122"/>
                <a:cs typeface="Arial" pitchFamily="34" charset="-120"/>
              </a:rPr>
              <a:t>Mitigant:  </a:t>
            </a:r>
            <a:pPr indent="0" marL="0">
              <a:lnSpc>
                <a:spcPct val="102000"/>
              </a:lnSpc>
              <a:buNone/>
            </a:pPr>
            <a:r>
              <a:rPr lang="en-US" sz="970" i="1" dirty="0">
                <a:solidFill>
                  <a:srgbClr val="1A2238"/>
                </a:solidFill>
                <a:latin typeface="Arial" pitchFamily="34" charset="0"/>
                <a:ea typeface="Arial" pitchFamily="34" charset="-122"/>
                <a:cs typeface="Arial" pitchFamily="34" charset="-120"/>
              </a:rPr>
              <a:t>Conservative LTV and provisioning; settlement-led recovery</a:t>
            </a:r>
            <a:endParaRPr lang="en-US" sz="970" dirty="0"/>
          </a:p>
        </p:txBody>
      </p:sp>
      <p:sp>
        <p:nvSpPr>
          <p:cNvPr id="33" name="Shape 31"/>
          <p:cNvSpPr/>
          <p:nvPr/>
        </p:nvSpPr>
        <p:spPr>
          <a:xfrm>
            <a:off x="4337304" y="4133088"/>
            <a:ext cx="3514344" cy="2103120"/>
          </a:xfrm>
          <a:prstGeom prst="roundRect">
            <a:avLst>
              <a:gd name="adj" fmla="val 3043"/>
            </a:avLst>
          </a:prstGeom>
          <a:solidFill>
            <a:srgbClr val="FFFFFF"/>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34" name="Shape 32"/>
          <p:cNvSpPr/>
          <p:nvPr/>
        </p:nvSpPr>
        <p:spPr>
          <a:xfrm>
            <a:off x="4520184" y="4334256"/>
            <a:ext cx="384048" cy="384048"/>
          </a:xfrm>
          <a:prstGeom prst="ellipse">
            <a:avLst/>
          </a:prstGeom>
          <a:solidFill>
            <a:srgbClr val="16284A"/>
          </a:solidFill>
          <a:ln/>
        </p:spPr>
      </p:sp>
      <p:sp>
        <p:nvSpPr>
          <p:cNvPr id="35" name="Text 33"/>
          <p:cNvSpPr/>
          <p:nvPr/>
        </p:nvSpPr>
        <p:spPr>
          <a:xfrm>
            <a:off x="4520184" y="4334256"/>
            <a:ext cx="384048" cy="384048"/>
          </a:xfrm>
          <a:prstGeom prst="rect">
            <a:avLst/>
          </a:prstGeom>
          <a:noFill/>
          <a:ln/>
        </p:spPr>
        <p:txBody>
          <a:bodyPr wrap="square" lIns="0" tIns="0" rIns="0" bIns="0" rtlCol="0" anchor="ctr"/>
          <a:lstStyle/>
          <a:p>
            <a:pPr algn="ctr" indent="0" marL="0">
              <a:buNone/>
            </a:pPr>
            <a:r>
              <a:rPr lang="en-US" sz="1500" b="1" dirty="0">
                <a:solidFill>
                  <a:srgbClr val="C0902C"/>
                </a:solidFill>
                <a:latin typeface="Arial" pitchFamily="34" charset="0"/>
                <a:ea typeface="Arial" pitchFamily="34" charset="-122"/>
                <a:cs typeface="Arial" pitchFamily="34" charset="-120"/>
              </a:rPr>
              <a:t>5</a:t>
            </a:r>
            <a:endParaRPr lang="en-US" sz="1500" dirty="0"/>
          </a:p>
        </p:txBody>
      </p:sp>
      <p:sp>
        <p:nvSpPr>
          <p:cNvPr id="36" name="Text 34"/>
          <p:cNvSpPr/>
          <p:nvPr/>
        </p:nvSpPr>
        <p:spPr>
          <a:xfrm>
            <a:off x="4995672" y="4352544"/>
            <a:ext cx="2691384" cy="365760"/>
          </a:xfrm>
          <a:prstGeom prst="rect">
            <a:avLst/>
          </a:prstGeom>
          <a:noFill/>
          <a:ln/>
        </p:spPr>
        <p:txBody>
          <a:bodyPr wrap="square" lIns="0" tIns="0" rIns="0" bIns="0" rtlCol="0" anchor="ctr"/>
          <a:lstStyle/>
          <a:p>
            <a:pPr indent="0" marL="0">
              <a:lnSpc>
                <a:spcPct val="95000"/>
              </a:lnSpc>
              <a:buNone/>
            </a:pPr>
            <a:r>
              <a:rPr lang="en-US" sz="1250" b="1" dirty="0">
                <a:solidFill>
                  <a:srgbClr val="16284A"/>
                </a:solidFill>
                <a:latin typeface="Arial" pitchFamily="34" charset="0"/>
                <a:ea typeface="Arial" pitchFamily="34" charset="-122"/>
                <a:cs typeface="Arial" pitchFamily="34" charset="-120"/>
              </a:rPr>
              <a:t>Funding</a:t>
            </a:r>
            <a:endParaRPr lang="en-US" sz="1250" dirty="0"/>
          </a:p>
        </p:txBody>
      </p:sp>
      <p:sp>
        <p:nvSpPr>
          <p:cNvPr id="37" name="Text 35"/>
          <p:cNvSpPr/>
          <p:nvPr/>
        </p:nvSpPr>
        <p:spPr>
          <a:xfrm>
            <a:off x="4538472" y="4809744"/>
            <a:ext cx="3112008" cy="603504"/>
          </a:xfrm>
          <a:prstGeom prst="rect">
            <a:avLst/>
          </a:prstGeom>
          <a:noFill/>
          <a:ln/>
        </p:spPr>
        <p:txBody>
          <a:bodyPr wrap="square" lIns="0" tIns="0" rIns="0" bIns="0" rtlCol="0" anchor="ctr"/>
          <a:lstStyle/>
          <a:p>
            <a:pPr indent="0" marL="0">
              <a:lnSpc>
                <a:spcPct val="103000"/>
              </a:lnSpc>
              <a:buNone/>
            </a:pPr>
            <a:r>
              <a:rPr lang="en-US" sz="1030" dirty="0">
                <a:solidFill>
                  <a:srgbClr val="1A2238"/>
                </a:solidFill>
                <a:latin typeface="Arial" pitchFamily="34" charset="0"/>
                <a:ea typeface="Arial" pitchFamily="34" charset="-122"/>
                <a:cs typeface="Arial" pitchFamily="34" charset="-120"/>
              </a:rPr>
              <a:t>Wholesale-only, no deposits</a:t>
            </a:r>
            <a:endParaRPr lang="en-US" sz="1030" dirty="0"/>
          </a:p>
        </p:txBody>
      </p:sp>
      <p:sp>
        <p:nvSpPr>
          <p:cNvPr id="38" name="Shape 36"/>
          <p:cNvSpPr/>
          <p:nvPr/>
        </p:nvSpPr>
        <p:spPr>
          <a:xfrm>
            <a:off x="4538472" y="5468112"/>
            <a:ext cx="3112008" cy="0"/>
          </a:xfrm>
          <a:prstGeom prst="line">
            <a:avLst/>
          </a:prstGeom>
          <a:noFill/>
          <a:ln w="12700">
            <a:solidFill>
              <a:srgbClr val="D4DBE8"/>
            </a:solidFill>
            <a:prstDash val="solid"/>
          </a:ln>
        </p:spPr>
      </p:sp>
      <p:sp>
        <p:nvSpPr>
          <p:cNvPr id="39" name="Text 37"/>
          <p:cNvSpPr/>
          <p:nvPr/>
        </p:nvSpPr>
        <p:spPr>
          <a:xfrm>
            <a:off x="4538472" y="5522976"/>
            <a:ext cx="3112008" cy="640080"/>
          </a:xfrm>
          <a:prstGeom prst="rect">
            <a:avLst/>
          </a:prstGeom>
          <a:noFill/>
          <a:ln/>
        </p:spPr>
        <p:txBody>
          <a:bodyPr wrap="square" lIns="0" tIns="0" rIns="0" bIns="0" rtlCol="0" anchor="ctr"/>
          <a:lstStyle/>
          <a:p>
            <a:pPr indent="0" marL="0">
              <a:lnSpc>
                <a:spcPct val="102000"/>
              </a:lnSpc>
              <a:buNone/>
            </a:pPr>
            <a:r>
              <a:rPr lang="en-US" sz="970" b="1" dirty="0">
                <a:solidFill>
                  <a:srgbClr val="2E7D52"/>
                </a:solidFill>
                <a:latin typeface="Arial" pitchFamily="34" charset="0"/>
                <a:ea typeface="Arial" pitchFamily="34" charset="-122"/>
                <a:cs typeface="Arial" pitchFamily="34" charset="-120"/>
              </a:rPr>
              <a:t>Mitigant:  </a:t>
            </a:r>
            <a:pPr indent="0" marL="0">
              <a:lnSpc>
                <a:spcPct val="102000"/>
              </a:lnSpc>
              <a:buNone/>
            </a:pPr>
            <a:r>
              <a:rPr lang="en-US" sz="970" i="1" dirty="0">
                <a:solidFill>
                  <a:srgbClr val="1A2238"/>
                </a:solidFill>
                <a:latin typeface="Arial" pitchFamily="34" charset="0"/>
                <a:ea typeface="Arial" pitchFamily="34" charset="-122"/>
                <a:cs typeface="Arial" pitchFamily="34" charset="-120"/>
              </a:rPr>
              <a:t>50-plus lenders; rising NCD and securitization mix; high capital</a:t>
            </a:r>
            <a:endParaRPr lang="en-US" sz="970" dirty="0"/>
          </a:p>
        </p:txBody>
      </p:sp>
      <p:sp>
        <p:nvSpPr>
          <p:cNvPr id="40" name="Shape 38"/>
          <p:cNvSpPr/>
          <p:nvPr/>
        </p:nvSpPr>
        <p:spPr>
          <a:xfrm>
            <a:off x="8107680" y="4133088"/>
            <a:ext cx="3514344" cy="2103120"/>
          </a:xfrm>
          <a:prstGeom prst="roundRect">
            <a:avLst>
              <a:gd name="adj" fmla="val 3043"/>
            </a:avLst>
          </a:prstGeom>
          <a:solidFill>
            <a:srgbClr val="FFFFFF"/>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41" name="Shape 39"/>
          <p:cNvSpPr/>
          <p:nvPr/>
        </p:nvSpPr>
        <p:spPr>
          <a:xfrm>
            <a:off x="8290560" y="4334256"/>
            <a:ext cx="384048" cy="384048"/>
          </a:xfrm>
          <a:prstGeom prst="ellipse">
            <a:avLst/>
          </a:prstGeom>
          <a:solidFill>
            <a:srgbClr val="16284A"/>
          </a:solidFill>
          <a:ln/>
        </p:spPr>
      </p:sp>
      <p:sp>
        <p:nvSpPr>
          <p:cNvPr id="42" name="Text 40"/>
          <p:cNvSpPr/>
          <p:nvPr/>
        </p:nvSpPr>
        <p:spPr>
          <a:xfrm>
            <a:off x="8290560" y="4334256"/>
            <a:ext cx="384048" cy="384048"/>
          </a:xfrm>
          <a:prstGeom prst="rect">
            <a:avLst/>
          </a:prstGeom>
          <a:noFill/>
          <a:ln/>
        </p:spPr>
        <p:txBody>
          <a:bodyPr wrap="square" lIns="0" tIns="0" rIns="0" bIns="0" rtlCol="0" anchor="ctr"/>
          <a:lstStyle/>
          <a:p>
            <a:pPr algn="ctr" indent="0" marL="0">
              <a:buNone/>
            </a:pPr>
            <a:r>
              <a:rPr lang="en-US" sz="1500" b="1" dirty="0">
                <a:solidFill>
                  <a:srgbClr val="C0902C"/>
                </a:solidFill>
                <a:latin typeface="Arial" pitchFamily="34" charset="0"/>
                <a:ea typeface="Arial" pitchFamily="34" charset="-122"/>
                <a:cs typeface="Arial" pitchFamily="34" charset="-120"/>
              </a:rPr>
              <a:t>6</a:t>
            </a:r>
            <a:endParaRPr lang="en-US" sz="1500" dirty="0"/>
          </a:p>
        </p:txBody>
      </p:sp>
      <p:sp>
        <p:nvSpPr>
          <p:cNvPr id="43" name="Text 41"/>
          <p:cNvSpPr/>
          <p:nvPr/>
        </p:nvSpPr>
        <p:spPr>
          <a:xfrm>
            <a:off x="8766048" y="4352544"/>
            <a:ext cx="2691384" cy="365760"/>
          </a:xfrm>
          <a:prstGeom prst="rect">
            <a:avLst/>
          </a:prstGeom>
          <a:noFill/>
          <a:ln/>
        </p:spPr>
        <p:txBody>
          <a:bodyPr wrap="square" lIns="0" tIns="0" rIns="0" bIns="0" rtlCol="0" anchor="ctr"/>
          <a:lstStyle/>
          <a:p>
            <a:pPr indent="0" marL="0">
              <a:lnSpc>
                <a:spcPct val="95000"/>
              </a:lnSpc>
              <a:buNone/>
            </a:pPr>
            <a:r>
              <a:rPr lang="en-US" sz="1250" b="1" dirty="0">
                <a:solidFill>
                  <a:srgbClr val="16284A"/>
                </a:solidFill>
                <a:latin typeface="Arial" pitchFamily="34" charset="0"/>
                <a:ea typeface="Arial" pitchFamily="34" charset="-122"/>
                <a:cs typeface="Arial" pitchFamily="34" charset="-120"/>
              </a:rPr>
              <a:t>Ownership</a:t>
            </a:r>
            <a:endParaRPr lang="en-US" sz="1250" dirty="0"/>
          </a:p>
        </p:txBody>
      </p:sp>
      <p:sp>
        <p:nvSpPr>
          <p:cNvPr id="44" name="Text 42"/>
          <p:cNvSpPr/>
          <p:nvPr/>
        </p:nvSpPr>
        <p:spPr>
          <a:xfrm>
            <a:off x="8308848" y="4809744"/>
            <a:ext cx="3112008" cy="603504"/>
          </a:xfrm>
          <a:prstGeom prst="rect">
            <a:avLst/>
          </a:prstGeom>
          <a:noFill/>
          <a:ln/>
        </p:spPr>
        <p:txBody>
          <a:bodyPr wrap="square" lIns="0" tIns="0" rIns="0" bIns="0" rtlCol="0" anchor="ctr"/>
          <a:lstStyle/>
          <a:p>
            <a:pPr indent="0" marL="0">
              <a:lnSpc>
                <a:spcPct val="103000"/>
              </a:lnSpc>
              <a:buNone/>
            </a:pPr>
            <a:r>
              <a:rPr lang="en-US" sz="1030" dirty="0">
                <a:solidFill>
                  <a:srgbClr val="1A2238"/>
                </a:solidFill>
                <a:latin typeface="Arial" pitchFamily="34" charset="0"/>
                <a:ea typeface="Arial" pitchFamily="34" charset="-122"/>
                <a:cs typeface="Arial" pitchFamily="34" charset="-120"/>
              </a:rPr>
              <a:t>PE backers selling a low ~18.6% promoter stake</a:t>
            </a:r>
            <a:endParaRPr lang="en-US" sz="1030" dirty="0"/>
          </a:p>
        </p:txBody>
      </p:sp>
      <p:sp>
        <p:nvSpPr>
          <p:cNvPr id="45" name="Shape 43"/>
          <p:cNvSpPr/>
          <p:nvPr/>
        </p:nvSpPr>
        <p:spPr>
          <a:xfrm>
            <a:off x="8308848" y="5468112"/>
            <a:ext cx="3112008" cy="0"/>
          </a:xfrm>
          <a:prstGeom prst="line">
            <a:avLst/>
          </a:prstGeom>
          <a:noFill/>
          <a:ln w="12700">
            <a:solidFill>
              <a:srgbClr val="D4DBE8"/>
            </a:solidFill>
            <a:prstDash val="solid"/>
          </a:ln>
        </p:spPr>
      </p:sp>
      <p:sp>
        <p:nvSpPr>
          <p:cNvPr id="46" name="Text 44"/>
          <p:cNvSpPr/>
          <p:nvPr/>
        </p:nvSpPr>
        <p:spPr>
          <a:xfrm>
            <a:off x="8308848" y="5522976"/>
            <a:ext cx="3112008" cy="640080"/>
          </a:xfrm>
          <a:prstGeom prst="rect">
            <a:avLst/>
          </a:prstGeom>
          <a:noFill/>
          <a:ln/>
        </p:spPr>
        <p:txBody>
          <a:bodyPr wrap="square" lIns="0" tIns="0" rIns="0" bIns="0" rtlCol="0" anchor="ctr"/>
          <a:lstStyle/>
          <a:p>
            <a:pPr indent="0" marL="0">
              <a:lnSpc>
                <a:spcPct val="102000"/>
              </a:lnSpc>
              <a:buNone/>
            </a:pPr>
            <a:r>
              <a:rPr lang="en-US" sz="970" b="1" dirty="0">
                <a:solidFill>
                  <a:srgbClr val="2E7D52"/>
                </a:solidFill>
                <a:latin typeface="Arial" pitchFamily="34" charset="0"/>
                <a:ea typeface="Arial" pitchFamily="34" charset="-122"/>
                <a:cs typeface="Arial" pitchFamily="34" charset="-120"/>
              </a:rPr>
              <a:t>Mitigant:  </a:t>
            </a:r>
            <a:pPr indent="0" marL="0">
              <a:lnSpc>
                <a:spcPct val="102000"/>
              </a:lnSpc>
              <a:buNone/>
            </a:pPr>
            <a:r>
              <a:rPr lang="en-US" sz="970" i="1" dirty="0">
                <a:solidFill>
                  <a:srgbClr val="1A2238"/>
                </a:solidFill>
                <a:latin typeface="Arial" pitchFamily="34" charset="0"/>
                <a:ea typeface="Arial" pitchFamily="34" charset="-122"/>
                <a:cs typeface="Arial" pitchFamily="34" charset="-120"/>
              </a:rPr>
              <a:t>Overhang is technical, not fundamental; a source of the cheap price</a:t>
            </a:r>
            <a:endParaRPr lang="en-US" sz="970" dirty="0"/>
          </a:p>
        </p:txBody>
      </p:sp>
      <p:sp>
        <p:nvSpPr>
          <p:cNvPr id="47" name="Text 45"/>
          <p:cNvSpPr/>
          <p:nvPr/>
        </p:nvSpPr>
        <p:spPr>
          <a:xfrm>
            <a:off x="566928" y="6510528"/>
            <a:ext cx="9509760" cy="256032"/>
          </a:xfrm>
          <a:prstGeom prst="rect">
            <a:avLst/>
          </a:prstGeom>
          <a:noFill/>
          <a:ln/>
        </p:spPr>
        <p:txBody>
          <a:bodyPr wrap="square" lIns="0" tIns="0" rIns="0" bIns="0" rtlCol="0" anchor="ctr"/>
          <a:lstStyle/>
          <a:p>
            <a:pPr indent="0" marL="0">
              <a:buNone/>
            </a:pPr>
            <a:r>
              <a:rPr lang="en-US" sz="750" i="1" dirty="0">
                <a:solidFill>
                  <a:srgbClr val="6E7686"/>
                </a:solidFill>
                <a:latin typeface="Arial" pitchFamily="34" charset="0"/>
                <a:ea typeface="Arial" pitchFamily="34" charset="-122"/>
                <a:cs typeface="Arial" pitchFamily="34" charset="-120"/>
              </a:rPr>
              <a:t>Source: Diligence synthesis; ICRA and CRISIL rationales; company shareholding disclosures, June 2026.</a:t>
            </a:r>
            <a:endParaRPr lang="en-US" sz="750" dirty="0"/>
          </a:p>
        </p:txBody>
      </p:sp>
      <p:sp>
        <p:nvSpPr>
          <p:cNvPr id="48" name="Text 46"/>
          <p:cNvSpPr/>
          <p:nvPr/>
        </p:nvSpPr>
        <p:spPr>
          <a:xfrm>
            <a:off x="8165592" y="6510528"/>
            <a:ext cx="3383280" cy="256032"/>
          </a:xfrm>
          <a:prstGeom prst="rect">
            <a:avLst/>
          </a:prstGeom>
          <a:noFill/>
          <a:ln/>
        </p:spPr>
        <p:txBody>
          <a:bodyPr wrap="square" lIns="0" tIns="0" rIns="0" bIns="0" rtlCol="0" anchor="ctr"/>
          <a:lstStyle/>
          <a:p>
            <a:pPr algn="r" indent="0" marL="0">
              <a:buNone/>
            </a:pPr>
            <a:r>
              <a:rPr lang="en-US" sz="750" dirty="0">
                <a:solidFill>
                  <a:srgbClr val="6E7686"/>
                </a:solidFill>
                <a:latin typeface="Arial" pitchFamily="34" charset="0"/>
                <a:ea typeface="Arial" pitchFamily="34" charset="-122"/>
                <a:cs typeface="Arial" pitchFamily="34" charset="-120"/>
              </a:rPr>
              <a:t>Five-Star Business Finance  |  Investment Recommendation  |  6 of 8</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118872" cy="118872"/>
          </a:xfrm>
          <a:prstGeom prst="rect">
            <a:avLst/>
          </a:prstGeom>
          <a:solidFill>
            <a:srgbClr val="C0902C"/>
          </a:solidFill>
          <a:ln/>
        </p:spPr>
      </p:sp>
      <p:sp>
        <p:nvSpPr>
          <p:cNvPr id="3" name="Text 1"/>
          <p:cNvSpPr/>
          <p:nvPr/>
        </p:nvSpPr>
        <p:spPr>
          <a:xfrm>
            <a:off x="786384" y="384048"/>
            <a:ext cx="10789920" cy="274320"/>
          </a:xfrm>
          <a:prstGeom prst="rect">
            <a:avLst/>
          </a:prstGeom>
          <a:noFill/>
          <a:ln/>
        </p:spPr>
        <p:txBody>
          <a:bodyPr wrap="square" lIns="0" tIns="0" rIns="0" bIns="0" rtlCol="0" anchor="ctr"/>
          <a:lstStyle/>
          <a:p>
            <a:pPr indent="0" marL="0">
              <a:buNone/>
            </a:pPr>
            <a:r>
              <a:rPr lang="en-US" sz="1100" b="1" spc="200" kern="0" dirty="0">
                <a:solidFill>
                  <a:srgbClr val="C0902C"/>
                </a:solidFill>
                <a:latin typeface="Arial" pitchFamily="34" charset="0"/>
                <a:ea typeface="Arial" pitchFamily="34" charset="-122"/>
                <a:cs typeface="Arial" pitchFamily="34" charset="-120"/>
              </a:rPr>
              <a:t>FINANCIAL PROJECTIONS AND VALUATION</a:t>
            </a:r>
            <a:endParaRPr lang="en-US" sz="1100" dirty="0"/>
          </a:p>
        </p:txBody>
      </p:sp>
      <p:sp>
        <p:nvSpPr>
          <p:cNvPr id="4" name="Text 2"/>
          <p:cNvSpPr/>
          <p:nvPr/>
        </p:nvSpPr>
        <p:spPr>
          <a:xfrm>
            <a:off x="566928" y="676656"/>
            <a:ext cx="11055096" cy="777240"/>
          </a:xfrm>
          <a:prstGeom prst="rect">
            <a:avLst/>
          </a:prstGeom>
          <a:noFill/>
          <a:ln/>
        </p:spPr>
        <p:txBody>
          <a:bodyPr wrap="square" lIns="0" tIns="0" rIns="0" bIns="0" rtlCol="0" anchor="t"/>
          <a:lstStyle/>
          <a:p>
            <a:pPr indent="0" marL="0">
              <a:lnSpc>
                <a:spcPct val="102000"/>
              </a:lnSpc>
              <a:buNone/>
            </a:pPr>
            <a:r>
              <a:rPr lang="en-US" sz="2000" b="1" dirty="0">
                <a:solidFill>
                  <a:srgbClr val="16284A"/>
                </a:solidFill>
                <a:latin typeface="Arial" pitchFamily="34" charset="0"/>
                <a:ea typeface="Arial" pitchFamily="34" charset="-122"/>
                <a:cs typeface="Arial" pitchFamily="34" charset="-120"/>
              </a:rPr>
              <a:t>Base case delivers ~22% IRR over four years; we would pay up to ~Rs 520 for a 20% IRR</a:t>
            </a:r>
            <a:endParaRPr lang="en-US" sz="2000" dirty="0"/>
          </a:p>
        </p:txBody>
      </p:sp>
      <p:sp>
        <p:nvSpPr>
          <p:cNvPr id="5" name="Text 3"/>
          <p:cNvSpPr/>
          <p:nvPr/>
        </p:nvSpPr>
        <p:spPr>
          <a:xfrm>
            <a:off x="566928" y="1664208"/>
            <a:ext cx="5669280" cy="292608"/>
          </a:xfrm>
          <a:prstGeom prst="rect">
            <a:avLst/>
          </a:prstGeom>
          <a:noFill/>
          <a:ln/>
        </p:spPr>
        <p:txBody>
          <a:bodyPr wrap="square" lIns="0" tIns="0" rIns="0" bIns="0" rtlCol="0" anchor="ctr"/>
          <a:lstStyle/>
          <a:p>
            <a:pPr indent="0" marL="0">
              <a:lnSpc>
                <a:spcPct val="95000"/>
              </a:lnSpc>
              <a:buNone/>
            </a:pPr>
            <a:r>
              <a:rPr lang="en-US" sz="1150" b="1" dirty="0">
                <a:solidFill>
                  <a:srgbClr val="16284A"/>
                </a:solidFill>
                <a:latin typeface="Arial" pitchFamily="34" charset="0"/>
                <a:ea typeface="Arial" pitchFamily="34" charset="-122"/>
                <a:cs typeface="Arial" pitchFamily="34" charset="-120"/>
              </a:rPr>
              <a:t>Profit after tax (Rs Cr): the FY26 pause, then re-acceleration</a:t>
            </a:r>
            <a:endParaRPr lang="en-US" sz="1150" dirty="0"/>
          </a:p>
        </p:txBody>
      </p:sp>
      <p:graphicFrame>
        <p:nvGraphicFramePr>
          <p:cNvPr id="6" name="Chart 0" descr=""/>
          <p:cNvGraphicFramePr/>
          <p:nvPr/>
        </p:nvGraphicFramePr>
        <p:xfrm>
          <a:off x="475488" y="2057400"/>
          <a:ext cx="5760720" cy="21031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66928" y="4297680"/>
            <a:ext cx="1316736" cy="868680"/>
          </a:xfrm>
          <a:prstGeom prst="roundRect">
            <a:avLst>
              <a:gd name="adj" fmla="val 7368"/>
            </a:avLst>
          </a:prstGeom>
          <a:solidFill>
            <a:srgbClr val="F4F6F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8" name="Text 5"/>
          <p:cNvSpPr/>
          <p:nvPr/>
        </p:nvSpPr>
        <p:spPr>
          <a:xfrm>
            <a:off x="594360" y="4389120"/>
            <a:ext cx="1261872" cy="420624"/>
          </a:xfrm>
          <a:prstGeom prst="rect">
            <a:avLst/>
          </a:prstGeom>
          <a:noFill/>
          <a:ln/>
        </p:spPr>
        <p:txBody>
          <a:bodyPr wrap="square" lIns="0" tIns="0" rIns="0" bIns="0" rtlCol="0" anchor="ctr"/>
          <a:lstStyle/>
          <a:p>
            <a:pPr algn="ctr" indent="0" marL="0">
              <a:buNone/>
            </a:pPr>
            <a:r>
              <a:rPr lang="en-US" sz="1500" b="1" dirty="0">
                <a:solidFill>
                  <a:srgbClr val="16284A"/>
                </a:solidFill>
                <a:latin typeface="Arial" pitchFamily="34" charset="0"/>
                <a:ea typeface="Arial" pitchFamily="34" charset="-122"/>
                <a:cs typeface="Arial" pitchFamily="34" charset="-120"/>
              </a:rPr>
              <a:t>~7.4%</a:t>
            </a:r>
            <a:endParaRPr lang="en-US" sz="1500" dirty="0"/>
          </a:p>
        </p:txBody>
      </p:sp>
      <p:sp>
        <p:nvSpPr>
          <p:cNvPr id="9" name="Text 6"/>
          <p:cNvSpPr/>
          <p:nvPr/>
        </p:nvSpPr>
        <p:spPr>
          <a:xfrm>
            <a:off x="594360" y="4809744"/>
            <a:ext cx="1261872" cy="274320"/>
          </a:xfrm>
          <a:prstGeom prst="rect">
            <a:avLst/>
          </a:prstGeom>
          <a:noFill/>
          <a:ln/>
        </p:spPr>
        <p:txBody>
          <a:bodyPr wrap="square" lIns="0" tIns="0" rIns="0" bIns="0" rtlCol="0" anchor="ctr"/>
          <a:lstStyle/>
          <a:p>
            <a:pPr algn="ctr" indent="0" marL="0">
              <a:buNone/>
            </a:pPr>
            <a:r>
              <a:rPr lang="en-US" sz="950" dirty="0">
                <a:solidFill>
                  <a:srgbClr val="6E7686"/>
                </a:solidFill>
                <a:latin typeface="Arial" pitchFamily="34" charset="0"/>
                <a:ea typeface="Arial" pitchFamily="34" charset="-122"/>
                <a:cs typeface="Arial" pitchFamily="34" charset="-120"/>
              </a:rPr>
              <a:t>Avg ROA</a:t>
            </a:r>
            <a:endParaRPr lang="en-US" sz="950" dirty="0"/>
          </a:p>
        </p:txBody>
      </p:sp>
      <p:sp>
        <p:nvSpPr>
          <p:cNvPr id="10" name="Shape 7"/>
          <p:cNvSpPr/>
          <p:nvPr/>
        </p:nvSpPr>
        <p:spPr>
          <a:xfrm>
            <a:off x="2048256" y="4297680"/>
            <a:ext cx="1316736" cy="868680"/>
          </a:xfrm>
          <a:prstGeom prst="roundRect">
            <a:avLst>
              <a:gd name="adj" fmla="val 7368"/>
            </a:avLst>
          </a:prstGeom>
          <a:solidFill>
            <a:srgbClr val="F4F6F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11" name="Text 8"/>
          <p:cNvSpPr/>
          <p:nvPr/>
        </p:nvSpPr>
        <p:spPr>
          <a:xfrm>
            <a:off x="2075688" y="4389120"/>
            <a:ext cx="1261872" cy="420624"/>
          </a:xfrm>
          <a:prstGeom prst="rect">
            <a:avLst/>
          </a:prstGeom>
          <a:noFill/>
          <a:ln/>
        </p:spPr>
        <p:txBody>
          <a:bodyPr wrap="square" lIns="0" tIns="0" rIns="0" bIns="0" rtlCol="0" anchor="ctr"/>
          <a:lstStyle/>
          <a:p>
            <a:pPr algn="ctr" indent="0" marL="0">
              <a:buNone/>
            </a:pPr>
            <a:r>
              <a:rPr lang="en-US" sz="1500" b="1" dirty="0">
                <a:solidFill>
                  <a:srgbClr val="16284A"/>
                </a:solidFill>
                <a:latin typeface="Arial" pitchFamily="34" charset="0"/>
                <a:ea typeface="Arial" pitchFamily="34" charset="-122"/>
                <a:cs typeface="Arial" pitchFamily="34" charset="-120"/>
              </a:rPr>
              <a:t>~16%</a:t>
            </a:r>
            <a:endParaRPr lang="en-US" sz="1500" dirty="0"/>
          </a:p>
        </p:txBody>
      </p:sp>
      <p:sp>
        <p:nvSpPr>
          <p:cNvPr id="12" name="Text 9"/>
          <p:cNvSpPr/>
          <p:nvPr/>
        </p:nvSpPr>
        <p:spPr>
          <a:xfrm>
            <a:off x="2075688" y="4809744"/>
            <a:ext cx="1261872" cy="274320"/>
          </a:xfrm>
          <a:prstGeom prst="rect">
            <a:avLst/>
          </a:prstGeom>
          <a:noFill/>
          <a:ln/>
        </p:spPr>
        <p:txBody>
          <a:bodyPr wrap="square" lIns="0" tIns="0" rIns="0" bIns="0" rtlCol="0" anchor="ctr"/>
          <a:lstStyle/>
          <a:p>
            <a:pPr algn="ctr" indent="0" marL="0">
              <a:buNone/>
            </a:pPr>
            <a:r>
              <a:rPr lang="en-US" sz="950" dirty="0">
                <a:solidFill>
                  <a:srgbClr val="6E7686"/>
                </a:solidFill>
                <a:latin typeface="Arial" pitchFamily="34" charset="0"/>
                <a:ea typeface="Arial" pitchFamily="34" charset="-122"/>
                <a:cs typeface="Arial" pitchFamily="34" charset="-120"/>
              </a:rPr>
              <a:t>Avg ROE</a:t>
            </a:r>
            <a:endParaRPr lang="en-US" sz="950" dirty="0"/>
          </a:p>
        </p:txBody>
      </p:sp>
      <p:sp>
        <p:nvSpPr>
          <p:cNvPr id="13" name="Shape 10"/>
          <p:cNvSpPr/>
          <p:nvPr/>
        </p:nvSpPr>
        <p:spPr>
          <a:xfrm>
            <a:off x="3529584" y="4297680"/>
            <a:ext cx="1316736" cy="868680"/>
          </a:xfrm>
          <a:prstGeom prst="roundRect">
            <a:avLst>
              <a:gd name="adj" fmla="val 7368"/>
            </a:avLst>
          </a:prstGeom>
          <a:solidFill>
            <a:srgbClr val="F4F6F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14" name="Text 11"/>
          <p:cNvSpPr/>
          <p:nvPr/>
        </p:nvSpPr>
        <p:spPr>
          <a:xfrm>
            <a:off x="3557016" y="4389120"/>
            <a:ext cx="1261872" cy="420624"/>
          </a:xfrm>
          <a:prstGeom prst="rect">
            <a:avLst/>
          </a:prstGeom>
          <a:noFill/>
          <a:ln/>
        </p:spPr>
        <p:txBody>
          <a:bodyPr wrap="square" lIns="0" tIns="0" rIns="0" bIns="0" rtlCol="0" anchor="ctr"/>
          <a:lstStyle/>
          <a:p>
            <a:pPr algn="ctr" indent="0" marL="0">
              <a:buNone/>
            </a:pPr>
            <a:r>
              <a:rPr lang="en-US" sz="1500" b="1" dirty="0">
                <a:solidFill>
                  <a:srgbClr val="16284A"/>
                </a:solidFill>
                <a:latin typeface="Arial" pitchFamily="34" charset="0"/>
                <a:ea typeface="Arial" pitchFamily="34" charset="-122"/>
                <a:cs typeface="Arial" pitchFamily="34" charset="-120"/>
              </a:rPr>
              <a:t>~17%</a:t>
            </a:r>
            <a:endParaRPr lang="en-US" sz="1500" dirty="0"/>
          </a:p>
        </p:txBody>
      </p:sp>
      <p:sp>
        <p:nvSpPr>
          <p:cNvPr id="15" name="Text 12"/>
          <p:cNvSpPr/>
          <p:nvPr/>
        </p:nvSpPr>
        <p:spPr>
          <a:xfrm>
            <a:off x="3557016" y="4809744"/>
            <a:ext cx="1261872" cy="274320"/>
          </a:xfrm>
          <a:prstGeom prst="rect">
            <a:avLst/>
          </a:prstGeom>
          <a:noFill/>
          <a:ln/>
        </p:spPr>
        <p:txBody>
          <a:bodyPr wrap="square" lIns="0" tIns="0" rIns="0" bIns="0" rtlCol="0" anchor="ctr"/>
          <a:lstStyle/>
          <a:p>
            <a:pPr algn="ctr" indent="0" marL="0">
              <a:buNone/>
            </a:pPr>
            <a:r>
              <a:rPr lang="en-US" sz="950" dirty="0">
                <a:solidFill>
                  <a:srgbClr val="6E7686"/>
                </a:solidFill>
                <a:latin typeface="Arial" pitchFamily="34" charset="0"/>
                <a:ea typeface="Arial" pitchFamily="34" charset="-122"/>
                <a:cs typeface="Arial" pitchFamily="34" charset="-120"/>
              </a:rPr>
              <a:t>PAT CAGR</a:t>
            </a:r>
            <a:endParaRPr lang="en-US" sz="950" dirty="0"/>
          </a:p>
        </p:txBody>
      </p:sp>
      <p:sp>
        <p:nvSpPr>
          <p:cNvPr id="16" name="Shape 13"/>
          <p:cNvSpPr/>
          <p:nvPr/>
        </p:nvSpPr>
        <p:spPr>
          <a:xfrm>
            <a:off x="5010912" y="4297680"/>
            <a:ext cx="1316736" cy="868680"/>
          </a:xfrm>
          <a:prstGeom prst="roundRect">
            <a:avLst>
              <a:gd name="adj" fmla="val 7368"/>
            </a:avLst>
          </a:prstGeom>
          <a:solidFill>
            <a:srgbClr val="F4F6F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17" name="Text 14"/>
          <p:cNvSpPr/>
          <p:nvPr/>
        </p:nvSpPr>
        <p:spPr>
          <a:xfrm>
            <a:off x="5038344" y="4389120"/>
            <a:ext cx="1261872" cy="420624"/>
          </a:xfrm>
          <a:prstGeom prst="rect">
            <a:avLst/>
          </a:prstGeom>
          <a:noFill/>
          <a:ln/>
        </p:spPr>
        <p:txBody>
          <a:bodyPr wrap="square" lIns="0" tIns="0" rIns="0" bIns="0" rtlCol="0" anchor="ctr"/>
          <a:lstStyle/>
          <a:p>
            <a:pPr algn="ctr" indent="0" marL="0">
              <a:buNone/>
            </a:pPr>
            <a:r>
              <a:rPr lang="en-US" sz="1500" b="1" dirty="0">
                <a:solidFill>
                  <a:srgbClr val="16284A"/>
                </a:solidFill>
                <a:latin typeface="Arial" pitchFamily="34" charset="0"/>
                <a:ea typeface="Arial" pitchFamily="34" charset="-122"/>
                <a:cs typeface="Arial" pitchFamily="34" charset="-120"/>
              </a:rPr>
              <a:t>~1.3x</a:t>
            </a:r>
            <a:endParaRPr lang="en-US" sz="1500" dirty="0"/>
          </a:p>
        </p:txBody>
      </p:sp>
      <p:sp>
        <p:nvSpPr>
          <p:cNvPr id="18" name="Text 15"/>
          <p:cNvSpPr/>
          <p:nvPr/>
        </p:nvSpPr>
        <p:spPr>
          <a:xfrm>
            <a:off x="5038344" y="4809744"/>
            <a:ext cx="1261872" cy="274320"/>
          </a:xfrm>
          <a:prstGeom prst="rect">
            <a:avLst/>
          </a:prstGeom>
          <a:noFill/>
          <a:ln/>
        </p:spPr>
        <p:txBody>
          <a:bodyPr wrap="square" lIns="0" tIns="0" rIns="0" bIns="0" rtlCol="0" anchor="ctr"/>
          <a:lstStyle/>
          <a:p>
            <a:pPr algn="ctr" indent="0" marL="0">
              <a:buNone/>
            </a:pPr>
            <a:r>
              <a:rPr lang="en-US" sz="950" dirty="0">
                <a:solidFill>
                  <a:srgbClr val="6E7686"/>
                </a:solidFill>
                <a:latin typeface="Arial" pitchFamily="34" charset="0"/>
                <a:ea typeface="Arial" pitchFamily="34" charset="-122"/>
                <a:cs typeface="Arial" pitchFamily="34" charset="-120"/>
              </a:rPr>
              <a:t>FY30 D/E</a:t>
            </a:r>
            <a:endParaRPr lang="en-US" sz="950" dirty="0"/>
          </a:p>
        </p:txBody>
      </p:sp>
      <p:sp>
        <p:nvSpPr>
          <p:cNvPr id="19" name="Text 16"/>
          <p:cNvSpPr/>
          <p:nvPr/>
        </p:nvSpPr>
        <p:spPr>
          <a:xfrm>
            <a:off x="566928" y="5303520"/>
            <a:ext cx="5760720" cy="868680"/>
          </a:xfrm>
          <a:prstGeom prst="rect">
            <a:avLst/>
          </a:prstGeom>
          <a:noFill/>
          <a:ln/>
        </p:spPr>
        <p:txBody>
          <a:bodyPr wrap="square" lIns="0" tIns="0" rIns="0" bIns="0" rtlCol="0" anchor="ctr"/>
          <a:lstStyle/>
          <a:p>
            <a:pPr indent="0" marL="0">
              <a:lnSpc>
                <a:spcPct val="105000"/>
              </a:lnSpc>
              <a:buNone/>
            </a:pPr>
            <a:r>
              <a:rPr lang="en-US" sz="1000" i="1" dirty="0">
                <a:solidFill>
                  <a:srgbClr val="6E7686"/>
                </a:solidFill>
                <a:latin typeface="Arial" pitchFamily="34" charset="0"/>
                <a:ea typeface="Arial" pitchFamily="34" charset="-122"/>
                <a:cs typeface="Arial" pitchFamily="34" charset="-120"/>
              </a:rPr>
              <a:t>AUM compounds from Rs 13,225 Cr (FY26) to ~Rs 26,500 Cr (FY30) at ~19%; the model assumptions sit in the accompanying Excel.</a:t>
            </a:r>
            <a:endParaRPr lang="en-US" sz="1000" dirty="0"/>
          </a:p>
        </p:txBody>
      </p:sp>
      <p:sp>
        <p:nvSpPr>
          <p:cNvPr id="20" name="Shape 17"/>
          <p:cNvSpPr/>
          <p:nvPr/>
        </p:nvSpPr>
        <p:spPr>
          <a:xfrm>
            <a:off x="6583680" y="1664208"/>
            <a:ext cx="5038344" cy="1554480"/>
          </a:xfrm>
          <a:prstGeom prst="roundRect">
            <a:avLst>
              <a:gd name="adj" fmla="val 4118"/>
            </a:avLst>
          </a:prstGeom>
          <a:solidFill>
            <a:srgbClr val="16284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21" name="Text 18"/>
          <p:cNvSpPr/>
          <p:nvPr/>
        </p:nvSpPr>
        <p:spPr>
          <a:xfrm>
            <a:off x="6812280" y="1773936"/>
            <a:ext cx="4581144" cy="274320"/>
          </a:xfrm>
          <a:prstGeom prst="rect">
            <a:avLst/>
          </a:prstGeom>
          <a:noFill/>
          <a:ln/>
        </p:spPr>
        <p:txBody>
          <a:bodyPr wrap="square" lIns="0" tIns="0" rIns="0" bIns="0" rtlCol="0" anchor="ctr"/>
          <a:lstStyle/>
          <a:p>
            <a:pPr indent="0" marL="0">
              <a:buNone/>
            </a:pPr>
            <a:r>
              <a:rPr lang="en-US" sz="1100" b="1" spc="100" kern="0" dirty="0">
                <a:solidFill>
                  <a:srgbClr val="E7D6A8"/>
                </a:solidFill>
                <a:latin typeface="Arial" pitchFamily="34" charset="0"/>
                <a:ea typeface="Arial" pitchFamily="34" charset="-122"/>
                <a:cs typeface="Arial" pitchFamily="34" charset="-120"/>
              </a:rPr>
              <a:t>VALUATION  (4-YEAR HOLD, EXIT FY30)</a:t>
            </a:r>
            <a:endParaRPr lang="en-US" sz="1100" dirty="0"/>
          </a:p>
        </p:txBody>
      </p:sp>
      <p:sp>
        <p:nvSpPr>
          <p:cNvPr id="22" name="Text 19"/>
          <p:cNvSpPr/>
          <p:nvPr/>
        </p:nvSpPr>
        <p:spPr>
          <a:xfrm>
            <a:off x="6812280" y="2084832"/>
            <a:ext cx="3392424" cy="329184"/>
          </a:xfrm>
          <a:prstGeom prst="rect">
            <a:avLst/>
          </a:prstGeom>
          <a:noFill/>
          <a:ln/>
        </p:spPr>
        <p:txBody>
          <a:bodyPr wrap="square" lIns="0" tIns="0" rIns="0" bIns="0" rtlCol="0" anchor="ctr"/>
          <a:lstStyle/>
          <a:p>
            <a:pPr indent="0" marL="0">
              <a:buNone/>
            </a:pPr>
            <a:r>
              <a:rPr lang="en-US" sz="1150" dirty="0">
                <a:solidFill>
                  <a:srgbClr val="DCE4F2"/>
                </a:solidFill>
                <a:latin typeface="Arial" pitchFamily="34" charset="0"/>
                <a:ea typeface="Arial" pitchFamily="34" charset="-122"/>
                <a:cs typeface="Arial" pitchFamily="34" charset="-120"/>
              </a:rPr>
              <a:t>Base 4-yr IRR at ~Rs 480</a:t>
            </a:r>
            <a:endParaRPr lang="en-US" sz="1150" dirty="0"/>
          </a:p>
        </p:txBody>
      </p:sp>
      <p:sp>
        <p:nvSpPr>
          <p:cNvPr id="23" name="Text 20"/>
          <p:cNvSpPr/>
          <p:nvPr/>
        </p:nvSpPr>
        <p:spPr>
          <a:xfrm>
            <a:off x="10021824" y="2084832"/>
            <a:ext cx="13716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~22%</a:t>
            </a:r>
            <a:endParaRPr lang="en-US" sz="1400" dirty="0"/>
          </a:p>
        </p:txBody>
      </p:sp>
      <p:sp>
        <p:nvSpPr>
          <p:cNvPr id="24" name="Text 21"/>
          <p:cNvSpPr/>
          <p:nvPr/>
        </p:nvSpPr>
        <p:spPr>
          <a:xfrm>
            <a:off x="6812280" y="2450592"/>
            <a:ext cx="3392424" cy="329184"/>
          </a:xfrm>
          <a:prstGeom prst="rect">
            <a:avLst/>
          </a:prstGeom>
          <a:noFill/>
          <a:ln/>
        </p:spPr>
        <p:txBody>
          <a:bodyPr wrap="square" lIns="0" tIns="0" rIns="0" bIns="0" rtlCol="0" anchor="ctr"/>
          <a:lstStyle/>
          <a:p>
            <a:pPr indent="0" marL="0">
              <a:buNone/>
            </a:pPr>
            <a:r>
              <a:rPr lang="en-US" sz="1150" dirty="0">
                <a:solidFill>
                  <a:srgbClr val="DCE4F2"/>
                </a:solidFill>
                <a:latin typeface="Arial" pitchFamily="34" charset="0"/>
                <a:ea typeface="Arial" pitchFamily="34" charset="-122"/>
                <a:cs typeface="Arial" pitchFamily="34" charset="-120"/>
              </a:rPr>
              <a:t>Money multiple (MOIC)</a:t>
            </a:r>
            <a:endParaRPr lang="en-US" sz="1150" dirty="0"/>
          </a:p>
        </p:txBody>
      </p:sp>
      <p:sp>
        <p:nvSpPr>
          <p:cNvPr id="25" name="Text 22"/>
          <p:cNvSpPr/>
          <p:nvPr/>
        </p:nvSpPr>
        <p:spPr>
          <a:xfrm>
            <a:off x="10021824" y="2450592"/>
            <a:ext cx="13716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~2.2x</a:t>
            </a:r>
            <a:endParaRPr lang="en-US" sz="1400" dirty="0"/>
          </a:p>
        </p:txBody>
      </p:sp>
      <p:sp>
        <p:nvSpPr>
          <p:cNvPr id="26" name="Text 23"/>
          <p:cNvSpPr/>
          <p:nvPr/>
        </p:nvSpPr>
        <p:spPr>
          <a:xfrm>
            <a:off x="6812280" y="2816352"/>
            <a:ext cx="3392424" cy="329184"/>
          </a:xfrm>
          <a:prstGeom prst="rect">
            <a:avLst/>
          </a:prstGeom>
          <a:noFill/>
          <a:ln/>
        </p:spPr>
        <p:txBody>
          <a:bodyPr wrap="square" lIns="0" tIns="0" rIns="0" bIns="0" rtlCol="0" anchor="ctr"/>
          <a:lstStyle/>
          <a:p>
            <a:pPr indent="0" marL="0">
              <a:buNone/>
            </a:pPr>
            <a:r>
              <a:rPr lang="en-US" sz="1150" dirty="0">
                <a:solidFill>
                  <a:srgbClr val="DCE4F2"/>
                </a:solidFill>
                <a:latin typeface="Arial" pitchFamily="34" charset="0"/>
                <a:ea typeface="Arial" pitchFamily="34" charset="-122"/>
                <a:cs typeface="Arial" pitchFamily="34" charset="-120"/>
              </a:rPr>
              <a:t>Max entry for 20% IRR</a:t>
            </a:r>
            <a:endParaRPr lang="en-US" sz="1150" dirty="0"/>
          </a:p>
        </p:txBody>
      </p:sp>
      <p:sp>
        <p:nvSpPr>
          <p:cNvPr id="27" name="Text 24"/>
          <p:cNvSpPr/>
          <p:nvPr/>
        </p:nvSpPr>
        <p:spPr>
          <a:xfrm>
            <a:off x="10021824" y="2816352"/>
            <a:ext cx="1371600" cy="329184"/>
          </a:xfrm>
          <a:prstGeom prst="rect">
            <a:avLst/>
          </a:prstGeom>
          <a:noFill/>
          <a:ln/>
        </p:spPr>
        <p:txBody>
          <a:bodyPr wrap="square" lIns="0" tIns="0" rIns="0" bIns="0" rtlCol="0" anchor="ctr"/>
          <a:lstStyle/>
          <a:p>
            <a:pPr algn="r" indent="0" marL="0">
              <a:buNone/>
            </a:pPr>
            <a:r>
              <a:rPr lang="en-US" sz="1400" b="1" dirty="0">
                <a:solidFill>
                  <a:srgbClr val="FFFFFF"/>
                </a:solidFill>
                <a:latin typeface="Arial" pitchFamily="34" charset="0"/>
                <a:ea typeface="Arial" pitchFamily="34" charset="-122"/>
                <a:cs typeface="Arial" pitchFamily="34" charset="-120"/>
              </a:rPr>
              <a:t>~Rs 520</a:t>
            </a:r>
            <a:endParaRPr lang="en-US" sz="1400" dirty="0"/>
          </a:p>
        </p:txBody>
      </p:sp>
      <p:sp>
        <p:nvSpPr>
          <p:cNvPr id="28" name="Text 25"/>
          <p:cNvSpPr/>
          <p:nvPr/>
        </p:nvSpPr>
        <p:spPr>
          <a:xfrm>
            <a:off x="6583680" y="3401568"/>
            <a:ext cx="5038344" cy="274320"/>
          </a:xfrm>
          <a:prstGeom prst="rect">
            <a:avLst/>
          </a:prstGeom>
          <a:noFill/>
          <a:ln/>
        </p:spPr>
        <p:txBody>
          <a:bodyPr wrap="square" lIns="0" tIns="0" rIns="0" bIns="0" rtlCol="0" anchor="ctr"/>
          <a:lstStyle/>
          <a:p>
            <a:pPr indent="0" marL="0">
              <a:buNone/>
            </a:pPr>
            <a:r>
              <a:rPr lang="en-US" sz="1100" b="1" spc="100" kern="0" dirty="0">
                <a:solidFill>
                  <a:srgbClr val="C0902C"/>
                </a:solidFill>
                <a:latin typeface="Arial" pitchFamily="34" charset="0"/>
                <a:ea typeface="Arial" pitchFamily="34" charset="-122"/>
                <a:cs typeface="Arial" pitchFamily="34" charset="-120"/>
              </a:rPr>
              <a:t>SCENARIO ANALYSIS  (exit multiple is the swing factor)</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583680" y="3694176"/>
          <a:ext cx="5038344" cy="914400"/>
        </p:xfrm>
        <a:graphic>
          <a:graphicData uri="http://schemas.openxmlformats.org/drawingml/2006/table">
            <a:tbl>
              <a:tblPr/>
              <a:tblGrid>
                <a:gridCol w="1156953"/>
                <a:gridCol w="933027"/>
                <a:gridCol w="895706"/>
                <a:gridCol w="895706"/>
                <a:gridCol w="1156953"/>
              </a:tblGrid>
              <a:tr h="402336">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Scenario</a:t>
                      </a:r>
                      <a:endParaRPr lang="en-US" sz="100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16284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AUM gr.</a:t>
                      </a:r>
                      <a:endParaRPr lang="en-US" sz="100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16284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Exit P/E</a:t>
                      </a:r>
                      <a:endParaRPr lang="en-US" sz="100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16284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4-yr IRR</a:t>
                      </a:r>
                      <a:endParaRPr lang="en-US" sz="100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16284A"/>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Max entry</a:t>
                      </a:r>
                      <a:endParaRPr lang="en-US" sz="100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16284A"/>
                    </a:solidFill>
                  </a:tcPr>
                </a:tc>
              </a:tr>
              <a:tr h="402336">
                <a:tc>
                  <a:txBody>
                    <a:bodyPr/>
                    <a:lstStyle/>
                    <a:p>
                      <a:pPr algn="l" indent="0" marL="0">
                        <a:buNone/>
                      </a:pPr>
                      <a:r>
                        <a:rPr lang="en-US" sz="1050" b="1" dirty="0">
                          <a:solidFill>
                            <a:srgbClr val="1A2238"/>
                          </a:solidFill>
                          <a:latin typeface="Arial" pitchFamily="34" charset="0"/>
                          <a:ea typeface="Arial" pitchFamily="34" charset="-122"/>
                          <a:cs typeface="Arial" pitchFamily="34" charset="-120"/>
                        </a:rPr>
                        <a:t>Bear</a:t>
                      </a:r>
                      <a:endParaRPr lang="en-US" sz="105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050" dirty="0">
                          <a:solidFill>
                            <a:srgbClr val="1A2238"/>
                          </a:solidFill>
                          <a:latin typeface="Arial" pitchFamily="34" charset="0"/>
                          <a:ea typeface="Arial" pitchFamily="34" charset="-122"/>
                          <a:cs typeface="Arial" pitchFamily="34" charset="-120"/>
                        </a:rPr>
                        <a:t>12%</a:t>
                      </a:r>
                      <a:endParaRPr lang="en-US" sz="105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050" dirty="0">
                          <a:solidFill>
                            <a:srgbClr val="1A2238"/>
                          </a:solidFill>
                          <a:latin typeface="Arial" pitchFamily="34" charset="0"/>
                          <a:ea typeface="Arial" pitchFamily="34" charset="-122"/>
                          <a:cs typeface="Arial" pitchFamily="34" charset="-120"/>
                        </a:rPr>
                        <a:t>10x</a:t>
                      </a:r>
                      <a:endParaRPr lang="en-US" sz="105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050" dirty="0">
                          <a:solidFill>
                            <a:srgbClr val="1A2238"/>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050" dirty="0">
                          <a:solidFill>
                            <a:srgbClr val="1A2238"/>
                          </a:solidFill>
                          <a:latin typeface="Arial" pitchFamily="34" charset="0"/>
                          <a:ea typeface="Arial" pitchFamily="34" charset="-122"/>
                          <a:cs typeface="Arial" pitchFamily="34" charset="-120"/>
                        </a:rPr>
                        <a:t>~Rs 232</a:t>
                      </a:r>
                      <a:endParaRPr lang="en-US" sz="105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r>
              <a:tr h="402336">
                <a:tc>
                  <a:txBody>
                    <a:bodyPr/>
                    <a:lstStyle/>
                    <a:p>
                      <a:pPr algn="l" indent="0" marL="0">
                        <a:buNone/>
                      </a:pPr>
                      <a:r>
                        <a:rPr lang="en-US" sz="1050" b="1" dirty="0">
                          <a:solidFill>
                            <a:srgbClr val="16284A"/>
                          </a:solidFill>
                          <a:latin typeface="Arial" pitchFamily="34" charset="0"/>
                          <a:ea typeface="Arial" pitchFamily="34" charset="-122"/>
                          <a:cs typeface="Arial" pitchFamily="34" charset="-120"/>
                        </a:rPr>
                        <a:t>Base</a:t>
                      </a:r>
                      <a:endParaRPr lang="en-US" sz="105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E7D6A8"/>
                    </a:solidFill>
                  </a:tcPr>
                </a:tc>
                <a:tc>
                  <a:txBody>
                    <a:bodyPr/>
                    <a:lstStyle/>
                    <a:p>
                      <a:pPr algn="ctr" indent="0" marL="0">
                        <a:buNone/>
                      </a:pPr>
                      <a:r>
                        <a:rPr lang="en-US" sz="1050" b="1" dirty="0">
                          <a:solidFill>
                            <a:srgbClr val="16284A"/>
                          </a:solidFill>
                          <a:latin typeface="Arial" pitchFamily="34" charset="0"/>
                          <a:ea typeface="Arial" pitchFamily="34" charset="-122"/>
                          <a:cs typeface="Arial" pitchFamily="34" charset="-120"/>
                        </a:rPr>
                        <a:t>19%</a:t>
                      </a:r>
                      <a:endParaRPr lang="en-US" sz="105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E7D6A8"/>
                    </a:solidFill>
                  </a:tcPr>
                </a:tc>
                <a:tc>
                  <a:txBody>
                    <a:bodyPr/>
                    <a:lstStyle/>
                    <a:p>
                      <a:pPr algn="ctr" indent="0" marL="0">
                        <a:buNone/>
                      </a:pPr>
                      <a:r>
                        <a:rPr lang="en-US" sz="1050" b="1" dirty="0">
                          <a:solidFill>
                            <a:srgbClr val="16284A"/>
                          </a:solidFill>
                          <a:latin typeface="Arial" pitchFamily="34" charset="0"/>
                          <a:ea typeface="Arial" pitchFamily="34" charset="-122"/>
                          <a:cs typeface="Arial" pitchFamily="34" charset="-120"/>
                        </a:rPr>
                        <a:t>15x</a:t>
                      </a:r>
                      <a:endParaRPr lang="en-US" sz="105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E7D6A8"/>
                    </a:solidFill>
                  </a:tcPr>
                </a:tc>
                <a:tc>
                  <a:txBody>
                    <a:bodyPr/>
                    <a:lstStyle/>
                    <a:p>
                      <a:pPr algn="ctr" indent="0" marL="0">
                        <a:buNone/>
                      </a:pPr>
                      <a:r>
                        <a:rPr lang="en-US" sz="1050" b="1" dirty="0">
                          <a:solidFill>
                            <a:srgbClr val="16284A"/>
                          </a:solidFill>
                          <a:latin typeface="Arial" pitchFamily="34" charset="0"/>
                          <a:ea typeface="Arial" pitchFamily="34" charset="-122"/>
                          <a:cs typeface="Arial" pitchFamily="34" charset="-120"/>
                        </a:rPr>
                        <a:t>~22%</a:t>
                      </a:r>
                      <a:endParaRPr lang="en-US" sz="105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E7D6A8"/>
                    </a:solidFill>
                  </a:tcPr>
                </a:tc>
                <a:tc>
                  <a:txBody>
                    <a:bodyPr/>
                    <a:lstStyle/>
                    <a:p>
                      <a:pPr algn="ctr" indent="0" marL="0">
                        <a:buNone/>
                      </a:pPr>
                      <a:r>
                        <a:rPr lang="en-US" sz="1050" b="1" dirty="0">
                          <a:solidFill>
                            <a:srgbClr val="16284A"/>
                          </a:solidFill>
                          <a:latin typeface="Arial" pitchFamily="34" charset="0"/>
                          <a:ea typeface="Arial" pitchFamily="34" charset="-122"/>
                          <a:cs typeface="Arial" pitchFamily="34" charset="-120"/>
                        </a:rPr>
                        <a:t>~Rs 521</a:t>
                      </a:r>
                      <a:endParaRPr lang="en-US" sz="105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E7D6A8"/>
                    </a:solidFill>
                  </a:tcPr>
                </a:tc>
              </a:tr>
              <a:tr h="402336">
                <a:tc>
                  <a:txBody>
                    <a:bodyPr/>
                    <a:lstStyle/>
                    <a:p>
                      <a:pPr algn="l" indent="0" marL="0">
                        <a:buNone/>
                      </a:pPr>
                      <a:r>
                        <a:rPr lang="en-US" sz="1050" b="1" dirty="0">
                          <a:solidFill>
                            <a:srgbClr val="1A2238"/>
                          </a:solidFill>
                          <a:latin typeface="Arial" pitchFamily="34" charset="0"/>
                          <a:ea typeface="Arial" pitchFamily="34" charset="-122"/>
                          <a:cs typeface="Arial" pitchFamily="34" charset="-120"/>
                        </a:rPr>
                        <a:t>Bull</a:t>
                      </a:r>
                      <a:endParaRPr lang="en-US" sz="105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050" dirty="0">
                          <a:solidFill>
                            <a:srgbClr val="1A2238"/>
                          </a:solidFill>
                          <a:latin typeface="Arial" pitchFamily="34" charset="0"/>
                          <a:ea typeface="Arial" pitchFamily="34" charset="-122"/>
                          <a:cs typeface="Arial" pitchFamily="34" charset="-120"/>
                        </a:rPr>
                        <a:t>24%</a:t>
                      </a:r>
                      <a:endParaRPr lang="en-US" sz="105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050" dirty="0">
                          <a:solidFill>
                            <a:srgbClr val="1A2238"/>
                          </a:solidFill>
                          <a:latin typeface="Arial" pitchFamily="34" charset="0"/>
                          <a:ea typeface="Arial" pitchFamily="34" charset="-122"/>
                          <a:cs typeface="Arial" pitchFamily="34" charset="-120"/>
                        </a:rPr>
                        <a:t>18x</a:t>
                      </a:r>
                      <a:endParaRPr lang="en-US" sz="105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050" dirty="0">
                          <a:solidFill>
                            <a:srgbClr val="1A2238"/>
                          </a:solidFill>
                          <a:latin typeface="Arial" pitchFamily="34" charset="0"/>
                          <a:ea typeface="Arial" pitchFamily="34" charset="-122"/>
                          <a:cs typeface="Arial" pitchFamily="34" charset="-120"/>
                        </a:rPr>
                        <a:t>~37%</a:t>
                      </a:r>
                      <a:endParaRPr lang="en-US" sz="105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c>
                  <a:txBody>
                    <a:bodyPr/>
                    <a:lstStyle/>
                    <a:p>
                      <a:pPr algn="ctr" indent="0" marL="0">
                        <a:buNone/>
                      </a:pPr>
                      <a:r>
                        <a:rPr lang="en-US" sz="1050" dirty="0">
                          <a:solidFill>
                            <a:srgbClr val="1A2238"/>
                          </a:solidFill>
                          <a:latin typeface="Arial" pitchFamily="34" charset="0"/>
                          <a:ea typeface="Arial" pitchFamily="34" charset="-122"/>
                          <a:cs typeface="Arial" pitchFamily="34" charset="-120"/>
                        </a:rPr>
                        <a:t>~Rs 820</a:t>
                      </a:r>
                      <a:endParaRPr lang="en-US" sz="1050" dirty="0">
                        <a:latin typeface="Arial" charset="0"/>
                        <a:ea typeface="Arial" charset="0"/>
                        <a:cs typeface="Arial" charset="0"/>
                      </a:endParaRPr>
                    </a:p>
                  </a:txBody>
                  <a:tcPr marL="38100" marR="38100" marT="25400" marB="25400" anchor="ctr">
                    <a:lnL w="6350" cap="flat" cmpd="sng" algn="ctr">
                      <a:solidFill>
                        <a:srgbClr val="D4DBE8"/>
                      </a:solidFill>
                      <a:prstDash val="solid"/>
                      <a:round/>
                      <a:headEnd type="none" w="med" len="med"/>
                      <a:tailEnd type="none" w="med" len="med"/>
                    </a:lnL>
                    <a:lnR w="6350" cap="flat" cmpd="sng" algn="ctr">
                      <a:solidFill>
                        <a:srgbClr val="D4DBE8"/>
                      </a:solidFill>
                      <a:prstDash val="solid"/>
                      <a:round/>
                      <a:headEnd type="none" w="med" len="med"/>
                      <a:tailEnd type="none" w="med" len="med"/>
                    </a:lnR>
                    <a:lnT w="6350" cap="flat" cmpd="sng" algn="ctr">
                      <a:solidFill>
                        <a:srgbClr val="D4DBE8"/>
                      </a:solidFill>
                      <a:prstDash val="solid"/>
                      <a:round/>
                      <a:headEnd type="none" w="med" len="med"/>
                      <a:tailEnd type="none" w="med" len="med"/>
                    </a:lnT>
                    <a:lnB w="6350" cap="flat" cmpd="sng" algn="ctr">
                      <a:solidFill>
                        <a:srgbClr val="D4DBE8"/>
                      </a:solidFill>
                      <a:prstDash val="solid"/>
                      <a:round/>
                      <a:headEnd type="none" w="med" len="med"/>
                      <a:tailEnd type="none" w="med" len="med"/>
                    </a:lnB>
                    <a:solidFill>
                      <a:srgbClr val="F4F6FA"/>
                    </a:solidFill>
                  </a:tcPr>
                </a:tc>
              </a:tr>
            </a:tbl>
          </a:graphicData>
        </a:graphic>
      </p:graphicFrame>
      <p:sp>
        <p:nvSpPr>
          <p:cNvPr id="30" name="Shape 26"/>
          <p:cNvSpPr/>
          <p:nvPr/>
        </p:nvSpPr>
        <p:spPr>
          <a:xfrm>
            <a:off x="6583680" y="5413248"/>
            <a:ext cx="5038344" cy="841248"/>
          </a:xfrm>
          <a:prstGeom prst="roundRect">
            <a:avLst>
              <a:gd name="adj" fmla="val 7609"/>
            </a:avLst>
          </a:prstGeom>
          <a:solidFill>
            <a:srgbClr val="F4F6FA"/>
          </a:solidFill>
          <a:ln w="12700">
            <a:solidFill>
              <a:srgbClr val="D4DBE8"/>
            </a:solidFill>
            <a:prstDash val="solid"/>
          </a:ln>
          <a:effectLst>
            <a:outerShdw sx="100000" sy="100000" kx="0" ky="0" algn="bl" rotWithShape="0" blurRad="88900" dist="38100" dir="5400000">
              <a:srgbClr val="1A2238">
                <a:alpha val="14000"/>
              </a:srgbClr>
            </a:outerShdw>
          </a:effectLst>
        </p:spPr>
      </p:sp>
      <p:sp>
        <p:nvSpPr>
          <p:cNvPr id="31" name="Text 27"/>
          <p:cNvSpPr/>
          <p:nvPr/>
        </p:nvSpPr>
        <p:spPr>
          <a:xfrm>
            <a:off x="6784848" y="5468112"/>
            <a:ext cx="4636008" cy="731520"/>
          </a:xfrm>
          <a:prstGeom prst="rect">
            <a:avLst/>
          </a:prstGeom>
          <a:noFill/>
          <a:ln/>
        </p:spPr>
        <p:txBody>
          <a:bodyPr wrap="square" lIns="0" tIns="0" rIns="0" bIns="0" rtlCol="0" anchor="ctr"/>
          <a:lstStyle/>
          <a:p>
            <a:pPr indent="0" marL="0">
              <a:lnSpc>
                <a:spcPct val="104000"/>
              </a:lnSpc>
              <a:buNone/>
            </a:pPr>
            <a:r>
              <a:rPr lang="en-US" sz="1050" b="1" dirty="0">
                <a:solidFill>
                  <a:srgbClr val="16284A"/>
                </a:solidFill>
                <a:latin typeface="Arial" pitchFamily="34" charset="0"/>
                <a:ea typeface="Arial" pitchFamily="34" charset="-122"/>
                <a:cs typeface="Arial" pitchFamily="34" charset="-120"/>
              </a:rPr>
              <a:t>The de-rating is the opportunity.  </a:t>
            </a:r>
            <a:pPr indent="0" marL="0">
              <a:lnSpc>
                <a:spcPct val="104000"/>
              </a:lnSpc>
              <a:buNone/>
            </a:pPr>
            <a:r>
              <a:rPr lang="en-US" sz="1050" dirty="0">
                <a:solidFill>
                  <a:srgbClr val="1A2238"/>
                </a:solidFill>
                <a:latin typeface="Arial" pitchFamily="34" charset="0"/>
                <a:ea typeface="Arial" pitchFamily="34" charset="-122"/>
                <a:cs typeface="Arial" pitchFamily="34" charset="-120"/>
              </a:rPr>
              <a:t>A ~16% ROE lender at ~1.8x book compounds book value into the mid-teens on its own; the re-rate to ~15x earnings carries it past 20%. Buy below ~Rs 520.</a:t>
            </a:r>
            <a:endParaRPr lang="en-US" sz="1050" dirty="0"/>
          </a:p>
        </p:txBody>
      </p:sp>
      <p:sp>
        <p:nvSpPr>
          <p:cNvPr id="32" name="Text 28"/>
          <p:cNvSpPr/>
          <p:nvPr/>
        </p:nvSpPr>
        <p:spPr>
          <a:xfrm>
            <a:off x="566928" y="6510528"/>
            <a:ext cx="9509760" cy="256032"/>
          </a:xfrm>
          <a:prstGeom prst="rect">
            <a:avLst/>
          </a:prstGeom>
          <a:noFill/>
          <a:ln/>
        </p:spPr>
        <p:txBody>
          <a:bodyPr wrap="square" lIns="0" tIns="0" rIns="0" bIns="0" rtlCol="0" anchor="ctr"/>
          <a:lstStyle/>
          <a:p>
            <a:pPr indent="0" marL="0">
              <a:buNone/>
            </a:pPr>
            <a:r>
              <a:rPr lang="en-US" sz="750" i="1" dirty="0">
                <a:solidFill>
                  <a:srgbClr val="6E7686"/>
                </a:solidFill>
                <a:latin typeface="Arial" pitchFamily="34" charset="0"/>
                <a:ea typeface="Arial" pitchFamily="34" charset="-122"/>
                <a:cs typeface="Arial" pitchFamily="34" charset="-120"/>
              </a:rPr>
              <a:t>Source: Accompanying financial model (FiveStar_Model.xlsx); NSE market data, June 2026; peer estimates (Investec, Factset). Not investment advice.</a:t>
            </a:r>
            <a:endParaRPr lang="en-US" sz="750" dirty="0"/>
          </a:p>
        </p:txBody>
      </p:sp>
      <p:sp>
        <p:nvSpPr>
          <p:cNvPr id="33" name="Text 29"/>
          <p:cNvSpPr/>
          <p:nvPr/>
        </p:nvSpPr>
        <p:spPr>
          <a:xfrm>
            <a:off x="8165592" y="6510528"/>
            <a:ext cx="3383280" cy="256032"/>
          </a:xfrm>
          <a:prstGeom prst="rect">
            <a:avLst/>
          </a:prstGeom>
          <a:noFill/>
          <a:ln/>
        </p:spPr>
        <p:txBody>
          <a:bodyPr wrap="square" lIns="0" tIns="0" rIns="0" bIns="0" rtlCol="0" anchor="ctr"/>
          <a:lstStyle/>
          <a:p>
            <a:pPr algn="r" indent="0" marL="0">
              <a:buNone/>
            </a:pPr>
            <a:r>
              <a:rPr lang="en-US" sz="750" dirty="0">
                <a:solidFill>
                  <a:srgbClr val="6E7686"/>
                </a:solidFill>
                <a:latin typeface="Arial" pitchFamily="34" charset="0"/>
                <a:ea typeface="Arial" pitchFamily="34" charset="-122"/>
                <a:cs typeface="Arial" pitchFamily="34" charset="-120"/>
              </a:rPr>
              <a:t>Five-Star Business Finance  |  Investment Recommendation  |  7 of 8</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284A"/>
        </a:solidFill>
      </p:bgPr>
    </p:bg>
    <p:spTree>
      <p:nvGrpSpPr>
        <p:cNvPr id="1" name=""/>
        <p:cNvGrpSpPr/>
        <p:nvPr/>
      </p:nvGrpSpPr>
      <p:grpSpPr>
        <a:xfrm>
          <a:off x="0" y="0"/>
          <a:ext cx="0" cy="0"/>
          <a:chOff x="0" y="0"/>
          <a:chExt cx="0" cy="0"/>
        </a:xfrm>
      </p:grpSpPr>
      <p:sp>
        <p:nvSpPr>
          <p:cNvPr id="2" name="Shape 0"/>
          <p:cNvSpPr/>
          <p:nvPr/>
        </p:nvSpPr>
        <p:spPr>
          <a:xfrm>
            <a:off x="566928" y="548640"/>
            <a:ext cx="118872" cy="118872"/>
          </a:xfrm>
          <a:prstGeom prst="rect">
            <a:avLst/>
          </a:prstGeom>
          <a:solidFill>
            <a:srgbClr val="C0902C"/>
          </a:solidFill>
          <a:ln/>
        </p:spPr>
      </p:sp>
      <p:sp>
        <p:nvSpPr>
          <p:cNvPr id="3" name="Text 1"/>
          <p:cNvSpPr/>
          <p:nvPr/>
        </p:nvSpPr>
        <p:spPr>
          <a:xfrm>
            <a:off x="786384" y="475488"/>
            <a:ext cx="8229600" cy="274320"/>
          </a:xfrm>
          <a:prstGeom prst="rect">
            <a:avLst/>
          </a:prstGeom>
          <a:noFill/>
          <a:ln/>
        </p:spPr>
        <p:txBody>
          <a:bodyPr wrap="square" lIns="0" tIns="0" rIns="0" bIns="0" rtlCol="0" anchor="ctr"/>
          <a:lstStyle/>
          <a:p>
            <a:pPr indent="0" marL="0">
              <a:buNone/>
            </a:pPr>
            <a:r>
              <a:rPr lang="en-US" sz="1100" b="1" spc="200" kern="0" dirty="0">
                <a:solidFill>
                  <a:srgbClr val="C0902C"/>
                </a:solidFill>
                <a:latin typeface="Arial" pitchFamily="34" charset="0"/>
                <a:ea typeface="Arial" pitchFamily="34" charset="-122"/>
                <a:cs typeface="Arial" pitchFamily="34" charset="-120"/>
              </a:rPr>
              <a:t>RECOMMENDATION</a:t>
            </a:r>
            <a:endParaRPr lang="en-US" sz="1100" dirty="0"/>
          </a:p>
        </p:txBody>
      </p:sp>
      <p:sp>
        <p:nvSpPr>
          <p:cNvPr id="4" name="Text 2"/>
          <p:cNvSpPr/>
          <p:nvPr/>
        </p:nvSpPr>
        <p:spPr>
          <a:xfrm>
            <a:off x="566928" y="768096"/>
            <a:ext cx="11055096" cy="777240"/>
          </a:xfrm>
          <a:prstGeom prst="rect">
            <a:avLst/>
          </a:prstGeom>
          <a:noFill/>
          <a:ln/>
        </p:spPr>
        <p:txBody>
          <a:bodyPr wrap="square" lIns="0" tIns="0" rIns="0" bIns="0" rtlCol="0" anchor="ctr"/>
          <a:lstStyle/>
          <a:p>
            <a:pPr indent="0" marL="0">
              <a:lnSpc>
                <a:spcPct val="102000"/>
              </a:lnSpc>
              <a:buNone/>
            </a:pPr>
            <a:r>
              <a:rPr lang="en-US" sz="2000" b="1" dirty="0">
                <a:solidFill>
                  <a:srgbClr val="FFFFFF"/>
                </a:solidFill>
                <a:latin typeface="Arial" pitchFamily="34" charset="0"/>
                <a:ea typeface="Arial" pitchFamily="34" charset="-122"/>
                <a:cs typeface="Arial" pitchFamily="34" charset="-120"/>
              </a:rPr>
              <a:t>Invest and accumulate up to ~Rs 520; the swing factor is whether growth re-accelerates</a:t>
            </a:r>
            <a:endParaRPr lang="en-US" sz="2000" dirty="0"/>
          </a:p>
        </p:txBody>
      </p:sp>
      <p:sp>
        <p:nvSpPr>
          <p:cNvPr id="5" name="Shape 3"/>
          <p:cNvSpPr/>
          <p:nvPr/>
        </p:nvSpPr>
        <p:spPr>
          <a:xfrm>
            <a:off x="566928" y="1783080"/>
            <a:ext cx="5623560" cy="2148840"/>
          </a:xfrm>
          <a:prstGeom prst="roundRect">
            <a:avLst>
              <a:gd name="adj" fmla="val 2553"/>
            </a:avLst>
          </a:prstGeom>
          <a:solidFill>
            <a:srgbClr val="1F3A63"/>
          </a:solidFill>
          <a:ln w="12700">
            <a:solidFill>
              <a:srgbClr val="32507F"/>
            </a:solidFill>
            <a:prstDash val="solid"/>
          </a:ln>
        </p:spPr>
      </p:sp>
      <p:sp>
        <p:nvSpPr>
          <p:cNvPr id="6" name="Text 4"/>
          <p:cNvSpPr/>
          <p:nvPr/>
        </p:nvSpPr>
        <p:spPr>
          <a:xfrm>
            <a:off x="795528" y="1901952"/>
            <a:ext cx="5166360" cy="274320"/>
          </a:xfrm>
          <a:prstGeom prst="rect">
            <a:avLst/>
          </a:prstGeom>
          <a:noFill/>
          <a:ln/>
        </p:spPr>
        <p:txBody>
          <a:bodyPr wrap="square" lIns="0" tIns="0" rIns="0" bIns="0" rtlCol="0" anchor="ctr"/>
          <a:lstStyle/>
          <a:p>
            <a:pPr indent="0" marL="0">
              <a:buNone/>
            </a:pPr>
            <a:r>
              <a:rPr lang="en-US" sz="1100" b="1" spc="100" kern="0" dirty="0">
                <a:solidFill>
                  <a:srgbClr val="E7D6A8"/>
                </a:solidFill>
                <a:latin typeface="Arial" pitchFamily="34" charset="0"/>
                <a:ea typeface="Arial" pitchFamily="34" charset="-122"/>
                <a:cs typeface="Arial" pitchFamily="34" charset="-120"/>
              </a:rPr>
              <a:t>THE CALL</a:t>
            </a:r>
            <a:endParaRPr lang="en-US" sz="1100" dirty="0"/>
          </a:p>
        </p:txBody>
      </p:sp>
      <p:sp>
        <p:nvSpPr>
          <p:cNvPr id="7" name="Text 5"/>
          <p:cNvSpPr/>
          <p:nvPr/>
        </p:nvSpPr>
        <p:spPr>
          <a:xfrm>
            <a:off x="795528" y="2194560"/>
            <a:ext cx="5166360" cy="1645920"/>
          </a:xfrm>
          <a:prstGeom prst="rect">
            <a:avLst/>
          </a:prstGeom>
          <a:noFill/>
          <a:ln/>
        </p:spPr>
        <p:txBody>
          <a:bodyPr wrap="square" lIns="0" tIns="0" rIns="0" bIns="0" rtlCol="0" anchor="ctr"/>
          <a:lstStyle/>
          <a:p>
            <a:pPr indent="0" marL="0">
              <a:lnSpc>
                <a:spcPct val="108000"/>
              </a:lnSpc>
              <a:buNone/>
            </a:pPr>
            <a:r>
              <a:rPr lang="en-US" sz="1150" b="1" dirty="0">
                <a:solidFill>
                  <a:srgbClr val="FFFFFF"/>
                </a:solidFill>
                <a:latin typeface="Arial" pitchFamily="34" charset="0"/>
                <a:ea typeface="Arial" pitchFamily="34" charset="-122"/>
                <a:cs typeface="Arial" pitchFamily="34" charset="-120"/>
              </a:rPr>
              <a:t>Buy and accumulate below ~Rs 520 per share.  </a:t>
            </a:r>
            <a:endParaRPr lang="en-US" sz="1150" dirty="0"/>
          </a:p>
          <a:p>
            <a:pPr indent="0" marL="0">
              <a:lnSpc>
                <a:spcPct val="108000"/>
              </a:lnSpc>
              <a:buNone/>
            </a:pPr>
            <a:endParaRPr lang="en-US" sz="1150" dirty="0"/>
          </a:p>
          <a:p>
            <a:pPr indent="0" marL="0">
              <a:lnSpc>
                <a:spcPct val="108000"/>
              </a:lnSpc>
              <a:buNone/>
            </a:pPr>
            <a:r>
              <a:rPr lang="en-US" sz="1150" dirty="0">
                <a:solidFill>
                  <a:srgbClr val="DCE4F2"/>
                </a:solidFill>
                <a:latin typeface="Arial" pitchFamily="34" charset="0"/>
                <a:ea typeface="Arial" pitchFamily="34" charset="-122"/>
                <a:cs typeface="Arial" pitchFamily="34" charset="-120"/>
              </a:rPr>
              <a:t>A best-in-class secured lender to the informal economy is on sale at the cheapest multiple in its peer set, for reasons (private-equity exit selling, a self-imposed growth pause) that are technical rather than fundamental. The base case clears the 20% hurdle with headroom, and the secured model plus very high capital limit the downside to the franchise.</a:t>
            </a:r>
            <a:endParaRPr lang="en-US" sz="1150" dirty="0"/>
          </a:p>
        </p:txBody>
      </p:sp>
      <p:sp>
        <p:nvSpPr>
          <p:cNvPr id="8" name="Shape 6"/>
          <p:cNvSpPr/>
          <p:nvPr/>
        </p:nvSpPr>
        <p:spPr>
          <a:xfrm>
            <a:off x="6510528" y="1783080"/>
            <a:ext cx="5111496" cy="2148840"/>
          </a:xfrm>
          <a:prstGeom prst="roundRect">
            <a:avLst>
              <a:gd name="adj" fmla="val 2553"/>
            </a:avLst>
          </a:prstGeom>
          <a:solidFill>
            <a:srgbClr val="1F3A63"/>
          </a:solidFill>
          <a:ln w="12700">
            <a:solidFill>
              <a:srgbClr val="32507F"/>
            </a:solidFill>
            <a:prstDash val="solid"/>
          </a:ln>
        </p:spPr>
      </p:sp>
      <p:sp>
        <p:nvSpPr>
          <p:cNvPr id="9" name="Text 7"/>
          <p:cNvSpPr/>
          <p:nvPr/>
        </p:nvSpPr>
        <p:spPr>
          <a:xfrm>
            <a:off x="6739128" y="1901952"/>
            <a:ext cx="4654296" cy="274320"/>
          </a:xfrm>
          <a:prstGeom prst="rect">
            <a:avLst/>
          </a:prstGeom>
          <a:noFill/>
          <a:ln/>
        </p:spPr>
        <p:txBody>
          <a:bodyPr wrap="square" lIns="0" tIns="0" rIns="0" bIns="0" rtlCol="0" anchor="ctr"/>
          <a:lstStyle/>
          <a:p>
            <a:pPr indent="0" marL="0">
              <a:buNone/>
            </a:pPr>
            <a:r>
              <a:rPr lang="en-US" sz="1100" b="1" spc="100" kern="0" dirty="0">
                <a:solidFill>
                  <a:srgbClr val="E7D6A8"/>
                </a:solidFill>
                <a:latin typeface="Arial" pitchFamily="34" charset="0"/>
                <a:ea typeface="Arial" pitchFamily="34" charset="-122"/>
                <a:cs typeface="Arial" pitchFamily="34" charset="-120"/>
              </a:rPr>
              <a:t>WHAT WOULD CHANGE OUR MIND</a:t>
            </a:r>
            <a:endParaRPr lang="en-US" sz="1100" dirty="0"/>
          </a:p>
        </p:txBody>
      </p:sp>
      <p:sp>
        <p:nvSpPr>
          <p:cNvPr id="10" name="Text 8"/>
          <p:cNvSpPr/>
          <p:nvPr/>
        </p:nvSpPr>
        <p:spPr>
          <a:xfrm>
            <a:off x="6739128" y="2240280"/>
            <a:ext cx="4654296" cy="1600200"/>
          </a:xfrm>
          <a:prstGeom prst="rect">
            <a:avLst/>
          </a:prstGeom>
          <a:noFill/>
          <a:ln/>
        </p:spPr>
        <p:txBody>
          <a:bodyPr wrap="square" lIns="0" tIns="0" rIns="0" bIns="0" rtlCol="0" anchor="ctr"/>
          <a:lstStyle/>
          <a:p>
            <a:pPr marL="165100" indent="-165100">
              <a:lnSpc>
                <a:spcPct val="104000"/>
              </a:lnSpc>
              <a:spcAft>
                <a:spcPts val="800"/>
              </a:spcAft>
              <a:buSzPct val="100000"/>
              <a:buChar char="•"/>
            </a:pPr>
            <a:r>
              <a:rPr lang="en-US" sz="1150" dirty="0">
                <a:solidFill>
                  <a:srgbClr val="DCE4F2"/>
                </a:solidFill>
                <a:latin typeface="Arial" pitchFamily="34" charset="0"/>
                <a:ea typeface="Arial" pitchFamily="34" charset="-122"/>
                <a:cs typeface="Arial" pitchFamily="34" charset="-120"/>
              </a:rPr>
              <a:t>Growth fails to recover toward the ~20% guide over FY27</a:t>
            </a:r>
            <a:endParaRPr lang="en-US" sz="1150" dirty="0"/>
          </a:p>
          <a:p>
            <a:pPr marL="165100" indent="-165100">
              <a:lnSpc>
                <a:spcPct val="104000"/>
              </a:lnSpc>
              <a:spcAft>
                <a:spcPts val="800"/>
              </a:spcAft>
              <a:buSzPct val="100000"/>
              <a:buChar char="•"/>
            </a:pPr>
            <a:r>
              <a:rPr lang="en-US" sz="1150" dirty="0">
                <a:solidFill>
                  <a:srgbClr val="DCE4F2"/>
                </a:solidFill>
                <a:latin typeface="Arial" pitchFamily="34" charset="0"/>
                <a:ea typeface="Arial" pitchFamily="34" charset="-122"/>
                <a:cs typeface="Arial" pitchFamily="34" charset="-120"/>
              </a:rPr>
              <a:t>Credit cost stays above ~2% rather than easing to 1.7%</a:t>
            </a:r>
            <a:endParaRPr lang="en-US" sz="1150" dirty="0"/>
          </a:p>
          <a:p>
            <a:pPr marL="165100" indent="-165100">
              <a:lnSpc>
                <a:spcPct val="104000"/>
              </a:lnSpc>
              <a:spcAft>
                <a:spcPts val="800"/>
              </a:spcAft>
              <a:buSzPct val="100000"/>
              <a:buChar char="•"/>
            </a:pPr>
            <a:r>
              <a:rPr lang="en-US" sz="1150" dirty="0">
                <a:solidFill>
                  <a:srgbClr val="DCE4F2"/>
                </a:solidFill>
                <a:latin typeface="Arial" pitchFamily="34" charset="0"/>
                <a:ea typeface="Arial" pitchFamily="34" charset="-122"/>
                <a:cs typeface="Arial" pitchFamily="34" charset="-120"/>
              </a:rPr>
              <a:t>The multiple de-rates further as PE selling persists</a:t>
            </a:r>
            <a:endParaRPr lang="en-US" sz="1150" dirty="0"/>
          </a:p>
          <a:p>
            <a:pPr marL="165100" indent="-165100">
              <a:lnSpc>
                <a:spcPct val="104000"/>
              </a:lnSpc>
              <a:spcAft>
                <a:spcPts val="800"/>
              </a:spcAft>
              <a:buSzPct val="100000"/>
              <a:buChar char="•"/>
            </a:pPr>
            <a:r>
              <a:rPr lang="en-US" sz="1150" dirty="0">
                <a:solidFill>
                  <a:srgbClr val="DCE4F2"/>
                </a:solidFill>
                <a:latin typeface="Arial" pitchFamily="34" charset="0"/>
                <a:ea typeface="Arial" pitchFamily="34" charset="-122"/>
                <a:cs typeface="Arial" pitchFamily="34" charset="-120"/>
              </a:rPr>
              <a:t>Yields compress materially as banks move down-ticket</a:t>
            </a:r>
            <a:endParaRPr lang="en-US" sz="1150" dirty="0"/>
          </a:p>
        </p:txBody>
      </p:sp>
      <p:sp>
        <p:nvSpPr>
          <p:cNvPr id="11" name="Text 9"/>
          <p:cNvSpPr/>
          <p:nvPr/>
        </p:nvSpPr>
        <p:spPr>
          <a:xfrm>
            <a:off x="566928" y="4114800"/>
            <a:ext cx="10972800" cy="274320"/>
          </a:xfrm>
          <a:prstGeom prst="rect">
            <a:avLst/>
          </a:prstGeom>
          <a:noFill/>
          <a:ln/>
        </p:spPr>
        <p:txBody>
          <a:bodyPr wrap="square" lIns="0" tIns="0" rIns="0" bIns="0" rtlCol="0" anchor="ctr"/>
          <a:lstStyle/>
          <a:p>
            <a:pPr indent="0" marL="0">
              <a:buNone/>
            </a:pPr>
            <a:r>
              <a:rPr lang="en-US" sz="1100" b="1" spc="100" kern="0" dirty="0">
                <a:solidFill>
                  <a:srgbClr val="C0902C"/>
                </a:solidFill>
                <a:latin typeface="Arial" pitchFamily="34" charset="0"/>
                <a:ea typeface="Arial" pitchFamily="34" charset="-122"/>
                <a:cs typeface="Arial" pitchFamily="34" charset="-120"/>
              </a:rPr>
              <a:t>PRIORITY QUESTIONS BEFORE COMMITTING</a:t>
            </a:r>
            <a:endParaRPr lang="en-US" sz="1100" dirty="0"/>
          </a:p>
        </p:txBody>
      </p:sp>
      <p:sp>
        <p:nvSpPr>
          <p:cNvPr id="12" name="Shape 10"/>
          <p:cNvSpPr/>
          <p:nvPr/>
        </p:nvSpPr>
        <p:spPr>
          <a:xfrm>
            <a:off x="566928" y="4443984"/>
            <a:ext cx="2592324" cy="1143000"/>
          </a:xfrm>
          <a:prstGeom prst="roundRect">
            <a:avLst>
              <a:gd name="adj" fmla="val 4800"/>
            </a:avLst>
          </a:prstGeom>
          <a:solidFill>
            <a:srgbClr val="12203C"/>
          </a:solidFill>
          <a:ln w="12700">
            <a:solidFill>
              <a:srgbClr val="32507F"/>
            </a:solidFill>
            <a:prstDash val="solid"/>
          </a:ln>
        </p:spPr>
      </p:sp>
      <p:sp>
        <p:nvSpPr>
          <p:cNvPr id="13" name="Text 11"/>
          <p:cNvSpPr/>
          <p:nvPr/>
        </p:nvSpPr>
        <p:spPr>
          <a:xfrm>
            <a:off x="731520" y="4572000"/>
            <a:ext cx="2263140" cy="274320"/>
          </a:xfrm>
          <a:prstGeom prst="rect">
            <a:avLst/>
          </a:prstGeom>
          <a:noFill/>
          <a:ln/>
        </p:spPr>
        <p:txBody>
          <a:bodyPr wrap="square" lIns="0" tIns="0" rIns="0" bIns="0" rtlCol="0" anchor="ctr"/>
          <a:lstStyle/>
          <a:p>
            <a:pPr indent="0" marL="0">
              <a:buNone/>
            </a:pPr>
            <a:r>
              <a:rPr lang="en-US" sz="1250" b="1" dirty="0">
                <a:solidFill>
                  <a:srgbClr val="C0902C"/>
                </a:solidFill>
                <a:latin typeface="Arial" pitchFamily="34" charset="0"/>
                <a:ea typeface="Arial" pitchFamily="34" charset="-122"/>
                <a:cs typeface="Arial" pitchFamily="34" charset="-120"/>
              </a:rPr>
              <a:t>Growth</a:t>
            </a:r>
            <a:endParaRPr lang="en-US" sz="1250" dirty="0"/>
          </a:p>
        </p:txBody>
      </p:sp>
      <p:sp>
        <p:nvSpPr>
          <p:cNvPr id="14" name="Text 12"/>
          <p:cNvSpPr/>
          <p:nvPr/>
        </p:nvSpPr>
        <p:spPr>
          <a:xfrm>
            <a:off x="731520" y="4864608"/>
            <a:ext cx="2263140" cy="658368"/>
          </a:xfrm>
          <a:prstGeom prst="rect">
            <a:avLst/>
          </a:prstGeom>
          <a:noFill/>
          <a:ln/>
        </p:spPr>
        <p:txBody>
          <a:bodyPr wrap="square" lIns="0" tIns="0" rIns="0" bIns="0" rtlCol="0" anchor="ctr"/>
          <a:lstStyle/>
          <a:p>
            <a:pPr indent="0" marL="0">
              <a:lnSpc>
                <a:spcPct val="104000"/>
              </a:lnSpc>
              <a:buNone/>
            </a:pPr>
            <a:r>
              <a:rPr lang="en-US" sz="970" dirty="0">
                <a:solidFill>
                  <a:srgbClr val="C7D2E6"/>
                </a:solidFill>
                <a:latin typeface="Arial" pitchFamily="34" charset="0"/>
                <a:ea typeface="Arial" pitchFamily="34" charset="-122"/>
                <a:cs typeface="Arial" pitchFamily="34" charset="-120"/>
              </a:rPr>
              <a:t>Is the post-Q4 disbursement recovery real and sustained into FY27?</a:t>
            </a:r>
            <a:endParaRPr lang="en-US" sz="970" dirty="0"/>
          </a:p>
        </p:txBody>
      </p:sp>
      <p:sp>
        <p:nvSpPr>
          <p:cNvPr id="15" name="Shape 13"/>
          <p:cNvSpPr/>
          <p:nvPr/>
        </p:nvSpPr>
        <p:spPr>
          <a:xfrm>
            <a:off x="3387852" y="4443984"/>
            <a:ext cx="2592324" cy="1143000"/>
          </a:xfrm>
          <a:prstGeom prst="roundRect">
            <a:avLst>
              <a:gd name="adj" fmla="val 4800"/>
            </a:avLst>
          </a:prstGeom>
          <a:solidFill>
            <a:srgbClr val="12203C"/>
          </a:solidFill>
          <a:ln w="12700">
            <a:solidFill>
              <a:srgbClr val="32507F"/>
            </a:solidFill>
            <a:prstDash val="solid"/>
          </a:ln>
        </p:spPr>
      </p:sp>
      <p:sp>
        <p:nvSpPr>
          <p:cNvPr id="16" name="Text 14"/>
          <p:cNvSpPr/>
          <p:nvPr/>
        </p:nvSpPr>
        <p:spPr>
          <a:xfrm>
            <a:off x="3552444" y="4572000"/>
            <a:ext cx="2263140" cy="274320"/>
          </a:xfrm>
          <a:prstGeom prst="rect">
            <a:avLst/>
          </a:prstGeom>
          <a:noFill/>
          <a:ln/>
        </p:spPr>
        <p:txBody>
          <a:bodyPr wrap="square" lIns="0" tIns="0" rIns="0" bIns="0" rtlCol="0" anchor="ctr"/>
          <a:lstStyle/>
          <a:p>
            <a:pPr indent="0" marL="0">
              <a:buNone/>
            </a:pPr>
            <a:r>
              <a:rPr lang="en-US" sz="1250" b="1" dirty="0">
                <a:solidFill>
                  <a:srgbClr val="C0902C"/>
                </a:solidFill>
                <a:latin typeface="Arial" pitchFamily="34" charset="0"/>
                <a:ea typeface="Arial" pitchFamily="34" charset="-122"/>
                <a:cs typeface="Arial" pitchFamily="34" charset="-120"/>
              </a:rPr>
              <a:t>Credit cost</a:t>
            </a:r>
            <a:endParaRPr lang="en-US" sz="1250" dirty="0"/>
          </a:p>
        </p:txBody>
      </p:sp>
      <p:sp>
        <p:nvSpPr>
          <p:cNvPr id="17" name="Text 15"/>
          <p:cNvSpPr/>
          <p:nvPr/>
        </p:nvSpPr>
        <p:spPr>
          <a:xfrm>
            <a:off x="3552444" y="4864608"/>
            <a:ext cx="2263140" cy="658368"/>
          </a:xfrm>
          <a:prstGeom prst="rect">
            <a:avLst/>
          </a:prstGeom>
          <a:noFill/>
          <a:ln/>
        </p:spPr>
        <p:txBody>
          <a:bodyPr wrap="square" lIns="0" tIns="0" rIns="0" bIns="0" rtlCol="0" anchor="ctr"/>
          <a:lstStyle/>
          <a:p>
            <a:pPr indent="0" marL="0">
              <a:lnSpc>
                <a:spcPct val="104000"/>
              </a:lnSpc>
              <a:buNone/>
            </a:pPr>
            <a:r>
              <a:rPr lang="en-US" sz="970" dirty="0">
                <a:solidFill>
                  <a:srgbClr val="C7D2E6"/>
                </a:solidFill>
                <a:latin typeface="Arial" pitchFamily="34" charset="0"/>
                <a:ea typeface="Arial" pitchFamily="34" charset="-122"/>
                <a:cs typeface="Arial" pitchFamily="34" charset="-120"/>
              </a:rPr>
              <a:t>Does it converge to the guided 1.7 to 1.75% as early buckets keep improving?</a:t>
            </a:r>
            <a:endParaRPr lang="en-US" sz="970" dirty="0"/>
          </a:p>
        </p:txBody>
      </p:sp>
      <p:sp>
        <p:nvSpPr>
          <p:cNvPr id="18" name="Shape 16"/>
          <p:cNvSpPr/>
          <p:nvPr/>
        </p:nvSpPr>
        <p:spPr>
          <a:xfrm>
            <a:off x="6208776" y="4443984"/>
            <a:ext cx="2592324" cy="1143000"/>
          </a:xfrm>
          <a:prstGeom prst="roundRect">
            <a:avLst>
              <a:gd name="adj" fmla="val 4800"/>
            </a:avLst>
          </a:prstGeom>
          <a:solidFill>
            <a:srgbClr val="12203C"/>
          </a:solidFill>
          <a:ln w="12700">
            <a:solidFill>
              <a:srgbClr val="32507F"/>
            </a:solidFill>
            <a:prstDash val="solid"/>
          </a:ln>
        </p:spPr>
      </p:sp>
      <p:sp>
        <p:nvSpPr>
          <p:cNvPr id="19" name="Text 17"/>
          <p:cNvSpPr/>
          <p:nvPr/>
        </p:nvSpPr>
        <p:spPr>
          <a:xfrm>
            <a:off x="6373368" y="4572000"/>
            <a:ext cx="2263140" cy="274320"/>
          </a:xfrm>
          <a:prstGeom prst="rect">
            <a:avLst/>
          </a:prstGeom>
          <a:noFill/>
          <a:ln/>
        </p:spPr>
        <p:txBody>
          <a:bodyPr wrap="square" lIns="0" tIns="0" rIns="0" bIns="0" rtlCol="0" anchor="ctr"/>
          <a:lstStyle/>
          <a:p>
            <a:pPr indent="0" marL="0">
              <a:buNone/>
            </a:pPr>
            <a:r>
              <a:rPr lang="en-US" sz="1250" b="1" dirty="0">
                <a:solidFill>
                  <a:srgbClr val="C0902C"/>
                </a:solidFill>
                <a:latin typeface="Arial" pitchFamily="34" charset="0"/>
                <a:ea typeface="Arial" pitchFamily="34" charset="-122"/>
                <a:cs typeface="Arial" pitchFamily="34" charset="-120"/>
              </a:rPr>
              <a:t>Overhang</a:t>
            </a:r>
            <a:endParaRPr lang="en-US" sz="1250" dirty="0"/>
          </a:p>
        </p:txBody>
      </p:sp>
      <p:sp>
        <p:nvSpPr>
          <p:cNvPr id="20" name="Text 18"/>
          <p:cNvSpPr/>
          <p:nvPr/>
        </p:nvSpPr>
        <p:spPr>
          <a:xfrm>
            <a:off x="6373368" y="4864608"/>
            <a:ext cx="2263140" cy="658368"/>
          </a:xfrm>
          <a:prstGeom prst="rect">
            <a:avLst/>
          </a:prstGeom>
          <a:noFill/>
          <a:ln/>
        </p:spPr>
        <p:txBody>
          <a:bodyPr wrap="square" lIns="0" tIns="0" rIns="0" bIns="0" rtlCol="0" anchor="ctr"/>
          <a:lstStyle/>
          <a:p>
            <a:pPr indent="0" marL="0">
              <a:lnSpc>
                <a:spcPct val="104000"/>
              </a:lnSpc>
              <a:buNone/>
            </a:pPr>
            <a:r>
              <a:rPr lang="en-US" sz="970" dirty="0">
                <a:solidFill>
                  <a:srgbClr val="C7D2E6"/>
                </a:solidFill>
                <a:latin typeface="Arial" pitchFamily="34" charset="0"/>
                <a:ea typeface="Arial" pitchFamily="34" charset="-122"/>
                <a:cs typeface="Arial" pitchFamily="34" charset="-120"/>
              </a:rPr>
              <a:t>What is the remaining PE-exit timeline, and where does promoter ownership settle?</a:t>
            </a:r>
            <a:endParaRPr lang="en-US" sz="970" dirty="0"/>
          </a:p>
        </p:txBody>
      </p:sp>
      <p:sp>
        <p:nvSpPr>
          <p:cNvPr id="21" name="Shape 19"/>
          <p:cNvSpPr/>
          <p:nvPr/>
        </p:nvSpPr>
        <p:spPr>
          <a:xfrm>
            <a:off x="9029700" y="4443984"/>
            <a:ext cx="2592324" cy="1143000"/>
          </a:xfrm>
          <a:prstGeom prst="roundRect">
            <a:avLst>
              <a:gd name="adj" fmla="val 4800"/>
            </a:avLst>
          </a:prstGeom>
          <a:solidFill>
            <a:srgbClr val="12203C"/>
          </a:solidFill>
          <a:ln w="12700">
            <a:solidFill>
              <a:srgbClr val="32507F"/>
            </a:solidFill>
            <a:prstDash val="solid"/>
          </a:ln>
        </p:spPr>
      </p:sp>
      <p:sp>
        <p:nvSpPr>
          <p:cNvPr id="22" name="Text 20"/>
          <p:cNvSpPr/>
          <p:nvPr/>
        </p:nvSpPr>
        <p:spPr>
          <a:xfrm>
            <a:off x="9194292" y="4572000"/>
            <a:ext cx="2263140" cy="274320"/>
          </a:xfrm>
          <a:prstGeom prst="rect">
            <a:avLst/>
          </a:prstGeom>
          <a:noFill/>
          <a:ln/>
        </p:spPr>
        <p:txBody>
          <a:bodyPr wrap="square" lIns="0" tIns="0" rIns="0" bIns="0" rtlCol="0" anchor="ctr"/>
          <a:lstStyle/>
          <a:p>
            <a:pPr indent="0" marL="0">
              <a:buNone/>
            </a:pPr>
            <a:r>
              <a:rPr lang="en-US" sz="1250" b="1" dirty="0">
                <a:solidFill>
                  <a:srgbClr val="C0902C"/>
                </a:solidFill>
                <a:latin typeface="Arial" pitchFamily="34" charset="0"/>
                <a:ea typeface="Arial" pitchFamily="34" charset="-122"/>
                <a:cs typeface="Arial" pitchFamily="34" charset="-120"/>
              </a:rPr>
              <a:t>Diversification</a:t>
            </a:r>
            <a:endParaRPr lang="en-US" sz="1250" dirty="0"/>
          </a:p>
        </p:txBody>
      </p:sp>
      <p:sp>
        <p:nvSpPr>
          <p:cNvPr id="23" name="Text 21"/>
          <p:cNvSpPr/>
          <p:nvPr/>
        </p:nvSpPr>
        <p:spPr>
          <a:xfrm>
            <a:off x="9194292" y="4864608"/>
            <a:ext cx="2263140" cy="658368"/>
          </a:xfrm>
          <a:prstGeom prst="rect">
            <a:avLst/>
          </a:prstGeom>
          <a:noFill/>
          <a:ln/>
        </p:spPr>
        <p:txBody>
          <a:bodyPr wrap="square" lIns="0" tIns="0" rIns="0" bIns="0" rtlCol="0" anchor="ctr"/>
          <a:lstStyle/>
          <a:p>
            <a:pPr indent="0" marL="0">
              <a:lnSpc>
                <a:spcPct val="104000"/>
              </a:lnSpc>
              <a:buNone/>
            </a:pPr>
            <a:r>
              <a:rPr lang="en-US" sz="970" dirty="0">
                <a:solidFill>
                  <a:srgbClr val="C7D2E6"/>
                </a:solidFill>
                <a:latin typeface="Arial" pitchFamily="34" charset="0"/>
                <a:ea typeface="Arial" pitchFamily="34" charset="-122"/>
                <a:cs typeface="Arial" pitchFamily="34" charset="-120"/>
              </a:rPr>
              <a:t>How fast can the book de-concentrate beyond the South without quality slippage?</a:t>
            </a:r>
            <a:endParaRPr lang="en-US" sz="970" dirty="0"/>
          </a:p>
        </p:txBody>
      </p:sp>
      <p:sp>
        <p:nvSpPr>
          <p:cNvPr id="24" name="Text 22"/>
          <p:cNvSpPr/>
          <p:nvPr/>
        </p:nvSpPr>
        <p:spPr>
          <a:xfrm>
            <a:off x="566928" y="5806440"/>
            <a:ext cx="11055096" cy="640080"/>
          </a:xfrm>
          <a:prstGeom prst="rect">
            <a:avLst/>
          </a:prstGeom>
          <a:noFill/>
          <a:ln/>
        </p:spPr>
        <p:txBody>
          <a:bodyPr wrap="square" lIns="0" tIns="0" rIns="0" bIns="0" rtlCol="0" anchor="ctr"/>
          <a:lstStyle/>
          <a:p>
            <a:pPr indent="0" marL="0">
              <a:lnSpc>
                <a:spcPct val="100000"/>
              </a:lnSpc>
              <a:buNone/>
            </a:pPr>
            <a:r>
              <a:rPr lang="en-US" sz="750" i="1" dirty="0">
                <a:solidFill>
                  <a:srgbClr val="8290AE"/>
                </a:solidFill>
                <a:latin typeface="Arial" pitchFamily="34" charset="0"/>
                <a:ea typeface="Arial" pitchFamily="34" charset="-122"/>
                <a:cs typeface="Arial" pitchFamily="34" charset="-120"/>
              </a:rPr>
              <a:t>Sources: Company FY26 results, investor presentations, DRHP and earnings-call transcripts; broker notes (JM Financial, HDFC Securities, I-Sec, MNCL, Investec, Motilal Oswal); ICRA and CRISIL rationales; peer disclosures (Aptus, SBFC, Aavas, Home First); NSE market data, June 2026. Prepared as an assessment exercise; not investment advice.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Five-Star Business Finance: Investment Recommendation</dc:title>
  <dc:subject>PptxGenJS Presentation</dc:subject>
  <dc:creator>TVS Capital Assessment</dc:creator>
  <cp:lastModifiedBy>TVS Capital Assessment</cp:lastModifiedBy>
  <cp:revision>1</cp:revision>
  <dcterms:created xsi:type="dcterms:W3CDTF">2026-06-21T11:24:30Z</dcterms:created>
  <dcterms:modified xsi:type="dcterms:W3CDTF">2026-06-21T11:24:30Z</dcterms:modified>
</cp:coreProperties>
</file>