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bn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$0.0&quot;bn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TAM</c:v>
                  </c:pt>
                  <c:pt idx="1">
                    <c:v>SAM</c:v>
                  </c:pt>
                  <c:pt idx="2">
                    <c:v>SOM (base)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6.5</c:v>
                </c:pt>
                <c:pt idx="1">
                  <c:v>3.6</c:v>
                </c:pt>
                <c:pt idx="2">
                  <c:v>0.16</c:v>
                </c:pt>
              </c:numCache>
            </c:numRef>
          </c:val>
        </c:ser>
        <c:dLbls>
          <c:numFmt formatCode="$0.0&quot;bn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 calls (m)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 2025</c:v>
                  </c:pt>
                  <c:pt idx="1">
                    <c:v>Q3 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186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28016" cy="128016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841248"/>
            <a:ext cx="128016" cy="128016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1225296"/>
            <a:ext cx="128016" cy="128016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1609344"/>
            <a:ext cx="128016" cy="128016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1993392"/>
            <a:ext cx="128016" cy="128016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COMMITTEE MEMO   /   PREPARED FOR TETRATION VENTURES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46" y="1507846"/>
            <a:ext cx="504749" cy="5047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1704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Mem0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1810512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layer for the agentic era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32004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needs memory, just as every app needs a database.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is the open, model-agnostic memory layer winning that category: 5x API growth in two quarters, the largest developer community of any memory framework, and the exclusive memory provider inside the AWS Agent SDK.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7863840" cy="868680"/>
          </a:xfrm>
          <a:prstGeom prst="roundRect">
            <a:avLst>
              <a:gd name="adj" fmla="val 9474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" y="49560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507492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17320" y="47914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Co-invest up to $1.0mm alongside Basis Set and Peak XV at the Series A mark; enter the category leader early, before memory becomes non-optional infrastructure.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869680" y="1188720"/>
            <a:ext cx="2770632" cy="1060704"/>
          </a:xfrm>
          <a:prstGeom prst="roundRect">
            <a:avLst>
              <a:gd name="adj" fmla="val 7759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098280" y="1298448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186m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9098280" y="179222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calls, Q3 2025 (from 35m in Q1)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869680" y="2386584"/>
            <a:ext cx="2770632" cy="1060704"/>
          </a:xfrm>
          <a:prstGeom prst="roundRect">
            <a:avLst>
              <a:gd name="adj" fmla="val 7759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098280" y="2496312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9098280" y="299008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stars, largest in category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869680" y="3584448"/>
            <a:ext cx="2770632" cy="1060704"/>
          </a:xfrm>
          <a:prstGeom prst="roundRect">
            <a:avLst>
              <a:gd name="adj" fmla="val 7759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098280" y="3694176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9098280" y="418795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memory provider, Agent SDK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869680" y="4782312"/>
            <a:ext cx="2770632" cy="1060704"/>
          </a:xfrm>
          <a:prstGeom prst="roundRect">
            <a:avLst>
              <a:gd name="adj" fmla="val 7759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9098280" y="489204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$24m</a:t>
            </a:r>
            <a:endParaRPr lang="en-US" sz="3000" dirty="0"/>
          </a:p>
        </p:txBody>
      </p:sp>
      <p:sp>
        <p:nvSpPr>
          <p:cNvPr id="28" name="Text 24"/>
          <p:cNvSpPr/>
          <p:nvPr/>
        </p:nvSpPr>
        <p:spPr>
          <a:xfrm>
            <a:off x="9098280" y="538581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(Kindred / Basis Set / Peak XV)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TechCrunch / PR Newswire, Oct 2025. Valuation and revenue are estimated; see model.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most capable AI still has digital amnesia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66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stateless. </a:t>
            </a:r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forget everything the moment a session ends. Developers who want persistence build it themselves, discover it is far harder than a weekend project, and ship brittle systems. The result is AI that cannot personalize, cannot learn over time, and starts every interaction from scratch.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5166360" cy="2468880"/>
          </a:xfrm>
          <a:prstGeom prst="roundRect">
            <a:avLst>
              <a:gd name="adj" fmla="val 3333"/>
            </a:avLst>
          </a:prstGeom>
          <a:solidFill>
            <a:srgbClr val="1023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early agentic AI projects are projected to be abandoned, with the memory gap a leading cause. Employees reach for AI to brainstorm, then abandon it for mission-critical work because it cannot remember.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5870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Gartner; MIT report,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911096"/>
            <a:ext cx="749808" cy="74980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182" y="2106046"/>
            <a:ext cx="359908" cy="3599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06640" y="1801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Re-pasting context, forever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06640" y="22037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paste the same background into every new chat because nothing carries over.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3118104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28232" y="3429000"/>
            <a:ext cx="749808" cy="74980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182" y="3623950"/>
            <a:ext cx="359908" cy="3599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06640" y="3319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rejected work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406640" y="37216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assistants suggest the same rejected pattern dozens of times in a row.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72200" y="4636008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28232" y="4946904"/>
            <a:ext cx="749808" cy="74980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182" y="5141854"/>
            <a:ext cx="359908" cy="3599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06640" y="48371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personalization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406640" y="52395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companion bots forget the user they helped yesterday; loyalty never compounds.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AND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drop-in memory layer. Three lines of code.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Mem0 does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551" y="216859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1984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in three lines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35024" y="230428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any stateless agent into one that remembers; model-agnostic across OpenAI, Anthropic and open source.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44952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51" y="3201863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35024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memory store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35024" y="333756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Vector, graph and key-value together; extracts facts, resolves conflicts, and self-edits to stay lean.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078224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1" y="4235135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35024" y="4050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35024" y="437083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and HIPAA compliant, bring-your-own-key, deployable on-prem or in a private cloud.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111496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1" y="5268407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35024" y="50840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by design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335024" y="540410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passport that travels across apps and agents; the wedge for a shared memory network.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537960" y="1600200"/>
            <a:ext cx="5120640" cy="4526280"/>
          </a:xfrm>
          <a:prstGeom prst="roundRect">
            <a:avLst>
              <a:gd name="adj" fmla="val 1818"/>
            </a:avLst>
          </a:prstGeom>
          <a:solidFill>
            <a:srgbClr val="1023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90372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timing is right now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6903720" y="23317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121" y="2479121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89520" y="229514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boom made memory the bottleneck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589520" y="27889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turned agents from demos into products; the gap between rising intelligence and zero recall became the binding constraint.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903720" y="36118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121" y="3759281"/>
            <a:ext cx="272125" cy="27212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589520" y="35753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became purchased infrastructure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589520" y="40690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chose Mem0 as the exclusive memory provider for its Agent SDK; CrewAI, Flowise and Langflow integrate it natively.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903720" y="489204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1121" y="5039441"/>
            <a:ext cx="272125" cy="27212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589520" y="485546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 layer the big labs will not build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7589520" y="53492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and Anthropic add memory to their own stacks, but have little incentive to make it portable. That opening is the prize.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mem0.ai; PR Newswire, Oct 2025.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is following auth and monitoring into its own category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073128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47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2450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Auth0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79976" y="16459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1901952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472" y="2073128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7256" y="1847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77256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77256" y="2450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Datadog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211312" y="16459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023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85632" y="1901952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808" y="2073128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08592" y="1847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30859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becoming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9308592" y="2450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Mem0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the opportunity (2030)</a:t>
            </a:r>
            <a:endParaRPr lang="en-US" sz="14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48640" y="3703320"/>
          <a:ext cx="5486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Shape 18"/>
          <p:cNvSpPr/>
          <p:nvPr/>
        </p:nvSpPr>
        <p:spPr>
          <a:xfrm>
            <a:off x="6355080" y="3703320"/>
            <a:ext cx="5303520" cy="24688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629400" y="3886200"/>
            <a:ext cx="4800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$6.5bn.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Bottoms-up: roughly 1mm paying AI apps needing memory at about $6k a year, plus enterprise platform spend. A widely cited external estimate runs to $28.5bn by 2030, so this build is deliberately conservative.
</a:t>
            </a:r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$3.6bn.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55% Mem0 can realistically serve as a neutral, API-first layer, excluding fully in-house builds and lab-native-only memory.
</a:t>
            </a:r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$161mm.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FY2031 ARR is about 2.4% of TAM. The thesis does not require dominant share, only that Mem0 stays the default.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agentmarketcap.ai (external estimate); bottoms-up build in model. Figures estimated.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TRACTION, MOAT AND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category leader, by the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195791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3957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4672" y="2816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in Q3 2025, up 5x in two quarters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92424" y="16002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48456" y="181051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857" y="195791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23957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648456" y="2816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stars, largest of any memory framework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6208" y="16002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1051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641" y="195791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3957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80k+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92240" y="2816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signed up to the cloud service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79992" y="16002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36024" y="181051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3425" y="19579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36024" y="23957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336024" y="2816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provider in the AWS Agent SDK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growth (API calls, millions)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48640" y="374904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Shape 19"/>
          <p:cNvSpPr/>
          <p:nvPr/>
        </p:nvSpPr>
        <p:spPr>
          <a:xfrm>
            <a:off x="4892040" y="3429000"/>
            <a:ext cx="6766560" cy="2697480"/>
          </a:xfrm>
          <a:prstGeom prst="roundRect">
            <a:avLst>
              <a:gd name="adj" fmla="val 305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5166360" y="3584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holds: community and integrations flywheel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166360" y="391363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OSS community plus native hooks in the major agent frameworks make Mem0 the default choice; every integration and every stored memory raises switching costs. The act two, a shared memory network (Plaid for memory), compounds into a data and network moat.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4754880"/>
          <a:ext cx="6309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3774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wins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Broad, drop-in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Ecosystem, AWS, adoption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knowledge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that change over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Agent-managed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Long-running autonomous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Low-latency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Coding-agent workflows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2"/>
          <p:cNvSpPr/>
          <p:nvPr/>
        </p:nvSpPr>
        <p:spPr>
          <a:xfrm>
            <a:off x="54864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benchmarks are contested and are addressed in risks.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AND THE RETURN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the leader early; underwrite an 8x base case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46120" cy="4480560"/>
          </a:xfrm>
          <a:prstGeom prst="roundRect">
            <a:avLst>
              <a:gd name="adj" fmla="val 2535"/>
            </a:avLst>
          </a:prstGeom>
          <a:solidFill>
            <a:srgbClr val="1023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post-money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69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~$120mm (est)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912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$1.0mm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575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ownership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197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ownership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818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056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(to FY2031)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678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co-invest / SPV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scenarios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2011680"/>
          <a:ext cx="75255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1170432"/>
                <a:gridCol w="1280160"/>
                <a:gridCol w="109728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ARR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$0.37bn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$156mm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$326mm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0" y="4617720"/>
            <a:ext cx="370332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343400" y="4754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logic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34340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Mem0's round is undisclosed. Read-across from Letta's $70mm seed post (with less traction) plus AI-infra Series A norms supports roughly $100mm to $150mm post. Exit multiples of 7x to 18x sit below the 25x to 30x AI-native median, reflecting scale at exit.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55280" y="4617720"/>
            <a:ext cx="3685032" cy="1508760"/>
          </a:xfrm>
          <a:prstGeom prst="roundRect">
            <a:avLst>
              <a:gd name="adj" fmla="val 5455"/>
            </a:avLst>
          </a:prstGeom>
          <a:solidFill>
            <a:srgbClr val="1023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183880" y="4754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18388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8.3x </a:t>
            </a:r>
            <a:pPr indent="0" marL="0">
              <a:buNone/>
            </a:pPr>
            <a:r>
              <a:rPr lang="en-US" sz="11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probability-weighted MOIC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183880" y="55046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Tail-driven, as venture returns are. The bear models a soft landing; the case is made on the base and bull.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64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$1.0mm ticket; illustrative. Full build, dilution and sensitivity table in the model. Figures estimated.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ASK BEFORE THE CHEQUE, AND THE CALL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bear case is real. So is the asymmetry.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a sharp investor must answer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" y="2024847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87452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even need a memory layer?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Letta's own benchmark shows a plain filesystem scoring 74% on LoCoMo, beating specialized libraries. Diligence: proof the layer earns its keep on real tasks, not just recall benchmarks.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807208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" y="2911815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76148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are contested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Mem0's self-reported scores are disputed; Zep leads on temporal reasoning. Diligence: independent, workload-specific evals.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3798783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3648456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labs commoditize memory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 and LangMem ship native memory. Diligence: is portability a durable wedge or a feature the platforms absorb?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4581144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" y="4685751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15568" y="4535424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 revenue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 stars must convert to paid. Diligence: paid conversion, net revenue retention, and enterprise ACVs behind the usage curve.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48640" y="546811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47" y="5572719"/>
            <a:ext cx="193121" cy="1931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15568" y="542239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and structuring fit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is a US C-corp (SF), Indian-founder-led with Peak XV in. Diligence: SEBI / RBI overseas route and Tetration's India-focused Category I charter.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6537960" y="1508760"/>
            <a:ext cx="5120640" cy="4617720"/>
          </a:xfrm>
          <a:prstGeom prst="roundRect">
            <a:avLst>
              <a:gd name="adj" fmla="val 1782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812280" y="17373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926" y="1880006"/>
            <a:ext cx="263347" cy="26334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9808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recommendation</a:t>
            </a:r>
            <a:endParaRPr lang="en-US" sz="1900" dirty="0"/>
          </a:p>
        </p:txBody>
      </p:sp>
      <p:sp>
        <p:nvSpPr>
          <p:cNvPr id="24" name="Text 16"/>
          <p:cNvSpPr/>
          <p:nvPr/>
        </p:nvSpPr>
        <p:spPr>
          <a:xfrm>
            <a:off x="6812280" y="2377440"/>
            <a:ext cx="46177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write the cheque.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the missing primitive of the agent stack, and infra categories tend to consolidate around one neutral default. Mem0 is that default today: the largest community, the AWS relationship, and usage growing 5x in two quarters. We are not betting that memory matters, that debate is over; we are betting on who owns the layer.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risks are honest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 would gate the cheque on independent evals and paid-conversion data. But the entry is revenue-backed, the downside is a soft landing near capital, and the base case returns 8x with a credible path to far more.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$1.0mm alongside Basis Set and Peak XV, structured as a co-invest, with information rights and a follow-on option into the next round.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Mem0 - Investment Case</dc:title>
  <dc:subject>PptxGenJS Presentation</dc:subject>
  <dc:creator>Tetration Ventures - Investment Exercise</dc:creator>
  <cp:lastModifiedBy>Tetration Ventures - Investment Exercise</cp:lastModifiedBy>
  <cp:revision>1</cp:revision>
  <dcterms:created xsi:type="dcterms:W3CDTF">2026-07-05T16:40:25Z</dcterms:created>
  <dcterms:modified xsi:type="dcterms:W3CDTF">2026-07-05T16:40:25Z</dcterms:modified>
</cp:coreProperties>
</file>