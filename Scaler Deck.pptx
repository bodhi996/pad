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charts/chart1.xml" ContentType="application/vnd.openxmlformats-officedocument.drawingml.chart+xml"/>
  <Override PartName="/ppt/tags/tag33.xml" ContentType="application/vnd.openxmlformats-officedocument.presentationml.tags+xml"/>
  <Override PartName="/ppt/charts/chart2.xml" ContentType="application/vnd.openxmlformats-officedocument.drawingml.chart+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charts/chart3.xml" ContentType="application/vnd.openxmlformats-officedocument.drawingml.chart+xml"/>
  <Override PartName="/ppt/tags/tag39.xml" ContentType="application/vnd.openxmlformats-officedocument.presentationml.tags+xml"/>
  <Override PartName="/ppt/charts/chart4.xml" ContentType="application/vnd.openxmlformats-officedocument.drawingml.chart+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950075" cy="9236075"/>
  <p:custShowLst>
    <p:custShow name="Format Guide Workshop" id="0">
      <p:sldLst/>
    </p:custShow>
  </p:custShowLst>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1C7"/>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323" autoAdjust="0"/>
  </p:normalViewPr>
  <p:slideViewPr>
    <p:cSldViewPr snapToGrid="0">
      <p:cViewPr>
        <p:scale>
          <a:sx n="94" d="100"/>
          <a:sy n="94" d="100"/>
        </p:scale>
        <p:origin x="-96" y="36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MSDE Schemes</c:v>
                </c:pt>
              </c:strCache>
            </c:strRef>
          </c:tx>
          <c:spPr>
            <a:solidFill>
              <a:srgbClr val="113052"/>
            </a:solidFill>
          </c:spPr>
          <c:invertIfNegative val="1"/>
          <c:cat>
            <c:strRef>
              <c:f>Sheet1!$A$2:$A$6</c:f>
              <c:strCache>
                <c:ptCount val="5"/>
                <c:pt idx="0">
                  <c:v>FY22</c:v>
                </c:pt>
                <c:pt idx="1">
                  <c:v>FY23</c:v>
                </c:pt>
                <c:pt idx="2">
                  <c:v>FY24</c:v>
                </c:pt>
                <c:pt idx="3">
                  <c:v>FY25</c:v>
                </c:pt>
                <c:pt idx="4">
                  <c:v>FY26E</c:v>
                </c:pt>
              </c:strCache>
            </c:strRef>
          </c:cat>
          <c:val>
            <c:numRef>
              <c:f>Sheet1!$B$2:$B$6</c:f>
              <c:numCache>
                <c:formatCode>General</c:formatCode>
                <c:ptCount val="5"/>
                <c:pt idx="0">
                  <c:v>1800</c:v>
                </c:pt>
                <c:pt idx="1">
                  <c:v>2100</c:v>
                </c:pt>
                <c:pt idx="2">
                  <c:v>2400</c:v>
                </c:pt>
                <c:pt idx="3">
                  <c:v>2800</c:v>
                </c:pt>
                <c:pt idx="4">
                  <c:v>3100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6F6-4082-A743-790F072AC930}"/>
            </c:ext>
          </c:extLst>
        </c:ser>
        <c:ser>
          <c:idx val="1"/>
          <c:order val="1"/>
          <c:tx>
            <c:strRef>
              <c:f>Sheet1!$C$1</c:f>
              <c:strCache>
                <c:ptCount val="1"/>
                <c:pt idx="0">
                  <c:v>MeitY / Digital India</c:v>
                </c:pt>
              </c:strCache>
            </c:strRef>
          </c:tx>
          <c:spPr>
            <a:solidFill>
              <a:srgbClr val="448AD7"/>
            </a:solidFill>
          </c:spPr>
          <c:invertIfNegative val="1"/>
          <c:cat>
            <c:strRef>
              <c:f>Sheet1!$A$2:$A$6</c:f>
              <c:strCache>
                <c:ptCount val="5"/>
                <c:pt idx="0">
                  <c:v>FY22</c:v>
                </c:pt>
                <c:pt idx="1">
                  <c:v>FY23</c:v>
                </c:pt>
                <c:pt idx="2">
                  <c:v>FY24</c:v>
                </c:pt>
                <c:pt idx="3">
                  <c:v>FY25</c:v>
                </c:pt>
                <c:pt idx="4">
                  <c:v>FY26E</c:v>
                </c:pt>
              </c:strCache>
            </c:strRef>
          </c:cat>
          <c:val>
            <c:numRef>
              <c:f>Sheet1!$C$2:$C$6</c:f>
              <c:numCache>
                <c:formatCode>General</c:formatCode>
                <c:ptCount val="5"/>
                <c:pt idx="0">
                  <c:v>480</c:v>
                </c:pt>
                <c:pt idx="1">
                  <c:v>550</c:v>
                </c:pt>
                <c:pt idx="2">
                  <c:v>650</c:v>
                </c:pt>
                <c:pt idx="3">
                  <c:v>790</c:v>
                </c:pt>
                <c:pt idx="4">
                  <c:v>850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6F6-4082-A743-790F072AC930}"/>
            </c:ext>
          </c:extLst>
        </c:ser>
        <c:ser>
          <c:idx val="2"/>
          <c:order val="2"/>
          <c:tx>
            <c:strRef>
              <c:f>Sheet1!$D$1</c:f>
              <c:strCache>
                <c:ptCount val="1"/>
                <c:pt idx="0">
                  <c:v>PSU Training Budgets</c:v>
                </c:pt>
              </c:strCache>
            </c:strRef>
          </c:tx>
          <c:spPr>
            <a:solidFill>
              <a:srgbClr val="DBEFF9"/>
            </a:solidFill>
          </c:spPr>
          <c:invertIfNegative val="1"/>
          <c:cat>
            <c:strRef>
              <c:f>Sheet1!$A$2:$A$6</c:f>
              <c:strCache>
                <c:ptCount val="5"/>
                <c:pt idx="0">
                  <c:v>FY22</c:v>
                </c:pt>
                <c:pt idx="1">
                  <c:v>FY23</c:v>
                </c:pt>
                <c:pt idx="2">
                  <c:v>FY24</c:v>
                </c:pt>
                <c:pt idx="3">
                  <c:v>FY25</c:v>
                </c:pt>
                <c:pt idx="4">
                  <c:v>FY26E</c:v>
                </c:pt>
              </c:strCache>
            </c:strRef>
          </c:cat>
          <c:val>
            <c:numRef>
              <c:f>Sheet1!$D$2:$D$6</c:f>
              <c:numCache>
                <c:formatCode>General</c:formatCode>
                <c:ptCount val="5"/>
                <c:pt idx="0">
                  <c:v>3200</c:v>
                </c:pt>
                <c:pt idx="1">
                  <c:v>3500</c:v>
                </c:pt>
                <c:pt idx="2">
                  <c:v>3800</c:v>
                </c:pt>
                <c:pt idx="3">
                  <c:v>4000</c:v>
                </c:pt>
                <c:pt idx="4">
                  <c:v>4200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6F6-4082-A743-790F072AC930}"/>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legend>
      <c:legendPos val="b"/>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Placement Rate %</c:v>
                </c:pt>
              </c:strCache>
            </c:strRef>
          </c:tx>
          <c:spPr>
            <a:solidFill>
              <a:srgbClr val="197A56"/>
            </a:solidFill>
          </c:spPr>
          <c:invertIfNegative val="1"/>
          <c:dPt>
            <c:idx val="0"/>
            <c:invertIfNegative val="1"/>
            <c:bubble3D val="0"/>
            <c:spPr>
              <a:solidFill>
                <a:srgbClr val="D64454"/>
              </a:solidFill>
            </c:spPr>
            <c:extLst>
              <c:ext xmlns:c16="http://schemas.microsoft.com/office/drawing/2014/chart" uri="{C3380CC4-5D6E-409C-BE32-E72D297353CC}">
                <c16:uniqueId val="{00000001-E8C1-4FE8-A839-868511E82DAA}"/>
              </c:ext>
            </c:extLst>
          </c:dPt>
          <c:dPt>
            <c:idx val="1"/>
            <c:invertIfNegative val="1"/>
            <c:bubble3D val="0"/>
            <c:spPr>
              <a:solidFill>
                <a:srgbClr val="D64454"/>
              </a:solidFill>
            </c:spPr>
            <c:extLst>
              <c:ext xmlns:c16="http://schemas.microsoft.com/office/drawing/2014/chart" uri="{C3380CC4-5D6E-409C-BE32-E72D297353CC}">
                <c16:uniqueId val="{00000003-E8C1-4FE8-A839-868511E82DAA}"/>
              </c:ext>
            </c:extLst>
          </c:dPt>
          <c:dPt>
            <c:idx val="2"/>
            <c:invertIfNegative val="1"/>
            <c:bubble3D val="0"/>
            <c:spPr>
              <a:solidFill>
                <a:srgbClr val="E8850A"/>
              </a:solidFill>
            </c:spPr>
            <c:extLst>
              <c:ext xmlns:c16="http://schemas.microsoft.com/office/drawing/2014/chart" uri="{C3380CC4-5D6E-409C-BE32-E72D297353CC}">
                <c16:uniqueId val="{00000005-E8C1-4FE8-A839-868511E82DAA}"/>
              </c:ext>
            </c:extLst>
          </c:dPt>
          <c:dPt>
            <c:idx val="3"/>
            <c:invertIfNegative val="1"/>
            <c:bubble3D val="0"/>
            <c:spPr>
              <a:solidFill>
                <a:srgbClr val="1557FE"/>
              </a:solidFill>
            </c:spPr>
            <c:extLst>
              <c:ext xmlns:c16="http://schemas.microsoft.com/office/drawing/2014/chart" uri="{C3380CC4-5D6E-409C-BE32-E72D297353CC}">
                <c16:uniqueId val="{00000007-E8C1-4FE8-A839-868511E82DAA}"/>
              </c:ext>
            </c:extLst>
          </c:dPt>
          <c:cat>
            <c:strRef>
              <c:f>Sheet1!$A$2:$A$5</c:f>
              <c:strCache>
                <c:ptCount val="4"/>
                <c:pt idx="0">
                  <c:v>PMKVY 3.0 (2020–22)</c:v>
                </c:pt>
                <c:pt idx="1">
                  <c:v>PMKVY 1.0 (2015–16)</c:v>
                </c:pt>
                <c:pt idx="2">
                  <c:v>PMKVY 2.0 (2016–20)</c:v>
                </c:pt>
                <c:pt idx="3">
                  <c:v>Scaler (B2C benchmark)</c:v>
                </c:pt>
              </c:strCache>
            </c:strRef>
          </c:cat>
          <c:val>
            <c:numRef>
              <c:f>Sheet1!$B$2:$B$5</c:f>
              <c:numCache>
                <c:formatCode>General</c:formatCode>
                <c:ptCount val="4"/>
                <c:pt idx="0">
                  <c:v>0.1</c:v>
                </c:pt>
                <c:pt idx="1">
                  <c:v>0.18</c:v>
                </c:pt>
                <c:pt idx="2">
                  <c:v>0.22</c:v>
                </c:pt>
                <c:pt idx="3">
                  <c:v>0.93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E8C1-4FE8-A839-868511E82DA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scaling>
        <c:delete val="0"/>
        <c:axPos val="b"/>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Revenue / Participant (₹)</c:v>
                </c:pt>
              </c:strCache>
            </c:strRef>
          </c:tx>
          <c:spPr>
            <a:solidFill>
              <a:srgbClr val="197A56"/>
            </a:solidFill>
          </c:spPr>
          <c:invertIfNegative val="1"/>
          <c:dPt>
            <c:idx val="0"/>
            <c:invertIfNegative val="1"/>
            <c:bubble3D val="0"/>
            <c:spPr>
              <a:solidFill>
                <a:srgbClr val="6E6F73"/>
              </a:solidFill>
            </c:spPr>
            <c:extLst>
              <c:ext xmlns:c16="http://schemas.microsoft.com/office/drawing/2014/chart" uri="{C3380CC4-5D6E-409C-BE32-E72D297353CC}">
                <c16:uniqueId val="{00000001-8C57-4AD5-83D1-8D14B9D48243}"/>
              </c:ext>
            </c:extLst>
          </c:dPt>
          <c:dPt>
            <c:idx val="1"/>
            <c:invertIfNegative val="1"/>
            <c:bubble3D val="0"/>
            <c:spPr>
              <a:solidFill>
                <a:srgbClr val="4A90E2"/>
              </a:solidFill>
            </c:spPr>
            <c:extLst>
              <c:ext xmlns:c16="http://schemas.microsoft.com/office/drawing/2014/chart" uri="{C3380CC4-5D6E-409C-BE32-E72D297353CC}">
                <c16:uniqueId val="{00000003-8C57-4AD5-83D1-8D14B9D48243}"/>
              </c:ext>
            </c:extLst>
          </c:dPt>
          <c:dPt>
            <c:idx val="2"/>
            <c:invertIfNegative val="1"/>
            <c:bubble3D val="0"/>
            <c:spPr>
              <a:solidFill>
                <a:srgbClr val="0A3CB5"/>
              </a:solidFill>
            </c:spPr>
            <c:extLst>
              <c:ext xmlns:c16="http://schemas.microsoft.com/office/drawing/2014/chart" uri="{C3380CC4-5D6E-409C-BE32-E72D297353CC}">
                <c16:uniqueId val="{00000005-8C57-4AD5-83D1-8D14B9D48243}"/>
              </c:ext>
            </c:extLst>
          </c:dPt>
          <c:dPt>
            <c:idx val="3"/>
            <c:invertIfNegative val="1"/>
            <c:bubble3D val="0"/>
            <c:spPr>
              <a:solidFill>
                <a:srgbClr val="E8850A"/>
              </a:solidFill>
            </c:spPr>
            <c:extLst>
              <c:ext xmlns:c16="http://schemas.microsoft.com/office/drawing/2014/chart" uri="{C3380CC4-5D6E-409C-BE32-E72D297353CC}">
                <c16:uniqueId val="{00000007-8C57-4AD5-83D1-8D14B9D48243}"/>
              </c:ext>
            </c:extLst>
          </c:dPt>
          <c:dPt>
            <c:idx val="4"/>
            <c:invertIfNegative val="1"/>
            <c:bubble3D val="0"/>
            <c:spPr>
              <a:solidFill>
                <a:srgbClr val="1557FE"/>
              </a:solidFill>
            </c:spPr>
            <c:extLst>
              <c:ext xmlns:c16="http://schemas.microsoft.com/office/drawing/2014/chart" uri="{C3380CC4-5D6E-409C-BE32-E72D297353CC}">
                <c16:uniqueId val="{00000009-8C57-4AD5-83D1-8D14B9D48243}"/>
              </c:ext>
            </c:extLst>
          </c:dPt>
          <c:cat>
            <c:strRef>
              <c:f>Sheet1!$A$2:$A$6</c:f>
              <c:strCache>
                <c:ptCount val="5"/>
                <c:pt idx="0">
                  <c:v>State Vocational</c:v>
                </c:pt>
                <c:pt idx="1">
                  <c:v>University Partnership</c:v>
                </c:pt>
                <c:pt idx="2">
                  <c:v>Central Govt (PMKVY)</c:v>
                </c:pt>
                <c:pt idx="3">
                  <c:v>IAS Study Abroad (Analog)</c:v>
                </c:pt>
                <c:pt idx="4">
                  <c:v>PSU Direct</c:v>
                </c:pt>
              </c:strCache>
            </c:strRef>
          </c:cat>
          <c:val>
            <c:numRef>
              <c:f>Sheet1!$B$2:$B$6</c:f>
              <c:numCache>
                <c:formatCode>General</c:formatCode>
                <c:ptCount val="5"/>
                <c:pt idx="0">
                  <c:v>7500</c:v>
                </c:pt>
                <c:pt idx="1">
                  <c:v>15000</c:v>
                </c:pt>
                <c:pt idx="2">
                  <c:v>14000</c:v>
                </c:pt>
                <c:pt idx="3">
                  <c:v>320000</c:v>
                </c:pt>
                <c:pt idx="4">
                  <c:v>40000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8C57-4AD5-83D1-8D14B9D4824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scaling>
        <c:delete val="0"/>
        <c:axPos val="b"/>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Central Govt</c:v>
                </c:pt>
              </c:strCache>
            </c:strRef>
          </c:tx>
          <c:spPr>
            <a:solidFill>
              <a:srgbClr val="113052"/>
            </a:solidFill>
          </c:spPr>
          <c:invertIfNegative val="1"/>
          <c:cat>
            <c:strRef>
              <c:f>Sheet1!$A$2:$A$6</c:f>
              <c:strCache>
                <c:ptCount val="5"/>
                <c:pt idx="0">
                  <c:v>FY26</c:v>
                </c:pt>
                <c:pt idx="1">
                  <c:v>FY27</c:v>
                </c:pt>
                <c:pt idx="2">
                  <c:v>FY28</c:v>
                </c:pt>
                <c:pt idx="3">
                  <c:v>FY29</c:v>
                </c:pt>
                <c:pt idx="4">
                  <c:v>FY30</c:v>
                </c:pt>
              </c:strCache>
            </c:strRef>
          </c:cat>
          <c:val>
            <c:numRef>
              <c:f>Sheet1!$B$2:$B$6</c:f>
              <c:numCache>
                <c:formatCode>General</c:formatCode>
                <c:ptCount val="5"/>
                <c:pt idx="0">
                  <c:v>1.6</c:v>
                </c:pt>
                <c:pt idx="1">
                  <c:v>5</c:v>
                </c:pt>
                <c:pt idx="2">
                  <c:v>14</c:v>
                </c:pt>
                <c:pt idx="3">
                  <c:v>26.6</c:v>
                </c:pt>
                <c:pt idx="4">
                  <c:v>46.8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77D-4CCA-AD2C-6D77186C657A}"/>
            </c:ext>
          </c:extLst>
        </c:ser>
        <c:ser>
          <c:idx val="1"/>
          <c:order val="1"/>
          <c:tx>
            <c:strRef>
              <c:f>Sheet1!$C$1</c:f>
              <c:strCache>
                <c:ptCount val="1"/>
                <c:pt idx="0">
                  <c:v>PSU</c:v>
                </c:pt>
              </c:strCache>
            </c:strRef>
          </c:tx>
          <c:spPr>
            <a:solidFill>
              <a:srgbClr val="448AD7"/>
            </a:solidFill>
          </c:spPr>
          <c:invertIfNegative val="1"/>
          <c:cat>
            <c:strRef>
              <c:f>Sheet1!$A$2:$A$6</c:f>
              <c:strCache>
                <c:ptCount val="5"/>
                <c:pt idx="0">
                  <c:v>FY26</c:v>
                </c:pt>
                <c:pt idx="1">
                  <c:v>FY27</c:v>
                </c:pt>
                <c:pt idx="2">
                  <c:v>FY28</c:v>
                </c:pt>
                <c:pt idx="3">
                  <c:v>FY29</c:v>
                </c:pt>
                <c:pt idx="4">
                  <c:v>FY30</c:v>
                </c:pt>
              </c:strCache>
            </c:strRef>
          </c:cat>
          <c:val>
            <c:numRef>
              <c:f>Sheet1!$C$2:$C$6</c:f>
              <c:numCache>
                <c:formatCode>General</c:formatCode>
                <c:ptCount val="5"/>
                <c:pt idx="0">
                  <c:v>0.4</c:v>
                </c:pt>
                <c:pt idx="1">
                  <c:v>2.8</c:v>
                </c:pt>
                <c:pt idx="2">
                  <c:v>8.4</c:v>
                </c:pt>
                <c:pt idx="3">
                  <c:v>16.8</c:v>
                </c:pt>
                <c:pt idx="4">
                  <c:v>27.5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77D-4CCA-AD2C-6D77186C657A}"/>
            </c:ext>
          </c:extLst>
        </c:ser>
        <c:ser>
          <c:idx val="2"/>
          <c:order val="2"/>
          <c:tx>
            <c:strRef>
              <c:f>Sheet1!$D$1</c:f>
              <c:strCache>
                <c:ptCount val="1"/>
                <c:pt idx="0">
                  <c:v>State Govt</c:v>
                </c:pt>
              </c:strCache>
            </c:strRef>
          </c:tx>
          <c:spPr>
            <a:solidFill>
              <a:srgbClr val="82B1E5"/>
            </a:solidFill>
          </c:spPr>
          <c:invertIfNegative val="1"/>
          <c:cat>
            <c:strRef>
              <c:f>Sheet1!$A$2:$A$6</c:f>
              <c:strCache>
                <c:ptCount val="5"/>
                <c:pt idx="0">
                  <c:v>FY26</c:v>
                </c:pt>
                <c:pt idx="1">
                  <c:v>FY27</c:v>
                </c:pt>
                <c:pt idx="2">
                  <c:v>FY28</c:v>
                </c:pt>
                <c:pt idx="3">
                  <c:v>FY29</c:v>
                </c:pt>
                <c:pt idx="4">
                  <c:v>FY30</c:v>
                </c:pt>
              </c:strCache>
            </c:strRef>
          </c:cat>
          <c:val>
            <c:numRef>
              <c:f>Sheet1!$D$2:$D$6</c:f>
              <c:numCache>
                <c:formatCode>General</c:formatCode>
                <c:ptCount val="5"/>
                <c:pt idx="0">
                  <c:v>0</c:v>
                </c:pt>
                <c:pt idx="1">
                  <c:v>0.7</c:v>
                </c:pt>
                <c:pt idx="2">
                  <c:v>2</c:v>
                </c:pt>
                <c:pt idx="3">
                  <c:v>3.1</c:v>
                </c:pt>
                <c:pt idx="4">
                  <c:v>9.6999999999999993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77D-4CCA-AD2C-6D77186C657A}"/>
            </c:ext>
          </c:extLst>
        </c:ser>
        <c:ser>
          <c:idx val="3"/>
          <c:order val="3"/>
          <c:tx>
            <c:strRef>
              <c:f>Sheet1!$E$1</c:f>
              <c:strCache>
                <c:ptCount val="1"/>
                <c:pt idx="0">
                  <c:v>University</c:v>
                </c:pt>
              </c:strCache>
            </c:strRef>
          </c:tx>
          <c:spPr>
            <a:solidFill>
              <a:srgbClr val="DBEFF9"/>
            </a:solidFill>
          </c:spPr>
          <c:invertIfNegative val="1"/>
          <c:cat>
            <c:strRef>
              <c:f>Sheet1!$A$2:$A$6</c:f>
              <c:strCache>
                <c:ptCount val="5"/>
                <c:pt idx="0">
                  <c:v>FY26</c:v>
                </c:pt>
                <c:pt idx="1">
                  <c:v>FY27</c:v>
                </c:pt>
                <c:pt idx="2">
                  <c:v>FY28</c:v>
                </c:pt>
                <c:pt idx="3">
                  <c:v>FY29</c:v>
                </c:pt>
                <c:pt idx="4">
                  <c:v>FY30</c:v>
                </c:pt>
              </c:strCache>
            </c:strRef>
          </c:cat>
          <c:val>
            <c:numRef>
              <c:f>Sheet1!$E$2:$E$6</c:f>
              <c:numCache>
                <c:formatCode>General</c:formatCode>
                <c:ptCount val="5"/>
                <c:pt idx="0">
                  <c:v>0.3</c:v>
                </c:pt>
                <c:pt idx="1">
                  <c:v>0.5</c:v>
                </c:pt>
                <c:pt idx="2">
                  <c:v>1.3</c:v>
                </c:pt>
                <c:pt idx="3">
                  <c:v>2.5</c:v>
                </c:pt>
                <c:pt idx="4">
                  <c:v>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477D-4CCA-AD2C-6D77186C657A}"/>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scaling>
        <c:delete val="0"/>
        <c:axPos val="l"/>
        <c:numFmt formatCode="\₹#,##0.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legend>
      <c:legendPos val="b"/>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4/28/2026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4/28/2026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4.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6.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solidFill>
            <a:srgbClr val="0041C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032" name="Picture 8" descr="The guidance and structure of Scaler Academy was exactly what I needed in  my journey. - Scaler">
            <a:extLst>
              <a:ext uri="{FF2B5EF4-FFF2-40B4-BE49-F238E27FC236}">
                <a16:creationId xmlns:a16="http://schemas.microsoft.com/office/drawing/2014/main" id="{12DB7649-7DC7-0D96-39DD-5A0DC22AA068}"/>
              </a:ext>
            </a:extLst>
          </p:cNvPr>
          <p:cNvPicPr>
            <a:picLocks noChangeAspect="1" noChangeArrowheads="1"/>
          </p:cNvPicPr>
          <p:nvPr userDrawn="1"/>
        </p:nvPicPr>
        <p:blipFill>
          <a:blip r:embed="rId9">
            <a:clrChange>
              <a:clrFrom>
                <a:srgbClr val="0041C7"/>
              </a:clrFrom>
              <a:clrTo>
                <a:srgbClr val="0041C7">
                  <a:alpha val="0"/>
                </a:srgbClr>
              </a:clrTo>
            </a:clrChange>
            <a:extLst>
              <a:ext uri="{28A0092B-C50C-407E-A947-70E740481C1C}">
                <a14:useLocalDpi xmlns:a14="http://schemas.microsoft.com/office/drawing/2010/main" val="0"/>
              </a:ext>
            </a:extLst>
          </a:blip>
          <a:srcRect/>
          <a:stretch>
            <a:fillRect/>
          </a:stretch>
        </p:blipFill>
        <p:spPr bwMode="auto">
          <a:xfrm>
            <a:off x="437568" y="167745"/>
            <a:ext cx="1602052" cy="141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endParaRPr lang="en-US" sz="1200" dirty="0">
              <a:solidFill>
                <a:schemeClr val="bg1"/>
              </a:solidFill>
              <a:latin typeface="+mn-lt"/>
              <a:sym typeface="Trebuchet MS" panose="020B0603020202020204" pitchFamily="34" charset="0"/>
            </a:endParaRPr>
          </a:p>
        </p:txBody>
      </p:sp>
      <p:pic>
        <p:nvPicPr>
          <p:cNvPr id="2050" name="Picture 2" descr="The guidance and structure of Scaler Academy was exactly what I needed in  my journey. - Scaler">
            <a:extLst>
              <a:ext uri="{FF2B5EF4-FFF2-40B4-BE49-F238E27FC236}">
                <a16:creationId xmlns:a16="http://schemas.microsoft.com/office/drawing/2014/main" id="{AE1A293D-C5FD-6214-92FE-A42CA8B39ADA}"/>
              </a:ext>
            </a:extLst>
          </p:cNvPr>
          <p:cNvPicPr>
            <a:picLocks noChangeAspect="1" noChangeArrowheads="1"/>
          </p:cNvPicPr>
          <p:nvPr userDrawn="1"/>
        </p:nvPicPr>
        <p:blipFill>
          <a:blip r:embed="rId7">
            <a:clrChange>
              <a:clrFrom>
                <a:srgbClr val="0041C7"/>
              </a:clrFrom>
              <a:clrTo>
                <a:srgbClr val="0041C7">
                  <a:alpha val="0"/>
                </a:srgbClr>
              </a:clrTo>
            </a:clrChange>
            <a:extLst>
              <a:ext uri="{28A0092B-C50C-407E-A947-70E740481C1C}">
                <a14:useLocalDpi xmlns:a14="http://schemas.microsoft.com/office/drawing/2010/main" val="0"/>
              </a:ext>
            </a:extLst>
          </a:blip>
          <a:srcRect/>
          <a:stretch>
            <a:fillRect/>
          </a:stretch>
        </p:blipFill>
        <p:spPr bwMode="auto">
          <a:xfrm>
            <a:off x="1752233" y="1076503"/>
            <a:ext cx="5257800" cy="4638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0.xml"/><Relationship Id="rId1" Type="http://schemas.openxmlformats.org/officeDocument/2006/relationships/tags" Target="../tags/tag31.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0.xml"/><Relationship Id="rId1" Type="http://schemas.openxmlformats.org/officeDocument/2006/relationships/tags" Target="../tags/tag32.xml"/><Relationship Id="rId5" Type="http://schemas.openxmlformats.org/officeDocument/2006/relationships/chart" Target="../charts/chart1.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30.xml"/><Relationship Id="rId1" Type="http://schemas.openxmlformats.org/officeDocument/2006/relationships/tags" Target="../tags/tag33.xml"/><Relationship Id="rId5" Type="http://schemas.openxmlformats.org/officeDocument/2006/relationships/chart" Target="../charts/chart2.xml"/><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0.xml"/><Relationship Id="rId1" Type="http://schemas.openxmlformats.org/officeDocument/2006/relationships/tags" Target="../tags/tag34.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21.bin"/><Relationship Id="rId7" Type="http://schemas.openxmlformats.org/officeDocument/2006/relationships/image" Target="../media/image14.png"/><Relationship Id="rId2" Type="http://schemas.openxmlformats.org/officeDocument/2006/relationships/slideLayout" Target="../slideLayouts/slideLayout30.xml"/><Relationship Id="rId1" Type="http://schemas.openxmlformats.org/officeDocument/2006/relationships/tags" Target="../tags/tag3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emf"/><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36.xml"/><Relationship Id="rId1" Type="http://schemas.openxmlformats.org/officeDocument/2006/relationships/tags" Target="../tags/tag36.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30.xml"/><Relationship Id="rId1" Type="http://schemas.openxmlformats.org/officeDocument/2006/relationships/tags" Target="../tags/tag37.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0.xml"/><Relationship Id="rId1" Type="http://schemas.openxmlformats.org/officeDocument/2006/relationships/tags" Target="../tags/tag38.xml"/><Relationship Id="rId5" Type="http://schemas.openxmlformats.org/officeDocument/2006/relationships/chart" Target="../charts/chart3.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30.xml"/><Relationship Id="rId1" Type="http://schemas.openxmlformats.org/officeDocument/2006/relationships/tags" Target="../tags/tag39.xml"/><Relationship Id="rId5" Type="http://schemas.openxmlformats.org/officeDocument/2006/relationships/chart" Target="../charts/chart4.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30.xml"/><Relationship Id="rId1" Type="http://schemas.openxmlformats.org/officeDocument/2006/relationships/tags" Target="../tags/tag40.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5.xml"/><Relationship Id="rId1" Type="http://schemas.openxmlformats.org/officeDocument/2006/relationships/tags" Target="../tags/tag41.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30.xml"/><Relationship Id="rId1" Type="http://schemas.openxmlformats.org/officeDocument/2006/relationships/tags" Target="../tags/tag42.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75A4B3B-307B-38A2-2F28-8F265685DAFE}"/>
              </a:ext>
            </a:extLst>
          </p:cNvPr>
          <p:cNvGraphicFramePr>
            <a:graphicFrameLocks noChangeAspect="1"/>
          </p:cNvGraphicFramePr>
          <p:nvPr>
            <p:custDataLst>
              <p:tags r:id="rId1"/>
            </p:custDataLst>
            <p:extLst>
              <p:ext uri="{D42A27DB-BD31-4B8C-83A1-F6EECF244321}">
                <p14:modId xmlns:p14="http://schemas.microsoft.com/office/powerpoint/2010/main" val="3742401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1" name="ph_ctrTitle"/>
          <p:cNvSpPr>
            <a:spLocks noGrp="1"/>
          </p:cNvSpPr>
          <p:nvPr>
            <p:ph type="ctrTitle"/>
          </p:nvPr>
        </p:nvSpPr>
        <p:spPr/>
        <p:txBody>
          <a:bodyPr vert="horz"/>
          <a:lstStyle/>
          <a:p>
            <a:r>
              <a:rPr lang="en-US" dirty="0"/>
              <a:t>Scaler B2G Expansion  |  Should We Enter?</a:t>
            </a:r>
          </a:p>
        </p:txBody>
      </p:sp>
      <p:sp>
        <p:nvSpPr>
          <p:cNvPr id="102" name="ph_subTitle"/>
          <p:cNvSpPr>
            <a:spLocks noGrp="1"/>
          </p:cNvSpPr>
          <p:nvPr>
            <p:ph type="subTitle" idx="1"/>
          </p:nvPr>
        </p:nvSpPr>
        <p:spPr/>
        <p:txBody>
          <a:bodyPr/>
          <a:lstStyle/>
          <a:p>
            <a:r>
              <a:rPr lang="en-US" dirty="0"/>
              <a:t>A Strategic &amp; Financial Assessment for the CEO</a:t>
            </a:r>
            <a:br>
              <a:rPr dirty="0"/>
            </a:br>
            <a:r>
              <a:rPr lang="en-US" dirty="0"/>
              <a:t>April 2026  |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EC28411-7C1F-3407-8130-059327B8330C}"/>
              </a:ext>
            </a:extLst>
          </p:cNvPr>
          <p:cNvGraphicFramePr>
            <a:graphicFrameLocks noChangeAspect="1"/>
          </p:cNvGraphicFramePr>
          <p:nvPr>
            <p:custDataLst>
              <p:tags r:id="rId1"/>
            </p:custDataLst>
            <p:extLst>
              <p:ext uri="{D42A27DB-BD31-4B8C-83A1-F6EECF244321}">
                <p14:modId xmlns:p14="http://schemas.microsoft.com/office/powerpoint/2010/main" val="4002760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3" name="ph_title"/>
          <p:cNvSpPr>
            <a:spLocks noGrp="1"/>
          </p:cNvSpPr>
          <p:nvPr>
            <p:ph type="title"/>
          </p:nvPr>
        </p:nvSpPr>
        <p:spPr>
          <a:xfrm>
            <a:off x="630000" y="622800"/>
            <a:ext cx="10933350" cy="664797"/>
          </a:xfrm>
        </p:spPr>
        <p:txBody>
          <a:bodyPr vert="horz"/>
          <a:lstStyle/>
          <a:p>
            <a:r>
              <a:rPr lang="en-US" dirty="0"/>
              <a:t>Scaler should enter B2G now — the PSU &amp; Central Govt tech-skilling window is open</a:t>
            </a:r>
          </a:p>
        </p:txBody>
      </p:sp>
      <p:sp>
        <p:nvSpPr>
          <p:cNvPr id="104" name="TB104"/>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CAG Report No. 20/2025; MSDE; MeitY/PIB; IndiaAI Mission; Careers360; The Federal; IndiaSpend; Bodhi analysis;</a:t>
            </a:r>
          </a:p>
        </p:txBody>
      </p:sp>
      <p:sp>
        <p:nvSpPr>
          <p:cNvPr id="105" name="RR105"/>
          <p:cNvSpPr/>
          <p:nvPr/>
        </p:nvSpPr>
        <p:spPr>
          <a:xfrm>
            <a:off x="630936" y="2075688"/>
            <a:ext cx="10936224" cy="738378"/>
          </a:xfrm>
          <a:prstGeom prst="roundRect">
            <a:avLst>
              <a:gd name="adj" fmla="val 5000"/>
            </a:avLst>
          </a:prstGeom>
          <a:solidFill>
            <a:srgbClr val="061A6E"/>
          </a:solidFill>
          <a:ln>
            <a:noFill/>
          </a:ln>
        </p:spPr>
        <p:txBody>
          <a:bodyPr/>
          <a:lstStyle/>
          <a:p>
            <a:endParaRPr lang="en-US"/>
          </a:p>
        </p:txBody>
      </p:sp>
      <p:sp>
        <p:nvSpPr>
          <p:cNvPr id="106" name="RR106"/>
          <p:cNvSpPr/>
          <p:nvPr/>
        </p:nvSpPr>
        <p:spPr>
          <a:xfrm>
            <a:off x="768096" y="2167128"/>
            <a:ext cx="1051560" cy="219456"/>
          </a:xfrm>
          <a:prstGeom prst="roundRect">
            <a:avLst>
              <a:gd name="adj" fmla="val 10000"/>
            </a:avLst>
          </a:prstGeom>
          <a:solidFill>
            <a:srgbClr val="FFFFFF"/>
          </a:solidFill>
          <a:ln>
            <a:noFill/>
          </a:ln>
        </p:spPr>
        <p:txBody>
          <a:bodyPr/>
          <a:lstStyle/>
          <a:p>
            <a:endParaRPr lang="en-US"/>
          </a:p>
        </p:txBody>
      </p:sp>
      <p:sp>
        <p:nvSpPr>
          <p:cNvPr id="107" name="TB107"/>
          <p:cNvSpPr txBox="1"/>
          <p:nvPr/>
        </p:nvSpPr>
        <p:spPr>
          <a:xfrm>
            <a:off x="768096" y="2167128"/>
            <a:ext cx="1051560" cy="219456"/>
          </a:xfrm>
          <a:prstGeom prst="rect">
            <a:avLst/>
          </a:prstGeom>
          <a:noFill/>
        </p:spPr>
        <p:txBody>
          <a:bodyPr wrap="square" rtlCol="0" anchor="ctr"/>
          <a:lstStyle/>
          <a:p>
            <a:pPr algn="ctr"/>
            <a:r>
              <a:rPr lang="en-US" sz="1000" b="1" dirty="0">
                <a:solidFill>
                  <a:srgbClr val="061A6E"/>
                </a:solidFill>
                <a:latin typeface="Trebuchet MS"/>
              </a:rPr>
              <a:t>Context</a:t>
            </a:r>
          </a:p>
        </p:txBody>
      </p:sp>
      <p:sp>
        <p:nvSpPr>
          <p:cNvPr id="108" name="TB108"/>
          <p:cNvSpPr txBox="1"/>
          <p:nvPr/>
        </p:nvSpPr>
        <p:spPr>
          <a:xfrm>
            <a:off x="1956815" y="2148840"/>
            <a:ext cx="9473184" cy="592074"/>
          </a:xfrm>
          <a:prstGeom prst="rect">
            <a:avLst/>
          </a:prstGeom>
          <a:noFill/>
        </p:spPr>
        <p:txBody>
          <a:bodyPr wrap="square" rtlCol="0" anchor="ctr"/>
          <a:lstStyle/>
          <a:p>
            <a:r>
              <a:rPr lang="en-US" sz="1400" dirty="0">
                <a:solidFill>
                  <a:srgbClr val="FFFFFF"/>
                </a:solidFill>
                <a:latin typeface="Trebuchet MS"/>
              </a:rPr>
              <a:t>Scaler has built India's most credible tech-outcomes engine — 93% placement, ₹10+ LPA median salary, curriculum that mirrors what FAANG and PSU IT teams hire for.</a:t>
            </a:r>
          </a:p>
        </p:txBody>
      </p:sp>
      <p:sp>
        <p:nvSpPr>
          <p:cNvPr id="109" name="RR109"/>
          <p:cNvSpPr/>
          <p:nvPr/>
        </p:nvSpPr>
        <p:spPr>
          <a:xfrm>
            <a:off x="630936" y="2923794"/>
            <a:ext cx="10936224" cy="738378"/>
          </a:xfrm>
          <a:prstGeom prst="roundRect">
            <a:avLst>
              <a:gd name="adj" fmla="val 5000"/>
            </a:avLst>
          </a:prstGeom>
          <a:solidFill>
            <a:srgbClr val="0A3CB5"/>
          </a:solidFill>
          <a:ln>
            <a:noFill/>
          </a:ln>
        </p:spPr>
        <p:txBody>
          <a:bodyPr/>
          <a:lstStyle/>
          <a:p>
            <a:endParaRPr lang="en-US"/>
          </a:p>
        </p:txBody>
      </p:sp>
      <p:sp>
        <p:nvSpPr>
          <p:cNvPr id="110" name="RR110"/>
          <p:cNvSpPr/>
          <p:nvPr/>
        </p:nvSpPr>
        <p:spPr>
          <a:xfrm>
            <a:off x="768096" y="3015234"/>
            <a:ext cx="1051560" cy="219456"/>
          </a:xfrm>
          <a:prstGeom prst="roundRect">
            <a:avLst>
              <a:gd name="adj" fmla="val 10000"/>
            </a:avLst>
          </a:prstGeom>
          <a:solidFill>
            <a:srgbClr val="FFFFFF"/>
          </a:solidFill>
          <a:ln>
            <a:noFill/>
          </a:ln>
        </p:spPr>
        <p:txBody>
          <a:bodyPr/>
          <a:lstStyle/>
          <a:p>
            <a:endParaRPr lang="en-US"/>
          </a:p>
        </p:txBody>
      </p:sp>
      <p:sp>
        <p:nvSpPr>
          <p:cNvPr id="111" name="TB111"/>
          <p:cNvSpPr txBox="1"/>
          <p:nvPr/>
        </p:nvSpPr>
        <p:spPr>
          <a:xfrm>
            <a:off x="768096" y="3015234"/>
            <a:ext cx="1051560" cy="219456"/>
          </a:xfrm>
          <a:prstGeom prst="rect">
            <a:avLst/>
          </a:prstGeom>
          <a:noFill/>
        </p:spPr>
        <p:txBody>
          <a:bodyPr wrap="square" rtlCol="0" anchor="ctr"/>
          <a:lstStyle/>
          <a:p>
            <a:pPr algn="ctr"/>
            <a:r>
              <a:rPr lang="en-US" sz="1000" b="1" dirty="0">
                <a:solidFill>
                  <a:srgbClr val="0A3CB5"/>
                </a:solidFill>
                <a:latin typeface="Trebuchet MS"/>
              </a:rPr>
              <a:t>The Shift</a:t>
            </a:r>
          </a:p>
        </p:txBody>
      </p:sp>
      <p:sp>
        <p:nvSpPr>
          <p:cNvPr id="112" name="TB112"/>
          <p:cNvSpPr txBox="1"/>
          <p:nvPr/>
        </p:nvSpPr>
        <p:spPr>
          <a:xfrm>
            <a:off x="1956815" y="2996946"/>
            <a:ext cx="9473184" cy="592074"/>
          </a:xfrm>
          <a:prstGeom prst="rect">
            <a:avLst/>
          </a:prstGeom>
          <a:noFill/>
        </p:spPr>
        <p:txBody>
          <a:bodyPr wrap="square" rtlCol="0" anchor="ctr"/>
          <a:lstStyle/>
          <a:p>
            <a:r>
              <a:rPr lang="en-US" sz="1400" dirty="0">
                <a:solidFill>
                  <a:srgbClr val="FFFFFF"/>
                </a:solidFill>
                <a:latin typeface="Trebuchet MS"/>
              </a:rPr>
              <a:t>B2C growth compresses as ed-tech consolidates. The ₹8,650 Cr government skilling market is pivoting from volume headcounts to outcome-linked tech programs — validated by CAG audits, ₹38,746 Cr budget allocation, and PMKVY 5.0 redesign.</a:t>
            </a:r>
          </a:p>
        </p:txBody>
      </p:sp>
      <p:sp>
        <p:nvSpPr>
          <p:cNvPr id="113" name="RR113"/>
          <p:cNvSpPr/>
          <p:nvPr/>
        </p:nvSpPr>
        <p:spPr>
          <a:xfrm>
            <a:off x="630936" y="3771900"/>
            <a:ext cx="10936224" cy="738378"/>
          </a:xfrm>
          <a:prstGeom prst="roundRect">
            <a:avLst>
              <a:gd name="adj" fmla="val 5000"/>
            </a:avLst>
          </a:prstGeom>
          <a:solidFill>
            <a:srgbClr val="4A90E2"/>
          </a:solidFill>
          <a:ln>
            <a:noFill/>
          </a:ln>
        </p:spPr>
        <p:txBody>
          <a:bodyPr/>
          <a:lstStyle/>
          <a:p>
            <a:endParaRPr lang="en-US"/>
          </a:p>
        </p:txBody>
      </p:sp>
      <p:sp>
        <p:nvSpPr>
          <p:cNvPr id="114" name="RR114"/>
          <p:cNvSpPr/>
          <p:nvPr/>
        </p:nvSpPr>
        <p:spPr>
          <a:xfrm>
            <a:off x="768096" y="3863339"/>
            <a:ext cx="1051560" cy="219456"/>
          </a:xfrm>
          <a:prstGeom prst="roundRect">
            <a:avLst>
              <a:gd name="adj" fmla="val 10000"/>
            </a:avLst>
          </a:prstGeom>
          <a:solidFill>
            <a:srgbClr val="FFFFFF"/>
          </a:solidFill>
          <a:ln>
            <a:noFill/>
          </a:ln>
        </p:spPr>
        <p:txBody>
          <a:bodyPr/>
          <a:lstStyle/>
          <a:p>
            <a:endParaRPr lang="en-US"/>
          </a:p>
        </p:txBody>
      </p:sp>
      <p:sp>
        <p:nvSpPr>
          <p:cNvPr id="115" name="TB115"/>
          <p:cNvSpPr txBox="1"/>
          <p:nvPr/>
        </p:nvSpPr>
        <p:spPr>
          <a:xfrm>
            <a:off x="768096" y="3863339"/>
            <a:ext cx="1051560" cy="219456"/>
          </a:xfrm>
          <a:prstGeom prst="rect">
            <a:avLst/>
          </a:prstGeom>
          <a:noFill/>
        </p:spPr>
        <p:txBody>
          <a:bodyPr wrap="square" rtlCol="0" anchor="ctr"/>
          <a:lstStyle/>
          <a:p>
            <a:pPr algn="ctr"/>
            <a:r>
              <a:rPr lang="en-US" sz="1000" b="1" dirty="0">
                <a:solidFill>
                  <a:srgbClr val="4A90E2"/>
                </a:solidFill>
                <a:latin typeface="Trebuchet MS"/>
              </a:rPr>
              <a:t>The Question</a:t>
            </a:r>
          </a:p>
        </p:txBody>
      </p:sp>
      <p:sp>
        <p:nvSpPr>
          <p:cNvPr id="116" name="TB116"/>
          <p:cNvSpPr txBox="1"/>
          <p:nvPr/>
        </p:nvSpPr>
        <p:spPr>
          <a:xfrm>
            <a:off x="1956815" y="3845052"/>
            <a:ext cx="9473184" cy="592074"/>
          </a:xfrm>
          <a:prstGeom prst="rect">
            <a:avLst/>
          </a:prstGeom>
          <a:noFill/>
        </p:spPr>
        <p:txBody>
          <a:bodyPr wrap="square" rtlCol="0" anchor="ctr"/>
          <a:lstStyle/>
          <a:p>
            <a:r>
              <a:rPr lang="en-US" sz="1400" dirty="0">
                <a:solidFill>
                  <a:srgbClr val="FFFFFF"/>
                </a:solidFill>
                <a:latin typeface="Trebuchet MS"/>
              </a:rPr>
              <a:t>Should Scaler enter B2G — and if so, which segment, what business model, and what financial return justifies the investment and distraction cost?</a:t>
            </a:r>
          </a:p>
        </p:txBody>
      </p:sp>
      <p:sp>
        <p:nvSpPr>
          <p:cNvPr id="117" name="RR117"/>
          <p:cNvSpPr/>
          <p:nvPr/>
        </p:nvSpPr>
        <p:spPr>
          <a:xfrm>
            <a:off x="630936" y="4620006"/>
            <a:ext cx="10936224" cy="738378"/>
          </a:xfrm>
          <a:prstGeom prst="roundRect">
            <a:avLst>
              <a:gd name="adj" fmla="val 5000"/>
            </a:avLst>
          </a:prstGeom>
          <a:solidFill>
            <a:srgbClr val="1557FE"/>
          </a:solidFill>
          <a:ln>
            <a:noFill/>
          </a:ln>
        </p:spPr>
        <p:txBody>
          <a:bodyPr/>
          <a:lstStyle/>
          <a:p>
            <a:endParaRPr lang="en-US"/>
          </a:p>
        </p:txBody>
      </p:sp>
      <p:sp>
        <p:nvSpPr>
          <p:cNvPr id="118" name="RR118"/>
          <p:cNvSpPr/>
          <p:nvPr/>
        </p:nvSpPr>
        <p:spPr>
          <a:xfrm>
            <a:off x="768096" y="4711446"/>
            <a:ext cx="1051560" cy="219456"/>
          </a:xfrm>
          <a:prstGeom prst="roundRect">
            <a:avLst>
              <a:gd name="adj" fmla="val 10000"/>
            </a:avLst>
          </a:prstGeom>
          <a:solidFill>
            <a:srgbClr val="FFFFFF"/>
          </a:solidFill>
          <a:ln>
            <a:noFill/>
          </a:ln>
        </p:spPr>
        <p:txBody>
          <a:bodyPr/>
          <a:lstStyle/>
          <a:p>
            <a:endParaRPr lang="en-US"/>
          </a:p>
        </p:txBody>
      </p:sp>
      <p:sp>
        <p:nvSpPr>
          <p:cNvPr id="119" name="TB119"/>
          <p:cNvSpPr txBox="1"/>
          <p:nvPr/>
        </p:nvSpPr>
        <p:spPr>
          <a:xfrm>
            <a:off x="768096" y="4711446"/>
            <a:ext cx="1051560" cy="219456"/>
          </a:xfrm>
          <a:prstGeom prst="rect">
            <a:avLst/>
          </a:prstGeom>
          <a:noFill/>
        </p:spPr>
        <p:txBody>
          <a:bodyPr wrap="square" rtlCol="0" anchor="ctr"/>
          <a:lstStyle/>
          <a:p>
            <a:pPr algn="ctr"/>
            <a:r>
              <a:rPr lang="en-US" sz="1000" b="1" dirty="0">
                <a:solidFill>
                  <a:srgbClr val="1557FE"/>
                </a:solidFill>
                <a:latin typeface="Trebuchet MS"/>
              </a:rPr>
              <a:t>Our Answer</a:t>
            </a:r>
          </a:p>
        </p:txBody>
      </p:sp>
      <p:sp>
        <p:nvSpPr>
          <p:cNvPr id="120" name="TB120"/>
          <p:cNvSpPr txBox="1"/>
          <p:nvPr/>
        </p:nvSpPr>
        <p:spPr>
          <a:xfrm>
            <a:off x="1956815" y="4693158"/>
            <a:ext cx="9473184" cy="592074"/>
          </a:xfrm>
          <a:prstGeom prst="rect">
            <a:avLst/>
          </a:prstGeom>
          <a:noFill/>
        </p:spPr>
        <p:txBody>
          <a:bodyPr wrap="square" rtlCol="0" anchor="ctr"/>
          <a:lstStyle/>
          <a:p>
            <a:r>
              <a:rPr lang="en-US" sz="1400" dirty="0">
                <a:solidFill>
                  <a:srgbClr val="FFFFFF"/>
                </a:solidFill>
                <a:latin typeface="Trebuchet MS"/>
              </a:rPr>
              <a:t>Enter B2G. Target PSU upskilling + Central Govt digital programs. Skip mass vocational. ₹93 Cr revenue by FY30. EBITDA positive FY27. ₹360 Cr enterprise value at median ed-tech multiples.</a:t>
            </a:r>
          </a:p>
        </p:txBody>
      </p:sp>
      <p:sp>
        <p:nvSpPr>
          <p:cNvPr id="121" name="RR121"/>
          <p:cNvSpPr/>
          <p:nvPr/>
        </p:nvSpPr>
        <p:spPr>
          <a:xfrm>
            <a:off x="630936" y="5468112"/>
            <a:ext cx="10936224" cy="475488"/>
          </a:xfrm>
          <a:prstGeom prst="roundRect">
            <a:avLst>
              <a:gd name="adj" fmla="val 5000"/>
            </a:avLst>
          </a:prstGeom>
          <a:solidFill>
            <a:srgbClr val="EEF3FF"/>
          </a:solidFill>
          <a:ln w="25400">
            <a:solidFill>
              <a:srgbClr val="1557FE"/>
            </a:solidFill>
          </a:ln>
        </p:spPr>
        <p:txBody>
          <a:bodyPr/>
          <a:lstStyle/>
          <a:p>
            <a:endParaRPr lang="en-US"/>
          </a:p>
        </p:txBody>
      </p:sp>
      <p:sp>
        <p:nvSpPr>
          <p:cNvPr id="122" name="TB122"/>
          <p:cNvSpPr txBox="1"/>
          <p:nvPr/>
        </p:nvSpPr>
        <p:spPr>
          <a:xfrm>
            <a:off x="813815" y="5468112"/>
            <a:ext cx="10570464" cy="475488"/>
          </a:xfrm>
          <a:prstGeom prst="rect">
            <a:avLst/>
          </a:prstGeom>
          <a:noFill/>
        </p:spPr>
        <p:txBody>
          <a:bodyPr wrap="square" rtlCol="0" anchor="ctr"/>
          <a:lstStyle/>
          <a:p>
            <a:r>
              <a:rPr lang="en-US" sz="1200" b="1" dirty="0">
                <a:solidFill>
                  <a:srgbClr val="1557FE"/>
                </a:solidFill>
                <a:latin typeface="Trebuchet MS"/>
              </a:rPr>
              <a:t>Decision ask: </a:t>
            </a:r>
            <a:r>
              <a:rPr lang="en-US" sz="1200" dirty="0">
                <a:solidFill>
                  <a:srgbClr val="575757"/>
                </a:solidFill>
                <a:latin typeface="Trebuchet MS"/>
              </a:rPr>
              <a:t>Approve ₹3.5 Cr seed investment and an 11-person B2G team. Gate at Month 12: 3 signed contracts = proceed to scale; else pivot.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E832998-F572-9D38-E8C6-A3823ED2C34E}"/>
              </a:ext>
            </a:extLst>
          </p:cNvPr>
          <p:cNvGraphicFramePr>
            <a:graphicFrameLocks noChangeAspect="1"/>
          </p:cNvGraphicFramePr>
          <p:nvPr>
            <p:custDataLst>
              <p:tags r:id="rId1"/>
            </p:custDataLst>
            <p:extLst>
              <p:ext uri="{D42A27DB-BD31-4B8C-83A1-F6EECF244321}">
                <p14:modId xmlns:p14="http://schemas.microsoft.com/office/powerpoint/2010/main" val="295668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3" name="ph_title"/>
          <p:cNvSpPr>
            <a:spLocks noGrp="1"/>
          </p:cNvSpPr>
          <p:nvPr>
            <p:ph type="title"/>
          </p:nvPr>
        </p:nvSpPr>
        <p:spPr>
          <a:xfrm>
            <a:off x="630000" y="622800"/>
            <a:ext cx="10933350" cy="664797"/>
          </a:xfrm>
        </p:spPr>
        <p:txBody>
          <a:bodyPr vert="horz"/>
          <a:lstStyle/>
          <a:p>
            <a:r>
              <a:rPr lang="en-US" dirty="0"/>
              <a:t>India's ₹8,650 Cr govt skilling market is real — and 2026 has broken it wide open</a:t>
            </a:r>
          </a:p>
        </p:txBody>
      </p:sp>
      <p:sp>
        <p:nvSpPr>
          <p:cNvPr id="124" name="TB124"/>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MSDE Budget FY26; MeitY; IndiaAI Mission PIB; DPE; Bodhi analysis;</a:t>
            </a:r>
          </a:p>
        </p:txBody>
      </p:sp>
      <p:sp>
        <p:nvSpPr>
          <p:cNvPr id="125" name="RR125"/>
          <p:cNvSpPr/>
          <p:nvPr/>
        </p:nvSpPr>
        <p:spPr>
          <a:xfrm>
            <a:off x="630936" y="4456236"/>
            <a:ext cx="1785884" cy="804672"/>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26" name="R126"/>
          <p:cNvSpPr/>
          <p:nvPr/>
        </p:nvSpPr>
        <p:spPr>
          <a:xfrm>
            <a:off x="630936" y="4456236"/>
            <a:ext cx="1785884" cy="54864"/>
          </a:xfrm>
          <a:prstGeom prst="rect">
            <a:avLst/>
          </a:prstGeom>
          <a:solidFill>
            <a:srgbClr val="1557FE"/>
          </a:solidFill>
          <a:ln>
            <a:noFill/>
          </a:ln>
        </p:spPr>
        <p:txBody>
          <a:bodyPr/>
          <a:lstStyle/>
          <a:p>
            <a:endParaRPr lang="en-US"/>
          </a:p>
        </p:txBody>
      </p:sp>
      <p:sp>
        <p:nvSpPr>
          <p:cNvPr id="127" name="TB127"/>
          <p:cNvSpPr txBox="1"/>
          <p:nvPr/>
        </p:nvSpPr>
        <p:spPr>
          <a:xfrm>
            <a:off x="722375" y="4529388"/>
            <a:ext cx="1603004" cy="347472"/>
          </a:xfrm>
          <a:prstGeom prst="rect">
            <a:avLst/>
          </a:prstGeom>
          <a:noFill/>
        </p:spPr>
        <p:txBody>
          <a:bodyPr wrap="square" rtlCol="0" anchor="t"/>
          <a:lstStyle/>
          <a:p>
            <a:pPr algn="ctr"/>
            <a:r>
              <a:rPr lang="en-US" sz="1800" b="1" dirty="0">
                <a:solidFill>
                  <a:srgbClr val="1557FE"/>
                </a:solidFill>
                <a:latin typeface="Trebuchet MS"/>
              </a:rPr>
              <a:t>₹38,746 Cr</a:t>
            </a:r>
          </a:p>
        </p:txBody>
      </p:sp>
      <p:sp>
        <p:nvSpPr>
          <p:cNvPr id="128" name="TB128"/>
          <p:cNvSpPr txBox="1"/>
          <p:nvPr/>
        </p:nvSpPr>
        <p:spPr>
          <a:xfrm>
            <a:off x="722375" y="4895148"/>
            <a:ext cx="1603004" cy="310896"/>
          </a:xfrm>
          <a:prstGeom prst="rect">
            <a:avLst/>
          </a:prstGeom>
          <a:noFill/>
        </p:spPr>
        <p:txBody>
          <a:bodyPr wrap="square" rtlCol="0" anchor="t"/>
          <a:lstStyle/>
          <a:p>
            <a:pPr algn="ctr"/>
            <a:r>
              <a:rPr lang="en-US" sz="1000" dirty="0">
                <a:solidFill>
                  <a:srgbClr val="575757"/>
                </a:solidFill>
                <a:latin typeface="Trebuchet MS"/>
              </a:rPr>
              <a:t>Labour &amp; Skill Budget</a:t>
            </a:r>
          </a:p>
          <a:p>
            <a:pPr algn="ctr"/>
            <a:r>
              <a:rPr lang="en-US" sz="1000" dirty="0">
                <a:solidFill>
                  <a:srgbClr val="575757"/>
                </a:solidFill>
                <a:latin typeface="Trebuchet MS"/>
              </a:rPr>
              <a:t>FY26  (+80% YoY)</a:t>
            </a:r>
          </a:p>
        </p:txBody>
      </p:sp>
      <p:sp>
        <p:nvSpPr>
          <p:cNvPr id="129" name="RR129"/>
          <p:cNvSpPr/>
          <p:nvPr/>
        </p:nvSpPr>
        <p:spPr>
          <a:xfrm>
            <a:off x="2581412" y="4456236"/>
            <a:ext cx="1785884" cy="804672"/>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30" name="R130"/>
          <p:cNvSpPr/>
          <p:nvPr/>
        </p:nvSpPr>
        <p:spPr>
          <a:xfrm>
            <a:off x="2581412" y="4456236"/>
            <a:ext cx="1785884" cy="54864"/>
          </a:xfrm>
          <a:prstGeom prst="rect">
            <a:avLst/>
          </a:prstGeom>
          <a:solidFill>
            <a:srgbClr val="1557FE"/>
          </a:solidFill>
          <a:ln>
            <a:noFill/>
          </a:ln>
        </p:spPr>
        <p:txBody>
          <a:bodyPr/>
          <a:lstStyle/>
          <a:p>
            <a:endParaRPr lang="en-US"/>
          </a:p>
        </p:txBody>
      </p:sp>
      <p:sp>
        <p:nvSpPr>
          <p:cNvPr id="131" name="TB131"/>
          <p:cNvSpPr txBox="1"/>
          <p:nvPr/>
        </p:nvSpPr>
        <p:spPr>
          <a:xfrm>
            <a:off x="2672852" y="4529388"/>
            <a:ext cx="1603004" cy="347472"/>
          </a:xfrm>
          <a:prstGeom prst="rect">
            <a:avLst/>
          </a:prstGeom>
          <a:noFill/>
        </p:spPr>
        <p:txBody>
          <a:bodyPr wrap="square" rtlCol="0" anchor="t"/>
          <a:lstStyle/>
          <a:p>
            <a:pPr algn="ctr"/>
            <a:r>
              <a:rPr lang="en-US" sz="1800" b="1" dirty="0">
                <a:solidFill>
                  <a:srgbClr val="1557FE"/>
                </a:solidFill>
                <a:latin typeface="Trebuchet MS"/>
              </a:rPr>
              <a:t>₹10,372 Cr</a:t>
            </a:r>
          </a:p>
        </p:txBody>
      </p:sp>
      <p:sp>
        <p:nvSpPr>
          <p:cNvPr id="132" name="TB132"/>
          <p:cNvSpPr txBox="1"/>
          <p:nvPr/>
        </p:nvSpPr>
        <p:spPr>
          <a:xfrm>
            <a:off x="2672852" y="4895148"/>
            <a:ext cx="1603004" cy="310896"/>
          </a:xfrm>
          <a:prstGeom prst="rect">
            <a:avLst/>
          </a:prstGeom>
          <a:noFill/>
        </p:spPr>
        <p:txBody>
          <a:bodyPr wrap="square" rtlCol="0" anchor="t"/>
          <a:lstStyle/>
          <a:p>
            <a:pPr algn="ctr"/>
            <a:r>
              <a:rPr lang="en-US" sz="1000" dirty="0">
                <a:solidFill>
                  <a:srgbClr val="575757"/>
                </a:solidFill>
                <a:latin typeface="Trebuchet MS"/>
              </a:rPr>
              <a:t>IndiaAI Mission</a:t>
            </a:r>
          </a:p>
          <a:p>
            <a:pPr algn="ctr"/>
            <a:r>
              <a:rPr lang="en-US" sz="1000" dirty="0">
                <a:solidFill>
                  <a:srgbClr val="575757"/>
                </a:solidFill>
                <a:latin typeface="Trebuchet MS"/>
              </a:rPr>
              <a:t>5-yr outlay (Mar 2024)</a:t>
            </a:r>
          </a:p>
        </p:txBody>
      </p:sp>
      <p:sp>
        <p:nvSpPr>
          <p:cNvPr id="133" name="RR133"/>
          <p:cNvSpPr/>
          <p:nvPr/>
        </p:nvSpPr>
        <p:spPr>
          <a:xfrm>
            <a:off x="4531888" y="4456236"/>
            <a:ext cx="1785884" cy="804672"/>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34" name="R134"/>
          <p:cNvSpPr/>
          <p:nvPr/>
        </p:nvSpPr>
        <p:spPr>
          <a:xfrm>
            <a:off x="4531888" y="4456236"/>
            <a:ext cx="1785884" cy="54864"/>
          </a:xfrm>
          <a:prstGeom prst="rect">
            <a:avLst/>
          </a:prstGeom>
          <a:solidFill>
            <a:srgbClr val="1557FE"/>
          </a:solidFill>
          <a:ln>
            <a:noFill/>
          </a:ln>
        </p:spPr>
        <p:txBody>
          <a:bodyPr/>
          <a:lstStyle/>
          <a:p>
            <a:endParaRPr lang="en-US"/>
          </a:p>
        </p:txBody>
      </p:sp>
      <p:sp>
        <p:nvSpPr>
          <p:cNvPr id="135" name="TB135"/>
          <p:cNvSpPr txBox="1"/>
          <p:nvPr/>
        </p:nvSpPr>
        <p:spPr>
          <a:xfrm>
            <a:off x="4623328" y="4529388"/>
            <a:ext cx="1603004" cy="347472"/>
          </a:xfrm>
          <a:prstGeom prst="rect">
            <a:avLst/>
          </a:prstGeom>
          <a:noFill/>
        </p:spPr>
        <p:txBody>
          <a:bodyPr wrap="square" rtlCol="0" anchor="t"/>
          <a:lstStyle/>
          <a:p>
            <a:pPr algn="ctr"/>
            <a:r>
              <a:rPr lang="en-US" sz="1800" b="1" dirty="0">
                <a:solidFill>
                  <a:srgbClr val="1557FE"/>
                </a:solidFill>
                <a:latin typeface="Trebuchet MS"/>
              </a:rPr>
              <a:t>+14% CAGR</a:t>
            </a:r>
          </a:p>
        </p:txBody>
      </p:sp>
      <p:sp>
        <p:nvSpPr>
          <p:cNvPr id="136" name="TB136"/>
          <p:cNvSpPr txBox="1"/>
          <p:nvPr/>
        </p:nvSpPr>
        <p:spPr>
          <a:xfrm>
            <a:off x="4623328" y="4895148"/>
            <a:ext cx="1603004" cy="310896"/>
          </a:xfrm>
          <a:prstGeom prst="rect">
            <a:avLst/>
          </a:prstGeom>
          <a:noFill/>
        </p:spPr>
        <p:txBody>
          <a:bodyPr wrap="square" rtlCol="0" anchor="t"/>
          <a:lstStyle/>
          <a:p>
            <a:pPr algn="ctr"/>
            <a:r>
              <a:rPr lang="en-US" sz="1000" dirty="0">
                <a:solidFill>
                  <a:srgbClr val="575757"/>
                </a:solidFill>
                <a:latin typeface="Trebuchet MS"/>
              </a:rPr>
              <a:t>Govt Skilling Spend</a:t>
            </a:r>
          </a:p>
          <a:p>
            <a:pPr algn="ctr"/>
            <a:r>
              <a:rPr lang="en-US" sz="1000" dirty="0">
                <a:solidFill>
                  <a:srgbClr val="575757"/>
                </a:solidFill>
                <a:latin typeface="Trebuchet MS"/>
              </a:rPr>
              <a:t>FY22 → FY26</a:t>
            </a:r>
          </a:p>
        </p:txBody>
      </p:sp>
      <p:sp>
        <p:nvSpPr>
          <p:cNvPr id="137" name="TB137"/>
          <p:cNvSpPr txBox="1"/>
          <p:nvPr/>
        </p:nvSpPr>
        <p:spPr>
          <a:xfrm>
            <a:off x="6546372" y="2075688"/>
            <a:ext cx="5020787" cy="274320"/>
          </a:xfrm>
          <a:prstGeom prst="rect">
            <a:avLst/>
          </a:prstGeom>
          <a:noFill/>
        </p:spPr>
        <p:txBody>
          <a:bodyPr wrap="square" rtlCol="0" anchor="t"/>
          <a:lstStyle/>
          <a:p>
            <a:r>
              <a:rPr lang="en-US" sz="1600" b="1" dirty="0">
                <a:solidFill>
                  <a:srgbClr val="1557FE"/>
                </a:solidFill>
                <a:latin typeface="Trebuchet MS"/>
              </a:rPr>
              <a:t>Why 2026 is different</a:t>
            </a:r>
          </a:p>
        </p:txBody>
      </p:sp>
      <p:sp>
        <p:nvSpPr>
          <p:cNvPr id="138" name="RR138"/>
          <p:cNvSpPr/>
          <p:nvPr/>
        </p:nvSpPr>
        <p:spPr>
          <a:xfrm>
            <a:off x="6546372" y="2423160"/>
            <a:ext cx="5020787" cy="80695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39" name="R139"/>
          <p:cNvSpPr/>
          <p:nvPr/>
        </p:nvSpPr>
        <p:spPr>
          <a:xfrm>
            <a:off x="6546372" y="2423160"/>
            <a:ext cx="73152" cy="806958"/>
          </a:xfrm>
          <a:prstGeom prst="rect">
            <a:avLst/>
          </a:prstGeom>
          <a:solidFill>
            <a:srgbClr val="1557FE"/>
          </a:solidFill>
          <a:ln>
            <a:noFill/>
          </a:ln>
        </p:spPr>
        <p:txBody>
          <a:bodyPr/>
          <a:lstStyle/>
          <a:p>
            <a:endParaRPr lang="en-US"/>
          </a:p>
        </p:txBody>
      </p:sp>
      <p:sp>
        <p:nvSpPr>
          <p:cNvPr id="140" name="TB140"/>
          <p:cNvSpPr txBox="1"/>
          <p:nvPr/>
        </p:nvSpPr>
        <p:spPr>
          <a:xfrm>
            <a:off x="6747540" y="2478024"/>
            <a:ext cx="4709891" cy="292608"/>
          </a:xfrm>
          <a:prstGeom prst="rect">
            <a:avLst/>
          </a:prstGeom>
          <a:noFill/>
        </p:spPr>
        <p:txBody>
          <a:bodyPr wrap="square" rtlCol="0" anchor="t"/>
          <a:lstStyle/>
          <a:p>
            <a:r>
              <a:rPr lang="en-US" sz="1000" b="1" dirty="0">
                <a:solidFill>
                  <a:srgbClr val="1557FE"/>
                </a:solidFill>
                <a:latin typeface="Trebuchet MS"/>
              </a:rPr>
              <a:t>PMKVY 5.0 shifts to skill</a:t>
            </a:r>
          </a:p>
          <a:p>
            <a:r>
              <a:rPr lang="en-US" sz="1000" b="1" dirty="0">
                <a:solidFill>
                  <a:srgbClr val="1557FE"/>
                </a:solidFill>
                <a:latin typeface="Trebuchet MS"/>
              </a:rPr>
              <a:t>outcome bonds &amp; vouchers</a:t>
            </a:r>
          </a:p>
        </p:txBody>
      </p:sp>
      <p:sp>
        <p:nvSpPr>
          <p:cNvPr id="141" name="TB141"/>
          <p:cNvSpPr txBox="1"/>
          <p:nvPr/>
        </p:nvSpPr>
        <p:spPr>
          <a:xfrm>
            <a:off x="6747540" y="2770632"/>
            <a:ext cx="4709891" cy="386334"/>
          </a:xfrm>
          <a:prstGeom prst="rect">
            <a:avLst/>
          </a:prstGeom>
          <a:noFill/>
        </p:spPr>
        <p:txBody>
          <a:bodyPr wrap="square" rtlCol="0" anchor="t"/>
          <a:lstStyle/>
          <a:p>
            <a:r>
              <a:rPr lang="en-US" sz="1000" dirty="0">
                <a:solidFill>
                  <a:srgbClr val="575757"/>
                </a:solidFill>
                <a:latin typeface="Trebuchet MS"/>
              </a:rPr>
              <a:t>First time govt pays for placement, not headcount</a:t>
            </a:r>
          </a:p>
        </p:txBody>
      </p:sp>
      <p:sp>
        <p:nvSpPr>
          <p:cNvPr id="142" name="RR142"/>
          <p:cNvSpPr/>
          <p:nvPr/>
        </p:nvSpPr>
        <p:spPr>
          <a:xfrm>
            <a:off x="6546372" y="3303270"/>
            <a:ext cx="5020787" cy="80695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43" name="R143"/>
          <p:cNvSpPr/>
          <p:nvPr/>
        </p:nvSpPr>
        <p:spPr>
          <a:xfrm>
            <a:off x="6546372" y="3303270"/>
            <a:ext cx="73152" cy="806958"/>
          </a:xfrm>
          <a:prstGeom prst="rect">
            <a:avLst/>
          </a:prstGeom>
          <a:solidFill>
            <a:srgbClr val="0A3CB5"/>
          </a:solidFill>
          <a:ln>
            <a:noFill/>
          </a:ln>
        </p:spPr>
        <p:txBody>
          <a:bodyPr/>
          <a:lstStyle/>
          <a:p>
            <a:endParaRPr lang="en-US"/>
          </a:p>
        </p:txBody>
      </p:sp>
      <p:sp>
        <p:nvSpPr>
          <p:cNvPr id="144" name="TB144"/>
          <p:cNvSpPr txBox="1"/>
          <p:nvPr/>
        </p:nvSpPr>
        <p:spPr>
          <a:xfrm>
            <a:off x="6747540" y="3358134"/>
            <a:ext cx="4709891" cy="292608"/>
          </a:xfrm>
          <a:prstGeom prst="rect">
            <a:avLst/>
          </a:prstGeom>
          <a:noFill/>
        </p:spPr>
        <p:txBody>
          <a:bodyPr wrap="square" rtlCol="0" anchor="t"/>
          <a:lstStyle/>
          <a:p>
            <a:r>
              <a:rPr lang="en-US" sz="1000" b="1" dirty="0">
                <a:solidFill>
                  <a:srgbClr val="0A3CB5"/>
                </a:solidFill>
                <a:latin typeface="Trebuchet MS"/>
              </a:rPr>
              <a:t>Mission Karmayogi + Coursera</a:t>
            </a:r>
          </a:p>
          <a:p>
            <a:r>
              <a:rPr lang="en-US" sz="1000" b="1" dirty="0">
                <a:solidFill>
                  <a:srgbClr val="0A3CB5"/>
                </a:solidFill>
                <a:latin typeface="Trebuchet MS"/>
              </a:rPr>
              <a:t>(signed March 2026)</a:t>
            </a:r>
          </a:p>
        </p:txBody>
      </p:sp>
      <p:sp>
        <p:nvSpPr>
          <p:cNvPr id="145" name="TB145"/>
          <p:cNvSpPr txBox="1"/>
          <p:nvPr/>
        </p:nvSpPr>
        <p:spPr>
          <a:xfrm>
            <a:off x="6747540" y="3650741"/>
            <a:ext cx="4709891" cy="386334"/>
          </a:xfrm>
          <a:prstGeom prst="rect">
            <a:avLst/>
          </a:prstGeom>
          <a:noFill/>
        </p:spPr>
        <p:txBody>
          <a:bodyPr wrap="square" rtlCol="0" anchor="t"/>
          <a:lstStyle/>
          <a:p>
            <a:r>
              <a:rPr lang="en-US" sz="1000" dirty="0">
                <a:solidFill>
                  <a:srgbClr val="575757"/>
                </a:solidFill>
                <a:latin typeface="Trebuchet MS"/>
              </a:rPr>
              <a:t>7.5M civil servants; iGOT marketplace now open to private content</a:t>
            </a:r>
          </a:p>
        </p:txBody>
      </p:sp>
      <p:sp>
        <p:nvSpPr>
          <p:cNvPr id="146" name="RR146"/>
          <p:cNvSpPr/>
          <p:nvPr/>
        </p:nvSpPr>
        <p:spPr>
          <a:xfrm>
            <a:off x="6546372" y="4183380"/>
            <a:ext cx="5020787" cy="80695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47" name="R147"/>
          <p:cNvSpPr/>
          <p:nvPr/>
        </p:nvSpPr>
        <p:spPr>
          <a:xfrm>
            <a:off x="6546372" y="4183380"/>
            <a:ext cx="73152" cy="806958"/>
          </a:xfrm>
          <a:prstGeom prst="rect">
            <a:avLst/>
          </a:prstGeom>
          <a:solidFill>
            <a:srgbClr val="4A90E2"/>
          </a:solidFill>
          <a:ln>
            <a:noFill/>
          </a:ln>
        </p:spPr>
        <p:txBody>
          <a:bodyPr/>
          <a:lstStyle/>
          <a:p>
            <a:endParaRPr lang="en-US"/>
          </a:p>
        </p:txBody>
      </p:sp>
      <p:sp>
        <p:nvSpPr>
          <p:cNvPr id="148" name="TB148"/>
          <p:cNvSpPr txBox="1"/>
          <p:nvPr/>
        </p:nvSpPr>
        <p:spPr>
          <a:xfrm>
            <a:off x="6747540" y="4238244"/>
            <a:ext cx="4709891" cy="292608"/>
          </a:xfrm>
          <a:prstGeom prst="rect">
            <a:avLst/>
          </a:prstGeom>
          <a:noFill/>
        </p:spPr>
        <p:txBody>
          <a:bodyPr wrap="square" rtlCol="0" anchor="t"/>
          <a:lstStyle/>
          <a:p>
            <a:r>
              <a:rPr lang="en-US" sz="1000" b="1" dirty="0">
                <a:solidFill>
                  <a:srgbClr val="4A90E2"/>
                </a:solidFill>
                <a:latin typeface="Trebuchet MS"/>
              </a:rPr>
              <a:t>NITI Aayog CEO (May 2025):</a:t>
            </a:r>
          </a:p>
          <a:p>
            <a:r>
              <a:rPr lang="en-US" sz="1000" b="1" dirty="0">
                <a:solidFill>
                  <a:srgbClr val="4A90E2"/>
                </a:solidFill>
                <a:latin typeface="Trebuchet MS"/>
              </a:rPr>
              <a:t>'Hand skilling to private sector'</a:t>
            </a:r>
          </a:p>
        </p:txBody>
      </p:sp>
      <p:sp>
        <p:nvSpPr>
          <p:cNvPr id="149" name="TB149"/>
          <p:cNvSpPr txBox="1"/>
          <p:nvPr/>
        </p:nvSpPr>
        <p:spPr>
          <a:xfrm>
            <a:off x="6747540" y="4530852"/>
            <a:ext cx="4709891" cy="386334"/>
          </a:xfrm>
          <a:prstGeom prst="rect">
            <a:avLst/>
          </a:prstGeom>
          <a:noFill/>
        </p:spPr>
        <p:txBody>
          <a:bodyPr wrap="square" rtlCol="0" anchor="t"/>
          <a:lstStyle/>
          <a:p>
            <a:r>
              <a:rPr lang="en-US" sz="1000" dirty="0">
                <a:solidFill>
                  <a:srgbClr val="575757"/>
                </a:solidFill>
                <a:latin typeface="Trebuchet MS"/>
              </a:rPr>
              <a:t>Political cover for outcome-led private partnership at scale</a:t>
            </a:r>
          </a:p>
        </p:txBody>
      </p:sp>
      <p:sp>
        <p:nvSpPr>
          <p:cNvPr id="150" name="RR150"/>
          <p:cNvSpPr/>
          <p:nvPr/>
        </p:nvSpPr>
        <p:spPr>
          <a:xfrm>
            <a:off x="6546372" y="5063490"/>
            <a:ext cx="5020787" cy="80695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51" name="R151"/>
          <p:cNvSpPr/>
          <p:nvPr/>
        </p:nvSpPr>
        <p:spPr>
          <a:xfrm>
            <a:off x="6546372" y="5063490"/>
            <a:ext cx="73152" cy="806958"/>
          </a:xfrm>
          <a:prstGeom prst="rect">
            <a:avLst/>
          </a:prstGeom>
          <a:solidFill>
            <a:srgbClr val="061A6E"/>
          </a:solidFill>
          <a:ln>
            <a:noFill/>
          </a:ln>
        </p:spPr>
        <p:txBody>
          <a:bodyPr/>
          <a:lstStyle/>
          <a:p>
            <a:endParaRPr lang="en-US"/>
          </a:p>
        </p:txBody>
      </p:sp>
      <p:sp>
        <p:nvSpPr>
          <p:cNvPr id="152" name="TB152"/>
          <p:cNvSpPr txBox="1"/>
          <p:nvPr/>
        </p:nvSpPr>
        <p:spPr>
          <a:xfrm>
            <a:off x="6747540" y="5118354"/>
            <a:ext cx="4709891" cy="292608"/>
          </a:xfrm>
          <a:prstGeom prst="rect">
            <a:avLst/>
          </a:prstGeom>
          <a:noFill/>
        </p:spPr>
        <p:txBody>
          <a:bodyPr wrap="square" rtlCol="0" anchor="t"/>
          <a:lstStyle/>
          <a:p>
            <a:r>
              <a:rPr lang="en-US" sz="1000" b="1" dirty="0">
                <a:solidFill>
                  <a:srgbClr val="061A6E"/>
                </a:solidFill>
                <a:latin typeface="Trebuchet MS"/>
              </a:rPr>
              <a:t>L1 procurement reform</a:t>
            </a:r>
          </a:p>
          <a:p>
            <a:r>
              <a:rPr lang="en-US" sz="1000" b="1" dirty="0">
                <a:solidFill>
                  <a:srgbClr val="061A6E"/>
                </a:solidFill>
                <a:latin typeface="Trebuchet MS"/>
              </a:rPr>
              <a:t>(Oct 2024)</a:t>
            </a:r>
          </a:p>
        </p:txBody>
      </p:sp>
      <p:sp>
        <p:nvSpPr>
          <p:cNvPr id="153" name="TB153"/>
          <p:cNvSpPr txBox="1"/>
          <p:nvPr/>
        </p:nvSpPr>
        <p:spPr>
          <a:xfrm>
            <a:off x="6747540" y="5410962"/>
            <a:ext cx="4709891" cy="386334"/>
          </a:xfrm>
          <a:prstGeom prst="rect">
            <a:avLst/>
          </a:prstGeom>
          <a:noFill/>
        </p:spPr>
        <p:txBody>
          <a:bodyPr wrap="square" rtlCol="0" anchor="t"/>
          <a:lstStyle/>
          <a:p>
            <a:r>
              <a:rPr lang="en-US" sz="1000" dirty="0">
                <a:solidFill>
                  <a:srgbClr val="575757"/>
                </a:solidFill>
                <a:latin typeface="Trebuchet MS"/>
              </a:rPr>
              <a:t>Quality-cum-cost-based selection now permitted on tech tenders</a:t>
            </a:r>
          </a:p>
        </p:txBody>
      </p:sp>
      <p:graphicFrame>
        <p:nvGraphicFramePr>
          <p:cNvPr id="154" name="Chart 153"/>
          <p:cNvGraphicFramePr>
            <a:graphicFrameLocks noGrp="1"/>
          </p:cNvGraphicFramePr>
          <p:nvPr>
            <p:extLst>
              <p:ext uri="{D42A27DB-BD31-4B8C-83A1-F6EECF244321}">
                <p14:modId xmlns:p14="http://schemas.microsoft.com/office/powerpoint/2010/main" val="3915010222"/>
              </p:ext>
            </p:extLst>
          </p:nvPr>
        </p:nvGraphicFramePr>
        <p:xfrm>
          <a:off x="630936" y="2075688"/>
          <a:ext cx="5686836" cy="2243388"/>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E42C54C-84F1-87F7-B32F-C2A2FABE71A8}"/>
              </a:ext>
            </a:extLst>
          </p:cNvPr>
          <p:cNvGraphicFramePr>
            <a:graphicFrameLocks noChangeAspect="1"/>
          </p:cNvGraphicFramePr>
          <p:nvPr>
            <p:custDataLst>
              <p:tags r:id="rId1"/>
            </p:custDataLst>
            <p:extLst>
              <p:ext uri="{D42A27DB-BD31-4B8C-83A1-F6EECF244321}">
                <p14:modId xmlns:p14="http://schemas.microsoft.com/office/powerpoint/2010/main" val="3741075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4" name="ph_title"/>
          <p:cNvSpPr>
            <a:spLocks noGrp="1"/>
          </p:cNvSpPr>
          <p:nvPr>
            <p:ph type="title"/>
          </p:nvPr>
        </p:nvSpPr>
        <p:spPr>
          <a:xfrm>
            <a:off x="630000" y="622800"/>
            <a:ext cx="10933350" cy="664797"/>
          </a:xfrm>
        </p:spPr>
        <p:txBody>
          <a:bodyPr vert="horz"/>
          <a:lstStyle/>
          <a:p>
            <a:r>
              <a:rPr lang="en-US" dirty="0"/>
              <a:t>₹14,450 Cr spent, &lt;20% placed — the B2G graveyard reveals exactly the white space</a:t>
            </a:r>
          </a:p>
        </p:txBody>
      </p:sp>
      <p:sp>
        <p:nvSpPr>
          <p:cNvPr id="155" name="TB15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CAG Report No. 20/2025; The Federal Dec 2025; IndiaSpend; IDR; NSDC forensic audit; Bodhi analysis;</a:t>
            </a:r>
          </a:p>
        </p:txBody>
      </p:sp>
      <p:sp>
        <p:nvSpPr>
          <p:cNvPr id="156" name="TB156"/>
          <p:cNvSpPr txBox="1"/>
          <p:nvPr/>
        </p:nvSpPr>
        <p:spPr>
          <a:xfrm>
            <a:off x="3638397" y="1603430"/>
            <a:ext cx="2296607" cy="256032"/>
          </a:xfrm>
          <a:prstGeom prst="rect">
            <a:avLst/>
          </a:prstGeom>
          <a:noFill/>
        </p:spPr>
        <p:txBody>
          <a:bodyPr wrap="square" rtlCol="0" anchor="t"/>
          <a:lstStyle/>
          <a:p>
            <a:r>
              <a:rPr lang="en-US" sz="1000" b="1" dirty="0">
                <a:solidFill>
                  <a:srgbClr val="1557FE"/>
                </a:solidFill>
                <a:latin typeface="Trebuchet MS"/>
              </a:rPr>
              <a:t>Scaler = 4.6x best PMKVY rate</a:t>
            </a:r>
          </a:p>
        </p:txBody>
      </p:sp>
      <p:sp>
        <p:nvSpPr>
          <p:cNvPr id="157" name="RR157"/>
          <p:cNvSpPr/>
          <p:nvPr/>
        </p:nvSpPr>
        <p:spPr>
          <a:xfrm>
            <a:off x="630936" y="3622888"/>
            <a:ext cx="1731264" cy="1504189"/>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58" name="R158"/>
          <p:cNvSpPr/>
          <p:nvPr/>
        </p:nvSpPr>
        <p:spPr>
          <a:xfrm>
            <a:off x="630936" y="3622888"/>
            <a:ext cx="1731264" cy="54864"/>
          </a:xfrm>
          <a:prstGeom prst="rect">
            <a:avLst/>
          </a:prstGeom>
          <a:solidFill>
            <a:srgbClr val="D64454"/>
          </a:solidFill>
          <a:ln>
            <a:noFill/>
          </a:ln>
        </p:spPr>
        <p:txBody>
          <a:bodyPr/>
          <a:lstStyle/>
          <a:p>
            <a:endParaRPr lang="en-US"/>
          </a:p>
        </p:txBody>
      </p:sp>
      <p:sp>
        <p:nvSpPr>
          <p:cNvPr id="159" name="R159"/>
          <p:cNvSpPr/>
          <p:nvPr/>
        </p:nvSpPr>
        <p:spPr>
          <a:xfrm>
            <a:off x="630936" y="3622888"/>
            <a:ext cx="1731264" cy="274320"/>
          </a:xfrm>
          <a:prstGeom prst="rect">
            <a:avLst/>
          </a:prstGeom>
          <a:solidFill>
            <a:srgbClr val="D64454"/>
          </a:solidFill>
          <a:ln>
            <a:noFill/>
          </a:ln>
        </p:spPr>
        <p:txBody>
          <a:bodyPr/>
          <a:lstStyle/>
          <a:p>
            <a:endParaRPr lang="en-US"/>
          </a:p>
        </p:txBody>
      </p:sp>
      <p:sp>
        <p:nvSpPr>
          <p:cNvPr id="160" name="TB160"/>
          <p:cNvSpPr txBox="1"/>
          <p:nvPr/>
        </p:nvSpPr>
        <p:spPr>
          <a:xfrm>
            <a:off x="722375" y="3622888"/>
            <a:ext cx="1548384" cy="274320"/>
          </a:xfrm>
          <a:prstGeom prst="rect">
            <a:avLst/>
          </a:prstGeom>
          <a:noFill/>
        </p:spPr>
        <p:txBody>
          <a:bodyPr wrap="square" rtlCol="0" anchor="ctr"/>
          <a:lstStyle/>
          <a:p>
            <a:r>
              <a:rPr lang="en-US" sz="1100" b="1" dirty="0">
                <a:solidFill>
                  <a:srgbClr val="FFFFFF"/>
                </a:solidFill>
                <a:latin typeface="Trebuchet MS"/>
              </a:rPr>
              <a:t>IL&amp;FS Skills</a:t>
            </a:r>
          </a:p>
        </p:txBody>
      </p:sp>
      <p:sp>
        <p:nvSpPr>
          <p:cNvPr id="161" name="TB161"/>
          <p:cNvSpPr txBox="1"/>
          <p:nvPr/>
        </p:nvSpPr>
        <p:spPr>
          <a:xfrm>
            <a:off x="722375" y="3952073"/>
            <a:ext cx="1548384" cy="1385316"/>
          </a:xfrm>
          <a:prstGeom prst="rect">
            <a:avLst/>
          </a:prstGeom>
          <a:noFill/>
        </p:spPr>
        <p:txBody>
          <a:bodyPr wrap="square" rtlCol="0" anchor="t"/>
          <a:lstStyle/>
          <a:p>
            <a:r>
              <a:rPr lang="en-US" sz="1000" dirty="0">
                <a:solidFill>
                  <a:srgbClr val="575757"/>
                </a:solidFill>
                <a:latin typeface="Trebuchet MS"/>
              </a:rPr>
              <a:t>Trained 1.5M people. Collapsed Sep 2018 inside ₹61,000 Cr parent default. Rebranded as Learnet Skills. B2G ambition wound down.</a:t>
            </a:r>
          </a:p>
        </p:txBody>
      </p:sp>
      <p:sp>
        <p:nvSpPr>
          <p:cNvPr id="162" name="RR162"/>
          <p:cNvSpPr/>
          <p:nvPr/>
        </p:nvSpPr>
        <p:spPr>
          <a:xfrm>
            <a:off x="2499360" y="3622888"/>
            <a:ext cx="1731264" cy="1504189"/>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63" name="R163"/>
          <p:cNvSpPr/>
          <p:nvPr/>
        </p:nvSpPr>
        <p:spPr>
          <a:xfrm>
            <a:off x="2499360" y="3622888"/>
            <a:ext cx="1731264" cy="54864"/>
          </a:xfrm>
          <a:prstGeom prst="rect">
            <a:avLst/>
          </a:prstGeom>
          <a:solidFill>
            <a:srgbClr val="E8850A"/>
          </a:solidFill>
          <a:ln>
            <a:noFill/>
          </a:ln>
        </p:spPr>
        <p:txBody>
          <a:bodyPr/>
          <a:lstStyle/>
          <a:p>
            <a:endParaRPr lang="en-US"/>
          </a:p>
        </p:txBody>
      </p:sp>
      <p:sp>
        <p:nvSpPr>
          <p:cNvPr id="164" name="R164"/>
          <p:cNvSpPr/>
          <p:nvPr/>
        </p:nvSpPr>
        <p:spPr>
          <a:xfrm>
            <a:off x="2499360" y="3622888"/>
            <a:ext cx="1731264" cy="274320"/>
          </a:xfrm>
          <a:prstGeom prst="rect">
            <a:avLst/>
          </a:prstGeom>
          <a:solidFill>
            <a:srgbClr val="E8850A"/>
          </a:solidFill>
          <a:ln>
            <a:noFill/>
          </a:ln>
        </p:spPr>
        <p:txBody>
          <a:bodyPr/>
          <a:lstStyle/>
          <a:p>
            <a:endParaRPr lang="en-US"/>
          </a:p>
        </p:txBody>
      </p:sp>
      <p:sp>
        <p:nvSpPr>
          <p:cNvPr id="165" name="TB165"/>
          <p:cNvSpPr txBox="1"/>
          <p:nvPr/>
        </p:nvSpPr>
        <p:spPr>
          <a:xfrm>
            <a:off x="2590800" y="3622888"/>
            <a:ext cx="1548384" cy="274320"/>
          </a:xfrm>
          <a:prstGeom prst="rect">
            <a:avLst/>
          </a:prstGeom>
          <a:noFill/>
        </p:spPr>
        <p:txBody>
          <a:bodyPr wrap="square" rtlCol="0" anchor="ctr"/>
          <a:lstStyle/>
          <a:p>
            <a:r>
              <a:rPr lang="en-US" sz="1100" b="1" dirty="0">
                <a:solidFill>
                  <a:srgbClr val="FFFFFF"/>
                </a:solidFill>
                <a:latin typeface="Trebuchet MS"/>
              </a:rPr>
              <a:t>NIIT Yuva Jyoti</a:t>
            </a:r>
          </a:p>
        </p:txBody>
      </p:sp>
      <p:sp>
        <p:nvSpPr>
          <p:cNvPr id="166" name="TB166"/>
          <p:cNvSpPr txBox="1"/>
          <p:nvPr/>
        </p:nvSpPr>
        <p:spPr>
          <a:xfrm>
            <a:off x="2590800" y="3952073"/>
            <a:ext cx="1548384" cy="1385316"/>
          </a:xfrm>
          <a:prstGeom prst="rect">
            <a:avLst/>
          </a:prstGeom>
          <a:noFill/>
        </p:spPr>
        <p:txBody>
          <a:bodyPr wrap="square" rtlCol="0" anchor="t"/>
          <a:lstStyle/>
          <a:p>
            <a:r>
              <a:rPr lang="en-US" sz="1000" dirty="0">
                <a:solidFill>
                  <a:srgbClr val="575757"/>
                </a:solidFill>
                <a:latin typeface="Trebuchet MS"/>
              </a:rPr>
              <a:t>NSDC JV for PMKVY 1.0. Now limited to CSR/MoRD projects. Never built a ₹100 Cr government book.</a:t>
            </a:r>
          </a:p>
        </p:txBody>
      </p:sp>
      <p:sp>
        <p:nvSpPr>
          <p:cNvPr id="167" name="RR167"/>
          <p:cNvSpPr/>
          <p:nvPr/>
        </p:nvSpPr>
        <p:spPr>
          <a:xfrm>
            <a:off x="4367784" y="3622888"/>
            <a:ext cx="1731264" cy="1504189"/>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68" name="R168"/>
          <p:cNvSpPr/>
          <p:nvPr/>
        </p:nvSpPr>
        <p:spPr>
          <a:xfrm>
            <a:off x="4367784" y="3622888"/>
            <a:ext cx="1731264" cy="54864"/>
          </a:xfrm>
          <a:prstGeom prst="rect">
            <a:avLst/>
          </a:prstGeom>
          <a:solidFill>
            <a:srgbClr val="D64454"/>
          </a:solidFill>
          <a:ln>
            <a:noFill/>
          </a:ln>
        </p:spPr>
        <p:txBody>
          <a:bodyPr/>
          <a:lstStyle/>
          <a:p>
            <a:endParaRPr lang="en-US"/>
          </a:p>
        </p:txBody>
      </p:sp>
      <p:sp>
        <p:nvSpPr>
          <p:cNvPr id="169" name="R169"/>
          <p:cNvSpPr/>
          <p:nvPr/>
        </p:nvSpPr>
        <p:spPr>
          <a:xfrm>
            <a:off x="4367784" y="3622888"/>
            <a:ext cx="1731264" cy="274320"/>
          </a:xfrm>
          <a:prstGeom prst="rect">
            <a:avLst/>
          </a:prstGeom>
          <a:solidFill>
            <a:srgbClr val="D64454"/>
          </a:solidFill>
          <a:ln>
            <a:noFill/>
          </a:ln>
        </p:spPr>
        <p:txBody>
          <a:bodyPr/>
          <a:lstStyle/>
          <a:p>
            <a:endParaRPr lang="en-US"/>
          </a:p>
        </p:txBody>
      </p:sp>
      <p:sp>
        <p:nvSpPr>
          <p:cNvPr id="170" name="TB170"/>
          <p:cNvSpPr txBox="1"/>
          <p:nvPr/>
        </p:nvSpPr>
        <p:spPr>
          <a:xfrm>
            <a:off x="4459224" y="3622888"/>
            <a:ext cx="1548384" cy="274320"/>
          </a:xfrm>
          <a:prstGeom prst="rect">
            <a:avLst/>
          </a:prstGeom>
          <a:noFill/>
        </p:spPr>
        <p:txBody>
          <a:bodyPr wrap="square" rtlCol="0" anchor="ctr"/>
          <a:lstStyle/>
          <a:p>
            <a:r>
              <a:rPr lang="en-US" sz="1100" b="1" dirty="0">
                <a:solidFill>
                  <a:srgbClr val="FFFFFF"/>
                </a:solidFill>
                <a:latin typeface="Trebuchet MS"/>
              </a:rPr>
              <a:t>NSDC CEO Fired</a:t>
            </a:r>
          </a:p>
        </p:txBody>
      </p:sp>
      <p:sp>
        <p:nvSpPr>
          <p:cNvPr id="171" name="TB171"/>
          <p:cNvSpPr txBox="1"/>
          <p:nvPr/>
        </p:nvSpPr>
        <p:spPr>
          <a:xfrm>
            <a:off x="4459224" y="3952073"/>
            <a:ext cx="1548384" cy="1385316"/>
          </a:xfrm>
          <a:prstGeom prst="rect">
            <a:avLst/>
          </a:prstGeom>
          <a:noFill/>
        </p:spPr>
        <p:txBody>
          <a:bodyPr wrap="square" rtlCol="0" anchor="t"/>
          <a:lstStyle/>
          <a:p>
            <a:r>
              <a:rPr lang="en-US" sz="1000" dirty="0">
                <a:solidFill>
                  <a:srgbClr val="575757"/>
                </a:solidFill>
                <a:latin typeface="Trebuchet MS"/>
              </a:rPr>
              <a:t>CEO terminated May 2025 amid ₹1,082 Cr forensic audit irregularities. 178 training partners blacklisted for fake trainees.</a:t>
            </a:r>
          </a:p>
        </p:txBody>
      </p:sp>
      <p:sp>
        <p:nvSpPr>
          <p:cNvPr id="172" name="RR172"/>
          <p:cNvSpPr/>
          <p:nvPr/>
        </p:nvSpPr>
        <p:spPr>
          <a:xfrm>
            <a:off x="6300216" y="1560917"/>
            <a:ext cx="5266944" cy="1170432"/>
          </a:xfrm>
          <a:prstGeom prst="roundRect">
            <a:avLst>
              <a:gd name="adj" fmla="val 3000"/>
            </a:avLst>
          </a:prstGeom>
          <a:solidFill>
            <a:srgbClr val="F8F8F6"/>
          </a:solidFill>
          <a:ln w="25400">
            <a:solidFill>
              <a:srgbClr val="1557FE"/>
            </a:solidFill>
          </a:ln>
        </p:spPr>
        <p:txBody>
          <a:bodyPr/>
          <a:lstStyle/>
          <a:p>
            <a:endParaRPr lang="en-US"/>
          </a:p>
        </p:txBody>
      </p:sp>
      <p:sp>
        <p:nvSpPr>
          <p:cNvPr id="173" name="R173"/>
          <p:cNvSpPr/>
          <p:nvPr/>
        </p:nvSpPr>
        <p:spPr>
          <a:xfrm>
            <a:off x="6300216" y="1560917"/>
            <a:ext cx="5266944" cy="54864"/>
          </a:xfrm>
          <a:prstGeom prst="rect">
            <a:avLst/>
          </a:prstGeom>
          <a:solidFill>
            <a:srgbClr val="1557FE"/>
          </a:solidFill>
          <a:ln>
            <a:noFill/>
          </a:ln>
        </p:spPr>
        <p:txBody>
          <a:bodyPr/>
          <a:lstStyle/>
          <a:p>
            <a:endParaRPr lang="en-US"/>
          </a:p>
        </p:txBody>
      </p:sp>
      <p:sp>
        <p:nvSpPr>
          <p:cNvPr id="174" name="TB174"/>
          <p:cNvSpPr txBox="1"/>
          <p:nvPr/>
        </p:nvSpPr>
        <p:spPr>
          <a:xfrm>
            <a:off x="6409944" y="1652357"/>
            <a:ext cx="5047488" cy="237744"/>
          </a:xfrm>
          <a:prstGeom prst="rect">
            <a:avLst/>
          </a:prstGeom>
          <a:noFill/>
        </p:spPr>
        <p:txBody>
          <a:bodyPr wrap="square" rtlCol="0" anchor="t"/>
          <a:lstStyle/>
          <a:p>
            <a:r>
              <a:rPr lang="en-US" sz="1100" b="1" dirty="0">
                <a:solidFill>
                  <a:srgbClr val="061A6E"/>
                </a:solidFill>
                <a:latin typeface="Trebuchet MS"/>
              </a:rPr>
              <a:t>The Federal  |  December 2025</a:t>
            </a:r>
          </a:p>
        </p:txBody>
      </p:sp>
      <p:sp>
        <p:nvSpPr>
          <p:cNvPr id="175" name="TB175"/>
          <p:cNvSpPr txBox="1"/>
          <p:nvPr/>
        </p:nvSpPr>
        <p:spPr>
          <a:xfrm>
            <a:off x="6409944" y="1908389"/>
            <a:ext cx="5047488" cy="576072"/>
          </a:xfrm>
          <a:prstGeom prst="rect">
            <a:avLst/>
          </a:prstGeom>
          <a:noFill/>
        </p:spPr>
        <p:txBody>
          <a:bodyPr wrap="square" rtlCol="0" anchor="t"/>
          <a:lstStyle/>
          <a:p>
            <a:r>
              <a:rPr lang="en-US" sz="1000" i="1" dirty="0">
                <a:solidFill>
                  <a:srgbClr val="575757"/>
                </a:solidFill>
                <a:latin typeface="Trebuchet MS"/>
              </a:rPr>
              <a:t>"Skill India exposed as a non-starter in CAG audit of Rs 10,000-cr spend. 94.53% of beneficiary bank accounts contained zeros, null, N/A or blank."</a:t>
            </a:r>
          </a:p>
        </p:txBody>
      </p:sp>
      <p:sp>
        <p:nvSpPr>
          <p:cNvPr id="176" name="TB176"/>
          <p:cNvSpPr txBox="1"/>
          <p:nvPr/>
        </p:nvSpPr>
        <p:spPr>
          <a:xfrm>
            <a:off x="6409944" y="2530180"/>
            <a:ext cx="5047488" cy="164592"/>
          </a:xfrm>
          <a:prstGeom prst="rect">
            <a:avLst/>
          </a:prstGeom>
          <a:noFill/>
        </p:spPr>
        <p:txBody>
          <a:bodyPr wrap="square" rtlCol="0" anchor="t"/>
          <a:lstStyle/>
          <a:p>
            <a:r>
              <a:rPr lang="en-US" sz="900" dirty="0">
                <a:solidFill>
                  <a:srgbClr val="6E6F73"/>
                </a:solidFill>
                <a:latin typeface="Trebuchet MS"/>
              </a:rPr>
              <a:t>— The Federal, Dec 18 2025</a:t>
            </a:r>
          </a:p>
        </p:txBody>
      </p:sp>
      <p:sp>
        <p:nvSpPr>
          <p:cNvPr id="177" name="RR177"/>
          <p:cNvSpPr/>
          <p:nvPr/>
        </p:nvSpPr>
        <p:spPr>
          <a:xfrm>
            <a:off x="6300216" y="2804501"/>
            <a:ext cx="5266944" cy="1170432"/>
          </a:xfrm>
          <a:prstGeom prst="roundRect">
            <a:avLst>
              <a:gd name="adj" fmla="val 3000"/>
            </a:avLst>
          </a:prstGeom>
          <a:solidFill>
            <a:srgbClr val="F8F8F6"/>
          </a:solidFill>
          <a:ln w="25400">
            <a:solidFill>
              <a:srgbClr val="1557FE"/>
            </a:solidFill>
          </a:ln>
        </p:spPr>
        <p:txBody>
          <a:bodyPr/>
          <a:lstStyle/>
          <a:p>
            <a:endParaRPr lang="en-US"/>
          </a:p>
        </p:txBody>
      </p:sp>
      <p:sp>
        <p:nvSpPr>
          <p:cNvPr id="178" name="R178"/>
          <p:cNvSpPr/>
          <p:nvPr/>
        </p:nvSpPr>
        <p:spPr>
          <a:xfrm>
            <a:off x="6300216" y="2804501"/>
            <a:ext cx="5266944" cy="54864"/>
          </a:xfrm>
          <a:prstGeom prst="rect">
            <a:avLst/>
          </a:prstGeom>
          <a:solidFill>
            <a:srgbClr val="1557FE"/>
          </a:solidFill>
          <a:ln>
            <a:noFill/>
          </a:ln>
        </p:spPr>
        <p:txBody>
          <a:bodyPr/>
          <a:lstStyle/>
          <a:p>
            <a:endParaRPr lang="en-US"/>
          </a:p>
        </p:txBody>
      </p:sp>
      <p:sp>
        <p:nvSpPr>
          <p:cNvPr id="179" name="TB179"/>
          <p:cNvSpPr txBox="1"/>
          <p:nvPr/>
        </p:nvSpPr>
        <p:spPr>
          <a:xfrm>
            <a:off x="6409944" y="2895941"/>
            <a:ext cx="5047488" cy="237744"/>
          </a:xfrm>
          <a:prstGeom prst="rect">
            <a:avLst/>
          </a:prstGeom>
          <a:noFill/>
        </p:spPr>
        <p:txBody>
          <a:bodyPr wrap="square" rtlCol="0" anchor="t"/>
          <a:lstStyle/>
          <a:p>
            <a:r>
              <a:rPr lang="en-US" sz="1100" b="1" dirty="0">
                <a:solidFill>
                  <a:srgbClr val="061A6E"/>
                </a:solidFill>
                <a:latin typeface="Trebuchet MS"/>
              </a:rPr>
              <a:t>Careers360  |  March 2026</a:t>
            </a:r>
          </a:p>
        </p:txBody>
      </p:sp>
      <p:sp>
        <p:nvSpPr>
          <p:cNvPr id="180" name="TB180"/>
          <p:cNvSpPr txBox="1"/>
          <p:nvPr/>
        </p:nvSpPr>
        <p:spPr>
          <a:xfrm>
            <a:off x="6409944" y="3151973"/>
            <a:ext cx="5047488" cy="576072"/>
          </a:xfrm>
          <a:prstGeom prst="rect">
            <a:avLst/>
          </a:prstGeom>
          <a:noFill/>
        </p:spPr>
        <p:txBody>
          <a:bodyPr wrap="square" rtlCol="0" anchor="t"/>
          <a:lstStyle/>
          <a:p>
            <a:r>
              <a:rPr lang="en-US" sz="1000" i="1" dirty="0">
                <a:solidFill>
                  <a:srgbClr val="575757"/>
                </a:solidFill>
                <a:latin typeface="Trebuchet MS"/>
              </a:rPr>
              <a:t>"PMKVY 4.0 was 'delinked' from placements after versions 1.0–3.0 showed outrageously poor figures. When asked why, the CPIO called the question 'hypothetical'."</a:t>
            </a:r>
          </a:p>
        </p:txBody>
      </p:sp>
      <p:sp>
        <p:nvSpPr>
          <p:cNvPr id="181" name="TB181"/>
          <p:cNvSpPr txBox="1"/>
          <p:nvPr/>
        </p:nvSpPr>
        <p:spPr>
          <a:xfrm>
            <a:off x="6409944" y="3773765"/>
            <a:ext cx="5047488" cy="164592"/>
          </a:xfrm>
          <a:prstGeom prst="rect">
            <a:avLst/>
          </a:prstGeom>
          <a:noFill/>
        </p:spPr>
        <p:txBody>
          <a:bodyPr wrap="square" rtlCol="0" anchor="t"/>
          <a:lstStyle/>
          <a:p>
            <a:r>
              <a:rPr lang="en-US" sz="900" dirty="0">
                <a:solidFill>
                  <a:srgbClr val="6E6F73"/>
                </a:solidFill>
                <a:latin typeface="Trebuchet MS"/>
              </a:rPr>
              <a:t>— Careers360 / Bommai Committee Report, Mar 28 2025</a:t>
            </a:r>
          </a:p>
        </p:txBody>
      </p:sp>
      <p:sp>
        <p:nvSpPr>
          <p:cNvPr id="182" name="RR182"/>
          <p:cNvSpPr/>
          <p:nvPr/>
        </p:nvSpPr>
        <p:spPr>
          <a:xfrm>
            <a:off x="6300216" y="4048085"/>
            <a:ext cx="5266944" cy="1078992"/>
          </a:xfrm>
          <a:prstGeom prst="roundRect">
            <a:avLst>
              <a:gd name="adj" fmla="val 3000"/>
            </a:avLst>
          </a:prstGeom>
          <a:solidFill>
            <a:srgbClr val="F8F8F6"/>
          </a:solidFill>
          <a:ln w="25400">
            <a:solidFill>
              <a:srgbClr val="1557FE"/>
            </a:solidFill>
          </a:ln>
        </p:spPr>
        <p:txBody>
          <a:bodyPr/>
          <a:lstStyle/>
          <a:p>
            <a:endParaRPr lang="en-US"/>
          </a:p>
        </p:txBody>
      </p:sp>
      <p:sp>
        <p:nvSpPr>
          <p:cNvPr id="183" name="R183"/>
          <p:cNvSpPr/>
          <p:nvPr/>
        </p:nvSpPr>
        <p:spPr>
          <a:xfrm>
            <a:off x="6300216" y="4048085"/>
            <a:ext cx="5266944" cy="54864"/>
          </a:xfrm>
          <a:prstGeom prst="rect">
            <a:avLst/>
          </a:prstGeom>
          <a:solidFill>
            <a:srgbClr val="1557FE"/>
          </a:solidFill>
          <a:ln>
            <a:noFill/>
          </a:ln>
        </p:spPr>
        <p:txBody>
          <a:bodyPr/>
          <a:lstStyle/>
          <a:p>
            <a:endParaRPr lang="en-US"/>
          </a:p>
        </p:txBody>
      </p:sp>
      <p:sp>
        <p:nvSpPr>
          <p:cNvPr id="184" name="TB184"/>
          <p:cNvSpPr txBox="1"/>
          <p:nvPr/>
        </p:nvSpPr>
        <p:spPr>
          <a:xfrm>
            <a:off x="6409944" y="4139525"/>
            <a:ext cx="5047488" cy="237744"/>
          </a:xfrm>
          <a:prstGeom prst="rect">
            <a:avLst/>
          </a:prstGeom>
          <a:noFill/>
        </p:spPr>
        <p:txBody>
          <a:bodyPr wrap="square" rtlCol="0" anchor="t"/>
          <a:lstStyle/>
          <a:p>
            <a:r>
              <a:rPr lang="en-US" sz="1100" b="1" dirty="0">
                <a:solidFill>
                  <a:srgbClr val="061A6E"/>
                </a:solidFill>
                <a:latin typeface="Trebuchet MS"/>
              </a:rPr>
              <a:t>The Wire  |  Feb 2025  —  Santosh Mehrotra, IZA Institute</a:t>
            </a:r>
          </a:p>
        </p:txBody>
      </p:sp>
      <p:sp>
        <p:nvSpPr>
          <p:cNvPr id="185" name="TB185"/>
          <p:cNvSpPr txBox="1"/>
          <p:nvPr/>
        </p:nvSpPr>
        <p:spPr>
          <a:xfrm>
            <a:off x="6409944" y="4395557"/>
            <a:ext cx="5047488" cy="484631"/>
          </a:xfrm>
          <a:prstGeom prst="rect">
            <a:avLst/>
          </a:prstGeom>
          <a:noFill/>
        </p:spPr>
        <p:txBody>
          <a:bodyPr wrap="square" rtlCol="0" anchor="t"/>
          <a:lstStyle/>
          <a:p>
            <a:r>
              <a:rPr lang="en-US" sz="1000" i="1" dirty="0">
                <a:solidFill>
                  <a:srgbClr val="575757"/>
                </a:solidFill>
                <a:latin typeface="Trebuchet MS"/>
              </a:rPr>
              <a:t>"The government is prioritising quick certifications over substantive skill development — producing more 'certified individuals' without real competencies."</a:t>
            </a:r>
          </a:p>
        </p:txBody>
      </p:sp>
      <p:grpSp>
        <p:nvGrpSpPr>
          <p:cNvPr id="2" name="Group 1">
            <a:extLst>
              <a:ext uri="{FF2B5EF4-FFF2-40B4-BE49-F238E27FC236}">
                <a16:creationId xmlns:a16="http://schemas.microsoft.com/office/drawing/2014/main" id="{4AA09D8B-30C5-2488-D120-9200828E87E3}"/>
              </a:ext>
            </a:extLst>
          </p:cNvPr>
          <p:cNvGrpSpPr/>
          <p:nvPr/>
        </p:nvGrpSpPr>
        <p:grpSpPr>
          <a:xfrm>
            <a:off x="630936" y="5423792"/>
            <a:ext cx="10936224" cy="502920"/>
            <a:chOff x="630936" y="5440680"/>
            <a:chExt cx="10936224" cy="502920"/>
          </a:xfrm>
        </p:grpSpPr>
        <p:sp>
          <p:nvSpPr>
            <p:cNvPr id="186" name="TB186"/>
            <p:cNvSpPr txBox="1"/>
            <p:nvPr/>
          </p:nvSpPr>
          <p:spPr>
            <a:xfrm>
              <a:off x="6409944" y="5440680"/>
              <a:ext cx="5047488" cy="164592"/>
            </a:xfrm>
            <a:prstGeom prst="rect">
              <a:avLst/>
            </a:prstGeom>
            <a:noFill/>
          </p:spPr>
          <p:txBody>
            <a:bodyPr wrap="square" rtlCol="0" anchor="t"/>
            <a:lstStyle/>
            <a:p>
              <a:r>
                <a:rPr lang="en-US" sz="900" dirty="0">
                  <a:solidFill>
                    <a:srgbClr val="6E6F73"/>
                  </a:solidFill>
                  <a:latin typeface="Trebuchet MS"/>
                </a:rPr>
                <a:t>— The Wire, Feb 2025</a:t>
              </a:r>
            </a:p>
          </p:txBody>
        </p:sp>
        <p:sp>
          <p:nvSpPr>
            <p:cNvPr id="187" name="RR187"/>
            <p:cNvSpPr/>
            <p:nvPr/>
          </p:nvSpPr>
          <p:spPr>
            <a:xfrm>
              <a:off x="630936" y="5504688"/>
              <a:ext cx="10936224" cy="438912"/>
            </a:xfrm>
            <a:prstGeom prst="roundRect">
              <a:avLst>
                <a:gd name="adj" fmla="val 5000"/>
              </a:avLst>
            </a:prstGeom>
            <a:solidFill>
              <a:srgbClr val="EEF3FF"/>
            </a:solidFill>
            <a:ln w="25400">
              <a:solidFill>
                <a:srgbClr val="1557FE"/>
              </a:solidFill>
            </a:ln>
          </p:spPr>
          <p:txBody>
            <a:bodyPr/>
            <a:lstStyle/>
            <a:p>
              <a:endParaRPr lang="en-US"/>
            </a:p>
          </p:txBody>
        </p:sp>
        <p:sp>
          <p:nvSpPr>
            <p:cNvPr id="188" name="TB188"/>
            <p:cNvSpPr txBox="1"/>
            <p:nvPr/>
          </p:nvSpPr>
          <p:spPr>
            <a:xfrm>
              <a:off x="795527" y="5559551"/>
              <a:ext cx="10607040" cy="329184"/>
            </a:xfrm>
            <a:prstGeom prst="rect">
              <a:avLst/>
            </a:prstGeom>
            <a:noFill/>
          </p:spPr>
          <p:txBody>
            <a:bodyPr wrap="square" rtlCol="0" anchor="ctr"/>
            <a:lstStyle/>
            <a:p>
              <a:r>
                <a:rPr lang="en-US" sz="1200" b="1" dirty="0">
                  <a:solidFill>
                    <a:srgbClr val="1557FE"/>
                  </a:solidFill>
                  <a:latin typeface="Trebuchet MS"/>
                </a:rPr>
                <a:t>The insight: </a:t>
              </a:r>
              <a:r>
                <a:rPr lang="en-US" sz="1200" dirty="0">
                  <a:solidFill>
                    <a:srgbClr val="575757"/>
                  </a:solidFill>
                  <a:latin typeface="Trebuchet MS"/>
                </a:rPr>
                <a:t>Every failure was a failure of the volume-paid model — not proof that B2G can't work. The graveyard is Scaler's competitive moat: it guarantees there is no experienced incumbent to beat.</a:t>
              </a:r>
            </a:p>
          </p:txBody>
        </p:sp>
      </p:grpSp>
      <p:graphicFrame>
        <p:nvGraphicFramePr>
          <p:cNvPr id="189" name="Chart 188"/>
          <p:cNvGraphicFramePr>
            <a:graphicFrameLocks noGrp="1"/>
          </p:cNvGraphicFramePr>
          <p:nvPr>
            <p:extLst>
              <p:ext uri="{D42A27DB-BD31-4B8C-83A1-F6EECF244321}">
                <p14:modId xmlns:p14="http://schemas.microsoft.com/office/powerpoint/2010/main" val="2146296822"/>
              </p:ext>
            </p:extLst>
          </p:nvPr>
        </p:nvGraphicFramePr>
        <p:xfrm>
          <a:off x="630936" y="1560917"/>
          <a:ext cx="5468112" cy="193395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91877E3-F124-23A2-F85D-9240B502D766}"/>
              </a:ext>
            </a:extLst>
          </p:cNvPr>
          <p:cNvGraphicFramePr>
            <a:graphicFrameLocks noChangeAspect="1"/>
          </p:cNvGraphicFramePr>
          <p:nvPr>
            <p:custDataLst>
              <p:tags r:id="rId1"/>
            </p:custDataLst>
            <p:extLst>
              <p:ext uri="{D42A27DB-BD31-4B8C-83A1-F6EECF244321}">
                <p14:modId xmlns:p14="http://schemas.microsoft.com/office/powerpoint/2010/main" val="120181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9" name="ph_title"/>
          <p:cNvSpPr>
            <a:spLocks noGrp="1"/>
          </p:cNvSpPr>
          <p:nvPr>
            <p:ph type="title"/>
          </p:nvPr>
        </p:nvSpPr>
        <p:spPr>
          <a:xfrm>
            <a:off x="630000" y="622800"/>
            <a:ext cx="10933350" cy="664797"/>
          </a:xfrm>
        </p:spPr>
        <p:txBody>
          <a:bodyPr vert="horz"/>
          <a:lstStyle/>
          <a:p>
            <a:r>
              <a:rPr lang="en-US" dirty="0"/>
              <a:t>Devil's advocate: five hard questions the CEO must answer before writing the cheque</a:t>
            </a:r>
          </a:p>
        </p:txBody>
      </p:sp>
      <p:sp>
        <p:nvSpPr>
          <p:cNvPr id="190" name="TB190"/>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PMKVY 4.0 guidelines; DoPT DFFT scheme; CAG; Bodhi analysis;</a:t>
            </a:r>
          </a:p>
        </p:txBody>
      </p:sp>
      <p:grpSp>
        <p:nvGrpSpPr>
          <p:cNvPr id="4" name="Group 3">
            <a:extLst>
              <a:ext uri="{FF2B5EF4-FFF2-40B4-BE49-F238E27FC236}">
                <a16:creationId xmlns:a16="http://schemas.microsoft.com/office/drawing/2014/main" id="{EB438A40-1C86-D758-AFB2-AD0B0AB04170}"/>
              </a:ext>
            </a:extLst>
          </p:cNvPr>
          <p:cNvGrpSpPr/>
          <p:nvPr/>
        </p:nvGrpSpPr>
        <p:grpSpPr>
          <a:xfrm>
            <a:off x="630936" y="1609019"/>
            <a:ext cx="10936224" cy="743081"/>
            <a:chOff x="630936" y="2075688"/>
            <a:chExt cx="10936224" cy="608990"/>
          </a:xfrm>
        </p:grpSpPr>
        <p:sp>
          <p:nvSpPr>
            <p:cNvPr id="191" name="RR191"/>
            <p:cNvSpPr/>
            <p:nvPr/>
          </p:nvSpPr>
          <p:spPr>
            <a:xfrm>
              <a:off x="630936" y="2075688"/>
              <a:ext cx="10936224" cy="608990"/>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92" name="R192"/>
            <p:cNvSpPr/>
            <p:nvPr/>
          </p:nvSpPr>
          <p:spPr>
            <a:xfrm>
              <a:off x="630936" y="2075688"/>
              <a:ext cx="73152" cy="608990"/>
            </a:xfrm>
            <a:prstGeom prst="rect">
              <a:avLst/>
            </a:prstGeom>
            <a:solidFill>
              <a:srgbClr val="1557FE"/>
            </a:solidFill>
            <a:ln>
              <a:noFill/>
            </a:ln>
          </p:spPr>
          <p:txBody>
            <a:bodyPr/>
            <a:lstStyle/>
            <a:p>
              <a:endParaRPr lang="en-US"/>
            </a:p>
          </p:txBody>
        </p:sp>
        <p:sp>
          <p:nvSpPr>
            <p:cNvPr id="193" name="O193"/>
            <p:cNvSpPr/>
            <p:nvPr/>
          </p:nvSpPr>
          <p:spPr>
            <a:xfrm>
              <a:off x="722375" y="2243023"/>
              <a:ext cx="274320" cy="274320"/>
            </a:xfrm>
            <a:prstGeom prst="ellipse">
              <a:avLst/>
            </a:prstGeom>
            <a:solidFill>
              <a:srgbClr val="D64454"/>
            </a:solidFill>
            <a:ln>
              <a:noFill/>
            </a:ln>
          </p:spPr>
          <p:txBody>
            <a:bodyPr/>
            <a:lstStyle/>
            <a:p>
              <a:endParaRPr lang="en-US"/>
            </a:p>
          </p:txBody>
        </p:sp>
        <p:sp>
          <p:nvSpPr>
            <p:cNvPr id="194" name="TB194"/>
            <p:cNvSpPr txBox="1"/>
            <p:nvPr/>
          </p:nvSpPr>
          <p:spPr>
            <a:xfrm>
              <a:off x="722375" y="2243023"/>
              <a:ext cx="274320" cy="274320"/>
            </a:xfrm>
            <a:prstGeom prst="rect">
              <a:avLst/>
            </a:prstGeom>
            <a:noFill/>
          </p:spPr>
          <p:txBody>
            <a:bodyPr wrap="square" rtlCol="0" anchor="ctr"/>
            <a:lstStyle/>
            <a:p>
              <a:pPr algn="ctr"/>
              <a:r>
                <a:rPr lang="en-US" sz="1100" b="1" dirty="0">
                  <a:solidFill>
                    <a:srgbClr val="FFFFFF"/>
                  </a:solidFill>
                  <a:latin typeface="Trebuchet MS"/>
                </a:rPr>
                <a:t>1</a:t>
              </a:r>
            </a:p>
          </p:txBody>
        </p:sp>
        <p:sp>
          <p:nvSpPr>
            <p:cNvPr id="195" name="TB195"/>
            <p:cNvSpPr txBox="1"/>
            <p:nvPr/>
          </p:nvSpPr>
          <p:spPr>
            <a:xfrm>
              <a:off x="1106424" y="2130552"/>
              <a:ext cx="4593214" cy="499262"/>
            </a:xfrm>
            <a:prstGeom prst="rect">
              <a:avLst/>
            </a:prstGeom>
            <a:noFill/>
          </p:spPr>
          <p:txBody>
            <a:bodyPr wrap="square" rtlCol="0" anchor="ctr"/>
            <a:lstStyle/>
            <a:p>
              <a:r>
                <a:rPr lang="en-US" sz="1100" b="1" dirty="0">
                  <a:solidFill>
                    <a:srgbClr val="D64454"/>
                  </a:solidFill>
                  <a:latin typeface="Trebuchet MS"/>
                </a:rPr>
                <a:t>Scaler's govt revenue is ₹0 today. Why should anyone bet ₹3.5 Cr on this?</a:t>
              </a:r>
            </a:p>
          </p:txBody>
        </p:sp>
        <p:sp>
          <p:nvSpPr>
            <p:cNvPr id="196" name="L196"/>
            <p:cNvSpPr/>
            <p:nvPr/>
          </p:nvSpPr>
          <p:spPr>
            <a:xfrm>
              <a:off x="5661599" y="2167128"/>
              <a:ext cx="0" cy="426110"/>
            </a:xfrm>
            <a:prstGeom prst="line">
              <a:avLst/>
            </a:prstGeom>
            <a:ln w="12700">
              <a:solidFill>
                <a:srgbClr val="EEF3FF"/>
              </a:solidFill>
            </a:ln>
          </p:spPr>
          <p:txBody>
            <a:bodyPr/>
            <a:lstStyle/>
            <a:p>
              <a:endParaRPr lang="en-US"/>
            </a:p>
          </p:txBody>
        </p:sp>
        <p:sp>
          <p:nvSpPr>
            <p:cNvPr id="197" name="TB197"/>
            <p:cNvSpPr txBox="1"/>
            <p:nvPr/>
          </p:nvSpPr>
          <p:spPr>
            <a:xfrm>
              <a:off x="5862401" y="2130552"/>
              <a:ext cx="5468112" cy="499262"/>
            </a:xfrm>
            <a:prstGeom prst="rect">
              <a:avLst/>
            </a:prstGeom>
            <a:noFill/>
          </p:spPr>
          <p:txBody>
            <a:bodyPr wrap="square" rtlCol="0" anchor="ctr"/>
            <a:lstStyle/>
            <a:p>
              <a:r>
                <a:rPr lang="en-US" sz="1000" dirty="0">
                  <a:solidFill>
                    <a:srgbClr val="575757"/>
                  </a:solidFill>
                  <a:latin typeface="Trebuchet MS"/>
                </a:rPr>
                <a:t>Zero revenue means zero path dependency — no bad contracts to unwind, no L1 habits to break. The only prior B2G touch is an eGov Foundation GovTech course at SST, validating curriculum fit without commercial risk. Starting clean is a structural advantage vs. NIIT's 20-year-old playbook.</a:t>
              </a:r>
            </a:p>
          </p:txBody>
        </p:sp>
      </p:grpSp>
      <p:grpSp>
        <p:nvGrpSpPr>
          <p:cNvPr id="5" name="Group 4">
            <a:extLst>
              <a:ext uri="{FF2B5EF4-FFF2-40B4-BE49-F238E27FC236}">
                <a16:creationId xmlns:a16="http://schemas.microsoft.com/office/drawing/2014/main" id="{FE18C4C9-B8A8-84E9-EE7D-B0B17A04189D}"/>
              </a:ext>
            </a:extLst>
          </p:cNvPr>
          <p:cNvGrpSpPr/>
          <p:nvPr/>
        </p:nvGrpSpPr>
        <p:grpSpPr>
          <a:xfrm>
            <a:off x="630936" y="2416131"/>
            <a:ext cx="10936224" cy="735724"/>
            <a:chOff x="630936" y="2757830"/>
            <a:chExt cx="10936224" cy="608990"/>
          </a:xfrm>
        </p:grpSpPr>
        <p:sp>
          <p:nvSpPr>
            <p:cNvPr id="198" name="RR198"/>
            <p:cNvSpPr/>
            <p:nvPr/>
          </p:nvSpPr>
          <p:spPr>
            <a:xfrm>
              <a:off x="630936" y="2757830"/>
              <a:ext cx="10936224" cy="608990"/>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199" name="R199"/>
            <p:cNvSpPr/>
            <p:nvPr/>
          </p:nvSpPr>
          <p:spPr>
            <a:xfrm>
              <a:off x="630936" y="2757830"/>
              <a:ext cx="73152" cy="608990"/>
            </a:xfrm>
            <a:prstGeom prst="rect">
              <a:avLst/>
            </a:prstGeom>
            <a:solidFill>
              <a:srgbClr val="1557FE"/>
            </a:solidFill>
            <a:ln>
              <a:noFill/>
            </a:ln>
          </p:spPr>
          <p:txBody>
            <a:bodyPr/>
            <a:lstStyle/>
            <a:p>
              <a:endParaRPr lang="en-US"/>
            </a:p>
          </p:txBody>
        </p:sp>
        <p:sp>
          <p:nvSpPr>
            <p:cNvPr id="200" name="O200"/>
            <p:cNvSpPr/>
            <p:nvPr/>
          </p:nvSpPr>
          <p:spPr>
            <a:xfrm>
              <a:off x="722375" y="2925165"/>
              <a:ext cx="274320" cy="274320"/>
            </a:xfrm>
            <a:prstGeom prst="ellipse">
              <a:avLst/>
            </a:prstGeom>
            <a:solidFill>
              <a:srgbClr val="D64454"/>
            </a:solidFill>
            <a:ln>
              <a:noFill/>
            </a:ln>
          </p:spPr>
          <p:txBody>
            <a:bodyPr/>
            <a:lstStyle/>
            <a:p>
              <a:endParaRPr lang="en-US"/>
            </a:p>
          </p:txBody>
        </p:sp>
        <p:sp>
          <p:nvSpPr>
            <p:cNvPr id="201" name="TB201"/>
            <p:cNvSpPr txBox="1"/>
            <p:nvPr/>
          </p:nvSpPr>
          <p:spPr>
            <a:xfrm>
              <a:off x="722375" y="2925165"/>
              <a:ext cx="274320" cy="274320"/>
            </a:xfrm>
            <a:prstGeom prst="rect">
              <a:avLst/>
            </a:prstGeom>
            <a:noFill/>
          </p:spPr>
          <p:txBody>
            <a:bodyPr wrap="square" rtlCol="0" anchor="ctr"/>
            <a:lstStyle/>
            <a:p>
              <a:pPr algn="ctr"/>
              <a:r>
                <a:rPr lang="en-US" sz="1100" b="1" dirty="0">
                  <a:solidFill>
                    <a:srgbClr val="FFFFFF"/>
                  </a:solidFill>
                  <a:latin typeface="Trebuchet MS"/>
                </a:rPr>
                <a:t>2</a:t>
              </a:r>
            </a:p>
          </p:txBody>
        </p:sp>
        <p:sp>
          <p:nvSpPr>
            <p:cNvPr id="202" name="TB202"/>
            <p:cNvSpPr txBox="1"/>
            <p:nvPr/>
          </p:nvSpPr>
          <p:spPr>
            <a:xfrm>
              <a:off x="1106424" y="2812694"/>
              <a:ext cx="4593214" cy="499262"/>
            </a:xfrm>
            <a:prstGeom prst="rect">
              <a:avLst/>
            </a:prstGeom>
            <a:noFill/>
          </p:spPr>
          <p:txBody>
            <a:bodyPr wrap="square" rtlCol="0" anchor="ctr"/>
            <a:lstStyle/>
            <a:p>
              <a:r>
                <a:rPr lang="en-US" sz="1100" b="1" dirty="0">
                  <a:solidFill>
                    <a:srgbClr val="D64454"/>
                  </a:solidFill>
                  <a:latin typeface="Trebuchet MS"/>
                </a:rPr>
                <a:t>PMKVY 3.0 placed only 10%. Why would outcome-based contracting ever actually happen?</a:t>
              </a:r>
            </a:p>
          </p:txBody>
        </p:sp>
        <p:sp>
          <p:nvSpPr>
            <p:cNvPr id="203" name="L203"/>
            <p:cNvSpPr/>
            <p:nvPr/>
          </p:nvSpPr>
          <p:spPr>
            <a:xfrm>
              <a:off x="5661599" y="2849270"/>
              <a:ext cx="0" cy="426110"/>
            </a:xfrm>
            <a:prstGeom prst="line">
              <a:avLst/>
            </a:prstGeom>
            <a:ln w="12700">
              <a:solidFill>
                <a:srgbClr val="EEF3FF"/>
              </a:solidFill>
            </a:ln>
          </p:spPr>
          <p:txBody>
            <a:bodyPr/>
            <a:lstStyle/>
            <a:p>
              <a:endParaRPr lang="en-US"/>
            </a:p>
          </p:txBody>
        </p:sp>
        <p:sp>
          <p:nvSpPr>
            <p:cNvPr id="204" name="TB204"/>
            <p:cNvSpPr txBox="1"/>
            <p:nvPr/>
          </p:nvSpPr>
          <p:spPr>
            <a:xfrm>
              <a:off x="5862401" y="2812694"/>
              <a:ext cx="5468112" cy="499262"/>
            </a:xfrm>
            <a:prstGeom prst="rect">
              <a:avLst/>
            </a:prstGeom>
            <a:noFill/>
          </p:spPr>
          <p:txBody>
            <a:bodyPr wrap="square" rtlCol="0" anchor="ctr"/>
            <a:lstStyle/>
            <a:p>
              <a:r>
                <a:rPr lang="en-US" sz="1000" dirty="0">
                  <a:solidFill>
                    <a:srgbClr val="575757"/>
                  </a:solidFill>
                  <a:latin typeface="Trebuchet MS"/>
                </a:rPr>
                <a:t>PMKVY 4.0 explicitly delinked placements to avoid embarrassment. PMKVY 5.0 design docs (Careers360, Mar 2026) mandate 'skill outcome bonds' and 'post-training outcome tracking for 1 year'. The parliamentary Bommai Committee demanded placements as 'the real barometer'. The regulator has publicly admitted the old model failed — it is redesigning around Scaler's metric.</a:t>
              </a:r>
            </a:p>
          </p:txBody>
        </p:sp>
      </p:grpSp>
      <p:grpSp>
        <p:nvGrpSpPr>
          <p:cNvPr id="6" name="Group 5">
            <a:extLst>
              <a:ext uri="{FF2B5EF4-FFF2-40B4-BE49-F238E27FC236}">
                <a16:creationId xmlns:a16="http://schemas.microsoft.com/office/drawing/2014/main" id="{DC1C99D0-6D0B-F297-2A1E-72AABC84250A}"/>
              </a:ext>
            </a:extLst>
          </p:cNvPr>
          <p:cNvGrpSpPr/>
          <p:nvPr/>
        </p:nvGrpSpPr>
        <p:grpSpPr>
          <a:xfrm>
            <a:off x="630936" y="3215886"/>
            <a:ext cx="10936224" cy="735724"/>
            <a:chOff x="630936" y="3439972"/>
            <a:chExt cx="10936224" cy="608990"/>
          </a:xfrm>
        </p:grpSpPr>
        <p:sp>
          <p:nvSpPr>
            <p:cNvPr id="205" name="RR205"/>
            <p:cNvSpPr/>
            <p:nvPr/>
          </p:nvSpPr>
          <p:spPr>
            <a:xfrm>
              <a:off x="630936" y="3439972"/>
              <a:ext cx="10936224" cy="608990"/>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06" name="R206"/>
            <p:cNvSpPr/>
            <p:nvPr/>
          </p:nvSpPr>
          <p:spPr>
            <a:xfrm>
              <a:off x="630936" y="3439972"/>
              <a:ext cx="73152" cy="608990"/>
            </a:xfrm>
            <a:prstGeom prst="rect">
              <a:avLst/>
            </a:prstGeom>
            <a:solidFill>
              <a:srgbClr val="1557FE"/>
            </a:solidFill>
            <a:ln>
              <a:noFill/>
            </a:ln>
          </p:spPr>
          <p:txBody>
            <a:bodyPr/>
            <a:lstStyle/>
            <a:p>
              <a:endParaRPr lang="en-US"/>
            </a:p>
          </p:txBody>
        </p:sp>
        <p:sp>
          <p:nvSpPr>
            <p:cNvPr id="207" name="O207"/>
            <p:cNvSpPr/>
            <p:nvPr/>
          </p:nvSpPr>
          <p:spPr>
            <a:xfrm>
              <a:off x="722375" y="3607308"/>
              <a:ext cx="274320" cy="274320"/>
            </a:xfrm>
            <a:prstGeom prst="ellipse">
              <a:avLst/>
            </a:prstGeom>
            <a:solidFill>
              <a:srgbClr val="D64454"/>
            </a:solidFill>
            <a:ln>
              <a:noFill/>
            </a:ln>
          </p:spPr>
          <p:txBody>
            <a:bodyPr/>
            <a:lstStyle/>
            <a:p>
              <a:endParaRPr lang="en-US"/>
            </a:p>
          </p:txBody>
        </p:sp>
        <p:sp>
          <p:nvSpPr>
            <p:cNvPr id="208" name="TB208"/>
            <p:cNvSpPr txBox="1"/>
            <p:nvPr/>
          </p:nvSpPr>
          <p:spPr>
            <a:xfrm>
              <a:off x="722375" y="3607308"/>
              <a:ext cx="274320" cy="274320"/>
            </a:xfrm>
            <a:prstGeom prst="rect">
              <a:avLst/>
            </a:prstGeom>
            <a:noFill/>
          </p:spPr>
          <p:txBody>
            <a:bodyPr wrap="square" rtlCol="0" anchor="ctr"/>
            <a:lstStyle/>
            <a:p>
              <a:pPr algn="ctr"/>
              <a:r>
                <a:rPr lang="en-US" sz="1100" b="1" dirty="0">
                  <a:solidFill>
                    <a:srgbClr val="FFFFFF"/>
                  </a:solidFill>
                  <a:latin typeface="Trebuchet MS"/>
                </a:rPr>
                <a:t>3</a:t>
              </a:r>
            </a:p>
          </p:txBody>
        </p:sp>
        <p:sp>
          <p:nvSpPr>
            <p:cNvPr id="209" name="TB209"/>
            <p:cNvSpPr txBox="1"/>
            <p:nvPr/>
          </p:nvSpPr>
          <p:spPr>
            <a:xfrm>
              <a:off x="1106424" y="3494836"/>
              <a:ext cx="4593214" cy="499262"/>
            </a:xfrm>
            <a:prstGeom prst="rect">
              <a:avLst/>
            </a:prstGeom>
            <a:noFill/>
          </p:spPr>
          <p:txBody>
            <a:bodyPr wrap="square" rtlCol="0" anchor="ctr"/>
            <a:lstStyle/>
            <a:p>
              <a:r>
                <a:rPr lang="en-US" sz="1100" b="1" dirty="0">
                  <a:solidFill>
                    <a:srgbClr val="D64454"/>
                  </a:solidFill>
                  <a:latin typeface="Trebuchet MS"/>
                </a:rPr>
                <a:t>IAS officers get $35K–$45K/year for Harvard. Why would govt pay $40K for a Scaler cohort?</a:t>
              </a:r>
            </a:p>
          </p:txBody>
        </p:sp>
        <p:sp>
          <p:nvSpPr>
            <p:cNvPr id="210" name="L210"/>
            <p:cNvSpPr/>
            <p:nvPr/>
          </p:nvSpPr>
          <p:spPr>
            <a:xfrm>
              <a:off x="5661599" y="3531412"/>
              <a:ext cx="0" cy="426110"/>
            </a:xfrm>
            <a:prstGeom prst="line">
              <a:avLst/>
            </a:prstGeom>
            <a:ln w="12700">
              <a:solidFill>
                <a:srgbClr val="EEF3FF"/>
              </a:solidFill>
            </a:ln>
          </p:spPr>
          <p:txBody>
            <a:bodyPr/>
            <a:lstStyle/>
            <a:p>
              <a:endParaRPr lang="en-US"/>
            </a:p>
          </p:txBody>
        </p:sp>
        <p:sp>
          <p:nvSpPr>
            <p:cNvPr id="211" name="TB211"/>
            <p:cNvSpPr txBox="1"/>
            <p:nvPr/>
          </p:nvSpPr>
          <p:spPr>
            <a:xfrm>
              <a:off x="5862401" y="3494836"/>
              <a:ext cx="5468112" cy="499262"/>
            </a:xfrm>
            <a:prstGeom prst="rect">
              <a:avLst/>
            </a:prstGeom>
            <a:noFill/>
          </p:spPr>
          <p:txBody>
            <a:bodyPr wrap="square" rtlCol="0" anchor="ctr"/>
            <a:lstStyle/>
            <a:p>
              <a:r>
                <a:rPr lang="en-US" sz="1000" dirty="0">
                  <a:solidFill>
                    <a:srgbClr val="575757"/>
                  </a:solidFill>
                  <a:latin typeface="Trebuchet MS"/>
                </a:rPr>
                <a:t>This is actually the argument FOR Scaler, not against it. The Domestic Funding of Foreign Training scheme ($35–45K/officer/year for Top-30 universities) proves govt will pay premium for quality when the outcome matters. Mission Karmayogi just contracted Coursera for 7.5M civil servants — at a platform subscription fee. The taboo on premium pricing in B2G is broken.</a:t>
              </a:r>
            </a:p>
          </p:txBody>
        </p:sp>
      </p:grpSp>
      <p:grpSp>
        <p:nvGrpSpPr>
          <p:cNvPr id="7" name="Group 6">
            <a:extLst>
              <a:ext uri="{FF2B5EF4-FFF2-40B4-BE49-F238E27FC236}">
                <a16:creationId xmlns:a16="http://schemas.microsoft.com/office/drawing/2014/main" id="{9DE3B064-C263-FC07-9A23-00ADF0DDC9A9}"/>
              </a:ext>
            </a:extLst>
          </p:cNvPr>
          <p:cNvGrpSpPr/>
          <p:nvPr/>
        </p:nvGrpSpPr>
        <p:grpSpPr>
          <a:xfrm>
            <a:off x="630936" y="4015641"/>
            <a:ext cx="10936224" cy="735724"/>
            <a:chOff x="630936" y="4122115"/>
            <a:chExt cx="10936224" cy="608990"/>
          </a:xfrm>
        </p:grpSpPr>
        <p:sp>
          <p:nvSpPr>
            <p:cNvPr id="212" name="RR212"/>
            <p:cNvSpPr/>
            <p:nvPr/>
          </p:nvSpPr>
          <p:spPr>
            <a:xfrm>
              <a:off x="630936" y="4122115"/>
              <a:ext cx="10936224" cy="608990"/>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13" name="R213"/>
            <p:cNvSpPr/>
            <p:nvPr/>
          </p:nvSpPr>
          <p:spPr>
            <a:xfrm>
              <a:off x="630936" y="4122115"/>
              <a:ext cx="73152" cy="608990"/>
            </a:xfrm>
            <a:prstGeom prst="rect">
              <a:avLst/>
            </a:prstGeom>
            <a:solidFill>
              <a:srgbClr val="1557FE"/>
            </a:solidFill>
            <a:ln>
              <a:noFill/>
            </a:ln>
          </p:spPr>
          <p:txBody>
            <a:bodyPr/>
            <a:lstStyle/>
            <a:p>
              <a:endParaRPr lang="en-US"/>
            </a:p>
          </p:txBody>
        </p:sp>
        <p:sp>
          <p:nvSpPr>
            <p:cNvPr id="214" name="O214"/>
            <p:cNvSpPr/>
            <p:nvPr/>
          </p:nvSpPr>
          <p:spPr>
            <a:xfrm>
              <a:off x="722375" y="4289450"/>
              <a:ext cx="274320" cy="274320"/>
            </a:xfrm>
            <a:prstGeom prst="ellipse">
              <a:avLst/>
            </a:prstGeom>
            <a:solidFill>
              <a:srgbClr val="D64454"/>
            </a:solidFill>
            <a:ln>
              <a:noFill/>
            </a:ln>
          </p:spPr>
          <p:txBody>
            <a:bodyPr/>
            <a:lstStyle/>
            <a:p>
              <a:endParaRPr lang="en-US"/>
            </a:p>
          </p:txBody>
        </p:sp>
        <p:sp>
          <p:nvSpPr>
            <p:cNvPr id="215" name="TB215"/>
            <p:cNvSpPr txBox="1"/>
            <p:nvPr/>
          </p:nvSpPr>
          <p:spPr>
            <a:xfrm>
              <a:off x="722375" y="4289450"/>
              <a:ext cx="274320" cy="274320"/>
            </a:xfrm>
            <a:prstGeom prst="rect">
              <a:avLst/>
            </a:prstGeom>
            <a:noFill/>
          </p:spPr>
          <p:txBody>
            <a:bodyPr wrap="square" rtlCol="0" anchor="ctr"/>
            <a:lstStyle/>
            <a:p>
              <a:pPr algn="ctr"/>
              <a:r>
                <a:rPr lang="en-US" sz="1100" b="1" dirty="0">
                  <a:solidFill>
                    <a:srgbClr val="FFFFFF"/>
                  </a:solidFill>
                  <a:latin typeface="Trebuchet MS"/>
                </a:rPr>
                <a:t>4</a:t>
              </a:r>
            </a:p>
          </p:txBody>
        </p:sp>
        <p:sp>
          <p:nvSpPr>
            <p:cNvPr id="216" name="TB216"/>
            <p:cNvSpPr txBox="1"/>
            <p:nvPr/>
          </p:nvSpPr>
          <p:spPr>
            <a:xfrm>
              <a:off x="1106424" y="4176979"/>
              <a:ext cx="4593214" cy="499262"/>
            </a:xfrm>
            <a:prstGeom prst="rect">
              <a:avLst/>
            </a:prstGeom>
            <a:noFill/>
          </p:spPr>
          <p:txBody>
            <a:bodyPr wrap="square" rtlCol="0" anchor="ctr"/>
            <a:lstStyle/>
            <a:p>
              <a:r>
                <a:rPr lang="en-US" sz="1100" b="1" dirty="0">
                  <a:solidFill>
                    <a:srgbClr val="D64454"/>
                  </a:solidFill>
                  <a:latin typeface="Trebuchet MS"/>
                </a:rPr>
                <a:t>If the premium tier is open, why isn't TCS iON or Coursera already dominant?</a:t>
              </a:r>
            </a:p>
          </p:txBody>
        </p:sp>
        <p:sp>
          <p:nvSpPr>
            <p:cNvPr id="217" name="L217"/>
            <p:cNvSpPr/>
            <p:nvPr/>
          </p:nvSpPr>
          <p:spPr>
            <a:xfrm>
              <a:off x="5661599" y="4213555"/>
              <a:ext cx="0" cy="426110"/>
            </a:xfrm>
            <a:prstGeom prst="line">
              <a:avLst/>
            </a:prstGeom>
            <a:ln w="12700">
              <a:solidFill>
                <a:srgbClr val="EEF3FF"/>
              </a:solidFill>
            </a:ln>
          </p:spPr>
          <p:txBody>
            <a:bodyPr/>
            <a:lstStyle/>
            <a:p>
              <a:endParaRPr lang="en-US"/>
            </a:p>
          </p:txBody>
        </p:sp>
        <p:sp>
          <p:nvSpPr>
            <p:cNvPr id="218" name="TB218"/>
            <p:cNvSpPr txBox="1"/>
            <p:nvPr/>
          </p:nvSpPr>
          <p:spPr>
            <a:xfrm>
              <a:off x="5862401" y="4176979"/>
              <a:ext cx="5468112" cy="499262"/>
            </a:xfrm>
            <a:prstGeom prst="rect">
              <a:avLst/>
            </a:prstGeom>
            <a:noFill/>
          </p:spPr>
          <p:txBody>
            <a:bodyPr wrap="square" rtlCol="0" anchor="ctr"/>
            <a:lstStyle/>
            <a:p>
              <a:r>
                <a:rPr lang="en-US" sz="1000" dirty="0">
                  <a:solidFill>
                    <a:srgbClr val="575757"/>
                  </a:solidFill>
                  <a:latin typeface="Trebuchet MS"/>
                </a:rPr>
                <a:t>TCS iON's est. ₹900 Cr govt book is exam infrastructure and LMS — not outcome-led tech upskilling. Coursera entered iGOT only in March 2026. Simplilearn has content but no placement proof. The premium tech-outcomes sub-segment (₹1,500–2,000 Cr addressable) has zero credentialed incumbent. The window is genuinely open.</a:t>
              </a:r>
            </a:p>
          </p:txBody>
        </p:sp>
      </p:grpSp>
      <p:grpSp>
        <p:nvGrpSpPr>
          <p:cNvPr id="8" name="Group 7">
            <a:extLst>
              <a:ext uri="{FF2B5EF4-FFF2-40B4-BE49-F238E27FC236}">
                <a16:creationId xmlns:a16="http://schemas.microsoft.com/office/drawing/2014/main" id="{A2DC97E4-CA78-D3C4-48EA-48680D428281}"/>
              </a:ext>
            </a:extLst>
          </p:cNvPr>
          <p:cNvGrpSpPr/>
          <p:nvPr/>
        </p:nvGrpSpPr>
        <p:grpSpPr>
          <a:xfrm>
            <a:off x="630936" y="4815396"/>
            <a:ext cx="10936224" cy="735724"/>
            <a:chOff x="630936" y="4804257"/>
            <a:chExt cx="10936224" cy="608990"/>
          </a:xfrm>
        </p:grpSpPr>
        <p:sp>
          <p:nvSpPr>
            <p:cNvPr id="219" name="RR219"/>
            <p:cNvSpPr/>
            <p:nvPr/>
          </p:nvSpPr>
          <p:spPr>
            <a:xfrm>
              <a:off x="630936" y="4804257"/>
              <a:ext cx="10936224" cy="608990"/>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20" name="R220"/>
            <p:cNvSpPr/>
            <p:nvPr/>
          </p:nvSpPr>
          <p:spPr>
            <a:xfrm>
              <a:off x="630936" y="4804257"/>
              <a:ext cx="73152" cy="608990"/>
            </a:xfrm>
            <a:prstGeom prst="rect">
              <a:avLst/>
            </a:prstGeom>
            <a:solidFill>
              <a:srgbClr val="1557FE"/>
            </a:solidFill>
            <a:ln>
              <a:noFill/>
            </a:ln>
          </p:spPr>
          <p:txBody>
            <a:bodyPr/>
            <a:lstStyle/>
            <a:p>
              <a:endParaRPr lang="en-US"/>
            </a:p>
          </p:txBody>
        </p:sp>
        <p:sp>
          <p:nvSpPr>
            <p:cNvPr id="221" name="O221"/>
            <p:cNvSpPr/>
            <p:nvPr/>
          </p:nvSpPr>
          <p:spPr>
            <a:xfrm>
              <a:off x="722375" y="4971592"/>
              <a:ext cx="274320" cy="274320"/>
            </a:xfrm>
            <a:prstGeom prst="ellipse">
              <a:avLst/>
            </a:prstGeom>
            <a:solidFill>
              <a:srgbClr val="D64454"/>
            </a:solidFill>
            <a:ln>
              <a:noFill/>
            </a:ln>
          </p:spPr>
          <p:txBody>
            <a:bodyPr/>
            <a:lstStyle/>
            <a:p>
              <a:endParaRPr lang="en-US"/>
            </a:p>
          </p:txBody>
        </p:sp>
        <p:sp>
          <p:nvSpPr>
            <p:cNvPr id="222" name="TB222"/>
            <p:cNvSpPr txBox="1"/>
            <p:nvPr/>
          </p:nvSpPr>
          <p:spPr>
            <a:xfrm>
              <a:off x="722375" y="4971592"/>
              <a:ext cx="274320" cy="274320"/>
            </a:xfrm>
            <a:prstGeom prst="rect">
              <a:avLst/>
            </a:prstGeom>
            <a:noFill/>
          </p:spPr>
          <p:txBody>
            <a:bodyPr wrap="square" rtlCol="0" anchor="ctr"/>
            <a:lstStyle/>
            <a:p>
              <a:pPr algn="ctr"/>
              <a:r>
                <a:rPr lang="en-US" sz="1100" b="1" dirty="0">
                  <a:solidFill>
                    <a:srgbClr val="FFFFFF"/>
                  </a:solidFill>
                  <a:latin typeface="Trebuchet MS"/>
                </a:rPr>
                <a:t>5</a:t>
              </a:r>
            </a:p>
          </p:txBody>
        </p:sp>
        <p:sp>
          <p:nvSpPr>
            <p:cNvPr id="223" name="TB223"/>
            <p:cNvSpPr txBox="1"/>
            <p:nvPr/>
          </p:nvSpPr>
          <p:spPr>
            <a:xfrm>
              <a:off x="1106424" y="4859121"/>
              <a:ext cx="4593214" cy="499262"/>
            </a:xfrm>
            <a:prstGeom prst="rect">
              <a:avLst/>
            </a:prstGeom>
            <a:noFill/>
          </p:spPr>
          <p:txBody>
            <a:bodyPr wrap="square" rtlCol="0" anchor="ctr"/>
            <a:lstStyle/>
            <a:p>
              <a:r>
                <a:rPr lang="en-US" sz="1100" b="1" dirty="0">
                  <a:solidFill>
                    <a:srgbClr val="D64454"/>
                  </a:solidFill>
                  <a:latin typeface="Trebuchet MS"/>
                </a:rPr>
                <a:t>Scaler's curriculum costs ₹3L+ for B2C. Will it survive L1 government procurement?</a:t>
              </a:r>
            </a:p>
          </p:txBody>
        </p:sp>
        <p:sp>
          <p:nvSpPr>
            <p:cNvPr id="224" name="L224"/>
            <p:cNvSpPr/>
            <p:nvPr/>
          </p:nvSpPr>
          <p:spPr>
            <a:xfrm>
              <a:off x="5661599" y="4895697"/>
              <a:ext cx="0" cy="426110"/>
            </a:xfrm>
            <a:prstGeom prst="line">
              <a:avLst/>
            </a:prstGeom>
            <a:ln w="12700">
              <a:solidFill>
                <a:srgbClr val="EEF3FF"/>
              </a:solidFill>
            </a:ln>
          </p:spPr>
          <p:txBody>
            <a:bodyPr/>
            <a:lstStyle/>
            <a:p>
              <a:endParaRPr lang="en-US"/>
            </a:p>
          </p:txBody>
        </p:sp>
        <p:sp>
          <p:nvSpPr>
            <p:cNvPr id="225" name="TB225"/>
            <p:cNvSpPr txBox="1"/>
            <p:nvPr/>
          </p:nvSpPr>
          <p:spPr>
            <a:xfrm>
              <a:off x="5862401" y="4859121"/>
              <a:ext cx="5468112" cy="499262"/>
            </a:xfrm>
            <a:prstGeom prst="rect">
              <a:avLst/>
            </a:prstGeom>
            <a:noFill/>
          </p:spPr>
          <p:txBody>
            <a:bodyPr wrap="square" rtlCol="0" anchor="ctr"/>
            <a:lstStyle/>
            <a:p>
              <a:r>
                <a:rPr lang="en-US" sz="1000" dirty="0">
                  <a:solidFill>
                    <a:srgbClr val="575757"/>
                  </a:solidFill>
                  <a:latin typeface="Trebuchet MS"/>
                </a:rPr>
                <a:t>PSU contracts are not L1 — they are enterprise procurement like any corporate client. BSNL, SBI, NTPC tender for tech training through direct vendor evaluation, not GeM. The Oct 2024 procurement reform also extended QCBS for tenders up to ₹10 Cr. Strategy: price PSU deals like enterprise B2B (₹40K/employee), avoid PMKVY mass-volume tenders entirely in Year 1.</a:t>
              </a:r>
            </a:p>
          </p:txBody>
        </p:sp>
      </p:grpSp>
      <p:grpSp>
        <p:nvGrpSpPr>
          <p:cNvPr id="9" name="Group 8">
            <a:extLst>
              <a:ext uri="{FF2B5EF4-FFF2-40B4-BE49-F238E27FC236}">
                <a16:creationId xmlns:a16="http://schemas.microsoft.com/office/drawing/2014/main" id="{98D63AD0-F0A0-D0FA-191C-5574342818C6}"/>
              </a:ext>
            </a:extLst>
          </p:cNvPr>
          <p:cNvGrpSpPr/>
          <p:nvPr/>
        </p:nvGrpSpPr>
        <p:grpSpPr>
          <a:xfrm>
            <a:off x="630936" y="5671988"/>
            <a:ext cx="10936224" cy="420624"/>
            <a:chOff x="630936" y="5522976"/>
            <a:chExt cx="10936224" cy="420624"/>
          </a:xfrm>
        </p:grpSpPr>
        <p:sp>
          <p:nvSpPr>
            <p:cNvPr id="226" name="RR226"/>
            <p:cNvSpPr/>
            <p:nvPr/>
          </p:nvSpPr>
          <p:spPr>
            <a:xfrm>
              <a:off x="630936" y="5522976"/>
              <a:ext cx="10936224" cy="420624"/>
            </a:xfrm>
            <a:prstGeom prst="roundRect">
              <a:avLst>
                <a:gd name="adj" fmla="val 5000"/>
              </a:avLst>
            </a:prstGeom>
            <a:solidFill>
              <a:srgbClr val="EEF3FF"/>
            </a:solidFill>
            <a:ln w="25400">
              <a:solidFill>
                <a:srgbClr val="1557FE"/>
              </a:solidFill>
            </a:ln>
          </p:spPr>
          <p:txBody>
            <a:bodyPr/>
            <a:lstStyle/>
            <a:p>
              <a:endParaRPr lang="en-US"/>
            </a:p>
          </p:txBody>
        </p:sp>
        <p:sp>
          <p:nvSpPr>
            <p:cNvPr id="227" name="TB227"/>
            <p:cNvSpPr txBox="1"/>
            <p:nvPr/>
          </p:nvSpPr>
          <p:spPr>
            <a:xfrm>
              <a:off x="795527" y="5577840"/>
              <a:ext cx="10607040" cy="310896"/>
            </a:xfrm>
            <a:prstGeom prst="rect">
              <a:avLst/>
            </a:prstGeom>
            <a:noFill/>
          </p:spPr>
          <p:txBody>
            <a:bodyPr wrap="square" rtlCol="0" anchor="ctr"/>
            <a:lstStyle/>
            <a:p>
              <a:r>
                <a:rPr lang="en-US" sz="1200" b="1" dirty="0">
                  <a:solidFill>
                    <a:srgbClr val="1557FE"/>
                  </a:solidFill>
                  <a:latin typeface="Trebuchet MS"/>
                </a:rPr>
                <a:t>Verdict: </a:t>
              </a:r>
              <a:r>
                <a:rPr lang="en-US" sz="1200" dirty="0">
                  <a:solidFill>
                    <a:srgbClr val="575757"/>
                  </a:solidFill>
                  <a:latin typeface="Trebuchet MS"/>
                </a:rPr>
                <a:t>Each question has a real, evidenced answer. The risk is not whether the thesis holds — it is whether Scaler moves fast enough before the window closes.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2F5BEA9-210B-BF8F-B4ED-24B61BF23442}"/>
              </a:ext>
            </a:extLst>
          </p:cNvPr>
          <p:cNvGraphicFramePr>
            <a:graphicFrameLocks noChangeAspect="1"/>
          </p:cNvGraphicFramePr>
          <p:nvPr>
            <p:custDataLst>
              <p:tags r:id="rId1"/>
            </p:custDataLst>
            <p:extLst>
              <p:ext uri="{D42A27DB-BD31-4B8C-83A1-F6EECF244321}">
                <p14:modId xmlns:p14="http://schemas.microsoft.com/office/powerpoint/2010/main" val="898242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8" name="ph_title"/>
          <p:cNvSpPr>
            <a:spLocks noGrp="1"/>
          </p:cNvSpPr>
          <p:nvPr>
            <p:ph type="title"/>
          </p:nvPr>
        </p:nvSpPr>
        <p:spPr>
          <a:xfrm>
            <a:off x="630000" y="622800"/>
            <a:ext cx="10933350" cy="664797"/>
          </a:xfrm>
        </p:spPr>
        <p:txBody>
          <a:bodyPr vert="horz"/>
          <a:lstStyle/>
          <a:p>
            <a:r>
              <a:rPr lang="en-US" dirty="0"/>
              <a:t>Five structural breaks make India's 2026 B2G market unrecognisable from what failed</a:t>
            </a:r>
          </a:p>
        </p:txBody>
      </p:sp>
      <p:grpSp>
        <p:nvGrpSpPr>
          <p:cNvPr id="34" name="Group 33">
            <a:extLst>
              <a:ext uri="{FF2B5EF4-FFF2-40B4-BE49-F238E27FC236}">
                <a16:creationId xmlns:a16="http://schemas.microsoft.com/office/drawing/2014/main" id="{CA150F5D-38CD-41BF-71E5-7814D60DB091}"/>
              </a:ext>
            </a:extLst>
          </p:cNvPr>
          <p:cNvGrpSpPr/>
          <p:nvPr/>
        </p:nvGrpSpPr>
        <p:grpSpPr>
          <a:xfrm>
            <a:off x="630000" y="1391580"/>
            <a:ext cx="11026907" cy="850421"/>
            <a:chOff x="630000" y="1391580"/>
            <a:chExt cx="11026907" cy="850421"/>
          </a:xfrm>
        </p:grpSpPr>
        <p:sp>
          <p:nvSpPr>
            <p:cNvPr id="230" name="RR230"/>
            <p:cNvSpPr/>
            <p:nvPr/>
          </p:nvSpPr>
          <p:spPr>
            <a:xfrm>
              <a:off x="630936" y="1391580"/>
              <a:ext cx="11025971" cy="850421"/>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31" name="R231"/>
            <p:cNvSpPr/>
            <p:nvPr/>
          </p:nvSpPr>
          <p:spPr>
            <a:xfrm>
              <a:off x="630936" y="1391580"/>
              <a:ext cx="2070201" cy="54864"/>
            </a:xfrm>
            <a:prstGeom prst="rect">
              <a:avLst/>
            </a:prstGeom>
            <a:solidFill>
              <a:srgbClr val="061A6E"/>
            </a:solidFill>
            <a:ln>
              <a:noFill/>
            </a:ln>
          </p:spPr>
          <p:txBody>
            <a:bodyPr/>
            <a:lstStyle/>
            <a:p>
              <a:endParaRPr lang="en-US"/>
            </a:p>
          </p:txBody>
        </p:sp>
        <p:sp>
          <p:nvSpPr>
            <p:cNvPr id="232" name="R232"/>
            <p:cNvSpPr/>
            <p:nvPr/>
          </p:nvSpPr>
          <p:spPr>
            <a:xfrm>
              <a:off x="630936" y="1391580"/>
              <a:ext cx="2070201" cy="384048"/>
            </a:xfrm>
            <a:prstGeom prst="rect">
              <a:avLst/>
            </a:prstGeom>
            <a:solidFill>
              <a:srgbClr val="061A6E"/>
            </a:solidFill>
            <a:ln>
              <a:noFill/>
            </a:ln>
          </p:spPr>
          <p:txBody>
            <a:bodyPr/>
            <a:lstStyle/>
            <a:p>
              <a:endParaRPr lang="en-US"/>
            </a:p>
          </p:txBody>
        </p:sp>
        <p:sp>
          <p:nvSpPr>
            <p:cNvPr id="233" name="TB233"/>
            <p:cNvSpPr txBox="1"/>
            <p:nvPr/>
          </p:nvSpPr>
          <p:spPr>
            <a:xfrm>
              <a:off x="704087" y="1391580"/>
              <a:ext cx="1923897" cy="384048"/>
            </a:xfrm>
            <a:prstGeom prst="rect">
              <a:avLst/>
            </a:prstGeom>
            <a:noFill/>
          </p:spPr>
          <p:txBody>
            <a:bodyPr wrap="square" rtlCol="0" anchor="ctr"/>
            <a:lstStyle/>
            <a:p>
              <a:r>
                <a:rPr lang="en-US" sz="1100" b="1" dirty="0">
                  <a:solidFill>
                    <a:srgbClr val="FFFFFF"/>
                  </a:solidFill>
                  <a:latin typeface="Trebuchet MS"/>
                </a:rPr>
                <a:t>PMKVY 5.0</a:t>
              </a:r>
            </a:p>
          </p:txBody>
        </p:sp>
        <p:sp>
          <p:nvSpPr>
            <p:cNvPr id="234" name="TB234"/>
            <p:cNvSpPr txBox="1"/>
            <p:nvPr/>
          </p:nvSpPr>
          <p:spPr>
            <a:xfrm>
              <a:off x="630000" y="1801057"/>
              <a:ext cx="10246750" cy="75324"/>
            </a:xfrm>
            <a:prstGeom prst="rect">
              <a:avLst/>
            </a:prstGeom>
            <a:noFill/>
          </p:spPr>
          <p:txBody>
            <a:bodyPr wrap="square" rtlCol="0" anchor="t"/>
            <a:lstStyle/>
            <a:p>
              <a:r>
                <a:rPr lang="en-US" sz="1000" b="1" dirty="0">
                  <a:solidFill>
                    <a:srgbClr val="061A6E"/>
                  </a:solidFill>
                  <a:latin typeface="Trebuchet MS"/>
                </a:rPr>
                <a:t>Skill outcome bonds</a:t>
              </a:r>
            </a:p>
          </p:txBody>
        </p:sp>
        <p:sp>
          <p:nvSpPr>
            <p:cNvPr id="235" name="TB235"/>
            <p:cNvSpPr txBox="1"/>
            <p:nvPr/>
          </p:nvSpPr>
          <p:spPr>
            <a:xfrm>
              <a:off x="2847441" y="1496009"/>
              <a:ext cx="3897582" cy="688993"/>
            </a:xfrm>
            <a:prstGeom prst="rect">
              <a:avLst/>
            </a:prstGeom>
            <a:noFill/>
          </p:spPr>
          <p:txBody>
            <a:bodyPr wrap="square" rtlCol="0" anchor="t"/>
            <a:lstStyle/>
            <a:p>
              <a:r>
                <a:rPr lang="en-US" sz="1000" dirty="0">
                  <a:solidFill>
                    <a:srgbClr val="575757"/>
                  </a:solidFill>
                  <a:latin typeface="Trebuchet MS"/>
                </a:rPr>
                <a:t>First time in PMKVY history payment will be linked to placement. 'Post-training outcome tracking for 1 year' + APAAR ID integration. Skill vouchers replace headcount-based funding.</a:t>
              </a:r>
            </a:p>
          </p:txBody>
        </p:sp>
        <p:pic>
          <p:nvPicPr>
            <p:cNvPr id="9" name="Picture 8">
              <a:extLst>
                <a:ext uri="{FF2B5EF4-FFF2-40B4-BE49-F238E27FC236}">
                  <a16:creationId xmlns:a16="http://schemas.microsoft.com/office/drawing/2014/main" id="{AEE0F6DA-D850-F437-AEAB-0C8C7541CE5E}"/>
                </a:ext>
              </a:extLst>
            </p:cNvPr>
            <p:cNvPicPr>
              <a:picLocks noChangeAspect="1"/>
            </p:cNvPicPr>
            <p:nvPr/>
          </p:nvPicPr>
          <p:blipFill>
            <a:blip r:embed="rId5"/>
            <a:stretch>
              <a:fillRect/>
            </a:stretch>
          </p:blipFill>
          <p:spPr>
            <a:xfrm>
              <a:off x="6839385" y="1425958"/>
              <a:ext cx="4556001" cy="595153"/>
            </a:xfrm>
            <a:prstGeom prst="rect">
              <a:avLst/>
            </a:prstGeom>
          </p:spPr>
        </p:pic>
      </p:grpSp>
      <p:sp>
        <p:nvSpPr>
          <p:cNvPr id="237" name="RR237"/>
          <p:cNvSpPr/>
          <p:nvPr/>
        </p:nvSpPr>
        <p:spPr>
          <a:xfrm>
            <a:off x="630936" y="2309094"/>
            <a:ext cx="11025971" cy="850421"/>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39" name="R239"/>
          <p:cNvSpPr/>
          <p:nvPr/>
        </p:nvSpPr>
        <p:spPr>
          <a:xfrm>
            <a:off x="630936" y="2309093"/>
            <a:ext cx="2070201" cy="384048"/>
          </a:xfrm>
          <a:prstGeom prst="rect">
            <a:avLst/>
          </a:prstGeom>
          <a:solidFill>
            <a:srgbClr val="0A3CB5"/>
          </a:solidFill>
          <a:ln>
            <a:noFill/>
          </a:ln>
        </p:spPr>
        <p:txBody>
          <a:bodyPr/>
          <a:lstStyle/>
          <a:p>
            <a:endParaRPr lang="en-US"/>
          </a:p>
        </p:txBody>
      </p:sp>
      <p:sp>
        <p:nvSpPr>
          <p:cNvPr id="240" name="TB240"/>
          <p:cNvSpPr txBox="1"/>
          <p:nvPr/>
        </p:nvSpPr>
        <p:spPr>
          <a:xfrm>
            <a:off x="667511" y="2309093"/>
            <a:ext cx="1997049" cy="384048"/>
          </a:xfrm>
          <a:prstGeom prst="rect">
            <a:avLst/>
          </a:prstGeom>
          <a:noFill/>
        </p:spPr>
        <p:txBody>
          <a:bodyPr wrap="square" rtlCol="0" anchor="ctr"/>
          <a:lstStyle/>
          <a:p>
            <a:r>
              <a:rPr lang="en-US" sz="1100" b="1" dirty="0">
                <a:solidFill>
                  <a:srgbClr val="FFFFFF"/>
                </a:solidFill>
                <a:latin typeface="Trebuchet MS"/>
              </a:rPr>
              <a:t>IndiaAI Mission</a:t>
            </a:r>
          </a:p>
        </p:txBody>
      </p:sp>
      <p:sp>
        <p:nvSpPr>
          <p:cNvPr id="241" name="TB241"/>
          <p:cNvSpPr txBox="1"/>
          <p:nvPr/>
        </p:nvSpPr>
        <p:spPr>
          <a:xfrm>
            <a:off x="630000" y="2722159"/>
            <a:ext cx="10246750" cy="75324"/>
          </a:xfrm>
          <a:prstGeom prst="rect">
            <a:avLst/>
          </a:prstGeom>
          <a:noFill/>
        </p:spPr>
        <p:txBody>
          <a:bodyPr wrap="square" rtlCol="0" anchor="t"/>
          <a:lstStyle/>
          <a:p>
            <a:r>
              <a:rPr lang="en-US" sz="1000" b="1" dirty="0">
                <a:solidFill>
                  <a:srgbClr val="0A3CB5"/>
                </a:solidFill>
                <a:latin typeface="Trebuchet MS"/>
              </a:rPr>
              <a:t>₹10,372 Cr; 543 AI Labs</a:t>
            </a:r>
          </a:p>
        </p:txBody>
      </p:sp>
      <p:sp>
        <p:nvSpPr>
          <p:cNvPr id="242" name="TB242"/>
          <p:cNvSpPr txBox="1"/>
          <p:nvPr/>
        </p:nvSpPr>
        <p:spPr>
          <a:xfrm>
            <a:off x="2847441" y="2391236"/>
            <a:ext cx="3897581" cy="688993"/>
          </a:xfrm>
          <a:prstGeom prst="rect">
            <a:avLst/>
          </a:prstGeom>
          <a:noFill/>
        </p:spPr>
        <p:txBody>
          <a:bodyPr wrap="square" rtlCol="0" anchor="t"/>
          <a:lstStyle/>
          <a:p>
            <a:r>
              <a:rPr lang="en-US" sz="1000" dirty="0">
                <a:solidFill>
                  <a:srgbClr val="575757"/>
                </a:solidFill>
                <a:latin typeface="Trebuchet MS"/>
              </a:rPr>
              <a:t>Cabinet-approved Mar 2024. By Feb 2026: 38K GPUs, 12 foundation model consortia, 174 ITIs/polytechnics nominated. FutureSkills pillar funds AI curriculum supply through private partnerships.</a:t>
            </a:r>
          </a:p>
        </p:txBody>
      </p:sp>
      <p:sp>
        <p:nvSpPr>
          <p:cNvPr id="243" name="TB243"/>
          <p:cNvSpPr txBox="1"/>
          <p:nvPr/>
        </p:nvSpPr>
        <p:spPr>
          <a:xfrm>
            <a:off x="10863633" y="2963820"/>
            <a:ext cx="852381" cy="190608"/>
          </a:xfrm>
          <a:prstGeom prst="rect">
            <a:avLst/>
          </a:prstGeom>
          <a:noFill/>
        </p:spPr>
        <p:txBody>
          <a:bodyPr wrap="square" rtlCol="0" anchor="t"/>
          <a:lstStyle/>
          <a:p>
            <a:r>
              <a:rPr lang="en-US" sz="900" dirty="0">
                <a:solidFill>
                  <a:srgbClr val="6E6F73"/>
                </a:solidFill>
                <a:latin typeface="Trebuchet MS"/>
              </a:rPr>
              <a:t>PIB Feb 2026</a:t>
            </a:r>
          </a:p>
        </p:txBody>
      </p:sp>
      <p:pic>
        <p:nvPicPr>
          <p:cNvPr id="14" name="Picture 13">
            <a:extLst>
              <a:ext uri="{FF2B5EF4-FFF2-40B4-BE49-F238E27FC236}">
                <a16:creationId xmlns:a16="http://schemas.microsoft.com/office/drawing/2014/main" id="{8E2C860B-2244-D5B2-1436-48D7B4019C89}"/>
              </a:ext>
            </a:extLst>
          </p:cNvPr>
          <p:cNvPicPr>
            <a:picLocks noChangeAspect="1"/>
          </p:cNvPicPr>
          <p:nvPr/>
        </p:nvPicPr>
        <p:blipFill>
          <a:blip r:embed="rId6"/>
          <a:stretch>
            <a:fillRect/>
          </a:stretch>
        </p:blipFill>
        <p:spPr>
          <a:xfrm>
            <a:off x="7847153" y="2379532"/>
            <a:ext cx="2544199" cy="531941"/>
          </a:xfrm>
          <a:prstGeom prst="rect">
            <a:avLst/>
          </a:prstGeom>
        </p:spPr>
      </p:pic>
      <p:grpSp>
        <p:nvGrpSpPr>
          <p:cNvPr id="36" name="Group 35">
            <a:extLst>
              <a:ext uri="{FF2B5EF4-FFF2-40B4-BE49-F238E27FC236}">
                <a16:creationId xmlns:a16="http://schemas.microsoft.com/office/drawing/2014/main" id="{9BC4D55C-0318-4F9A-AC66-5C38F082B2C0}"/>
              </a:ext>
            </a:extLst>
          </p:cNvPr>
          <p:cNvGrpSpPr/>
          <p:nvPr/>
        </p:nvGrpSpPr>
        <p:grpSpPr>
          <a:xfrm>
            <a:off x="630000" y="3261574"/>
            <a:ext cx="11092784" cy="850422"/>
            <a:chOff x="630000" y="3444449"/>
            <a:chExt cx="11092784" cy="850422"/>
          </a:xfrm>
        </p:grpSpPr>
        <p:sp>
          <p:nvSpPr>
            <p:cNvPr id="244" name="RR244"/>
            <p:cNvSpPr/>
            <p:nvPr/>
          </p:nvSpPr>
          <p:spPr>
            <a:xfrm>
              <a:off x="630936" y="3444450"/>
              <a:ext cx="11025971" cy="850421"/>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grpSp>
          <p:nvGrpSpPr>
            <p:cNvPr id="30" name="Group 29">
              <a:extLst>
                <a:ext uri="{FF2B5EF4-FFF2-40B4-BE49-F238E27FC236}">
                  <a16:creationId xmlns:a16="http://schemas.microsoft.com/office/drawing/2014/main" id="{F5CDF447-8E2C-CDD6-DB9F-4A06E1BA1763}"/>
                </a:ext>
              </a:extLst>
            </p:cNvPr>
            <p:cNvGrpSpPr/>
            <p:nvPr/>
          </p:nvGrpSpPr>
          <p:grpSpPr>
            <a:xfrm>
              <a:off x="630936" y="3444449"/>
              <a:ext cx="2070201" cy="384048"/>
              <a:chOff x="618068" y="3444449"/>
              <a:chExt cx="2070201" cy="384048"/>
            </a:xfrm>
          </p:grpSpPr>
          <p:sp>
            <p:nvSpPr>
              <p:cNvPr id="245" name="R245"/>
              <p:cNvSpPr/>
              <p:nvPr/>
            </p:nvSpPr>
            <p:spPr>
              <a:xfrm>
                <a:off x="618068" y="3444449"/>
                <a:ext cx="2070201" cy="54864"/>
              </a:xfrm>
              <a:prstGeom prst="rect">
                <a:avLst/>
              </a:prstGeom>
              <a:solidFill>
                <a:srgbClr val="1557FE"/>
              </a:solidFill>
              <a:ln>
                <a:noFill/>
              </a:ln>
            </p:spPr>
            <p:txBody>
              <a:bodyPr/>
              <a:lstStyle/>
              <a:p>
                <a:endParaRPr lang="en-US"/>
              </a:p>
            </p:txBody>
          </p:sp>
          <p:sp>
            <p:nvSpPr>
              <p:cNvPr id="246" name="R246"/>
              <p:cNvSpPr/>
              <p:nvPr/>
            </p:nvSpPr>
            <p:spPr>
              <a:xfrm>
                <a:off x="618068" y="3444449"/>
                <a:ext cx="2070201" cy="384048"/>
              </a:xfrm>
              <a:prstGeom prst="rect">
                <a:avLst/>
              </a:prstGeom>
              <a:solidFill>
                <a:srgbClr val="1557FE"/>
              </a:solidFill>
              <a:ln>
                <a:noFill/>
              </a:ln>
            </p:spPr>
            <p:txBody>
              <a:bodyPr/>
              <a:lstStyle/>
              <a:p>
                <a:endParaRPr lang="en-US"/>
              </a:p>
            </p:txBody>
          </p:sp>
          <p:sp>
            <p:nvSpPr>
              <p:cNvPr id="247" name="TB247"/>
              <p:cNvSpPr txBox="1"/>
              <p:nvPr/>
            </p:nvSpPr>
            <p:spPr>
              <a:xfrm>
                <a:off x="691220" y="3444449"/>
                <a:ext cx="1923897" cy="384048"/>
              </a:xfrm>
              <a:prstGeom prst="rect">
                <a:avLst/>
              </a:prstGeom>
              <a:noFill/>
            </p:spPr>
            <p:txBody>
              <a:bodyPr wrap="square" rtlCol="0" anchor="ctr"/>
              <a:lstStyle/>
              <a:p>
                <a:r>
                  <a:rPr lang="en-US" sz="1100" b="1" dirty="0">
                    <a:solidFill>
                      <a:srgbClr val="FFFFFF"/>
                    </a:solidFill>
                    <a:latin typeface="Trebuchet MS"/>
                  </a:rPr>
                  <a:t>Mission Karmayogi</a:t>
                </a:r>
              </a:p>
              <a:p>
                <a:r>
                  <a:rPr lang="en-US" sz="1100" b="1" dirty="0">
                    <a:solidFill>
                      <a:srgbClr val="FFFFFF"/>
                    </a:solidFill>
                    <a:latin typeface="Trebuchet MS"/>
                  </a:rPr>
                  <a:t>+ Coursera</a:t>
                </a:r>
              </a:p>
            </p:txBody>
          </p:sp>
        </p:grpSp>
        <p:sp>
          <p:nvSpPr>
            <p:cNvPr id="248" name="TB248"/>
            <p:cNvSpPr txBox="1"/>
            <p:nvPr/>
          </p:nvSpPr>
          <p:spPr>
            <a:xfrm>
              <a:off x="630000" y="3877932"/>
              <a:ext cx="10246750" cy="75324"/>
            </a:xfrm>
            <a:prstGeom prst="rect">
              <a:avLst/>
            </a:prstGeom>
            <a:noFill/>
          </p:spPr>
          <p:txBody>
            <a:bodyPr wrap="square" rtlCol="0" anchor="t"/>
            <a:lstStyle/>
            <a:p>
              <a:r>
                <a:rPr lang="en-US" sz="1000" b="1" dirty="0">
                  <a:solidFill>
                    <a:srgbClr val="1557FE"/>
                  </a:solidFill>
                  <a:latin typeface="Trebuchet MS"/>
                </a:rPr>
                <a:t>7.5M civil servants; iGOT open</a:t>
              </a:r>
            </a:p>
          </p:txBody>
        </p:sp>
        <p:sp>
          <p:nvSpPr>
            <p:cNvPr id="249" name="TB249"/>
            <p:cNvSpPr txBox="1"/>
            <p:nvPr/>
          </p:nvSpPr>
          <p:spPr>
            <a:xfrm>
              <a:off x="2847441" y="3569587"/>
              <a:ext cx="3897581" cy="688993"/>
            </a:xfrm>
            <a:prstGeom prst="rect">
              <a:avLst/>
            </a:prstGeom>
            <a:noFill/>
          </p:spPr>
          <p:txBody>
            <a:bodyPr wrap="square" rtlCol="0" anchor="t"/>
            <a:lstStyle/>
            <a:p>
              <a:r>
                <a:rPr lang="en-US" sz="1000" dirty="0">
                  <a:solidFill>
                    <a:srgbClr val="575757"/>
                  </a:solidFill>
                  <a:latin typeface="Trebuchet MS"/>
                </a:rPr>
                <a:t>March 2026: Coursera contracts with Karmayogi Bharat for AI for Leaders, Data Analytics, Cybersecurity. Private content marketplace model validated at 7.5M seat scale.</a:t>
              </a:r>
            </a:p>
          </p:txBody>
        </p:sp>
        <p:sp>
          <p:nvSpPr>
            <p:cNvPr id="250" name="TB250"/>
            <p:cNvSpPr txBox="1"/>
            <p:nvPr/>
          </p:nvSpPr>
          <p:spPr>
            <a:xfrm>
              <a:off x="10057603" y="4087435"/>
              <a:ext cx="1665181" cy="188082"/>
            </a:xfrm>
            <a:prstGeom prst="rect">
              <a:avLst/>
            </a:prstGeom>
            <a:noFill/>
          </p:spPr>
          <p:txBody>
            <a:bodyPr wrap="square" rtlCol="0" anchor="t"/>
            <a:lstStyle/>
            <a:p>
              <a:r>
                <a:rPr lang="en-US" sz="900" dirty="0">
                  <a:solidFill>
                    <a:srgbClr val="6E6F73"/>
                  </a:solidFill>
                  <a:latin typeface="Trebuchet MS"/>
                </a:rPr>
                <a:t>Education Matters, Mar 2026</a:t>
              </a:r>
            </a:p>
          </p:txBody>
        </p:sp>
        <p:pic>
          <p:nvPicPr>
            <p:cNvPr id="19" name="Picture 18">
              <a:extLst>
                <a:ext uri="{FF2B5EF4-FFF2-40B4-BE49-F238E27FC236}">
                  <a16:creationId xmlns:a16="http://schemas.microsoft.com/office/drawing/2014/main" id="{441C77EC-B8EC-F4AA-075D-F29E408E6360}"/>
                </a:ext>
              </a:extLst>
            </p:cNvPr>
            <p:cNvPicPr>
              <a:picLocks noChangeAspect="1"/>
            </p:cNvPicPr>
            <p:nvPr/>
          </p:nvPicPr>
          <p:blipFill>
            <a:blip r:embed="rId7"/>
            <a:stretch>
              <a:fillRect/>
            </a:stretch>
          </p:blipFill>
          <p:spPr>
            <a:xfrm>
              <a:off x="8377662" y="3559897"/>
              <a:ext cx="1165965" cy="636311"/>
            </a:xfrm>
            <a:prstGeom prst="rect">
              <a:avLst/>
            </a:prstGeom>
          </p:spPr>
        </p:pic>
      </p:grpSp>
      <p:grpSp>
        <p:nvGrpSpPr>
          <p:cNvPr id="39" name="Group 38">
            <a:extLst>
              <a:ext uri="{FF2B5EF4-FFF2-40B4-BE49-F238E27FC236}">
                <a16:creationId xmlns:a16="http://schemas.microsoft.com/office/drawing/2014/main" id="{9380DF77-9D92-9B95-B8D6-2A25035684E3}"/>
              </a:ext>
            </a:extLst>
          </p:cNvPr>
          <p:cNvGrpSpPr/>
          <p:nvPr/>
        </p:nvGrpSpPr>
        <p:grpSpPr>
          <a:xfrm>
            <a:off x="630000" y="4217074"/>
            <a:ext cx="11099560" cy="875477"/>
            <a:chOff x="630000" y="4454136"/>
            <a:chExt cx="11099560" cy="875477"/>
          </a:xfrm>
        </p:grpSpPr>
        <p:sp>
          <p:nvSpPr>
            <p:cNvPr id="251" name="RR251"/>
            <p:cNvSpPr/>
            <p:nvPr/>
          </p:nvSpPr>
          <p:spPr>
            <a:xfrm>
              <a:off x="630936" y="4454137"/>
              <a:ext cx="11025971" cy="850421"/>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55" name="TB255"/>
            <p:cNvSpPr txBox="1"/>
            <p:nvPr/>
          </p:nvSpPr>
          <p:spPr>
            <a:xfrm>
              <a:off x="630000" y="4819818"/>
              <a:ext cx="10246750" cy="75324"/>
            </a:xfrm>
            <a:prstGeom prst="rect">
              <a:avLst/>
            </a:prstGeom>
            <a:noFill/>
          </p:spPr>
          <p:txBody>
            <a:bodyPr wrap="square" rtlCol="0" anchor="t"/>
            <a:lstStyle/>
            <a:p>
              <a:r>
                <a:rPr lang="en-US" sz="1000" b="1" dirty="0">
                  <a:solidFill>
                    <a:srgbClr val="4A90E2"/>
                  </a:solidFill>
                  <a:latin typeface="Trebuchet MS"/>
                </a:rPr>
                <a:t>'Hand skilling to private sector'</a:t>
              </a:r>
            </a:p>
          </p:txBody>
        </p:sp>
        <p:sp>
          <p:nvSpPr>
            <p:cNvPr id="256" name="TB256"/>
            <p:cNvSpPr txBox="1"/>
            <p:nvPr/>
          </p:nvSpPr>
          <p:spPr>
            <a:xfrm>
              <a:off x="2847441" y="4525090"/>
              <a:ext cx="3897581" cy="688993"/>
            </a:xfrm>
            <a:prstGeom prst="rect">
              <a:avLst/>
            </a:prstGeom>
            <a:noFill/>
          </p:spPr>
          <p:txBody>
            <a:bodyPr wrap="square" rtlCol="0" anchor="t"/>
            <a:lstStyle/>
            <a:p>
              <a:r>
                <a:rPr lang="en-US" sz="1000" dirty="0">
                  <a:solidFill>
                    <a:srgbClr val="575757"/>
                  </a:solidFill>
                  <a:latin typeface="Trebuchet MS"/>
                </a:rPr>
                <a:t>BVR Subrahmanyam, May 17 2025: suggests govt should hand over skilling institutions to private sector. 180° reversal from post-2016 centralised CSCM model. Top-of-govt political cover for PPPs.</a:t>
              </a:r>
            </a:p>
          </p:txBody>
        </p:sp>
        <p:sp>
          <p:nvSpPr>
            <p:cNvPr id="257" name="TB257"/>
            <p:cNvSpPr txBox="1"/>
            <p:nvPr/>
          </p:nvSpPr>
          <p:spPr>
            <a:xfrm>
              <a:off x="10324474" y="5116211"/>
              <a:ext cx="1405086" cy="213402"/>
            </a:xfrm>
            <a:prstGeom prst="rect">
              <a:avLst/>
            </a:prstGeom>
            <a:noFill/>
          </p:spPr>
          <p:txBody>
            <a:bodyPr wrap="square" rtlCol="0" anchor="t"/>
            <a:lstStyle/>
            <a:p>
              <a:r>
                <a:rPr lang="en-US" sz="900" dirty="0">
                  <a:solidFill>
                    <a:srgbClr val="6E6F73"/>
                  </a:solidFill>
                  <a:latin typeface="Trebuchet MS"/>
                </a:rPr>
                <a:t>The Federal, May 2025</a:t>
              </a:r>
            </a:p>
          </p:txBody>
        </p:sp>
        <p:grpSp>
          <p:nvGrpSpPr>
            <p:cNvPr id="31" name="Group 30">
              <a:extLst>
                <a:ext uri="{FF2B5EF4-FFF2-40B4-BE49-F238E27FC236}">
                  <a16:creationId xmlns:a16="http://schemas.microsoft.com/office/drawing/2014/main" id="{B3EE5C64-1B31-C55C-52EB-6BE7CE7BF3E8}"/>
                </a:ext>
              </a:extLst>
            </p:cNvPr>
            <p:cNvGrpSpPr/>
            <p:nvPr/>
          </p:nvGrpSpPr>
          <p:grpSpPr>
            <a:xfrm>
              <a:off x="630936" y="4454136"/>
              <a:ext cx="2070201" cy="384048"/>
              <a:chOff x="618068" y="4454136"/>
              <a:chExt cx="2070201" cy="384048"/>
            </a:xfrm>
          </p:grpSpPr>
          <p:sp>
            <p:nvSpPr>
              <p:cNvPr id="253" name="R253"/>
              <p:cNvSpPr/>
              <p:nvPr/>
            </p:nvSpPr>
            <p:spPr>
              <a:xfrm>
                <a:off x="618068" y="4454136"/>
                <a:ext cx="2070201" cy="384048"/>
              </a:xfrm>
              <a:prstGeom prst="rect">
                <a:avLst/>
              </a:prstGeom>
              <a:solidFill>
                <a:srgbClr val="4A90E2"/>
              </a:solidFill>
              <a:ln>
                <a:noFill/>
              </a:ln>
            </p:spPr>
            <p:txBody>
              <a:bodyPr/>
              <a:lstStyle/>
              <a:p>
                <a:endParaRPr lang="en-US"/>
              </a:p>
            </p:txBody>
          </p:sp>
          <p:sp>
            <p:nvSpPr>
              <p:cNvPr id="254" name="TB254"/>
              <p:cNvSpPr txBox="1"/>
              <p:nvPr/>
            </p:nvSpPr>
            <p:spPr>
              <a:xfrm>
                <a:off x="691220" y="4454136"/>
                <a:ext cx="1923897" cy="384048"/>
              </a:xfrm>
              <a:prstGeom prst="rect">
                <a:avLst/>
              </a:prstGeom>
              <a:noFill/>
            </p:spPr>
            <p:txBody>
              <a:bodyPr wrap="square" rtlCol="0" anchor="ctr"/>
              <a:lstStyle/>
              <a:p>
                <a:r>
                  <a:rPr lang="en-US" sz="1100" b="1" dirty="0">
                    <a:solidFill>
                      <a:srgbClr val="FFFFFF"/>
                    </a:solidFill>
                    <a:latin typeface="Trebuchet MS"/>
                  </a:rPr>
                  <a:t>NITI Aayog CEO</a:t>
                </a:r>
              </a:p>
            </p:txBody>
          </p:sp>
          <p:sp>
            <p:nvSpPr>
              <p:cNvPr id="252" name="R252"/>
              <p:cNvSpPr/>
              <p:nvPr/>
            </p:nvSpPr>
            <p:spPr>
              <a:xfrm>
                <a:off x="618068" y="4454136"/>
                <a:ext cx="2070201" cy="54864"/>
              </a:xfrm>
              <a:prstGeom prst="rect">
                <a:avLst/>
              </a:prstGeom>
              <a:solidFill>
                <a:srgbClr val="4A90E2"/>
              </a:solidFill>
              <a:ln>
                <a:noFill/>
              </a:ln>
            </p:spPr>
            <p:txBody>
              <a:bodyPr/>
              <a:lstStyle/>
              <a:p>
                <a:endParaRPr lang="en-US"/>
              </a:p>
            </p:txBody>
          </p:sp>
        </p:grpSp>
        <p:pic>
          <p:nvPicPr>
            <p:cNvPr id="38" name="Picture 37">
              <a:extLst>
                <a:ext uri="{FF2B5EF4-FFF2-40B4-BE49-F238E27FC236}">
                  <a16:creationId xmlns:a16="http://schemas.microsoft.com/office/drawing/2014/main" id="{50BBD613-F4BB-76BD-A945-D54370091DE6}"/>
                </a:ext>
              </a:extLst>
            </p:cNvPr>
            <p:cNvPicPr>
              <a:picLocks noChangeAspect="1"/>
            </p:cNvPicPr>
            <p:nvPr/>
          </p:nvPicPr>
          <p:blipFill>
            <a:blip r:embed="rId8"/>
            <a:stretch>
              <a:fillRect/>
            </a:stretch>
          </p:blipFill>
          <p:spPr>
            <a:xfrm>
              <a:off x="8206693" y="4491506"/>
              <a:ext cx="2184659" cy="653130"/>
            </a:xfrm>
            <a:prstGeom prst="rect">
              <a:avLst/>
            </a:prstGeom>
          </p:spPr>
        </p:pic>
      </p:grpSp>
      <p:grpSp>
        <p:nvGrpSpPr>
          <p:cNvPr id="42" name="Group 41">
            <a:extLst>
              <a:ext uri="{FF2B5EF4-FFF2-40B4-BE49-F238E27FC236}">
                <a16:creationId xmlns:a16="http://schemas.microsoft.com/office/drawing/2014/main" id="{0D060CF1-7998-F807-E7CF-F55B5D36DE50}"/>
              </a:ext>
            </a:extLst>
          </p:cNvPr>
          <p:cNvGrpSpPr/>
          <p:nvPr/>
        </p:nvGrpSpPr>
        <p:grpSpPr>
          <a:xfrm>
            <a:off x="630000" y="5195443"/>
            <a:ext cx="11116294" cy="870369"/>
            <a:chOff x="630000" y="5486695"/>
            <a:chExt cx="11116294" cy="870369"/>
          </a:xfrm>
        </p:grpSpPr>
        <p:sp>
          <p:nvSpPr>
            <p:cNvPr id="27" name="RR230">
              <a:extLst>
                <a:ext uri="{FF2B5EF4-FFF2-40B4-BE49-F238E27FC236}">
                  <a16:creationId xmlns:a16="http://schemas.microsoft.com/office/drawing/2014/main" id="{207C2E6A-CD4E-9C98-3F67-7B8CDC03A9CF}"/>
                </a:ext>
              </a:extLst>
            </p:cNvPr>
            <p:cNvSpPr/>
            <p:nvPr/>
          </p:nvSpPr>
          <p:spPr>
            <a:xfrm>
              <a:off x="630936" y="5486695"/>
              <a:ext cx="11025971" cy="850421"/>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62" name="TB262"/>
            <p:cNvSpPr txBox="1"/>
            <p:nvPr/>
          </p:nvSpPr>
          <p:spPr>
            <a:xfrm>
              <a:off x="630000" y="5942464"/>
              <a:ext cx="10246750" cy="75324"/>
            </a:xfrm>
            <a:prstGeom prst="rect">
              <a:avLst/>
            </a:prstGeom>
            <a:noFill/>
          </p:spPr>
          <p:txBody>
            <a:bodyPr wrap="square" rtlCol="0" anchor="t"/>
            <a:lstStyle/>
            <a:p>
              <a:r>
                <a:rPr lang="en-US" sz="1000" b="1" dirty="0">
                  <a:solidFill>
                    <a:srgbClr val="E8850A"/>
                  </a:solidFill>
                  <a:latin typeface="Trebuchet MS"/>
                </a:rPr>
                <a:t>Quality-cum-cost now allowed</a:t>
              </a:r>
            </a:p>
          </p:txBody>
        </p:sp>
        <p:grpSp>
          <p:nvGrpSpPr>
            <p:cNvPr id="32" name="Group 31">
              <a:extLst>
                <a:ext uri="{FF2B5EF4-FFF2-40B4-BE49-F238E27FC236}">
                  <a16:creationId xmlns:a16="http://schemas.microsoft.com/office/drawing/2014/main" id="{CAF6728B-9596-4CC9-B1B1-3D4DCFA5D6D3}"/>
                </a:ext>
              </a:extLst>
            </p:cNvPr>
            <p:cNvGrpSpPr/>
            <p:nvPr/>
          </p:nvGrpSpPr>
          <p:grpSpPr>
            <a:xfrm>
              <a:off x="630936" y="5500526"/>
              <a:ext cx="2070201" cy="384048"/>
              <a:chOff x="615511" y="5500526"/>
              <a:chExt cx="2070201" cy="384048"/>
            </a:xfrm>
          </p:grpSpPr>
          <p:sp>
            <p:nvSpPr>
              <p:cNvPr id="260" name="R260"/>
              <p:cNvSpPr/>
              <p:nvPr/>
            </p:nvSpPr>
            <p:spPr>
              <a:xfrm>
                <a:off x="615511" y="5500526"/>
                <a:ext cx="2070201" cy="384048"/>
              </a:xfrm>
              <a:prstGeom prst="rect">
                <a:avLst/>
              </a:prstGeom>
              <a:solidFill>
                <a:srgbClr val="E8850A"/>
              </a:solidFill>
              <a:ln>
                <a:noFill/>
              </a:ln>
            </p:spPr>
            <p:txBody>
              <a:bodyPr/>
              <a:lstStyle/>
              <a:p>
                <a:endParaRPr lang="en-US"/>
              </a:p>
            </p:txBody>
          </p:sp>
          <p:sp>
            <p:nvSpPr>
              <p:cNvPr id="261" name="TB261"/>
              <p:cNvSpPr txBox="1"/>
              <p:nvPr/>
            </p:nvSpPr>
            <p:spPr>
              <a:xfrm>
                <a:off x="688663" y="5500526"/>
                <a:ext cx="1923897" cy="384048"/>
              </a:xfrm>
              <a:prstGeom prst="rect">
                <a:avLst/>
              </a:prstGeom>
              <a:noFill/>
            </p:spPr>
            <p:txBody>
              <a:bodyPr wrap="square" rtlCol="0" anchor="ctr"/>
              <a:lstStyle/>
              <a:p>
                <a:r>
                  <a:rPr lang="en-US" sz="1100" b="1" dirty="0">
                    <a:solidFill>
                      <a:srgbClr val="FFFFFF"/>
                    </a:solidFill>
                    <a:latin typeface="Trebuchet MS"/>
                  </a:rPr>
                  <a:t>L1 Procurement Reform</a:t>
                </a:r>
              </a:p>
            </p:txBody>
          </p:sp>
        </p:grpSp>
        <p:sp>
          <p:nvSpPr>
            <p:cNvPr id="28" name="TB256">
              <a:extLst>
                <a:ext uri="{FF2B5EF4-FFF2-40B4-BE49-F238E27FC236}">
                  <a16:creationId xmlns:a16="http://schemas.microsoft.com/office/drawing/2014/main" id="{9D022D8F-9237-BDE8-F295-112F215401BF}"/>
                </a:ext>
              </a:extLst>
            </p:cNvPr>
            <p:cNvSpPr txBox="1"/>
            <p:nvPr/>
          </p:nvSpPr>
          <p:spPr>
            <a:xfrm>
              <a:off x="2847441" y="5611880"/>
              <a:ext cx="3897581" cy="688993"/>
            </a:xfrm>
            <a:prstGeom prst="rect">
              <a:avLst/>
            </a:prstGeom>
            <a:noFill/>
          </p:spPr>
          <p:txBody>
            <a:bodyPr wrap="square" rtlCol="0" anchor="t"/>
            <a:lstStyle/>
            <a:p>
              <a:r>
                <a:rPr lang="en-US" sz="1000" dirty="0">
                  <a:solidFill>
                    <a:srgbClr val="575757"/>
                  </a:solidFill>
                </a:rPr>
                <a:t>GFR amended to permit Quality-cum-Cost Based Selection on complex IT/skilling tenders up to ₹10 Cr. Removes structural pricing impossibility for premium quality offerings on mid-size contracts.</a:t>
              </a:r>
              <a:endParaRPr lang="en-US" sz="1000" dirty="0">
                <a:solidFill>
                  <a:srgbClr val="575757"/>
                </a:solidFill>
                <a:latin typeface="Trebuchet MS"/>
              </a:endParaRPr>
            </a:p>
          </p:txBody>
        </p:sp>
        <p:sp>
          <p:nvSpPr>
            <p:cNvPr id="33" name="TB243">
              <a:extLst>
                <a:ext uri="{FF2B5EF4-FFF2-40B4-BE49-F238E27FC236}">
                  <a16:creationId xmlns:a16="http://schemas.microsoft.com/office/drawing/2014/main" id="{21BCE51E-3BBE-5199-9A4A-A9F6F4682816}"/>
                </a:ext>
              </a:extLst>
            </p:cNvPr>
            <p:cNvSpPr txBox="1"/>
            <p:nvPr/>
          </p:nvSpPr>
          <p:spPr>
            <a:xfrm>
              <a:off x="10047644" y="6167100"/>
              <a:ext cx="1698650" cy="189964"/>
            </a:xfrm>
            <a:prstGeom prst="rect">
              <a:avLst/>
            </a:prstGeom>
            <a:noFill/>
          </p:spPr>
          <p:txBody>
            <a:bodyPr wrap="square" rtlCol="0" anchor="t"/>
            <a:lstStyle/>
            <a:p>
              <a:r>
                <a:rPr lang="en-US" sz="900" dirty="0">
                  <a:solidFill>
                    <a:srgbClr val="6E6F73"/>
                  </a:solidFill>
                </a:rPr>
                <a:t>The Print L1 reform Oct 2024</a:t>
              </a:r>
              <a:endParaRPr lang="en-US" sz="900" dirty="0">
                <a:solidFill>
                  <a:srgbClr val="6E6F73"/>
                </a:solidFill>
                <a:latin typeface="Trebuchet MS"/>
              </a:endParaRPr>
            </a:p>
          </p:txBody>
        </p:sp>
        <p:pic>
          <p:nvPicPr>
            <p:cNvPr id="41" name="Picture 40">
              <a:extLst>
                <a:ext uri="{FF2B5EF4-FFF2-40B4-BE49-F238E27FC236}">
                  <a16:creationId xmlns:a16="http://schemas.microsoft.com/office/drawing/2014/main" id="{B3B3E243-D66E-C5E7-36E4-1A01FFA71288}"/>
                </a:ext>
              </a:extLst>
            </p:cNvPr>
            <p:cNvPicPr>
              <a:picLocks noChangeAspect="1"/>
            </p:cNvPicPr>
            <p:nvPr/>
          </p:nvPicPr>
          <p:blipFill>
            <a:blip r:embed="rId9"/>
            <a:stretch>
              <a:fillRect/>
            </a:stretch>
          </p:blipFill>
          <p:spPr>
            <a:xfrm>
              <a:off x="7847153" y="5596975"/>
              <a:ext cx="2674024" cy="458404"/>
            </a:xfrm>
            <a:prstGeom prst="rect">
              <a:avLst/>
            </a:prstGeom>
          </p:spPr>
        </p:pic>
      </p:grpSp>
      <p:sp>
        <p:nvSpPr>
          <p:cNvPr id="43" name="TB190">
            <a:extLst>
              <a:ext uri="{FF2B5EF4-FFF2-40B4-BE49-F238E27FC236}">
                <a16:creationId xmlns:a16="http://schemas.microsoft.com/office/drawing/2014/main" id="{E462CB39-31F9-6AA5-9230-E104FBACF0B6}"/>
              </a:ext>
            </a:extLst>
          </p:cNvPr>
          <p:cNvSpPr txBox="1"/>
          <p:nvPr/>
        </p:nvSpPr>
        <p:spPr>
          <a:xfrm>
            <a:off x="630936" y="6163056"/>
            <a:ext cx="9034272" cy="274320"/>
          </a:xfrm>
          <a:prstGeom prst="rect">
            <a:avLst/>
          </a:prstGeom>
          <a:noFill/>
        </p:spPr>
        <p:txBody>
          <a:bodyPr wrap="square" rtlCol="0" anchor="t"/>
          <a:lstStyle/>
          <a:p>
            <a:r>
              <a:rPr lang="en-US" sz="1000" dirty="0">
                <a:solidFill>
                  <a:srgbClr val="6E6F73"/>
                </a:solidFill>
              </a:rPr>
              <a:t>Source: PIB </a:t>
            </a:r>
            <a:r>
              <a:rPr lang="en-US" sz="1000" dirty="0" err="1">
                <a:solidFill>
                  <a:srgbClr val="6E6F73"/>
                </a:solidFill>
              </a:rPr>
              <a:t>IndiaAI</a:t>
            </a:r>
            <a:r>
              <a:rPr lang="en-US" sz="1000" dirty="0">
                <a:solidFill>
                  <a:srgbClr val="6E6F73"/>
                </a:solidFill>
              </a:rPr>
              <a:t> Mission Mar 2024; Careers360 PMKVY 5.0 Mar 2026; Education Matters </a:t>
            </a:r>
            <a:r>
              <a:rPr lang="en-US" sz="1000" dirty="0" err="1">
                <a:solidFill>
                  <a:srgbClr val="6E6F73"/>
                </a:solidFill>
              </a:rPr>
              <a:t>Karmayogi+Coursera</a:t>
            </a:r>
            <a:r>
              <a:rPr lang="en-US" sz="1000" dirty="0">
                <a:solidFill>
                  <a:srgbClr val="6E6F73"/>
                </a:solidFill>
              </a:rPr>
              <a:t> Mar 2026; The Federal NITI Aayog May 2025; </a:t>
            </a:r>
            <a:r>
              <a:rPr lang="en-US" sz="1000" dirty="0" err="1">
                <a:solidFill>
                  <a:srgbClr val="6E6F73"/>
                </a:solidFill>
              </a:rPr>
              <a:t>ThePrint</a:t>
            </a:r>
            <a:r>
              <a:rPr lang="en-US" sz="1000" dirty="0">
                <a:solidFill>
                  <a:srgbClr val="6E6F73"/>
                </a:solidFill>
              </a:rPr>
              <a:t> L1 reform Oct 2024</a:t>
            </a:r>
          </a:p>
        </p:txBody>
      </p:sp>
      <p:sp>
        <p:nvSpPr>
          <p:cNvPr id="236" name="TB236"/>
          <p:cNvSpPr txBox="1"/>
          <p:nvPr/>
        </p:nvSpPr>
        <p:spPr>
          <a:xfrm>
            <a:off x="10391352" y="2080146"/>
            <a:ext cx="1338208" cy="246119"/>
          </a:xfrm>
          <a:prstGeom prst="rect">
            <a:avLst/>
          </a:prstGeom>
          <a:noFill/>
        </p:spPr>
        <p:txBody>
          <a:bodyPr wrap="square" rtlCol="0" anchor="t"/>
          <a:lstStyle/>
          <a:p>
            <a:r>
              <a:rPr lang="en-US" sz="900" dirty="0">
                <a:solidFill>
                  <a:srgbClr val="6E6F73"/>
                </a:solidFill>
                <a:latin typeface="Trebuchet MS"/>
              </a:rPr>
              <a:t>Careers360, Mar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2F0F0B6-272E-8A92-AFA2-F4F5ABA87954}"/>
              </a:ext>
            </a:extLst>
          </p:cNvPr>
          <p:cNvGraphicFramePr>
            <a:graphicFrameLocks noChangeAspect="1"/>
          </p:cNvGraphicFramePr>
          <p:nvPr>
            <p:custDataLst>
              <p:tags r:id="rId1"/>
            </p:custDataLst>
            <p:extLst>
              <p:ext uri="{D42A27DB-BD31-4B8C-83A1-F6EECF244321}">
                <p14:modId xmlns:p14="http://schemas.microsoft.com/office/powerpoint/2010/main" val="1270597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5" name="ph_title"/>
          <p:cNvSpPr>
            <a:spLocks noGrp="1"/>
          </p:cNvSpPr>
          <p:nvPr>
            <p:ph type="title"/>
          </p:nvPr>
        </p:nvSpPr>
        <p:spPr>
          <a:xfrm>
            <a:off x="630000" y="622800"/>
            <a:ext cx="6276529" cy="664797"/>
          </a:xfrm>
        </p:spPr>
        <p:txBody>
          <a:bodyPr vert="horz"/>
          <a:lstStyle/>
          <a:p>
            <a:r>
              <a:rPr lang="en-US" dirty="0"/>
              <a:t>Incumbents own volume; the tech-outcomes premium tier is structurally uncontested</a:t>
            </a:r>
          </a:p>
        </p:txBody>
      </p:sp>
      <p:sp>
        <p:nvSpPr>
          <p:cNvPr id="266" name="TB266"/>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NIIT FY25; TCS Annual Report; Simplilearn investor materials; Coursera 10-K; </a:t>
            </a:r>
          </a:p>
        </p:txBody>
      </p:sp>
      <p:graphicFrame>
        <p:nvGraphicFramePr>
          <p:cNvPr id="267" name="Table 267"/>
          <p:cNvGraphicFramePr>
            <a:graphicFrameLocks noGrp="1"/>
          </p:cNvGraphicFramePr>
          <p:nvPr>
            <p:extLst>
              <p:ext uri="{D42A27DB-BD31-4B8C-83A1-F6EECF244321}">
                <p14:modId xmlns:p14="http://schemas.microsoft.com/office/powerpoint/2010/main" val="3459722307"/>
              </p:ext>
            </p:extLst>
          </p:nvPr>
        </p:nvGraphicFramePr>
        <p:xfrm>
          <a:off x="630936" y="2075688"/>
          <a:ext cx="6217920" cy="2804160"/>
        </p:xfrm>
        <a:graphic>
          <a:graphicData uri="http://schemas.openxmlformats.org/drawingml/2006/table">
            <a:tbl>
              <a:tblPr firstRow="1">
                <a:noFill/>
              </a:tblPr>
              <a:tblGrid>
                <a:gridCol w="12435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243584">
                  <a:extLst>
                    <a:ext uri="{9D8B030D-6E8A-4147-A177-3AD203B41FA5}">
                      <a16:colId xmlns:a16="http://schemas.microsoft.com/office/drawing/2014/main" val="20004"/>
                    </a:ext>
                  </a:extLst>
                </a:gridCol>
              </a:tblGrid>
              <a:tr h="365760">
                <a:tc>
                  <a:txBody>
                    <a:bodyPr/>
                    <a:lstStyle/>
                    <a:p>
                      <a:pPr algn="l"/>
                      <a:r>
                        <a:rPr lang="en-US" sz="1200" b="1" dirty="0">
                          <a:solidFill>
                            <a:srgbClr val="FFFFFF"/>
                          </a:solidFill>
                          <a:latin typeface="Trebuchet MS"/>
                          <a:cs typeface="Trebuchet MS"/>
                        </a:rPr>
                        <a:t>Player</a:t>
                      </a:r>
                    </a:p>
                  </a:txBody>
                  <a:tcPr>
                    <a:lnL w="0">
                      <a:noFill/>
                    </a:lnL>
                    <a:lnR w="0">
                      <a:noFill/>
                    </a:lnR>
                    <a:lnT w="0">
                      <a:noFill/>
                    </a:lnT>
                    <a:lnB w="0">
                      <a:noFill/>
                    </a:lnB>
                    <a:solidFill>
                      <a:srgbClr val="295E7E"/>
                    </a:solidFill>
                  </a:tcPr>
                </a:tc>
                <a:tc>
                  <a:txBody>
                    <a:bodyPr/>
                    <a:lstStyle/>
                    <a:p>
                      <a:pPr algn="l"/>
                      <a:r>
                        <a:rPr lang="en-US" sz="1200" b="1" dirty="0">
                          <a:solidFill>
                            <a:srgbClr val="FFFFFF"/>
                          </a:solidFill>
                          <a:latin typeface="Trebuchet MS"/>
                          <a:cs typeface="Trebuchet MS"/>
                        </a:rPr>
                        <a:t>Strength</a:t>
                      </a: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Govt Rev</a:t>
                      </a: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Tech Depth</a:t>
                      </a: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Outcomes</a:t>
                      </a:r>
                    </a:p>
                  </a:txBody>
                  <a:tcPr>
                    <a:lnL w="0">
                      <a:noFill/>
                    </a:lnL>
                    <a:lnR w="0">
                      <a:noFill/>
                    </a:lnR>
                    <a:lnT w="0">
                      <a:noFill/>
                    </a:lnT>
                    <a:lnB w="0">
                      <a:noFill/>
                    </a:lnB>
                    <a:solidFill>
                      <a:srgbClr val="295E7E"/>
                    </a:solidFill>
                  </a:tcPr>
                </a:tc>
                <a:extLst>
                  <a:ext uri="{0D108BD9-81ED-4DB2-BD59-A6C34878D82A}">
                    <a16:rowId xmlns:a16="http://schemas.microsoft.com/office/drawing/2014/main" val="10000"/>
                  </a:ext>
                </a:extLst>
              </a:tr>
              <a:tr h="365760">
                <a:tc>
                  <a:txBody>
                    <a:bodyPr/>
                    <a:lstStyle/>
                    <a:p>
                      <a:pPr algn="l"/>
                      <a:r>
                        <a:rPr lang="en-US" sz="1100" dirty="0">
                          <a:solidFill>
                            <a:srgbClr val="575757"/>
                          </a:solidFill>
                          <a:latin typeface="Trebuchet MS"/>
                          <a:cs typeface="Trebuchet MS"/>
                        </a:rPr>
                        <a:t>TCS iON</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Scale &amp; Brand</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₹900 Cr</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lang="en-US" sz="1100" dirty="0">
                          <a:solidFill>
                            <a:srgbClr val="575757"/>
                          </a:solidFill>
                          <a:latin typeface="Trebuchet MS"/>
                          <a:cs typeface="Trebuchet MS"/>
                        </a:rPr>
                        <a:t>NIIT Ltd</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Govt Relationships</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₹320 Cr</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365760">
                <a:tc>
                  <a:txBody>
                    <a:bodyPr/>
                    <a:lstStyle/>
                    <a:p>
                      <a:pPr algn="l"/>
                      <a:r>
                        <a:rPr lang="en-US" sz="1100" dirty="0">
                          <a:solidFill>
                            <a:srgbClr val="575757"/>
                          </a:solidFill>
                          <a:latin typeface="Trebuchet MS"/>
                          <a:cs typeface="Trebuchet MS"/>
                        </a:rPr>
                        <a:t>Simplilearn</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Digital Reach</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₹150 Cr</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lang="en-US" sz="1100" dirty="0">
                          <a:solidFill>
                            <a:srgbClr val="575757"/>
                          </a:solidFill>
                          <a:latin typeface="Trebuchet MS"/>
                          <a:cs typeface="Trebuchet MS"/>
                        </a:rPr>
                        <a:t>Coursera Govt</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Global Credentials</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₹80 Cr</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365760">
                <a:tc>
                  <a:txBody>
                    <a:bodyPr/>
                    <a:lstStyle/>
                    <a:p>
                      <a:pPr algn="l"/>
                      <a:r>
                        <a:rPr lang="en-US" sz="1100" dirty="0">
                          <a:solidFill>
                            <a:srgbClr val="575757"/>
                          </a:solidFill>
                          <a:latin typeface="Trebuchet MS"/>
                          <a:cs typeface="Trebuchet MS"/>
                        </a:rPr>
                        <a:t>IL&amp;FS / Learnet</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Vocational Volume</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₹90 Cr</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65760">
                <a:tc>
                  <a:txBody>
                    <a:bodyPr/>
                    <a:lstStyle/>
                    <a:p>
                      <a:pPr algn="l"/>
                      <a:r>
                        <a:rPr lang="en-US" sz="1100" dirty="0">
                          <a:solidFill>
                            <a:srgbClr val="575757"/>
                          </a:solidFill>
                          <a:latin typeface="Trebuchet MS"/>
                          <a:cs typeface="Trebuchet MS"/>
                        </a:rPr>
                        <a:t>SCALER (Target)</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Tech Outcomes Moat</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6"/>
                  </a:ext>
                </a:extLst>
              </a:tr>
            </a:tbl>
          </a:graphicData>
        </a:graphic>
      </p:graphicFrame>
      <p:sp>
        <p:nvSpPr>
          <p:cNvPr id="268" name="TB268"/>
          <p:cNvSpPr txBox="1"/>
          <p:nvPr/>
        </p:nvSpPr>
        <p:spPr>
          <a:xfrm>
            <a:off x="7635240" y="2075688"/>
            <a:ext cx="3657600" cy="292608"/>
          </a:xfrm>
          <a:prstGeom prst="rect">
            <a:avLst/>
          </a:prstGeom>
          <a:noFill/>
        </p:spPr>
        <p:txBody>
          <a:bodyPr wrap="square" rtlCol="0" anchor="t"/>
          <a:lstStyle/>
          <a:p>
            <a:r>
              <a:rPr lang="en-US" sz="1600" b="1" dirty="0">
                <a:solidFill>
                  <a:srgbClr val="FFFFFF"/>
                </a:solidFill>
                <a:latin typeface="Trebuchet MS"/>
              </a:rPr>
              <a:t>The White Space</a:t>
            </a:r>
          </a:p>
        </p:txBody>
      </p:sp>
      <p:sp>
        <p:nvSpPr>
          <p:cNvPr id="269" name="TB269"/>
          <p:cNvSpPr txBox="1"/>
          <p:nvPr/>
        </p:nvSpPr>
        <p:spPr>
          <a:xfrm>
            <a:off x="7635240" y="2423160"/>
            <a:ext cx="3657600" cy="2331720"/>
          </a:xfrm>
          <a:prstGeom prst="rect">
            <a:avLst/>
          </a:prstGeom>
          <a:noFill/>
        </p:spPr>
        <p:txBody>
          <a:bodyPr wrap="square" rtlCol="0" anchor="t"/>
          <a:lstStyle/>
          <a:p>
            <a:r>
              <a:rPr lang="en-US" sz="1400" dirty="0">
                <a:solidFill>
                  <a:srgbClr val="FFFFFF"/>
                </a:solidFill>
                <a:latin typeface="Trebuchet MS"/>
              </a:rPr>
              <a:t>No incumbent combines all three:</a:t>
            </a:r>
          </a:p>
          <a:p>
            <a:r>
              <a:rPr lang="en-US" sz="1400" dirty="0">
                <a:solidFill>
                  <a:srgbClr val="FFFFFF"/>
                </a:solidFill>
                <a:latin typeface="Trebuchet MS"/>
              </a:rPr>
              <a:t>① Deep tech curriculum</a:t>
            </a:r>
          </a:p>
          <a:p>
            <a:r>
              <a:rPr lang="en-US" sz="1400" dirty="0">
                <a:solidFill>
                  <a:srgbClr val="FFFFFF"/>
                </a:solidFill>
                <a:latin typeface="Trebuchet MS"/>
              </a:rPr>
              <a:t>② Verified placement outcomes</a:t>
            </a:r>
          </a:p>
          <a:p>
            <a:r>
              <a:rPr lang="en-US" sz="1400" dirty="0">
                <a:solidFill>
                  <a:srgbClr val="FFFFFF"/>
                </a:solidFill>
                <a:latin typeface="Trebuchet MS"/>
              </a:rPr>
              <a:t>③ Enterprise-grade delivery</a:t>
            </a:r>
          </a:p>
          <a:p>
            <a:endParaRPr lang="en-US" sz="1400" dirty="0">
              <a:solidFill>
                <a:srgbClr val="FFFFFF"/>
              </a:solidFill>
              <a:latin typeface="Trebuchet MS"/>
            </a:endParaRPr>
          </a:p>
          <a:p>
            <a:r>
              <a:rPr lang="en-US" sz="1400" dirty="0">
                <a:solidFill>
                  <a:srgbClr val="FFFFFF"/>
                </a:solidFill>
                <a:latin typeface="Trebuchet MS"/>
              </a:rPr>
              <a:t>TCS iON = exam infra, not outcomes. NIIT = relationships, dated curriculum. Simplilearn = content, no placement proof. Coursera = entered iGOT March 2026 only.</a:t>
            </a:r>
          </a:p>
        </p:txBody>
      </p:sp>
      <p:sp>
        <p:nvSpPr>
          <p:cNvPr id="270" name="TB270"/>
          <p:cNvSpPr txBox="1"/>
          <p:nvPr/>
        </p:nvSpPr>
        <p:spPr>
          <a:xfrm>
            <a:off x="7635240" y="4892040"/>
            <a:ext cx="3657600" cy="256032"/>
          </a:xfrm>
          <a:prstGeom prst="rect">
            <a:avLst/>
          </a:prstGeom>
          <a:noFill/>
        </p:spPr>
        <p:txBody>
          <a:bodyPr wrap="square" rtlCol="0" anchor="t"/>
          <a:lstStyle/>
          <a:p>
            <a:r>
              <a:rPr lang="en-US" sz="1200" b="1" dirty="0">
                <a:solidFill>
                  <a:srgbClr val="FFFFFF"/>
                </a:solidFill>
                <a:latin typeface="Trebuchet MS"/>
              </a:rPr>
              <a:t>Scaler's bet</a:t>
            </a:r>
          </a:p>
        </p:txBody>
      </p:sp>
      <p:sp>
        <p:nvSpPr>
          <p:cNvPr id="271" name="TB271"/>
          <p:cNvSpPr txBox="1"/>
          <p:nvPr/>
        </p:nvSpPr>
        <p:spPr>
          <a:xfrm>
            <a:off x="7635240" y="5184648"/>
            <a:ext cx="3657600" cy="822960"/>
          </a:xfrm>
          <a:prstGeom prst="rect">
            <a:avLst/>
          </a:prstGeom>
          <a:noFill/>
        </p:spPr>
        <p:txBody>
          <a:bodyPr wrap="square" rtlCol="0" anchor="t"/>
          <a:lstStyle/>
          <a:p>
            <a:r>
              <a:rPr lang="en-US" sz="1400" dirty="0">
                <a:solidFill>
                  <a:srgbClr val="FFFFFF"/>
                </a:solidFill>
                <a:latin typeface="Trebuchet MS"/>
              </a:rPr>
              <a:t>Win the ₹1,500–2,000 Cr tech-outcomes premium sub-segment. Don't compete for the ₹7,000 Cr vocational 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0B2A054-144F-3536-74EC-CCDACE1A2915}"/>
              </a:ext>
            </a:extLst>
          </p:cNvPr>
          <p:cNvGraphicFramePr>
            <a:graphicFrameLocks noChangeAspect="1"/>
          </p:cNvGraphicFramePr>
          <p:nvPr>
            <p:custDataLst>
              <p:tags r:id="rId1"/>
            </p:custDataLst>
            <p:extLst>
              <p:ext uri="{D42A27DB-BD31-4B8C-83A1-F6EECF244321}">
                <p14:modId xmlns:p14="http://schemas.microsoft.com/office/powerpoint/2010/main" val="4090266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72" name="ph_title"/>
          <p:cNvSpPr>
            <a:spLocks noGrp="1"/>
          </p:cNvSpPr>
          <p:nvPr>
            <p:ph type="title"/>
          </p:nvPr>
        </p:nvSpPr>
        <p:spPr>
          <a:xfrm>
            <a:off x="630000" y="622800"/>
            <a:ext cx="10933350" cy="664797"/>
          </a:xfrm>
        </p:spPr>
        <p:txBody>
          <a:bodyPr vert="horz"/>
          <a:lstStyle/>
          <a:p>
            <a:r>
              <a:rPr lang="en-US" dirty="0"/>
              <a:t>Scaler's placement outcomes and tech depth match exactly what govt is now buying</a:t>
            </a:r>
          </a:p>
        </p:txBody>
      </p:sp>
      <p:sp>
        <p:nvSpPr>
          <p:cNvPr id="273" name="TB273"/>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Scaler placement reports; NASSCOM Future Skills 2024; PMKVY 5.0 docs; </a:t>
            </a:r>
          </a:p>
        </p:txBody>
      </p:sp>
      <p:sp>
        <p:nvSpPr>
          <p:cNvPr id="274" name="R274"/>
          <p:cNvSpPr/>
          <p:nvPr/>
        </p:nvSpPr>
        <p:spPr>
          <a:xfrm>
            <a:off x="630936" y="2075688"/>
            <a:ext cx="5340096" cy="310896"/>
          </a:xfrm>
          <a:prstGeom prst="rect">
            <a:avLst/>
          </a:prstGeom>
          <a:solidFill>
            <a:srgbClr val="1557FE"/>
          </a:solidFill>
          <a:ln>
            <a:noFill/>
          </a:ln>
        </p:spPr>
        <p:txBody>
          <a:bodyPr/>
          <a:lstStyle/>
          <a:p>
            <a:endParaRPr lang="en-US"/>
          </a:p>
        </p:txBody>
      </p:sp>
      <p:sp>
        <p:nvSpPr>
          <p:cNvPr id="275" name="TB275"/>
          <p:cNvSpPr txBox="1"/>
          <p:nvPr/>
        </p:nvSpPr>
        <p:spPr>
          <a:xfrm>
            <a:off x="740664" y="2075688"/>
            <a:ext cx="5120640" cy="310896"/>
          </a:xfrm>
          <a:prstGeom prst="rect">
            <a:avLst/>
          </a:prstGeom>
          <a:noFill/>
        </p:spPr>
        <p:txBody>
          <a:bodyPr wrap="square" rtlCol="0" anchor="ctr"/>
          <a:lstStyle/>
          <a:p>
            <a:r>
              <a:rPr lang="en-US" sz="1600" b="1" dirty="0">
                <a:solidFill>
                  <a:srgbClr val="FFFFFF"/>
                </a:solidFill>
                <a:latin typeface="Trebuchet MS"/>
              </a:rPr>
              <a:t>✓  Scaler's Structural Advantages</a:t>
            </a:r>
          </a:p>
        </p:txBody>
      </p:sp>
      <p:sp>
        <p:nvSpPr>
          <p:cNvPr id="276" name="R276"/>
          <p:cNvSpPr/>
          <p:nvPr/>
        </p:nvSpPr>
        <p:spPr>
          <a:xfrm>
            <a:off x="6227064" y="2075688"/>
            <a:ext cx="5340096" cy="310896"/>
          </a:xfrm>
          <a:prstGeom prst="rect">
            <a:avLst/>
          </a:prstGeom>
          <a:solidFill>
            <a:srgbClr val="061A6E"/>
          </a:solidFill>
          <a:ln>
            <a:noFill/>
          </a:ln>
        </p:spPr>
        <p:txBody>
          <a:bodyPr/>
          <a:lstStyle/>
          <a:p>
            <a:endParaRPr lang="en-US"/>
          </a:p>
        </p:txBody>
      </p:sp>
      <p:sp>
        <p:nvSpPr>
          <p:cNvPr id="277" name="TB277"/>
          <p:cNvSpPr txBox="1"/>
          <p:nvPr/>
        </p:nvSpPr>
        <p:spPr>
          <a:xfrm>
            <a:off x="6336792" y="2075688"/>
            <a:ext cx="5120640" cy="310896"/>
          </a:xfrm>
          <a:prstGeom prst="rect">
            <a:avLst/>
          </a:prstGeom>
          <a:noFill/>
        </p:spPr>
        <p:txBody>
          <a:bodyPr wrap="square" rtlCol="0" anchor="ctr"/>
          <a:lstStyle/>
          <a:p>
            <a:r>
              <a:rPr lang="en-US" sz="1600" b="1" dirty="0">
                <a:solidFill>
                  <a:srgbClr val="FFFFFF"/>
                </a:solidFill>
                <a:latin typeface="Trebuchet MS"/>
              </a:rPr>
              <a:t>△  Gaps to Close (All Bridgeable)</a:t>
            </a:r>
          </a:p>
        </p:txBody>
      </p:sp>
      <p:sp>
        <p:nvSpPr>
          <p:cNvPr id="278" name="RR278"/>
          <p:cNvSpPr/>
          <p:nvPr/>
        </p:nvSpPr>
        <p:spPr>
          <a:xfrm>
            <a:off x="630936" y="247802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79" name="R279"/>
          <p:cNvSpPr/>
          <p:nvPr/>
        </p:nvSpPr>
        <p:spPr>
          <a:xfrm>
            <a:off x="630936" y="2478024"/>
            <a:ext cx="73152" cy="886968"/>
          </a:xfrm>
          <a:prstGeom prst="rect">
            <a:avLst/>
          </a:prstGeom>
          <a:solidFill>
            <a:srgbClr val="1557FE"/>
          </a:solidFill>
          <a:ln>
            <a:noFill/>
          </a:ln>
        </p:spPr>
        <p:txBody>
          <a:bodyPr/>
          <a:lstStyle/>
          <a:p>
            <a:endParaRPr lang="en-US"/>
          </a:p>
        </p:txBody>
      </p:sp>
      <p:sp>
        <p:nvSpPr>
          <p:cNvPr id="280" name="TB280"/>
          <p:cNvSpPr txBox="1"/>
          <p:nvPr/>
        </p:nvSpPr>
        <p:spPr>
          <a:xfrm>
            <a:off x="832103" y="2542032"/>
            <a:ext cx="5029200" cy="219456"/>
          </a:xfrm>
          <a:prstGeom prst="rect">
            <a:avLst/>
          </a:prstGeom>
          <a:noFill/>
        </p:spPr>
        <p:txBody>
          <a:bodyPr wrap="square" rtlCol="0" anchor="t"/>
          <a:lstStyle/>
          <a:p>
            <a:r>
              <a:rPr lang="en-US" sz="1200" b="1" dirty="0">
                <a:solidFill>
                  <a:srgbClr val="1557FE"/>
                </a:solidFill>
                <a:latin typeface="Trebuchet MS"/>
              </a:rPr>
              <a:t>93% Placement Rate</a:t>
            </a:r>
          </a:p>
        </p:txBody>
      </p:sp>
      <p:sp>
        <p:nvSpPr>
          <p:cNvPr id="281" name="TB281"/>
          <p:cNvSpPr txBox="1"/>
          <p:nvPr/>
        </p:nvSpPr>
        <p:spPr>
          <a:xfrm>
            <a:off x="832103" y="2779776"/>
            <a:ext cx="5029200" cy="502920"/>
          </a:xfrm>
          <a:prstGeom prst="rect">
            <a:avLst/>
          </a:prstGeom>
          <a:noFill/>
        </p:spPr>
        <p:txBody>
          <a:bodyPr wrap="square" rtlCol="0" anchor="t"/>
          <a:lstStyle/>
          <a:p>
            <a:r>
              <a:rPr lang="en-US" sz="1100" dirty="0">
                <a:solidFill>
                  <a:srgbClr val="575757"/>
                </a:solidFill>
                <a:latin typeface="Trebuchet MS"/>
              </a:rPr>
              <a:t>PMKVY 5.0 ties payment to placement. Scaler's data is the strongest in India — an auditable, role-specific placement record that no incumbent can match.</a:t>
            </a:r>
          </a:p>
        </p:txBody>
      </p:sp>
      <p:sp>
        <p:nvSpPr>
          <p:cNvPr id="282" name="RR282"/>
          <p:cNvSpPr/>
          <p:nvPr/>
        </p:nvSpPr>
        <p:spPr>
          <a:xfrm>
            <a:off x="630936" y="343814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83" name="R283"/>
          <p:cNvSpPr/>
          <p:nvPr/>
        </p:nvSpPr>
        <p:spPr>
          <a:xfrm>
            <a:off x="630936" y="3438144"/>
            <a:ext cx="73152" cy="886968"/>
          </a:xfrm>
          <a:prstGeom prst="rect">
            <a:avLst/>
          </a:prstGeom>
          <a:solidFill>
            <a:srgbClr val="1557FE"/>
          </a:solidFill>
          <a:ln>
            <a:noFill/>
          </a:ln>
        </p:spPr>
        <p:txBody>
          <a:bodyPr/>
          <a:lstStyle/>
          <a:p>
            <a:endParaRPr lang="en-US"/>
          </a:p>
        </p:txBody>
      </p:sp>
      <p:sp>
        <p:nvSpPr>
          <p:cNvPr id="284" name="TB284"/>
          <p:cNvSpPr txBox="1"/>
          <p:nvPr/>
        </p:nvSpPr>
        <p:spPr>
          <a:xfrm>
            <a:off x="832103" y="3502151"/>
            <a:ext cx="5029200" cy="219456"/>
          </a:xfrm>
          <a:prstGeom prst="rect">
            <a:avLst/>
          </a:prstGeom>
          <a:noFill/>
        </p:spPr>
        <p:txBody>
          <a:bodyPr wrap="square" rtlCol="0" anchor="t"/>
          <a:lstStyle/>
          <a:p>
            <a:r>
              <a:rPr lang="en-US" sz="1200" b="1" dirty="0">
                <a:solidFill>
                  <a:srgbClr val="1557FE"/>
                </a:solidFill>
                <a:latin typeface="Trebuchet MS"/>
              </a:rPr>
              <a:t>AI / ML / Data Engineering Depth</a:t>
            </a:r>
          </a:p>
        </p:txBody>
      </p:sp>
      <p:sp>
        <p:nvSpPr>
          <p:cNvPr id="285" name="TB285"/>
          <p:cNvSpPr txBox="1"/>
          <p:nvPr/>
        </p:nvSpPr>
        <p:spPr>
          <a:xfrm>
            <a:off x="832103" y="3739896"/>
            <a:ext cx="5029200" cy="502920"/>
          </a:xfrm>
          <a:prstGeom prst="rect">
            <a:avLst/>
          </a:prstGeom>
          <a:noFill/>
        </p:spPr>
        <p:txBody>
          <a:bodyPr wrap="square" rtlCol="0" anchor="t"/>
          <a:lstStyle/>
          <a:p>
            <a:r>
              <a:rPr lang="en-US" sz="1100" dirty="0">
                <a:solidFill>
                  <a:srgbClr val="575757"/>
                </a:solidFill>
                <a:latin typeface="Trebuchet MS"/>
              </a:rPr>
              <a:t>IndiaAI Mission FutureSkills, MeitY Digital India 2.0, and 28+ PSUs list AI/data as top-3 priorities. Scaler curriculum updated quarterly — NIIT's is 3 years old.</a:t>
            </a:r>
          </a:p>
        </p:txBody>
      </p:sp>
      <p:sp>
        <p:nvSpPr>
          <p:cNvPr id="286" name="RR286"/>
          <p:cNvSpPr/>
          <p:nvPr/>
        </p:nvSpPr>
        <p:spPr>
          <a:xfrm>
            <a:off x="630936" y="439826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87" name="R287"/>
          <p:cNvSpPr/>
          <p:nvPr/>
        </p:nvSpPr>
        <p:spPr>
          <a:xfrm>
            <a:off x="630936" y="4398264"/>
            <a:ext cx="73152" cy="886968"/>
          </a:xfrm>
          <a:prstGeom prst="rect">
            <a:avLst/>
          </a:prstGeom>
          <a:solidFill>
            <a:srgbClr val="1557FE"/>
          </a:solidFill>
          <a:ln>
            <a:noFill/>
          </a:ln>
        </p:spPr>
        <p:txBody>
          <a:bodyPr/>
          <a:lstStyle/>
          <a:p>
            <a:endParaRPr lang="en-US"/>
          </a:p>
        </p:txBody>
      </p:sp>
      <p:sp>
        <p:nvSpPr>
          <p:cNvPr id="288" name="TB288"/>
          <p:cNvSpPr txBox="1"/>
          <p:nvPr/>
        </p:nvSpPr>
        <p:spPr>
          <a:xfrm>
            <a:off x="832103" y="4462272"/>
            <a:ext cx="5029200" cy="219456"/>
          </a:xfrm>
          <a:prstGeom prst="rect">
            <a:avLst/>
          </a:prstGeom>
          <a:noFill/>
        </p:spPr>
        <p:txBody>
          <a:bodyPr wrap="square" rtlCol="0" anchor="t"/>
          <a:lstStyle/>
          <a:p>
            <a:r>
              <a:rPr lang="en-US" sz="1200" b="1" dirty="0">
                <a:solidFill>
                  <a:srgbClr val="1557FE"/>
                </a:solidFill>
                <a:latin typeface="Trebuchet MS"/>
              </a:rPr>
              <a:t>2,400+ Employer Network</a:t>
            </a:r>
          </a:p>
        </p:txBody>
      </p:sp>
      <p:sp>
        <p:nvSpPr>
          <p:cNvPr id="289" name="TB289"/>
          <p:cNvSpPr txBox="1"/>
          <p:nvPr/>
        </p:nvSpPr>
        <p:spPr>
          <a:xfrm>
            <a:off x="832103" y="4700016"/>
            <a:ext cx="5029200" cy="502920"/>
          </a:xfrm>
          <a:prstGeom prst="rect">
            <a:avLst/>
          </a:prstGeom>
          <a:noFill/>
        </p:spPr>
        <p:txBody>
          <a:bodyPr wrap="square" rtlCol="0" anchor="t"/>
          <a:lstStyle/>
          <a:p>
            <a:r>
              <a:rPr lang="en-US" sz="1100" dirty="0">
                <a:solidFill>
                  <a:srgbClr val="575757"/>
                </a:solidFill>
                <a:latin typeface="Trebuchet MS"/>
              </a:rPr>
              <a:t>Scaler can offer PSUs joint hiring-training models — unique value no pure ed-tech player delivers. ADGM Academy (Abu Dhabi) pilot validates this outside India.</a:t>
            </a:r>
          </a:p>
        </p:txBody>
      </p:sp>
      <p:sp>
        <p:nvSpPr>
          <p:cNvPr id="290" name="RR290"/>
          <p:cNvSpPr/>
          <p:nvPr/>
        </p:nvSpPr>
        <p:spPr>
          <a:xfrm>
            <a:off x="6227064" y="247802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91" name="R291"/>
          <p:cNvSpPr/>
          <p:nvPr/>
        </p:nvSpPr>
        <p:spPr>
          <a:xfrm>
            <a:off x="6227064" y="2478024"/>
            <a:ext cx="73152" cy="886968"/>
          </a:xfrm>
          <a:prstGeom prst="rect">
            <a:avLst/>
          </a:prstGeom>
          <a:solidFill>
            <a:srgbClr val="061A6E"/>
          </a:solidFill>
          <a:ln>
            <a:noFill/>
          </a:ln>
        </p:spPr>
        <p:txBody>
          <a:bodyPr/>
          <a:lstStyle/>
          <a:p>
            <a:endParaRPr lang="en-US"/>
          </a:p>
        </p:txBody>
      </p:sp>
      <p:sp>
        <p:nvSpPr>
          <p:cNvPr id="292" name="TB292"/>
          <p:cNvSpPr txBox="1"/>
          <p:nvPr/>
        </p:nvSpPr>
        <p:spPr>
          <a:xfrm>
            <a:off x="6428232" y="2542032"/>
            <a:ext cx="5029200" cy="219456"/>
          </a:xfrm>
          <a:prstGeom prst="rect">
            <a:avLst/>
          </a:prstGeom>
          <a:noFill/>
        </p:spPr>
        <p:txBody>
          <a:bodyPr wrap="square" rtlCol="0" anchor="t"/>
          <a:lstStyle/>
          <a:p>
            <a:r>
              <a:rPr lang="en-US" sz="1200" b="1" dirty="0">
                <a:solidFill>
                  <a:srgbClr val="061A6E"/>
                </a:solidFill>
                <a:latin typeface="Trebuchet MS"/>
              </a:rPr>
              <a:t>No Govt BD Capability</a:t>
            </a:r>
          </a:p>
        </p:txBody>
      </p:sp>
      <p:sp>
        <p:nvSpPr>
          <p:cNvPr id="293" name="TB293"/>
          <p:cNvSpPr txBox="1"/>
          <p:nvPr/>
        </p:nvSpPr>
        <p:spPr>
          <a:xfrm>
            <a:off x="6428232" y="2779776"/>
            <a:ext cx="5029200" cy="502920"/>
          </a:xfrm>
          <a:prstGeom prst="rect">
            <a:avLst/>
          </a:prstGeom>
          <a:noFill/>
        </p:spPr>
        <p:txBody>
          <a:bodyPr wrap="square" rtlCol="0" anchor="t"/>
          <a:lstStyle/>
          <a:p>
            <a:r>
              <a:rPr lang="en-US" sz="1100" dirty="0">
                <a:solidFill>
                  <a:srgbClr val="575757"/>
                </a:solidFill>
                <a:latin typeface="Trebuchet MS"/>
              </a:rPr>
              <a:t>Govt sales is a 12–18 month relationship game. Scaler has zero GeM/CPPP experience. VP Govt Business hire must be #1 action — from NIIT or TCS iON network.</a:t>
            </a:r>
          </a:p>
        </p:txBody>
      </p:sp>
      <p:sp>
        <p:nvSpPr>
          <p:cNvPr id="294" name="RR294"/>
          <p:cNvSpPr/>
          <p:nvPr/>
        </p:nvSpPr>
        <p:spPr>
          <a:xfrm>
            <a:off x="6227064" y="343814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95" name="R295"/>
          <p:cNvSpPr/>
          <p:nvPr/>
        </p:nvSpPr>
        <p:spPr>
          <a:xfrm>
            <a:off x="6227064" y="3438144"/>
            <a:ext cx="73152" cy="886968"/>
          </a:xfrm>
          <a:prstGeom prst="rect">
            <a:avLst/>
          </a:prstGeom>
          <a:solidFill>
            <a:srgbClr val="061A6E"/>
          </a:solidFill>
          <a:ln>
            <a:noFill/>
          </a:ln>
        </p:spPr>
        <p:txBody>
          <a:bodyPr/>
          <a:lstStyle/>
          <a:p>
            <a:endParaRPr lang="en-US"/>
          </a:p>
        </p:txBody>
      </p:sp>
      <p:sp>
        <p:nvSpPr>
          <p:cNvPr id="296" name="TB296"/>
          <p:cNvSpPr txBox="1"/>
          <p:nvPr/>
        </p:nvSpPr>
        <p:spPr>
          <a:xfrm>
            <a:off x="6428232" y="3502151"/>
            <a:ext cx="5029200" cy="219456"/>
          </a:xfrm>
          <a:prstGeom prst="rect">
            <a:avLst/>
          </a:prstGeom>
          <a:noFill/>
        </p:spPr>
        <p:txBody>
          <a:bodyPr wrap="square" rtlCol="0" anchor="t"/>
          <a:lstStyle/>
          <a:p>
            <a:r>
              <a:rPr lang="en-US" sz="1200" b="1" dirty="0">
                <a:solidFill>
                  <a:srgbClr val="061A6E"/>
                </a:solidFill>
                <a:latin typeface="Trebuchet MS"/>
              </a:rPr>
              <a:t>No Procurement Process Know-how</a:t>
            </a:r>
          </a:p>
        </p:txBody>
      </p:sp>
      <p:sp>
        <p:nvSpPr>
          <p:cNvPr id="297" name="TB297"/>
          <p:cNvSpPr txBox="1"/>
          <p:nvPr/>
        </p:nvSpPr>
        <p:spPr>
          <a:xfrm>
            <a:off x="6428232" y="3739896"/>
            <a:ext cx="5029200" cy="502920"/>
          </a:xfrm>
          <a:prstGeom prst="rect">
            <a:avLst/>
          </a:prstGeom>
          <a:noFill/>
        </p:spPr>
        <p:txBody>
          <a:bodyPr wrap="square" rtlCol="0" anchor="t"/>
          <a:lstStyle/>
          <a:p>
            <a:r>
              <a:rPr lang="en-US" sz="1100" dirty="0">
                <a:solidFill>
                  <a:srgbClr val="575757"/>
                </a:solidFill>
                <a:latin typeface="Trebuchet MS"/>
              </a:rPr>
              <a:t>NCVET accreditation (90-day process), GeM registration, and eProcurement compliance are mandatory prerequisites. One dedicated Tender Specialist resolves this in 60 days.</a:t>
            </a:r>
          </a:p>
        </p:txBody>
      </p:sp>
      <p:sp>
        <p:nvSpPr>
          <p:cNvPr id="298" name="RR298"/>
          <p:cNvSpPr/>
          <p:nvPr/>
        </p:nvSpPr>
        <p:spPr>
          <a:xfrm>
            <a:off x="6227064" y="4398264"/>
            <a:ext cx="5340096" cy="88696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299" name="R299"/>
          <p:cNvSpPr/>
          <p:nvPr/>
        </p:nvSpPr>
        <p:spPr>
          <a:xfrm>
            <a:off x="6227064" y="4398264"/>
            <a:ext cx="73152" cy="886968"/>
          </a:xfrm>
          <a:prstGeom prst="rect">
            <a:avLst/>
          </a:prstGeom>
          <a:solidFill>
            <a:srgbClr val="061A6E"/>
          </a:solidFill>
          <a:ln>
            <a:noFill/>
          </a:ln>
        </p:spPr>
        <p:txBody>
          <a:bodyPr/>
          <a:lstStyle/>
          <a:p>
            <a:endParaRPr lang="en-US"/>
          </a:p>
        </p:txBody>
      </p:sp>
      <p:sp>
        <p:nvSpPr>
          <p:cNvPr id="300" name="TB300"/>
          <p:cNvSpPr txBox="1"/>
          <p:nvPr/>
        </p:nvSpPr>
        <p:spPr>
          <a:xfrm>
            <a:off x="6428232" y="4462272"/>
            <a:ext cx="5029200" cy="219456"/>
          </a:xfrm>
          <a:prstGeom prst="rect">
            <a:avLst/>
          </a:prstGeom>
          <a:noFill/>
        </p:spPr>
        <p:txBody>
          <a:bodyPr wrap="square" rtlCol="0" anchor="t"/>
          <a:lstStyle/>
          <a:p>
            <a:r>
              <a:rPr lang="en-US" sz="1200" b="1" dirty="0">
                <a:solidFill>
                  <a:srgbClr val="061A6E"/>
                </a:solidFill>
                <a:latin typeface="Trebuchet MS"/>
              </a:rPr>
              <a:t>Curriculum Breadth Gap (L4–L5 NQF)</a:t>
            </a:r>
          </a:p>
        </p:txBody>
      </p:sp>
      <p:sp>
        <p:nvSpPr>
          <p:cNvPr id="301" name="TB301"/>
          <p:cNvSpPr txBox="1"/>
          <p:nvPr/>
        </p:nvSpPr>
        <p:spPr>
          <a:xfrm>
            <a:off x="6428232" y="4700016"/>
            <a:ext cx="5029200" cy="502920"/>
          </a:xfrm>
          <a:prstGeom prst="rect">
            <a:avLst/>
          </a:prstGeom>
          <a:noFill/>
        </p:spPr>
        <p:txBody>
          <a:bodyPr wrap="square" rtlCol="0" anchor="t"/>
          <a:lstStyle/>
          <a:p>
            <a:r>
              <a:rPr lang="en-US" sz="1100" dirty="0">
                <a:solidFill>
                  <a:srgbClr val="575757"/>
                </a:solidFill>
                <a:latin typeface="Trebuchet MS"/>
              </a:rPr>
              <a:t>Govt programs require multi-level NQF content. Scaler targets L6–L7. A 'lite' track for L4–L5 must be built or licensed — estimated 90-day effort with existing faculty.</a:t>
            </a:r>
          </a:p>
        </p:txBody>
      </p:sp>
      <p:sp>
        <p:nvSpPr>
          <p:cNvPr id="302" name="RR302"/>
          <p:cNvSpPr/>
          <p:nvPr/>
        </p:nvSpPr>
        <p:spPr>
          <a:xfrm>
            <a:off x="630936" y="5486400"/>
            <a:ext cx="10936224" cy="457200"/>
          </a:xfrm>
          <a:prstGeom prst="roundRect">
            <a:avLst>
              <a:gd name="adj" fmla="val 5000"/>
            </a:avLst>
          </a:prstGeom>
          <a:solidFill>
            <a:srgbClr val="EEF3FF"/>
          </a:solidFill>
          <a:ln w="25400">
            <a:solidFill>
              <a:srgbClr val="1557FE"/>
            </a:solidFill>
          </a:ln>
        </p:spPr>
        <p:txBody>
          <a:bodyPr/>
          <a:lstStyle/>
          <a:p>
            <a:endParaRPr lang="en-US"/>
          </a:p>
        </p:txBody>
      </p:sp>
      <p:sp>
        <p:nvSpPr>
          <p:cNvPr id="303" name="TB303"/>
          <p:cNvSpPr txBox="1"/>
          <p:nvPr/>
        </p:nvSpPr>
        <p:spPr>
          <a:xfrm>
            <a:off x="795527" y="5541264"/>
            <a:ext cx="10607040" cy="347472"/>
          </a:xfrm>
          <a:prstGeom prst="rect">
            <a:avLst/>
          </a:prstGeom>
          <a:noFill/>
        </p:spPr>
        <p:txBody>
          <a:bodyPr wrap="square" rtlCol="0" anchor="ctr"/>
          <a:lstStyle/>
          <a:p>
            <a:r>
              <a:rPr lang="en-US" sz="1200" b="1" dirty="0">
                <a:solidFill>
                  <a:srgbClr val="1557FE"/>
                </a:solidFill>
                <a:latin typeface="Trebuchet MS"/>
              </a:rPr>
              <a:t>Verdict: </a:t>
            </a:r>
            <a:r>
              <a:rPr lang="en-US" sz="1200" dirty="0">
                <a:solidFill>
                  <a:srgbClr val="575757"/>
                </a:solidFill>
                <a:latin typeface="Trebuchet MS"/>
              </a:rPr>
              <a:t>Advantages are structural and defensible. Gaps are operational and closeable in 90 days. The question is not whether Scaler can win — it is whether Scaler moves before Coursera or Simplilearn notice the premium tier is empty.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85F302F-EA10-6FE8-8992-0F97261B0BDE}"/>
              </a:ext>
            </a:extLst>
          </p:cNvPr>
          <p:cNvGraphicFramePr>
            <a:graphicFrameLocks noChangeAspect="1"/>
          </p:cNvGraphicFramePr>
          <p:nvPr>
            <p:custDataLst>
              <p:tags r:id="rId1"/>
            </p:custDataLst>
            <p:extLst>
              <p:ext uri="{D42A27DB-BD31-4B8C-83A1-F6EECF244321}">
                <p14:modId xmlns:p14="http://schemas.microsoft.com/office/powerpoint/2010/main" val="2595506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4" name="ph_title"/>
          <p:cNvSpPr>
            <a:spLocks noGrp="1"/>
          </p:cNvSpPr>
          <p:nvPr>
            <p:ph type="title"/>
          </p:nvPr>
        </p:nvSpPr>
        <p:spPr>
          <a:xfrm>
            <a:off x="630000" y="622800"/>
            <a:ext cx="10933350" cy="664797"/>
          </a:xfrm>
        </p:spPr>
        <p:txBody>
          <a:bodyPr vert="horz"/>
          <a:lstStyle/>
          <a:p>
            <a:r>
              <a:rPr lang="en-US" dirty="0"/>
              <a:t>PSU contracts pay 3x per candidate — B2G economics only work at the right tier</a:t>
            </a:r>
          </a:p>
        </p:txBody>
      </p:sp>
      <p:sp>
        <p:nvSpPr>
          <p:cNvPr id="305" name="TB30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PMKVY 4.0 Framework; DPE Training Budget Guidelines; GeM tender data; DoPT DFFT scheme; </a:t>
            </a:r>
          </a:p>
        </p:txBody>
      </p:sp>
      <p:sp>
        <p:nvSpPr>
          <p:cNvPr id="306" name="TB306"/>
          <p:cNvSpPr txBox="1"/>
          <p:nvPr/>
        </p:nvSpPr>
        <p:spPr>
          <a:xfrm>
            <a:off x="6627936" y="1732895"/>
            <a:ext cx="4593214" cy="475488"/>
          </a:xfrm>
          <a:prstGeom prst="rect">
            <a:avLst/>
          </a:prstGeom>
          <a:noFill/>
        </p:spPr>
        <p:txBody>
          <a:bodyPr wrap="square" rtlCol="0" anchor="t"/>
          <a:lstStyle/>
          <a:p>
            <a:r>
              <a:rPr lang="en-US" sz="1100" b="1" dirty="0">
                <a:solidFill>
                  <a:srgbClr val="E8850A"/>
                </a:solidFill>
                <a:latin typeface="Trebuchet MS"/>
              </a:rPr>
              <a:t>Govt pays ₹3.2L/IAS officer/year for Oxford —</a:t>
            </a:r>
          </a:p>
          <a:p>
            <a:r>
              <a:rPr lang="en-US" sz="1100" b="1" dirty="0">
                <a:solidFill>
                  <a:srgbClr val="E8850A"/>
                </a:solidFill>
                <a:latin typeface="Trebuchet MS"/>
              </a:rPr>
              <a:t>price ≠ the barrier. Outcome quality = the barrier.</a:t>
            </a:r>
          </a:p>
        </p:txBody>
      </p:sp>
      <p:graphicFrame>
        <p:nvGraphicFramePr>
          <p:cNvPr id="307" name="Table 307"/>
          <p:cNvGraphicFramePr>
            <a:graphicFrameLocks noGrp="1"/>
          </p:cNvGraphicFramePr>
          <p:nvPr>
            <p:extLst>
              <p:ext uri="{D42A27DB-BD31-4B8C-83A1-F6EECF244321}">
                <p14:modId xmlns:p14="http://schemas.microsoft.com/office/powerpoint/2010/main" val="2834694655"/>
              </p:ext>
            </p:extLst>
          </p:nvPr>
        </p:nvGraphicFramePr>
        <p:xfrm>
          <a:off x="6627936" y="2184064"/>
          <a:ext cx="4939220" cy="1661160"/>
        </p:xfrm>
        <a:graphic>
          <a:graphicData uri="http://schemas.openxmlformats.org/drawingml/2006/table">
            <a:tbl>
              <a:tblPr firstRow="1">
                <a:noFill/>
              </a:tblPr>
              <a:tblGrid>
                <a:gridCol w="1234805">
                  <a:extLst>
                    <a:ext uri="{9D8B030D-6E8A-4147-A177-3AD203B41FA5}">
                      <a16:colId xmlns:a16="http://schemas.microsoft.com/office/drawing/2014/main" val="20000"/>
                    </a:ext>
                  </a:extLst>
                </a:gridCol>
                <a:gridCol w="1234805">
                  <a:extLst>
                    <a:ext uri="{9D8B030D-6E8A-4147-A177-3AD203B41FA5}">
                      <a16:colId xmlns:a16="http://schemas.microsoft.com/office/drawing/2014/main" val="20001"/>
                    </a:ext>
                  </a:extLst>
                </a:gridCol>
                <a:gridCol w="1234805">
                  <a:extLst>
                    <a:ext uri="{9D8B030D-6E8A-4147-A177-3AD203B41FA5}">
                      <a16:colId xmlns:a16="http://schemas.microsoft.com/office/drawing/2014/main" val="20002"/>
                    </a:ext>
                  </a:extLst>
                </a:gridCol>
                <a:gridCol w="1234805">
                  <a:extLst>
                    <a:ext uri="{9D8B030D-6E8A-4147-A177-3AD203B41FA5}">
                      <a16:colId xmlns:a16="http://schemas.microsoft.com/office/drawing/2014/main" val="20003"/>
                    </a:ext>
                  </a:extLst>
                </a:gridCol>
              </a:tblGrid>
              <a:tr h="179313">
                <a:tc>
                  <a:txBody>
                    <a:bodyPr/>
                    <a:lstStyle/>
                    <a:p>
                      <a:pPr algn="l"/>
                      <a:endParaRP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PSU</a:t>
                      </a: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Central Govt</a:t>
                      </a:r>
                    </a:p>
                  </a:txBody>
                  <a:tcPr>
                    <a:lnL w="0">
                      <a:noFill/>
                    </a:lnL>
                    <a:lnR w="0">
                      <a:noFill/>
                    </a:lnR>
                    <a:lnT w="0">
                      <a:noFill/>
                    </a:lnT>
                    <a:lnB w="0">
                      <a:noFill/>
                    </a:lnB>
                    <a:solidFill>
                      <a:srgbClr val="295E7E"/>
                    </a:solidFill>
                  </a:tcPr>
                </a:tc>
                <a:tc>
                  <a:txBody>
                    <a:bodyPr/>
                    <a:lstStyle/>
                    <a:p>
                      <a:pPr algn="ctr"/>
                      <a:r>
                        <a:rPr lang="en-US" sz="1200" b="1" dirty="0">
                          <a:solidFill>
                            <a:srgbClr val="FFFFFF"/>
                          </a:solidFill>
                          <a:latin typeface="Trebuchet MS"/>
                          <a:cs typeface="Trebuchet MS"/>
                        </a:rPr>
                        <a:t>State</a:t>
                      </a:r>
                    </a:p>
                  </a:txBody>
                  <a:tcPr>
                    <a:lnL w="0">
                      <a:noFill/>
                    </a:lnL>
                    <a:lnR w="0">
                      <a:noFill/>
                    </a:lnR>
                    <a:lnT w="0">
                      <a:noFill/>
                    </a:lnT>
                    <a:lnB w="0">
                      <a:noFill/>
                    </a:lnB>
                    <a:solidFill>
                      <a:srgbClr val="295E7E"/>
                    </a:solidFill>
                  </a:tcPr>
                </a:tc>
                <a:extLst>
                  <a:ext uri="{0D108BD9-81ED-4DB2-BD59-A6C34878D82A}">
                    <a16:rowId xmlns:a16="http://schemas.microsoft.com/office/drawing/2014/main" val="10000"/>
                  </a:ext>
                </a:extLst>
              </a:tr>
              <a:tr h="179313">
                <a:tc>
                  <a:txBody>
                    <a:bodyPr/>
                    <a:lstStyle/>
                    <a:p>
                      <a:pPr algn="l"/>
                      <a:r>
                        <a:rPr lang="en-US" sz="1100" dirty="0">
                          <a:solidFill>
                            <a:srgbClr val="575757"/>
                          </a:solidFill>
                          <a:latin typeface="Trebuchet MS"/>
                          <a:cs typeface="Trebuchet MS"/>
                        </a:rPr>
                        <a:t>Avg Deal Size</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₹85–300L</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₹150–380L</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₹90–140L</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179313">
                <a:tc>
                  <a:txBody>
                    <a:bodyPr/>
                    <a:lstStyle/>
                    <a:p>
                      <a:pPr algn="l"/>
                      <a:r>
                        <a:rPr lang="en-US" sz="1100" dirty="0">
                          <a:solidFill>
                            <a:srgbClr val="575757"/>
                          </a:solidFill>
                          <a:latin typeface="Trebuchet MS"/>
                          <a:cs typeface="Trebuchet MS"/>
                        </a:rPr>
                        <a:t>Duration</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1–2 yrs</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12–18 mo</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12 mo</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179313">
                <a:tc>
                  <a:txBody>
                    <a:bodyPr/>
                    <a:lstStyle/>
                    <a:p>
                      <a:pPr algn="l"/>
                      <a:r>
                        <a:rPr lang="en-US" sz="1100" dirty="0">
                          <a:solidFill>
                            <a:srgbClr val="575757"/>
                          </a:solidFill>
                          <a:latin typeface="Trebuchet MS"/>
                          <a:cs typeface="Trebuchet MS"/>
                        </a:rPr>
                        <a:t>Gross Margin</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65%</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58%</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46%</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179313">
                <a:tc>
                  <a:txBody>
                    <a:bodyPr/>
                    <a:lstStyle/>
                    <a:p>
                      <a:pPr algn="l"/>
                      <a:r>
                        <a:rPr lang="en-US" sz="1100" dirty="0">
                          <a:solidFill>
                            <a:srgbClr val="575757"/>
                          </a:solidFill>
                          <a:latin typeface="Trebuchet MS"/>
                          <a:cs typeface="Trebuchet MS"/>
                        </a:rPr>
                        <a:t>Rec. Days</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60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90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120</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179313">
                <a:tc>
                  <a:txBody>
                    <a:bodyPr/>
                    <a:lstStyle/>
                    <a:p>
                      <a:pPr algn="l"/>
                      <a:r>
                        <a:rPr lang="en-US" sz="1100" dirty="0">
                          <a:solidFill>
                            <a:srgbClr val="575757"/>
                          </a:solidFill>
                          <a:latin typeface="Trebuchet MS"/>
                          <a:cs typeface="Trebuchet MS"/>
                        </a:rPr>
                        <a:t>Win Rate Est.</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50–60%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35–45%</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35–40%</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308" name="RR308"/>
          <p:cNvSpPr/>
          <p:nvPr/>
        </p:nvSpPr>
        <p:spPr>
          <a:xfrm>
            <a:off x="630936" y="3397107"/>
            <a:ext cx="10936224" cy="512064"/>
          </a:xfrm>
          <a:prstGeom prst="roundRect">
            <a:avLst>
              <a:gd name="adj" fmla="val 5000"/>
            </a:avLst>
          </a:prstGeom>
          <a:solidFill>
            <a:srgbClr val="FFF8E8"/>
          </a:solidFill>
          <a:ln w="25400">
            <a:solidFill>
              <a:srgbClr val="E8850A"/>
            </a:solidFill>
          </a:ln>
        </p:spPr>
        <p:txBody>
          <a:bodyPr/>
          <a:lstStyle/>
          <a:p>
            <a:endParaRPr lang="en-US"/>
          </a:p>
        </p:txBody>
      </p:sp>
      <p:sp>
        <p:nvSpPr>
          <p:cNvPr id="309" name="TB309"/>
          <p:cNvSpPr txBox="1"/>
          <p:nvPr/>
        </p:nvSpPr>
        <p:spPr>
          <a:xfrm>
            <a:off x="795527" y="3470259"/>
            <a:ext cx="10607040" cy="365760"/>
          </a:xfrm>
          <a:prstGeom prst="rect">
            <a:avLst/>
          </a:prstGeom>
          <a:noFill/>
        </p:spPr>
        <p:txBody>
          <a:bodyPr wrap="square" rtlCol="0" anchor="ctr"/>
          <a:lstStyle/>
          <a:p>
            <a:r>
              <a:rPr lang="en-US" sz="1100" b="1" dirty="0">
                <a:solidFill>
                  <a:srgbClr val="E8850A"/>
                </a:solidFill>
                <a:latin typeface="Trebuchet MS"/>
              </a:rPr>
              <a:t>IAS study-abroad analog (DoPT DFFT scheme): </a:t>
            </a:r>
            <a:r>
              <a:rPr lang="en-US" sz="1100" dirty="0">
                <a:solidFill>
                  <a:srgbClr val="575757"/>
                </a:solidFill>
                <a:latin typeface="Trebuchet MS"/>
              </a:rPr>
              <a:t>Govt funds IAS officers at $35–$45K/yr (₹29–37L) for Top-30 universities including Harvard, Oxford, NUS. Officers sign 3-year service bonds. The precedent that govt pays for quality outcomes when it matters is already established.</a:t>
            </a:r>
          </a:p>
        </p:txBody>
      </p:sp>
      <p:sp>
        <p:nvSpPr>
          <p:cNvPr id="310" name="RR310"/>
          <p:cNvSpPr/>
          <p:nvPr/>
        </p:nvSpPr>
        <p:spPr>
          <a:xfrm>
            <a:off x="630936" y="4037187"/>
            <a:ext cx="2610612" cy="146614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11" name="R311"/>
          <p:cNvSpPr/>
          <p:nvPr/>
        </p:nvSpPr>
        <p:spPr>
          <a:xfrm>
            <a:off x="630936" y="4037187"/>
            <a:ext cx="2610612" cy="54864"/>
          </a:xfrm>
          <a:prstGeom prst="rect">
            <a:avLst/>
          </a:prstGeom>
          <a:solidFill>
            <a:srgbClr val="1557FE"/>
          </a:solidFill>
          <a:ln>
            <a:noFill/>
          </a:ln>
        </p:spPr>
        <p:txBody>
          <a:bodyPr/>
          <a:lstStyle/>
          <a:p>
            <a:endParaRPr lang="en-US"/>
          </a:p>
        </p:txBody>
      </p:sp>
      <p:sp>
        <p:nvSpPr>
          <p:cNvPr id="312" name="R312"/>
          <p:cNvSpPr/>
          <p:nvPr/>
        </p:nvSpPr>
        <p:spPr>
          <a:xfrm>
            <a:off x="630936" y="4037187"/>
            <a:ext cx="2610612" cy="274320"/>
          </a:xfrm>
          <a:prstGeom prst="rect">
            <a:avLst/>
          </a:prstGeom>
          <a:solidFill>
            <a:srgbClr val="1557FE"/>
          </a:solidFill>
          <a:ln>
            <a:noFill/>
          </a:ln>
        </p:spPr>
        <p:txBody>
          <a:bodyPr/>
          <a:lstStyle/>
          <a:p>
            <a:endParaRPr lang="en-US"/>
          </a:p>
        </p:txBody>
      </p:sp>
      <p:sp>
        <p:nvSpPr>
          <p:cNvPr id="313" name="TB313"/>
          <p:cNvSpPr txBox="1"/>
          <p:nvPr/>
        </p:nvSpPr>
        <p:spPr>
          <a:xfrm>
            <a:off x="722375" y="4037187"/>
            <a:ext cx="2427732" cy="274320"/>
          </a:xfrm>
          <a:prstGeom prst="rect">
            <a:avLst/>
          </a:prstGeom>
          <a:noFill/>
        </p:spPr>
        <p:txBody>
          <a:bodyPr wrap="square" rtlCol="0" anchor="ctr"/>
          <a:lstStyle/>
          <a:p>
            <a:r>
              <a:rPr lang="en-US" sz="1200" b="1" dirty="0">
                <a:solidFill>
                  <a:srgbClr val="FFFFFF"/>
                </a:solidFill>
                <a:latin typeface="Trebuchet MS"/>
              </a:rPr>
              <a:t>PSU Upskilling</a:t>
            </a:r>
          </a:p>
        </p:txBody>
      </p:sp>
      <p:sp>
        <p:nvSpPr>
          <p:cNvPr id="314" name="R314"/>
          <p:cNvSpPr/>
          <p:nvPr/>
        </p:nvSpPr>
        <p:spPr>
          <a:xfrm>
            <a:off x="2308860" y="4366371"/>
            <a:ext cx="804672" cy="219456"/>
          </a:xfrm>
          <a:prstGeom prst="rect">
            <a:avLst/>
          </a:prstGeom>
          <a:solidFill>
            <a:srgbClr val="197A56"/>
          </a:solidFill>
          <a:ln>
            <a:noFill/>
          </a:ln>
        </p:spPr>
        <p:txBody>
          <a:bodyPr/>
          <a:lstStyle/>
          <a:p>
            <a:endParaRPr lang="en-US"/>
          </a:p>
        </p:txBody>
      </p:sp>
      <p:sp>
        <p:nvSpPr>
          <p:cNvPr id="315" name="TB315"/>
          <p:cNvSpPr txBox="1"/>
          <p:nvPr/>
        </p:nvSpPr>
        <p:spPr>
          <a:xfrm>
            <a:off x="2308860" y="4366371"/>
            <a:ext cx="804672" cy="219456"/>
          </a:xfrm>
          <a:prstGeom prst="rect">
            <a:avLst/>
          </a:prstGeom>
          <a:noFill/>
        </p:spPr>
        <p:txBody>
          <a:bodyPr wrap="square" rtlCol="0" anchor="ctr"/>
          <a:lstStyle/>
          <a:p>
            <a:pPr algn="ctr"/>
            <a:r>
              <a:rPr lang="en-US" sz="1100" b="1" dirty="0">
                <a:solidFill>
                  <a:srgbClr val="FFFFFF"/>
                </a:solidFill>
                <a:latin typeface="Trebuchet MS"/>
              </a:rPr>
              <a:t>ANCHOR</a:t>
            </a:r>
          </a:p>
        </p:txBody>
      </p:sp>
      <p:sp>
        <p:nvSpPr>
          <p:cNvPr id="316" name="TB316"/>
          <p:cNvSpPr txBox="1"/>
          <p:nvPr/>
        </p:nvSpPr>
        <p:spPr>
          <a:xfrm>
            <a:off x="740664" y="4640691"/>
            <a:ext cx="2391156" cy="201168"/>
          </a:xfrm>
          <a:prstGeom prst="rect">
            <a:avLst/>
          </a:prstGeom>
          <a:noFill/>
        </p:spPr>
        <p:txBody>
          <a:bodyPr wrap="square" rtlCol="0" anchor="t"/>
          <a:lstStyle/>
          <a:p>
            <a:r>
              <a:rPr lang="en-US" sz="1000" dirty="0">
                <a:solidFill>
                  <a:srgbClr val="575757"/>
                </a:solidFill>
                <a:latin typeface="Trebuchet MS"/>
              </a:rPr>
              <a:t>• ₹85–300L deal size</a:t>
            </a:r>
          </a:p>
        </p:txBody>
      </p:sp>
      <p:sp>
        <p:nvSpPr>
          <p:cNvPr id="317" name="TB317"/>
          <p:cNvSpPr txBox="1"/>
          <p:nvPr/>
        </p:nvSpPr>
        <p:spPr>
          <a:xfrm>
            <a:off x="740664" y="4847208"/>
            <a:ext cx="2391156" cy="201168"/>
          </a:xfrm>
          <a:prstGeom prst="rect">
            <a:avLst/>
          </a:prstGeom>
          <a:noFill/>
        </p:spPr>
        <p:txBody>
          <a:bodyPr wrap="square" rtlCol="0" anchor="t"/>
          <a:lstStyle/>
          <a:p>
            <a:r>
              <a:rPr lang="en-US" sz="1000" dirty="0">
                <a:solidFill>
                  <a:srgbClr val="575757"/>
                </a:solidFill>
                <a:latin typeface="Trebuchet MS"/>
              </a:rPr>
              <a:t>• 65% gross margin</a:t>
            </a:r>
          </a:p>
        </p:txBody>
      </p:sp>
      <p:sp>
        <p:nvSpPr>
          <p:cNvPr id="318" name="TB318"/>
          <p:cNvSpPr txBox="1"/>
          <p:nvPr/>
        </p:nvSpPr>
        <p:spPr>
          <a:xfrm>
            <a:off x="740664" y="5053725"/>
            <a:ext cx="2391156" cy="201168"/>
          </a:xfrm>
          <a:prstGeom prst="rect">
            <a:avLst/>
          </a:prstGeom>
          <a:noFill/>
        </p:spPr>
        <p:txBody>
          <a:bodyPr wrap="square" rtlCol="0" anchor="t"/>
          <a:lstStyle/>
          <a:p>
            <a:r>
              <a:rPr lang="en-US" sz="1000" dirty="0">
                <a:solidFill>
                  <a:srgbClr val="575757"/>
                </a:solidFill>
                <a:latin typeface="Trebuchet MS"/>
              </a:rPr>
              <a:t>• Proc. like enterprise</a:t>
            </a:r>
          </a:p>
        </p:txBody>
      </p:sp>
      <p:sp>
        <p:nvSpPr>
          <p:cNvPr id="319" name="TB319"/>
          <p:cNvSpPr txBox="1"/>
          <p:nvPr/>
        </p:nvSpPr>
        <p:spPr>
          <a:xfrm>
            <a:off x="740664" y="5260242"/>
            <a:ext cx="2391156" cy="201168"/>
          </a:xfrm>
          <a:prstGeom prst="rect">
            <a:avLst/>
          </a:prstGeom>
          <a:noFill/>
        </p:spPr>
        <p:txBody>
          <a:bodyPr wrap="square" rtlCol="0" anchor="t"/>
          <a:lstStyle/>
          <a:p>
            <a:r>
              <a:rPr lang="en-US" sz="1000" dirty="0">
                <a:solidFill>
                  <a:srgbClr val="575757"/>
                </a:solidFill>
                <a:latin typeface="Trebuchet MS"/>
              </a:rPr>
              <a:t>• Multi-year lock-in</a:t>
            </a:r>
          </a:p>
        </p:txBody>
      </p:sp>
      <p:sp>
        <p:nvSpPr>
          <p:cNvPr id="320" name="RR320"/>
          <p:cNvSpPr/>
          <p:nvPr/>
        </p:nvSpPr>
        <p:spPr>
          <a:xfrm>
            <a:off x="3406140" y="4037187"/>
            <a:ext cx="2610612" cy="146614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21" name="R321"/>
          <p:cNvSpPr/>
          <p:nvPr/>
        </p:nvSpPr>
        <p:spPr>
          <a:xfrm>
            <a:off x="3406140" y="4037187"/>
            <a:ext cx="2610612" cy="54864"/>
          </a:xfrm>
          <a:prstGeom prst="rect">
            <a:avLst/>
          </a:prstGeom>
          <a:solidFill>
            <a:srgbClr val="0A3CB5"/>
          </a:solidFill>
          <a:ln>
            <a:noFill/>
          </a:ln>
        </p:spPr>
        <p:txBody>
          <a:bodyPr/>
          <a:lstStyle/>
          <a:p>
            <a:endParaRPr lang="en-US"/>
          </a:p>
        </p:txBody>
      </p:sp>
      <p:sp>
        <p:nvSpPr>
          <p:cNvPr id="322" name="R322"/>
          <p:cNvSpPr/>
          <p:nvPr/>
        </p:nvSpPr>
        <p:spPr>
          <a:xfrm>
            <a:off x="3406140" y="4037187"/>
            <a:ext cx="2610612" cy="274320"/>
          </a:xfrm>
          <a:prstGeom prst="rect">
            <a:avLst/>
          </a:prstGeom>
          <a:solidFill>
            <a:srgbClr val="0A3CB5"/>
          </a:solidFill>
          <a:ln>
            <a:noFill/>
          </a:ln>
        </p:spPr>
        <p:txBody>
          <a:bodyPr/>
          <a:lstStyle/>
          <a:p>
            <a:endParaRPr lang="en-US"/>
          </a:p>
        </p:txBody>
      </p:sp>
      <p:sp>
        <p:nvSpPr>
          <p:cNvPr id="323" name="TB323"/>
          <p:cNvSpPr txBox="1"/>
          <p:nvPr/>
        </p:nvSpPr>
        <p:spPr>
          <a:xfrm>
            <a:off x="3497580" y="4037187"/>
            <a:ext cx="2427732" cy="274320"/>
          </a:xfrm>
          <a:prstGeom prst="rect">
            <a:avLst/>
          </a:prstGeom>
          <a:noFill/>
        </p:spPr>
        <p:txBody>
          <a:bodyPr wrap="square" rtlCol="0" anchor="ctr"/>
          <a:lstStyle/>
          <a:p>
            <a:r>
              <a:rPr lang="en-US" sz="1200" b="1" dirty="0">
                <a:solidFill>
                  <a:srgbClr val="FFFFFF"/>
                </a:solidFill>
                <a:latin typeface="Trebuchet MS"/>
              </a:rPr>
              <a:t>Central Govt</a:t>
            </a:r>
          </a:p>
        </p:txBody>
      </p:sp>
      <p:sp>
        <p:nvSpPr>
          <p:cNvPr id="324" name="R324"/>
          <p:cNvSpPr/>
          <p:nvPr/>
        </p:nvSpPr>
        <p:spPr>
          <a:xfrm>
            <a:off x="5084064" y="4366371"/>
            <a:ext cx="804672" cy="219456"/>
          </a:xfrm>
          <a:prstGeom prst="rect">
            <a:avLst/>
          </a:prstGeom>
          <a:solidFill>
            <a:srgbClr val="197A56"/>
          </a:solidFill>
          <a:ln>
            <a:noFill/>
          </a:ln>
        </p:spPr>
        <p:txBody>
          <a:bodyPr/>
          <a:lstStyle/>
          <a:p>
            <a:endParaRPr lang="en-US"/>
          </a:p>
        </p:txBody>
      </p:sp>
      <p:sp>
        <p:nvSpPr>
          <p:cNvPr id="325" name="TB325"/>
          <p:cNvSpPr txBox="1"/>
          <p:nvPr/>
        </p:nvSpPr>
        <p:spPr>
          <a:xfrm>
            <a:off x="5084064" y="4366371"/>
            <a:ext cx="804672" cy="219456"/>
          </a:xfrm>
          <a:prstGeom prst="rect">
            <a:avLst/>
          </a:prstGeom>
          <a:noFill/>
        </p:spPr>
        <p:txBody>
          <a:bodyPr wrap="square" rtlCol="0" anchor="ctr"/>
          <a:lstStyle/>
          <a:p>
            <a:pPr algn="ctr"/>
            <a:r>
              <a:rPr lang="en-US" sz="1100" b="1" dirty="0">
                <a:solidFill>
                  <a:srgbClr val="FFFFFF"/>
                </a:solidFill>
                <a:latin typeface="Trebuchet MS"/>
              </a:rPr>
              <a:t>SCALE</a:t>
            </a:r>
          </a:p>
        </p:txBody>
      </p:sp>
      <p:sp>
        <p:nvSpPr>
          <p:cNvPr id="326" name="TB326"/>
          <p:cNvSpPr txBox="1"/>
          <p:nvPr/>
        </p:nvSpPr>
        <p:spPr>
          <a:xfrm>
            <a:off x="3515868" y="4640691"/>
            <a:ext cx="2391156" cy="201168"/>
          </a:xfrm>
          <a:prstGeom prst="rect">
            <a:avLst/>
          </a:prstGeom>
          <a:noFill/>
        </p:spPr>
        <p:txBody>
          <a:bodyPr wrap="square" rtlCol="0" anchor="t"/>
          <a:lstStyle/>
          <a:p>
            <a:r>
              <a:rPr lang="en-US" sz="1000" dirty="0">
                <a:solidFill>
                  <a:srgbClr val="575757"/>
                </a:solidFill>
                <a:latin typeface="Trebuchet MS"/>
              </a:rPr>
              <a:t>• ₹12–19K per candidate</a:t>
            </a:r>
          </a:p>
        </p:txBody>
      </p:sp>
      <p:sp>
        <p:nvSpPr>
          <p:cNvPr id="327" name="TB327"/>
          <p:cNvSpPr txBox="1"/>
          <p:nvPr/>
        </p:nvSpPr>
        <p:spPr>
          <a:xfrm>
            <a:off x="3515868" y="4847208"/>
            <a:ext cx="2391156" cy="201168"/>
          </a:xfrm>
          <a:prstGeom prst="rect">
            <a:avLst/>
          </a:prstGeom>
          <a:noFill/>
        </p:spPr>
        <p:txBody>
          <a:bodyPr wrap="square" rtlCol="0" anchor="t"/>
          <a:lstStyle/>
          <a:p>
            <a:r>
              <a:rPr lang="en-US" sz="1000" dirty="0">
                <a:solidFill>
                  <a:srgbClr val="575757"/>
                </a:solidFill>
                <a:latin typeface="Trebuchet MS"/>
              </a:rPr>
              <a:t>• 58% gross margin</a:t>
            </a:r>
          </a:p>
        </p:txBody>
      </p:sp>
      <p:sp>
        <p:nvSpPr>
          <p:cNvPr id="328" name="TB328"/>
          <p:cNvSpPr txBox="1"/>
          <p:nvPr/>
        </p:nvSpPr>
        <p:spPr>
          <a:xfrm>
            <a:off x="3515868" y="5053725"/>
            <a:ext cx="2391156" cy="201168"/>
          </a:xfrm>
          <a:prstGeom prst="rect">
            <a:avLst/>
          </a:prstGeom>
          <a:noFill/>
        </p:spPr>
        <p:txBody>
          <a:bodyPr wrap="square" rtlCol="0" anchor="t"/>
          <a:lstStyle/>
          <a:p>
            <a:r>
              <a:rPr lang="en-US" sz="1000" dirty="0">
                <a:solidFill>
                  <a:srgbClr val="575757"/>
                </a:solidFill>
                <a:latin typeface="Trebuchet MS"/>
              </a:rPr>
              <a:t>• PMKVY 5.0 outcome bond</a:t>
            </a:r>
          </a:p>
        </p:txBody>
      </p:sp>
      <p:sp>
        <p:nvSpPr>
          <p:cNvPr id="329" name="TB329"/>
          <p:cNvSpPr txBox="1"/>
          <p:nvPr/>
        </p:nvSpPr>
        <p:spPr>
          <a:xfrm>
            <a:off x="3515868" y="5260242"/>
            <a:ext cx="2391156" cy="201168"/>
          </a:xfrm>
          <a:prstGeom prst="rect">
            <a:avLst/>
          </a:prstGeom>
          <a:noFill/>
        </p:spPr>
        <p:txBody>
          <a:bodyPr wrap="square" rtlCol="0" anchor="t"/>
          <a:lstStyle/>
          <a:p>
            <a:r>
              <a:rPr lang="en-US" sz="1000" dirty="0">
                <a:solidFill>
                  <a:srgbClr val="575757"/>
                </a:solidFill>
                <a:latin typeface="Trebuchet MS"/>
              </a:rPr>
              <a:t>• Brand building</a:t>
            </a:r>
          </a:p>
        </p:txBody>
      </p:sp>
      <p:sp>
        <p:nvSpPr>
          <p:cNvPr id="330" name="RR330"/>
          <p:cNvSpPr/>
          <p:nvPr/>
        </p:nvSpPr>
        <p:spPr>
          <a:xfrm>
            <a:off x="6181344" y="4037187"/>
            <a:ext cx="2610612" cy="146614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31" name="R331"/>
          <p:cNvSpPr/>
          <p:nvPr/>
        </p:nvSpPr>
        <p:spPr>
          <a:xfrm>
            <a:off x="6181344" y="4037187"/>
            <a:ext cx="2610612" cy="54864"/>
          </a:xfrm>
          <a:prstGeom prst="rect">
            <a:avLst/>
          </a:prstGeom>
          <a:solidFill>
            <a:srgbClr val="4A90E2"/>
          </a:solidFill>
          <a:ln>
            <a:noFill/>
          </a:ln>
        </p:spPr>
        <p:txBody>
          <a:bodyPr/>
          <a:lstStyle/>
          <a:p>
            <a:endParaRPr lang="en-US"/>
          </a:p>
        </p:txBody>
      </p:sp>
      <p:sp>
        <p:nvSpPr>
          <p:cNvPr id="332" name="R332"/>
          <p:cNvSpPr/>
          <p:nvPr/>
        </p:nvSpPr>
        <p:spPr>
          <a:xfrm>
            <a:off x="6181344" y="4037187"/>
            <a:ext cx="2610612" cy="274320"/>
          </a:xfrm>
          <a:prstGeom prst="rect">
            <a:avLst/>
          </a:prstGeom>
          <a:solidFill>
            <a:srgbClr val="4A90E2"/>
          </a:solidFill>
          <a:ln>
            <a:noFill/>
          </a:ln>
        </p:spPr>
        <p:txBody>
          <a:bodyPr/>
          <a:lstStyle/>
          <a:p>
            <a:endParaRPr lang="en-US"/>
          </a:p>
        </p:txBody>
      </p:sp>
      <p:sp>
        <p:nvSpPr>
          <p:cNvPr id="333" name="TB333"/>
          <p:cNvSpPr txBox="1"/>
          <p:nvPr/>
        </p:nvSpPr>
        <p:spPr>
          <a:xfrm>
            <a:off x="6272784" y="4037187"/>
            <a:ext cx="2427732" cy="274320"/>
          </a:xfrm>
          <a:prstGeom prst="rect">
            <a:avLst/>
          </a:prstGeom>
          <a:noFill/>
        </p:spPr>
        <p:txBody>
          <a:bodyPr wrap="square" rtlCol="0" anchor="ctr"/>
          <a:lstStyle/>
          <a:p>
            <a:r>
              <a:rPr lang="en-US" sz="1200" b="1" dirty="0">
                <a:solidFill>
                  <a:srgbClr val="FFFFFF"/>
                </a:solidFill>
                <a:latin typeface="Trebuchet MS"/>
              </a:rPr>
              <a:t>University</a:t>
            </a:r>
          </a:p>
        </p:txBody>
      </p:sp>
      <p:sp>
        <p:nvSpPr>
          <p:cNvPr id="334" name="R334"/>
          <p:cNvSpPr/>
          <p:nvPr/>
        </p:nvSpPr>
        <p:spPr>
          <a:xfrm>
            <a:off x="7859268" y="4366371"/>
            <a:ext cx="804672" cy="219456"/>
          </a:xfrm>
          <a:prstGeom prst="rect">
            <a:avLst/>
          </a:prstGeom>
          <a:solidFill>
            <a:srgbClr val="197A56"/>
          </a:solidFill>
          <a:ln>
            <a:noFill/>
          </a:ln>
        </p:spPr>
        <p:txBody>
          <a:bodyPr/>
          <a:lstStyle/>
          <a:p>
            <a:endParaRPr lang="en-US"/>
          </a:p>
        </p:txBody>
      </p:sp>
      <p:sp>
        <p:nvSpPr>
          <p:cNvPr id="335" name="TB335"/>
          <p:cNvSpPr txBox="1"/>
          <p:nvPr/>
        </p:nvSpPr>
        <p:spPr>
          <a:xfrm>
            <a:off x="7859268" y="4366371"/>
            <a:ext cx="804672" cy="219456"/>
          </a:xfrm>
          <a:prstGeom prst="rect">
            <a:avLst/>
          </a:prstGeom>
          <a:noFill/>
        </p:spPr>
        <p:txBody>
          <a:bodyPr wrap="square" rtlCol="0" anchor="ctr"/>
          <a:lstStyle/>
          <a:p>
            <a:pPr algn="ctr"/>
            <a:r>
              <a:rPr lang="en-US" sz="1100" b="1" dirty="0">
                <a:solidFill>
                  <a:srgbClr val="FFFFFF"/>
                </a:solidFill>
                <a:latin typeface="Trebuchet MS"/>
              </a:rPr>
              <a:t>BRAND</a:t>
            </a:r>
          </a:p>
        </p:txBody>
      </p:sp>
      <p:sp>
        <p:nvSpPr>
          <p:cNvPr id="336" name="TB336"/>
          <p:cNvSpPr txBox="1"/>
          <p:nvPr/>
        </p:nvSpPr>
        <p:spPr>
          <a:xfrm>
            <a:off x="6291072" y="4640691"/>
            <a:ext cx="2391156" cy="201168"/>
          </a:xfrm>
          <a:prstGeom prst="rect">
            <a:avLst/>
          </a:prstGeom>
          <a:noFill/>
        </p:spPr>
        <p:txBody>
          <a:bodyPr wrap="square" rtlCol="0" anchor="t"/>
          <a:lstStyle/>
          <a:p>
            <a:r>
              <a:rPr lang="en-US" sz="1000" dirty="0">
                <a:solidFill>
                  <a:srgbClr val="575757"/>
                </a:solidFill>
                <a:latin typeface="Trebuchet MS"/>
              </a:rPr>
              <a:t>• ₹30–65L per partner/yr</a:t>
            </a:r>
          </a:p>
        </p:txBody>
      </p:sp>
      <p:sp>
        <p:nvSpPr>
          <p:cNvPr id="337" name="TB337"/>
          <p:cNvSpPr txBox="1"/>
          <p:nvPr/>
        </p:nvSpPr>
        <p:spPr>
          <a:xfrm>
            <a:off x="6291072" y="4847208"/>
            <a:ext cx="2391156" cy="201168"/>
          </a:xfrm>
          <a:prstGeom prst="rect">
            <a:avLst/>
          </a:prstGeom>
          <a:noFill/>
        </p:spPr>
        <p:txBody>
          <a:bodyPr wrap="square" rtlCol="0" anchor="t"/>
          <a:lstStyle/>
          <a:p>
            <a:r>
              <a:rPr lang="en-US" sz="1000" dirty="0">
                <a:solidFill>
                  <a:srgbClr val="575757"/>
                </a:solidFill>
                <a:latin typeface="Trebuchet MS"/>
              </a:rPr>
              <a:t>• 72% gross margin</a:t>
            </a:r>
          </a:p>
        </p:txBody>
      </p:sp>
      <p:sp>
        <p:nvSpPr>
          <p:cNvPr id="338" name="TB338"/>
          <p:cNvSpPr txBox="1"/>
          <p:nvPr/>
        </p:nvSpPr>
        <p:spPr>
          <a:xfrm>
            <a:off x="6291072" y="5053725"/>
            <a:ext cx="2391156" cy="201168"/>
          </a:xfrm>
          <a:prstGeom prst="rect">
            <a:avLst/>
          </a:prstGeom>
          <a:noFill/>
        </p:spPr>
        <p:txBody>
          <a:bodyPr wrap="square" rtlCol="0" anchor="t"/>
          <a:lstStyle/>
          <a:p>
            <a:r>
              <a:rPr lang="en-US" sz="1000" dirty="0">
                <a:solidFill>
                  <a:srgbClr val="575757"/>
                </a:solidFill>
                <a:latin typeface="Trebuchet MS"/>
              </a:rPr>
              <a:t>• Curriculum IP licensing</a:t>
            </a:r>
          </a:p>
        </p:txBody>
      </p:sp>
      <p:sp>
        <p:nvSpPr>
          <p:cNvPr id="339" name="TB339"/>
          <p:cNvSpPr txBox="1"/>
          <p:nvPr/>
        </p:nvSpPr>
        <p:spPr>
          <a:xfrm>
            <a:off x="6291072" y="5260242"/>
            <a:ext cx="2391156" cy="201168"/>
          </a:xfrm>
          <a:prstGeom prst="rect">
            <a:avLst/>
          </a:prstGeom>
          <a:noFill/>
        </p:spPr>
        <p:txBody>
          <a:bodyPr wrap="square" rtlCol="0" anchor="t"/>
          <a:lstStyle/>
          <a:p>
            <a:r>
              <a:rPr lang="en-US" sz="1000" dirty="0">
                <a:solidFill>
                  <a:srgbClr val="575757"/>
                </a:solidFill>
                <a:latin typeface="Trebuchet MS"/>
              </a:rPr>
              <a:t>• B2C pipeline</a:t>
            </a:r>
          </a:p>
        </p:txBody>
      </p:sp>
      <p:sp>
        <p:nvSpPr>
          <p:cNvPr id="340" name="RR340"/>
          <p:cNvSpPr/>
          <p:nvPr/>
        </p:nvSpPr>
        <p:spPr>
          <a:xfrm>
            <a:off x="8956548" y="4037187"/>
            <a:ext cx="2610612" cy="146614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41" name="R341"/>
          <p:cNvSpPr/>
          <p:nvPr/>
        </p:nvSpPr>
        <p:spPr>
          <a:xfrm>
            <a:off x="8956548" y="4037187"/>
            <a:ext cx="2610612" cy="54864"/>
          </a:xfrm>
          <a:prstGeom prst="rect">
            <a:avLst/>
          </a:prstGeom>
          <a:solidFill>
            <a:srgbClr val="6E6F73"/>
          </a:solidFill>
          <a:ln>
            <a:noFill/>
          </a:ln>
        </p:spPr>
        <p:txBody>
          <a:bodyPr/>
          <a:lstStyle/>
          <a:p>
            <a:endParaRPr lang="en-US"/>
          </a:p>
        </p:txBody>
      </p:sp>
      <p:sp>
        <p:nvSpPr>
          <p:cNvPr id="342" name="R342"/>
          <p:cNvSpPr/>
          <p:nvPr/>
        </p:nvSpPr>
        <p:spPr>
          <a:xfrm>
            <a:off x="8956548" y="4037187"/>
            <a:ext cx="2610612" cy="274320"/>
          </a:xfrm>
          <a:prstGeom prst="rect">
            <a:avLst/>
          </a:prstGeom>
          <a:solidFill>
            <a:srgbClr val="6E6F73"/>
          </a:solidFill>
          <a:ln>
            <a:noFill/>
          </a:ln>
        </p:spPr>
        <p:txBody>
          <a:bodyPr/>
          <a:lstStyle/>
          <a:p>
            <a:endParaRPr lang="en-US"/>
          </a:p>
        </p:txBody>
      </p:sp>
      <p:sp>
        <p:nvSpPr>
          <p:cNvPr id="343" name="TB343"/>
          <p:cNvSpPr txBox="1"/>
          <p:nvPr/>
        </p:nvSpPr>
        <p:spPr>
          <a:xfrm>
            <a:off x="9047988" y="4037187"/>
            <a:ext cx="2427732" cy="274320"/>
          </a:xfrm>
          <a:prstGeom prst="rect">
            <a:avLst/>
          </a:prstGeom>
          <a:noFill/>
        </p:spPr>
        <p:txBody>
          <a:bodyPr wrap="square" rtlCol="0" anchor="ctr"/>
          <a:lstStyle/>
          <a:p>
            <a:r>
              <a:rPr lang="en-US" sz="1200" b="1" dirty="0">
                <a:solidFill>
                  <a:srgbClr val="FFFFFF"/>
                </a:solidFill>
                <a:latin typeface="Trebuchet MS"/>
              </a:rPr>
              <a:t>State Govt</a:t>
            </a:r>
          </a:p>
        </p:txBody>
      </p:sp>
      <p:sp>
        <p:nvSpPr>
          <p:cNvPr id="344" name="R344"/>
          <p:cNvSpPr/>
          <p:nvPr/>
        </p:nvSpPr>
        <p:spPr>
          <a:xfrm>
            <a:off x="10634472" y="4366371"/>
            <a:ext cx="804672" cy="219456"/>
          </a:xfrm>
          <a:prstGeom prst="rect">
            <a:avLst/>
          </a:prstGeom>
          <a:solidFill>
            <a:srgbClr val="197A56"/>
          </a:solidFill>
          <a:ln>
            <a:noFill/>
          </a:ln>
        </p:spPr>
        <p:txBody>
          <a:bodyPr/>
          <a:lstStyle/>
          <a:p>
            <a:endParaRPr lang="en-US"/>
          </a:p>
        </p:txBody>
      </p:sp>
      <p:sp>
        <p:nvSpPr>
          <p:cNvPr id="345" name="TB345"/>
          <p:cNvSpPr txBox="1"/>
          <p:nvPr/>
        </p:nvSpPr>
        <p:spPr>
          <a:xfrm>
            <a:off x="10634472" y="4366371"/>
            <a:ext cx="804672" cy="219456"/>
          </a:xfrm>
          <a:prstGeom prst="rect">
            <a:avLst/>
          </a:prstGeom>
          <a:noFill/>
        </p:spPr>
        <p:txBody>
          <a:bodyPr wrap="square" rtlCol="0" anchor="ctr"/>
          <a:lstStyle/>
          <a:p>
            <a:pPr algn="ctr"/>
            <a:r>
              <a:rPr lang="en-US" sz="1100" b="1" dirty="0">
                <a:solidFill>
                  <a:srgbClr val="FFFFFF"/>
                </a:solidFill>
                <a:latin typeface="Trebuchet MS"/>
              </a:rPr>
              <a:t>YR2+</a:t>
            </a:r>
          </a:p>
        </p:txBody>
      </p:sp>
      <p:sp>
        <p:nvSpPr>
          <p:cNvPr id="346" name="TB346"/>
          <p:cNvSpPr txBox="1"/>
          <p:nvPr/>
        </p:nvSpPr>
        <p:spPr>
          <a:xfrm>
            <a:off x="9066276" y="4640691"/>
            <a:ext cx="2391156" cy="201168"/>
          </a:xfrm>
          <a:prstGeom prst="rect">
            <a:avLst/>
          </a:prstGeom>
          <a:noFill/>
        </p:spPr>
        <p:txBody>
          <a:bodyPr wrap="square" rtlCol="0" anchor="t"/>
          <a:lstStyle/>
          <a:p>
            <a:r>
              <a:rPr lang="en-US" sz="1000" dirty="0">
                <a:solidFill>
                  <a:srgbClr val="575757"/>
                </a:solidFill>
                <a:latin typeface="Trebuchet MS"/>
              </a:rPr>
              <a:t>• ₹7–12K ATV only</a:t>
            </a:r>
          </a:p>
        </p:txBody>
      </p:sp>
      <p:sp>
        <p:nvSpPr>
          <p:cNvPr id="347" name="TB347"/>
          <p:cNvSpPr txBox="1"/>
          <p:nvPr/>
        </p:nvSpPr>
        <p:spPr>
          <a:xfrm>
            <a:off x="9066276" y="4847208"/>
            <a:ext cx="2391156" cy="201168"/>
          </a:xfrm>
          <a:prstGeom prst="rect">
            <a:avLst/>
          </a:prstGeom>
          <a:noFill/>
        </p:spPr>
        <p:txBody>
          <a:bodyPr wrap="square" rtlCol="0" anchor="t"/>
          <a:lstStyle/>
          <a:p>
            <a:r>
              <a:rPr lang="en-US" sz="1000" dirty="0">
                <a:solidFill>
                  <a:srgbClr val="575757"/>
                </a:solidFill>
                <a:latin typeface="Trebuchet MS"/>
              </a:rPr>
              <a:t>• 46% gross margin</a:t>
            </a:r>
          </a:p>
        </p:txBody>
      </p:sp>
      <p:sp>
        <p:nvSpPr>
          <p:cNvPr id="348" name="TB348"/>
          <p:cNvSpPr txBox="1"/>
          <p:nvPr/>
        </p:nvSpPr>
        <p:spPr>
          <a:xfrm>
            <a:off x="9066276" y="5053725"/>
            <a:ext cx="2391156" cy="201168"/>
          </a:xfrm>
          <a:prstGeom prst="rect">
            <a:avLst/>
          </a:prstGeom>
          <a:noFill/>
        </p:spPr>
        <p:txBody>
          <a:bodyPr wrap="square" rtlCol="0" anchor="t"/>
          <a:lstStyle/>
          <a:p>
            <a:r>
              <a:rPr lang="en-US" sz="1000" dirty="0">
                <a:solidFill>
                  <a:srgbClr val="575757"/>
                </a:solidFill>
                <a:latin typeface="Trebuchet MS"/>
              </a:rPr>
              <a:t>• High compliance cost</a:t>
            </a:r>
          </a:p>
        </p:txBody>
      </p:sp>
      <p:sp>
        <p:nvSpPr>
          <p:cNvPr id="349" name="TB349"/>
          <p:cNvSpPr txBox="1"/>
          <p:nvPr/>
        </p:nvSpPr>
        <p:spPr>
          <a:xfrm>
            <a:off x="9066276" y="5260242"/>
            <a:ext cx="2391156" cy="201168"/>
          </a:xfrm>
          <a:prstGeom prst="rect">
            <a:avLst/>
          </a:prstGeom>
          <a:noFill/>
        </p:spPr>
        <p:txBody>
          <a:bodyPr wrap="square" rtlCol="0" anchor="t"/>
          <a:lstStyle/>
          <a:p>
            <a:r>
              <a:rPr lang="en-US" sz="1000" dirty="0">
                <a:solidFill>
                  <a:srgbClr val="575757"/>
                </a:solidFill>
                <a:latin typeface="Trebuchet MS"/>
              </a:rPr>
              <a:t>• Enter Year 2+</a:t>
            </a:r>
          </a:p>
        </p:txBody>
      </p:sp>
      <p:graphicFrame>
        <p:nvGraphicFramePr>
          <p:cNvPr id="350" name="Chart 349"/>
          <p:cNvGraphicFramePr>
            <a:graphicFrameLocks noGrp="1"/>
          </p:cNvGraphicFramePr>
          <p:nvPr>
            <p:extLst>
              <p:ext uri="{D42A27DB-BD31-4B8C-83A1-F6EECF244321}">
                <p14:modId xmlns:p14="http://schemas.microsoft.com/office/powerpoint/2010/main" val="2212106700"/>
              </p:ext>
            </p:extLst>
          </p:nvPr>
        </p:nvGraphicFramePr>
        <p:xfrm>
          <a:off x="630936" y="1635424"/>
          <a:ext cx="5905560" cy="1624523"/>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B4BEC93-7D10-60A6-F2B4-34A193A3E2E8}"/>
              </a:ext>
            </a:extLst>
          </p:cNvPr>
          <p:cNvGraphicFramePr>
            <a:graphicFrameLocks noChangeAspect="1"/>
          </p:cNvGraphicFramePr>
          <p:nvPr>
            <p:custDataLst>
              <p:tags r:id="rId1"/>
            </p:custDataLst>
            <p:extLst>
              <p:ext uri="{D42A27DB-BD31-4B8C-83A1-F6EECF244321}">
                <p14:modId xmlns:p14="http://schemas.microsoft.com/office/powerpoint/2010/main" val="401007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0" name="ph_title"/>
          <p:cNvSpPr>
            <a:spLocks noGrp="1"/>
          </p:cNvSpPr>
          <p:nvPr>
            <p:ph type="title"/>
          </p:nvPr>
        </p:nvSpPr>
        <p:spPr/>
        <p:txBody>
          <a:bodyPr vert="horz"/>
          <a:lstStyle/>
          <a:p>
            <a:r>
              <a:rPr lang="en-US" dirty="0"/>
              <a:t>EBITDA positive by FY27 and ₹93 Cr revenue by FY30 — B2G is a real business</a:t>
            </a:r>
          </a:p>
        </p:txBody>
      </p:sp>
      <p:sp>
        <p:nvSpPr>
          <p:cNvPr id="351" name="TB351"/>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NIIT FY25; TCS iON est.; Simplilearn; Scaler FY25 ₹363 Cr revenue base</a:t>
            </a:r>
          </a:p>
        </p:txBody>
      </p:sp>
      <p:sp>
        <p:nvSpPr>
          <p:cNvPr id="352" name="TB352"/>
          <p:cNvSpPr txBox="1"/>
          <p:nvPr/>
        </p:nvSpPr>
        <p:spPr>
          <a:xfrm>
            <a:off x="2022008" y="2315464"/>
            <a:ext cx="914400" cy="274320"/>
          </a:xfrm>
          <a:prstGeom prst="rect">
            <a:avLst/>
          </a:prstGeom>
          <a:noFill/>
        </p:spPr>
        <p:txBody>
          <a:bodyPr wrap="square" rtlCol="0" anchor="t"/>
          <a:lstStyle/>
          <a:p>
            <a:r>
              <a:rPr lang="en-US" sz="900" b="1" dirty="0">
                <a:solidFill>
                  <a:srgbClr val="1557FE"/>
                </a:solidFill>
                <a:latin typeface="Trebuchet MS"/>
              </a:rPr>
              <a:t>SBI PSU</a:t>
            </a:r>
          </a:p>
          <a:p>
            <a:r>
              <a:rPr lang="en-US" sz="900" b="1" dirty="0">
                <a:solidFill>
                  <a:srgbClr val="1557FE"/>
                </a:solidFill>
                <a:latin typeface="Trebuchet MS"/>
              </a:rPr>
              <a:t>contract</a:t>
            </a:r>
          </a:p>
        </p:txBody>
      </p:sp>
      <p:sp>
        <p:nvSpPr>
          <p:cNvPr id="353" name="TB353"/>
          <p:cNvSpPr txBox="1"/>
          <p:nvPr/>
        </p:nvSpPr>
        <p:spPr>
          <a:xfrm>
            <a:off x="3334355" y="2315464"/>
            <a:ext cx="914400" cy="274320"/>
          </a:xfrm>
          <a:prstGeom prst="rect">
            <a:avLst/>
          </a:prstGeom>
          <a:noFill/>
        </p:spPr>
        <p:txBody>
          <a:bodyPr wrap="square" rtlCol="0" anchor="t"/>
          <a:lstStyle/>
          <a:p>
            <a:r>
              <a:rPr lang="en-US" sz="900" b="1" dirty="0">
                <a:solidFill>
                  <a:srgbClr val="1557FE"/>
                </a:solidFill>
                <a:latin typeface="Trebuchet MS"/>
              </a:rPr>
              <a:t>EBITDA +ve</a:t>
            </a:r>
          </a:p>
        </p:txBody>
      </p:sp>
      <p:sp>
        <p:nvSpPr>
          <p:cNvPr id="354" name="TB354"/>
          <p:cNvSpPr txBox="1"/>
          <p:nvPr/>
        </p:nvSpPr>
        <p:spPr>
          <a:xfrm>
            <a:off x="4515467" y="2315464"/>
            <a:ext cx="914400" cy="274320"/>
          </a:xfrm>
          <a:prstGeom prst="rect">
            <a:avLst/>
          </a:prstGeom>
          <a:noFill/>
        </p:spPr>
        <p:txBody>
          <a:bodyPr wrap="square" rtlCol="0" anchor="t"/>
          <a:lstStyle/>
          <a:p>
            <a:r>
              <a:rPr lang="en-US" sz="900" b="1" dirty="0">
                <a:solidFill>
                  <a:srgbClr val="1557FE"/>
                </a:solidFill>
                <a:latin typeface="Trebuchet MS"/>
              </a:rPr>
              <a:t>PAT +ve</a:t>
            </a:r>
          </a:p>
        </p:txBody>
      </p:sp>
      <p:graphicFrame>
        <p:nvGraphicFramePr>
          <p:cNvPr id="355" name="Table 355"/>
          <p:cNvGraphicFramePr>
            <a:graphicFrameLocks noGrp="1"/>
          </p:cNvGraphicFramePr>
          <p:nvPr>
            <p:extLst>
              <p:ext uri="{D42A27DB-BD31-4B8C-83A1-F6EECF244321}">
                <p14:modId xmlns:p14="http://schemas.microsoft.com/office/powerpoint/2010/main" val="1644744388"/>
              </p:ext>
            </p:extLst>
          </p:nvPr>
        </p:nvGraphicFramePr>
        <p:xfrm>
          <a:off x="7357262" y="2075688"/>
          <a:ext cx="4209895" cy="2446950"/>
        </p:xfrm>
        <a:graphic>
          <a:graphicData uri="http://schemas.openxmlformats.org/drawingml/2006/table">
            <a:tbl>
              <a:tblPr firstRow="1">
                <a:noFill/>
              </a:tblPr>
              <a:tblGrid>
                <a:gridCol w="841979">
                  <a:extLst>
                    <a:ext uri="{9D8B030D-6E8A-4147-A177-3AD203B41FA5}">
                      <a16:colId xmlns:a16="http://schemas.microsoft.com/office/drawing/2014/main" val="20000"/>
                    </a:ext>
                  </a:extLst>
                </a:gridCol>
                <a:gridCol w="841979">
                  <a:extLst>
                    <a:ext uri="{9D8B030D-6E8A-4147-A177-3AD203B41FA5}">
                      <a16:colId xmlns:a16="http://schemas.microsoft.com/office/drawing/2014/main" val="20001"/>
                    </a:ext>
                  </a:extLst>
                </a:gridCol>
                <a:gridCol w="841979">
                  <a:extLst>
                    <a:ext uri="{9D8B030D-6E8A-4147-A177-3AD203B41FA5}">
                      <a16:colId xmlns:a16="http://schemas.microsoft.com/office/drawing/2014/main" val="20002"/>
                    </a:ext>
                  </a:extLst>
                </a:gridCol>
                <a:gridCol w="841979">
                  <a:extLst>
                    <a:ext uri="{9D8B030D-6E8A-4147-A177-3AD203B41FA5}">
                      <a16:colId xmlns:a16="http://schemas.microsoft.com/office/drawing/2014/main" val="20003"/>
                    </a:ext>
                  </a:extLst>
                </a:gridCol>
                <a:gridCol w="841979">
                  <a:extLst>
                    <a:ext uri="{9D8B030D-6E8A-4147-A177-3AD203B41FA5}">
                      <a16:colId xmlns:a16="http://schemas.microsoft.com/office/drawing/2014/main" val="20004"/>
                    </a:ext>
                  </a:extLst>
                </a:gridCol>
              </a:tblGrid>
              <a:tr h="287330">
                <a:tc>
                  <a:txBody>
                    <a:bodyPr/>
                    <a:lstStyle/>
                    <a:p>
                      <a:pPr algn="l"/>
                      <a:r>
                        <a:rPr lang="en-US" sz="1100" b="1" dirty="0">
                          <a:solidFill>
                            <a:srgbClr val="FFFFFF"/>
                          </a:solidFill>
                          <a:latin typeface="Trebuchet MS"/>
                          <a:cs typeface="Trebuchet MS"/>
                        </a:rPr>
                        <a:t>Metric</a:t>
                      </a:r>
                    </a:p>
                  </a:txBody>
                  <a:tcPr>
                    <a:lnL w="0">
                      <a:noFill/>
                    </a:lnL>
                    <a:lnR w="0">
                      <a:noFill/>
                    </a:lnR>
                    <a:lnT w="0">
                      <a:noFill/>
                    </a:lnT>
                    <a:lnB w="0">
                      <a:noFill/>
                    </a:lnB>
                    <a:solidFill>
                      <a:srgbClr val="295E7E"/>
                    </a:solidFill>
                  </a:tcPr>
                </a:tc>
                <a:tc>
                  <a:txBody>
                    <a:bodyPr/>
                    <a:lstStyle/>
                    <a:p>
                      <a:pPr algn="ctr"/>
                      <a:r>
                        <a:rPr lang="en-US" sz="1100" b="1" dirty="0">
                          <a:solidFill>
                            <a:srgbClr val="FFFFFF"/>
                          </a:solidFill>
                          <a:latin typeface="Trebuchet MS"/>
                          <a:cs typeface="Trebuchet MS"/>
                        </a:rPr>
                        <a:t>FY26</a:t>
                      </a:r>
                    </a:p>
                  </a:txBody>
                  <a:tcPr>
                    <a:lnL w="0">
                      <a:noFill/>
                    </a:lnL>
                    <a:lnR w="0">
                      <a:noFill/>
                    </a:lnR>
                    <a:lnT w="0">
                      <a:noFill/>
                    </a:lnT>
                    <a:lnB w="0">
                      <a:noFill/>
                    </a:lnB>
                    <a:solidFill>
                      <a:srgbClr val="295E7E"/>
                    </a:solidFill>
                  </a:tcPr>
                </a:tc>
                <a:tc>
                  <a:txBody>
                    <a:bodyPr/>
                    <a:lstStyle/>
                    <a:p>
                      <a:pPr algn="ctr"/>
                      <a:r>
                        <a:rPr lang="en-US" sz="1100" b="1" dirty="0">
                          <a:solidFill>
                            <a:srgbClr val="FFFFFF"/>
                          </a:solidFill>
                          <a:latin typeface="Trebuchet MS"/>
                          <a:cs typeface="Trebuchet MS"/>
                        </a:rPr>
                        <a:t>FY27</a:t>
                      </a:r>
                    </a:p>
                  </a:txBody>
                  <a:tcPr>
                    <a:lnL w="0">
                      <a:noFill/>
                    </a:lnL>
                    <a:lnR w="0">
                      <a:noFill/>
                    </a:lnR>
                    <a:lnT w="0">
                      <a:noFill/>
                    </a:lnT>
                    <a:lnB w="0">
                      <a:noFill/>
                    </a:lnB>
                    <a:solidFill>
                      <a:srgbClr val="295E7E"/>
                    </a:solidFill>
                  </a:tcPr>
                </a:tc>
                <a:tc>
                  <a:txBody>
                    <a:bodyPr/>
                    <a:lstStyle/>
                    <a:p>
                      <a:pPr algn="ctr"/>
                      <a:r>
                        <a:rPr lang="en-US" sz="1100" b="1" dirty="0">
                          <a:solidFill>
                            <a:srgbClr val="FFFFFF"/>
                          </a:solidFill>
                          <a:latin typeface="Trebuchet MS"/>
                          <a:cs typeface="Trebuchet MS"/>
                        </a:rPr>
                        <a:t>FY28</a:t>
                      </a:r>
                    </a:p>
                  </a:txBody>
                  <a:tcPr>
                    <a:lnL w="0">
                      <a:noFill/>
                    </a:lnL>
                    <a:lnR w="0">
                      <a:noFill/>
                    </a:lnR>
                    <a:lnT w="0">
                      <a:noFill/>
                    </a:lnT>
                    <a:lnB w="0">
                      <a:noFill/>
                    </a:lnB>
                    <a:solidFill>
                      <a:srgbClr val="295E7E"/>
                    </a:solidFill>
                  </a:tcPr>
                </a:tc>
                <a:tc>
                  <a:txBody>
                    <a:bodyPr/>
                    <a:lstStyle/>
                    <a:p>
                      <a:pPr algn="ctr"/>
                      <a:r>
                        <a:rPr lang="en-US" sz="1100" b="1" dirty="0">
                          <a:solidFill>
                            <a:srgbClr val="FFFFFF"/>
                          </a:solidFill>
                          <a:latin typeface="Trebuchet MS"/>
                          <a:cs typeface="Trebuchet MS"/>
                        </a:rPr>
                        <a:t>FY30</a:t>
                      </a:r>
                    </a:p>
                  </a:txBody>
                  <a:tcPr>
                    <a:lnL w="0">
                      <a:noFill/>
                    </a:lnL>
                    <a:lnR w="0">
                      <a:noFill/>
                    </a:lnR>
                    <a:lnT w="0">
                      <a:noFill/>
                    </a:lnT>
                    <a:lnB w="0">
                      <a:noFill/>
                    </a:lnB>
                    <a:solidFill>
                      <a:srgbClr val="295E7E"/>
                    </a:solidFill>
                  </a:tcPr>
                </a:tc>
                <a:extLst>
                  <a:ext uri="{0D108BD9-81ED-4DB2-BD59-A6C34878D82A}">
                    <a16:rowId xmlns:a16="http://schemas.microsoft.com/office/drawing/2014/main" val="10000"/>
                  </a:ext>
                </a:extLst>
              </a:tr>
              <a:tr h="287330">
                <a:tc>
                  <a:txBody>
                    <a:bodyPr/>
                    <a:lstStyle/>
                    <a:p>
                      <a:pPr algn="l"/>
                      <a:r>
                        <a:rPr lang="en-US" sz="1000" dirty="0">
                          <a:solidFill>
                            <a:srgbClr val="575757"/>
                          </a:solidFill>
                          <a:latin typeface="Trebuchet MS"/>
                          <a:cs typeface="Trebuchet MS"/>
                        </a:rPr>
                        <a:t>Revenue (₹Cr)</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2.0</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9.0</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25.7</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93.1</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287330">
                <a:tc>
                  <a:txBody>
                    <a:bodyPr/>
                    <a:lstStyle/>
                    <a:p>
                      <a:pPr algn="l"/>
                      <a:r>
                        <a:rPr lang="en-US" sz="1000" dirty="0">
                          <a:solidFill>
                            <a:srgbClr val="575757"/>
                          </a:solidFill>
                          <a:latin typeface="Trebuchet MS"/>
                          <a:cs typeface="Trebuchet MS"/>
                        </a:rPr>
                        <a:t>Gross Margin</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58%</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60%</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62%</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63%</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287330">
                <a:tc>
                  <a:txBody>
                    <a:bodyPr/>
                    <a:lstStyle/>
                    <a:p>
                      <a:pPr algn="l"/>
                      <a:r>
                        <a:rPr lang="en-US" sz="1000" dirty="0">
                          <a:solidFill>
                            <a:srgbClr val="575757"/>
                          </a:solidFill>
                          <a:latin typeface="Trebuchet MS"/>
                          <a:cs typeface="Trebuchet MS"/>
                        </a:rPr>
                        <a:t>EBITDA (₹Cr)</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(1.5)</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0.4</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4.2</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26.1</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287330">
                <a:tc>
                  <a:txBody>
                    <a:bodyPr/>
                    <a:lstStyle/>
                    <a:p>
                      <a:pPr algn="l"/>
                      <a:r>
                        <a:rPr lang="en-US" sz="1000" dirty="0">
                          <a:solidFill>
                            <a:srgbClr val="575757"/>
                          </a:solidFill>
                          <a:latin typeface="Trebuchet MS"/>
                          <a:cs typeface="Trebuchet MS"/>
                        </a:rPr>
                        <a:t>EBITDA Mgn</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5%</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16%</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28%</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287330">
                <a:tc>
                  <a:txBody>
                    <a:bodyPr/>
                    <a:lstStyle/>
                    <a:p>
                      <a:pPr algn="l"/>
                      <a:r>
                        <a:rPr lang="en-US" sz="1000" dirty="0">
                          <a:solidFill>
                            <a:srgbClr val="575757"/>
                          </a:solidFill>
                          <a:latin typeface="Trebuchet MS"/>
                          <a:cs typeface="Trebuchet MS"/>
                        </a:rPr>
                        <a:t>PAT (₹Cr)</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(2.0)</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(0.6)</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2.0</a:t>
                      </a:r>
                    </a:p>
                  </a:txBody>
                  <a:tcPr>
                    <a:lnL w="0">
                      <a:noFill/>
                    </a:lnL>
                    <a:lnR w="0">
                      <a:noFill/>
                    </a:lnR>
                    <a:lnT w="0">
                      <a:noFill/>
                    </a:lnT>
                    <a:lnB w="0">
                      <a:noFill/>
                    </a:lnB>
                    <a:solidFill>
                      <a:srgbClr val="FFFFFF"/>
                    </a:solidFill>
                  </a:tcPr>
                </a:tc>
                <a:tc>
                  <a:txBody>
                    <a:bodyPr/>
                    <a:lstStyle/>
                    <a:p>
                      <a:pPr algn="ctr"/>
                      <a:r>
                        <a:rPr lang="en-US" sz="1000" dirty="0">
                          <a:solidFill>
                            <a:srgbClr val="575757"/>
                          </a:solidFill>
                          <a:latin typeface="Trebuchet MS"/>
                          <a:cs typeface="Trebuchet MS"/>
                        </a:rPr>
                        <a:t>25.4</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r h="287330">
                <a:tc>
                  <a:txBody>
                    <a:bodyPr/>
                    <a:lstStyle/>
                    <a:p>
                      <a:pPr algn="l"/>
                      <a:r>
                        <a:rPr lang="en-US" sz="1000" dirty="0">
                          <a:solidFill>
                            <a:srgbClr val="575757"/>
                          </a:solidFill>
                          <a:latin typeface="Trebuchet MS"/>
                          <a:cs typeface="Trebuchet MS"/>
                        </a:rPr>
                        <a:t>Headcount</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11</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18</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30</a:t>
                      </a:r>
                    </a:p>
                  </a:txBody>
                  <a:tcPr>
                    <a:lnL w="0">
                      <a:noFill/>
                    </a:lnL>
                    <a:lnR w="0">
                      <a:noFill/>
                    </a:lnR>
                    <a:lnT w="0">
                      <a:noFill/>
                    </a:lnT>
                    <a:lnB w="0">
                      <a:noFill/>
                    </a:lnB>
                    <a:solidFill>
                      <a:srgbClr val="F2F2F2"/>
                    </a:solidFill>
                  </a:tcPr>
                </a:tc>
                <a:tc>
                  <a:txBody>
                    <a:bodyPr/>
                    <a:lstStyle/>
                    <a:p>
                      <a:pPr algn="ctr"/>
                      <a:r>
                        <a:rPr lang="en-US" sz="1000" dirty="0">
                          <a:solidFill>
                            <a:srgbClr val="575757"/>
                          </a:solidFill>
                          <a:latin typeface="Trebuchet MS"/>
                          <a:cs typeface="Trebuchet MS"/>
                        </a:rPr>
                        <a:t>50</a:t>
                      </a:r>
                    </a:p>
                  </a:txBody>
                  <a:tcPr>
                    <a:lnL w="0">
                      <a:noFill/>
                    </a:lnL>
                    <a:lnR w="0">
                      <a:noFill/>
                    </a:lnR>
                    <a:lnT w="0">
                      <a:noFill/>
                    </a:lnT>
                    <a:lnB w="0">
                      <a:noFill/>
                    </a:lnB>
                    <a:solidFill>
                      <a:srgbClr val="F2F2F2"/>
                    </a:solidFill>
                  </a:tcPr>
                </a:tc>
                <a:extLst>
                  <a:ext uri="{0D108BD9-81ED-4DB2-BD59-A6C34878D82A}">
                    <a16:rowId xmlns:a16="http://schemas.microsoft.com/office/drawing/2014/main" val="10006"/>
                  </a:ext>
                </a:extLst>
              </a:tr>
            </a:tbl>
          </a:graphicData>
        </a:graphic>
      </p:graphicFrame>
      <p:sp>
        <p:nvSpPr>
          <p:cNvPr id="356" name="RR356"/>
          <p:cNvSpPr/>
          <p:nvPr/>
        </p:nvSpPr>
        <p:spPr>
          <a:xfrm>
            <a:off x="630936" y="4814538"/>
            <a:ext cx="2610612" cy="990135"/>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57" name="R357"/>
          <p:cNvSpPr/>
          <p:nvPr/>
        </p:nvSpPr>
        <p:spPr>
          <a:xfrm>
            <a:off x="630936" y="4783248"/>
            <a:ext cx="2610612" cy="42779"/>
          </a:xfrm>
          <a:prstGeom prst="rect">
            <a:avLst/>
          </a:prstGeom>
          <a:solidFill>
            <a:srgbClr val="1557FE"/>
          </a:solidFill>
          <a:ln>
            <a:noFill/>
          </a:ln>
        </p:spPr>
        <p:txBody>
          <a:bodyPr/>
          <a:lstStyle/>
          <a:p>
            <a:endParaRPr lang="en-US"/>
          </a:p>
        </p:txBody>
      </p:sp>
      <p:sp>
        <p:nvSpPr>
          <p:cNvPr id="358" name="TB358"/>
          <p:cNvSpPr txBox="1"/>
          <p:nvPr/>
        </p:nvSpPr>
        <p:spPr>
          <a:xfrm>
            <a:off x="722375" y="4888619"/>
            <a:ext cx="2427732" cy="270948"/>
          </a:xfrm>
          <a:prstGeom prst="rect">
            <a:avLst/>
          </a:prstGeom>
          <a:noFill/>
        </p:spPr>
        <p:txBody>
          <a:bodyPr wrap="square" rtlCol="0" anchor="t"/>
          <a:lstStyle/>
          <a:p>
            <a:pPr algn="ctr"/>
            <a:r>
              <a:rPr lang="en-US" sz="2000" b="1" dirty="0">
                <a:solidFill>
                  <a:srgbClr val="1557FE"/>
                </a:solidFill>
                <a:latin typeface="Trebuchet MS"/>
              </a:rPr>
              <a:t>₹93 Cr</a:t>
            </a:r>
          </a:p>
        </p:txBody>
      </p:sp>
      <p:sp>
        <p:nvSpPr>
          <p:cNvPr id="359" name="TB359"/>
          <p:cNvSpPr txBox="1"/>
          <p:nvPr/>
        </p:nvSpPr>
        <p:spPr>
          <a:xfrm>
            <a:off x="722375" y="5238269"/>
            <a:ext cx="2427732" cy="156864"/>
          </a:xfrm>
          <a:prstGeom prst="rect">
            <a:avLst/>
          </a:prstGeom>
          <a:noFill/>
        </p:spPr>
        <p:txBody>
          <a:bodyPr wrap="square" rtlCol="0" anchor="t"/>
          <a:lstStyle/>
          <a:p>
            <a:pPr algn="ctr"/>
            <a:r>
              <a:rPr lang="en-US" sz="1000" b="1" dirty="0">
                <a:solidFill>
                  <a:srgbClr val="575757"/>
                </a:solidFill>
                <a:latin typeface="Trebuchet MS"/>
              </a:rPr>
              <a:t>FY30 Revenue</a:t>
            </a:r>
          </a:p>
        </p:txBody>
      </p:sp>
      <p:sp>
        <p:nvSpPr>
          <p:cNvPr id="360" name="TB360"/>
          <p:cNvSpPr txBox="1"/>
          <p:nvPr/>
        </p:nvSpPr>
        <p:spPr>
          <a:xfrm>
            <a:off x="722375" y="5457725"/>
            <a:ext cx="2427732" cy="156864"/>
          </a:xfrm>
          <a:prstGeom prst="rect">
            <a:avLst/>
          </a:prstGeom>
          <a:noFill/>
        </p:spPr>
        <p:txBody>
          <a:bodyPr wrap="square" rtlCol="0" anchor="t"/>
          <a:lstStyle/>
          <a:p>
            <a:pPr algn="ctr"/>
            <a:r>
              <a:rPr lang="en-US" sz="900" dirty="0">
                <a:solidFill>
                  <a:srgbClr val="6E6F73"/>
                </a:solidFill>
                <a:latin typeface="Trebuchet MS"/>
              </a:rPr>
              <a:t>5-yr CAGR 160%+</a:t>
            </a:r>
          </a:p>
        </p:txBody>
      </p:sp>
      <p:sp>
        <p:nvSpPr>
          <p:cNvPr id="361" name="RR361"/>
          <p:cNvSpPr/>
          <p:nvPr/>
        </p:nvSpPr>
        <p:spPr>
          <a:xfrm>
            <a:off x="3406140" y="4814538"/>
            <a:ext cx="2610612" cy="990135"/>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62" name="R362"/>
          <p:cNvSpPr/>
          <p:nvPr/>
        </p:nvSpPr>
        <p:spPr>
          <a:xfrm>
            <a:off x="3406140" y="4783248"/>
            <a:ext cx="2610612" cy="42779"/>
          </a:xfrm>
          <a:prstGeom prst="rect">
            <a:avLst/>
          </a:prstGeom>
          <a:solidFill>
            <a:srgbClr val="1557FE"/>
          </a:solidFill>
          <a:ln>
            <a:noFill/>
          </a:ln>
        </p:spPr>
        <p:txBody>
          <a:bodyPr/>
          <a:lstStyle/>
          <a:p>
            <a:endParaRPr lang="en-US"/>
          </a:p>
        </p:txBody>
      </p:sp>
      <p:sp>
        <p:nvSpPr>
          <p:cNvPr id="363" name="TB363"/>
          <p:cNvSpPr txBox="1"/>
          <p:nvPr/>
        </p:nvSpPr>
        <p:spPr>
          <a:xfrm>
            <a:off x="3497580" y="4888619"/>
            <a:ext cx="2427732" cy="270948"/>
          </a:xfrm>
          <a:prstGeom prst="rect">
            <a:avLst/>
          </a:prstGeom>
          <a:noFill/>
        </p:spPr>
        <p:txBody>
          <a:bodyPr wrap="square" rtlCol="0" anchor="t"/>
          <a:lstStyle/>
          <a:p>
            <a:pPr algn="ctr"/>
            <a:r>
              <a:rPr lang="en-US" sz="2000" b="1" dirty="0">
                <a:solidFill>
                  <a:srgbClr val="1557FE"/>
                </a:solidFill>
                <a:latin typeface="Trebuchet MS"/>
              </a:rPr>
              <a:t>₹360 Cr</a:t>
            </a:r>
          </a:p>
        </p:txBody>
      </p:sp>
      <p:sp>
        <p:nvSpPr>
          <p:cNvPr id="364" name="TB364"/>
          <p:cNvSpPr txBox="1"/>
          <p:nvPr/>
        </p:nvSpPr>
        <p:spPr>
          <a:xfrm>
            <a:off x="3497580" y="5238269"/>
            <a:ext cx="2427732" cy="156864"/>
          </a:xfrm>
          <a:prstGeom prst="rect">
            <a:avLst/>
          </a:prstGeom>
          <a:noFill/>
        </p:spPr>
        <p:txBody>
          <a:bodyPr wrap="square" rtlCol="0" anchor="t"/>
          <a:lstStyle/>
          <a:p>
            <a:pPr algn="ctr"/>
            <a:r>
              <a:rPr lang="en-US" sz="1000" b="1" dirty="0">
                <a:solidFill>
                  <a:srgbClr val="575757"/>
                </a:solidFill>
                <a:latin typeface="Trebuchet MS"/>
              </a:rPr>
              <a:t>Implied EV</a:t>
            </a:r>
          </a:p>
        </p:txBody>
      </p:sp>
      <p:sp>
        <p:nvSpPr>
          <p:cNvPr id="365" name="TB365"/>
          <p:cNvSpPr txBox="1"/>
          <p:nvPr/>
        </p:nvSpPr>
        <p:spPr>
          <a:xfrm>
            <a:off x="3497580" y="5457725"/>
            <a:ext cx="2427732" cy="156864"/>
          </a:xfrm>
          <a:prstGeom prst="rect">
            <a:avLst/>
          </a:prstGeom>
          <a:noFill/>
        </p:spPr>
        <p:txBody>
          <a:bodyPr wrap="square" rtlCol="0" anchor="t"/>
          <a:lstStyle/>
          <a:p>
            <a:pPr algn="ctr"/>
            <a:r>
              <a:rPr lang="en-US" sz="900" dirty="0">
                <a:solidFill>
                  <a:srgbClr val="6E6F73"/>
                </a:solidFill>
                <a:latin typeface="Trebuchet MS"/>
              </a:rPr>
              <a:t>3.9x rev median comps</a:t>
            </a:r>
          </a:p>
        </p:txBody>
      </p:sp>
      <p:sp>
        <p:nvSpPr>
          <p:cNvPr id="366" name="RR366"/>
          <p:cNvSpPr/>
          <p:nvPr/>
        </p:nvSpPr>
        <p:spPr>
          <a:xfrm>
            <a:off x="6181344" y="4814538"/>
            <a:ext cx="2610612" cy="990135"/>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67" name="R367"/>
          <p:cNvSpPr/>
          <p:nvPr/>
        </p:nvSpPr>
        <p:spPr>
          <a:xfrm>
            <a:off x="6181344" y="4783248"/>
            <a:ext cx="2610612" cy="42779"/>
          </a:xfrm>
          <a:prstGeom prst="rect">
            <a:avLst/>
          </a:prstGeom>
          <a:solidFill>
            <a:srgbClr val="1557FE"/>
          </a:solidFill>
          <a:ln>
            <a:noFill/>
          </a:ln>
        </p:spPr>
        <p:txBody>
          <a:bodyPr/>
          <a:lstStyle/>
          <a:p>
            <a:endParaRPr lang="en-US"/>
          </a:p>
        </p:txBody>
      </p:sp>
      <p:sp>
        <p:nvSpPr>
          <p:cNvPr id="368" name="TB368"/>
          <p:cNvSpPr txBox="1"/>
          <p:nvPr/>
        </p:nvSpPr>
        <p:spPr>
          <a:xfrm>
            <a:off x="6272784" y="4888619"/>
            <a:ext cx="2427732" cy="270948"/>
          </a:xfrm>
          <a:prstGeom prst="rect">
            <a:avLst/>
          </a:prstGeom>
          <a:noFill/>
        </p:spPr>
        <p:txBody>
          <a:bodyPr wrap="square" rtlCol="0" anchor="t"/>
          <a:lstStyle/>
          <a:p>
            <a:pPr algn="ctr"/>
            <a:r>
              <a:rPr lang="en-US" sz="2000" b="1" dirty="0">
                <a:solidFill>
                  <a:srgbClr val="1557FE"/>
                </a:solidFill>
                <a:latin typeface="Trebuchet MS"/>
              </a:rPr>
              <a:t>FY27</a:t>
            </a:r>
          </a:p>
        </p:txBody>
      </p:sp>
      <p:sp>
        <p:nvSpPr>
          <p:cNvPr id="369" name="TB369"/>
          <p:cNvSpPr txBox="1"/>
          <p:nvPr/>
        </p:nvSpPr>
        <p:spPr>
          <a:xfrm>
            <a:off x="6272784" y="5238269"/>
            <a:ext cx="2427732" cy="156864"/>
          </a:xfrm>
          <a:prstGeom prst="rect">
            <a:avLst/>
          </a:prstGeom>
          <a:noFill/>
        </p:spPr>
        <p:txBody>
          <a:bodyPr wrap="square" rtlCol="0" anchor="t"/>
          <a:lstStyle/>
          <a:p>
            <a:pPr algn="ctr"/>
            <a:r>
              <a:rPr lang="en-US" sz="1000" b="1" dirty="0">
                <a:solidFill>
                  <a:srgbClr val="575757"/>
                </a:solidFill>
                <a:latin typeface="Trebuchet MS"/>
              </a:rPr>
              <a:t>EBITDA B/E</a:t>
            </a:r>
          </a:p>
        </p:txBody>
      </p:sp>
      <p:sp>
        <p:nvSpPr>
          <p:cNvPr id="370" name="TB370"/>
          <p:cNvSpPr txBox="1"/>
          <p:nvPr/>
        </p:nvSpPr>
        <p:spPr>
          <a:xfrm>
            <a:off x="6272784" y="5457725"/>
            <a:ext cx="2427732" cy="156864"/>
          </a:xfrm>
          <a:prstGeom prst="rect">
            <a:avLst/>
          </a:prstGeom>
          <a:noFill/>
        </p:spPr>
        <p:txBody>
          <a:bodyPr wrap="square" rtlCol="0" anchor="t"/>
          <a:lstStyle/>
          <a:p>
            <a:pPr algn="ctr"/>
            <a:r>
              <a:rPr lang="en-US" sz="900" dirty="0">
                <a:solidFill>
                  <a:srgbClr val="6E6F73"/>
                </a:solidFill>
                <a:latin typeface="Trebuchet MS"/>
              </a:rPr>
              <a:t>₹3.5 Cr seed required</a:t>
            </a:r>
          </a:p>
        </p:txBody>
      </p:sp>
      <p:sp>
        <p:nvSpPr>
          <p:cNvPr id="371" name="RR371"/>
          <p:cNvSpPr/>
          <p:nvPr/>
        </p:nvSpPr>
        <p:spPr>
          <a:xfrm>
            <a:off x="8956548" y="4814538"/>
            <a:ext cx="2610612" cy="990135"/>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72" name="R372"/>
          <p:cNvSpPr/>
          <p:nvPr/>
        </p:nvSpPr>
        <p:spPr>
          <a:xfrm>
            <a:off x="8956548" y="4783248"/>
            <a:ext cx="2610612" cy="42779"/>
          </a:xfrm>
          <a:prstGeom prst="rect">
            <a:avLst/>
          </a:prstGeom>
          <a:solidFill>
            <a:srgbClr val="1557FE"/>
          </a:solidFill>
          <a:ln>
            <a:noFill/>
          </a:ln>
        </p:spPr>
        <p:txBody>
          <a:bodyPr/>
          <a:lstStyle/>
          <a:p>
            <a:endParaRPr lang="en-US"/>
          </a:p>
        </p:txBody>
      </p:sp>
      <p:sp>
        <p:nvSpPr>
          <p:cNvPr id="373" name="TB373"/>
          <p:cNvSpPr txBox="1"/>
          <p:nvPr/>
        </p:nvSpPr>
        <p:spPr>
          <a:xfrm>
            <a:off x="9047988" y="4888619"/>
            <a:ext cx="2427732" cy="270948"/>
          </a:xfrm>
          <a:prstGeom prst="rect">
            <a:avLst/>
          </a:prstGeom>
          <a:noFill/>
        </p:spPr>
        <p:txBody>
          <a:bodyPr wrap="square" rtlCol="0" anchor="t"/>
          <a:lstStyle/>
          <a:p>
            <a:pPr algn="ctr"/>
            <a:r>
              <a:rPr lang="en-US" sz="2000" b="1" dirty="0">
                <a:solidFill>
                  <a:srgbClr val="1557FE"/>
                </a:solidFill>
                <a:latin typeface="Trebuchet MS"/>
              </a:rPr>
              <a:t>28%</a:t>
            </a:r>
          </a:p>
        </p:txBody>
      </p:sp>
      <p:sp>
        <p:nvSpPr>
          <p:cNvPr id="374" name="TB374"/>
          <p:cNvSpPr txBox="1"/>
          <p:nvPr/>
        </p:nvSpPr>
        <p:spPr>
          <a:xfrm>
            <a:off x="9047988" y="5238269"/>
            <a:ext cx="2427732" cy="156864"/>
          </a:xfrm>
          <a:prstGeom prst="rect">
            <a:avLst/>
          </a:prstGeom>
          <a:noFill/>
        </p:spPr>
        <p:txBody>
          <a:bodyPr wrap="square" rtlCol="0" anchor="t"/>
          <a:lstStyle/>
          <a:p>
            <a:pPr algn="ctr"/>
            <a:r>
              <a:rPr lang="en-US" sz="1000" b="1" dirty="0">
                <a:solidFill>
                  <a:srgbClr val="575757"/>
                </a:solidFill>
                <a:latin typeface="Trebuchet MS"/>
              </a:rPr>
              <a:t>FY30 EBITDA Mgn</a:t>
            </a:r>
          </a:p>
        </p:txBody>
      </p:sp>
      <p:sp>
        <p:nvSpPr>
          <p:cNvPr id="375" name="TB375"/>
          <p:cNvSpPr txBox="1"/>
          <p:nvPr/>
        </p:nvSpPr>
        <p:spPr>
          <a:xfrm>
            <a:off x="9047988" y="5457725"/>
            <a:ext cx="2427732" cy="156864"/>
          </a:xfrm>
          <a:prstGeom prst="rect">
            <a:avLst/>
          </a:prstGeom>
          <a:noFill/>
        </p:spPr>
        <p:txBody>
          <a:bodyPr wrap="square" rtlCol="0" anchor="t"/>
          <a:lstStyle/>
          <a:p>
            <a:pPr algn="ctr"/>
            <a:r>
              <a:rPr lang="en-US" sz="900" dirty="0">
                <a:solidFill>
                  <a:srgbClr val="6E6F73"/>
                </a:solidFill>
                <a:latin typeface="Trebuchet MS"/>
              </a:rPr>
              <a:t>In-line with NIIT Govt seg.</a:t>
            </a:r>
          </a:p>
        </p:txBody>
      </p:sp>
      <p:graphicFrame>
        <p:nvGraphicFramePr>
          <p:cNvPr id="376" name="Chart 375"/>
          <p:cNvGraphicFramePr>
            <a:graphicFrameLocks noGrp="1"/>
          </p:cNvGraphicFramePr>
          <p:nvPr>
            <p:extLst>
              <p:ext uri="{D42A27DB-BD31-4B8C-83A1-F6EECF244321}">
                <p14:modId xmlns:p14="http://schemas.microsoft.com/office/powerpoint/2010/main" val="3538544666"/>
              </p:ext>
            </p:extLst>
          </p:nvPr>
        </p:nvGraphicFramePr>
        <p:xfrm>
          <a:off x="630936" y="2075688"/>
          <a:ext cx="6561734" cy="201131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CF446AB-91E5-D1C3-F06C-99050CA9FB25}"/>
              </a:ext>
            </a:extLst>
          </p:cNvPr>
          <p:cNvGraphicFramePr>
            <a:graphicFrameLocks noChangeAspect="1"/>
          </p:cNvGraphicFramePr>
          <p:nvPr>
            <p:custDataLst>
              <p:tags r:id="rId1"/>
            </p:custDataLst>
            <p:extLst>
              <p:ext uri="{D42A27DB-BD31-4B8C-83A1-F6EECF244321}">
                <p14:modId xmlns:p14="http://schemas.microsoft.com/office/powerpoint/2010/main" val="2358944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6" name="ph_title"/>
          <p:cNvSpPr>
            <a:spLocks noGrp="1"/>
          </p:cNvSpPr>
          <p:nvPr>
            <p:ph type="title"/>
          </p:nvPr>
        </p:nvSpPr>
        <p:spPr/>
        <p:txBody>
          <a:bodyPr vert="horz"/>
          <a:lstStyle/>
          <a:p>
            <a:r>
              <a:rPr lang="en-US" dirty="0"/>
              <a:t>Govt BD is a distinct capability — Scaler must build it, not borrow it from B2B</a:t>
            </a:r>
          </a:p>
        </p:txBody>
      </p:sp>
      <p:sp>
        <p:nvSpPr>
          <p:cNvPr id="377" name="TB377"/>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a:t>
            </a:r>
            <a:r>
              <a:rPr lang="en-US" sz="1000" dirty="0" err="1">
                <a:solidFill>
                  <a:srgbClr val="6E6F73"/>
                </a:solidFill>
                <a:latin typeface="Trebuchet MS"/>
              </a:rPr>
              <a:t>GeM</a:t>
            </a:r>
            <a:r>
              <a:rPr lang="en-US" sz="1000" dirty="0">
                <a:solidFill>
                  <a:srgbClr val="6E6F73"/>
                </a:solidFill>
                <a:latin typeface="Trebuchet MS"/>
              </a:rPr>
              <a:t> procurement data; </a:t>
            </a:r>
          </a:p>
        </p:txBody>
      </p:sp>
      <p:sp>
        <p:nvSpPr>
          <p:cNvPr id="378" name="RR378"/>
          <p:cNvSpPr/>
          <p:nvPr/>
        </p:nvSpPr>
        <p:spPr>
          <a:xfrm>
            <a:off x="630936" y="2075688"/>
            <a:ext cx="6124285" cy="954023"/>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79" name="R379"/>
          <p:cNvSpPr/>
          <p:nvPr/>
        </p:nvSpPr>
        <p:spPr>
          <a:xfrm>
            <a:off x="630936" y="2075688"/>
            <a:ext cx="73152" cy="954023"/>
          </a:xfrm>
          <a:prstGeom prst="rect">
            <a:avLst/>
          </a:prstGeom>
          <a:solidFill>
            <a:srgbClr val="1557FE"/>
          </a:solidFill>
          <a:ln>
            <a:noFill/>
          </a:ln>
        </p:spPr>
        <p:txBody>
          <a:bodyPr/>
          <a:lstStyle/>
          <a:p>
            <a:endParaRPr lang="en-US"/>
          </a:p>
        </p:txBody>
      </p:sp>
      <p:sp>
        <p:nvSpPr>
          <p:cNvPr id="380" name="R380"/>
          <p:cNvSpPr/>
          <p:nvPr/>
        </p:nvSpPr>
        <p:spPr>
          <a:xfrm>
            <a:off x="630936" y="2075688"/>
            <a:ext cx="244971" cy="954023"/>
          </a:xfrm>
          <a:prstGeom prst="rect">
            <a:avLst/>
          </a:prstGeom>
          <a:solidFill>
            <a:srgbClr val="1557FE"/>
          </a:solidFill>
          <a:ln>
            <a:noFill/>
          </a:ln>
        </p:spPr>
        <p:txBody>
          <a:bodyPr/>
          <a:lstStyle/>
          <a:p>
            <a:endParaRPr lang="en-US"/>
          </a:p>
        </p:txBody>
      </p:sp>
      <p:sp>
        <p:nvSpPr>
          <p:cNvPr id="381" name="TB381"/>
          <p:cNvSpPr txBox="1"/>
          <p:nvPr/>
        </p:nvSpPr>
        <p:spPr>
          <a:xfrm>
            <a:off x="998393" y="2148840"/>
            <a:ext cx="5511856" cy="237744"/>
          </a:xfrm>
          <a:prstGeom prst="rect">
            <a:avLst/>
          </a:prstGeom>
          <a:noFill/>
        </p:spPr>
        <p:txBody>
          <a:bodyPr wrap="square" rtlCol="0" anchor="t"/>
          <a:lstStyle/>
          <a:p>
            <a:r>
              <a:rPr lang="en-US" sz="1200" b="1" dirty="0">
                <a:solidFill>
                  <a:srgbClr val="1557FE"/>
                </a:solidFill>
                <a:latin typeface="Trebuchet MS"/>
              </a:rPr>
              <a:t>Govt BD &amp; Sales</a:t>
            </a:r>
          </a:p>
        </p:txBody>
      </p:sp>
      <p:sp>
        <p:nvSpPr>
          <p:cNvPr id="382" name="TB382"/>
          <p:cNvSpPr txBox="1"/>
          <p:nvPr/>
        </p:nvSpPr>
        <p:spPr>
          <a:xfrm>
            <a:off x="998393" y="2404872"/>
            <a:ext cx="5511856" cy="533399"/>
          </a:xfrm>
          <a:prstGeom prst="rect">
            <a:avLst/>
          </a:prstGeom>
          <a:noFill/>
        </p:spPr>
        <p:txBody>
          <a:bodyPr wrap="square" rtlCol="0" anchor="t"/>
          <a:lstStyle/>
          <a:p>
            <a:r>
              <a:rPr lang="en-US" sz="1100" dirty="0">
                <a:solidFill>
                  <a:srgbClr val="575757"/>
                </a:solidFill>
                <a:latin typeface="Trebuchet MS"/>
              </a:rPr>
              <a:t>VP Govt Business from NIIT/TCS iON network. 2 BD Managers with PSU tendering experience. Cannot be replicated from Scaler's enterprise B2B talent — different rhythm, different relationships.</a:t>
            </a:r>
          </a:p>
        </p:txBody>
      </p:sp>
      <p:sp>
        <p:nvSpPr>
          <p:cNvPr id="383" name="RR383"/>
          <p:cNvSpPr/>
          <p:nvPr/>
        </p:nvSpPr>
        <p:spPr>
          <a:xfrm>
            <a:off x="630936" y="3121152"/>
            <a:ext cx="6124285" cy="954023"/>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84" name="R384"/>
          <p:cNvSpPr/>
          <p:nvPr/>
        </p:nvSpPr>
        <p:spPr>
          <a:xfrm>
            <a:off x="630936" y="3121152"/>
            <a:ext cx="73152" cy="954023"/>
          </a:xfrm>
          <a:prstGeom prst="rect">
            <a:avLst/>
          </a:prstGeom>
          <a:solidFill>
            <a:srgbClr val="0A3CB5"/>
          </a:solidFill>
          <a:ln>
            <a:noFill/>
          </a:ln>
        </p:spPr>
        <p:txBody>
          <a:bodyPr/>
          <a:lstStyle/>
          <a:p>
            <a:endParaRPr lang="en-US"/>
          </a:p>
        </p:txBody>
      </p:sp>
      <p:sp>
        <p:nvSpPr>
          <p:cNvPr id="385" name="R385"/>
          <p:cNvSpPr/>
          <p:nvPr/>
        </p:nvSpPr>
        <p:spPr>
          <a:xfrm>
            <a:off x="630936" y="3121152"/>
            <a:ext cx="244971" cy="954023"/>
          </a:xfrm>
          <a:prstGeom prst="rect">
            <a:avLst/>
          </a:prstGeom>
          <a:solidFill>
            <a:srgbClr val="0A3CB5"/>
          </a:solidFill>
          <a:ln>
            <a:noFill/>
          </a:ln>
        </p:spPr>
        <p:txBody>
          <a:bodyPr/>
          <a:lstStyle/>
          <a:p>
            <a:endParaRPr lang="en-US"/>
          </a:p>
        </p:txBody>
      </p:sp>
      <p:sp>
        <p:nvSpPr>
          <p:cNvPr id="386" name="TB386"/>
          <p:cNvSpPr txBox="1"/>
          <p:nvPr/>
        </p:nvSpPr>
        <p:spPr>
          <a:xfrm>
            <a:off x="998393" y="3194304"/>
            <a:ext cx="5511856" cy="237744"/>
          </a:xfrm>
          <a:prstGeom prst="rect">
            <a:avLst/>
          </a:prstGeom>
          <a:noFill/>
        </p:spPr>
        <p:txBody>
          <a:bodyPr wrap="square" rtlCol="0" anchor="t"/>
          <a:lstStyle/>
          <a:p>
            <a:r>
              <a:rPr lang="en-US" sz="1200" b="1" dirty="0">
                <a:solidFill>
                  <a:srgbClr val="0A3CB5"/>
                </a:solidFill>
                <a:latin typeface="Trebuchet MS"/>
              </a:rPr>
              <a:t>Procurement &amp; Compliance</a:t>
            </a:r>
          </a:p>
        </p:txBody>
      </p:sp>
      <p:sp>
        <p:nvSpPr>
          <p:cNvPr id="387" name="TB387"/>
          <p:cNvSpPr txBox="1"/>
          <p:nvPr/>
        </p:nvSpPr>
        <p:spPr>
          <a:xfrm>
            <a:off x="998393" y="3450335"/>
            <a:ext cx="5511856" cy="533399"/>
          </a:xfrm>
          <a:prstGeom prst="rect">
            <a:avLst/>
          </a:prstGeom>
          <a:noFill/>
        </p:spPr>
        <p:txBody>
          <a:bodyPr wrap="square" rtlCol="0" anchor="t"/>
          <a:lstStyle/>
          <a:p>
            <a:r>
              <a:rPr lang="en-US" sz="1100" dirty="0">
                <a:solidFill>
                  <a:srgbClr val="575757"/>
                </a:solidFill>
                <a:latin typeface="Trebuchet MS"/>
              </a:rPr>
              <a:t>NCVET accreditation (90 days), GeM/CPPP registration, eProcurement portal, 3-yr audited financials. One Tender Specialist can manage the full setup within 60 days.</a:t>
            </a:r>
          </a:p>
        </p:txBody>
      </p:sp>
      <p:sp>
        <p:nvSpPr>
          <p:cNvPr id="388" name="RR388"/>
          <p:cNvSpPr/>
          <p:nvPr/>
        </p:nvSpPr>
        <p:spPr>
          <a:xfrm>
            <a:off x="630936" y="4166616"/>
            <a:ext cx="6124285" cy="954023"/>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89" name="R389"/>
          <p:cNvSpPr/>
          <p:nvPr/>
        </p:nvSpPr>
        <p:spPr>
          <a:xfrm>
            <a:off x="630936" y="4166616"/>
            <a:ext cx="73152" cy="954023"/>
          </a:xfrm>
          <a:prstGeom prst="rect">
            <a:avLst/>
          </a:prstGeom>
          <a:solidFill>
            <a:srgbClr val="061A6E"/>
          </a:solidFill>
          <a:ln>
            <a:noFill/>
          </a:ln>
        </p:spPr>
        <p:txBody>
          <a:bodyPr/>
          <a:lstStyle/>
          <a:p>
            <a:endParaRPr lang="en-US"/>
          </a:p>
        </p:txBody>
      </p:sp>
      <p:sp>
        <p:nvSpPr>
          <p:cNvPr id="390" name="R390"/>
          <p:cNvSpPr/>
          <p:nvPr/>
        </p:nvSpPr>
        <p:spPr>
          <a:xfrm>
            <a:off x="630936" y="4166616"/>
            <a:ext cx="244971" cy="954023"/>
          </a:xfrm>
          <a:prstGeom prst="rect">
            <a:avLst/>
          </a:prstGeom>
          <a:solidFill>
            <a:srgbClr val="061A6E"/>
          </a:solidFill>
          <a:ln>
            <a:noFill/>
          </a:ln>
        </p:spPr>
        <p:txBody>
          <a:bodyPr/>
          <a:lstStyle/>
          <a:p>
            <a:endParaRPr lang="en-US"/>
          </a:p>
        </p:txBody>
      </p:sp>
      <p:sp>
        <p:nvSpPr>
          <p:cNvPr id="391" name="TB391"/>
          <p:cNvSpPr txBox="1"/>
          <p:nvPr/>
        </p:nvSpPr>
        <p:spPr>
          <a:xfrm>
            <a:off x="998393" y="4239768"/>
            <a:ext cx="5511856" cy="237744"/>
          </a:xfrm>
          <a:prstGeom prst="rect">
            <a:avLst/>
          </a:prstGeom>
          <a:noFill/>
        </p:spPr>
        <p:txBody>
          <a:bodyPr wrap="square" rtlCol="0" anchor="t"/>
          <a:lstStyle/>
          <a:p>
            <a:r>
              <a:rPr lang="en-US" sz="1200" b="1" dirty="0">
                <a:solidFill>
                  <a:srgbClr val="061A6E"/>
                </a:solidFill>
                <a:latin typeface="Trebuchet MS"/>
              </a:rPr>
              <a:t>Field Delivery Ops</a:t>
            </a:r>
          </a:p>
        </p:txBody>
      </p:sp>
      <p:sp>
        <p:nvSpPr>
          <p:cNvPr id="392" name="TB392"/>
          <p:cNvSpPr txBox="1"/>
          <p:nvPr/>
        </p:nvSpPr>
        <p:spPr>
          <a:xfrm>
            <a:off x="998393" y="4495800"/>
            <a:ext cx="5511856" cy="533399"/>
          </a:xfrm>
          <a:prstGeom prst="rect">
            <a:avLst/>
          </a:prstGeom>
          <a:noFill/>
        </p:spPr>
        <p:txBody>
          <a:bodyPr wrap="square" rtlCol="0" anchor="t"/>
          <a:lstStyle/>
          <a:p>
            <a:r>
              <a:rPr lang="en-US" sz="1100" dirty="0">
                <a:solidFill>
                  <a:srgbClr val="575757"/>
                </a:solidFill>
                <a:latin typeface="Trebuchet MS"/>
              </a:rPr>
              <a:t>PSU cohorts require hybrid or on-site delivery. Scaler's platform-only model won't fly. Program Managers with blended classroom + digital experience are essential hires.</a:t>
            </a:r>
          </a:p>
        </p:txBody>
      </p:sp>
      <p:sp>
        <p:nvSpPr>
          <p:cNvPr id="393" name="R393"/>
          <p:cNvSpPr/>
          <p:nvPr/>
        </p:nvSpPr>
        <p:spPr>
          <a:xfrm>
            <a:off x="6956389" y="2075688"/>
            <a:ext cx="4610770" cy="274320"/>
          </a:xfrm>
          <a:prstGeom prst="rect">
            <a:avLst/>
          </a:prstGeom>
          <a:solidFill>
            <a:srgbClr val="061A6E"/>
          </a:solidFill>
          <a:ln>
            <a:noFill/>
          </a:ln>
        </p:spPr>
        <p:txBody>
          <a:bodyPr/>
          <a:lstStyle/>
          <a:p>
            <a:endParaRPr lang="en-US"/>
          </a:p>
        </p:txBody>
      </p:sp>
      <p:sp>
        <p:nvSpPr>
          <p:cNvPr id="394" name="TB394"/>
          <p:cNvSpPr txBox="1"/>
          <p:nvPr/>
        </p:nvSpPr>
        <p:spPr>
          <a:xfrm>
            <a:off x="7066117" y="2075688"/>
            <a:ext cx="4391314" cy="274320"/>
          </a:xfrm>
          <a:prstGeom prst="rect">
            <a:avLst/>
          </a:prstGeom>
          <a:noFill/>
        </p:spPr>
        <p:txBody>
          <a:bodyPr wrap="square" rtlCol="0" anchor="ctr"/>
          <a:lstStyle/>
          <a:p>
            <a:r>
              <a:rPr lang="en-US" sz="1600" b="1" dirty="0">
                <a:solidFill>
                  <a:srgbClr val="FFFFFF"/>
                </a:solidFill>
                <a:latin typeface="Trebuchet MS"/>
              </a:rPr>
              <a:t>Top 3 Risks  ›  Mitigation</a:t>
            </a:r>
          </a:p>
        </p:txBody>
      </p:sp>
      <p:sp>
        <p:nvSpPr>
          <p:cNvPr id="395" name="RR395"/>
          <p:cNvSpPr/>
          <p:nvPr/>
        </p:nvSpPr>
        <p:spPr>
          <a:xfrm>
            <a:off x="6956389" y="2376124"/>
            <a:ext cx="4610770" cy="993233"/>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396" name="R396"/>
          <p:cNvSpPr/>
          <p:nvPr/>
        </p:nvSpPr>
        <p:spPr>
          <a:xfrm>
            <a:off x="6956389" y="2422886"/>
            <a:ext cx="4610770" cy="55413"/>
          </a:xfrm>
          <a:prstGeom prst="rect">
            <a:avLst/>
          </a:prstGeom>
          <a:solidFill>
            <a:srgbClr val="D64454"/>
          </a:solidFill>
          <a:ln>
            <a:noFill/>
          </a:ln>
        </p:spPr>
        <p:txBody>
          <a:bodyPr/>
          <a:lstStyle/>
          <a:p>
            <a:endParaRPr lang="en-US"/>
          </a:p>
        </p:txBody>
      </p:sp>
      <p:sp>
        <p:nvSpPr>
          <p:cNvPr id="397" name="TB397"/>
          <p:cNvSpPr txBox="1"/>
          <p:nvPr/>
        </p:nvSpPr>
        <p:spPr>
          <a:xfrm>
            <a:off x="7066117" y="2495215"/>
            <a:ext cx="4391314" cy="221651"/>
          </a:xfrm>
          <a:prstGeom prst="rect">
            <a:avLst/>
          </a:prstGeom>
          <a:noFill/>
        </p:spPr>
        <p:txBody>
          <a:bodyPr wrap="square" rtlCol="0" anchor="t"/>
          <a:lstStyle/>
          <a:p>
            <a:r>
              <a:rPr lang="en-US" sz="1100" b="1" dirty="0">
                <a:solidFill>
                  <a:srgbClr val="D64454"/>
                </a:solidFill>
                <a:latin typeface="Trebuchet MS"/>
              </a:rPr>
              <a:t>Payment Cycle Risk</a:t>
            </a:r>
          </a:p>
        </p:txBody>
      </p:sp>
      <p:sp>
        <p:nvSpPr>
          <p:cNvPr id="398" name="TB398"/>
          <p:cNvSpPr txBox="1"/>
          <p:nvPr/>
        </p:nvSpPr>
        <p:spPr>
          <a:xfrm>
            <a:off x="7066117" y="2732259"/>
            <a:ext cx="4391314" cy="221652"/>
          </a:xfrm>
          <a:prstGeom prst="rect">
            <a:avLst/>
          </a:prstGeom>
          <a:noFill/>
        </p:spPr>
        <p:txBody>
          <a:bodyPr wrap="square" rtlCol="0" anchor="t"/>
          <a:lstStyle/>
          <a:p>
            <a:r>
              <a:rPr lang="en-US" sz="1000" dirty="0">
                <a:solidFill>
                  <a:srgbClr val="575757"/>
                </a:solidFill>
                <a:latin typeface="Trebuchet MS"/>
              </a:rPr>
              <a:t>Risk: 90–120 day collection; state can stretch 180 days.</a:t>
            </a:r>
          </a:p>
        </p:txBody>
      </p:sp>
      <p:sp>
        <p:nvSpPr>
          <p:cNvPr id="399" name="TB399"/>
          <p:cNvSpPr txBox="1"/>
          <p:nvPr/>
        </p:nvSpPr>
        <p:spPr>
          <a:xfrm>
            <a:off x="7066117" y="2949503"/>
            <a:ext cx="4391314" cy="399586"/>
          </a:xfrm>
          <a:prstGeom prst="rect">
            <a:avLst/>
          </a:prstGeom>
          <a:noFill/>
        </p:spPr>
        <p:txBody>
          <a:bodyPr wrap="square" rtlCol="0" anchor="t"/>
          <a:lstStyle/>
          <a:p>
            <a:r>
              <a:rPr lang="en-US" sz="1000" dirty="0">
                <a:solidFill>
                  <a:srgbClr val="0A3CB5"/>
                </a:solidFill>
                <a:latin typeface="Trebuchet MS"/>
              </a:rPr>
              <a:t>Mitigate: 20% mobilisation advance in contracts; ₹3.5 Cr parent injection covers gap to FY27 cash-positive.</a:t>
            </a:r>
          </a:p>
        </p:txBody>
      </p:sp>
      <p:sp>
        <p:nvSpPr>
          <p:cNvPr id="400" name="RR400"/>
          <p:cNvSpPr/>
          <p:nvPr/>
        </p:nvSpPr>
        <p:spPr>
          <a:xfrm>
            <a:off x="6956389" y="3404723"/>
            <a:ext cx="4610770" cy="917234"/>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401" name="R401"/>
          <p:cNvSpPr/>
          <p:nvPr/>
        </p:nvSpPr>
        <p:spPr>
          <a:xfrm>
            <a:off x="6956389" y="3413486"/>
            <a:ext cx="4610770" cy="55413"/>
          </a:xfrm>
          <a:prstGeom prst="rect">
            <a:avLst/>
          </a:prstGeom>
          <a:solidFill>
            <a:srgbClr val="D64454"/>
          </a:solidFill>
          <a:ln>
            <a:noFill/>
          </a:ln>
        </p:spPr>
        <p:txBody>
          <a:bodyPr/>
          <a:lstStyle/>
          <a:p>
            <a:endParaRPr lang="en-US"/>
          </a:p>
        </p:txBody>
      </p:sp>
      <p:sp>
        <p:nvSpPr>
          <p:cNvPr id="402" name="TB402"/>
          <p:cNvSpPr txBox="1"/>
          <p:nvPr/>
        </p:nvSpPr>
        <p:spPr>
          <a:xfrm>
            <a:off x="7066117" y="3485815"/>
            <a:ext cx="4391314" cy="221651"/>
          </a:xfrm>
          <a:prstGeom prst="rect">
            <a:avLst/>
          </a:prstGeom>
          <a:noFill/>
        </p:spPr>
        <p:txBody>
          <a:bodyPr wrap="square" rtlCol="0" anchor="t"/>
          <a:lstStyle/>
          <a:p>
            <a:r>
              <a:rPr lang="en-US" sz="1100" b="1" dirty="0">
                <a:solidFill>
                  <a:srgbClr val="D64454"/>
                </a:solidFill>
                <a:latin typeface="Trebuchet MS"/>
              </a:rPr>
              <a:t>Policy / Scheme Shift Risk</a:t>
            </a:r>
          </a:p>
        </p:txBody>
      </p:sp>
      <p:sp>
        <p:nvSpPr>
          <p:cNvPr id="403" name="TB403"/>
          <p:cNvSpPr txBox="1"/>
          <p:nvPr/>
        </p:nvSpPr>
        <p:spPr>
          <a:xfrm>
            <a:off x="7066117" y="3688993"/>
            <a:ext cx="4391314" cy="363261"/>
          </a:xfrm>
          <a:prstGeom prst="rect">
            <a:avLst/>
          </a:prstGeom>
          <a:noFill/>
        </p:spPr>
        <p:txBody>
          <a:bodyPr wrap="square" rtlCol="0" anchor="t"/>
          <a:lstStyle/>
          <a:p>
            <a:r>
              <a:rPr lang="en-US" sz="1000" dirty="0">
                <a:solidFill>
                  <a:srgbClr val="575757"/>
                </a:solidFill>
                <a:latin typeface="Trebuchet MS"/>
              </a:rPr>
              <a:t>Risk: PMKVY 3.0 was shelved mid-run. ₹3 Cr in cancelled scheme = write-off.</a:t>
            </a:r>
          </a:p>
        </p:txBody>
      </p:sp>
      <p:sp>
        <p:nvSpPr>
          <p:cNvPr id="404" name="TB404"/>
          <p:cNvSpPr txBox="1"/>
          <p:nvPr/>
        </p:nvSpPr>
        <p:spPr>
          <a:xfrm>
            <a:off x="7066117" y="3987520"/>
            <a:ext cx="4391314" cy="399586"/>
          </a:xfrm>
          <a:prstGeom prst="rect">
            <a:avLst/>
          </a:prstGeom>
          <a:noFill/>
        </p:spPr>
        <p:txBody>
          <a:bodyPr wrap="square" rtlCol="0" anchor="t"/>
          <a:lstStyle/>
          <a:p>
            <a:r>
              <a:rPr lang="en-US" sz="1000" dirty="0">
                <a:solidFill>
                  <a:srgbClr val="0A3CB5"/>
                </a:solidFill>
                <a:latin typeface="Trebuchet MS"/>
              </a:rPr>
              <a:t>Mitigate: Max 40% exposure to any single scheme; 60% PSU (policy-independent) in Year 1.</a:t>
            </a:r>
          </a:p>
        </p:txBody>
      </p:sp>
      <p:sp>
        <p:nvSpPr>
          <p:cNvPr id="405" name="RR405"/>
          <p:cNvSpPr/>
          <p:nvPr/>
        </p:nvSpPr>
        <p:spPr>
          <a:xfrm>
            <a:off x="6956389" y="4399864"/>
            <a:ext cx="4610770" cy="908152"/>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406" name="R406"/>
          <p:cNvSpPr/>
          <p:nvPr/>
        </p:nvSpPr>
        <p:spPr>
          <a:xfrm>
            <a:off x="6956389" y="4404086"/>
            <a:ext cx="4610770" cy="55413"/>
          </a:xfrm>
          <a:prstGeom prst="rect">
            <a:avLst/>
          </a:prstGeom>
          <a:solidFill>
            <a:srgbClr val="D64454"/>
          </a:solidFill>
          <a:ln>
            <a:noFill/>
          </a:ln>
        </p:spPr>
        <p:txBody>
          <a:bodyPr/>
          <a:lstStyle/>
          <a:p>
            <a:endParaRPr lang="en-US"/>
          </a:p>
        </p:txBody>
      </p:sp>
      <p:sp>
        <p:nvSpPr>
          <p:cNvPr id="407" name="TB407"/>
          <p:cNvSpPr txBox="1"/>
          <p:nvPr/>
        </p:nvSpPr>
        <p:spPr>
          <a:xfrm>
            <a:off x="7066117" y="4476415"/>
            <a:ext cx="4391314" cy="221651"/>
          </a:xfrm>
          <a:prstGeom prst="rect">
            <a:avLst/>
          </a:prstGeom>
          <a:noFill/>
        </p:spPr>
        <p:txBody>
          <a:bodyPr wrap="square" rtlCol="0" anchor="t"/>
          <a:lstStyle/>
          <a:p>
            <a:r>
              <a:rPr lang="en-US" sz="1100" b="1" dirty="0">
                <a:solidFill>
                  <a:srgbClr val="D64454"/>
                </a:solidFill>
                <a:latin typeface="Trebuchet MS"/>
              </a:rPr>
              <a:t>GeM Margin Compression</a:t>
            </a:r>
          </a:p>
        </p:txBody>
      </p:sp>
      <p:sp>
        <p:nvSpPr>
          <p:cNvPr id="408" name="TB408"/>
          <p:cNvSpPr txBox="1"/>
          <p:nvPr/>
        </p:nvSpPr>
        <p:spPr>
          <a:xfrm>
            <a:off x="7066117" y="4713458"/>
            <a:ext cx="4391314" cy="363261"/>
          </a:xfrm>
          <a:prstGeom prst="rect">
            <a:avLst/>
          </a:prstGeom>
          <a:noFill/>
        </p:spPr>
        <p:txBody>
          <a:bodyPr wrap="square" rtlCol="0" anchor="t"/>
          <a:lstStyle/>
          <a:p>
            <a:r>
              <a:rPr lang="en-US" sz="1000" dirty="0">
                <a:solidFill>
                  <a:srgbClr val="575757"/>
                </a:solidFill>
                <a:latin typeface="Trebuchet MS"/>
              </a:rPr>
              <a:t>Risk: L1 pressure can erode deal sizes 20–30% on competitive tenders.</a:t>
            </a:r>
          </a:p>
        </p:txBody>
      </p:sp>
      <p:sp>
        <p:nvSpPr>
          <p:cNvPr id="409" name="TB409"/>
          <p:cNvSpPr txBox="1"/>
          <p:nvPr/>
        </p:nvSpPr>
        <p:spPr>
          <a:xfrm>
            <a:off x="7066117" y="4876520"/>
            <a:ext cx="4391314" cy="399586"/>
          </a:xfrm>
          <a:prstGeom prst="rect">
            <a:avLst/>
          </a:prstGeom>
          <a:noFill/>
        </p:spPr>
        <p:txBody>
          <a:bodyPr wrap="square" rtlCol="0" anchor="t"/>
          <a:lstStyle/>
          <a:p>
            <a:r>
              <a:rPr lang="en-US" sz="1000" dirty="0">
                <a:solidFill>
                  <a:srgbClr val="0A3CB5"/>
                </a:solidFill>
                <a:latin typeface="Trebuchet MS"/>
              </a:rPr>
              <a:t>Mitigate: Walk away from sub-₹75L deals. Price on outcomes; use placement data as non-comparable moat.</a:t>
            </a:r>
          </a:p>
        </p:txBody>
      </p:sp>
      <p:sp>
        <p:nvSpPr>
          <p:cNvPr id="410" name="RR410"/>
          <p:cNvSpPr/>
          <p:nvPr/>
        </p:nvSpPr>
        <p:spPr>
          <a:xfrm>
            <a:off x="630936" y="5504688"/>
            <a:ext cx="10936224" cy="438912"/>
          </a:xfrm>
          <a:prstGeom prst="roundRect">
            <a:avLst>
              <a:gd name="adj" fmla="val 5000"/>
            </a:avLst>
          </a:prstGeom>
          <a:solidFill>
            <a:srgbClr val="EEF3FF"/>
          </a:solidFill>
          <a:ln w="25400">
            <a:solidFill>
              <a:srgbClr val="1557FE"/>
            </a:solidFill>
          </a:ln>
        </p:spPr>
        <p:txBody>
          <a:bodyPr/>
          <a:lstStyle/>
          <a:p>
            <a:endParaRPr lang="en-US"/>
          </a:p>
        </p:txBody>
      </p:sp>
      <p:sp>
        <p:nvSpPr>
          <p:cNvPr id="411" name="TB411"/>
          <p:cNvSpPr txBox="1"/>
          <p:nvPr/>
        </p:nvSpPr>
        <p:spPr>
          <a:xfrm>
            <a:off x="795527" y="5559551"/>
            <a:ext cx="10607040" cy="329184"/>
          </a:xfrm>
          <a:prstGeom prst="rect">
            <a:avLst/>
          </a:prstGeom>
          <a:noFill/>
        </p:spPr>
        <p:txBody>
          <a:bodyPr wrap="square" rtlCol="0" anchor="ctr"/>
          <a:lstStyle/>
          <a:p>
            <a:r>
              <a:rPr lang="en-US" sz="1200" b="1" dirty="0">
                <a:solidFill>
                  <a:srgbClr val="1557FE"/>
                </a:solidFill>
                <a:latin typeface="Trebuchet MS"/>
              </a:rPr>
              <a:t>Net assessment: </a:t>
            </a:r>
            <a:r>
              <a:rPr lang="en-US" sz="1200" dirty="0">
                <a:solidFill>
                  <a:srgbClr val="575757"/>
                </a:solidFill>
                <a:latin typeface="Trebuchet MS"/>
              </a:rPr>
              <a:t>Hard but manageable. The single greatest risk is moving slowly while Coursera or Simplilearn notice the premium tier is empty. Build the org before the first contract.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A99C259-E2E2-2090-62B7-31FEFAAAB975}"/>
              </a:ext>
            </a:extLst>
          </p:cNvPr>
          <p:cNvGraphicFramePr>
            <a:graphicFrameLocks noChangeAspect="1"/>
          </p:cNvGraphicFramePr>
          <p:nvPr>
            <p:custDataLst>
              <p:tags r:id="rId1"/>
            </p:custDataLst>
            <p:extLst>
              <p:ext uri="{D42A27DB-BD31-4B8C-83A1-F6EECF244321}">
                <p14:modId xmlns:p14="http://schemas.microsoft.com/office/powerpoint/2010/main" val="123829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12" name="ph_title"/>
          <p:cNvSpPr>
            <a:spLocks noGrp="1"/>
          </p:cNvSpPr>
          <p:nvPr>
            <p:ph type="title"/>
          </p:nvPr>
        </p:nvSpPr>
        <p:spPr>
          <a:xfrm>
            <a:off x="630000" y="622800"/>
            <a:ext cx="4747822" cy="997196"/>
          </a:xfrm>
        </p:spPr>
        <p:txBody>
          <a:bodyPr vert="horz"/>
          <a:lstStyle/>
          <a:p>
            <a:r>
              <a:rPr lang="en-US" dirty="0"/>
              <a:t>Year 1 plants the flag; Year 3 turns B2G into Scaler's structural competitive moat</a:t>
            </a:r>
          </a:p>
        </p:txBody>
      </p:sp>
      <p:sp>
        <p:nvSpPr>
          <p:cNvPr id="413" name="TB413"/>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NIIT / Simplilearn B2G ramp comparables; financial model</a:t>
            </a:r>
          </a:p>
        </p:txBody>
      </p:sp>
      <p:sp>
        <p:nvSpPr>
          <p:cNvPr id="414" name="TB414"/>
          <p:cNvSpPr txBox="1"/>
          <p:nvPr/>
        </p:nvSpPr>
        <p:spPr>
          <a:xfrm>
            <a:off x="768096" y="2075688"/>
            <a:ext cx="4480560" cy="310896"/>
          </a:xfrm>
          <a:prstGeom prst="rect">
            <a:avLst/>
          </a:prstGeom>
          <a:noFill/>
        </p:spPr>
        <p:txBody>
          <a:bodyPr wrap="square" rtlCol="0" anchor="t"/>
          <a:lstStyle/>
          <a:p>
            <a:r>
              <a:rPr lang="en-US" sz="1600" b="1" dirty="0">
                <a:solidFill>
                  <a:srgbClr val="295E7E"/>
                </a:solidFill>
                <a:latin typeface="Trebuchet MS"/>
              </a:rPr>
              <a:t>Year 1 (FY26) — Plant the Flag</a:t>
            </a:r>
          </a:p>
        </p:txBody>
      </p:sp>
      <p:sp>
        <p:nvSpPr>
          <p:cNvPr id="415" name="TB415"/>
          <p:cNvSpPr txBox="1"/>
          <p:nvPr/>
        </p:nvSpPr>
        <p:spPr>
          <a:xfrm>
            <a:off x="768096" y="2478024"/>
            <a:ext cx="1806854" cy="531876"/>
          </a:xfrm>
          <a:prstGeom prst="rect">
            <a:avLst/>
          </a:prstGeom>
          <a:noFill/>
        </p:spPr>
        <p:txBody>
          <a:bodyPr wrap="square" rtlCol="0" anchor="ctr"/>
          <a:lstStyle/>
          <a:p>
            <a:r>
              <a:rPr lang="en-US" sz="1000" b="1" dirty="0">
                <a:solidFill>
                  <a:srgbClr val="295E7E"/>
                </a:solidFill>
                <a:latin typeface="Trebuchet MS"/>
              </a:rPr>
              <a:t>Contracts</a:t>
            </a:r>
          </a:p>
        </p:txBody>
      </p:sp>
      <p:sp>
        <p:nvSpPr>
          <p:cNvPr id="416" name="TB416"/>
          <p:cNvSpPr txBox="1"/>
          <p:nvPr/>
        </p:nvSpPr>
        <p:spPr>
          <a:xfrm>
            <a:off x="2627985" y="2478024"/>
            <a:ext cx="2567635" cy="531876"/>
          </a:xfrm>
          <a:prstGeom prst="rect">
            <a:avLst/>
          </a:prstGeom>
          <a:noFill/>
        </p:spPr>
        <p:txBody>
          <a:bodyPr wrap="square" rtlCol="0" anchor="ctr"/>
          <a:lstStyle/>
          <a:p>
            <a:r>
              <a:rPr lang="en-US" sz="1000" dirty="0">
                <a:solidFill>
                  <a:srgbClr val="295E7E"/>
                </a:solidFill>
                <a:latin typeface="Trebuchet MS"/>
              </a:rPr>
              <a:t>2–3 anchor deals (1 PSU + 1–2 Central Govt)</a:t>
            </a:r>
          </a:p>
        </p:txBody>
      </p:sp>
      <p:sp>
        <p:nvSpPr>
          <p:cNvPr id="417" name="L417"/>
          <p:cNvSpPr/>
          <p:nvPr/>
        </p:nvSpPr>
        <p:spPr>
          <a:xfrm>
            <a:off x="768096" y="3009900"/>
            <a:ext cx="4480560" cy="0"/>
          </a:xfrm>
          <a:prstGeom prst="line">
            <a:avLst/>
          </a:prstGeom>
          <a:ln w="12700">
            <a:solidFill>
              <a:srgbClr val="FFFFFF"/>
            </a:solidFill>
          </a:ln>
        </p:spPr>
        <p:txBody>
          <a:bodyPr/>
          <a:lstStyle/>
          <a:p>
            <a:endParaRPr lang="en-US">
              <a:solidFill>
                <a:srgbClr val="FF0000"/>
              </a:solidFill>
            </a:endParaRPr>
          </a:p>
        </p:txBody>
      </p:sp>
      <p:sp>
        <p:nvSpPr>
          <p:cNvPr id="418" name="TB418"/>
          <p:cNvSpPr txBox="1"/>
          <p:nvPr/>
        </p:nvSpPr>
        <p:spPr>
          <a:xfrm>
            <a:off x="768096" y="3055620"/>
            <a:ext cx="1806854" cy="531876"/>
          </a:xfrm>
          <a:prstGeom prst="rect">
            <a:avLst/>
          </a:prstGeom>
          <a:noFill/>
        </p:spPr>
        <p:txBody>
          <a:bodyPr wrap="square" rtlCol="0" anchor="ctr"/>
          <a:lstStyle/>
          <a:p>
            <a:r>
              <a:rPr lang="en-US" sz="1000" b="1" dirty="0">
                <a:solidFill>
                  <a:srgbClr val="295E7E"/>
                </a:solidFill>
                <a:latin typeface="Trebuchet MS"/>
              </a:rPr>
              <a:t>Revenue</a:t>
            </a:r>
          </a:p>
        </p:txBody>
      </p:sp>
      <p:sp>
        <p:nvSpPr>
          <p:cNvPr id="419" name="TB419"/>
          <p:cNvSpPr txBox="1"/>
          <p:nvPr/>
        </p:nvSpPr>
        <p:spPr>
          <a:xfrm>
            <a:off x="2627985" y="3055620"/>
            <a:ext cx="2567635" cy="531876"/>
          </a:xfrm>
          <a:prstGeom prst="rect">
            <a:avLst/>
          </a:prstGeom>
          <a:noFill/>
        </p:spPr>
        <p:txBody>
          <a:bodyPr wrap="square" rtlCol="0" anchor="ctr"/>
          <a:lstStyle/>
          <a:p>
            <a:r>
              <a:rPr lang="en-US" sz="1000" dirty="0">
                <a:solidFill>
                  <a:srgbClr val="295E7E"/>
                </a:solidFill>
                <a:latin typeface="Trebuchet MS"/>
              </a:rPr>
              <a:t>₹2 Cr — ramp year</a:t>
            </a:r>
          </a:p>
        </p:txBody>
      </p:sp>
      <p:sp>
        <p:nvSpPr>
          <p:cNvPr id="420" name="L420"/>
          <p:cNvSpPr/>
          <p:nvPr/>
        </p:nvSpPr>
        <p:spPr>
          <a:xfrm>
            <a:off x="768096" y="3587496"/>
            <a:ext cx="4480560" cy="0"/>
          </a:xfrm>
          <a:prstGeom prst="line">
            <a:avLst/>
          </a:prstGeom>
          <a:ln w="12700">
            <a:solidFill>
              <a:srgbClr val="FFFFFF"/>
            </a:solidFill>
          </a:ln>
        </p:spPr>
        <p:txBody>
          <a:bodyPr/>
          <a:lstStyle/>
          <a:p>
            <a:endParaRPr lang="en-US">
              <a:solidFill>
                <a:srgbClr val="FF0000"/>
              </a:solidFill>
            </a:endParaRPr>
          </a:p>
        </p:txBody>
      </p:sp>
      <p:sp>
        <p:nvSpPr>
          <p:cNvPr id="421" name="TB421"/>
          <p:cNvSpPr txBox="1"/>
          <p:nvPr/>
        </p:nvSpPr>
        <p:spPr>
          <a:xfrm>
            <a:off x="768096" y="3633216"/>
            <a:ext cx="1806854" cy="531876"/>
          </a:xfrm>
          <a:prstGeom prst="rect">
            <a:avLst/>
          </a:prstGeom>
          <a:noFill/>
        </p:spPr>
        <p:txBody>
          <a:bodyPr wrap="square" rtlCol="0" anchor="ctr"/>
          <a:lstStyle/>
          <a:p>
            <a:r>
              <a:rPr lang="en-US" sz="1000" b="1" dirty="0">
                <a:solidFill>
                  <a:srgbClr val="295E7E"/>
                </a:solidFill>
                <a:latin typeface="Trebuchet MS"/>
              </a:rPr>
              <a:t>Team</a:t>
            </a:r>
          </a:p>
        </p:txBody>
      </p:sp>
      <p:sp>
        <p:nvSpPr>
          <p:cNvPr id="422" name="TB422"/>
          <p:cNvSpPr txBox="1"/>
          <p:nvPr/>
        </p:nvSpPr>
        <p:spPr>
          <a:xfrm>
            <a:off x="2627985" y="3633216"/>
            <a:ext cx="2567635" cy="531876"/>
          </a:xfrm>
          <a:prstGeom prst="rect">
            <a:avLst/>
          </a:prstGeom>
          <a:noFill/>
        </p:spPr>
        <p:txBody>
          <a:bodyPr wrap="square" rtlCol="0" anchor="ctr"/>
          <a:lstStyle/>
          <a:p>
            <a:r>
              <a:rPr lang="en-US" sz="1000" dirty="0">
                <a:solidFill>
                  <a:srgbClr val="295E7E"/>
                </a:solidFill>
                <a:latin typeface="Trebuchet MS"/>
              </a:rPr>
              <a:t>11 FTEs; VP Govt BD in seat by Month 2</a:t>
            </a:r>
          </a:p>
        </p:txBody>
      </p:sp>
      <p:sp>
        <p:nvSpPr>
          <p:cNvPr id="423" name="L423"/>
          <p:cNvSpPr/>
          <p:nvPr/>
        </p:nvSpPr>
        <p:spPr>
          <a:xfrm>
            <a:off x="768096" y="4165092"/>
            <a:ext cx="4480560" cy="0"/>
          </a:xfrm>
          <a:prstGeom prst="line">
            <a:avLst/>
          </a:prstGeom>
          <a:ln w="12700">
            <a:solidFill>
              <a:srgbClr val="FFFFFF"/>
            </a:solidFill>
          </a:ln>
        </p:spPr>
        <p:txBody>
          <a:bodyPr/>
          <a:lstStyle/>
          <a:p>
            <a:endParaRPr lang="en-US">
              <a:solidFill>
                <a:srgbClr val="FF0000"/>
              </a:solidFill>
            </a:endParaRPr>
          </a:p>
        </p:txBody>
      </p:sp>
      <p:sp>
        <p:nvSpPr>
          <p:cNvPr id="424" name="TB424"/>
          <p:cNvSpPr txBox="1"/>
          <p:nvPr/>
        </p:nvSpPr>
        <p:spPr>
          <a:xfrm>
            <a:off x="768096" y="4210812"/>
            <a:ext cx="1806854" cy="531876"/>
          </a:xfrm>
          <a:prstGeom prst="rect">
            <a:avLst/>
          </a:prstGeom>
          <a:noFill/>
        </p:spPr>
        <p:txBody>
          <a:bodyPr wrap="square" rtlCol="0" anchor="ctr"/>
          <a:lstStyle/>
          <a:p>
            <a:r>
              <a:rPr lang="en-US" sz="1000" b="1" dirty="0">
                <a:solidFill>
                  <a:srgbClr val="295E7E"/>
                </a:solidFill>
                <a:latin typeface="Trebuchet MS"/>
              </a:rPr>
              <a:t>Accreditation</a:t>
            </a:r>
          </a:p>
        </p:txBody>
      </p:sp>
      <p:sp>
        <p:nvSpPr>
          <p:cNvPr id="425" name="TB425"/>
          <p:cNvSpPr txBox="1"/>
          <p:nvPr/>
        </p:nvSpPr>
        <p:spPr>
          <a:xfrm>
            <a:off x="2627985" y="4210812"/>
            <a:ext cx="2567635" cy="531876"/>
          </a:xfrm>
          <a:prstGeom prst="rect">
            <a:avLst/>
          </a:prstGeom>
          <a:noFill/>
        </p:spPr>
        <p:txBody>
          <a:bodyPr wrap="square" rtlCol="0" anchor="ctr"/>
          <a:lstStyle/>
          <a:p>
            <a:r>
              <a:rPr lang="en-US" sz="1000" dirty="0">
                <a:solidFill>
                  <a:srgbClr val="295E7E"/>
                </a:solidFill>
                <a:latin typeface="Trebuchet MS"/>
              </a:rPr>
              <a:t>NCVET + GeM registration complete</a:t>
            </a:r>
          </a:p>
        </p:txBody>
      </p:sp>
      <p:sp>
        <p:nvSpPr>
          <p:cNvPr id="426" name="L426"/>
          <p:cNvSpPr/>
          <p:nvPr/>
        </p:nvSpPr>
        <p:spPr>
          <a:xfrm>
            <a:off x="768096" y="4742688"/>
            <a:ext cx="4480560" cy="0"/>
          </a:xfrm>
          <a:prstGeom prst="line">
            <a:avLst/>
          </a:prstGeom>
          <a:ln w="12700">
            <a:solidFill>
              <a:srgbClr val="FFFFFF"/>
            </a:solidFill>
          </a:ln>
        </p:spPr>
        <p:txBody>
          <a:bodyPr/>
          <a:lstStyle/>
          <a:p>
            <a:endParaRPr lang="en-US">
              <a:solidFill>
                <a:srgbClr val="FF0000"/>
              </a:solidFill>
            </a:endParaRPr>
          </a:p>
        </p:txBody>
      </p:sp>
      <p:sp>
        <p:nvSpPr>
          <p:cNvPr id="427" name="TB427"/>
          <p:cNvSpPr txBox="1"/>
          <p:nvPr/>
        </p:nvSpPr>
        <p:spPr>
          <a:xfrm>
            <a:off x="768096" y="4788408"/>
            <a:ext cx="1806854" cy="531876"/>
          </a:xfrm>
          <a:prstGeom prst="rect">
            <a:avLst/>
          </a:prstGeom>
          <a:noFill/>
        </p:spPr>
        <p:txBody>
          <a:bodyPr wrap="square" rtlCol="0" anchor="ctr"/>
          <a:lstStyle/>
          <a:p>
            <a:r>
              <a:rPr lang="en-US" sz="1000" b="1" dirty="0">
                <a:solidFill>
                  <a:srgbClr val="295E7E"/>
                </a:solidFill>
                <a:latin typeface="Trebuchet MS"/>
              </a:rPr>
              <a:t>Delivery</a:t>
            </a:r>
          </a:p>
        </p:txBody>
      </p:sp>
      <p:sp>
        <p:nvSpPr>
          <p:cNvPr id="428" name="TB428"/>
          <p:cNvSpPr txBox="1"/>
          <p:nvPr/>
        </p:nvSpPr>
        <p:spPr>
          <a:xfrm>
            <a:off x="2627985" y="4788408"/>
            <a:ext cx="2567635" cy="531876"/>
          </a:xfrm>
          <a:prstGeom prst="rect">
            <a:avLst/>
          </a:prstGeom>
          <a:noFill/>
        </p:spPr>
        <p:txBody>
          <a:bodyPr wrap="square" rtlCol="0" anchor="ctr"/>
          <a:lstStyle/>
          <a:p>
            <a:r>
              <a:rPr lang="en-US" sz="1000" dirty="0">
                <a:solidFill>
                  <a:srgbClr val="295E7E"/>
                </a:solidFill>
                <a:latin typeface="Trebuchet MS"/>
              </a:rPr>
              <a:t>600–700 candidates trained; outcomes tracked</a:t>
            </a:r>
          </a:p>
        </p:txBody>
      </p:sp>
      <p:sp>
        <p:nvSpPr>
          <p:cNvPr id="429" name="L429"/>
          <p:cNvSpPr/>
          <p:nvPr/>
        </p:nvSpPr>
        <p:spPr>
          <a:xfrm>
            <a:off x="768096" y="5320284"/>
            <a:ext cx="4480560" cy="0"/>
          </a:xfrm>
          <a:prstGeom prst="line">
            <a:avLst/>
          </a:prstGeom>
          <a:ln w="12700">
            <a:solidFill>
              <a:srgbClr val="FFFFFF"/>
            </a:solidFill>
          </a:ln>
        </p:spPr>
        <p:txBody>
          <a:bodyPr/>
          <a:lstStyle/>
          <a:p>
            <a:endParaRPr lang="en-US">
              <a:solidFill>
                <a:srgbClr val="FF0000"/>
              </a:solidFill>
            </a:endParaRPr>
          </a:p>
        </p:txBody>
      </p:sp>
      <p:sp>
        <p:nvSpPr>
          <p:cNvPr id="430" name="TB430"/>
          <p:cNvSpPr txBox="1"/>
          <p:nvPr/>
        </p:nvSpPr>
        <p:spPr>
          <a:xfrm>
            <a:off x="768096" y="5366004"/>
            <a:ext cx="1806854" cy="531876"/>
          </a:xfrm>
          <a:prstGeom prst="rect">
            <a:avLst/>
          </a:prstGeom>
          <a:noFill/>
        </p:spPr>
        <p:txBody>
          <a:bodyPr wrap="square" rtlCol="0" anchor="ctr"/>
          <a:lstStyle/>
          <a:p>
            <a:r>
              <a:rPr lang="en-US" sz="1000" b="1" dirty="0">
                <a:solidFill>
                  <a:srgbClr val="295E7E"/>
                </a:solidFill>
                <a:latin typeface="Trebuchet MS"/>
              </a:rPr>
              <a:t>Brand</a:t>
            </a:r>
          </a:p>
        </p:txBody>
      </p:sp>
      <p:sp>
        <p:nvSpPr>
          <p:cNvPr id="431" name="TB431"/>
          <p:cNvSpPr txBox="1"/>
          <p:nvPr/>
        </p:nvSpPr>
        <p:spPr>
          <a:xfrm>
            <a:off x="2627985" y="5366004"/>
            <a:ext cx="2567635" cy="531876"/>
          </a:xfrm>
          <a:prstGeom prst="rect">
            <a:avLst/>
          </a:prstGeom>
          <a:noFill/>
        </p:spPr>
        <p:txBody>
          <a:bodyPr wrap="square" rtlCol="0" anchor="ctr"/>
          <a:lstStyle/>
          <a:p>
            <a:r>
              <a:rPr lang="en-US" sz="1000" dirty="0">
                <a:solidFill>
                  <a:srgbClr val="295E7E"/>
                </a:solidFill>
                <a:latin typeface="Trebuchet MS"/>
              </a:rPr>
              <a:t>Reference contracts; Scaler visible in govt</a:t>
            </a:r>
          </a:p>
        </p:txBody>
      </p:sp>
      <p:sp>
        <p:nvSpPr>
          <p:cNvPr id="432" name="L432"/>
          <p:cNvSpPr/>
          <p:nvPr/>
        </p:nvSpPr>
        <p:spPr>
          <a:xfrm>
            <a:off x="768096" y="5897880"/>
            <a:ext cx="4480560" cy="0"/>
          </a:xfrm>
          <a:prstGeom prst="line">
            <a:avLst/>
          </a:prstGeom>
          <a:ln w="12700">
            <a:solidFill>
              <a:srgbClr val="FFFFFF"/>
            </a:solidFill>
          </a:ln>
        </p:spPr>
        <p:txBody>
          <a:bodyPr/>
          <a:lstStyle/>
          <a:p>
            <a:endParaRPr lang="en-US">
              <a:solidFill>
                <a:srgbClr val="FF0000"/>
              </a:solidFill>
            </a:endParaRPr>
          </a:p>
        </p:txBody>
      </p:sp>
      <p:sp>
        <p:nvSpPr>
          <p:cNvPr id="433" name="TB433"/>
          <p:cNvSpPr txBox="1"/>
          <p:nvPr/>
        </p:nvSpPr>
        <p:spPr>
          <a:xfrm>
            <a:off x="6537960" y="2075688"/>
            <a:ext cx="4663440" cy="310896"/>
          </a:xfrm>
          <a:prstGeom prst="rect">
            <a:avLst/>
          </a:prstGeom>
          <a:noFill/>
        </p:spPr>
        <p:txBody>
          <a:bodyPr wrap="square" rtlCol="0" anchor="t"/>
          <a:lstStyle/>
          <a:p>
            <a:r>
              <a:rPr lang="en-US" sz="1600" b="1" dirty="0">
                <a:solidFill>
                  <a:srgbClr val="FFFFFF"/>
                </a:solidFill>
                <a:latin typeface="Trebuchet MS"/>
              </a:rPr>
              <a:t>Year 3 (FY28) — If We Win</a:t>
            </a:r>
          </a:p>
        </p:txBody>
      </p:sp>
      <p:sp>
        <p:nvSpPr>
          <p:cNvPr id="434" name="TB434"/>
          <p:cNvSpPr txBox="1"/>
          <p:nvPr/>
        </p:nvSpPr>
        <p:spPr>
          <a:xfrm>
            <a:off x="6537960" y="2478024"/>
            <a:ext cx="1481328" cy="458506"/>
          </a:xfrm>
          <a:prstGeom prst="rect">
            <a:avLst/>
          </a:prstGeom>
          <a:noFill/>
        </p:spPr>
        <p:txBody>
          <a:bodyPr wrap="square" rtlCol="0" anchor="t"/>
          <a:lstStyle/>
          <a:p>
            <a:r>
              <a:rPr lang="en-US" sz="1000" b="1" dirty="0">
                <a:solidFill>
                  <a:srgbClr val="FFFFFF"/>
                </a:solidFill>
                <a:latin typeface="Trebuchet MS"/>
              </a:rPr>
              <a:t>Contracts</a:t>
            </a:r>
          </a:p>
        </p:txBody>
      </p:sp>
      <p:sp>
        <p:nvSpPr>
          <p:cNvPr id="435" name="TB435"/>
          <p:cNvSpPr txBox="1"/>
          <p:nvPr/>
        </p:nvSpPr>
        <p:spPr>
          <a:xfrm>
            <a:off x="7980883" y="2478024"/>
            <a:ext cx="3061411" cy="458506"/>
          </a:xfrm>
          <a:prstGeom prst="rect">
            <a:avLst/>
          </a:prstGeom>
          <a:noFill/>
        </p:spPr>
        <p:txBody>
          <a:bodyPr wrap="square" rtlCol="0" anchor="t"/>
          <a:lstStyle/>
          <a:p>
            <a:r>
              <a:rPr lang="en-US" sz="1000" dirty="0">
                <a:solidFill>
                  <a:srgbClr val="FFFFFF"/>
                </a:solidFill>
                <a:latin typeface="Trebuchet MS"/>
              </a:rPr>
              <a:t>14 active across PSU, Central, State, University</a:t>
            </a:r>
          </a:p>
        </p:txBody>
      </p:sp>
      <p:sp>
        <p:nvSpPr>
          <p:cNvPr id="436" name="L436"/>
          <p:cNvSpPr/>
          <p:nvPr/>
        </p:nvSpPr>
        <p:spPr>
          <a:xfrm>
            <a:off x="6537960" y="2936530"/>
            <a:ext cx="4663440" cy="0"/>
          </a:xfrm>
          <a:prstGeom prst="line">
            <a:avLst/>
          </a:prstGeom>
          <a:ln w="12700">
            <a:solidFill>
              <a:srgbClr val="6E6F73"/>
            </a:solidFill>
          </a:ln>
        </p:spPr>
        <p:txBody>
          <a:bodyPr/>
          <a:lstStyle/>
          <a:p>
            <a:endParaRPr lang="en-US"/>
          </a:p>
        </p:txBody>
      </p:sp>
      <p:sp>
        <p:nvSpPr>
          <p:cNvPr id="437" name="TB437"/>
          <p:cNvSpPr txBox="1"/>
          <p:nvPr/>
        </p:nvSpPr>
        <p:spPr>
          <a:xfrm>
            <a:off x="6537960" y="2973106"/>
            <a:ext cx="1481328" cy="458506"/>
          </a:xfrm>
          <a:prstGeom prst="rect">
            <a:avLst/>
          </a:prstGeom>
          <a:noFill/>
        </p:spPr>
        <p:txBody>
          <a:bodyPr wrap="square" rtlCol="0" anchor="t"/>
          <a:lstStyle/>
          <a:p>
            <a:r>
              <a:rPr lang="en-US" sz="1000" b="1" dirty="0">
                <a:solidFill>
                  <a:srgbClr val="FFFFFF"/>
                </a:solidFill>
                <a:latin typeface="Trebuchet MS"/>
              </a:rPr>
              <a:t>Revenue</a:t>
            </a:r>
          </a:p>
        </p:txBody>
      </p:sp>
      <p:sp>
        <p:nvSpPr>
          <p:cNvPr id="438" name="TB438"/>
          <p:cNvSpPr txBox="1"/>
          <p:nvPr/>
        </p:nvSpPr>
        <p:spPr>
          <a:xfrm>
            <a:off x="7980883" y="2973106"/>
            <a:ext cx="3061411" cy="458506"/>
          </a:xfrm>
          <a:prstGeom prst="rect">
            <a:avLst/>
          </a:prstGeom>
          <a:noFill/>
        </p:spPr>
        <p:txBody>
          <a:bodyPr wrap="square" rtlCol="0" anchor="t"/>
          <a:lstStyle/>
          <a:p>
            <a:r>
              <a:rPr lang="en-US" sz="1000" dirty="0">
                <a:solidFill>
                  <a:srgbClr val="FFFFFF"/>
                </a:solidFill>
                <a:latin typeface="Trebuchet MS"/>
              </a:rPr>
              <a:t>₹26 Cr — 6th largest B2G ed-tech player by revenue</a:t>
            </a:r>
          </a:p>
        </p:txBody>
      </p:sp>
      <p:sp>
        <p:nvSpPr>
          <p:cNvPr id="439" name="L439"/>
          <p:cNvSpPr/>
          <p:nvPr/>
        </p:nvSpPr>
        <p:spPr>
          <a:xfrm>
            <a:off x="6537960" y="3431612"/>
            <a:ext cx="4663440" cy="0"/>
          </a:xfrm>
          <a:prstGeom prst="line">
            <a:avLst/>
          </a:prstGeom>
          <a:ln w="12700">
            <a:solidFill>
              <a:srgbClr val="6E6F73"/>
            </a:solidFill>
          </a:ln>
        </p:spPr>
        <p:txBody>
          <a:bodyPr/>
          <a:lstStyle/>
          <a:p>
            <a:endParaRPr lang="en-US"/>
          </a:p>
        </p:txBody>
      </p:sp>
      <p:sp>
        <p:nvSpPr>
          <p:cNvPr id="440" name="TB440"/>
          <p:cNvSpPr txBox="1"/>
          <p:nvPr/>
        </p:nvSpPr>
        <p:spPr>
          <a:xfrm>
            <a:off x="6537960" y="3468188"/>
            <a:ext cx="1481328" cy="458506"/>
          </a:xfrm>
          <a:prstGeom prst="rect">
            <a:avLst/>
          </a:prstGeom>
          <a:noFill/>
        </p:spPr>
        <p:txBody>
          <a:bodyPr wrap="square" rtlCol="0" anchor="t"/>
          <a:lstStyle/>
          <a:p>
            <a:r>
              <a:rPr lang="en-US" sz="1000" b="1" dirty="0">
                <a:solidFill>
                  <a:srgbClr val="FFFFFF"/>
                </a:solidFill>
                <a:latin typeface="Trebuchet MS"/>
              </a:rPr>
              <a:t>Team</a:t>
            </a:r>
          </a:p>
        </p:txBody>
      </p:sp>
      <p:sp>
        <p:nvSpPr>
          <p:cNvPr id="441" name="TB441"/>
          <p:cNvSpPr txBox="1"/>
          <p:nvPr/>
        </p:nvSpPr>
        <p:spPr>
          <a:xfrm>
            <a:off x="7980883" y="3468188"/>
            <a:ext cx="3061411" cy="458506"/>
          </a:xfrm>
          <a:prstGeom prst="rect">
            <a:avLst/>
          </a:prstGeom>
          <a:noFill/>
        </p:spPr>
        <p:txBody>
          <a:bodyPr wrap="square" rtlCol="0" anchor="t"/>
          <a:lstStyle/>
          <a:p>
            <a:r>
              <a:rPr lang="en-US" sz="1000" dirty="0">
                <a:solidFill>
                  <a:srgbClr val="FFFFFF"/>
                </a:solidFill>
                <a:latin typeface="Trebuchet MS"/>
              </a:rPr>
              <a:t>30 FTEs; standalone B2G vertical P&amp;L</a:t>
            </a:r>
          </a:p>
        </p:txBody>
      </p:sp>
      <p:sp>
        <p:nvSpPr>
          <p:cNvPr id="442" name="L442"/>
          <p:cNvSpPr/>
          <p:nvPr/>
        </p:nvSpPr>
        <p:spPr>
          <a:xfrm>
            <a:off x="6537960" y="3926694"/>
            <a:ext cx="4663440" cy="0"/>
          </a:xfrm>
          <a:prstGeom prst="line">
            <a:avLst/>
          </a:prstGeom>
          <a:ln w="12700">
            <a:solidFill>
              <a:srgbClr val="6E6F73"/>
            </a:solidFill>
          </a:ln>
        </p:spPr>
        <p:txBody>
          <a:bodyPr/>
          <a:lstStyle/>
          <a:p>
            <a:endParaRPr lang="en-US"/>
          </a:p>
        </p:txBody>
      </p:sp>
      <p:sp>
        <p:nvSpPr>
          <p:cNvPr id="443" name="TB443"/>
          <p:cNvSpPr txBox="1"/>
          <p:nvPr/>
        </p:nvSpPr>
        <p:spPr>
          <a:xfrm>
            <a:off x="6537960" y="3963270"/>
            <a:ext cx="1481328" cy="458506"/>
          </a:xfrm>
          <a:prstGeom prst="rect">
            <a:avLst/>
          </a:prstGeom>
          <a:noFill/>
        </p:spPr>
        <p:txBody>
          <a:bodyPr wrap="square" rtlCol="0" anchor="t"/>
          <a:lstStyle/>
          <a:p>
            <a:r>
              <a:rPr lang="en-US" sz="1000" b="1" dirty="0">
                <a:solidFill>
                  <a:srgbClr val="FFFFFF"/>
                </a:solidFill>
                <a:latin typeface="Trebuchet MS"/>
              </a:rPr>
              <a:t>EBITDA</a:t>
            </a:r>
          </a:p>
        </p:txBody>
      </p:sp>
      <p:sp>
        <p:nvSpPr>
          <p:cNvPr id="444" name="TB444"/>
          <p:cNvSpPr txBox="1"/>
          <p:nvPr/>
        </p:nvSpPr>
        <p:spPr>
          <a:xfrm>
            <a:off x="7980883" y="3963270"/>
            <a:ext cx="3061411" cy="458506"/>
          </a:xfrm>
          <a:prstGeom prst="rect">
            <a:avLst/>
          </a:prstGeom>
          <a:noFill/>
        </p:spPr>
        <p:txBody>
          <a:bodyPr wrap="square" rtlCol="0" anchor="t"/>
          <a:lstStyle/>
          <a:p>
            <a:r>
              <a:rPr lang="en-US" sz="1000" dirty="0">
                <a:solidFill>
                  <a:srgbClr val="FFFFFF"/>
                </a:solidFill>
                <a:latin typeface="Trebuchet MS"/>
              </a:rPr>
              <a:t>₹4.2 Cr — vertical self-funds from here</a:t>
            </a:r>
          </a:p>
        </p:txBody>
      </p:sp>
      <p:sp>
        <p:nvSpPr>
          <p:cNvPr id="445" name="L445"/>
          <p:cNvSpPr/>
          <p:nvPr/>
        </p:nvSpPr>
        <p:spPr>
          <a:xfrm>
            <a:off x="6537960" y="4421777"/>
            <a:ext cx="4663440" cy="0"/>
          </a:xfrm>
          <a:prstGeom prst="line">
            <a:avLst/>
          </a:prstGeom>
          <a:ln w="12700">
            <a:solidFill>
              <a:srgbClr val="6E6F73"/>
            </a:solidFill>
          </a:ln>
        </p:spPr>
        <p:txBody>
          <a:bodyPr/>
          <a:lstStyle/>
          <a:p>
            <a:endParaRPr lang="en-US"/>
          </a:p>
        </p:txBody>
      </p:sp>
      <p:sp>
        <p:nvSpPr>
          <p:cNvPr id="446" name="TB446"/>
          <p:cNvSpPr txBox="1"/>
          <p:nvPr/>
        </p:nvSpPr>
        <p:spPr>
          <a:xfrm>
            <a:off x="6537960" y="4458353"/>
            <a:ext cx="1481328" cy="458506"/>
          </a:xfrm>
          <a:prstGeom prst="rect">
            <a:avLst/>
          </a:prstGeom>
          <a:noFill/>
        </p:spPr>
        <p:txBody>
          <a:bodyPr wrap="square" rtlCol="0" anchor="t"/>
          <a:lstStyle/>
          <a:p>
            <a:r>
              <a:rPr lang="en-US" sz="1000" b="1" dirty="0">
                <a:solidFill>
                  <a:srgbClr val="FFFFFF"/>
                </a:solidFill>
                <a:latin typeface="Trebuchet MS"/>
              </a:rPr>
              <a:t>Candidates</a:t>
            </a:r>
          </a:p>
        </p:txBody>
      </p:sp>
      <p:sp>
        <p:nvSpPr>
          <p:cNvPr id="447" name="TB447"/>
          <p:cNvSpPr txBox="1"/>
          <p:nvPr/>
        </p:nvSpPr>
        <p:spPr>
          <a:xfrm>
            <a:off x="7980883" y="4458353"/>
            <a:ext cx="3061411" cy="458506"/>
          </a:xfrm>
          <a:prstGeom prst="rect">
            <a:avLst/>
          </a:prstGeom>
          <a:noFill/>
        </p:spPr>
        <p:txBody>
          <a:bodyPr wrap="square" rtlCol="0" anchor="t"/>
          <a:lstStyle/>
          <a:p>
            <a:r>
              <a:rPr lang="en-US" sz="1000" dirty="0">
                <a:solidFill>
                  <a:srgbClr val="FFFFFF"/>
                </a:solidFill>
                <a:latin typeface="Trebuchet MS"/>
              </a:rPr>
              <a:t>8,000+ trained; 5,000+ placed</a:t>
            </a:r>
          </a:p>
        </p:txBody>
      </p:sp>
      <p:sp>
        <p:nvSpPr>
          <p:cNvPr id="448" name="L448"/>
          <p:cNvSpPr/>
          <p:nvPr/>
        </p:nvSpPr>
        <p:spPr>
          <a:xfrm>
            <a:off x="6537960" y="4916859"/>
            <a:ext cx="4663440" cy="0"/>
          </a:xfrm>
          <a:prstGeom prst="line">
            <a:avLst/>
          </a:prstGeom>
          <a:ln w="12700">
            <a:solidFill>
              <a:srgbClr val="6E6F73"/>
            </a:solidFill>
          </a:ln>
        </p:spPr>
        <p:txBody>
          <a:bodyPr/>
          <a:lstStyle/>
          <a:p>
            <a:endParaRPr lang="en-US"/>
          </a:p>
        </p:txBody>
      </p:sp>
      <p:sp>
        <p:nvSpPr>
          <p:cNvPr id="449" name="TB449"/>
          <p:cNvSpPr txBox="1"/>
          <p:nvPr/>
        </p:nvSpPr>
        <p:spPr>
          <a:xfrm>
            <a:off x="6537960" y="4953435"/>
            <a:ext cx="1481328" cy="458506"/>
          </a:xfrm>
          <a:prstGeom prst="rect">
            <a:avLst/>
          </a:prstGeom>
          <a:noFill/>
        </p:spPr>
        <p:txBody>
          <a:bodyPr wrap="square" rtlCol="0" anchor="t"/>
          <a:lstStyle/>
          <a:p>
            <a:r>
              <a:rPr lang="en-US" sz="1000" b="1" dirty="0">
                <a:solidFill>
                  <a:srgbClr val="FFFFFF"/>
                </a:solidFill>
                <a:latin typeface="Trebuchet MS"/>
              </a:rPr>
              <a:t>Moat</a:t>
            </a:r>
          </a:p>
        </p:txBody>
      </p:sp>
      <p:sp>
        <p:nvSpPr>
          <p:cNvPr id="450" name="TB450"/>
          <p:cNvSpPr txBox="1"/>
          <p:nvPr/>
        </p:nvSpPr>
        <p:spPr>
          <a:xfrm>
            <a:off x="7980883" y="4953435"/>
            <a:ext cx="3061411" cy="458506"/>
          </a:xfrm>
          <a:prstGeom prst="rect">
            <a:avLst/>
          </a:prstGeom>
          <a:noFill/>
        </p:spPr>
        <p:txBody>
          <a:bodyPr wrap="square" rtlCol="0" anchor="t"/>
          <a:lstStyle/>
          <a:p>
            <a:r>
              <a:rPr lang="en-US" sz="1000" dirty="0">
                <a:solidFill>
                  <a:srgbClr val="FFFFFF"/>
                </a:solidFill>
                <a:latin typeface="Trebuchet MS"/>
              </a:rPr>
              <a:t>Placement data network compounds — each cohort makes the next bid stronger</a:t>
            </a:r>
          </a:p>
        </p:txBody>
      </p:sp>
      <p:sp>
        <p:nvSpPr>
          <p:cNvPr id="451" name="L451"/>
          <p:cNvSpPr/>
          <p:nvPr/>
        </p:nvSpPr>
        <p:spPr>
          <a:xfrm>
            <a:off x="6537960" y="5411941"/>
            <a:ext cx="4663440" cy="0"/>
          </a:xfrm>
          <a:prstGeom prst="line">
            <a:avLst/>
          </a:prstGeom>
          <a:ln w="12700">
            <a:solidFill>
              <a:srgbClr val="6E6F73"/>
            </a:solidFill>
          </a:ln>
        </p:spPr>
        <p:txBody>
          <a:bodyPr/>
          <a:lstStyle/>
          <a:p>
            <a:endParaRPr lang="en-US"/>
          </a:p>
        </p:txBody>
      </p:sp>
      <p:sp>
        <p:nvSpPr>
          <p:cNvPr id="452" name="TB452"/>
          <p:cNvSpPr txBox="1"/>
          <p:nvPr/>
        </p:nvSpPr>
        <p:spPr>
          <a:xfrm>
            <a:off x="6537960" y="5448517"/>
            <a:ext cx="1481328" cy="458506"/>
          </a:xfrm>
          <a:prstGeom prst="rect">
            <a:avLst/>
          </a:prstGeom>
          <a:noFill/>
        </p:spPr>
        <p:txBody>
          <a:bodyPr wrap="square" rtlCol="0" anchor="t"/>
          <a:lstStyle/>
          <a:p>
            <a:r>
              <a:rPr lang="en-US" sz="1000" b="1" dirty="0">
                <a:solidFill>
                  <a:srgbClr val="FFFFFF"/>
                </a:solidFill>
                <a:latin typeface="Trebuchet MS"/>
              </a:rPr>
              <a:t>Optionality</a:t>
            </a:r>
          </a:p>
        </p:txBody>
      </p:sp>
      <p:sp>
        <p:nvSpPr>
          <p:cNvPr id="453" name="TB453"/>
          <p:cNvSpPr txBox="1"/>
          <p:nvPr/>
        </p:nvSpPr>
        <p:spPr>
          <a:xfrm>
            <a:off x="7980883" y="5448517"/>
            <a:ext cx="3061411" cy="458506"/>
          </a:xfrm>
          <a:prstGeom prst="rect">
            <a:avLst/>
          </a:prstGeom>
          <a:noFill/>
        </p:spPr>
        <p:txBody>
          <a:bodyPr wrap="square" rtlCol="0" anchor="t"/>
          <a:lstStyle/>
          <a:p>
            <a:r>
              <a:rPr lang="en-US" sz="1000" dirty="0">
                <a:solidFill>
                  <a:srgbClr val="FFFFFF"/>
                </a:solidFill>
                <a:latin typeface="Trebuchet MS"/>
              </a:rPr>
              <a:t>B2G brand enables LatAm/SEA govt expansion + potential iGOT content licensing</a:t>
            </a:r>
          </a:p>
        </p:txBody>
      </p:sp>
      <p:sp>
        <p:nvSpPr>
          <p:cNvPr id="454" name="L454"/>
          <p:cNvSpPr/>
          <p:nvPr/>
        </p:nvSpPr>
        <p:spPr>
          <a:xfrm>
            <a:off x="6537960" y="5907024"/>
            <a:ext cx="4663440" cy="0"/>
          </a:xfrm>
          <a:prstGeom prst="line">
            <a:avLst/>
          </a:prstGeom>
          <a:ln w="12700">
            <a:solidFill>
              <a:srgbClr val="6E6F73"/>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69CB7F7-32CC-224B-AC92-6507169DF2F1}"/>
              </a:ext>
            </a:extLst>
          </p:cNvPr>
          <p:cNvGraphicFramePr>
            <a:graphicFrameLocks noChangeAspect="1"/>
          </p:cNvGraphicFramePr>
          <p:nvPr>
            <p:custDataLst>
              <p:tags r:id="rId1"/>
            </p:custDataLst>
            <p:extLst>
              <p:ext uri="{D42A27DB-BD31-4B8C-83A1-F6EECF244321}">
                <p14:modId xmlns:p14="http://schemas.microsoft.com/office/powerpoint/2010/main" val="2771849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55" name="ph_title"/>
          <p:cNvSpPr>
            <a:spLocks noGrp="1"/>
          </p:cNvSpPr>
          <p:nvPr>
            <p:ph type="title"/>
          </p:nvPr>
        </p:nvSpPr>
        <p:spPr>
          <a:xfrm>
            <a:off x="630000" y="622800"/>
            <a:ext cx="10933350" cy="664797"/>
          </a:xfrm>
        </p:spPr>
        <p:txBody>
          <a:bodyPr vert="horz"/>
          <a:lstStyle/>
          <a:p>
            <a:r>
              <a:rPr lang="en-US" dirty="0"/>
              <a:t>The next 90 days decide whether Scaler builds a ₹93 Cr vertical — five moves now</a:t>
            </a:r>
          </a:p>
        </p:txBody>
      </p:sp>
      <p:sp>
        <p:nvSpPr>
          <p:cNvPr id="456" name="TB456"/>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NCVET timeline; PMKVY 4.0 onboarding; DoPT DFFT data</a:t>
            </a:r>
          </a:p>
        </p:txBody>
      </p:sp>
      <p:sp>
        <p:nvSpPr>
          <p:cNvPr id="457" name="S457"/>
          <p:cNvSpPr/>
          <p:nvPr/>
        </p:nvSpPr>
        <p:spPr>
          <a:xfrm>
            <a:off x="630936" y="2075688"/>
            <a:ext cx="3736848" cy="548640"/>
          </a:xfrm>
          <a:prstGeom prst="chevron">
            <a:avLst/>
          </a:prstGeom>
          <a:solidFill>
            <a:schemeClr val="bg2">
              <a:lumMod val="10000"/>
            </a:schemeClr>
          </a:solidFill>
          <a:ln>
            <a:noFill/>
          </a:ln>
        </p:spPr>
        <p:txBody>
          <a:bodyPr/>
          <a:lstStyle/>
          <a:p>
            <a:endParaRPr lang="en-US"/>
          </a:p>
        </p:txBody>
      </p:sp>
      <p:sp>
        <p:nvSpPr>
          <p:cNvPr id="458" name="TB458"/>
          <p:cNvSpPr txBox="1"/>
          <p:nvPr/>
        </p:nvSpPr>
        <p:spPr>
          <a:xfrm>
            <a:off x="940233" y="2075688"/>
            <a:ext cx="3163974" cy="548640"/>
          </a:xfrm>
          <a:prstGeom prst="rect">
            <a:avLst/>
          </a:prstGeom>
          <a:solidFill>
            <a:schemeClr val="bg2">
              <a:lumMod val="10000"/>
            </a:schemeClr>
          </a:solidFill>
        </p:spPr>
        <p:txBody>
          <a:bodyPr wrap="square" rtlCol="0" anchor="ctr"/>
          <a:lstStyle/>
          <a:p>
            <a:pPr algn="ctr"/>
            <a:r>
              <a:rPr lang="en-US" sz="1400" b="1" dirty="0">
                <a:solidFill>
                  <a:srgbClr val="FFFFFF"/>
                </a:solidFill>
                <a:latin typeface="Trebuchet MS"/>
              </a:rPr>
              <a:t>Days 1–30</a:t>
            </a:r>
          </a:p>
        </p:txBody>
      </p:sp>
      <p:sp>
        <p:nvSpPr>
          <p:cNvPr id="459" name="S459"/>
          <p:cNvSpPr/>
          <p:nvPr/>
        </p:nvSpPr>
        <p:spPr>
          <a:xfrm>
            <a:off x="4230624" y="2075688"/>
            <a:ext cx="3736848" cy="548640"/>
          </a:xfrm>
          <a:prstGeom prst="chevron">
            <a:avLst/>
          </a:prstGeom>
          <a:solidFill>
            <a:schemeClr val="accent1"/>
          </a:solidFill>
          <a:ln>
            <a:noFill/>
          </a:ln>
        </p:spPr>
        <p:txBody>
          <a:bodyPr/>
          <a:lstStyle/>
          <a:p>
            <a:endParaRPr lang="en-US"/>
          </a:p>
        </p:txBody>
      </p:sp>
      <p:sp>
        <p:nvSpPr>
          <p:cNvPr id="460" name="TB460"/>
          <p:cNvSpPr txBox="1"/>
          <p:nvPr/>
        </p:nvSpPr>
        <p:spPr>
          <a:xfrm>
            <a:off x="4555584" y="2075688"/>
            <a:ext cx="3132648" cy="548640"/>
          </a:xfrm>
          <a:prstGeom prst="rect">
            <a:avLst/>
          </a:prstGeom>
          <a:solidFill>
            <a:schemeClr val="accent1"/>
          </a:solidFill>
        </p:spPr>
        <p:txBody>
          <a:bodyPr wrap="square" rtlCol="0" anchor="ctr"/>
          <a:lstStyle/>
          <a:p>
            <a:pPr algn="ctr"/>
            <a:r>
              <a:rPr lang="en-US" sz="1400" b="1" dirty="0">
                <a:solidFill>
                  <a:srgbClr val="FFFFFF"/>
                </a:solidFill>
                <a:latin typeface="Trebuchet MS"/>
              </a:rPr>
              <a:t>Days 31–60</a:t>
            </a:r>
          </a:p>
        </p:txBody>
      </p:sp>
      <p:sp>
        <p:nvSpPr>
          <p:cNvPr id="461" name="S461"/>
          <p:cNvSpPr/>
          <p:nvPr/>
        </p:nvSpPr>
        <p:spPr>
          <a:xfrm>
            <a:off x="7830312" y="2075688"/>
            <a:ext cx="3736848" cy="548640"/>
          </a:xfrm>
          <a:prstGeom prst="chevron">
            <a:avLst/>
          </a:prstGeom>
          <a:solidFill>
            <a:schemeClr val="bg2">
              <a:lumMod val="90000"/>
            </a:schemeClr>
          </a:solidFill>
          <a:ln>
            <a:noFill/>
          </a:ln>
        </p:spPr>
        <p:txBody>
          <a:bodyPr/>
          <a:lstStyle/>
          <a:p>
            <a:endParaRPr lang="en-US"/>
          </a:p>
        </p:txBody>
      </p:sp>
      <p:sp>
        <p:nvSpPr>
          <p:cNvPr id="462" name="TB462"/>
          <p:cNvSpPr txBox="1"/>
          <p:nvPr/>
        </p:nvSpPr>
        <p:spPr>
          <a:xfrm>
            <a:off x="8058912" y="2075688"/>
            <a:ext cx="3325368" cy="548640"/>
          </a:xfrm>
          <a:prstGeom prst="rect">
            <a:avLst/>
          </a:prstGeom>
          <a:noFill/>
        </p:spPr>
        <p:txBody>
          <a:bodyPr wrap="square" rtlCol="0" anchor="ctr"/>
          <a:lstStyle/>
          <a:p>
            <a:pPr algn="ctr"/>
            <a:r>
              <a:rPr lang="en-US" sz="1400" b="1" dirty="0">
                <a:solidFill>
                  <a:srgbClr val="FFFFFF"/>
                </a:solidFill>
                <a:latin typeface="Trebuchet MS"/>
              </a:rPr>
              <a:t>Days 61–90</a:t>
            </a:r>
          </a:p>
        </p:txBody>
      </p:sp>
      <p:sp>
        <p:nvSpPr>
          <p:cNvPr id="463" name="RR463"/>
          <p:cNvSpPr/>
          <p:nvPr/>
        </p:nvSpPr>
        <p:spPr>
          <a:xfrm>
            <a:off x="630936" y="2752344"/>
            <a:ext cx="3523488" cy="262432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464" name="R464"/>
          <p:cNvSpPr/>
          <p:nvPr/>
        </p:nvSpPr>
        <p:spPr>
          <a:xfrm>
            <a:off x="630936" y="2752344"/>
            <a:ext cx="3523488" cy="54864"/>
          </a:xfrm>
          <a:prstGeom prst="rect">
            <a:avLst/>
          </a:prstGeom>
          <a:solidFill>
            <a:srgbClr val="03522D"/>
          </a:solidFill>
          <a:ln>
            <a:noFill/>
          </a:ln>
        </p:spPr>
        <p:txBody>
          <a:bodyPr/>
          <a:lstStyle/>
          <a:p>
            <a:endParaRPr lang="en-US"/>
          </a:p>
        </p:txBody>
      </p:sp>
      <p:sp>
        <p:nvSpPr>
          <p:cNvPr id="465" name="R465"/>
          <p:cNvSpPr/>
          <p:nvPr/>
        </p:nvSpPr>
        <p:spPr>
          <a:xfrm>
            <a:off x="630936" y="2752344"/>
            <a:ext cx="3523488" cy="310896"/>
          </a:xfrm>
          <a:prstGeom prst="rect">
            <a:avLst/>
          </a:prstGeom>
          <a:solidFill>
            <a:schemeClr val="tx2">
              <a:lumMod val="75000"/>
            </a:schemeClr>
          </a:solidFill>
          <a:ln>
            <a:noFill/>
          </a:ln>
        </p:spPr>
        <p:txBody>
          <a:bodyPr/>
          <a:lstStyle/>
          <a:p>
            <a:endParaRPr lang="en-US"/>
          </a:p>
        </p:txBody>
      </p:sp>
      <p:sp>
        <p:nvSpPr>
          <p:cNvPr id="466" name="TB466"/>
          <p:cNvSpPr txBox="1"/>
          <p:nvPr/>
        </p:nvSpPr>
        <p:spPr>
          <a:xfrm>
            <a:off x="722375" y="2752344"/>
            <a:ext cx="3340608" cy="310896"/>
          </a:xfrm>
          <a:prstGeom prst="rect">
            <a:avLst/>
          </a:prstGeom>
          <a:noFill/>
        </p:spPr>
        <p:txBody>
          <a:bodyPr wrap="square" rtlCol="0" anchor="ctr"/>
          <a:lstStyle/>
          <a:p>
            <a:r>
              <a:rPr lang="en-US" sz="1200" b="1" dirty="0">
                <a:solidFill>
                  <a:srgbClr val="FFFFFF"/>
                </a:solidFill>
                <a:latin typeface="Trebuchet MS"/>
              </a:rPr>
              <a:t>Days 1–30: Foundations</a:t>
            </a:r>
          </a:p>
        </p:txBody>
      </p:sp>
      <p:sp>
        <p:nvSpPr>
          <p:cNvPr id="467" name="TB467"/>
          <p:cNvSpPr txBox="1"/>
          <p:nvPr/>
        </p:nvSpPr>
        <p:spPr>
          <a:xfrm>
            <a:off x="740664" y="3136392"/>
            <a:ext cx="3304032" cy="420624"/>
          </a:xfrm>
          <a:prstGeom prst="rect">
            <a:avLst/>
          </a:prstGeom>
          <a:noFill/>
        </p:spPr>
        <p:txBody>
          <a:bodyPr wrap="square" rtlCol="0" anchor="t"/>
          <a:lstStyle/>
          <a:p>
            <a:r>
              <a:rPr lang="en-US" sz="1100" dirty="0">
                <a:solidFill>
                  <a:srgbClr val="575757"/>
                </a:solidFill>
                <a:latin typeface="Trebuchet MS"/>
              </a:rPr>
              <a:t>• Hire VP Govt Business — candidate shortlist from NIIT/TCS iON network (start Day 1)</a:t>
            </a:r>
          </a:p>
        </p:txBody>
      </p:sp>
      <p:sp>
        <p:nvSpPr>
          <p:cNvPr id="468" name="TB468"/>
          <p:cNvSpPr txBox="1"/>
          <p:nvPr/>
        </p:nvSpPr>
        <p:spPr>
          <a:xfrm>
            <a:off x="740664" y="3584448"/>
            <a:ext cx="3304032" cy="420624"/>
          </a:xfrm>
          <a:prstGeom prst="rect">
            <a:avLst/>
          </a:prstGeom>
          <a:noFill/>
        </p:spPr>
        <p:txBody>
          <a:bodyPr wrap="square" rtlCol="0" anchor="t"/>
          <a:lstStyle/>
          <a:p>
            <a:r>
              <a:rPr lang="en-US" sz="1100" dirty="0">
                <a:solidFill>
                  <a:srgbClr val="575757"/>
                </a:solidFill>
                <a:latin typeface="Trebuchet MS"/>
              </a:rPr>
              <a:t>• Initiate NCVET accreditation (90-day clock; start immediately)</a:t>
            </a:r>
          </a:p>
        </p:txBody>
      </p:sp>
      <p:sp>
        <p:nvSpPr>
          <p:cNvPr id="469" name="TB469"/>
          <p:cNvSpPr txBox="1"/>
          <p:nvPr/>
        </p:nvSpPr>
        <p:spPr>
          <a:xfrm>
            <a:off x="740664" y="4032504"/>
            <a:ext cx="3304032" cy="420624"/>
          </a:xfrm>
          <a:prstGeom prst="rect">
            <a:avLst/>
          </a:prstGeom>
          <a:noFill/>
        </p:spPr>
        <p:txBody>
          <a:bodyPr wrap="square" rtlCol="0" anchor="t"/>
          <a:lstStyle/>
          <a:p>
            <a:r>
              <a:rPr lang="en-US" sz="1100" dirty="0">
                <a:solidFill>
                  <a:srgbClr val="575757"/>
                </a:solidFill>
                <a:latin typeface="Trebuchet MS"/>
              </a:rPr>
              <a:t>• Register on GeM and CPPP portals</a:t>
            </a:r>
          </a:p>
        </p:txBody>
      </p:sp>
      <p:sp>
        <p:nvSpPr>
          <p:cNvPr id="470" name="TB470"/>
          <p:cNvSpPr txBox="1"/>
          <p:nvPr/>
        </p:nvSpPr>
        <p:spPr>
          <a:xfrm>
            <a:off x="740664" y="4480560"/>
            <a:ext cx="3304032" cy="420624"/>
          </a:xfrm>
          <a:prstGeom prst="rect">
            <a:avLst/>
          </a:prstGeom>
          <a:noFill/>
        </p:spPr>
        <p:txBody>
          <a:bodyPr wrap="square" rtlCol="0" anchor="t"/>
          <a:lstStyle/>
          <a:p>
            <a:r>
              <a:rPr lang="en-US" sz="1100" dirty="0">
                <a:solidFill>
                  <a:srgbClr val="575757"/>
                </a:solidFill>
                <a:latin typeface="Trebuchet MS"/>
              </a:rPr>
              <a:t>• Identify 5 priority PSU targets: SBI, NTPC, BSNL, Bank of Baroda, Indian Railways</a:t>
            </a:r>
          </a:p>
        </p:txBody>
      </p:sp>
      <p:sp>
        <p:nvSpPr>
          <p:cNvPr id="471" name="TB471"/>
          <p:cNvSpPr txBox="1"/>
          <p:nvPr/>
        </p:nvSpPr>
        <p:spPr>
          <a:xfrm>
            <a:off x="740664" y="4928616"/>
            <a:ext cx="3304032" cy="420624"/>
          </a:xfrm>
          <a:prstGeom prst="rect">
            <a:avLst/>
          </a:prstGeom>
          <a:noFill/>
        </p:spPr>
        <p:txBody>
          <a:bodyPr wrap="square" rtlCol="0" anchor="t"/>
          <a:lstStyle/>
          <a:p>
            <a:r>
              <a:rPr lang="en-US" sz="1100" dirty="0">
                <a:solidFill>
                  <a:srgbClr val="575757"/>
                </a:solidFill>
                <a:latin typeface="Trebuchet MS"/>
              </a:rPr>
              <a:t>• CEO-level outreach using existing Scaler employer relationships</a:t>
            </a:r>
          </a:p>
        </p:txBody>
      </p:sp>
      <p:sp>
        <p:nvSpPr>
          <p:cNvPr id="472" name="RR472"/>
          <p:cNvSpPr/>
          <p:nvPr/>
        </p:nvSpPr>
        <p:spPr>
          <a:xfrm>
            <a:off x="4337304" y="2752344"/>
            <a:ext cx="3523488" cy="262432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473" name="R473"/>
          <p:cNvSpPr/>
          <p:nvPr/>
        </p:nvSpPr>
        <p:spPr>
          <a:xfrm>
            <a:off x="4337304" y="2752344"/>
            <a:ext cx="3523488" cy="54864"/>
          </a:xfrm>
          <a:prstGeom prst="rect">
            <a:avLst/>
          </a:prstGeom>
          <a:solidFill>
            <a:srgbClr val="295E7E"/>
          </a:solidFill>
          <a:ln>
            <a:noFill/>
          </a:ln>
        </p:spPr>
        <p:txBody>
          <a:bodyPr/>
          <a:lstStyle/>
          <a:p>
            <a:endParaRPr lang="en-US"/>
          </a:p>
        </p:txBody>
      </p:sp>
      <p:sp>
        <p:nvSpPr>
          <p:cNvPr id="474" name="R474"/>
          <p:cNvSpPr/>
          <p:nvPr/>
        </p:nvSpPr>
        <p:spPr>
          <a:xfrm>
            <a:off x="4337304" y="2752344"/>
            <a:ext cx="3523488" cy="310896"/>
          </a:xfrm>
          <a:prstGeom prst="rect">
            <a:avLst/>
          </a:prstGeom>
          <a:solidFill>
            <a:srgbClr val="295E7E"/>
          </a:solidFill>
          <a:ln>
            <a:noFill/>
          </a:ln>
        </p:spPr>
        <p:txBody>
          <a:bodyPr/>
          <a:lstStyle/>
          <a:p>
            <a:endParaRPr lang="en-US"/>
          </a:p>
        </p:txBody>
      </p:sp>
      <p:sp>
        <p:nvSpPr>
          <p:cNvPr id="475" name="TB475"/>
          <p:cNvSpPr txBox="1"/>
          <p:nvPr/>
        </p:nvSpPr>
        <p:spPr>
          <a:xfrm>
            <a:off x="4428744" y="2752344"/>
            <a:ext cx="3340608" cy="310896"/>
          </a:xfrm>
          <a:prstGeom prst="rect">
            <a:avLst/>
          </a:prstGeom>
          <a:noFill/>
        </p:spPr>
        <p:txBody>
          <a:bodyPr wrap="square" rtlCol="0" anchor="ctr"/>
          <a:lstStyle/>
          <a:p>
            <a:r>
              <a:rPr lang="en-US" sz="1200" b="1" dirty="0">
                <a:solidFill>
                  <a:srgbClr val="FFFFFF"/>
                </a:solidFill>
                <a:latin typeface="Trebuchet MS"/>
              </a:rPr>
              <a:t>Days 31–60: First Bets</a:t>
            </a:r>
          </a:p>
        </p:txBody>
      </p:sp>
      <p:sp>
        <p:nvSpPr>
          <p:cNvPr id="476" name="TB476"/>
          <p:cNvSpPr txBox="1"/>
          <p:nvPr/>
        </p:nvSpPr>
        <p:spPr>
          <a:xfrm>
            <a:off x="4447032" y="3136392"/>
            <a:ext cx="3304032" cy="420624"/>
          </a:xfrm>
          <a:prstGeom prst="rect">
            <a:avLst/>
          </a:prstGeom>
          <a:noFill/>
        </p:spPr>
        <p:txBody>
          <a:bodyPr wrap="square" rtlCol="0" anchor="t"/>
          <a:lstStyle/>
          <a:p>
            <a:r>
              <a:rPr lang="en-US" sz="1100" dirty="0">
                <a:solidFill>
                  <a:srgbClr val="575757"/>
                </a:solidFill>
                <a:latin typeface="Trebuchet MS"/>
              </a:rPr>
              <a:t>• File 2–3 PSU RFP responses (SBI Digital Banking, NTPC Tech Modernisation)</a:t>
            </a:r>
          </a:p>
        </p:txBody>
      </p:sp>
      <p:sp>
        <p:nvSpPr>
          <p:cNvPr id="477" name="TB477"/>
          <p:cNvSpPr txBox="1"/>
          <p:nvPr/>
        </p:nvSpPr>
        <p:spPr>
          <a:xfrm>
            <a:off x="4447032" y="3584448"/>
            <a:ext cx="3304032" cy="420624"/>
          </a:xfrm>
          <a:prstGeom prst="rect">
            <a:avLst/>
          </a:prstGeom>
          <a:noFill/>
        </p:spPr>
        <p:txBody>
          <a:bodyPr wrap="square" rtlCol="0" anchor="t"/>
          <a:lstStyle/>
          <a:p>
            <a:r>
              <a:rPr lang="en-US" sz="1100" dirty="0">
                <a:solidFill>
                  <a:srgbClr val="575757"/>
                </a:solidFill>
                <a:latin typeface="Trebuchet MS"/>
              </a:rPr>
              <a:t>• Submit LOI for BITS Pilani / Manipal University curriculum partnership</a:t>
            </a:r>
          </a:p>
        </p:txBody>
      </p:sp>
      <p:sp>
        <p:nvSpPr>
          <p:cNvPr id="478" name="TB478"/>
          <p:cNvSpPr txBox="1"/>
          <p:nvPr/>
        </p:nvSpPr>
        <p:spPr>
          <a:xfrm>
            <a:off x="4447032" y="4032504"/>
            <a:ext cx="3304032" cy="420624"/>
          </a:xfrm>
          <a:prstGeom prst="rect">
            <a:avLst/>
          </a:prstGeom>
          <a:noFill/>
        </p:spPr>
        <p:txBody>
          <a:bodyPr wrap="square" rtlCol="0" anchor="t"/>
          <a:lstStyle/>
          <a:p>
            <a:r>
              <a:rPr lang="en-US" sz="1100" dirty="0">
                <a:solidFill>
                  <a:srgbClr val="575757"/>
                </a:solidFill>
                <a:latin typeface="Trebuchet MS"/>
              </a:rPr>
              <a:t>• Agree internal P&amp;L: B2G as standalone vertical with own headcount + budget</a:t>
            </a:r>
          </a:p>
        </p:txBody>
      </p:sp>
      <p:sp>
        <p:nvSpPr>
          <p:cNvPr id="479" name="TB479"/>
          <p:cNvSpPr txBox="1"/>
          <p:nvPr/>
        </p:nvSpPr>
        <p:spPr>
          <a:xfrm>
            <a:off x="4447032" y="4480560"/>
            <a:ext cx="3304032" cy="420624"/>
          </a:xfrm>
          <a:prstGeom prst="rect">
            <a:avLst/>
          </a:prstGeom>
          <a:noFill/>
        </p:spPr>
        <p:txBody>
          <a:bodyPr wrap="square" rtlCol="0" anchor="t"/>
          <a:lstStyle/>
          <a:p>
            <a:r>
              <a:rPr lang="en-US" sz="1100" dirty="0">
                <a:solidFill>
                  <a:srgbClr val="575757"/>
                </a:solidFill>
                <a:latin typeface="Trebuchet MS"/>
              </a:rPr>
              <a:t>• Build govt curriculum variant (AI/ML aligned to NQF L5–L6)</a:t>
            </a:r>
          </a:p>
        </p:txBody>
      </p:sp>
      <p:sp>
        <p:nvSpPr>
          <p:cNvPr id="480" name="TB480"/>
          <p:cNvSpPr txBox="1"/>
          <p:nvPr/>
        </p:nvSpPr>
        <p:spPr>
          <a:xfrm>
            <a:off x="4447032" y="4928616"/>
            <a:ext cx="3304032" cy="420624"/>
          </a:xfrm>
          <a:prstGeom prst="rect">
            <a:avLst/>
          </a:prstGeom>
          <a:noFill/>
        </p:spPr>
        <p:txBody>
          <a:bodyPr wrap="square" rtlCol="0" anchor="t"/>
          <a:lstStyle/>
          <a:p>
            <a:r>
              <a:rPr lang="en-US" sz="1100" dirty="0">
                <a:solidFill>
                  <a:srgbClr val="575757"/>
                </a:solidFill>
                <a:latin typeface="Trebuchet MS"/>
              </a:rPr>
              <a:t>• Appoint Tender Specialist and Legal/Compliance Analyst</a:t>
            </a:r>
          </a:p>
        </p:txBody>
      </p:sp>
      <p:sp>
        <p:nvSpPr>
          <p:cNvPr id="481" name="RR481"/>
          <p:cNvSpPr/>
          <p:nvPr/>
        </p:nvSpPr>
        <p:spPr>
          <a:xfrm>
            <a:off x="8043672" y="2752344"/>
            <a:ext cx="3523488" cy="2624328"/>
          </a:xfrm>
          <a:prstGeom prst="roundRect">
            <a:avLst>
              <a:gd name="adj" fmla="val 5000"/>
            </a:avLst>
          </a:prstGeom>
          <a:solidFill>
            <a:srgbClr val="EEF3FF"/>
          </a:solidFill>
          <a:ln>
            <a:noFill/>
          </a:ln>
          <a:effectLst>
            <a:outerShdw blurRad="50800" dist="25400" dir="8100000" algn="tl" rotWithShape="0">
              <a:srgbClr val="000000">
                <a:alpha val="8000"/>
              </a:srgbClr>
            </a:outerShdw>
          </a:effectLst>
        </p:spPr>
        <p:txBody>
          <a:bodyPr/>
          <a:lstStyle/>
          <a:p>
            <a:endParaRPr lang="en-US"/>
          </a:p>
        </p:txBody>
      </p:sp>
      <p:sp>
        <p:nvSpPr>
          <p:cNvPr id="482" name="R482"/>
          <p:cNvSpPr/>
          <p:nvPr/>
        </p:nvSpPr>
        <p:spPr>
          <a:xfrm>
            <a:off x="8043672" y="2752344"/>
            <a:ext cx="3523488" cy="54864"/>
          </a:xfrm>
          <a:prstGeom prst="rect">
            <a:avLst/>
          </a:prstGeom>
          <a:solidFill>
            <a:srgbClr val="575757"/>
          </a:solidFill>
          <a:ln>
            <a:noFill/>
          </a:ln>
        </p:spPr>
        <p:txBody>
          <a:bodyPr/>
          <a:lstStyle/>
          <a:p>
            <a:endParaRPr lang="en-US"/>
          </a:p>
        </p:txBody>
      </p:sp>
      <p:sp>
        <p:nvSpPr>
          <p:cNvPr id="483" name="R483"/>
          <p:cNvSpPr/>
          <p:nvPr/>
        </p:nvSpPr>
        <p:spPr>
          <a:xfrm>
            <a:off x="8043672" y="2752344"/>
            <a:ext cx="3523488" cy="310896"/>
          </a:xfrm>
          <a:prstGeom prst="rect">
            <a:avLst/>
          </a:prstGeom>
          <a:solidFill>
            <a:srgbClr val="575757"/>
          </a:solidFill>
          <a:ln>
            <a:noFill/>
          </a:ln>
        </p:spPr>
        <p:txBody>
          <a:bodyPr/>
          <a:lstStyle/>
          <a:p>
            <a:endParaRPr lang="en-US"/>
          </a:p>
        </p:txBody>
      </p:sp>
      <p:sp>
        <p:nvSpPr>
          <p:cNvPr id="484" name="TB484"/>
          <p:cNvSpPr txBox="1"/>
          <p:nvPr/>
        </p:nvSpPr>
        <p:spPr>
          <a:xfrm>
            <a:off x="8135112" y="2752344"/>
            <a:ext cx="3340608" cy="310896"/>
          </a:xfrm>
          <a:prstGeom prst="rect">
            <a:avLst/>
          </a:prstGeom>
          <a:noFill/>
        </p:spPr>
        <p:txBody>
          <a:bodyPr wrap="square" rtlCol="0" anchor="ctr"/>
          <a:lstStyle/>
          <a:p>
            <a:r>
              <a:rPr lang="en-US" sz="1200" b="1" dirty="0">
                <a:solidFill>
                  <a:srgbClr val="FFFFFF"/>
                </a:solidFill>
                <a:latin typeface="Trebuchet MS"/>
              </a:rPr>
              <a:t>Days 61–90: Pilot &amp; Gate</a:t>
            </a:r>
          </a:p>
        </p:txBody>
      </p:sp>
      <p:sp>
        <p:nvSpPr>
          <p:cNvPr id="485" name="TB485"/>
          <p:cNvSpPr txBox="1"/>
          <p:nvPr/>
        </p:nvSpPr>
        <p:spPr>
          <a:xfrm>
            <a:off x="8153399" y="3136392"/>
            <a:ext cx="3304032" cy="420624"/>
          </a:xfrm>
          <a:prstGeom prst="rect">
            <a:avLst/>
          </a:prstGeom>
          <a:noFill/>
        </p:spPr>
        <p:txBody>
          <a:bodyPr wrap="square" rtlCol="0" anchor="t"/>
          <a:lstStyle/>
          <a:p>
            <a:r>
              <a:rPr lang="en-US" sz="1100" dirty="0">
                <a:solidFill>
                  <a:srgbClr val="575757"/>
                </a:solidFill>
                <a:latin typeface="Trebuchet MS"/>
              </a:rPr>
              <a:t>• Advance at least 1 PSU contract to LOI stage</a:t>
            </a:r>
          </a:p>
        </p:txBody>
      </p:sp>
      <p:sp>
        <p:nvSpPr>
          <p:cNvPr id="486" name="TB486"/>
          <p:cNvSpPr txBox="1"/>
          <p:nvPr/>
        </p:nvSpPr>
        <p:spPr>
          <a:xfrm>
            <a:off x="8153399" y="3584448"/>
            <a:ext cx="3304032" cy="420624"/>
          </a:xfrm>
          <a:prstGeom prst="rect">
            <a:avLst/>
          </a:prstGeom>
          <a:noFill/>
        </p:spPr>
        <p:txBody>
          <a:bodyPr wrap="square" rtlCol="0" anchor="t"/>
          <a:lstStyle/>
          <a:p>
            <a:r>
              <a:rPr lang="en-US" sz="1100" dirty="0">
                <a:solidFill>
                  <a:srgbClr val="575757"/>
                </a:solidFill>
                <a:latin typeface="Trebuchet MS"/>
              </a:rPr>
              <a:t>• Launch BITS Pilani university pilot (first 50 students)</a:t>
            </a:r>
          </a:p>
        </p:txBody>
      </p:sp>
      <p:sp>
        <p:nvSpPr>
          <p:cNvPr id="487" name="TB487"/>
          <p:cNvSpPr txBox="1"/>
          <p:nvPr/>
        </p:nvSpPr>
        <p:spPr>
          <a:xfrm>
            <a:off x="8153399" y="4032504"/>
            <a:ext cx="3304032" cy="420624"/>
          </a:xfrm>
          <a:prstGeom prst="rect">
            <a:avLst/>
          </a:prstGeom>
          <a:noFill/>
        </p:spPr>
        <p:txBody>
          <a:bodyPr wrap="square" rtlCol="0" anchor="t"/>
          <a:lstStyle/>
          <a:p>
            <a:r>
              <a:rPr lang="en-US" sz="1100" dirty="0">
                <a:solidFill>
                  <a:srgbClr val="575757"/>
                </a:solidFill>
                <a:latin typeface="Trebuchet MS"/>
              </a:rPr>
              <a:t>• 30-day team review: is BD talent the right fit?</a:t>
            </a:r>
          </a:p>
        </p:txBody>
      </p:sp>
      <p:sp>
        <p:nvSpPr>
          <p:cNvPr id="488" name="TB488"/>
          <p:cNvSpPr txBox="1"/>
          <p:nvPr/>
        </p:nvSpPr>
        <p:spPr>
          <a:xfrm>
            <a:off x="8153399" y="4480560"/>
            <a:ext cx="3304032" cy="420624"/>
          </a:xfrm>
          <a:prstGeom prst="rect">
            <a:avLst/>
          </a:prstGeom>
          <a:noFill/>
        </p:spPr>
        <p:txBody>
          <a:bodyPr wrap="square" rtlCol="0" anchor="t"/>
          <a:lstStyle/>
          <a:p>
            <a:r>
              <a:rPr lang="en-US" sz="1100" dirty="0">
                <a:solidFill>
                  <a:srgbClr val="575757"/>
                </a:solidFill>
                <a:latin typeface="Trebuchet MS"/>
              </a:rPr>
              <a:t>• CEO gate: on track for 3 signed contracts by Month 12?</a:t>
            </a:r>
          </a:p>
        </p:txBody>
      </p:sp>
      <p:sp>
        <p:nvSpPr>
          <p:cNvPr id="489" name="TB489"/>
          <p:cNvSpPr txBox="1"/>
          <p:nvPr/>
        </p:nvSpPr>
        <p:spPr>
          <a:xfrm>
            <a:off x="8153399" y="4928616"/>
            <a:ext cx="3304032" cy="420624"/>
          </a:xfrm>
          <a:prstGeom prst="rect">
            <a:avLst/>
          </a:prstGeom>
          <a:noFill/>
        </p:spPr>
        <p:txBody>
          <a:bodyPr wrap="square" rtlCol="0" anchor="t"/>
          <a:lstStyle/>
          <a:p>
            <a:r>
              <a:rPr lang="en-US" sz="1100" dirty="0">
                <a:solidFill>
                  <a:srgbClr val="575757"/>
                </a:solidFill>
                <a:latin typeface="Trebuchet MS"/>
              </a:rPr>
              <a:t>• Approve Year 2 budget on pipeline strength — or trigger pivot review</a:t>
            </a:r>
          </a:p>
        </p:txBody>
      </p:sp>
      <p:sp>
        <p:nvSpPr>
          <p:cNvPr id="490" name="RR490"/>
          <p:cNvSpPr/>
          <p:nvPr/>
        </p:nvSpPr>
        <p:spPr>
          <a:xfrm>
            <a:off x="630936" y="5504688"/>
            <a:ext cx="10936224" cy="438912"/>
          </a:xfrm>
          <a:prstGeom prst="roundRect">
            <a:avLst>
              <a:gd name="adj" fmla="val 5000"/>
            </a:avLst>
          </a:prstGeom>
          <a:solidFill>
            <a:srgbClr val="EEF3FF"/>
          </a:solidFill>
          <a:ln w="25400">
            <a:solidFill>
              <a:srgbClr val="1557FE"/>
            </a:solidFill>
          </a:ln>
        </p:spPr>
        <p:txBody>
          <a:bodyPr/>
          <a:lstStyle/>
          <a:p>
            <a:endParaRPr lang="en-US"/>
          </a:p>
        </p:txBody>
      </p:sp>
      <p:sp>
        <p:nvSpPr>
          <p:cNvPr id="491" name="TB491"/>
          <p:cNvSpPr txBox="1"/>
          <p:nvPr/>
        </p:nvSpPr>
        <p:spPr>
          <a:xfrm>
            <a:off x="795527" y="5559551"/>
            <a:ext cx="10607040" cy="329184"/>
          </a:xfrm>
          <a:prstGeom prst="rect">
            <a:avLst/>
          </a:prstGeom>
          <a:noFill/>
        </p:spPr>
        <p:txBody>
          <a:bodyPr wrap="square" rtlCol="0" anchor="ctr"/>
          <a:lstStyle/>
          <a:p>
            <a:r>
              <a:rPr lang="en-US" sz="1200" b="1" dirty="0">
                <a:solidFill>
                  <a:srgbClr val="1557FE"/>
                </a:solidFill>
                <a:latin typeface="Trebuchet MS"/>
              </a:rPr>
              <a:t>Decision Gate (Month 12): </a:t>
            </a:r>
            <a:r>
              <a:rPr lang="en-US" sz="1200" dirty="0">
                <a:solidFill>
                  <a:srgbClr val="575757"/>
                </a:solidFill>
                <a:latin typeface="Trebuchet MS"/>
              </a:rPr>
              <a:t>3 signed contracts → approve ₹8 Cr Year 2 scale budget.  Fewer than 3 → pivot to B2B-adjacent government consulting.  Decision is binary and the timeline is fixed.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369</TotalTime>
  <Words>2964</Words>
  <Application>Microsoft Office PowerPoint</Application>
  <PresentationFormat>Widescreen</PresentationFormat>
  <Paragraphs>338</Paragraphs>
  <Slides>14</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14</vt:i4>
      </vt:variant>
      <vt:variant>
        <vt:lpstr>Custom Shows</vt:lpstr>
      </vt:variant>
      <vt:variant>
        <vt:i4>1</vt:i4>
      </vt:variant>
    </vt:vector>
  </HeadingPairs>
  <TitlesOfParts>
    <vt:vector size="19" baseType="lpstr">
      <vt:lpstr>Arial</vt:lpstr>
      <vt:lpstr>Trebuchet MS</vt:lpstr>
      <vt:lpstr>BCG Grid 16:9</vt:lpstr>
      <vt:lpstr>think-cell Slide</vt:lpstr>
      <vt:lpstr>Scaler B2G Expansion  |  Should We Enter?</vt:lpstr>
      <vt:lpstr>Scaler should enter B2G now — the PSU &amp; Central Govt tech-skilling window is open</vt:lpstr>
      <vt:lpstr>India's ₹8,650 Cr govt skilling market is real — and 2026 has broken it wide open</vt:lpstr>
      <vt:lpstr>₹14,450 Cr spent, &lt;20% placed — the B2G graveyard reveals exactly the white space</vt:lpstr>
      <vt:lpstr>Devil's advocate: five hard questions the CEO must answer before writing the cheque</vt:lpstr>
      <vt:lpstr>Five structural breaks make India's 2026 B2G market unrecognisable from what failed</vt:lpstr>
      <vt:lpstr>Incumbents own volume; the tech-outcomes premium tier is structurally uncontested</vt:lpstr>
      <vt:lpstr>Scaler's placement outcomes and tech depth match exactly what govt is now buying</vt:lpstr>
      <vt:lpstr>PSU contracts pay 3x per candidate — B2G economics only work at the right tier</vt:lpstr>
      <vt:lpstr>EBITDA positive by FY27 and ₹93 Cr revenue by FY30 — B2G is a real business</vt:lpstr>
      <vt:lpstr>Govt BD is a distinct capability — Scaler must build it, not borrow it from B2B</vt:lpstr>
      <vt:lpstr>Year 1 plants the flag; Year 3 turns B2G into Scaler's structural competitive moat</vt:lpstr>
      <vt:lpstr>The next 90 days decide whether Scaler builds a ₹93 Cr vertical — five moves now</vt:lpstr>
      <vt:lpstr>PowerPoint Presentation</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Boston Consulting Group</dc:creator>
  <cp:lastModifiedBy>Bhattacharya, Bodhisatwa</cp:lastModifiedBy>
  <cp:revision>440</cp:revision>
  <cp:lastPrinted>2016-04-06T18:59:25Z</cp:lastPrinted>
  <dcterms:created xsi:type="dcterms:W3CDTF">2016-11-04T11:46:04Z</dcterms:created>
  <dcterms:modified xsi:type="dcterms:W3CDTF">2026-04-28T15:31:20Z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2026-03-02T22:47:51Z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1d0d9304-b604-40c5-9b39-c9e5f6258716</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ies>
</file>