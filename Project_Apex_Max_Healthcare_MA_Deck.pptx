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charts/chart1.xml" ContentType="application/vnd.openxmlformats-officedocument.drawingml.chart+xml"/>
  <Override PartName="/ppt/tags/tag33.xml" ContentType="application/vnd.openxmlformats-officedocument.presentationml.tags+xml"/>
  <Override PartName="/ppt/charts/chart2.xml" ContentType="application/vnd.openxmlformats-officedocument.drawingml.chart+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charts/chart3.xml" ContentType="application/vnd.openxmlformats-officedocument.drawingml.chart+xml"/>
  <Override PartName="/ppt/tags/tag38.xml" ContentType="application/vnd.openxmlformats-officedocument.presentationml.tags+xml"/>
  <Override PartName="/ppt/charts/chart4.xml" ContentType="application/vnd.openxmlformats-officedocument.drawingml.chart+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charts/chart5.xml" ContentType="application/vnd.openxmlformats-officedocument.drawingml.chart+xml"/>
  <Override PartName="/ppt/tags/tag42.xml" ContentType="application/vnd.openxmlformats-officedocument.presentationml.tags+xml"/>
  <Override PartName="/ppt/tags/tag43.xml" ContentType="application/vnd.openxmlformats-officedocument.presentationml.tags+xml"/>
  <Override PartName="/ppt/charts/chart6.xml" ContentType="application/vnd.openxmlformats-officedocument.drawingml.chart+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17" r:id="rId1"/>
  </p:sldMasterIdLst>
  <p:notesMasterIdLst>
    <p:notesMasterId r:id="rId18"/>
  </p:notesMasterIdLst>
  <p:handoutMasterIdLst>
    <p:handoutMasterId r:id="rId1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12192000" cy="6858000"/>
  <p:notesSz cx="6950075" cy="9236075"/>
  <p:custShowLst>
    <p:custShow name="Format Guide Workshop" id="0">
      <p:sldLst/>
    </p:custShow>
  </p:custShowLst>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2852"/>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6323" autoAdjust="0"/>
  </p:normalViewPr>
  <p:slideViewPr>
    <p:cSldViewPr snapToGrid="0">
      <p:cViewPr>
        <p:scale>
          <a:sx n="100" d="100"/>
          <a:sy n="100" d="100"/>
        </p:scale>
        <p:origin x="340" y="2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Hospitals (₹ '000 Cr)</c:v>
                </c:pt>
              </c:strCache>
            </c:strRef>
          </c:tx>
          <c:spPr>
            <a:solidFill>
              <a:srgbClr val="242852"/>
            </a:solidFill>
          </c:spPr>
          <c:invertIfNegative val="1"/>
          <c:cat>
            <c:strRef>
              <c:f>Sheet1!$A$2:$A$7</c:f>
              <c:strCache>
                <c:ptCount val="6"/>
                <c:pt idx="0">
                  <c:v>FY20</c:v>
                </c:pt>
                <c:pt idx="1">
                  <c:v>FY22</c:v>
                </c:pt>
                <c:pt idx="2">
                  <c:v>FY24</c:v>
                </c:pt>
                <c:pt idx="3">
                  <c:v>FY26E</c:v>
                </c:pt>
                <c:pt idx="4">
                  <c:v>FY28E</c:v>
                </c:pt>
                <c:pt idx="5">
                  <c:v>FY30E</c:v>
                </c:pt>
              </c:strCache>
            </c:strRef>
          </c:cat>
          <c:val>
            <c:numRef>
              <c:f>Sheet1!$B$2:$B$7</c:f>
              <c:numCache>
                <c:formatCode>General</c:formatCode>
                <c:ptCount val="6"/>
                <c:pt idx="0">
                  <c:v>580</c:v>
                </c:pt>
                <c:pt idx="1">
                  <c:v>720</c:v>
                </c:pt>
                <c:pt idx="2">
                  <c:v>960</c:v>
                </c:pt>
                <c:pt idx="3">
                  <c:v>1280</c:v>
                </c:pt>
                <c:pt idx="4">
                  <c:v>1680</c:v>
                </c:pt>
                <c:pt idx="5">
                  <c:v>2150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20A-4059-AAAD-5F67A155BA52}"/>
            </c:ext>
          </c:extLst>
        </c:ser>
        <c:ser>
          <c:idx val="1"/>
          <c:order val="1"/>
          <c:tx>
            <c:strRef>
              <c:f>Sheet1!$C$1</c:f>
              <c:strCache>
                <c:ptCount val="1"/>
                <c:pt idx="0">
                  <c:v>Diagnostics &amp; Pharma (₹ '000 Cr)</c:v>
                </c:pt>
              </c:strCache>
            </c:strRef>
          </c:tx>
          <c:spPr>
            <a:solidFill>
              <a:srgbClr val="4A66AC"/>
            </a:solidFill>
          </c:spPr>
          <c:invertIfNegative val="1"/>
          <c:cat>
            <c:strRef>
              <c:f>Sheet1!$A$2:$A$7</c:f>
              <c:strCache>
                <c:ptCount val="6"/>
                <c:pt idx="0">
                  <c:v>FY20</c:v>
                </c:pt>
                <c:pt idx="1">
                  <c:v>FY22</c:v>
                </c:pt>
                <c:pt idx="2">
                  <c:v>FY24</c:v>
                </c:pt>
                <c:pt idx="3">
                  <c:v>FY26E</c:v>
                </c:pt>
                <c:pt idx="4">
                  <c:v>FY28E</c:v>
                </c:pt>
                <c:pt idx="5">
                  <c:v>FY30E</c:v>
                </c:pt>
              </c:strCache>
            </c:strRef>
          </c:cat>
          <c:val>
            <c:numRef>
              <c:f>Sheet1!$C$2:$C$7</c:f>
              <c:numCache>
                <c:formatCode>General</c:formatCode>
                <c:ptCount val="6"/>
                <c:pt idx="0">
                  <c:v>420</c:v>
                </c:pt>
                <c:pt idx="1">
                  <c:v>500</c:v>
                </c:pt>
                <c:pt idx="2">
                  <c:v>640</c:v>
                </c:pt>
                <c:pt idx="3">
                  <c:v>820</c:v>
                </c:pt>
                <c:pt idx="4">
                  <c:v>1020</c:v>
                </c:pt>
                <c:pt idx="5">
                  <c:v>1280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820A-4059-AAAD-5F67A155BA52}"/>
            </c:ext>
          </c:extLst>
        </c:ser>
        <c:dLbls>
          <c:showLegendKey val="0"/>
          <c:showVal val="0"/>
          <c:showCatName val="0"/>
          <c:showSerName val="0"/>
          <c:showPercent val="0"/>
          <c:showBubbleSize val="0"/>
        </c:dLbls>
        <c:gapWidth val="150"/>
        <c:axId val="79456312"/>
        <c:axId val="33489208"/>
      </c:barChart>
      <c:catAx>
        <c:axId val="79456312"/>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33489208"/>
        <c:crosses val="autoZero"/>
        <c:auto val="1"/>
        <c:lblAlgn val="ctr"/>
        <c:lblOffset val="100"/>
        <c:noMultiLvlLbl val="0"/>
      </c:catAx>
      <c:valAx>
        <c:axId val="33489208"/>
        <c:scaling>
          <c:orientation val="minMax"/>
        </c:scaling>
        <c:delete val="0"/>
        <c:axPos val="l"/>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79456312"/>
        <c:crosses val="autoZero"/>
        <c:crossBetween val="between"/>
      </c:valAx>
    </c:plotArea>
    <c:legend>
      <c:legendPos val="b"/>
      <c:overlay val="0"/>
      <c:txPr>
        <a:bodyPr/>
        <a:lstStyle/>
        <a:p>
          <a:pPr>
            <a:defRPr sz="900">
              <a:solidFill>
                <a:srgbClr val="575757"/>
              </a:solidFill>
              <a:latin typeface="Trebuchet M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North</c:v>
                </c:pt>
              </c:strCache>
            </c:strRef>
          </c:tx>
          <c:spPr>
            <a:solidFill>
              <a:srgbClr val="242852"/>
            </a:solidFill>
          </c:spPr>
          <c:invertIfNegative val="1"/>
          <c:cat>
            <c:strRef>
              <c:f>Sheet1!$A$2:$A$7</c:f>
              <c:strCache>
                <c:ptCount val="6"/>
                <c:pt idx="0">
                  <c:v>Apollo</c:v>
                </c:pt>
                <c:pt idx="1">
                  <c:v>Manipal</c:v>
                </c:pt>
                <c:pt idx="2">
                  <c:v>Max Healthcare</c:v>
                </c:pt>
                <c:pt idx="3">
                  <c:v>Fortis</c:v>
                </c:pt>
                <c:pt idx="4">
                  <c:v>Narayana</c:v>
                </c:pt>
                <c:pt idx="5">
                  <c:v>Aster (India)</c:v>
                </c:pt>
              </c:strCache>
            </c:strRef>
          </c:cat>
          <c:val>
            <c:numRef>
              <c:f>Sheet1!$B$2:$B$7</c:f>
              <c:numCache>
                <c:formatCode>General</c:formatCode>
                <c:ptCount val="6"/>
                <c:pt idx="0">
                  <c:v>22</c:v>
                </c:pt>
                <c:pt idx="1">
                  <c:v>8</c:v>
                </c:pt>
                <c:pt idx="2">
                  <c:v>78</c:v>
                </c:pt>
                <c:pt idx="3">
                  <c:v>45</c:v>
                </c:pt>
                <c:pt idx="4">
                  <c:v>5</c:v>
                </c:pt>
                <c:pt idx="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497-400F-A7A4-3D7C5B65D407}"/>
            </c:ext>
          </c:extLst>
        </c:ser>
        <c:ser>
          <c:idx val="1"/>
          <c:order val="1"/>
          <c:tx>
            <c:strRef>
              <c:f>Sheet1!$C$1</c:f>
              <c:strCache>
                <c:ptCount val="1"/>
                <c:pt idx="0">
                  <c:v>South</c:v>
                </c:pt>
              </c:strCache>
            </c:strRef>
          </c:tx>
          <c:spPr>
            <a:solidFill>
              <a:srgbClr val="4A66AC"/>
            </a:solidFill>
          </c:spPr>
          <c:invertIfNegative val="1"/>
          <c:cat>
            <c:strRef>
              <c:f>Sheet1!$A$2:$A$7</c:f>
              <c:strCache>
                <c:ptCount val="6"/>
                <c:pt idx="0">
                  <c:v>Apollo</c:v>
                </c:pt>
                <c:pt idx="1">
                  <c:v>Manipal</c:v>
                </c:pt>
                <c:pt idx="2">
                  <c:v>Max Healthcare</c:v>
                </c:pt>
                <c:pt idx="3">
                  <c:v>Fortis</c:v>
                </c:pt>
                <c:pt idx="4">
                  <c:v>Narayana</c:v>
                </c:pt>
                <c:pt idx="5">
                  <c:v>Aster (India)</c:v>
                </c:pt>
              </c:strCache>
            </c:strRef>
          </c:cat>
          <c:val>
            <c:numRef>
              <c:f>Sheet1!$C$2:$C$7</c:f>
              <c:numCache>
                <c:formatCode>General</c:formatCode>
                <c:ptCount val="6"/>
                <c:pt idx="0">
                  <c:v>55</c:v>
                </c:pt>
                <c:pt idx="1">
                  <c:v>62</c:v>
                </c:pt>
                <c:pt idx="2">
                  <c:v>0</c:v>
                </c:pt>
                <c:pt idx="3">
                  <c:v>12</c:v>
                </c:pt>
                <c:pt idx="4">
                  <c:v>70</c:v>
                </c:pt>
                <c:pt idx="5">
                  <c:v>88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2497-400F-A7A4-3D7C5B65D407}"/>
            </c:ext>
          </c:extLst>
        </c:ser>
        <c:ser>
          <c:idx val="2"/>
          <c:order val="2"/>
          <c:tx>
            <c:strRef>
              <c:f>Sheet1!$D$1</c:f>
              <c:strCache>
                <c:ptCount val="1"/>
                <c:pt idx="0">
                  <c:v>West</c:v>
                </c:pt>
              </c:strCache>
            </c:strRef>
          </c:tx>
          <c:spPr>
            <a:solidFill>
              <a:srgbClr val="629DD1"/>
            </a:solidFill>
          </c:spPr>
          <c:invertIfNegative val="1"/>
          <c:cat>
            <c:strRef>
              <c:f>Sheet1!$A$2:$A$7</c:f>
              <c:strCache>
                <c:ptCount val="6"/>
                <c:pt idx="0">
                  <c:v>Apollo</c:v>
                </c:pt>
                <c:pt idx="1">
                  <c:v>Manipal</c:v>
                </c:pt>
                <c:pt idx="2">
                  <c:v>Max Healthcare</c:v>
                </c:pt>
                <c:pt idx="3">
                  <c:v>Fortis</c:v>
                </c:pt>
                <c:pt idx="4">
                  <c:v>Narayana</c:v>
                </c:pt>
                <c:pt idx="5">
                  <c:v>Aster (India)</c:v>
                </c:pt>
              </c:strCache>
            </c:strRef>
          </c:cat>
          <c:val>
            <c:numRef>
              <c:f>Sheet1!$D$2:$D$7</c:f>
              <c:numCache>
                <c:formatCode>General</c:formatCode>
                <c:ptCount val="6"/>
                <c:pt idx="0">
                  <c:v>15</c:v>
                </c:pt>
                <c:pt idx="1">
                  <c:v>22</c:v>
                </c:pt>
                <c:pt idx="2">
                  <c:v>12</c:v>
                </c:pt>
                <c:pt idx="3">
                  <c:v>28</c:v>
                </c:pt>
                <c:pt idx="4">
                  <c:v>12</c:v>
                </c:pt>
                <c:pt idx="5">
                  <c:v>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497-400F-A7A4-3D7C5B65D407}"/>
            </c:ext>
          </c:extLst>
        </c:ser>
        <c:ser>
          <c:idx val="3"/>
          <c:order val="3"/>
          <c:tx>
            <c:strRef>
              <c:f>Sheet1!$E$1</c:f>
              <c:strCache>
                <c:ptCount val="1"/>
                <c:pt idx="0">
                  <c:v>East</c:v>
                </c:pt>
              </c:strCache>
            </c:strRef>
          </c:tx>
          <c:spPr>
            <a:solidFill>
              <a:srgbClr val="ACCBF9"/>
            </a:solidFill>
          </c:spPr>
          <c:invertIfNegative val="1"/>
          <c:cat>
            <c:strRef>
              <c:f>Sheet1!$A$2:$A$7</c:f>
              <c:strCache>
                <c:ptCount val="6"/>
                <c:pt idx="0">
                  <c:v>Apollo</c:v>
                </c:pt>
                <c:pt idx="1">
                  <c:v>Manipal</c:v>
                </c:pt>
                <c:pt idx="2">
                  <c:v>Max Healthcare</c:v>
                </c:pt>
                <c:pt idx="3">
                  <c:v>Fortis</c:v>
                </c:pt>
                <c:pt idx="4">
                  <c:v>Narayana</c:v>
                </c:pt>
                <c:pt idx="5">
                  <c:v>Aster (India)</c:v>
                </c:pt>
              </c:strCache>
            </c:strRef>
          </c:cat>
          <c:val>
            <c:numRef>
              <c:f>Sheet1!$E$2:$E$7</c:f>
              <c:numCache>
                <c:formatCode>General</c:formatCode>
                <c:ptCount val="6"/>
                <c:pt idx="0">
                  <c:v>8</c:v>
                </c:pt>
                <c:pt idx="1">
                  <c:v>8</c:v>
                </c:pt>
                <c:pt idx="2">
                  <c:v>10</c:v>
                </c:pt>
                <c:pt idx="3">
                  <c:v>15</c:v>
                </c:pt>
                <c:pt idx="4">
                  <c:v>13</c:v>
                </c:pt>
                <c:pt idx="5">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497-400F-A7A4-3D7C5B65D407}"/>
            </c:ext>
          </c:extLst>
        </c:ser>
        <c:dLbls>
          <c:showLegendKey val="0"/>
          <c:showVal val="0"/>
          <c:showCatName val="0"/>
          <c:showSerName val="0"/>
          <c:showPercent val="0"/>
          <c:showBubbleSize val="0"/>
        </c:dLbls>
        <c:gapWidth val="150"/>
        <c:overlap val="100"/>
        <c:axId val="79456312"/>
        <c:axId val="33489208"/>
      </c:barChart>
      <c:catAx>
        <c:axId val="79456312"/>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33489208"/>
        <c:crosses val="autoZero"/>
        <c:auto val="1"/>
        <c:lblAlgn val="ctr"/>
        <c:lblOffset val="100"/>
        <c:noMultiLvlLbl val="0"/>
      </c:catAx>
      <c:valAx>
        <c:axId val="33489208"/>
        <c:scaling>
          <c:orientation val="minMax"/>
        </c:scaling>
        <c:delete val="0"/>
        <c:axPos val="l"/>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79456312"/>
        <c:crosses val="autoZero"/>
        <c:crossBetween val="between"/>
      </c:valAx>
    </c:plotArea>
    <c:legend>
      <c:legendPos val="b"/>
      <c:overlay val="0"/>
      <c:txPr>
        <a:bodyPr/>
        <a:lstStyle/>
        <a:p>
          <a:pPr>
            <a:defRPr sz="900">
              <a:solidFill>
                <a:srgbClr val="575757"/>
              </a:solidFill>
              <a:latin typeface="Trebuchet M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Revenue (₹ Cr)</c:v>
                </c:pt>
              </c:strCache>
            </c:strRef>
          </c:tx>
          <c:spPr>
            <a:solidFill>
              <a:srgbClr val="242852"/>
            </a:solidFill>
          </c:spPr>
          <c:invertIfNegative val="1"/>
          <c:cat>
            <c:strRef>
              <c:f>Sheet1!$A$2:$A$6</c:f>
              <c:strCache>
                <c:ptCount val="5"/>
                <c:pt idx="0">
                  <c:v>FY22</c:v>
                </c:pt>
                <c:pt idx="1">
                  <c:v>FY23</c:v>
                </c:pt>
                <c:pt idx="2">
                  <c:v>FY24</c:v>
                </c:pt>
                <c:pt idx="3">
                  <c:v>FY25</c:v>
                </c:pt>
                <c:pt idx="4">
                  <c:v>FY26E</c:v>
                </c:pt>
              </c:strCache>
            </c:strRef>
          </c:cat>
          <c:val>
            <c:numRef>
              <c:f>Sheet1!$B$2:$B$6</c:f>
              <c:numCache>
                <c:formatCode>General</c:formatCode>
                <c:ptCount val="5"/>
                <c:pt idx="0">
                  <c:v>1450</c:v>
                </c:pt>
                <c:pt idx="1">
                  <c:v>1820</c:v>
                </c:pt>
                <c:pt idx="2">
                  <c:v>2280</c:v>
                </c:pt>
                <c:pt idx="3">
                  <c:v>2800</c:v>
                </c:pt>
                <c:pt idx="4">
                  <c:v>3360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921-4276-8487-1F5D875E0E1D}"/>
            </c:ext>
          </c:extLst>
        </c:ser>
        <c:dLbls>
          <c:showLegendKey val="0"/>
          <c:showVal val="0"/>
          <c:showCatName val="0"/>
          <c:showSerName val="0"/>
          <c:showPercent val="0"/>
          <c:showBubbleSize val="0"/>
        </c:dLbls>
        <c:gapWidth val="150"/>
        <c:axId val="79456312"/>
        <c:axId val="33489208"/>
      </c:barChart>
      <c:catAx>
        <c:axId val="79456312"/>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33489208"/>
        <c:crosses val="autoZero"/>
        <c:auto val="1"/>
        <c:lblAlgn val="ctr"/>
        <c:lblOffset val="100"/>
        <c:noMultiLvlLbl val="0"/>
      </c:catAx>
      <c:valAx>
        <c:axId val="33489208"/>
        <c:scaling>
          <c:orientation val="minMax"/>
        </c:scaling>
        <c:delete val="0"/>
        <c:axPos val="l"/>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79456312"/>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Revenue (₹ Cr)</c:v>
                </c:pt>
              </c:strCache>
            </c:strRef>
          </c:tx>
          <c:spPr>
            <a:solidFill>
              <a:srgbClr val="242852"/>
            </a:solidFill>
          </c:spPr>
          <c:invertIfNegative val="1"/>
          <c:cat>
            <c:strRef>
              <c:f>Sheet1!$A$2:$A$7</c:f>
              <c:strCache>
                <c:ptCount val="6"/>
                <c:pt idx="0">
                  <c:v>FY22</c:v>
                </c:pt>
                <c:pt idx="1">
                  <c:v>FY23</c:v>
                </c:pt>
                <c:pt idx="2">
                  <c:v>FY24</c:v>
                </c:pt>
                <c:pt idx="3">
                  <c:v>FY25</c:v>
                </c:pt>
                <c:pt idx="4">
                  <c:v>FY26E</c:v>
                </c:pt>
                <c:pt idx="5">
                  <c:v>FY27E</c:v>
                </c:pt>
              </c:strCache>
            </c:strRef>
          </c:cat>
          <c:val>
            <c:numRef>
              <c:f>Sheet1!$B$2:$B$7</c:f>
              <c:numCache>
                <c:formatCode>General</c:formatCode>
                <c:ptCount val="6"/>
                <c:pt idx="0">
                  <c:v>1380</c:v>
                </c:pt>
                <c:pt idx="1">
                  <c:v>1640</c:v>
                </c:pt>
                <c:pt idx="2">
                  <c:v>1880</c:v>
                </c:pt>
                <c:pt idx="3">
                  <c:v>2100</c:v>
                </c:pt>
                <c:pt idx="4">
                  <c:v>2440</c:v>
                </c:pt>
                <c:pt idx="5">
                  <c:v>2820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2D7-4ABE-AFBB-2E06E33A7026}"/>
            </c:ext>
          </c:extLst>
        </c:ser>
        <c:ser>
          <c:idx val="1"/>
          <c:order val="1"/>
          <c:tx>
            <c:strRef>
              <c:f>Sheet1!$C$1</c:f>
              <c:strCache>
                <c:ptCount val="1"/>
                <c:pt idx="0">
                  <c:v>EBITDA (₹ Cr)</c:v>
                </c:pt>
              </c:strCache>
            </c:strRef>
          </c:tx>
          <c:spPr>
            <a:solidFill>
              <a:srgbClr val="4A66AC"/>
            </a:solidFill>
          </c:spPr>
          <c:invertIfNegative val="1"/>
          <c:cat>
            <c:strRef>
              <c:f>Sheet1!$A$2:$A$7</c:f>
              <c:strCache>
                <c:ptCount val="6"/>
                <c:pt idx="0">
                  <c:v>FY22</c:v>
                </c:pt>
                <c:pt idx="1">
                  <c:v>FY23</c:v>
                </c:pt>
                <c:pt idx="2">
                  <c:v>FY24</c:v>
                </c:pt>
                <c:pt idx="3">
                  <c:v>FY25</c:v>
                </c:pt>
                <c:pt idx="4">
                  <c:v>FY26E</c:v>
                </c:pt>
                <c:pt idx="5">
                  <c:v>FY27E</c:v>
                </c:pt>
              </c:strCache>
            </c:strRef>
          </c:cat>
          <c:val>
            <c:numRef>
              <c:f>Sheet1!$C$2:$C$7</c:f>
              <c:numCache>
                <c:formatCode>General</c:formatCode>
                <c:ptCount val="6"/>
                <c:pt idx="0">
                  <c:v>180</c:v>
                </c:pt>
                <c:pt idx="1">
                  <c:v>250</c:v>
                </c:pt>
                <c:pt idx="2">
                  <c:v>320</c:v>
                </c:pt>
                <c:pt idx="3">
                  <c:v>380</c:v>
                </c:pt>
                <c:pt idx="4">
                  <c:v>460</c:v>
                </c:pt>
                <c:pt idx="5">
                  <c:v>555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A2D7-4ABE-AFBB-2E06E33A7026}"/>
            </c:ext>
          </c:extLst>
        </c:ser>
        <c:dLbls>
          <c:showLegendKey val="0"/>
          <c:showVal val="0"/>
          <c:showCatName val="0"/>
          <c:showSerName val="0"/>
          <c:showPercent val="0"/>
          <c:showBubbleSize val="0"/>
        </c:dLbls>
        <c:gapWidth val="150"/>
        <c:axId val="79456312"/>
        <c:axId val="33489208"/>
      </c:barChart>
      <c:catAx>
        <c:axId val="79456312"/>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33489208"/>
        <c:crosses val="autoZero"/>
        <c:auto val="1"/>
        <c:lblAlgn val="ctr"/>
        <c:lblOffset val="100"/>
        <c:noMultiLvlLbl val="0"/>
      </c:catAx>
      <c:valAx>
        <c:axId val="33489208"/>
        <c:scaling>
          <c:orientation val="minMax"/>
        </c:scaling>
        <c:delete val="0"/>
        <c:axPos val="l"/>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79456312"/>
        <c:crosses val="autoZero"/>
        <c:crossBetween val="between"/>
      </c:valAx>
    </c:plotArea>
    <c:legend>
      <c:legendPos val="b"/>
      <c:legendEntry>
        <c:idx val="0"/>
        <c:txPr>
          <a:bodyPr/>
          <a:lstStyle/>
          <a:p>
            <a:pPr>
              <a:defRPr sz="900">
                <a:solidFill>
                  <a:schemeClr val="tx1"/>
                </a:solidFill>
                <a:latin typeface="Trebuchet MS"/>
              </a:defRPr>
            </a:pPr>
            <a:endParaRPr lang="en-US"/>
          </a:p>
        </c:txPr>
      </c:legendEntry>
      <c:overlay val="0"/>
      <c:txPr>
        <a:bodyPr/>
        <a:lstStyle/>
        <a:p>
          <a:pPr>
            <a:defRPr sz="900">
              <a:solidFill>
                <a:srgbClr val="575757"/>
              </a:solidFill>
              <a:latin typeface="Trebuchet M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1"/>
        <c:ser>
          <c:idx val="0"/>
          <c:order val="0"/>
          <c:tx>
            <c:strRef>
              <c:f>Sheet1!$B$1</c:f>
              <c:strCache>
                <c:ptCount val="1"/>
                <c:pt idx="0">
                  <c:v>Revenue Synergies</c:v>
                </c:pt>
              </c:strCache>
            </c:strRef>
          </c:tx>
          <c:spPr>
            <a:solidFill>
              <a:srgbClr val="242852"/>
            </a:solidFill>
          </c:spPr>
          <c:invertIfNegative val="1"/>
          <c:cat>
            <c:strRef>
              <c:f>Sheet1!$A$2:$A$7</c:f>
              <c:strCache>
                <c:ptCount val="6"/>
                <c:pt idx="0">
                  <c:v>FY26
Close</c:v>
                </c:pt>
                <c:pt idx="1">
                  <c:v>FY27
Year 1</c:v>
                </c:pt>
                <c:pt idx="2">
                  <c:v>FY28
Year 2</c:v>
                </c:pt>
                <c:pt idx="3">
                  <c:v>FY29
Year 3</c:v>
                </c:pt>
                <c:pt idx="4">
                  <c:v>FY30
Year 4</c:v>
                </c:pt>
                <c:pt idx="5">
                  <c:v>FY31
Year 5</c:v>
                </c:pt>
              </c:strCache>
            </c:strRef>
          </c:cat>
          <c:val>
            <c:numRef>
              <c:f>Sheet1!$B$2:$B$7</c:f>
              <c:numCache>
                <c:formatCode>General</c:formatCode>
                <c:ptCount val="6"/>
                <c:pt idx="0">
                  <c:v>0</c:v>
                </c:pt>
                <c:pt idx="1">
                  <c:v>180</c:v>
                </c:pt>
                <c:pt idx="2">
                  <c:v>420</c:v>
                </c:pt>
                <c:pt idx="3">
                  <c:v>720</c:v>
                </c:pt>
                <c:pt idx="4">
                  <c:v>920</c:v>
                </c:pt>
                <c:pt idx="5">
                  <c:v>1050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999-4400-94A8-C38536795496}"/>
            </c:ext>
          </c:extLst>
        </c:ser>
        <c:ser>
          <c:idx val="1"/>
          <c:order val="1"/>
          <c:tx>
            <c:strRef>
              <c:f>Sheet1!$C$1</c:f>
              <c:strCache>
                <c:ptCount val="1"/>
                <c:pt idx="0">
                  <c:v>Cost Synergies</c:v>
                </c:pt>
              </c:strCache>
            </c:strRef>
          </c:tx>
          <c:spPr>
            <a:solidFill>
              <a:srgbClr val="4A66AC"/>
            </a:solidFill>
          </c:spPr>
          <c:invertIfNegative val="1"/>
          <c:cat>
            <c:strRef>
              <c:f>Sheet1!$A$2:$A$7</c:f>
              <c:strCache>
                <c:ptCount val="6"/>
                <c:pt idx="0">
                  <c:v>FY26
Close</c:v>
                </c:pt>
                <c:pt idx="1">
                  <c:v>FY27
Year 1</c:v>
                </c:pt>
                <c:pt idx="2">
                  <c:v>FY28
Year 2</c:v>
                </c:pt>
                <c:pt idx="3">
                  <c:v>FY29
Year 3</c:v>
                </c:pt>
                <c:pt idx="4">
                  <c:v>FY30
Year 4</c:v>
                </c:pt>
                <c:pt idx="5">
                  <c:v>FY31
Year 5</c:v>
                </c:pt>
              </c:strCache>
            </c:strRef>
          </c:cat>
          <c:val>
            <c:numRef>
              <c:f>Sheet1!$C$2:$C$7</c:f>
              <c:numCache>
                <c:formatCode>General</c:formatCode>
                <c:ptCount val="6"/>
                <c:pt idx="0">
                  <c:v>0</c:v>
                </c:pt>
                <c:pt idx="1">
                  <c:v>95</c:v>
                </c:pt>
                <c:pt idx="2">
                  <c:v>220</c:v>
                </c:pt>
                <c:pt idx="3">
                  <c:v>360</c:v>
                </c:pt>
                <c:pt idx="4">
                  <c:v>460</c:v>
                </c:pt>
                <c:pt idx="5">
                  <c:v>510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999-4400-94A8-C38536795496}"/>
            </c:ext>
          </c:extLst>
        </c:ser>
        <c:ser>
          <c:idx val="2"/>
          <c:order val="2"/>
          <c:tx>
            <c:strRef>
              <c:f>Sheet1!$D$1</c:f>
              <c:strCache>
                <c:ptCount val="1"/>
                <c:pt idx="0">
                  <c:v>Capital / WC</c:v>
                </c:pt>
              </c:strCache>
            </c:strRef>
          </c:tx>
          <c:spPr>
            <a:solidFill>
              <a:srgbClr val="629DD1"/>
            </a:solidFill>
          </c:spPr>
          <c:invertIfNegative val="1"/>
          <c:cat>
            <c:strRef>
              <c:f>Sheet1!$A$2:$A$7</c:f>
              <c:strCache>
                <c:ptCount val="6"/>
                <c:pt idx="0">
                  <c:v>FY26
Close</c:v>
                </c:pt>
                <c:pt idx="1">
                  <c:v>FY27
Year 1</c:v>
                </c:pt>
                <c:pt idx="2">
                  <c:v>FY28
Year 2</c:v>
                </c:pt>
                <c:pt idx="3">
                  <c:v>FY29
Year 3</c:v>
                </c:pt>
                <c:pt idx="4">
                  <c:v>FY30
Year 4</c:v>
                </c:pt>
                <c:pt idx="5">
                  <c:v>FY31
Year 5</c:v>
                </c:pt>
              </c:strCache>
            </c:strRef>
          </c:cat>
          <c:val>
            <c:numRef>
              <c:f>Sheet1!$D$2:$D$7</c:f>
              <c:numCache>
                <c:formatCode>General</c:formatCode>
                <c:ptCount val="6"/>
                <c:pt idx="0">
                  <c:v>0</c:v>
                </c:pt>
                <c:pt idx="1">
                  <c:v>25</c:v>
                </c:pt>
                <c:pt idx="2">
                  <c:v>70</c:v>
                </c:pt>
                <c:pt idx="3">
                  <c:v>130</c:v>
                </c:pt>
                <c:pt idx="4">
                  <c:v>170</c:v>
                </c:pt>
                <c:pt idx="5">
                  <c:v>195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999-4400-94A8-C38536795496}"/>
            </c:ext>
          </c:extLst>
        </c:ser>
        <c:dLbls>
          <c:showLegendKey val="0"/>
          <c:showVal val="0"/>
          <c:showCatName val="0"/>
          <c:showSerName val="0"/>
          <c:showPercent val="0"/>
          <c:showBubbleSize val="0"/>
        </c:dLbls>
        <c:gapWidth val="150"/>
        <c:overlap val="100"/>
        <c:axId val="79456312"/>
        <c:axId val="33489208"/>
      </c:barChart>
      <c:catAx>
        <c:axId val="79456312"/>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33489208"/>
        <c:crosses val="autoZero"/>
        <c:auto val="1"/>
        <c:lblAlgn val="ctr"/>
        <c:lblOffset val="100"/>
        <c:noMultiLvlLbl val="0"/>
      </c:catAx>
      <c:valAx>
        <c:axId val="33489208"/>
        <c:scaling>
          <c:orientation val="minMax"/>
        </c:scaling>
        <c:delete val="0"/>
        <c:axPos val="l"/>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79456312"/>
        <c:crosses val="autoZero"/>
        <c:crossBetween val="between"/>
      </c:valAx>
    </c:plotArea>
    <c:legend>
      <c:legendPos val="b"/>
      <c:overlay val="0"/>
      <c:txPr>
        <a:bodyPr/>
        <a:lstStyle/>
        <a:p>
          <a:pPr>
            <a:defRPr sz="900">
              <a:solidFill>
                <a:srgbClr val="575757"/>
              </a:solidFill>
              <a:latin typeface="Trebuchet MS"/>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Equity Value (₹ Cr)</c:v>
                </c:pt>
              </c:strCache>
            </c:strRef>
          </c:tx>
          <c:spPr>
            <a:solidFill>
              <a:srgbClr val="197A56"/>
            </a:solidFill>
          </c:spPr>
          <c:invertIfNegative val="1"/>
          <c:dPt>
            <c:idx val="0"/>
            <c:invertIfNegative val="1"/>
            <c:bubble3D val="0"/>
            <c:spPr>
              <a:solidFill>
                <a:srgbClr val="295E7E"/>
              </a:solidFill>
            </c:spPr>
            <c:extLst>
              <c:ext xmlns:c16="http://schemas.microsoft.com/office/drawing/2014/chart" uri="{C3380CC4-5D6E-409C-BE32-E72D297353CC}">
                <c16:uniqueId val="{00000001-26D5-4458-BEF0-7F5B1146D3A1}"/>
              </c:ext>
            </c:extLst>
          </c:dPt>
          <c:dPt>
            <c:idx val="1"/>
            <c:invertIfNegative val="1"/>
            <c:bubble3D val="0"/>
            <c:spPr>
              <a:solidFill>
                <a:srgbClr val="242852"/>
              </a:solidFill>
            </c:spPr>
            <c:extLst>
              <c:ext xmlns:c16="http://schemas.microsoft.com/office/drawing/2014/chart" uri="{C3380CC4-5D6E-409C-BE32-E72D297353CC}">
                <c16:uniqueId val="{00000003-26D5-4458-BEF0-7F5B1146D3A1}"/>
              </c:ext>
            </c:extLst>
          </c:dPt>
          <c:dPt>
            <c:idx val="2"/>
            <c:invertIfNegative val="1"/>
            <c:bubble3D val="0"/>
            <c:spPr>
              <a:solidFill>
                <a:srgbClr val="242852"/>
              </a:solidFill>
            </c:spPr>
            <c:extLst>
              <c:ext xmlns:c16="http://schemas.microsoft.com/office/drawing/2014/chart" uri="{C3380CC4-5D6E-409C-BE32-E72D297353CC}">
                <c16:uniqueId val="{00000005-26D5-4458-BEF0-7F5B1146D3A1}"/>
              </c:ext>
            </c:extLst>
          </c:dPt>
          <c:dPt>
            <c:idx val="3"/>
            <c:invertIfNegative val="1"/>
            <c:bubble3D val="0"/>
            <c:spPr>
              <a:solidFill>
                <a:srgbClr val="242852"/>
              </a:solidFill>
            </c:spPr>
            <c:extLst>
              <c:ext xmlns:c16="http://schemas.microsoft.com/office/drawing/2014/chart" uri="{C3380CC4-5D6E-409C-BE32-E72D297353CC}">
                <c16:uniqueId val="{00000007-26D5-4458-BEF0-7F5B1146D3A1}"/>
              </c:ext>
            </c:extLst>
          </c:dPt>
          <c:dPt>
            <c:idx val="4"/>
            <c:invertIfNegative val="1"/>
            <c:bubble3D val="0"/>
            <c:spPr>
              <a:solidFill>
                <a:srgbClr val="242852"/>
              </a:solidFill>
            </c:spPr>
            <c:extLst>
              <c:ext xmlns:c16="http://schemas.microsoft.com/office/drawing/2014/chart" uri="{C3380CC4-5D6E-409C-BE32-E72D297353CC}">
                <c16:uniqueId val="{00000009-26D5-4458-BEF0-7F5B1146D3A1}"/>
              </c:ext>
            </c:extLst>
          </c:dPt>
          <c:dPt>
            <c:idx val="5"/>
            <c:invertIfNegative val="1"/>
            <c:bubble3D val="0"/>
            <c:spPr>
              <a:solidFill>
                <a:srgbClr val="242852"/>
              </a:solidFill>
            </c:spPr>
            <c:extLst>
              <c:ext xmlns:c16="http://schemas.microsoft.com/office/drawing/2014/chart" uri="{C3380CC4-5D6E-409C-BE32-E72D297353CC}">
                <c16:uniqueId val="{0000000B-26D5-4458-BEF0-7F5B1146D3A1}"/>
              </c:ext>
            </c:extLst>
          </c:dPt>
          <c:dPt>
            <c:idx val="6"/>
            <c:invertIfNegative val="1"/>
            <c:bubble3D val="0"/>
            <c:spPr>
              <a:solidFill>
                <a:srgbClr val="242852"/>
              </a:solidFill>
            </c:spPr>
            <c:extLst>
              <c:ext xmlns:c16="http://schemas.microsoft.com/office/drawing/2014/chart" uri="{C3380CC4-5D6E-409C-BE32-E72D297353CC}">
                <c16:uniqueId val="{0000000D-26D5-4458-BEF0-7F5B1146D3A1}"/>
              </c:ext>
            </c:extLst>
          </c:dPt>
          <c:dPt>
            <c:idx val="7"/>
            <c:invertIfNegative val="1"/>
            <c:bubble3D val="0"/>
            <c:spPr>
              <a:solidFill>
                <a:schemeClr val="accent1"/>
              </a:solidFill>
            </c:spPr>
            <c:extLst>
              <c:ext xmlns:c16="http://schemas.microsoft.com/office/drawing/2014/chart" uri="{C3380CC4-5D6E-409C-BE32-E72D297353CC}">
                <c16:uniqueId val="{0000000F-26D5-4458-BEF0-7F5B1146D3A1}"/>
              </c:ext>
            </c:extLst>
          </c:dPt>
          <c:cat>
            <c:strRef>
              <c:f>Sheet1!$A$2:$A$9</c:f>
              <c:strCache>
                <c:ptCount val="8"/>
                <c:pt idx="0">
                  <c:v>Entry
Equity</c:v>
                </c:pt>
                <c:pt idx="1">
                  <c:v>Operating
Leverage</c:v>
                </c:pt>
                <c:pt idx="2">
                  <c:v>Procurement
Savings</c:v>
                </c:pt>
                <c:pt idx="3">
                  <c:v>Cross-Sell
Revenue</c:v>
                </c:pt>
                <c:pt idx="4">
                  <c:v>Specialty
Mix Lift</c:v>
                </c:pt>
                <c:pt idx="5">
                  <c:v>Multiple
Expansion</c:v>
                </c:pt>
                <c:pt idx="6">
                  <c:v>Debt
Paydown</c:v>
                </c:pt>
                <c:pt idx="7">
                  <c:v>Exit
Equity</c:v>
                </c:pt>
              </c:strCache>
            </c:strRef>
          </c:cat>
          <c:val>
            <c:numRef>
              <c:f>Sheet1!$B$2:$B$9</c:f>
              <c:numCache>
                <c:formatCode>General</c:formatCode>
                <c:ptCount val="8"/>
                <c:pt idx="0">
                  <c:v>3825</c:v>
                </c:pt>
                <c:pt idx="1">
                  <c:v>850</c:v>
                </c:pt>
                <c:pt idx="2">
                  <c:v>620</c:v>
                </c:pt>
                <c:pt idx="3">
                  <c:v>1450</c:v>
                </c:pt>
                <c:pt idx="4">
                  <c:v>780</c:v>
                </c:pt>
                <c:pt idx="5">
                  <c:v>1100</c:v>
                </c:pt>
                <c:pt idx="6">
                  <c:v>2855</c:v>
                </c:pt>
                <c:pt idx="7">
                  <c:v>11480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10-26D5-4458-BEF0-7F5B1146D3A1}"/>
            </c:ext>
          </c:extLst>
        </c:ser>
        <c:dLbls>
          <c:showLegendKey val="0"/>
          <c:showVal val="0"/>
          <c:showCatName val="0"/>
          <c:showSerName val="0"/>
          <c:showPercent val="0"/>
          <c:showBubbleSize val="0"/>
        </c:dLbls>
        <c:gapWidth val="150"/>
        <c:axId val="79456312"/>
        <c:axId val="33489208"/>
      </c:barChart>
      <c:catAx>
        <c:axId val="79456312"/>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33489208"/>
        <c:crosses val="autoZero"/>
        <c:auto val="1"/>
        <c:lblAlgn val="ctr"/>
        <c:lblOffset val="100"/>
        <c:noMultiLvlLbl val="0"/>
      </c:catAx>
      <c:valAx>
        <c:axId val="33489208"/>
        <c:scaling>
          <c:orientation val="minMax"/>
        </c:scaling>
        <c:delete val="0"/>
        <c:axPos val="l"/>
        <c:numFmt formatCode="#,##0"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79456312"/>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5/9/2026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5/9/2026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2.xml"/><Relationship Id="rId7" Type="http://schemas.openxmlformats.org/officeDocument/2006/relationships/image" Target="../media/image2.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4.jp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6.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solidFill>
            <a:schemeClr val="tx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2" name="Picture 2">
            <a:extLst>
              <a:ext uri="{FF2B5EF4-FFF2-40B4-BE49-F238E27FC236}">
                <a16:creationId xmlns:a16="http://schemas.microsoft.com/office/drawing/2014/main" id="{6E0B3FA2-22D5-8255-017B-DD617ABF1B64}"/>
              </a:ext>
            </a:extLst>
          </p:cNvPr>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117415" y="806101"/>
            <a:ext cx="2140477" cy="702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userDrawn="1"/>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Ref idx="1003">
        <a:schemeClr val="bg2"/>
      </p:bgRef>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solidFill>
            <a:schemeClr val="bg2">
              <a:lumMod val="9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676900"/>
            <a:ext cx="2567521" cy="208388"/>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Bodhisatwa@alumni.iitm.ac.in</a:t>
            </a:r>
          </a:p>
        </p:txBody>
      </p:sp>
      <p:pic>
        <p:nvPicPr>
          <p:cNvPr id="3" name="Picture 2">
            <a:extLst>
              <a:ext uri="{FF2B5EF4-FFF2-40B4-BE49-F238E27FC236}">
                <a16:creationId xmlns:a16="http://schemas.microsoft.com/office/drawing/2014/main" id="{CF83FABF-93E7-8E50-950A-AD6D8FDBC4D7}"/>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022415" y="2726253"/>
            <a:ext cx="3455684" cy="11345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29201031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30.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0.xml"/><Relationship Id="rId1" Type="http://schemas.openxmlformats.org/officeDocument/2006/relationships/tags" Target="../tags/tag31.xml"/><Relationship Id="rId4" Type="http://schemas.openxmlformats.org/officeDocument/2006/relationships/image" Target="../media/image11.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30.xml"/><Relationship Id="rId1" Type="http://schemas.openxmlformats.org/officeDocument/2006/relationships/tags" Target="../tags/tag32.xml"/><Relationship Id="rId5" Type="http://schemas.openxmlformats.org/officeDocument/2006/relationships/chart" Target="../charts/chart1.xml"/><Relationship Id="rId4" Type="http://schemas.openxmlformats.org/officeDocument/2006/relationships/image" Target="../media/image1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30.xml"/><Relationship Id="rId1" Type="http://schemas.openxmlformats.org/officeDocument/2006/relationships/tags" Target="../tags/tag33.xml"/><Relationship Id="rId5" Type="http://schemas.openxmlformats.org/officeDocument/2006/relationships/chart" Target="../charts/chart2.xml"/><Relationship Id="rId4" Type="http://schemas.openxmlformats.org/officeDocument/2006/relationships/image" Target="../media/image11.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30.xml"/><Relationship Id="rId1" Type="http://schemas.openxmlformats.org/officeDocument/2006/relationships/tags" Target="../tags/tag34.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30.xml"/><Relationship Id="rId1" Type="http://schemas.openxmlformats.org/officeDocument/2006/relationships/tags" Target="../tags/tag35.xml"/><Relationship Id="rId4" Type="http://schemas.openxmlformats.org/officeDocument/2006/relationships/image" Target="../media/image11.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30.xml"/><Relationship Id="rId1" Type="http://schemas.openxmlformats.org/officeDocument/2006/relationships/tags" Target="../tags/tag36.xml"/><Relationship Id="rId4" Type="http://schemas.openxmlformats.org/officeDocument/2006/relationships/image" Target="../media/image11.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30.xml"/><Relationship Id="rId1" Type="http://schemas.openxmlformats.org/officeDocument/2006/relationships/tags" Target="../tags/tag37.xml"/><Relationship Id="rId5" Type="http://schemas.openxmlformats.org/officeDocument/2006/relationships/chart" Target="../charts/chart3.xml"/><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30.xml"/><Relationship Id="rId1" Type="http://schemas.openxmlformats.org/officeDocument/2006/relationships/tags" Target="../tags/tag38.xml"/><Relationship Id="rId5" Type="http://schemas.openxmlformats.org/officeDocument/2006/relationships/chart" Target="../charts/chart4.xml"/><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30.xml"/><Relationship Id="rId1" Type="http://schemas.openxmlformats.org/officeDocument/2006/relationships/tags" Target="../tags/tag39.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30.xml"/><Relationship Id="rId1" Type="http://schemas.openxmlformats.org/officeDocument/2006/relationships/tags" Target="../tags/tag40.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30.xml"/><Relationship Id="rId1" Type="http://schemas.openxmlformats.org/officeDocument/2006/relationships/tags" Target="../tags/tag41.xml"/><Relationship Id="rId5" Type="http://schemas.openxmlformats.org/officeDocument/2006/relationships/chart" Target="../charts/chart5.xml"/><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30.xml"/><Relationship Id="rId1" Type="http://schemas.openxmlformats.org/officeDocument/2006/relationships/tags" Target="../tags/tag42.xml"/><Relationship Id="rId4" Type="http://schemas.openxmlformats.org/officeDocument/2006/relationships/image" Target="../media/image11.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30.xml"/><Relationship Id="rId1" Type="http://schemas.openxmlformats.org/officeDocument/2006/relationships/tags" Target="../tags/tag43.xml"/><Relationship Id="rId5" Type="http://schemas.openxmlformats.org/officeDocument/2006/relationships/chart" Target="../charts/chart6.x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30.xml"/><Relationship Id="rId1" Type="http://schemas.openxmlformats.org/officeDocument/2006/relationships/tags" Target="../tags/tag44.xml"/><Relationship Id="rId4" Type="http://schemas.openxmlformats.org/officeDocument/2006/relationships/image" Target="../media/image11.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830F3F1-49DA-10E1-20A9-33C70EB9BCD4}"/>
              </a:ext>
            </a:extLst>
          </p:cNvPr>
          <p:cNvGraphicFramePr>
            <a:graphicFrameLocks noChangeAspect="1"/>
          </p:cNvGraphicFramePr>
          <p:nvPr>
            <p:custDataLst>
              <p:tags r:id="rId1"/>
            </p:custDataLst>
            <p:extLst>
              <p:ext uri="{D42A27DB-BD31-4B8C-83A1-F6EECF244321}">
                <p14:modId xmlns:p14="http://schemas.microsoft.com/office/powerpoint/2010/main" val="4022686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1" name="ph_ctrTitle"/>
          <p:cNvSpPr>
            <a:spLocks noGrp="1"/>
          </p:cNvSpPr>
          <p:nvPr>
            <p:ph type="ctrTitle"/>
          </p:nvPr>
        </p:nvSpPr>
        <p:spPr/>
        <p:txBody>
          <a:bodyPr vert="horz"/>
          <a:lstStyle/>
          <a:p>
            <a:r>
              <a:rPr lang="en-US" dirty="0"/>
              <a:t>Project Apex</a:t>
            </a:r>
          </a:p>
        </p:txBody>
      </p:sp>
      <p:sp>
        <p:nvSpPr>
          <p:cNvPr id="102" name="ph_subTitle"/>
          <p:cNvSpPr>
            <a:spLocks noGrp="1"/>
          </p:cNvSpPr>
          <p:nvPr>
            <p:ph type="subTitle" idx="1"/>
          </p:nvPr>
        </p:nvSpPr>
        <p:spPr/>
        <p:txBody>
          <a:bodyPr/>
          <a:lstStyle/>
          <a:p>
            <a:r>
              <a:rPr lang="en-US" dirty="0">
                <a:solidFill>
                  <a:schemeClr val="bg2">
                    <a:lumMod val="10000"/>
                  </a:schemeClr>
                </a:solidFill>
              </a:rPr>
              <a:t>Inorganic Growth Strategy &amp; Acquisition Roadmap for Max Healthcare</a:t>
            </a:r>
          </a:p>
        </p:txBody>
      </p:sp>
      <p:sp>
        <p:nvSpPr>
          <p:cNvPr id="103" name="ph_body"/>
          <p:cNvSpPr>
            <a:spLocks noGrp="1"/>
          </p:cNvSpPr>
          <p:nvPr>
            <p:ph type="body" idx="12"/>
          </p:nvPr>
        </p:nvSpPr>
        <p:spPr/>
        <p:txBody>
          <a:bodyPr/>
          <a:lstStyle/>
          <a:p>
            <a:r>
              <a:rPr lang="en-US" dirty="0"/>
              <a:t>May 2026 | Strictly Confidential | Prepared for Office of the CEO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0807891-B2B0-49EC-0428-93D6F1D78A90}"/>
              </a:ext>
            </a:extLst>
          </p:cNvPr>
          <p:cNvGraphicFramePr>
            <a:graphicFrameLocks noChangeAspect="1"/>
          </p:cNvGraphicFramePr>
          <p:nvPr>
            <p:custDataLst>
              <p:tags r:id="rId1"/>
            </p:custDataLst>
            <p:extLst>
              <p:ext uri="{D42A27DB-BD31-4B8C-83A1-F6EECF244321}">
                <p14:modId xmlns:p14="http://schemas.microsoft.com/office/powerpoint/2010/main" val="7031983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4" name="ph_title"/>
          <p:cNvSpPr>
            <a:spLocks noGrp="1"/>
          </p:cNvSpPr>
          <p:nvPr>
            <p:ph type="title"/>
          </p:nvPr>
        </p:nvSpPr>
        <p:spPr/>
        <p:txBody>
          <a:bodyPr vert="horz"/>
          <a:lstStyle/>
          <a:p>
            <a:r>
              <a:rPr lang="en-US" dirty="0"/>
              <a:t>Five high-conviction targets unlock ~₹4,500 Cr of value over a 5-year hold</a:t>
            </a:r>
          </a:p>
        </p:txBody>
      </p:sp>
      <p:sp>
        <p:nvSpPr>
          <p:cNvPr id="105" name="RR105"/>
          <p:cNvSpPr/>
          <p:nvPr/>
        </p:nvSpPr>
        <p:spPr>
          <a:xfrm>
            <a:off x="630936" y="2075688"/>
            <a:ext cx="2610612" cy="10058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06" name="R106"/>
          <p:cNvSpPr/>
          <p:nvPr/>
        </p:nvSpPr>
        <p:spPr>
          <a:xfrm>
            <a:off x="630936" y="2075688"/>
            <a:ext cx="2610612" cy="54864"/>
          </a:xfrm>
          <a:prstGeom prst="rect">
            <a:avLst/>
          </a:prstGeom>
          <a:solidFill>
            <a:schemeClr val="tx2"/>
          </a:solidFill>
          <a:ln>
            <a:noFill/>
          </a:ln>
        </p:spPr>
        <p:txBody>
          <a:bodyPr/>
          <a:lstStyle/>
          <a:p>
            <a:endParaRPr lang="en-US"/>
          </a:p>
        </p:txBody>
      </p:sp>
      <p:sp>
        <p:nvSpPr>
          <p:cNvPr id="107" name="TB107"/>
          <p:cNvSpPr txBox="1"/>
          <p:nvPr/>
        </p:nvSpPr>
        <p:spPr>
          <a:xfrm>
            <a:off x="722375" y="2185416"/>
            <a:ext cx="2427732" cy="365760"/>
          </a:xfrm>
          <a:prstGeom prst="rect">
            <a:avLst/>
          </a:prstGeom>
          <a:noFill/>
        </p:spPr>
        <p:txBody>
          <a:bodyPr wrap="square" rtlCol="0" anchor="t"/>
          <a:lstStyle/>
          <a:p>
            <a:pPr algn="ctr"/>
            <a:r>
              <a:rPr lang="en-US" sz="2200" b="1" dirty="0">
                <a:solidFill>
                  <a:schemeClr val="tx2"/>
                </a:solidFill>
                <a:latin typeface="Trebuchet MS"/>
              </a:rPr>
              <a:t>₹4,500 Cr</a:t>
            </a:r>
          </a:p>
        </p:txBody>
      </p:sp>
      <p:sp>
        <p:nvSpPr>
          <p:cNvPr id="108" name="TB108"/>
          <p:cNvSpPr txBox="1"/>
          <p:nvPr/>
        </p:nvSpPr>
        <p:spPr>
          <a:xfrm>
            <a:off x="722375" y="2578608"/>
            <a:ext cx="2427732" cy="228600"/>
          </a:xfrm>
          <a:prstGeom prst="rect">
            <a:avLst/>
          </a:prstGeom>
          <a:noFill/>
        </p:spPr>
        <p:txBody>
          <a:bodyPr wrap="square" rtlCol="0" anchor="t"/>
          <a:lstStyle/>
          <a:p>
            <a:pPr algn="ctr"/>
            <a:r>
              <a:rPr lang="en-US" sz="1200" dirty="0">
                <a:solidFill>
                  <a:srgbClr val="575757"/>
                </a:solidFill>
                <a:latin typeface="Trebuchet MS"/>
              </a:rPr>
              <a:t>Synergy NPV (5-yr)</a:t>
            </a:r>
          </a:p>
        </p:txBody>
      </p:sp>
      <p:sp>
        <p:nvSpPr>
          <p:cNvPr id="109" name="TB109"/>
          <p:cNvSpPr txBox="1"/>
          <p:nvPr/>
        </p:nvSpPr>
        <p:spPr>
          <a:xfrm>
            <a:off x="722375" y="2825496"/>
            <a:ext cx="2427732" cy="182880"/>
          </a:xfrm>
          <a:prstGeom prst="rect">
            <a:avLst/>
          </a:prstGeom>
          <a:noFill/>
        </p:spPr>
        <p:txBody>
          <a:bodyPr wrap="square" rtlCol="0" anchor="t"/>
          <a:lstStyle/>
          <a:p>
            <a:pPr algn="ctr"/>
            <a:r>
              <a:rPr lang="en-US" sz="1200" dirty="0">
                <a:solidFill>
                  <a:srgbClr val="6E6F73"/>
                </a:solidFill>
                <a:latin typeface="Trebuchet MS"/>
              </a:rPr>
              <a:t>Revenue + Cost</a:t>
            </a:r>
          </a:p>
        </p:txBody>
      </p:sp>
      <p:sp>
        <p:nvSpPr>
          <p:cNvPr id="110" name="RR110"/>
          <p:cNvSpPr/>
          <p:nvPr/>
        </p:nvSpPr>
        <p:spPr>
          <a:xfrm>
            <a:off x="3406140" y="2075688"/>
            <a:ext cx="2610612" cy="10058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11" name="R111"/>
          <p:cNvSpPr/>
          <p:nvPr/>
        </p:nvSpPr>
        <p:spPr>
          <a:xfrm>
            <a:off x="3406140" y="2075688"/>
            <a:ext cx="2610612" cy="54864"/>
          </a:xfrm>
          <a:prstGeom prst="rect">
            <a:avLst/>
          </a:prstGeom>
          <a:solidFill>
            <a:schemeClr val="tx2"/>
          </a:solidFill>
          <a:ln>
            <a:noFill/>
          </a:ln>
        </p:spPr>
        <p:txBody>
          <a:bodyPr/>
          <a:lstStyle/>
          <a:p>
            <a:endParaRPr lang="en-US"/>
          </a:p>
        </p:txBody>
      </p:sp>
      <p:sp>
        <p:nvSpPr>
          <p:cNvPr id="112" name="TB112"/>
          <p:cNvSpPr txBox="1"/>
          <p:nvPr/>
        </p:nvSpPr>
        <p:spPr>
          <a:xfrm>
            <a:off x="3497580" y="2185416"/>
            <a:ext cx="2427732" cy="365760"/>
          </a:xfrm>
          <a:prstGeom prst="rect">
            <a:avLst/>
          </a:prstGeom>
          <a:noFill/>
        </p:spPr>
        <p:txBody>
          <a:bodyPr wrap="square" rtlCol="0" anchor="t"/>
          <a:lstStyle/>
          <a:p>
            <a:pPr algn="ctr"/>
            <a:r>
              <a:rPr lang="en-US" sz="2200" b="1" dirty="0">
                <a:solidFill>
                  <a:schemeClr val="tx2"/>
                </a:solidFill>
                <a:latin typeface="Trebuchet MS"/>
              </a:rPr>
              <a:t>19 → 32+</a:t>
            </a:r>
          </a:p>
        </p:txBody>
      </p:sp>
      <p:sp>
        <p:nvSpPr>
          <p:cNvPr id="113" name="TB113"/>
          <p:cNvSpPr txBox="1"/>
          <p:nvPr/>
        </p:nvSpPr>
        <p:spPr>
          <a:xfrm>
            <a:off x="3497580" y="2578608"/>
            <a:ext cx="2427732" cy="228600"/>
          </a:xfrm>
          <a:prstGeom prst="rect">
            <a:avLst/>
          </a:prstGeom>
          <a:noFill/>
        </p:spPr>
        <p:txBody>
          <a:bodyPr wrap="square" rtlCol="0" anchor="t"/>
          <a:lstStyle/>
          <a:p>
            <a:pPr algn="ctr"/>
            <a:r>
              <a:rPr lang="en-US" sz="1200" dirty="0">
                <a:solidFill>
                  <a:srgbClr val="575757"/>
                </a:solidFill>
                <a:latin typeface="Trebuchet MS"/>
              </a:rPr>
              <a:t>Hospitals (Post-M&amp;A)</a:t>
            </a:r>
          </a:p>
        </p:txBody>
      </p:sp>
      <p:sp>
        <p:nvSpPr>
          <p:cNvPr id="114" name="TB114"/>
          <p:cNvSpPr txBox="1"/>
          <p:nvPr/>
        </p:nvSpPr>
        <p:spPr>
          <a:xfrm>
            <a:off x="3497580" y="2825496"/>
            <a:ext cx="2427732" cy="182880"/>
          </a:xfrm>
          <a:prstGeom prst="rect">
            <a:avLst/>
          </a:prstGeom>
          <a:noFill/>
        </p:spPr>
        <p:txBody>
          <a:bodyPr wrap="square" rtlCol="0" anchor="t"/>
          <a:lstStyle/>
          <a:p>
            <a:pPr algn="ctr"/>
            <a:r>
              <a:rPr lang="en-US" sz="1200" dirty="0">
                <a:solidFill>
                  <a:srgbClr val="6E6F73"/>
                </a:solidFill>
                <a:latin typeface="Trebuchet MS"/>
              </a:rPr>
              <a:t>Pan-India</a:t>
            </a:r>
          </a:p>
        </p:txBody>
      </p:sp>
      <p:sp>
        <p:nvSpPr>
          <p:cNvPr id="115" name="RR115"/>
          <p:cNvSpPr/>
          <p:nvPr/>
        </p:nvSpPr>
        <p:spPr>
          <a:xfrm>
            <a:off x="6181344" y="2075688"/>
            <a:ext cx="2610612" cy="10058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16" name="R116"/>
          <p:cNvSpPr/>
          <p:nvPr/>
        </p:nvSpPr>
        <p:spPr>
          <a:xfrm>
            <a:off x="6181344" y="2075688"/>
            <a:ext cx="2610612" cy="54864"/>
          </a:xfrm>
          <a:prstGeom prst="rect">
            <a:avLst/>
          </a:prstGeom>
          <a:solidFill>
            <a:schemeClr val="tx2"/>
          </a:solidFill>
          <a:ln>
            <a:noFill/>
          </a:ln>
        </p:spPr>
        <p:txBody>
          <a:bodyPr/>
          <a:lstStyle/>
          <a:p>
            <a:endParaRPr lang="en-US"/>
          </a:p>
        </p:txBody>
      </p:sp>
      <p:sp>
        <p:nvSpPr>
          <p:cNvPr id="117" name="TB117"/>
          <p:cNvSpPr txBox="1"/>
          <p:nvPr/>
        </p:nvSpPr>
        <p:spPr>
          <a:xfrm>
            <a:off x="6272784" y="2185416"/>
            <a:ext cx="2427732" cy="365760"/>
          </a:xfrm>
          <a:prstGeom prst="rect">
            <a:avLst/>
          </a:prstGeom>
          <a:noFill/>
        </p:spPr>
        <p:txBody>
          <a:bodyPr wrap="square" rtlCol="0" anchor="t"/>
          <a:lstStyle/>
          <a:p>
            <a:pPr algn="ctr"/>
            <a:r>
              <a:rPr lang="en-US" sz="2200" b="1" dirty="0">
                <a:solidFill>
                  <a:schemeClr val="tx2"/>
                </a:solidFill>
                <a:latin typeface="Trebuchet MS"/>
              </a:rPr>
              <a:t>4,000 → 8,500</a:t>
            </a:r>
          </a:p>
        </p:txBody>
      </p:sp>
      <p:sp>
        <p:nvSpPr>
          <p:cNvPr id="118" name="TB118"/>
          <p:cNvSpPr txBox="1"/>
          <p:nvPr/>
        </p:nvSpPr>
        <p:spPr>
          <a:xfrm>
            <a:off x="6272784" y="2578608"/>
            <a:ext cx="2427732" cy="228600"/>
          </a:xfrm>
          <a:prstGeom prst="rect">
            <a:avLst/>
          </a:prstGeom>
          <a:noFill/>
        </p:spPr>
        <p:txBody>
          <a:bodyPr wrap="square" rtlCol="0" anchor="t"/>
          <a:lstStyle/>
          <a:p>
            <a:pPr algn="ctr"/>
            <a:r>
              <a:rPr lang="en-US" sz="1200" dirty="0">
                <a:solidFill>
                  <a:srgbClr val="575757"/>
                </a:solidFill>
                <a:latin typeface="Trebuchet MS"/>
              </a:rPr>
              <a:t>Operating Beds</a:t>
            </a:r>
          </a:p>
        </p:txBody>
      </p:sp>
      <p:sp>
        <p:nvSpPr>
          <p:cNvPr id="119" name="TB119"/>
          <p:cNvSpPr txBox="1"/>
          <p:nvPr/>
        </p:nvSpPr>
        <p:spPr>
          <a:xfrm>
            <a:off x="6272784" y="2825496"/>
            <a:ext cx="2427732" cy="182880"/>
          </a:xfrm>
          <a:prstGeom prst="rect">
            <a:avLst/>
          </a:prstGeom>
          <a:noFill/>
        </p:spPr>
        <p:txBody>
          <a:bodyPr wrap="square" rtlCol="0" anchor="t"/>
          <a:lstStyle/>
          <a:p>
            <a:pPr algn="ctr"/>
            <a:r>
              <a:rPr lang="en-US" sz="1200" dirty="0">
                <a:solidFill>
                  <a:srgbClr val="6E6F73"/>
                </a:solidFill>
                <a:latin typeface="Trebuchet MS"/>
              </a:rPr>
              <a:t>+112% capacity</a:t>
            </a:r>
          </a:p>
        </p:txBody>
      </p:sp>
      <p:sp>
        <p:nvSpPr>
          <p:cNvPr id="120" name="RR120"/>
          <p:cNvSpPr/>
          <p:nvPr/>
        </p:nvSpPr>
        <p:spPr>
          <a:xfrm>
            <a:off x="8956548" y="2075688"/>
            <a:ext cx="2610612" cy="10058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21" name="R121"/>
          <p:cNvSpPr/>
          <p:nvPr/>
        </p:nvSpPr>
        <p:spPr>
          <a:xfrm>
            <a:off x="8956548" y="2075688"/>
            <a:ext cx="2610612" cy="54864"/>
          </a:xfrm>
          <a:prstGeom prst="rect">
            <a:avLst/>
          </a:prstGeom>
          <a:solidFill>
            <a:schemeClr val="tx2"/>
          </a:solidFill>
          <a:ln>
            <a:noFill/>
          </a:ln>
        </p:spPr>
        <p:txBody>
          <a:bodyPr/>
          <a:lstStyle/>
          <a:p>
            <a:endParaRPr lang="en-US"/>
          </a:p>
        </p:txBody>
      </p:sp>
      <p:sp>
        <p:nvSpPr>
          <p:cNvPr id="122" name="TB122"/>
          <p:cNvSpPr txBox="1"/>
          <p:nvPr/>
        </p:nvSpPr>
        <p:spPr>
          <a:xfrm>
            <a:off x="9047988" y="2185416"/>
            <a:ext cx="2427732" cy="365760"/>
          </a:xfrm>
          <a:prstGeom prst="rect">
            <a:avLst/>
          </a:prstGeom>
          <a:noFill/>
        </p:spPr>
        <p:txBody>
          <a:bodyPr wrap="square" rtlCol="0" anchor="t"/>
          <a:lstStyle/>
          <a:p>
            <a:pPr algn="ctr"/>
            <a:r>
              <a:rPr lang="en-US" sz="2200" b="1" dirty="0">
                <a:solidFill>
                  <a:schemeClr val="tx2"/>
                </a:solidFill>
                <a:latin typeface="Trebuchet MS"/>
              </a:rPr>
              <a:t>28%</a:t>
            </a:r>
          </a:p>
        </p:txBody>
      </p:sp>
      <p:sp>
        <p:nvSpPr>
          <p:cNvPr id="123" name="TB123"/>
          <p:cNvSpPr txBox="1"/>
          <p:nvPr/>
        </p:nvSpPr>
        <p:spPr>
          <a:xfrm>
            <a:off x="9047988" y="2578608"/>
            <a:ext cx="2427732" cy="228600"/>
          </a:xfrm>
          <a:prstGeom prst="rect">
            <a:avLst/>
          </a:prstGeom>
          <a:noFill/>
        </p:spPr>
        <p:txBody>
          <a:bodyPr wrap="square" rtlCol="0" anchor="t"/>
          <a:lstStyle/>
          <a:p>
            <a:pPr algn="ctr"/>
            <a:r>
              <a:rPr lang="en-US" sz="1200" dirty="0">
                <a:solidFill>
                  <a:srgbClr val="575757"/>
                </a:solidFill>
                <a:latin typeface="Trebuchet MS"/>
              </a:rPr>
              <a:t>Pro-forma EBITDA Margin</a:t>
            </a:r>
          </a:p>
        </p:txBody>
      </p:sp>
      <p:sp>
        <p:nvSpPr>
          <p:cNvPr id="124" name="TB124"/>
          <p:cNvSpPr txBox="1"/>
          <p:nvPr/>
        </p:nvSpPr>
        <p:spPr>
          <a:xfrm>
            <a:off x="9047988" y="2825496"/>
            <a:ext cx="2427732" cy="182880"/>
          </a:xfrm>
          <a:prstGeom prst="rect">
            <a:avLst/>
          </a:prstGeom>
          <a:noFill/>
        </p:spPr>
        <p:txBody>
          <a:bodyPr wrap="square" rtlCol="0" anchor="t"/>
          <a:lstStyle/>
          <a:p>
            <a:pPr algn="ctr"/>
            <a:r>
              <a:rPr lang="en-US" sz="1200" dirty="0">
                <a:solidFill>
                  <a:srgbClr val="6E6F73"/>
                </a:solidFill>
                <a:latin typeface="Trebuchet MS"/>
              </a:rPr>
              <a:t>+250bps lift</a:t>
            </a:r>
          </a:p>
        </p:txBody>
      </p:sp>
      <p:sp>
        <p:nvSpPr>
          <p:cNvPr id="125" name="RR125"/>
          <p:cNvSpPr/>
          <p:nvPr/>
        </p:nvSpPr>
        <p:spPr>
          <a:xfrm>
            <a:off x="630936" y="3264408"/>
            <a:ext cx="10936224" cy="475488"/>
          </a:xfrm>
          <a:prstGeom prst="roundRect">
            <a:avLst>
              <a:gd name="adj" fmla="val 5000"/>
            </a:avLst>
          </a:prstGeom>
          <a:solidFill>
            <a:srgbClr val="F2F2F2"/>
          </a:solidFill>
          <a:ln>
            <a:noFill/>
          </a:ln>
        </p:spPr>
        <p:txBody>
          <a:bodyPr/>
          <a:lstStyle/>
          <a:p>
            <a:endParaRPr lang="en-US"/>
          </a:p>
        </p:txBody>
      </p:sp>
      <p:sp>
        <p:nvSpPr>
          <p:cNvPr id="126" name="TB126"/>
          <p:cNvSpPr txBox="1"/>
          <p:nvPr/>
        </p:nvSpPr>
        <p:spPr>
          <a:xfrm>
            <a:off x="813815" y="3310128"/>
            <a:ext cx="1691640" cy="384048"/>
          </a:xfrm>
          <a:prstGeom prst="rect">
            <a:avLst/>
          </a:prstGeom>
          <a:noFill/>
        </p:spPr>
        <p:txBody>
          <a:bodyPr wrap="square" rtlCol="0" anchor="ctr"/>
          <a:lstStyle/>
          <a:p>
            <a:r>
              <a:rPr lang="en-US" sz="1200" b="1" dirty="0">
                <a:solidFill>
                  <a:srgbClr val="575757"/>
                </a:solidFill>
                <a:latin typeface="Trebuchet MS"/>
              </a:rPr>
              <a:t>SITUATION</a:t>
            </a:r>
          </a:p>
        </p:txBody>
      </p:sp>
      <p:sp>
        <p:nvSpPr>
          <p:cNvPr id="127" name="TB127"/>
          <p:cNvSpPr txBox="1"/>
          <p:nvPr/>
        </p:nvSpPr>
        <p:spPr>
          <a:xfrm>
            <a:off x="2551176" y="3310128"/>
            <a:ext cx="8833104" cy="384048"/>
          </a:xfrm>
          <a:prstGeom prst="rect">
            <a:avLst/>
          </a:prstGeom>
          <a:noFill/>
        </p:spPr>
        <p:txBody>
          <a:bodyPr wrap="square" rtlCol="0" anchor="ctr"/>
          <a:lstStyle/>
          <a:p>
            <a:r>
              <a:rPr lang="en-US" sz="1300" dirty="0">
                <a:solidFill>
                  <a:srgbClr val="575757"/>
                </a:solidFill>
                <a:latin typeface="Trebuchet MS"/>
              </a:rPr>
              <a:t>Max Healthcare is India's #2 hospital chain (4,000 beds, ₹95,000 Cr market cap) but concentrated in North India with limited specialty depth</a:t>
            </a:r>
          </a:p>
        </p:txBody>
      </p:sp>
      <p:sp>
        <p:nvSpPr>
          <p:cNvPr id="128" name="RR128"/>
          <p:cNvSpPr/>
          <p:nvPr/>
        </p:nvSpPr>
        <p:spPr>
          <a:xfrm>
            <a:off x="630936" y="3831336"/>
            <a:ext cx="10936224" cy="475488"/>
          </a:xfrm>
          <a:prstGeom prst="roundRect">
            <a:avLst>
              <a:gd name="adj" fmla="val 5000"/>
            </a:avLst>
          </a:prstGeom>
          <a:solidFill>
            <a:srgbClr val="F2F2F2"/>
          </a:solidFill>
          <a:ln>
            <a:noFill/>
          </a:ln>
        </p:spPr>
        <p:txBody>
          <a:bodyPr/>
          <a:lstStyle/>
          <a:p>
            <a:endParaRPr lang="en-US"/>
          </a:p>
        </p:txBody>
      </p:sp>
      <p:sp>
        <p:nvSpPr>
          <p:cNvPr id="129" name="TB129"/>
          <p:cNvSpPr txBox="1"/>
          <p:nvPr/>
        </p:nvSpPr>
        <p:spPr>
          <a:xfrm>
            <a:off x="813815" y="3877056"/>
            <a:ext cx="1691640" cy="384048"/>
          </a:xfrm>
          <a:prstGeom prst="rect">
            <a:avLst/>
          </a:prstGeom>
          <a:noFill/>
        </p:spPr>
        <p:txBody>
          <a:bodyPr wrap="square" rtlCol="0" anchor="ctr"/>
          <a:lstStyle/>
          <a:p>
            <a:r>
              <a:rPr lang="en-US" sz="1200" b="1" dirty="0">
                <a:solidFill>
                  <a:srgbClr val="575757"/>
                </a:solidFill>
                <a:latin typeface="Trebuchet MS"/>
              </a:rPr>
              <a:t>COMPLICATION</a:t>
            </a:r>
          </a:p>
        </p:txBody>
      </p:sp>
      <p:sp>
        <p:nvSpPr>
          <p:cNvPr id="130" name="TB130"/>
          <p:cNvSpPr txBox="1"/>
          <p:nvPr/>
        </p:nvSpPr>
        <p:spPr>
          <a:xfrm>
            <a:off x="2551176" y="3877056"/>
            <a:ext cx="8833104" cy="384048"/>
          </a:xfrm>
          <a:prstGeom prst="rect">
            <a:avLst/>
          </a:prstGeom>
          <a:noFill/>
        </p:spPr>
        <p:txBody>
          <a:bodyPr wrap="square" rtlCol="0" anchor="ctr"/>
          <a:lstStyle/>
          <a:p>
            <a:r>
              <a:rPr lang="en-US" sz="1300" dirty="0">
                <a:solidFill>
                  <a:srgbClr val="575757"/>
                </a:solidFill>
                <a:latin typeface="Trebuchet MS"/>
              </a:rPr>
              <a:t>Apollo &amp; Manipal are aggressively scaling pan-India; Indian hospital sector consolidating fast — organic-only growth cedes share by 2028</a:t>
            </a:r>
          </a:p>
        </p:txBody>
      </p:sp>
      <p:sp>
        <p:nvSpPr>
          <p:cNvPr id="131" name="RR131"/>
          <p:cNvSpPr/>
          <p:nvPr/>
        </p:nvSpPr>
        <p:spPr>
          <a:xfrm>
            <a:off x="630936" y="4398264"/>
            <a:ext cx="10936224" cy="475488"/>
          </a:xfrm>
          <a:prstGeom prst="roundRect">
            <a:avLst>
              <a:gd name="adj" fmla="val 5000"/>
            </a:avLst>
          </a:prstGeom>
          <a:solidFill>
            <a:srgbClr val="F2F2F2"/>
          </a:solidFill>
          <a:ln>
            <a:noFill/>
          </a:ln>
        </p:spPr>
        <p:txBody>
          <a:bodyPr/>
          <a:lstStyle/>
          <a:p>
            <a:endParaRPr lang="en-US"/>
          </a:p>
        </p:txBody>
      </p:sp>
      <p:sp>
        <p:nvSpPr>
          <p:cNvPr id="132" name="TB132"/>
          <p:cNvSpPr txBox="1"/>
          <p:nvPr/>
        </p:nvSpPr>
        <p:spPr>
          <a:xfrm>
            <a:off x="813815" y="4443984"/>
            <a:ext cx="1691640" cy="384048"/>
          </a:xfrm>
          <a:prstGeom prst="rect">
            <a:avLst/>
          </a:prstGeom>
          <a:noFill/>
        </p:spPr>
        <p:txBody>
          <a:bodyPr wrap="square" rtlCol="0" anchor="ctr"/>
          <a:lstStyle/>
          <a:p>
            <a:r>
              <a:rPr lang="en-US" sz="1200" b="1" dirty="0">
                <a:solidFill>
                  <a:srgbClr val="575757"/>
                </a:solidFill>
                <a:latin typeface="Trebuchet MS"/>
              </a:rPr>
              <a:t>QUESTION</a:t>
            </a:r>
          </a:p>
        </p:txBody>
      </p:sp>
      <p:sp>
        <p:nvSpPr>
          <p:cNvPr id="133" name="TB133"/>
          <p:cNvSpPr txBox="1"/>
          <p:nvPr/>
        </p:nvSpPr>
        <p:spPr>
          <a:xfrm>
            <a:off x="2551176" y="4443984"/>
            <a:ext cx="8833104" cy="384048"/>
          </a:xfrm>
          <a:prstGeom prst="rect">
            <a:avLst/>
          </a:prstGeom>
          <a:noFill/>
        </p:spPr>
        <p:txBody>
          <a:bodyPr wrap="square" rtlCol="0" anchor="ctr"/>
          <a:lstStyle/>
          <a:p>
            <a:r>
              <a:rPr lang="en-US" sz="1300" dirty="0">
                <a:solidFill>
                  <a:srgbClr val="575757"/>
                </a:solidFill>
                <a:latin typeface="Trebuchet MS"/>
              </a:rPr>
              <a:t>Which acquisitions deliver geographic + specialty diversification at acceptable returns, and what is the right sequencing and capital structure?</a:t>
            </a:r>
          </a:p>
        </p:txBody>
      </p:sp>
      <p:sp>
        <p:nvSpPr>
          <p:cNvPr id="134" name="RR134"/>
          <p:cNvSpPr/>
          <p:nvPr/>
        </p:nvSpPr>
        <p:spPr>
          <a:xfrm>
            <a:off x="630936" y="4965192"/>
            <a:ext cx="10936224" cy="475488"/>
          </a:xfrm>
          <a:prstGeom prst="roundRect">
            <a:avLst>
              <a:gd name="adj" fmla="val 5000"/>
            </a:avLst>
          </a:prstGeom>
          <a:solidFill>
            <a:schemeClr val="tx2"/>
          </a:solidFill>
          <a:ln>
            <a:noFill/>
          </a:ln>
        </p:spPr>
        <p:txBody>
          <a:bodyPr/>
          <a:lstStyle/>
          <a:p>
            <a:endParaRPr lang="en-US"/>
          </a:p>
        </p:txBody>
      </p:sp>
      <p:sp>
        <p:nvSpPr>
          <p:cNvPr id="135" name="TB135"/>
          <p:cNvSpPr txBox="1"/>
          <p:nvPr/>
        </p:nvSpPr>
        <p:spPr>
          <a:xfrm>
            <a:off x="813815" y="5010912"/>
            <a:ext cx="1691640" cy="384048"/>
          </a:xfrm>
          <a:prstGeom prst="rect">
            <a:avLst/>
          </a:prstGeom>
          <a:noFill/>
        </p:spPr>
        <p:txBody>
          <a:bodyPr wrap="square" rtlCol="0" anchor="ctr"/>
          <a:lstStyle/>
          <a:p>
            <a:r>
              <a:rPr lang="en-US" sz="1200" b="1" dirty="0">
                <a:solidFill>
                  <a:srgbClr val="FFFFFF"/>
                </a:solidFill>
                <a:latin typeface="Trebuchet MS"/>
              </a:rPr>
              <a:t>ANSWER</a:t>
            </a:r>
          </a:p>
        </p:txBody>
      </p:sp>
      <p:sp>
        <p:nvSpPr>
          <p:cNvPr id="136" name="TB136"/>
          <p:cNvSpPr txBox="1"/>
          <p:nvPr/>
        </p:nvSpPr>
        <p:spPr>
          <a:xfrm>
            <a:off x="2551176" y="5010912"/>
            <a:ext cx="8833104" cy="384048"/>
          </a:xfrm>
          <a:prstGeom prst="rect">
            <a:avLst/>
          </a:prstGeom>
          <a:noFill/>
        </p:spPr>
        <p:txBody>
          <a:bodyPr wrap="square" rtlCol="0" anchor="ctr"/>
          <a:lstStyle/>
          <a:p>
            <a:r>
              <a:rPr lang="en-US" sz="1300" b="1" dirty="0">
                <a:solidFill>
                  <a:srgbClr val="FFFFFF"/>
                </a:solidFill>
                <a:latin typeface="Trebuchet MS"/>
              </a:rPr>
              <a:t>Pursue 5-target playbook led by HCG (oncology) and KIMS (South India) — combined ₹4,500 Cr value with 22%+ blended IRR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EC902EB-5822-2B15-607F-4DB60D47234B}"/>
              </a:ext>
            </a:extLst>
          </p:cNvPr>
          <p:cNvGraphicFramePr>
            <a:graphicFrameLocks noChangeAspect="1"/>
          </p:cNvGraphicFramePr>
          <p:nvPr>
            <p:custDataLst>
              <p:tags r:id="rId1"/>
            </p:custDataLst>
            <p:extLst>
              <p:ext uri="{D42A27DB-BD31-4B8C-83A1-F6EECF244321}">
                <p14:modId xmlns:p14="http://schemas.microsoft.com/office/powerpoint/2010/main" val="3999742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7" name="ph_title"/>
          <p:cNvSpPr>
            <a:spLocks noGrp="1"/>
          </p:cNvSpPr>
          <p:nvPr>
            <p:ph type="title"/>
          </p:nvPr>
        </p:nvSpPr>
        <p:spPr/>
        <p:txBody>
          <a:bodyPr vert="horz"/>
          <a:lstStyle/>
          <a:p>
            <a:r>
              <a:rPr lang="en-US" dirty="0"/>
              <a:t>Indian healthcare set for ~17% CAGR — hospital segment to triple by 2030</a:t>
            </a:r>
          </a:p>
        </p:txBody>
      </p:sp>
      <p:sp>
        <p:nvSpPr>
          <p:cNvPr id="138" name="R138"/>
          <p:cNvSpPr/>
          <p:nvPr/>
        </p:nvSpPr>
        <p:spPr>
          <a:xfrm>
            <a:off x="7594274" y="2075688"/>
            <a:ext cx="3972885" cy="365760"/>
          </a:xfrm>
          <a:prstGeom prst="rect">
            <a:avLst/>
          </a:prstGeom>
          <a:solidFill>
            <a:schemeClr val="tx2"/>
          </a:solidFill>
          <a:ln>
            <a:noFill/>
          </a:ln>
        </p:spPr>
        <p:txBody>
          <a:bodyPr/>
          <a:lstStyle/>
          <a:p>
            <a:endParaRPr lang="en-US"/>
          </a:p>
        </p:txBody>
      </p:sp>
      <p:sp>
        <p:nvSpPr>
          <p:cNvPr id="139" name="TB139"/>
          <p:cNvSpPr txBox="1"/>
          <p:nvPr/>
        </p:nvSpPr>
        <p:spPr>
          <a:xfrm>
            <a:off x="7731434" y="2075688"/>
            <a:ext cx="3698565" cy="365760"/>
          </a:xfrm>
          <a:prstGeom prst="rect">
            <a:avLst/>
          </a:prstGeom>
          <a:noFill/>
        </p:spPr>
        <p:txBody>
          <a:bodyPr wrap="square" rtlCol="0" anchor="ctr"/>
          <a:lstStyle/>
          <a:p>
            <a:r>
              <a:rPr lang="en-US" sz="1400" b="1" dirty="0">
                <a:solidFill>
                  <a:srgbClr val="FFFFFF"/>
                </a:solidFill>
                <a:latin typeface="Trebuchet MS"/>
              </a:rPr>
              <a:t>Six structural tailwinds</a:t>
            </a:r>
          </a:p>
        </p:txBody>
      </p:sp>
      <p:sp>
        <p:nvSpPr>
          <p:cNvPr id="140" name="BL140"/>
          <p:cNvSpPr txBox="1"/>
          <p:nvPr/>
        </p:nvSpPr>
        <p:spPr>
          <a:xfrm>
            <a:off x="7685714" y="2532888"/>
            <a:ext cx="3790005" cy="1624431"/>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Insurance penetration: 35% → 60% by 2030</a:t>
            </a:r>
          </a:p>
          <a:p>
            <a:pPr marL="228600" indent="-228600" algn="l">
              <a:spcAft>
                <a:spcPts val="400"/>
              </a:spcAft>
              <a:buChar char="-"/>
            </a:pPr>
            <a:r>
              <a:rPr lang="en-US" sz="1100" dirty="0">
                <a:solidFill>
                  <a:srgbClr val="575757"/>
                </a:solidFill>
                <a:latin typeface="Trebuchet MS"/>
              </a:rPr>
              <a:t>NCDs now 65% of mortality burden</a:t>
            </a:r>
          </a:p>
          <a:p>
            <a:pPr marL="228600" indent="-228600" algn="l">
              <a:spcAft>
                <a:spcPts val="400"/>
              </a:spcAft>
              <a:buChar char="-"/>
            </a:pPr>
            <a:r>
              <a:rPr lang="en-US" sz="1100" dirty="0">
                <a:solidFill>
                  <a:srgbClr val="575757"/>
                </a:solidFill>
                <a:latin typeface="Trebuchet MS"/>
              </a:rPr>
              <a:t>Aging: 60+ population doubles by 2030</a:t>
            </a:r>
          </a:p>
          <a:p>
            <a:pPr marL="228600" indent="-228600" algn="l">
              <a:spcAft>
                <a:spcPts val="400"/>
              </a:spcAft>
              <a:buChar char="-"/>
            </a:pPr>
            <a:r>
              <a:rPr lang="en-US" sz="1100" dirty="0">
                <a:solidFill>
                  <a:srgbClr val="575757"/>
                </a:solidFill>
                <a:latin typeface="Trebuchet MS"/>
              </a:rPr>
              <a:t>Medical tourism: $13bn by 2028</a:t>
            </a:r>
          </a:p>
          <a:p>
            <a:pPr marL="228600" indent="-228600" algn="l">
              <a:spcAft>
                <a:spcPts val="400"/>
              </a:spcAft>
              <a:buChar char="-"/>
            </a:pPr>
            <a:r>
              <a:rPr lang="en-US" sz="1100" dirty="0">
                <a:solidFill>
                  <a:srgbClr val="575757"/>
                </a:solidFill>
                <a:latin typeface="Trebuchet MS"/>
              </a:rPr>
              <a:t>Bed gap: 1.4 vs WHO 3.5 per 1,000</a:t>
            </a:r>
          </a:p>
          <a:p>
            <a:pPr marL="228600" indent="-228600" algn="l">
              <a:spcAft>
                <a:spcPts val="400"/>
              </a:spcAft>
              <a:buChar char="-"/>
            </a:pPr>
            <a:r>
              <a:rPr lang="en-US" sz="1100" dirty="0">
                <a:solidFill>
                  <a:srgbClr val="575757"/>
                </a:solidFill>
                <a:latin typeface="Trebuchet MS"/>
              </a:rPr>
              <a:t>PE dry powder: $50B+ Asia HC</a:t>
            </a:r>
          </a:p>
        </p:txBody>
      </p:sp>
      <p:sp>
        <p:nvSpPr>
          <p:cNvPr id="141" name="RR141"/>
          <p:cNvSpPr/>
          <p:nvPr/>
        </p:nvSpPr>
        <p:spPr>
          <a:xfrm>
            <a:off x="630936" y="4385919"/>
            <a:ext cx="2077516" cy="1557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42" name="R142"/>
          <p:cNvSpPr/>
          <p:nvPr/>
        </p:nvSpPr>
        <p:spPr>
          <a:xfrm>
            <a:off x="630936" y="4385919"/>
            <a:ext cx="73152" cy="1557680"/>
          </a:xfrm>
          <a:prstGeom prst="rect">
            <a:avLst/>
          </a:prstGeom>
          <a:solidFill>
            <a:schemeClr val="tx2"/>
          </a:solidFill>
          <a:ln>
            <a:noFill/>
          </a:ln>
        </p:spPr>
        <p:txBody>
          <a:bodyPr/>
          <a:lstStyle/>
          <a:p>
            <a:endParaRPr lang="en-US"/>
          </a:p>
        </p:txBody>
      </p:sp>
      <p:sp>
        <p:nvSpPr>
          <p:cNvPr id="143" name="TB143"/>
          <p:cNvSpPr txBox="1"/>
          <p:nvPr/>
        </p:nvSpPr>
        <p:spPr>
          <a:xfrm>
            <a:off x="722375" y="4477359"/>
            <a:ext cx="1894636" cy="320040"/>
          </a:xfrm>
          <a:prstGeom prst="rect">
            <a:avLst/>
          </a:prstGeom>
          <a:noFill/>
        </p:spPr>
        <p:txBody>
          <a:bodyPr wrap="square" rtlCol="0" anchor="t"/>
          <a:lstStyle/>
          <a:p>
            <a:pPr algn="ctr"/>
            <a:r>
              <a:rPr lang="en-US" sz="1800" b="1" dirty="0">
                <a:solidFill>
                  <a:schemeClr val="tx2"/>
                </a:solidFill>
                <a:latin typeface="Trebuchet MS"/>
              </a:rPr>
              <a:t>$370B</a:t>
            </a:r>
          </a:p>
        </p:txBody>
      </p:sp>
      <p:sp>
        <p:nvSpPr>
          <p:cNvPr id="144" name="TB144"/>
          <p:cNvSpPr txBox="1"/>
          <p:nvPr/>
        </p:nvSpPr>
        <p:spPr>
          <a:xfrm>
            <a:off x="722375" y="4843119"/>
            <a:ext cx="1894636" cy="274320"/>
          </a:xfrm>
          <a:prstGeom prst="rect">
            <a:avLst/>
          </a:prstGeom>
          <a:noFill/>
        </p:spPr>
        <p:txBody>
          <a:bodyPr wrap="square" rtlCol="0" anchor="t"/>
          <a:lstStyle/>
          <a:p>
            <a:pPr algn="ctr"/>
            <a:r>
              <a:rPr lang="en-US" sz="1100" dirty="0">
                <a:solidFill>
                  <a:srgbClr val="575757"/>
                </a:solidFill>
                <a:latin typeface="Trebuchet MS"/>
              </a:rPr>
              <a:t>Indian HC market (FY26E)</a:t>
            </a:r>
          </a:p>
        </p:txBody>
      </p:sp>
      <p:sp>
        <p:nvSpPr>
          <p:cNvPr id="145" name="RR145"/>
          <p:cNvSpPr/>
          <p:nvPr/>
        </p:nvSpPr>
        <p:spPr>
          <a:xfrm>
            <a:off x="2845612" y="4385919"/>
            <a:ext cx="2077516" cy="1557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46" name="R146"/>
          <p:cNvSpPr/>
          <p:nvPr/>
        </p:nvSpPr>
        <p:spPr>
          <a:xfrm>
            <a:off x="2845612" y="4385919"/>
            <a:ext cx="73152" cy="1557680"/>
          </a:xfrm>
          <a:prstGeom prst="rect">
            <a:avLst/>
          </a:prstGeom>
          <a:solidFill>
            <a:schemeClr val="tx2"/>
          </a:solidFill>
          <a:ln>
            <a:noFill/>
          </a:ln>
        </p:spPr>
        <p:txBody>
          <a:bodyPr/>
          <a:lstStyle/>
          <a:p>
            <a:endParaRPr lang="en-US"/>
          </a:p>
        </p:txBody>
      </p:sp>
      <p:sp>
        <p:nvSpPr>
          <p:cNvPr id="147" name="TB147"/>
          <p:cNvSpPr txBox="1"/>
          <p:nvPr/>
        </p:nvSpPr>
        <p:spPr>
          <a:xfrm>
            <a:off x="2937052" y="4477359"/>
            <a:ext cx="1894636" cy="320040"/>
          </a:xfrm>
          <a:prstGeom prst="rect">
            <a:avLst/>
          </a:prstGeom>
          <a:noFill/>
        </p:spPr>
        <p:txBody>
          <a:bodyPr wrap="square" rtlCol="0" anchor="t"/>
          <a:lstStyle/>
          <a:p>
            <a:pPr algn="ctr"/>
            <a:r>
              <a:rPr lang="en-US" sz="1800" b="1" dirty="0">
                <a:solidFill>
                  <a:schemeClr val="tx2"/>
                </a:solidFill>
                <a:latin typeface="Trebuchet MS"/>
              </a:rPr>
              <a:t>17%</a:t>
            </a:r>
          </a:p>
        </p:txBody>
      </p:sp>
      <p:sp>
        <p:nvSpPr>
          <p:cNvPr id="148" name="TB148"/>
          <p:cNvSpPr txBox="1"/>
          <p:nvPr/>
        </p:nvSpPr>
        <p:spPr>
          <a:xfrm>
            <a:off x="2937052" y="4843119"/>
            <a:ext cx="1894636" cy="274320"/>
          </a:xfrm>
          <a:prstGeom prst="rect">
            <a:avLst/>
          </a:prstGeom>
          <a:noFill/>
        </p:spPr>
        <p:txBody>
          <a:bodyPr wrap="square" rtlCol="0" anchor="t"/>
          <a:lstStyle/>
          <a:p>
            <a:pPr algn="ctr"/>
            <a:r>
              <a:rPr lang="en-US" sz="1100" dirty="0">
                <a:solidFill>
                  <a:srgbClr val="575757"/>
                </a:solidFill>
                <a:latin typeface="Trebuchet MS"/>
              </a:rPr>
              <a:t>FY24-30 sector CAGR</a:t>
            </a:r>
          </a:p>
        </p:txBody>
      </p:sp>
      <p:sp>
        <p:nvSpPr>
          <p:cNvPr id="149" name="RR149"/>
          <p:cNvSpPr/>
          <p:nvPr/>
        </p:nvSpPr>
        <p:spPr>
          <a:xfrm>
            <a:off x="5060289" y="4385919"/>
            <a:ext cx="2077516" cy="1557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50" name="R150"/>
          <p:cNvSpPr/>
          <p:nvPr/>
        </p:nvSpPr>
        <p:spPr>
          <a:xfrm>
            <a:off x="5060289" y="4385919"/>
            <a:ext cx="73152" cy="1557680"/>
          </a:xfrm>
          <a:prstGeom prst="rect">
            <a:avLst/>
          </a:prstGeom>
          <a:solidFill>
            <a:schemeClr val="tx2"/>
          </a:solidFill>
          <a:ln>
            <a:noFill/>
          </a:ln>
        </p:spPr>
        <p:txBody>
          <a:bodyPr/>
          <a:lstStyle/>
          <a:p>
            <a:endParaRPr lang="en-US"/>
          </a:p>
        </p:txBody>
      </p:sp>
      <p:sp>
        <p:nvSpPr>
          <p:cNvPr id="151" name="TB151"/>
          <p:cNvSpPr txBox="1"/>
          <p:nvPr/>
        </p:nvSpPr>
        <p:spPr>
          <a:xfrm>
            <a:off x="5151729" y="4477359"/>
            <a:ext cx="1894636" cy="320040"/>
          </a:xfrm>
          <a:prstGeom prst="rect">
            <a:avLst/>
          </a:prstGeom>
          <a:noFill/>
        </p:spPr>
        <p:txBody>
          <a:bodyPr wrap="square" rtlCol="0" anchor="t"/>
          <a:lstStyle/>
          <a:p>
            <a:pPr algn="ctr"/>
            <a:r>
              <a:rPr lang="en-US" sz="1800" b="1" dirty="0">
                <a:solidFill>
                  <a:schemeClr val="tx2"/>
                </a:solidFill>
                <a:latin typeface="Trebuchet MS"/>
              </a:rPr>
              <a:t>$130B</a:t>
            </a:r>
          </a:p>
        </p:txBody>
      </p:sp>
      <p:sp>
        <p:nvSpPr>
          <p:cNvPr id="152" name="TB152"/>
          <p:cNvSpPr txBox="1"/>
          <p:nvPr/>
        </p:nvSpPr>
        <p:spPr>
          <a:xfrm>
            <a:off x="5151729" y="4843119"/>
            <a:ext cx="1894636" cy="274320"/>
          </a:xfrm>
          <a:prstGeom prst="rect">
            <a:avLst/>
          </a:prstGeom>
          <a:noFill/>
        </p:spPr>
        <p:txBody>
          <a:bodyPr wrap="square" rtlCol="0" anchor="t"/>
          <a:lstStyle/>
          <a:p>
            <a:pPr algn="ctr"/>
            <a:r>
              <a:rPr lang="en-US" sz="1100" dirty="0">
                <a:solidFill>
                  <a:srgbClr val="575757"/>
                </a:solidFill>
                <a:latin typeface="Trebuchet MS"/>
              </a:rPr>
              <a:t>Hospitals segment (FY26E)</a:t>
            </a:r>
          </a:p>
        </p:txBody>
      </p:sp>
      <p:sp>
        <p:nvSpPr>
          <p:cNvPr id="153" name="RR153"/>
          <p:cNvSpPr/>
          <p:nvPr/>
        </p:nvSpPr>
        <p:spPr>
          <a:xfrm>
            <a:off x="7274966" y="4385919"/>
            <a:ext cx="2077516" cy="1557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54" name="R154"/>
          <p:cNvSpPr/>
          <p:nvPr/>
        </p:nvSpPr>
        <p:spPr>
          <a:xfrm>
            <a:off x="7274966" y="4385919"/>
            <a:ext cx="73152" cy="1557680"/>
          </a:xfrm>
          <a:prstGeom prst="rect">
            <a:avLst/>
          </a:prstGeom>
          <a:solidFill>
            <a:schemeClr val="tx2"/>
          </a:solidFill>
          <a:ln>
            <a:noFill/>
          </a:ln>
        </p:spPr>
        <p:txBody>
          <a:bodyPr/>
          <a:lstStyle/>
          <a:p>
            <a:endParaRPr lang="en-US"/>
          </a:p>
        </p:txBody>
      </p:sp>
      <p:sp>
        <p:nvSpPr>
          <p:cNvPr id="155" name="TB155"/>
          <p:cNvSpPr txBox="1"/>
          <p:nvPr/>
        </p:nvSpPr>
        <p:spPr>
          <a:xfrm>
            <a:off x="7366406" y="4477359"/>
            <a:ext cx="1894636" cy="320040"/>
          </a:xfrm>
          <a:prstGeom prst="rect">
            <a:avLst/>
          </a:prstGeom>
          <a:noFill/>
        </p:spPr>
        <p:txBody>
          <a:bodyPr wrap="square" rtlCol="0" anchor="t"/>
          <a:lstStyle/>
          <a:p>
            <a:pPr algn="ctr"/>
            <a:r>
              <a:rPr lang="en-US" sz="1800" b="1" dirty="0">
                <a:solidFill>
                  <a:schemeClr val="tx2"/>
                </a:solidFill>
                <a:latin typeface="Trebuchet MS"/>
              </a:rPr>
              <a:t>~$50B</a:t>
            </a:r>
          </a:p>
        </p:txBody>
      </p:sp>
      <p:sp>
        <p:nvSpPr>
          <p:cNvPr id="156" name="TB156"/>
          <p:cNvSpPr txBox="1"/>
          <p:nvPr/>
        </p:nvSpPr>
        <p:spPr>
          <a:xfrm>
            <a:off x="7366406" y="4843119"/>
            <a:ext cx="1894636" cy="274320"/>
          </a:xfrm>
          <a:prstGeom prst="rect">
            <a:avLst/>
          </a:prstGeom>
          <a:noFill/>
        </p:spPr>
        <p:txBody>
          <a:bodyPr wrap="square" rtlCol="0" anchor="t"/>
          <a:lstStyle/>
          <a:p>
            <a:pPr algn="ctr"/>
            <a:r>
              <a:rPr lang="en-US" sz="1100" dirty="0">
                <a:solidFill>
                  <a:srgbClr val="575757"/>
                </a:solidFill>
                <a:latin typeface="Trebuchet MS"/>
              </a:rPr>
              <a:t>Asia HC PE dry powder</a:t>
            </a:r>
          </a:p>
        </p:txBody>
      </p:sp>
      <p:sp>
        <p:nvSpPr>
          <p:cNvPr id="157" name="RR157"/>
          <p:cNvSpPr/>
          <p:nvPr/>
        </p:nvSpPr>
        <p:spPr>
          <a:xfrm>
            <a:off x="9489643" y="4385919"/>
            <a:ext cx="2077516" cy="1557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58" name="R158"/>
          <p:cNvSpPr/>
          <p:nvPr/>
        </p:nvSpPr>
        <p:spPr>
          <a:xfrm>
            <a:off x="9489643" y="4385919"/>
            <a:ext cx="73152" cy="1557680"/>
          </a:xfrm>
          <a:prstGeom prst="rect">
            <a:avLst/>
          </a:prstGeom>
          <a:solidFill>
            <a:schemeClr val="tx2"/>
          </a:solidFill>
          <a:ln>
            <a:noFill/>
          </a:ln>
        </p:spPr>
        <p:txBody>
          <a:bodyPr/>
          <a:lstStyle/>
          <a:p>
            <a:endParaRPr lang="en-US"/>
          </a:p>
        </p:txBody>
      </p:sp>
      <p:sp>
        <p:nvSpPr>
          <p:cNvPr id="159" name="TB159"/>
          <p:cNvSpPr txBox="1"/>
          <p:nvPr/>
        </p:nvSpPr>
        <p:spPr>
          <a:xfrm>
            <a:off x="9581083" y="4477359"/>
            <a:ext cx="1894636" cy="320040"/>
          </a:xfrm>
          <a:prstGeom prst="rect">
            <a:avLst/>
          </a:prstGeom>
          <a:noFill/>
        </p:spPr>
        <p:txBody>
          <a:bodyPr wrap="square" rtlCol="0" anchor="t"/>
          <a:lstStyle/>
          <a:p>
            <a:pPr algn="ctr"/>
            <a:r>
              <a:rPr lang="en-US" sz="1800" b="1" dirty="0">
                <a:solidFill>
                  <a:schemeClr val="tx2"/>
                </a:solidFill>
                <a:latin typeface="Trebuchet MS"/>
              </a:rPr>
              <a:t>₹2,15,000 Cr</a:t>
            </a:r>
          </a:p>
        </p:txBody>
      </p:sp>
      <p:sp>
        <p:nvSpPr>
          <p:cNvPr id="160" name="TB160"/>
          <p:cNvSpPr txBox="1"/>
          <p:nvPr/>
        </p:nvSpPr>
        <p:spPr>
          <a:xfrm>
            <a:off x="9581083" y="4843119"/>
            <a:ext cx="1894636" cy="274320"/>
          </a:xfrm>
          <a:prstGeom prst="rect">
            <a:avLst/>
          </a:prstGeom>
          <a:noFill/>
        </p:spPr>
        <p:txBody>
          <a:bodyPr wrap="square" rtlCol="0" anchor="t"/>
          <a:lstStyle/>
          <a:p>
            <a:pPr algn="ctr"/>
            <a:r>
              <a:rPr lang="en-US" sz="1100" dirty="0">
                <a:solidFill>
                  <a:srgbClr val="575757"/>
                </a:solidFill>
                <a:latin typeface="Trebuchet MS"/>
              </a:rPr>
              <a:t>Hospital market by FY30</a:t>
            </a:r>
          </a:p>
        </p:txBody>
      </p:sp>
      <p:graphicFrame>
        <p:nvGraphicFramePr>
          <p:cNvPr id="161" name="Chart 160"/>
          <p:cNvGraphicFramePr>
            <a:graphicFrameLocks noGrp="1"/>
          </p:cNvGraphicFramePr>
          <p:nvPr>
            <p:extLst>
              <p:ext uri="{D42A27DB-BD31-4B8C-83A1-F6EECF244321}">
                <p14:modId xmlns:p14="http://schemas.microsoft.com/office/powerpoint/2010/main" val="1966659970"/>
              </p:ext>
            </p:extLst>
          </p:nvPr>
        </p:nvGraphicFramePr>
        <p:xfrm>
          <a:off x="630936" y="2075688"/>
          <a:ext cx="6780458" cy="2127351"/>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3CC02F1-3F4C-CF0B-690A-D41D849DED04}"/>
              </a:ext>
            </a:extLst>
          </p:cNvPr>
          <p:cNvGraphicFramePr>
            <a:graphicFrameLocks noChangeAspect="1"/>
          </p:cNvGraphicFramePr>
          <p:nvPr>
            <p:custDataLst>
              <p:tags r:id="rId1"/>
            </p:custDataLst>
            <p:extLst>
              <p:ext uri="{D42A27DB-BD31-4B8C-83A1-F6EECF244321}">
                <p14:modId xmlns:p14="http://schemas.microsoft.com/office/powerpoint/2010/main" val="9773668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1" name="ph_title"/>
          <p:cNvSpPr>
            <a:spLocks noGrp="1"/>
          </p:cNvSpPr>
          <p:nvPr>
            <p:ph type="title"/>
          </p:nvPr>
        </p:nvSpPr>
        <p:spPr/>
        <p:txBody>
          <a:bodyPr vert="horz"/>
          <a:lstStyle/>
          <a:p>
            <a:r>
              <a:rPr lang="en-US" dirty="0"/>
              <a:t>Max is structurally over-indexed to North India and acute care — 3 white spaces</a:t>
            </a:r>
          </a:p>
        </p:txBody>
      </p:sp>
      <p:sp>
        <p:nvSpPr>
          <p:cNvPr id="162" name="RR162"/>
          <p:cNvSpPr/>
          <p:nvPr/>
        </p:nvSpPr>
        <p:spPr>
          <a:xfrm>
            <a:off x="630936" y="4192524"/>
            <a:ext cx="3523488" cy="17510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63" name="R163"/>
          <p:cNvSpPr/>
          <p:nvPr/>
        </p:nvSpPr>
        <p:spPr>
          <a:xfrm>
            <a:off x="630936" y="4192524"/>
            <a:ext cx="3523488" cy="54864"/>
          </a:xfrm>
          <a:prstGeom prst="rect">
            <a:avLst/>
          </a:prstGeom>
          <a:solidFill>
            <a:srgbClr val="03522D"/>
          </a:solidFill>
          <a:ln>
            <a:noFill/>
          </a:ln>
        </p:spPr>
        <p:txBody>
          <a:bodyPr/>
          <a:lstStyle/>
          <a:p>
            <a:endParaRPr lang="en-US"/>
          </a:p>
        </p:txBody>
      </p:sp>
      <p:sp>
        <p:nvSpPr>
          <p:cNvPr id="164" name="R164"/>
          <p:cNvSpPr/>
          <p:nvPr/>
        </p:nvSpPr>
        <p:spPr>
          <a:xfrm>
            <a:off x="630936" y="4192524"/>
            <a:ext cx="3523488" cy="320040"/>
          </a:xfrm>
          <a:prstGeom prst="rect">
            <a:avLst/>
          </a:prstGeom>
          <a:solidFill>
            <a:schemeClr val="tx2"/>
          </a:solidFill>
          <a:ln>
            <a:noFill/>
          </a:ln>
        </p:spPr>
        <p:txBody>
          <a:bodyPr/>
          <a:lstStyle/>
          <a:p>
            <a:endParaRPr lang="en-US"/>
          </a:p>
        </p:txBody>
      </p:sp>
      <p:sp>
        <p:nvSpPr>
          <p:cNvPr id="165" name="TB165"/>
          <p:cNvSpPr txBox="1"/>
          <p:nvPr/>
        </p:nvSpPr>
        <p:spPr>
          <a:xfrm>
            <a:off x="722375" y="4192524"/>
            <a:ext cx="3340608" cy="320040"/>
          </a:xfrm>
          <a:prstGeom prst="rect">
            <a:avLst/>
          </a:prstGeom>
          <a:noFill/>
        </p:spPr>
        <p:txBody>
          <a:bodyPr wrap="square" rtlCol="0" anchor="ctr"/>
          <a:lstStyle/>
          <a:p>
            <a:r>
              <a:rPr lang="en-US" sz="1300" b="1" dirty="0">
                <a:solidFill>
                  <a:srgbClr val="FFFFFF"/>
                </a:solidFill>
                <a:latin typeface="Trebuchet MS"/>
              </a:rPr>
              <a:t>Geographic White Space</a:t>
            </a:r>
          </a:p>
        </p:txBody>
      </p:sp>
      <p:sp>
        <p:nvSpPr>
          <p:cNvPr id="166" name="TB166"/>
          <p:cNvSpPr txBox="1"/>
          <p:nvPr/>
        </p:nvSpPr>
        <p:spPr>
          <a:xfrm>
            <a:off x="722375" y="4576572"/>
            <a:ext cx="3340608" cy="274320"/>
          </a:xfrm>
          <a:prstGeom prst="rect">
            <a:avLst/>
          </a:prstGeom>
          <a:noFill/>
        </p:spPr>
        <p:txBody>
          <a:bodyPr wrap="square" rtlCol="0" anchor="t"/>
          <a:lstStyle/>
          <a:p>
            <a:r>
              <a:rPr lang="en-US" sz="1400" b="1" dirty="0">
                <a:solidFill>
                  <a:schemeClr val="tx2"/>
                </a:solidFill>
                <a:latin typeface="Trebuchet MS"/>
              </a:rPr>
              <a:t>0% bed share, South India</a:t>
            </a:r>
          </a:p>
        </p:txBody>
      </p:sp>
      <p:sp>
        <p:nvSpPr>
          <p:cNvPr id="167" name="BL167"/>
          <p:cNvSpPr txBox="1"/>
          <p:nvPr/>
        </p:nvSpPr>
        <p:spPr>
          <a:xfrm>
            <a:off x="722375" y="4905756"/>
            <a:ext cx="3340608" cy="973836"/>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No presence in Bengaluru, Hyderabad, Chennai</a:t>
            </a:r>
          </a:p>
          <a:p>
            <a:pPr marL="228600" indent="-228600" algn="l">
              <a:spcAft>
                <a:spcPts val="400"/>
              </a:spcAft>
              <a:buChar char="-"/>
            </a:pPr>
            <a:r>
              <a:rPr lang="en-US" sz="1100" dirty="0">
                <a:solidFill>
                  <a:srgbClr val="575757"/>
                </a:solidFill>
                <a:latin typeface="Trebuchet MS"/>
              </a:rPr>
              <a:t>South India HC mkt growing 19% CAGR</a:t>
            </a:r>
          </a:p>
          <a:p>
            <a:pPr marL="228600" indent="-228600" algn="l">
              <a:spcAft>
                <a:spcPts val="400"/>
              </a:spcAft>
              <a:buChar char="-"/>
            </a:pPr>
            <a:r>
              <a:rPr lang="en-US" sz="1100" dirty="0">
                <a:solidFill>
                  <a:srgbClr val="575757"/>
                </a:solidFill>
                <a:latin typeface="Trebuchet MS"/>
              </a:rPr>
              <a:t>$45-55B regional opportunity by 2030</a:t>
            </a:r>
          </a:p>
        </p:txBody>
      </p:sp>
      <p:sp>
        <p:nvSpPr>
          <p:cNvPr id="168" name="RR168"/>
          <p:cNvSpPr/>
          <p:nvPr/>
        </p:nvSpPr>
        <p:spPr>
          <a:xfrm>
            <a:off x="4337304" y="4192524"/>
            <a:ext cx="3523488" cy="17510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69" name="R169"/>
          <p:cNvSpPr/>
          <p:nvPr/>
        </p:nvSpPr>
        <p:spPr>
          <a:xfrm>
            <a:off x="4337304" y="4192524"/>
            <a:ext cx="3523488" cy="54864"/>
          </a:xfrm>
          <a:prstGeom prst="rect">
            <a:avLst/>
          </a:prstGeom>
          <a:solidFill>
            <a:srgbClr val="295E7E"/>
          </a:solidFill>
          <a:ln>
            <a:noFill/>
          </a:ln>
        </p:spPr>
        <p:txBody>
          <a:bodyPr/>
          <a:lstStyle/>
          <a:p>
            <a:endParaRPr lang="en-US"/>
          </a:p>
        </p:txBody>
      </p:sp>
      <p:sp>
        <p:nvSpPr>
          <p:cNvPr id="170" name="R170"/>
          <p:cNvSpPr/>
          <p:nvPr/>
        </p:nvSpPr>
        <p:spPr>
          <a:xfrm>
            <a:off x="4337304" y="4192524"/>
            <a:ext cx="3523488" cy="320040"/>
          </a:xfrm>
          <a:prstGeom prst="rect">
            <a:avLst/>
          </a:prstGeom>
          <a:solidFill>
            <a:srgbClr val="295E7E"/>
          </a:solidFill>
          <a:ln>
            <a:noFill/>
          </a:ln>
        </p:spPr>
        <p:txBody>
          <a:bodyPr/>
          <a:lstStyle/>
          <a:p>
            <a:endParaRPr lang="en-US"/>
          </a:p>
        </p:txBody>
      </p:sp>
      <p:sp>
        <p:nvSpPr>
          <p:cNvPr id="171" name="TB171"/>
          <p:cNvSpPr txBox="1"/>
          <p:nvPr/>
        </p:nvSpPr>
        <p:spPr>
          <a:xfrm>
            <a:off x="4428744" y="4192524"/>
            <a:ext cx="3340608" cy="320040"/>
          </a:xfrm>
          <a:prstGeom prst="rect">
            <a:avLst/>
          </a:prstGeom>
          <a:noFill/>
        </p:spPr>
        <p:txBody>
          <a:bodyPr wrap="square" rtlCol="0" anchor="ctr"/>
          <a:lstStyle/>
          <a:p>
            <a:r>
              <a:rPr lang="en-US" sz="1300" b="1" dirty="0">
                <a:solidFill>
                  <a:srgbClr val="FFFFFF"/>
                </a:solidFill>
                <a:latin typeface="Trebuchet MS"/>
              </a:rPr>
              <a:t>Specialty Depth Gap</a:t>
            </a:r>
          </a:p>
        </p:txBody>
      </p:sp>
      <p:sp>
        <p:nvSpPr>
          <p:cNvPr id="172" name="TB172"/>
          <p:cNvSpPr txBox="1"/>
          <p:nvPr/>
        </p:nvSpPr>
        <p:spPr>
          <a:xfrm>
            <a:off x="4428744" y="4576572"/>
            <a:ext cx="3340608" cy="274320"/>
          </a:xfrm>
          <a:prstGeom prst="rect">
            <a:avLst/>
          </a:prstGeom>
          <a:noFill/>
        </p:spPr>
        <p:txBody>
          <a:bodyPr wrap="square" rtlCol="0" anchor="t"/>
          <a:lstStyle/>
          <a:p>
            <a:r>
              <a:rPr lang="en-US" sz="1400" b="1" dirty="0">
                <a:solidFill>
                  <a:srgbClr val="295E7E"/>
                </a:solidFill>
                <a:latin typeface="Trebuchet MS"/>
              </a:rPr>
              <a:t>Sub-scale specialty mix</a:t>
            </a:r>
          </a:p>
        </p:txBody>
      </p:sp>
      <p:sp>
        <p:nvSpPr>
          <p:cNvPr id="173" name="BL173"/>
          <p:cNvSpPr txBox="1"/>
          <p:nvPr/>
        </p:nvSpPr>
        <p:spPr>
          <a:xfrm>
            <a:off x="4428744" y="4905756"/>
            <a:ext cx="3340608" cy="973836"/>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Oncology: &lt;12% of revenue vs 18% peer avg</a:t>
            </a:r>
          </a:p>
          <a:p>
            <a:pPr marL="228600" indent="-228600" algn="l">
              <a:spcAft>
                <a:spcPts val="400"/>
              </a:spcAft>
              <a:buChar char="-"/>
            </a:pPr>
            <a:r>
              <a:rPr lang="en-US" sz="1100" dirty="0">
                <a:solidFill>
                  <a:srgbClr val="575757"/>
                </a:solidFill>
                <a:latin typeface="Trebuchet MS"/>
              </a:rPr>
              <a:t>No dedicated pediatric platform</a:t>
            </a:r>
          </a:p>
          <a:p>
            <a:pPr marL="228600" indent="-228600" algn="l">
              <a:spcAft>
                <a:spcPts val="400"/>
              </a:spcAft>
              <a:buChar char="-"/>
            </a:pPr>
            <a:r>
              <a:rPr lang="en-US" sz="1100" dirty="0">
                <a:solidFill>
                  <a:srgbClr val="575757"/>
                </a:solidFill>
                <a:latin typeface="Trebuchet MS"/>
              </a:rPr>
              <a:t>Margin uplift 400-600bps from specialty mix</a:t>
            </a:r>
          </a:p>
        </p:txBody>
      </p:sp>
      <p:sp>
        <p:nvSpPr>
          <p:cNvPr id="174" name="RR174"/>
          <p:cNvSpPr/>
          <p:nvPr/>
        </p:nvSpPr>
        <p:spPr>
          <a:xfrm>
            <a:off x="8043672" y="4192524"/>
            <a:ext cx="3523488" cy="17510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75" name="R175"/>
          <p:cNvSpPr/>
          <p:nvPr/>
        </p:nvSpPr>
        <p:spPr>
          <a:xfrm>
            <a:off x="8043672" y="4192524"/>
            <a:ext cx="3523488" cy="54864"/>
          </a:xfrm>
          <a:prstGeom prst="rect">
            <a:avLst/>
          </a:prstGeom>
          <a:solidFill>
            <a:srgbClr val="575757"/>
          </a:solidFill>
          <a:ln>
            <a:noFill/>
          </a:ln>
        </p:spPr>
        <p:txBody>
          <a:bodyPr/>
          <a:lstStyle/>
          <a:p>
            <a:endParaRPr lang="en-US"/>
          </a:p>
        </p:txBody>
      </p:sp>
      <p:sp>
        <p:nvSpPr>
          <p:cNvPr id="176" name="R176"/>
          <p:cNvSpPr/>
          <p:nvPr/>
        </p:nvSpPr>
        <p:spPr>
          <a:xfrm>
            <a:off x="8043672" y="4192524"/>
            <a:ext cx="3523488" cy="320040"/>
          </a:xfrm>
          <a:prstGeom prst="rect">
            <a:avLst/>
          </a:prstGeom>
          <a:solidFill>
            <a:srgbClr val="575757"/>
          </a:solidFill>
          <a:ln>
            <a:noFill/>
          </a:ln>
        </p:spPr>
        <p:txBody>
          <a:bodyPr/>
          <a:lstStyle/>
          <a:p>
            <a:endParaRPr lang="en-US"/>
          </a:p>
        </p:txBody>
      </p:sp>
      <p:sp>
        <p:nvSpPr>
          <p:cNvPr id="177" name="TB177"/>
          <p:cNvSpPr txBox="1"/>
          <p:nvPr/>
        </p:nvSpPr>
        <p:spPr>
          <a:xfrm>
            <a:off x="8135112" y="4192524"/>
            <a:ext cx="3340608" cy="320040"/>
          </a:xfrm>
          <a:prstGeom prst="rect">
            <a:avLst/>
          </a:prstGeom>
          <a:noFill/>
        </p:spPr>
        <p:txBody>
          <a:bodyPr wrap="square" rtlCol="0" anchor="ctr"/>
          <a:lstStyle/>
          <a:p>
            <a:r>
              <a:rPr lang="en-US" sz="1300" b="1" dirty="0">
                <a:solidFill>
                  <a:srgbClr val="FFFFFF"/>
                </a:solidFill>
                <a:latin typeface="Trebuchet MS"/>
              </a:rPr>
              <a:t>Tier-2/3 Penetration</a:t>
            </a:r>
          </a:p>
        </p:txBody>
      </p:sp>
      <p:sp>
        <p:nvSpPr>
          <p:cNvPr id="178" name="TB178"/>
          <p:cNvSpPr txBox="1"/>
          <p:nvPr/>
        </p:nvSpPr>
        <p:spPr>
          <a:xfrm>
            <a:off x="8135112" y="4576572"/>
            <a:ext cx="3340608" cy="274320"/>
          </a:xfrm>
          <a:prstGeom prst="rect">
            <a:avLst/>
          </a:prstGeom>
          <a:noFill/>
        </p:spPr>
        <p:txBody>
          <a:bodyPr wrap="square" rtlCol="0" anchor="t"/>
          <a:lstStyle/>
          <a:p>
            <a:r>
              <a:rPr lang="en-US" sz="1400" b="1" dirty="0">
                <a:solidFill>
                  <a:srgbClr val="575757"/>
                </a:solidFill>
                <a:latin typeface="Trebuchet MS"/>
              </a:rPr>
              <a:t>&lt;5 hospitals in Tier-2</a:t>
            </a:r>
          </a:p>
        </p:txBody>
      </p:sp>
      <p:sp>
        <p:nvSpPr>
          <p:cNvPr id="179" name="BL179"/>
          <p:cNvSpPr txBox="1"/>
          <p:nvPr/>
        </p:nvSpPr>
        <p:spPr>
          <a:xfrm>
            <a:off x="8135112" y="4905756"/>
            <a:ext cx="3340608" cy="973836"/>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80% of disease burden in Tier-2/3 cities</a:t>
            </a:r>
          </a:p>
          <a:p>
            <a:pPr marL="228600" indent="-228600" algn="l">
              <a:spcAft>
                <a:spcPts val="400"/>
              </a:spcAft>
              <a:buChar char="-"/>
            </a:pPr>
            <a:r>
              <a:rPr lang="en-US" sz="1100" dirty="0">
                <a:solidFill>
                  <a:srgbClr val="575757"/>
                </a:solidFill>
                <a:latin typeface="Trebuchet MS"/>
              </a:rPr>
              <a:t>Insurance push driving demand explosion</a:t>
            </a:r>
          </a:p>
          <a:p>
            <a:pPr marL="228600" indent="-228600" algn="l">
              <a:spcAft>
                <a:spcPts val="400"/>
              </a:spcAft>
              <a:buChar char="-"/>
            </a:pPr>
            <a:r>
              <a:rPr lang="en-US" sz="1100" dirty="0">
                <a:solidFill>
                  <a:srgbClr val="575757"/>
                </a:solidFill>
                <a:latin typeface="Trebuchet MS"/>
              </a:rPr>
              <a:t>Lower capex/bed: ₹50L vs ₹1.2 Cr metro</a:t>
            </a:r>
          </a:p>
        </p:txBody>
      </p:sp>
      <p:graphicFrame>
        <p:nvGraphicFramePr>
          <p:cNvPr id="180" name="Chart 179"/>
          <p:cNvGraphicFramePr>
            <a:graphicFrameLocks noGrp="1"/>
          </p:cNvGraphicFramePr>
          <p:nvPr>
            <p:extLst>
              <p:ext uri="{D42A27DB-BD31-4B8C-83A1-F6EECF244321}">
                <p14:modId xmlns:p14="http://schemas.microsoft.com/office/powerpoint/2010/main" val="6937801"/>
              </p:ext>
            </p:extLst>
          </p:nvPr>
        </p:nvGraphicFramePr>
        <p:xfrm>
          <a:off x="630936" y="2075688"/>
          <a:ext cx="10936224" cy="1933956"/>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B660793-527F-AD00-0831-23373416F234}"/>
              </a:ext>
            </a:extLst>
          </p:cNvPr>
          <p:cNvGraphicFramePr>
            <a:graphicFrameLocks noChangeAspect="1"/>
          </p:cNvGraphicFramePr>
          <p:nvPr>
            <p:custDataLst>
              <p:tags r:id="rId1"/>
            </p:custDataLst>
            <p:extLst>
              <p:ext uri="{D42A27DB-BD31-4B8C-83A1-F6EECF244321}">
                <p14:modId xmlns:p14="http://schemas.microsoft.com/office/powerpoint/2010/main" val="15858013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0" name="ph_title"/>
          <p:cNvSpPr>
            <a:spLocks noGrp="1"/>
          </p:cNvSpPr>
          <p:nvPr>
            <p:ph type="title"/>
          </p:nvPr>
        </p:nvSpPr>
        <p:spPr/>
        <p:txBody>
          <a:bodyPr vert="horz"/>
          <a:lstStyle/>
          <a:p>
            <a:r>
              <a:rPr lang="en-US" dirty="0"/>
              <a:t>Three M&amp;A pillars guide capital allocation: Geography, Specialty, Adjacency</a:t>
            </a:r>
          </a:p>
        </p:txBody>
      </p:sp>
      <p:sp>
        <p:nvSpPr>
          <p:cNvPr id="181" name="RR181"/>
          <p:cNvSpPr/>
          <p:nvPr/>
        </p:nvSpPr>
        <p:spPr>
          <a:xfrm>
            <a:off x="630936" y="2075688"/>
            <a:ext cx="3511296" cy="320040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82" name="R182"/>
          <p:cNvSpPr/>
          <p:nvPr/>
        </p:nvSpPr>
        <p:spPr>
          <a:xfrm>
            <a:off x="630936" y="2075688"/>
            <a:ext cx="3511296" cy="54864"/>
          </a:xfrm>
          <a:prstGeom prst="rect">
            <a:avLst/>
          </a:prstGeom>
          <a:solidFill>
            <a:srgbClr val="03522D"/>
          </a:solidFill>
          <a:ln>
            <a:noFill/>
          </a:ln>
        </p:spPr>
        <p:txBody>
          <a:bodyPr/>
          <a:lstStyle/>
          <a:p>
            <a:endParaRPr lang="en-US"/>
          </a:p>
        </p:txBody>
      </p:sp>
      <p:sp>
        <p:nvSpPr>
          <p:cNvPr id="183" name="R183"/>
          <p:cNvSpPr/>
          <p:nvPr/>
        </p:nvSpPr>
        <p:spPr>
          <a:xfrm>
            <a:off x="630936" y="2075688"/>
            <a:ext cx="3511296" cy="411480"/>
          </a:xfrm>
          <a:prstGeom prst="rect">
            <a:avLst/>
          </a:prstGeom>
          <a:solidFill>
            <a:schemeClr val="tx2"/>
          </a:solidFill>
          <a:ln>
            <a:noFill/>
          </a:ln>
        </p:spPr>
        <p:txBody>
          <a:bodyPr/>
          <a:lstStyle/>
          <a:p>
            <a:endParaRPr lang="en-US"/>
          </a:p>
        </p:txBody>
      </p:sp>
      <p:sp>
        <p:nvSpPr>
          <p:cNvPr id="184" name="TB184"/>
          <p:cNvSpPr txBox="1"/>
          <p:nvPr/>
        </p:nvSpPr>
        <p:spPr>
          <a:xfrm>
            <a:off x="768096" y="2075688"/>
            <a:ext cx="3236976" cy="182880"/>
          </a:xfrm>
          <a:prstGeom prst="rect">
            <a:avLst/>
          </a:prstGeom>
          <a:noFill/>
        </p:spPr>
        <p:txBody>
          <a:bodyPr wrap="square" rtlCol="0" anchor="ctr"/>
          <a:lstStyle/>
          <a:p>
            <a:r>
              <a:rPr lang="en-US" sz="1000" b="1" dirty="0">
                <a:solidFill>
                  <a:srgbClr val="FFFFFF"/>
                </a:solidFill>
                <a:latin typeface="Trebuchet MS"/>
              </a:rPr>
              <a:t>PILLAR 1</a:t>
            </a:r>
          </a:p>
        </p:txBody>
      </p:sp>
      <p:sp>
        <p:nvSpPr>
          <p:cNvPr id="185" name="TB185"/>
          <p:cNvSpPr txBox="1"/>
          <p:nvPr/>
        </p:nvSpPr>
        <p:spPr>
          <a:xfrm>
            <a:off x="768096" y="2240280"/>
            <a:ext cx="3236976" cy="246888"/>
          </a:xfrm>
          <a:prstGeom prst="rect">
            <a:avLst/>
          </a:prstGeom>
          <a:noFill/>
        </p:spPr>
        <p:txBody>
          <a:bodyPr wrap="square" rtlCol="0" anchor="ctr"/>
          <a:lstStyle/>
          <a:p>
            <a:r>
              <a:rPr lang="en-US" sz="1500" b="1" dirty="0">
                <a:solidFill>
                  <a:srgbClr val="FFFFFF"/>
                </a:solidFill>
                <a:latin typeface="Trebuchet MS"/>
              </a:rPr>
              <a:t>Geographic Expansion</a:t>
            </a:r>
          </a:p>
        </p:txBody>
      </p:sp>
      <p:sp>
        <p:nvSpPr>
          <p:cNvPr id="186" name="O186"/>
          <p:cNvSpPr/>
          <p:nvPr/>
        </p:nvSpPr>
        <p:spPr>
          <a:xfrm>
            <a:off x="2093976" y="2670048"/>
            <a:ext cx="585216" cy="585216"/>
          </a:xfrm>
          <a:prstGeom prst="ellipse">
            <a:avLst/>
          </a:prstGeom>
          <a:solidFill>
            <a:schemeClr val="tx2"/>
          </a:solidFill>
          <a:ln>
            <a:noFill/>
          </a:ln>
        </p:spPr>
        <p:txBody>
          <a:bodyPr/>
          <a:lstStyle/>
          <a:p>
            <a:endParaRPr lang="en-US"/>
          </a:p>
        </p:txBody>
      </p:sp>
      <p:grpSp>
        <p:nvGrpSpPr>
          <p:cNvPr id="187" name="bcgIcons_Global">
            <a:extLst>
              <a:ext uri="{FF2B5EF4-FFF2-40B4-BE49-F238E27FC236}">
                <a16:creationId xmlns:a16="http://schemas.microsoft.com/office/drawing/2014/main" id="{EA2CDFE6-A854-4226-BF7A-86120C3E4A26}"/>
              </a:ext>
            </a:extLst>
          </p:cNvPr>
          <p:cNvGrpSpPr>
            <a:grpSpLocks noChangeAspect="1"/>
          </p:cNvGrpSpPr>
          <p:nvPr/>
        </p:nvGrpSpPr>
        <p:grpSpPr bwMode="auto">
          <a:xfrm>
            <a:off x="2157984" y="2734056"/>
            <a:ext cx="456776" cy="457200"/>
            <a:chOff x="1682" y="0"/>
            <a:chExt cx="4316" cy="4320"/>
          </a:xfrm>
        </p:grpSpPr>
        <p:sp>
          <p:nvSpPr>
            <p:cNvPr id="188" name="AutoShape 28">
              <a:extLst>
                <a:ext uri="{FF2B5EF4-FFF2-40B4-BE49-F238E27FC236}">
                  <a16:creationId xmlns:a16="http://schemas.microsoft.com/office/drawing/2014/main" id="{702F9F3C-4998-4B0D-AA9D-A4D27F1CF1C1}"/>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9" name="Freeform 30">
              <a:extLst>
                <a:ext uri="{FF2B5EF4-FFF2-40B4-BE49-F238E27FC236}">
                  <a16:creationId xmlns:a16="http://schemas.microsoft.com/office/drawing/2014/main" id="{72890FAC-EDA7-4CFA-B7B9-C0EFA9B1C581}"/>
                </a:ext>
              </a:extLst>
            </p:cNvPr>
            <p:cNvSpPr>
              <a:spLocks noEditPoints="1"/>
            </p:cNvSpPr>
            <p:nvPr/>
          </p:nvSpPr>
          <p:spPr bwMode="auto">
            <a:xfrm>
              <a:off x="2128" y="444"/>
              <a:ext cx="3424" cy="3428"/>
            </a:xfrm>
            <a:custGeom>
              <a:avLst/>
              <a:gdLst>
                <a:gd name="T0" fmla="*/ 914 w 1828"/>
                <a:gd name="T1" fmla="*/ 1828 h 1828"/>
                <a:gd name="T2" fmla="*/ 268 w 1828"/>
                <a:gd name="T3" fmla="*/ 1560 h 1828"/>
                <a:gd name="T4" fmla="*/ 0 w 1828"/>
                <a:gd name="T5" fmla="*/ 914 h 1828"/>
                <a:gd name="T6" fmla="*/ 268 w 1828"/>
                <a:gd name="T7" fmla="*/ 268 h 1828"/>
                <a:gd name="T8" fmla="*/ 914 w 1828"/>
                <a:gd name="T9" fmla="*/ 0 h 1828"/>
                <a:gd name="T10" fmla="*/ 1560 w 1828"/>
                <a:gd name="T11" fmla="*/ 268 h 1828"/>
                <a:gd name="T12" fmla="*/ 1828 w 1828"/>
                <a:gd name="T13" fmla="*/ 914 h 1828"/>
                <a:gd name="T14" fmla="*/ 1560 w 1828"/>
                <a:gd name="T15" fmla="*/ 1560 h 1828"/>
                <a:gd name="T16" fmla="*/ 914 w 1828"/>
                <a:gd name="T17" fmla="*/ 1828 h 1828"/>
                <a:gd name="T18" fmla="*/ 914 w 1828"/>
                <a:gd name="T19" fmla="*/ 44 h 1828"/>
                <a:gd name="T20" fmla="*/ 44 w 1828"/>
                <a:gd name="T21" fmla="*/ 914 h 1828"/>
                <a:gd name="T22" fmla="*/ 914 w 1828"/>
                <a:gd name="T23" fmla="*/ 1784 h 1828"/>
                <a:gd name="T24" fmla="*/ 1784 w 1828"/>
                <a:gd name="T25" fmla="*/ 914 h 1828"/>
                <a:gd name="T26" fmla="*/ 914 w 1828"/>
                <a:gd name="T27" fmla="*/ 44 h 1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28" h="1828">
                  <a:moveTo>
                    <a:pt x="914" y="1828"/>
                  </a:moveTo>
                  <a:cubicBezTo>
                    <a:pt x="670" y="1828"/>
                    <a:pt x="440" y="1733"/>
                    <a:pt x="268" y="1560"/>
                  </a:cubicBezTo>
                  <a:cubicBezTo>
                    <a:pt x="95" y="1388"/>
                    <a:pt x="0" y="1158"/>
                    <a:pt x="0" y="914"/>
                  </a:cubicBezTo>
                  <a:cubicBezTo>
                    <a:pt x="0" y="670"/>
                    <a:pt x="95" y="440"/>
                    <a:pt x="268" y="268"/>
                  </a:cubicBezTo>
                  <a:cubicBezTo>
                    <a:pt x="440" y="95"/>
                    <a:pt x="670" y="0"/>
                    <a:pt x="914" y="0"/>
                  </a:cubicBezTo>
                  <a:cubicBezTo>
                    <a:pt x="1158" y="0"/>
                    <a:pt x="1388" y="95"/>
                    <a:pt x="1560" y="268"/>
                  </a:cubicBezTo>
                  <a:cubicBezTo>
                    <a:pt x="1733" y="440"/>
                    <a:pt x="1828" y="670"/>
                    <a:pt x="1828" y="914"/>
                  </a:cubicBezTo>
                  <a:cubicBezTo>
                    <a:pt x="1828" y="1158"/>
                    <a:pt x="1733" y="1388"/>
                    <a:pt x="1560" y="1560"/>
                  </a:cubicBezTo>
                  <a:cubicBezTo>
                    <a:pt x="1388" y="1733"/>
                    <a:pt x="1158" y="1828"/>
                    <a:pt x="914" y="1828"/>
                  </a:cubicBezTo>
                  <a:close/>
                  <a:moveTo>
                    <a:pt x="914" y="44"/>
                  </a:moveTo>
                  <a:cubicBezTo>
                    <a:pt x="434" y="44"/>
                    <a:pt x="44" y="434"/>
                    <a:pt x="44" y="914"/>
                  </a:cubicBezTo>
                  <a:cubicBezTo>
                    <a:pt x="44" y="1394"/>
                    <a:pt x="434" y="1784"/>
                    <a:pt x="914" y="1784"/>
                  </a:cubicBezTo>
                  <a:cubicBezTo>
                    <a:pt x="1394" y="1784"/>
                    <a:pt x="1784" y="1394"/>
                    <a:pt x="1784" y="914"/>
                  </a:cubicBezTo>
                  <a:cubicBezTo>
                    <a:pt x="1784" y="434"/>
                    <a:pt x="1394" y="44"/>
                    <a:pt x="914" y="44"/>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0" name="Freeform 31">
              <a:extLst>
                <a:ext uri="{FF2B5EF4-FFF2-40B4-BE49-F238E27FC236}">
                  <a16:creationId xmlns:a16="http://schemas.microsoft.com/office/drawing/2014/main" id="{3CDB24A4-21B7-49B0-8969-392CD80A9A59}"/>
                </a:ext>
              </a:extLst>
            </p:cNvPr>
            <p:cNvSpPr>
              <a:spLocks noEditPoints="1"/>
            </p:cNvSpPr>
            <p:nvPr/>
          </p:nvSpPr>
          <p:spPr bwMode="auto">
            <a:xfrm>
              <a:off x="2293" y="609"/>
              <a:ext cx="3094" cy="3098"/>
            </a:xfrm>
            <a:custGeom>
              <a:avLst/>
              <a:gdLst>
                <a:gd name="T0" fmla="*/ 1408 w 1652"/>
                <a:gd name="T1" fmla="*/ 241 h 1652"/>
                <a:gd name="T2" fmla="*/ 1227 w 1652"/>
                <a:gd name="T3" fmla="*/ 278 h 1652"/>
                <a:gd name="T4" fmla="*/ 1189 w 1652"/>
                <a:gd name="T5" fmla="*/ 209 h 1652"/>
                <a:gd name="T6" fmla="*/ 882 w 1652"/>
                <a:gd name="T7" fmla="*/ 372 h 1652"/>
                <a:gd name="T8" fmla="*/ 1184 w 1652"/>
                <a:gd name="T9" fmla="*/ 295 h 1652"/>
                <a:gd name="T10" fmla="*/ 909 w 1652"/>
                <a:gd name="T11" fmla="*/ 4 h 1652"/>
                <a:gd name="T12" fmla="*/ 848 w 1652"/>
                <a:gd name="T13" fmla="*/ 338 h 1652"/>
                <a:gd name="T14" fmla="*/ 804 w 1652"/>
                <a:gd name="T15" fmla="*/ 452 h 1652"/>
                <a:gd name="T16" fmla="*/ 475 w 1652"/>
                <a:gd name="T17" fmla="*/ 375 h 1652"/>
                <a:gd name="T18" fmla="*/ 362 w 1652"/>
                <a:gd name="T19" fmla="*/ 770 h 1652"/>
                <a:gd name="T20" fmla="*/ 769 w 1652"/>
                <a:gd name="T21" fmla="*/ 804 h 1652"/>
                <a:gd name="T22" fmla="*/ 804 w 1652"/>
                <a:gd name="T23" fmla="*/ 452 h 1652"/>
                <a:gd name="T24" fmla="*/ 1177 w 1652"/>
                <a:gd name="T25" fmla="*/ 375 h 1652"/>
                <a:gd name="T26" fmla="*/ 848 w 1652"/>
                <a:gd name="T27" fmla="*/ 452 h 1652"/>
                <a:gd name="T28" fmla="*/ 883 w 1652"/>
                <a:gd name="T29" fmla="*/ 804 h 1652"/>
                <a:gd name="T30" fmla="*/ 1290 w 1652"/>
                <a:gd name="T31" fmla="*/ 770 h 1652"/>
                <a:gd name="T32" fmla="*/ 769 w 1652"/>
                <a:gd name="T33" fmla="*/ 848 h 1652"/>
                <a:gd name="T34" fmla="*/ 362 w 1652"/>
                <a:gd name="T35" fmla="*/ 882 h 1652"/>
                <a:gd name="T36" fmla="*/ 475 w 1652"/>
                <a:gd name="T37" fmla="*/ 1277 h 1652"/>
                <a:gd name="T38" fmla="*/ 804 w 1652"/>
                <a:gd name="T39" fmla="*/ 1200 h 1652"/>
                <a:gd name="T40" fmla="*/ 769 w 1652"/>
                <a:gd name="T41" fmla="*/ 848 h 1652"/>
                <a:gd name="T42" fmla="*/ 1184 w 1652"/>
                <a:gd name="T43" fmla="*/ 1357 h 1652"/>
                <a:gd name="T44" fmla="*/ 882 w 1652"/>
                <a:gd name="T45" fmla="*/ 1280 h 1652"/>
                <a:gd name="T46" fmla="*/ 848 w 1652"/>
                <a:gd name="T47" fmla="*/ 1652 h 1652"/>
                <a:gd name="T48" fmla="*/ 1151 w 1652"/>
                <a:gd name="T49" fmla="*/ 1421 h 1652"/>
                <a:gd name="T50" fmla="*/ 1256 w 1652"/>
                <a:gd name="T51" fmla="*/ 848 h 1652"/>
                <a:gd name="T52" fmla="*/ 848 w 1652"/>
                <a:gd name="T53" fmla="*/ 883 h 1652"/>
                <a:gd name="T54" fmla="*/ 883 w 1652"/>
                <a:gd name="T55" fmla="*/ 1236 h 1652"/>
                <a:gd name="T56" fmla="*/ 1225 w 1652"/>
                <a:gd name="T57" fmla="*/ 1252 h 1652"/>
                <a:gd name="T58" fmla="*/ 1267 w 1652"/>
                <a:gd name="T59" fmla="*/ 385 h 1652"/>
                <a:gd name="T60" fmla="*/ 1370 w 1652"/>
                <a:gd name="T61" fmla="*/ 804 h 1652"/>
                <a:gd name="T62" fmla="*/ 1440 w 1652"/>
                <a:gd name="T63" fmla="*/ 274 h 1652"/>
                <a:gd name="T64" fmla="*/ 1267 w 1652"/>
                <a:gd name="T65" fmla="*/ 385 h 1652"/>
                <a:gd name="T66" fmla="*/ 1227 w 1652"/>
                <a:gd name="T67" fmla="*/ 1374 h 1652"/>
                <a:gd name="T68" fmla="*/ 1189 w 1652"/>
                <a:gd name="T69" fmla="*/ 1443 h 1652"/>
                <a:gd name="T70" fmla="*/ 1408 w 1652"/>
                <a:gd name="T71" fmla="*/ 1411 h 1652"/>
                <a:gd name="T72" fmla="*/ 463 w 1652"/>
                <a:gd name="T73" fmla="*/ 1443 h 1652"/>
                <a:gd name="T74" fmla="*/ 426 w 1652"/>
                <a:gd name="T75" fmla="*/ 1374 h 1652"/>
                <a:gd name="T76" fmla="*/ 244 w 1652"/>
                <a:gd name="T77" fmla="*/ 1411 h 1652"/>
                <a:gd name="T78" fmla="*/ 463 w 1652"/>
                <a:gd name="T79" fmla="*/ 1443 h 1652"/>
                <a:gd name="T80" fmla="*/ 486 w 1652"/>
                <a:gd name="T81" fmla="*/ 1319 h 1652"/>
                <a:gd name="T82" fmla="*/ 501 w 1652"/>
                <a:gd name="T83" fmla="*/ 1421 h 1652"/>
                <a:gd name="T84" fmla="*/ 804 w 1652"/>
                <a:gd name="T85" fmla="*/ 1652 h 1652"/>
                <a:gd name="T86" fmla="*/ 770 w 1652"/>
                <a:gd name="T87" fmla="*/ 1280 h 1652"/>
                <a:gd name="T88" fmla="*/ 1334 w 1652"/>
                <a:gd name="T89" fmla="*/ 883 h 1652"/>
                <a:gd name="T90" fmla="*/ 1287 w 1652"/>
                <a:gd name="T91" fmla="*/ 1310 h 1652"/>
                <a:gd name="T92" fmla="*/ 1652 w 1652"/>
                <a:gd name="T93" fmla="*/ 848 h 1652"/>
                <a:gd name="T94" fmla="*/ 804 w 1652"/>
                <a:gd name="T95" fmla="*/ 0 h 1652"/>
                <a:gd name="T96" fmla="*/ 501 w 1652"/>
                <a:gd name="T97" fmla="*/ 231 h 1652"/>
                <a:gd name="T98" fmla="*/ 486 w 1652"/>
                <a:gd name="T99" fmla="*/ 333 h 1652"/>
                <a:gd name="T100" fmla="*/ 804 w 1652"/>
                <a:gd name="T101" fmla="*/ 338 h 1652"/>
                <a:gd name="T102" fmla="*/ 378 w 1652"/>
                <a:gd name="T103" fmla="*/ 300 h 1652"/>
                <a:gd name="T104" fmla="*/ 427 w 1652"/>
                <a:gd name="T105" fmla="*/ 278 h 1652"/>
                <a:gd name="T106" fmla="*/ 610 w 1652"/>
                <a:gd name="T107" fmla="*/ 29 h 1652"/>
                <a:gd name="T108" fmla="*/ 378 w 1652"/>
                <a:gd name="T109" fmla="*/ 300 h 1652"/>
                <a:gd name="T110" fmla="*/ 318 w 1652"/>
                <a:gd name="T111" fmla="*/ 769 h 1652"/>
                <a:gd name="T112" fmla="*/ 365 w 1652"/>
                <a:gd name="T113" fmla="*/ 342 h 1652"/>
                <a:gd name="T114" fmla="*/ 0 w 1652"/>
                <a:gd name="T115" fmla="*/ 804 h 1652"/>
                <a:gd name="T116" fmla="*/ 385 w 1652"/>
                <a:gd name="T117" fmla="*/ 1267 h 1652"/>
                <a:gd name="T118" fmla="*/ 282 w 1652"/>
                <a:gd name="T119" fmla="*/ 848 h 1652"/>
                <a:gd name="T120" fmla="*/ 212 w 1652"/>
                <a:gd name="T121" fmla="*/ 1378 h 1652"/>
                <a:gd name="T122" fmla="*/ 385 w 1652"/>
                <a:gd name="T123" fmla="*/ 1267 h 1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52" h="1652">
                  <a:moveTo>
                    <a:pt x="1042" y="29"/>
                  </a:moveTo>
                  <a:cubicBezTo>
                    <a:pt x="1182" y="67"/>
                    <a:pt x="1308" y="141"/>
                    <a:pt x="1408" y="241"/>
                  </a:cubicBezTo>
                  <a:cubicBezTo>
                    <a:pt x="1367" y="263"/>
                    <a:pt x="1321" y="283"/>
                    <a:pt x="1274" y="300"/>
                  </a:cubicBezTo>
                  <a:cubicBezTo>
                    <a:pt x="1262" y="287"/>
                    <a:pt x="1245" y="278"/>
                    <a:pt x="1227" y="278"/>
                  </a:cubicBezTo>
                  <a:cubicBezTo>
                    <a:pt x="1226" y="278"/>
                    <a:pt x="1225" y="278"/>
                    <a:pt x="1225" y="278"/>
                  </a:cubicBezTo>
                  <a:cubicBezTo>
                    <a:pt x="1214" y="254"/>
                    <a:pt x="1202" y="231"/>
                    <a:pt x="1189" y="209"/>
                  </a:cubicBezTo>
                  <a:cubicBezTo>
                    <a:pt x="1146" y="133"/>
                    <a:pt x="1096" y="73"/>
                    <a:pt x="1042" y="29"/>
                  </a:cubicBezTo>
                  <a:close/>
                  <a:moveTo>
                    <a:pt x="882" y="372"/>
                  </a:moveTo>
                  <a:cubicBezTo>
                    <a:pt x="981" y="368"/>
                    <a:pt x="1077" y="355"/>
                    <a:pt x="1166" y="333"/>
                  </a:cubicBezTo>
                  <a:cubicBezTo>
                    <a:pt x="1167" y="318"/>
                    <a:pt x="1174" y="305"/>
                    <a:pt x="1184" y="295"/>
                  </a:cubicBezTo>
                  <a:cubicBezTo>
                    <a:pt x="1174" y="273"/>
                    <a:pt x="1163" y="251"/>
                    <a:pt x="1151" y="231"/>
                  </a:cubicBezTo>
                  <a:cubicBezTo>
                    <a:pt x="1083" y="112"/>
                    <a:pt x="1000" y="34"/>
                    <a:pt x="909" y="4"/>
                  </a:cubicBezTo>
                  <a:cubicBezTo>
                    <a:pt x="889" y="2"/>
                    <a:pt x="869" y="1"/>
                    <a:pt x="848" y="0"/>
                  </a:cubicBezTo>
                  <a:cubicBezTo>
                    <a:pt x="848" y="338"/>
                    <a:pt x="848" y="338"/>
                    <a:pt x="848" y="338"/>
                  </a:cubicBezTo>
                  <a:cubicBezTo>
                    <a:pt x="864" y="344"/>
                    <a:pt x="876" y="356"/>
                    <a:pt x="882" y="372"/>
                  </a:cubicBezTo>
                  <a:close/>
                  <a:moveTo>
                    <a:pt x="804" y="452"/>
                  </a:moveTo>
                  <a:cubicBezTo>
                    <a:pt x="788" y="446"/>
                    <a:pt x="775" y="432"/>
                    <a:pt x="769" y="416"/>
                  </a:cubicBezTo>
                  <a:cubicBezTo>
                    <a:pt x="666" y="412"/>
                    <a:pt x="567" y="398"/>
                    <a:pt x="475" y="375"/>
                  </a:cubicBezTo>
                  <a:cubicBezTo>
                    <a:pt x="464" y="390"/>
                    <a:pt x="446" y="400"/>
                    <a:pt x="427" y="400"/>
                  </a:cubicBezTo>
                  <a:cubicBezTo>
                    <a:pt x="389" y="512"/>
                    <a:pt x="367" y="638"/>
                    <a:pt x="362" y="770"/>
                  </a:cubicBezTo>
                  <a:cubicBezTo>
                    <a:pt x="378" y="776"/>
                    <a:pt x="390" y="788"/>
                    <a:pt x="396" y="804"/>
                  </a:cubicBezTo>
                  <a:cubicBezTo>
                    <a:pt x="769" y="804"/>
                    <a:pt x="769" y="804"/>
                    <a:pt x="769" y="804"/>
                  </a:cubicBezTo>
                  <a:cubicBezTo>
                    <a:pt x="775" y="788"/>
                    <a:pt x="788" y="775"/>
                    <a:pt x="804" y="769"/>
                  </a:cubicBezTo>
                  <a:lnTo>
                    <a:pt x="804" y="452"/>
                  </a:lnTo>
                  <a:close/>
                  <a:moveTo>
                    <a:pt x="1225" y="400"/>
                  </a:moveTo>
                  <a:cubicBezTo>
                    <a:pt x="1206" y="400"/>
                    <a:pt x="1188" y="390"/>
                    <a:pt x="1177" y="375"/>
                  </a:cubicBezTo>
                  <a:cubicBezTo>
                    <a:pt x="1085" y="398"/>
                    <a:pt x="986" y="412"/>
                    <a:pt x="883" y="416"/>
                  </a:cubicBezTo>
                  <a:cubicBezTo>
                    <a:pt x="877" y="432"/>
                    <a:pt x="864" y="446"/>
                    <a:pt x="848" y="452"/>
                  </a:cubicBezTo>
                  <a:cubicBezTo>
                    <a:pt x="848" y="769"/>
                    <a:pt x="848" y="769"/>
                    <a:pt x="848" y="769"/>
                  </a:cubicBezTo>
                  <a:cubicBezTo>
                    <a:pt x="864" y="775"/>
                    <a:pt x="877" y="788"/>
                    <a:pt x="883" y="804"/>
                  </a:cubicBezTo>
                  <a:cubicBezTo>
                    <a:pt x="1256" y="804"/>
                    <a:pt x="1256" y="804"/>
                    <a:pt x="1256" y="804"/>
                  </a:cubicBezTo>
                  <a:cubicBezTo>
                    <a:pt x="1262" y="788"/>
                    <a:pt x="1274" y="776"/>
                    <a:pt x="1290" y="770"/>
                  </a:cubicBezTo>
                  <a:cubicBezTo>
                    <a:pt x="1285" y="638"/>
                    <a:pt x="1263" y="512"/>
                    <a:pt x="1225" y="400"/>
                  </a:cubicBezTo>
                  <a:close/>
                  <a:moveTo>
                    <a:pt x="769" y="848"/>
                  </a:moveTo>
                  <a:cubicBezTo>
                    <a:pt x="396" y="848"/>
                    <a:pt x="396" y="848"/>
                    <a:pt x="396" y="848"/>
                  </a:cubicBezTo>
                  <a:cubicBezTo>
                    <a:pt x="390" y="864"/>
                    <a:pt x="378" y="876"/>
                    <a:pt x="362" y="882"/>
                  </a:cubicBezTo>
                  <a:cubicBezTo>
                    <a:pt x="367" y="1014"/>
                    <a:pt x="389" y="1140"/>
                    <a:pt x="427" y="1252"/>
                  </a:cubicBezTo>
                  <a:cubicBezTo>
                    <a:pt x="446" y="1252"/>
                    <a:pt x="464" y="1262"/>
                    <a:pt x="475" y="1277"/>
                  </a:cubicBezTo>
                  <a:cubicBezTo>
                    <a:pt x="567" y="1254"/>
                    <a:pt x="666" y="1240"/>
                    <a:pt x="769" y="1236"/>
                  </a:cubicBezTo>
                  <a:cubicBezTo>
                    <a:pt x="775" y="1220"/>
                    <a:pt x="788" y="1206"/>
                    <a:pt x="804" y="1200"/>
                  </a:cubicBezTo>
                  <a:cubicBezTo>
                    <a:pt x="804" y="883"/>
                    <a:pt x="804" y="883"/>
                    <a:pt x="804" y="883"/>
                  </a:cubicBezTo>
                  <a:cubicBezTo>
                    <a:pt x="788" y="877"/>
                    <a:pt x="775" y="864"/>
                    <a:pt x="769" y="848"/>
                  </a:cubicBezTo>
                  <a:close/>
                  <a:moveTo>
                    <a:pt x="1151" y="1421"/>
                  </a:moveTo>
                  <a:cubicBezTo>
                    <a:pt x="1163" y="1401"/>
                    <a:pt x="1174" y="1379"/>
                    <a:pt x="1184" y="1357"/>
                  </a:cubicBezTo>
                  <a:cubicBezTo>
                    <a:pt x="1174" y="1347"/>
                    <a:pt x="1167" y="1334"/>
                    <a:pt x="1166" y="1319"/>
                  </a:cubicBezTo>
                  <a:cubicBezTo>
                    <a:pt x="1077" y="1297"/>
                    <a:pt x="981" y="1284"/>
                    <a:pt x="882" y="1280"/>
                  </a:cubicBezTo>
                  <a:cubicBezTo>
                    <a:pt x="876" y="1296"/>
                    <a:pt x="864" y="1308"/>
                    <a:pt x="848" y="1314"/>
                  </a:cubicBezTo>
                  <a:cubicBezTo>
                    <a:pt x="848" y="1652"/>
                    <a:pt x="848" y="1652"/>
                    <a:pt x="848" y="1652"/>
                  </a:cubicBezTo>
                  <a:cubicBezTo>
                    <a:pt x="869" y="1651"/>
                    <a:pt x="889" y="1650"/>
                    <a:pt x="909" y="1648"/>
                  </a:cubicBezTo>
                  <a:cubicBezTo>
                    <a:pt x="1000" y="1618"/>
                    <a:pt x="1083" y="1540"/>
                    <a:pt x="1151" y="1421"/>
                  </a:cubicBezTo>
                  <a:close/>
                  <a:moveTo>
                    <a:pt x="1290" y="882"/>
                  </a:moveTo>
                  <a:cubicBezTo>
                    <a:pt x="1274" y="876"/>
                    <a:pt x="1262" y="864"/>
                    <a:pt x="1256" y="848"/>
                  </a:cubicBezTo>
                  <a:cubicBezTo>
                    <a:pt x="883" y="848"/>
                    <a:pt x="883" y="848"/>
                    <a:pt x="883" y="848"/>
                  </a:cubicBezTo>
                  <a:cubicBezTo>
                    <a:pt x="877" y="864"/>
                    <a:pt x="864" y="877"/>
                    <a:pt x="848" y="883"/>
                  </a:cubicBezTo>
                  <a:cubicBezTo>
                    <a:pt x="848" y="1200"/>
                    <a:pt x="848" y="1200"/>
                    <a:pt x="848" y="1200"/>
                  </a:cubicBezTo>
                  <a:cubicBezTo>
                    <a:pt x="864" y="1206"/>
                    <a:pt x="877" y="1220"/>
                    <a:pt x="883" y="1236"/>
                  </a:cubicBezTo>
                  <a:cubicBezTo>
                    <a:pt x="986" y="1240"/>
                    <a:pt x="1085" y="1254"/>
                    <a:pt x="1177" y="1277"/>
                  </a:cubicBezTo>
                  <a:cubicBezTo>
                    <a:pt x="1188" y="1262"/>
                    <a:pt x="1206" y="1252"/>
                    <a:pt x="1225" y="1252"/>
                  </a:cubicBezTo>
                  <a:cubicBezTo>
                    <a:pt x="1263" y="1140"/>
                    <a:pt x="1285" y="1014"/>
                    <a:pt x="1290" y="882"/>
                  </a:cubicBezTo>
                  <a:close/>
                  <a:moveTo>
                    <a:pt x="1267" y="385"/>
                  </a:moveTo>
                  <a:cubicBezTo>
                    <a:pt x="1306" y="501"/>
                    <a:pt x="1329" y="632"/>
                    <a:pt x="1334" y="769"/>
                  </a:cubicBezTo>
                  <a:cubicBezTo>
                    <a:pt x="1350" y="775"/>
                    <a:pt x="1363" y="788"/>
                    <a:pt x="1370" y="804"/>
                  </a:cubicBezTo>
                  <a:cubicBezTo>
                    <a:pt x="1652" y="804"/>
                    <a:pt x="1652" y="804"/>
                    <a:pt x="1652" y="804"/>
                  </a:cubicBezTo>
                  <a:cubicBezTo>
                    <a:pt x="1646" y="600"/>
                    <a:pt x="1567" y="415"/>
                    <a:pt x="1440" y="274"/>
                  </a:cubicBezTo>
                  <a:cubicBezTo>
                    <a:pt x="1393" y="300"/>
                    <a:pt x="1342" y="323"/>
                    <a:pt x="1287" y="342"/>
                  </a:cubicBezTo>
                  <a:cubicBezTo>
                    <a:pt x="1286" y="359"/>
                    <a:pt x="1279" y="374"/>
                    <a:pt x="1267" y="385"/>
                  </a:cubicBezTo>
                  <a:close/>
                  <a:moveTo>
                    <a:pt x="1274" y="1352"/>
                  </a:moveTo>
                  <a:cubicBezTo>
                    <a:pt x="1262" y="1365"/>
                    <a:pt x="1245" y="1374"/>
                    <a:pt x="1227" y="1374"/>
                  </a:cubicBezTo>
                  <a:cubicBezTo>
                    <a:pt x="1226" y="1374"/>
                    <a:pt x="1225" y="1374"/>
                    <a:pt x="1225" y="1374"/>
                  </a:cubicBezTo>
                  <a:cubicBezTo>
                    <a:pt x="1214" y="1398"/>
                    <a:pt x="1202" y="1421"/>
                    <a:pt x="1189" y="1443"/>
                  </a:cubicBezTo>
                  <a:cubicBezTo>
                    <a:pt x="1146" y="1519"/>
                    <a:pt x="1096" y="1579"/>
                    <a:pt x="1042" y="1623"/>
                  </a:cubicBezTo>
                  <a:cubicBezTo>
                    <a:pt x="1182" y="1585"/>
                    <a:pt x="1308" y="1511"/>
                    <a:pt x="1408" y="1411"/>
                  </a:cubicBezTo>
                  <a:cubicBezTo>
                    <a:pt x="1367" y="1389"/>
                    <a:pt x="1321" y="1369"/>
                    <a:pt x="1274" y="1352"/>
                  </a:cubicBezTo>
                  <a:close/>
                  <a:moveTo>
                    <a:pt x="463" y="1443"/>
                  </a:moveTo>
                  <a:cubicBezTo>
                    <a:pt x="450" y="1421"/>
                    <a:pt x="438" y="1398"/>
                    <a:pt x="427" y="1374"/>
                  </a:cubicBezTo>
                  <a:cubicBezTo>
                    <a:pt x="427" y="1374"/>
                    <a:pt x="426" y="1374"/>
                    <a:pt x="426" y="1374"/>
                  </a:cubicBezTo>
                  <a:cubicBezTo>
                    <a:pt x="407" y="1374"/>
                    <a:pt x="390" y="1365"/>
                    <a:pt x="378" y="1352"/>
                  </a:cubicBezTo>
                  <a:cubicBezTo>
                    <a:pt x="331" y="1369"/>
                    <a:pt x="285" y="1389"/>
                    <a:pt x="244" y="1411"/>
                  </a:cubicBezTo>
                  <a:cubicBezTo>
                    <a:pt x="344" y="1511"/>
                    <a:pt x="470" y="1585"/>
                    <a:pt x="610" y="1623"/>
                  </a:cubicBezTo>
                  <a:cubicBezTo>
                    <a:pt x="556" y="1579"/>
                    <a:pt x="506" y="1519"/>
                    <a:pt x="463" y="1443"/>
                  </a:cubicBezTo>
                  <a:close/>
                  <a:moveTo>
                    <a:pt x="770" y="1280"/>
                  </a:moveTo>
                  <a:cubicBezTo>
                    <a:pt x="671" y="1284"/>
                    <a:pt x="575" y="1297"/>
                    <a:pt x="486" y="1319"/>
                  </a:cubicBezTo>
                  <a:cubicBezTo>
                    <a:pt x="485" y="1334"/>
                    <a:pt x="478" y="1347"/>
                    <a:pt x="468" y="1357"/>
                  </a:cubicBezTo>
                  <a:cubicBezTo>
                    <a:pt x="478" y="1379"/>
                    <a:pt x="489" y="1401"/>
                    <a:pt x="501" y="1421"/>
                  </a:cubicBezTo>
                  <a:cubicBezTo>
                    <a:pt x="569" y="1540"/>
                    <a:pt x="652" y="1618"/>
                    <a:pt x="743" y="1648"/>
                  </a:cubicBezTo>
                  <a:cubicBezTo>
                    <a:pt x="763" y="1650"/>
                    <a:pt x="783" y="1651"/>
                    <a:pt x="804" y="1652"/>
                  </a:cubicBezTo>
                  <a:cubicBezTo>
                    <a:pt x="804" y="1314"/>
                    <a:pt x="804" y="1314"/>
                    <a:pt x="804" y="1314"/>
                  </a:cubicBezTo>
                  <a:cubicBezTo>
                    <a:pt x="788" y="1308"/>
                    <a:pt x="776" y="1296"/>
                    <a:pt x="770" y="1280"/>
                  </a:cubicBezTo>
                  <a:close/>
                  <a:moveTo>
                    <a:pt x="1370" y="848"/>
                  </a:moveTo>
                  <a:cubicBezTo>
                    <a:pt x="1363" y="864"/>
                    <a:pt x="1350" y="877"/>
                    <a:pt x="1334" y="883"/>
                  </a:cubicBezTo>
                  <a:cubicBezTo>
                    <a:pt x="1329" y="1020"/>
                    <a:pt x="1306" y="1151"/>
                    <a:pt x="1267" y="1267"/>
                  </a:cubicBezTo>
                  <a:cubicBezTo>
                    <a:pt x="1279" y="1278"/>
                    <a:pt x="1286" y="1293"/>
                    <a:pt x="1287" y="1310"/>
                  </a:cubicBezTo>
                  <a:cubicBezTo>
                    <a:pt x="1342" y="1329"/>
                    <a:pt x="1393" y="1352"/>
                    <a:pt x="1440" y="1378"/>
                  </a:cubicBezTo>
                  <a:cubicBezTo>
                    <a:pt x="1567" y="1237"/>
                    <a:pt x="1646" y="1052"/>
                    <a:pt x="1652" y="848"/>
                  </a:cubicBezTo>
                  <a:lnTo>
                    <a:pt x="1370" y="848"/>
                  </a:lnTo>
                  <a:close/>
                  <a:moveTo>
                    <a:pt x="804" y="0"/>
                  </a:moveTo>
                  <a:cubicBezTo>
                    <a:pt x="783" y="1"/>
                    <a:pt x="763" y="2"/>
                    <a:pt x="743" y="4"/>
                  </a:cubicBezTo>
                  <a:cubicBezTo>
                    <a:pt x="652" y="34"/>
                    <a:pt x="569" y="112"/>
                    <a:pt x="501" y="231"/>
                  </a:cubicBezTo>
                  <a:cubicBezTo>
                    <a:pt x="489" y="251"/>
                    <a:pt x="478" y="273"/>
                    <a:pt x="468" y="295"/>
                  </a:cubicBezTo>
                  <a:cubicBezTo>
                    <a:pt x="478" y="305"/>
                    <a:pt x="485" y="318"/>
                    <a:pt x="486" y="333"/>
                  </a:cubicBezTo>
                  <a:cubicBezTo>
                    <a:pt x="575" y="355"/>
                    <a:pt x="671" y="368"/>
                    <a:pt x="770" y="372"/>
                  </a:cubicBezTo>
                  <a:cubicBezTo>
                    <a:pt x="776" y="356"/>
                    <a:pt x="788" y="344"/>
                    <a:pt x="804" y="338"/>
                  </a:cubicBezTo>
                  <a:lnTo>
                    <a:pt x="804" y="0"/>
                  </a:lnTo>
                  <a:close/>
                  <a:moveTo>
                    <a:pt x="378" y="300"/>
                  </a:moveTo>
                  <a:cubicBezTo>
                    <a:pt x="390" y="287"/>
                    <a:pt x="407" y="278"/>
                    <a:pt x="426" y="278"/>
                  </a:cubicBezTo>
                  <a:cubicBezTo>
                    <a:pt x="426" y="278"/>
                    <a:pt x="427" y="278"/>
                    <a:pt x="427" y="278"/>
                  </a:cubicBezTo>
                  <a:cubicBezTo>
                    <a:pt x="438" y="254"/>
                    <a:pt x="450" y="231"/>
                    <a:pt x="463" y="209"/>
                  </a:cubicBezTo>
                  <a:cubicBezTo>
                    <a:pt x="506" y="133"/>
                    <a:pt x="556" y="73"/>
                    <a:pt x="610" y="29"/>
                  </a:cubicBezTo>
                  <a:cubicBezTo>
                    <a:pt x="470" y="67"/>
                    <a:pt x="344" y="141"/>
                    <a:pt x="244" y="241"/>
                  </a:cubicBezTo>
                  <a:cubicBezTo>
                    <a:pt x="285" y="263"/>
                    <a:pt x="331" y="283"/>
                    <a:pt x="378" y="300"/>
                  </a:cubicBezTo>
                  <a:close/>
                  <a:moveTo>
                    <a:pt x="282" y="804"/>
                  </a:moveTo>
                  <a:cubicBezTo>
                    <a:pt x="289" y="788"/>
                    <a:pt x="302" y="775"/>
                    <a:pt x="318" y="769"/>
                  </a:cubicBezTo>
                  <a:cubicBezTo>
                    <a:pt x="323" y="632"/>
                    <a:pt x="346" y="501"/>
                    <a:pt x="385" y="385"/>
                  </a:cubicBezTo>
                  <a:cubicBezTo>
                    <a:pt x="373" y="374"/>
                    <a:pt x="366" y="359"/>
                    <a:pt x="365" y="342"/>
                  </a:cubicBezTo>
                  <a:cubicBezTo>
                    <a:pt x="310" y="323"/>
                    <a:pt x="259" y="300"/>
                    <a:pt x="212" y="274"/>
                  </a:cubicBezTo>
                  <a:cubicBezTo>
                    <a:pt x="85" y="415"/>
                    <a:pt x="6" y="600"/>
                    <a:pt x="0" y="804"/>
                  </a:cubicBezTo>
                  <a:lnTo>
                    <a:pt x="282" y="804"/>
                  </a:lnTo>
                  <a:close/>
                  <a:moveTo>
                    <a:pt x="385" y="1267"/>
                  </a:moveTo>
                  <a:cubicBezTo>
                    <a:pt x="346" y="1151"/>
                    <a:pt x="323" y="1020"/>
                    <a:pt x="318" y="883"/>
                  </a:cubicBezTo>
                  <a:cubicBezTo>
                    <a:pt x="302" y="877"/>
                    <a:pt x="289" y="864"/>
                    <a:pt x="282" y="848"/>
                  </a:cubicBezTo>
                  <a:cubicBezTo>
                    <a:pt x="0" y="848"/>
                    <a:pt x="0" y="848"/>
                    <a:pt x="0" y="848"/>
                  </a:cubicBezTo>
                  <a:cubicBezTo>
                    <a:pt x="6" y="1052"/>
                    <a:pt x="85" y="1237"/>
                    <a:pt x="212" y="1378"/>
                  </a:cubicBezTo>
                  <a:cubicBezTo>
                    <a:pt x="259" y="1352"/>
                    <a:pt x="310" y="1329"/>
                    <a:pt x="365" y="1310"/>
                  </a:cubicBezTo>
                  <a:cubicBezTo>
                    <a:pt x="366" y="1293"/>
                    <a:pt x="373" y="1278"/>
                    <a:pt x="385" y="1267"/>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91" name="TB191"/>
          <p:cNvSpPr txBox="1"/>
          <p:nvPr/>
        </p:nvSpPr>
        <p:spPr>
          <a:xfrm>
            <a:off x="768096" y="3374136"/>
            <a:ext cx="3236976" cy="502920"/>
          </a:xfrm>
          <a:prstGeom prst="rect">
            <a:avLst/>
          </a:prstGeom>
          <a:noFill/>
        </p:spPr>
        <p:txBody>
          <a:bodyPr wrap="square" rtlCol="0" anchor="t"/>
          <a:lstStyle/>
          <a:p>
            <a:pPr algn="ctr"/>
            <a:r>
              <a:rPr lang="en-US" sz="1200" dirty="0">
                <a:solidFill>
                  <a:srgbClr val="575757"/>
                </a:solidFill>
                <a:latin typeface="Trebuchet MS"/>
              </a:rPr>
              <a:t>Enter under-served regions where Max has zero/limited presence</a:t>
            </a:r>
          </a:p>
        </p:txBody>
      </p:sp>
      <p:sp>
        <p:nvSpPr>
          <p:cNvPr id="192" name="BL192"/>
          <p:cNvSpPr txBox="1"/>
          <p:nvPr/>
        </p:nvSpPr>
        <p:spPr>
          <a:xfrm>
            <a:off x="768096" y="3950208"/>
            <a:ext cx="3236976" cy="1188720"/>
          </a:xfrm>
          <a:prstGeom prst="rect">
            <a:avLst/>
          </a:prstGeom>
          <a:noFill/>
        </p:spPr>
        <p:txBody>
          <a:bodyPr wrap="square" rtlCol="0" anchor="t"/>
          <a:lstStyle/>
          <a:p>
            <a:pPr marL="228600" indent="-228600" algn="l">
              <a:spcAft>
                <a:spcPts val="400"/>
              </a:spcAft>
              <a:buChar char="-"/>
            </a:pPr>
            <a:r>
              <a:rPr lang="en-US" sz="1200" dirty="0">
                <a:solidFill>
                  <a:srgbClr val="575757"/>
                </a:solidFill>
                <a:latin typeface="Trebuchet MS"/>
              </a:rPr>
              <a:t>Target South &amp; West India</a:t>
            </a:r>
          </a:p>
          <a:p>
            <a:pPr marL="228600" indent="-228600" algn="l">
              <a:spcAft>
                <a:spcPts val="400"/>
              </a:spcAft>
              <a:buChar char="-"/>
            </a:pPr>
            <a:r>
              <a:rPr lang="en-US" sz="1200" dirty="0">
                <a:solidFill>
                  <a:srgbClr val="575757"/>
                </a:solidFill>
                <a:latin typeface="Trebuchet MS"/>
              </a:rPr>
              <a:t>Acquire scaled regional leaders</a:t>
            </a:r>
          </a:p>
          <a:p>
            <a:pPr marL="228600" indent="-228600" algn="l">
              <a:spcAft>
                <a:spcPts val="400"/>
              </a:spcAft>
              <a:buChar char="-"/>
            </a:pPr>
            <a:r>
              <a:rPr lang="en-US" sz="1200" dirty="0">
                <a:solidFill>
                  <a:srgbClr val="575757"/>
                </a:solidFill>
                <a:latin typeface="Trebuchet MS"/>
              </a:rPr>
              <a:t>Preserve local clinical identity</a:t>
            </a:r>
          </a:p>
        </p:txBody>
      </p:sp>
      <p:sp>
        <p:nvSpPr>
          <p:cNvPr id="193" name="R193"/>
          <p:cNvSpPr/>
          <p:nvPr/>
        </p:nvSpPr>
        <p:spPr>
          <a:xfrm>
            <a:off x="630936" y="4773168"/>
            <a:ext cx="3511296" cy="502920"/>
          </a:xfrm>
          <a:prstGeom prst="rect">
            <a:avLst/>
          </a:prstGeom>
          <a:solidFill>
            <a:srgbClr val="F2F2F2"/>
          </a:solidFill>
          <a:ln w="9525">
            <a:solidFill>
              <a:srgbClr val="F2F2F2"/>
            </a:solidFill>
          </a:ln>
        </p:spPr>
        <p:txBody>
          <a:bodyPr/>
          <a:lstStyle/>
          <a:p>
            <a:endParaRPr lang="en-US"/>
          </a:p>
        </p:txBody>
      </p:sp>
      <p:sp>
        <p:nvSpPr>
          <p:cNvPr id="194" name="TB194"/>
          <p:cNvSpPr txBox="1"/>
          <p:nvPr/>
        </p:nvSpPr>
        <p:spPr>
          <a:xfrm>
            <a:off x="768096" y="4809744"/>
            <a:ext cx="3236976" cy="201168"/>
          </a:xfrm>
          <a:prstGeom prst="rect">
            <a:avLst/>
          </a:prstGeom>
          <a:noFill/>
        </p:spPr>
        <p:txBody>
          <a:bodyPr wrap="square" rtlCol="0" anchor="t"/>
          <a:lstStyle/>
          <a:p>
            <a:pPr algn="ctr"/>
            <a:r>
              <a:rPr lang="en-US" sz="1400" b="1" dirty="0">
                <a:solidFill>
                  <a:schemeClr val="tx2"/>
                </a:solidFill>
                <a:latin typeface="Trebuchet MS"/>
              </a:rPr>
              <a:t>70% of capital</a:t>
            </a:r>
          </a:p>
        </p:txBody>
      </p:sp>
      <p:sp>
        <p:nvSpPr>
          <p:cNvPr id="195" name="TB195"/>
          <p:cNvSpPr txBox="1"/>
          <p:nvPr/>
        </p:nvSpPr>
        <p:spPr>
          <a:xfrm>
            <a:off x="768096" y="5029200"/>
            <a:ext cx="3236976" cy="201168"/>
          </a:xfrm>
          <a:prstGeom prst="rect">
            <a:avLst/>
          </a:prstGeom>
          <a:noFill/>
        </p:spPr>
        <p:txBody>
          <a:bodyPr wrap="square" rtlCol="0" anchor="t"/>
          <a:lstStyle/>
          <a:p>
            <a:pPr algn="ctr"/>
            <a:r>
              <a:rPr lang="en-US" sz="1000" dirty="0">
                <a:solidFill>
                  <a:srgbClr val="6E6F73"/>
                </a:solidFill>
                <a:latin typeface="Trebuchet MS"/>
              </a:rPr>
              <a:t>Lead targets: KIMS, Jupiter</a:t>
            </a:r>
          </a:p>
        </p:txBody>
      </p:sp>
      <p:sp>
        <p:nvSpPr>
          <p:cNvPr id="196" name="RR196"/>
          <p:cNvSpPr/>
          <p:nvPr/>
        </p:nvSpPr>
        <p:spPr>
          <a:xfrm>
            <a:off x="4343400" y="2075688"/>
            <a:ext cx="3511296" cy="320040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97" name="R197"/>
          <p:cNvSpPr/>
          <p:nvPr/>
        </p:nvSpPr>
        <p:spPr>
          <a:xfrm>
            <a:off x="4343400" y="2075688"/>
            <a:ext cx="3511296" cy="54864"/>
          </a:xfrm>
          <a:prstGeom prst="rect">
            <a:avLst/>
          </a:prstGeom>
          <a:solidFill>
            <a:srgbClr val="295E7E"/>
          </a:solidFill>
          <a:ln>
            <a:noFill/>
          </a:ln>
        </p:spPr>
        <p:txBody>
          <a:bodyPr/>
          <a:lstStyle/>
          <a:p>
            <a:endParaRPr lang="en-US"/>
          </a:p>
        </p:txBody>
      </p:sp>
      <p:sp>
        <p:nvSpPr>
          <p:cNvPr id="198" name="R198"/>
          <p:cNvSpPr/>
          <p:nvPr/>
        </p:nvSpPr>
        <p:spPr>
          <a:xfrm>
            <a:off x="4343400" y="2075688"/>
            <a:ext cx="3511296" cy="411480"/>
          </a:xfrm>
          <a:prstGeom prst="rect">
            <a:avLst/>
          </a:prstGeom>
          <a:solidFill>
            <a:srgbClr val="295E7E"/>
          </a:solidFill>
          <a:ln>
            <a:noFill/>
          </a:ln>
        </p:spPr>
        <p:txBody>
          <a:bodyPr/>
          <a:lstStyle/>
          <a:p>
            <a:endParaRPr lang="en-US"/>
          </a:p>
        </p:txBody>
      </p:sp>
      <p:sp>
        <p:nvSpPr>
          <p:cNvPr id="199" name="TB199"/>
          <p:cNvSpPr txBox="1"/>
          <p:nvPr/>
        </p:nvSpPr>
        <p:spPr>
          <a:xfrm>
            <a:off x="4480560" y="2075688"/>
            <a:ext cx="3236976" cy="182880"/>
          </a:xfrm>
          <a:prstGeom prst="rect">
            <a:avLst/>
          </a:prstGeom>
          <a:noFill/>
        </p:spPr>
        <p:txBody>
          <a:bodyPr wrap="square" rtlCol="0" anchor="ctr"/>
          <a:lstStyle/>
          <a:p>
            <a:r>
              <a:rPr lang="en-US" sz="1000" b="1" dirty="0">
                <a:solidFill>
                  <a:srgbClr val="FFFFFF"/>
                </a:solidFill>
                <a:latin typeface="Trebuchet MS"/>
              </a:rPr>
              <a:t>PILLAR 2</a:t>
            </a:r>
          </a:p>
        </p:txBody>
      </p:sp>
      <p:sp>
        <p:nvSpPr>
          <p:cNvPr id="200" name="TB200"/>
          <p:cNvSpPr txBox="1"/>
          <p:nvPr/>
        </p:nvSpPr>
        <p:spPr>
          <a:xfrm>
            <a:off x="4480560" y="2240280"/>
            <a:ext cx="3236976" cy="246888"/>
          </a:xfrm>
          <a:prstGeom prst="rect">
            <a:avLst/>
          </a:prstGeom>
          <a:noFill/>
        </p:spPr>
        <p:txBody>
          <a:bodyPr wrap="square" rtlCol="0" anchor="ctr"/>
          <a:lstStyle/>
          <a:p>
            <a:r>
              <a:rPr lang="en-US" sz="1500" b="1" dirty="0">
                <a:solidFill>
                  <a:srgbClr val="FFFFFF"/>
                </a:solidFill>
                <a:latin typeface="Trebuchet MS"/>
              </a:rPr>
              <a:t>Specialty Deepening</a:t>
            </a:r>
          </a:p>
        </p:txBody>
      </p:sp>
      <p:sp>
        <p:nvSpPr>
          <p:cNvPr id="201" name="O201"/>
          <p:cNvSpPr/>
          <p:nvPr/>
        </p:nvSpPr>
        <p:spPr>
          <a:xfrm>
            <a:off x="5806440" y="2670048"/>
            <a:ext cx="585216" cy="585216"/>
          </a:xfrm>
          <a:prstGeom prst="ellipse">
            <a:avLst/>
          </a:prstGeom>
          <a:solidFill>
            <a:srgbClr val="295E7E"/>
          </a:solidFill>
          <a:ln>
            <a:noFill/>
          </a:ln>
        </p:spPr>
        <p:txBody>
          <a:bodyPr/>
          <a:lstStyle/>
          <a:p>
            <a:endParaRPr lang="en-US"/>
          </a:p>
        </p:txBody>
      </p:sp>
      <p:grpSp>
        <p:nvGrpSpPr>
          <p:cNvPr id="202" name="svg_Hospital_Building"/>
          <p:cNvGrpSpPr>
            <a:grpSpLocks noChangeAspect="1"/>
          </p:cNvGrpSpPr>
          <p:nvPr/>
        </p:nvGrpSpPr>
        <p:grpSpPr bwMode="auto">
          <a:xfrm>
            <a:off x="5870448" y="2734056"/>
            <a:ext cx="457200" cy="457200"/>
            <a:chOff x="0" y="0"/>
            <a:chExt cx="10000" cy="10000"/>
          </a:xfrm>
        </p:grpSpPr>
        <p:sp>
          <p:nvSpPr>
            <p:cNvPr id="203" name="Path 11"/>
            <p:cNvSpPr/>
            <p:nvPr/>
          </p:nvSpPr>
          <p:spPr bwMode="auto">
            <a:xfrm>
              <a:off x="0" y="0"/>
              <a:ext cx="10000" cy="10000"/>
            </a:xfrm>
            <a:custGeom>
              <a:avLst/>
              <a:gdLst/>
              <a:ahLst/>
              <a:cxnLst/>
              <a:rect l="0" t="0" r="10000" b="10000"/>
              <a:pathLst>
                <a:path w="10000" h="10000">
                  <a:moveTo>
                    <a:pt x="8154" y="8418"/>
                  </a:moveTo>
                  <a:cubicBezTo>
                    <a:pt x="7880" y="8418"/>
                    <a:pt x="7880" y="8418"/>
                    <a:pt x="7880" y="8418"/>
                  </a:cubicBezTo>
                  <a:cubicBezTo>
                    <a:pt x="7880" y="8293"/>
                    <a:pt x="7880" y="8293"/>
                    <a:pt x="7880" y="8293"/>
                  </a:cubicBezTo>
                  <a:cubicBezTo>
                    <a:pt x="7880" y="8241"/>
                    <a:pt x="7837" y="8202"/>
                    <a:pt x="7789" y="8202"/>
                  </a:cubicBezTo>
                  <a:cubicBezTo>
                    <a:pt x="2211" y="8202"/>
                    <a:pt x="2211" y="8202"/>
                    <a:pt x="2211" y="8202"/>
                  </a:cubicBezTo>
                  <a:cubicBezTo>
                    <a:pt x="2163" y="8202"/>
                    <a:pt x="2120" y="8241"/>
                    <a:pt x="2120" y="8293"/>
                  </a:cubicBezTo>
                  <a:cubicBezTo>
                    <a:pt x="2120" y="8418"/>
                    <a:pt x="2120" y="8418"/>
                    <a:pt x="2120" y="8418"/>
                  </a:cubicBezTo>
                  <a:cubicBezTo>
                    <a:pt x="1846" y="8418"/>
                    <a:pt x="1846" y="8418"/>
                    <a:pt x="1846" y="8418"/>
                  </a:cubicBezTo>
                  <a:cubicBezTo>
                    <a:pt x="1794" y="8418"/>
                    <a:pt x="1751" y="8462"/>
                    <a:pt x="1751" y="8514"/>
                  </a:cubicBezTo>
                  <a:cubicBezTo>
                    <a:pt x="1751" y="8865"/>
                    <a:pt x="1751" y="8865"/>
                    <a:pt x="1751" y="8865"/>
                  </a:cubicBezTo>
                  <a:cubicBezTo>
                    <a:pt x="1751" y="8917"/>
                    <a:pt x="1794" y="8956"/>
                    <a:pt x="1846" y="8956"/>
                  </a:cubicBezTo>
                  <a:cubicBezTo>
                    <a:pt x="8154" y="8956"/>
                    <a:pt x="8154" y="8956"/>
                    <a:pt x="8154" y="8956"/>
                  </a:cubicBezTo>
                  <a:cubicBezTo>
                    <a:pt x="8206" y="8956"/>
                    <a:pt x="8249" y="8917"/>
                    <a:pt x="8249" y="8865"/>
                  </a:cubicBezTo>
                  <a:cubicBezTo>
                    <a:pt x="8249" y="8514"/>
                    <a:pt x="8249" y="8514"/>
                    <a:pt x="8249" y="8514"/>
                  </a:cubicBezTo>
                  <a:cubicBezTo>
                    <a:pt x="8249" y="8462"/>
                    <a:pt x="8206" y="8418"/>
                    <a:pt x="8154" y="8418"/>
                  </a:cubicBezTo>
                  <a:close/>
                  <a:moveTo>
                    <a:pt x="3989" y="1635"/>
                  </a:moveTo>
                  <a:cubicBezTo>
                    <a:pt x="3989" y="3656"/>
                    <a:pt x="3989" y="3656"/>
                    <a:pt x="3989" y="3656"/>
                  </a:cubicBezTo>
                  <a:cubicBezTo>
                    <a:pt x="3989" y="3678"/>
                    <a:pt x="4007" y="3695"/>
                    <a:pt x="4033" y="3695"/>
                  </a:cubicBezTo>
                  <a:cubicBezTo>
                    <a:pt x="5950" y="3695"/>
                    <a:pt x="5950" y="3695"/>
                    <a:pt x="5950" y="3695"/>
                  </a:cubicBezTo>
                  <a:cubicBezTo>
                    <a:pt x="5976" y="3695"/>
                    <a:pt x="5993" y="3678"/>
                    <a:pt x="5993" y="3656"/>
                  </a:cubicBezTo>
                  <a:cubicBezTo>
                    <a:pt x="5993" y="1635"/>
                    <a:pt x="5993" y="1635"/>
                    <a:pt x="5993" y="1635"/>
                  </a:cubicBezTo>
                  <a:cubicBezTo>
                    <a:pt x="5993" y="1609"/>
                    <a:pt x="5976" y="1592"/>
                    <a:pt x="5950" y="1592"/>
                  </a:cubicBezTo>
                  <a:cubicBezTo>
                    <a:pt x="4033" y="1592"/>
                    <a:pt x="4033" y="1592"/>
                    <a:pt x="4033" y="1592"/>
                  </a:cubicBezTo>
                  <a:cubicBezTo>
                    <a:pt x="4007" y="1592"/>
                    <a:pt x="3989" y="1609"/>
                    <a:pt x="3989" y="1635"/>
                  </a:cubicBezTo>
                  <a:close/>
                  <a:moveTo>
                    <a:pt x="5642" y="2832"/>
                  </a:moveTo>
                  <a:cubicBezTo>
                    <a:pt x="5195" y="2832"/>
                    <a:pt x="5195" y="2832"/>
                    <a:pt x="5195" y="2832"/>
                  </a:cubicBezTo>
                  <a:cubicBezTo>
                    <a:pt x="5195" y="3274"/>
                    <a:pt x="5195" y="3274"/>
                    <a:pt x="5195" y="3274"/>
                  </a:cubicBezTo>
                  <a:cubicBezTo>
                    <a:pt x="4809" y="3274"/>
                    <a:pt x="4809" y="3274"/>
                    <a:pt x="4809" y="3274"/>
                  </a:cubicBezTo>
                  <a:cubicBezTo>
                    <a:pt x="4809" y="2832"/>
                    <a:pt x="4809" y="2832"/>
                    <a:pt x="4809" y="2832"/>
                  </a:cubicBezTo>
                  <a:cubicBezTo>
                    <a:pt x="4367" y="2832"/>
                    <a:pt x="4367" y="2832"/>
                    <a:pt x="4367" y="2832"/>
                  </a:cubicBezTo>
                  <a:cubicBezTo>
                    <a:pt x="4367" y="2446"/>
                    <a:pt x="4367" y="2446"/>
                    <a:pt x="4367" y="2446"/>
                  </a:cubicBezTo>
                  <a:cubicBezTo>
                    <a:pt x="4809" y="2446"/>
                    <a:pt x="4809" y="2446"/>
                    <a:pt x="4809" y="2446"/>
                  </a:cubicBezTo>
                  <a:cubicBezTo>
                    <a:pt x="4809" y="1999"/>
                    <a:pt x="4809" y="1999"/>
                    <a:pt x="4809" y="1999"/>
                  </a:cubicBezTo>
                  <a:cubicBezTo>
                    <a:pt x="5195" y="1999"/>
                    <a:pt x="5195" y="1999"/>
                    <a:pt x="5195" y="1999"/>
                  </a:cubicBezTo>
                  <a:cubicBezTo>
                    <a:pt x="5195" y="2446"/>
                    <a:pt x="5195" y="2446"/>
                    <a:pt x="5195" y="2446"/>
                  </a:cubicBezTo>
                  <a:cubicBezTo>
                    <a:pt x="5642" y="2446"/>
                    <a:pt x="5642" y="2446"/>
                    <a:pt x="5642" y="2446"/>
                  </a:cubicBezTo>
                  <a:lnTo>
                    <a:pt x="5642" y="2832"/>
                  </a:lnTo>
                  <a:close/>
                  <a:moveTo>
                    <a:pt x="7781" y="8015"/>
                  </a:moveTo>
                  <a:cubicBezTo>
                    <a:pt x="7590" y="8015"/>
                    <a:pt x="7590" y="8015"/>
                    <a:pt x="7590" y="8015"/>
                  </a:cubicBezTo>
                  <a:cubicBezTo>
                    <a:pt x="7590" y="6510"/>
                    <a:pt x="7590" y="6510"/>
                    <a:pt x="7590" y="6510"/>
                  </a:cubicBezTo>
                  <a:cubicBezTo>
                    <a:pt x="2410" y="6510"/>
                    <a:pt x="2410" y="6510"/>
                    <a:pt x="2410" y="6510"/>
                  </a:cubicBezTo>
                  <a:cubicBezTo>
                    <a:pt x="2410" y="8015"/>
                    <a:pt x="2410" y="8015"/>
                    <a:pt x="2410" y="8015"/>
                  </a:cubicBezTo>
                  <a:cubicBezTo>
                    <a:pt x="2219" y="8015"/>
                    <a:pt x="2219" y="8015"/>
                    <a:pt x="2219" y="8015"/>
                  </a:cubicBezTo>
                  <a:cubicBezTo>
                    <a:pt x="2219" y="6415"/>
                    <a:pt x="2219" y="6415"/>
                    <a:pt x="2219" y="6415"/>
                  </a:cubicBezTo>
                  <a:cubicBezTo>
                    <a:pt x="2219" y="6363"/>
                    <a:pt x="2258" y="6319"/>
                    <a:pt x="2315" y="6319"/>
                  </a:cubicBezTo>
                  <a:cubicBezTo>
                    <a:pt x="7685" y="6319"/>
                    <a:pt x="7685" y="6319"/>
                    <a:pt x="7685" y="6319"/>
                  </a:cubicBezTo>
                  <a:cubicBezTo>
                    <a:pt x="7742" y="6319"/>
                    <a:pt x="7781" y="6363"/>
                    <a:pt x="7781" y="6415"/>
                  </a:cubicBezTo>
                  <a:lnTo>
                    <a:pt x="7781" y="8015"/>
                  </a:lnTo>
                  <a:close/>
                  <a:moveTo>
                    <a:pt x="7581" y="1166"/>
                  </a:moveTo>
                  <a:cubicBezTo>
                    <a:pt x="7308" y="1166"/>
                    <a:pt x="7308" y="1166"/>
                    <a:pt x="7308" y="1166"/>
                  </a:cubicBezTo>
                  <a:cubicBezTo>
                    <a:pt x="7126" y="898"/>
                    <a:pt x="7126" y="898"/>
                    <a:pt x="7126" y="898"/>
                  </a:cubicBezTo>
                  <a:cubicBezTo>
                    <a:pt x="7108" y="872"/>
                    <a:pt x="7078" y="859"/>
                    <a:pt x="7047" y="859"/>
                  </a:cubicBezTo>
                  <a:cubicBezTo>
                    <a:pt x="2953" y="859"/>
                    <a:pt x="2953" y="859"/>
                    <a:pt x="2953" y="859"/>
                  </a:cubicBezTo>
                  <a:cubicBezTo>
                    <a:pt x="2922" y="859"/>
                    <a:pt x="2892" y="872"/>
                    <a:pt x="2874" y="898"/>
                  </a:cubicBezTo>
                  <a:cubicBezTo>
                    <a:pt x="2692" y="1166"/>
                    <a:pt x="2692" y="1166"/>
                    <a:pt x="2692" y="1166"/>
                  </a:cubicBezTo>
                  <a:cubicBezTo>
                    <a:pt x="2419" y="1166"/>
                    <a:pt x="2419" y="1166"/>
                    <a:pt x="2419" y="1166"/>
                  </a:cubicBezTo>
                  <a:cubicBezTo>
                    <a:pt x="2367" y="1166"/>
                    <a:pt x="2323" y="1210"/>
                    <a:pt x="2323" y="1262"/>
                  </a:cubicBezTo>
                  <a:cubicBezTo>
                    <a:pt x="2323" y="1535"/>
                    <a:pt x="2323" y="1535"/>
                    <a:pt x="2323" y="1535"/>
                  </a:cubicBezTo>
                  <a:cubicBezTo>
                    <a:pt x="2323" y="1587"/>
                    <a:pt x="2367" y="1631"/>
                    <a:pt x="2419" y="1631"/>
                  </a:cubicBezTo>
                  <a:cubicBezTo>
                    <a:pt x="2467" y="1631"/>
                    <a:pt x="2467" y="1631"/>
                    <a:pt x="2467" y="1631"/>
                  </a:cubicBezTo>
                  <a:cubicBezTo>
                    <a:pt x="2467" y="6137"/>
                    <a:pt x="2467" y="6137"/>
                    <a:pt x="2467" y="6137"/>
                  </a:cubicBezTo>
                  <a:cubicBezTo>
                    <a:pt x="2657" y="6137"/>
                    <a:pt x="2657" y="6137"/>
                    <a:pt x="2657" y="6137"/>
                  </a:cubicBezTo>
                  <a:cubicBezTo>
                    <a:pt x="2657" y="1535"/>
                    <a:pt x="2657" y="1535"/>
                    <a:pt x="2657" y="1535"/>
                  </a:cubicBezTo>
                  <a:cubicBezTo>
                    <a:pt x="2657" y="1483"/>
                    <a:pt x="2614" y="1440"/>
                    <a:pt x="2562" y="1440"/>
                  </a:cubicBezTo>
                  <a:cubicBezTo>
                    <a:pt x="2514" y="1440"/>
                    <a:pt x="2514" y="1440"/>
                    <a:pt x="2514" y="1440"/>
                  </a:cubicBezTo>
                  <a:cubicBezTo>
                    <a:pt x="2514" y="1357"/>
                    <a:pt x="2514" y="1357"/>
                    <a:pt x="2514" y="1357"/>
                  </a:cubicBezTo>
                  <a:cubicBezTo>
                    <a:pt x="7486" y="1357"/>
                    <a:pt x="7486" y="1357"/>
                    <a:pt x="7486" y="1357"/>
                  </a:cubicBezTo>
                  <a:cubicBezTo>
                    <a:pt x="7486" y="1440"/>
                    <a:pt x="7486" y="1440"/>
                    <a:pt x="7486" y="1440"/>
                  </a:cubicBezTo>
                  <a:cubicBezTo>
                    <a:pt x="7438" y="1440"/>
                    <a:pt x="7438" y="1440"/>
                    <a:pt x="7438" y="1440"/>
                  </a:cubicBezTo>
                  <a:cubicBezTo>
                    <a:pt x="7386" y="1440"/>
                    <a:pt x="7343" y="1483"/>
                    <a:pt x="7343" y="1535"/>
                  </a:cubicBezTo>
                  <a:cubicBezTo>
                    <a:pt x="7343" y="6137"/>
                    <a:pt x="7343" y="6137"/>
                    <a:pt x="7343" y="6137"/>
                  </a:cubicBezTo>
                  <a:cubicBezTo>
                    <a:pt x="7533" y="6137"/>
                    <a:pt x="7533" y="6137"/>
                    <a:pt x="7533" y="6137"/>
                  </a:cubicBezTo>
                  <a:cubicBezTo>
                    <a:pt x="7533" y="1631"/>
                    <a:pt x="7533" y="1631"/>
                    <a:pt x="7533" y="1631"/>
                  </a:cubicBezTo>
                  <a:cubicBezTo>
                    <a:pt x="7581" y="1631"/>
                    <a:pt x="7581" y="1631"/>
                    <a:pt x="7581" y="1631"/>
                  </a:cubicBezTo>
                  <a:cubicBezTo>
                    <a:pt x="7633" y="1631"/>
                    <a:pt x="7677" y="1587"/>
                    <a:pt x="7677" y="1535"/>
                  </a:cubicBezTo>
                  <a:cubicBezTo>
                    <a:pt x="7677" y="1262"/>
                    <a:pt x="7677" y="1262"/>
                    <a:pt x="7677" y="1262"/>
                  </a:cubicBezTo>
                  <a:cubicBezTo>
                    <a:pt x="7677" y="1210"/>
                    <a:pt x="7633" y="1166"/>
                    <a:pt x="7581" y="1166"/>
                  </a:cubicBezTo>
                  <a:close/>
                  <a:moveTo>
                    <a:pt x="3000" y="1049"/>
                  </a:moveTo>
                  <a:cubicBezTo>
                    <a:pt x="7000" y="1049"/>
                    <a:pt x="7000" y="1049"/>
                    <a:pt x="7000" y="1049"/>
                  </a:cubicBezTo>
                  <a:cubicBezTo>
                    <a:pt x="7078" y="1166"/>
                    <a:pt x="7078" y="1166"/>
                    <a:pt x="7078" y="1166"/>
                  </a:cubicBezTo>
                  <a:cubicBezTo>
                    <a:pt x="2922" y="1166"/>
                    <a:pt x="2922" y="1166"/>
                    <a:pt x="2922" y="1166"/>
                  </a:cubicBezTo>
                  <a:lnTo>
                    <a:pt x="3000" y="1049"/>
                  </a:lnTo>
                  <a:close/>
                </a:path>
              </a:pathLst>
            </a:custGeom>
            <a:solidFill>
              <a:srgbClr val="FFFFFF"/>
            </a:solidFill>
            <a:ln w="0">
              <a:noFill/>
            </a:ln>
          </p:spPr>
          <p:txBody>
            <a:bodyPr/>
            <a:lstStyle/>
            <a:p>
              <a:endParaRPr lang="en-US"/>
            </a:p>
          </p:txBody>
        </p:sp>
        <p:sp>
          <p:nvSpPr>
            <p:cNvPr id="204" name="Path 12"/>
            <p:cNvSpPr/>
            <p:nvPr/>
          </p:nvSpPr>
          <p:spPr bwMode="auto">
            <a:xfrm>
              <a:off x="0" y="0"/>
              <a:ext cx="10000" cy="10000"/>
            </a:xfrm>
            <a:custGeom>
              <a:avLst/>
              <a:gdLst/>
              <a:ahLst/>
              <a:cxnLst/>
              <a:rect l="0" t="0" r="10000" b="10000"/>
              <a:pathLst>
                <a:path w="10000" h="10000">
                  <a:moveTo>
                    <a:pt x="3725" y="2829"/>
                  </a:moveTo>
                  <a:cubicBezTo>
                    <a:pt x="3725" y="3682"/>
                    <a:pt x="3725" y="3682"/>
                    <a:pt x="3725" y="3682"/>
                  </a:cubicBezTo>
                  <a:cubicBezTo>
                    <a:pt x="3725" y="3704"/>
                    <a:pt x="3708" y="3726"/>
                    <a:pt x="3682" y="3726"/>
                  </a:cubicBezTo>
                  <a:cubicBezTo>
                    <a:pt x="3175" y="3726"/>
                    <a:pt x="3175" y="3726"/>
                    <a:pt x="3175" y="3726"/>
                  </a:cubicBezTo>
                  <a:cubicBezTo>
                    <a:pt x="3153" y="3726"/>
                    <a:pt x="3131" y="3704"/>
                    <a:pt x="3131" y="3682"/>
                  </a:cubicBezTo>
                  <a:cubicBezTo>
                    <a:pt x="3131" y="2829"/>
                    <a:pt x="3131" y="2829"/>
                    <a:pt x="3131" y="2829"/>
                  </a:cubicBezTo>
                  <a:cubicBezTo>
                    <a:pt x="3131" y="2808"/>
                    <a:pt x="3153" y="2786"/>
                    <a:pt x="3175" y="2786"/>
                  </a:cubicBezTo>
                  <a:cubicBezTo>
                    <a:pt x="3682" y="2786"/>
                    <a:pt x="3682" y="2786"/>
                    <a:pt x="3682" y="2786"/>
                  </a:cubicBezTo>
                  <a:cubicBezTo>
                    <a:pt x="3708" y="2786"/>
                    <a:pt x="3725" y="2808"/>
                    <a:pt x="3725" y="2829"/>
                  </a:cubicBezTo>
                  <a:close/>
                  <a:moveTo>
                    <a:pt x="3682" y="1599"/>
                  </a:moveTo>
                  <a:cubicBezTo>
                    <a:pt x="3175" y="1599"/>
                    <a:pt x="3175" y="1599"/>
                    <a:pt x="3175" y="1599"/>
                  </a:cubicBezTo>
                  <a:cubicBezTo>
                    <a:pt x="3153" y="1599"/>
                    <a:pt x="3131" y="1621"/>
                    <a:pt x="3131" y="1643"/>
                  </a:cubicBezTo>
                  <a:cubicBezTo>
                    <a:pt x="3131" y="2496"/>
                    <a:pt x="3131" y="2496"/>
                    <a:pt x="3131" y="2496"/>
                  </a:cubicBezTo>
                  <a:cubicBezTo>
                    <a:pt x="3131" y="2522"/>
                    <a:pt x="3153" y="2539"/>
                    <a:pt x="3175" y="2539"/>
                  </a:cubicBezTo>
                  <a:cubicBezTo>
                    <a:pt x="3682" y="2539"/>
                    <a:pt x="3682" y="2539"/>
                    <a:pt x="3682" y="2539"/>
                  </a:cubicBezTo>
                  <a:cubicBezTo>
                    <a:pt x="3708" y="2539"/>
                    <a:pt x="3725" y="2522"/>
                    <a:pt x="3725" y="2496"/>
                  </a:cubicBezTo>
                  <a:cubicBezTo>
                    <a:pt x="3725" y="1643"/>
                    <a:pt x="3725" y="1643"/>
                    <a:pt x="3725" y="1643"/>
                  </a:cubicBezTo>
                  <a:cubicBezTo>
                    <a:pt x="3725" y="1621"/>
                    <a:pt x="3708" y="1599"/>
                    <a:pt x="3682" y="1599"/>
                  </a:cubicBezTo>
                  <a:close/>
                  <a:moveTo>
                    <a:pt x="3682" y="3973"/>
                  </a:moveTo>
                  <a:cubicBezTo>
                    <a:pt x="3175" y="3973"/>
                    <a:pt x="3175" y="3973"/>
                    <a:pt x="3175" y="3973"/>
                  </a:cubicBezTo>
                  <a:cubicBezTo>
                    <a:pt x="3153" y="3973"/>
                    <a:pt x="3131" y="3990"/>
                    <a:pt x="3131" y="4016"/>
                  </a:cubicBezTo>
                  <a:cubicBezTo>
                    <a:pt x="3131" y="4869"/>
                    <a:pt x="3131" y="4869"/>
                    <a:pt x="3131" y="4869"/>
                  </a:cubicBezTo>
                  <a:cubicBezTo>
                    <a:pt x="3131" y="4891"/>
                    <a:pt x="3153" y="4912"/>
                    <a:pt x="3175" y="4912"/>
                  </a:cubicBezTo>
                  <a:cubicBezTo>
                    <a:pt x="3682" y="4912"/>
                    <a:pt x="3682" y="4912"/>
                    <a:pt x="3682" y="4912"/>
                  </a:cubicBezTo>
                  <a:cubicBezTo>
                    <a:pt x="3708" y="4912"/>
                    <a:pt x="3725" y="4891"/>
                    <a:pt x="3725" y="4869"/>
                  </a:cubicBezTo>
                  <a:cubicBezTo>
                    <a:pt x="3725" y="4016"/>
                    <a:pt x="3725" y="4016"/>
                    <a:pt x="3725" y="4016"/>
                  </a:cubicBezTo>
                  <a:cubicBezTo>
                    <a:pt x="3725" y="3990"/>
                    <a:pt x="3708" y="3973"/>
                    <a:pt x="3682" y="3973"/>
                  </a:cubicBezTo>
                  <a:close/>
                  <a:moveTo>
                    <a:pt x="3682" y="5159"/>
                  </a:moveTo>
                  <a:cubicBezTo>
                    <a:pt x="3175" y="5159"/>
                    <a:pt x="3175" y="5159"/>
                    <a:pt x="3175" y="5159"/>
                  </a:cubicBezTo>
                  <a:cubicBezTo>
                    <a:pt x="3153" y="5159"/>
                    <a:pt x="3131" y="5177"/>
                    <a:pt x="3131" y="5203"/>
                  </a:cubicBezTo>
                  <a:cubicBezTo>
                    <a:pt x="3131" y="6056"/>
                    <a:pt x="3131" y="6056"/>
                    <a:pt x="3131" y="6056"/>
                  </a:cubicBezTo>
                  <a:cubicBezTo>
                    <a:pt x="3131" y="6078"/>
                    <a:pt x="3153" y="6099"/>
                    <a:pt x="3175" y="6099"/>
                  </a:cubicBezTo>
                  <a:cubicBezTo>
                    <a:pt x="3682" y="6099"/>
                    <a:pt x="3682" y="6099"/>
                    <a:pt x="3682" y="6099"/>
                  </a:cubicBezTo>
                  <a:cubicBezTo>
                    <a:pt x="3708" y="6099"/>
                    <a:pt x="3725" y="6078"/>
                    <a:pt x="3725" y="6056"/>
                  </a:cubicBezTo>
                  <a:cubicBezTo>
                    <a:pt x="3725" y="5203"/>
                    <a:pt x="3725" y="5203"/>
                    <a:pt x="3725" y="5203"/>
                  </a:cubicBezTo>
                  <a:cubicBezTo>
                    <a:pt x="3725" y="5177"/>
                    <a:pt x="3708" y="5159"/>
                    <a:pt x="3682" y="5159"/>
                  </a:cubicBezTo>
                  <a:close/>
                  <a:moveTo>
                    <a:pt x="4532" y="5159"/>
                  </a:moveTo>
                  <a:cubicBezTo>
                    <a:pt x="4025" y="5159"/>
                    <a:pt x="4025" y="5159"/>
                    <a:pt x="4025" y="5159"/>
                  </a:cubicBezTo>
                  <a:cubicBezTo>
                    <a:pt x="3999" y="5159"/>
                    <a:pt x="3981" y="5177"/>
                    <a:pt x="3981" y="5203"/>
                  </a:cubicBezTo>
                  <a:cubicBezTo>
                    <a:pt x="3981" y="6056"/>
                    <a:pt x="3981" y="6056"/>
                    <a:pt x="3981" y="6056"/>
                  </a:cubicBezTo>
                  <a:cubicBezTo>
                    <a:pt x="3981" y="6078"/>
                    <a:pt x="3999" y="6099"/>
                    <a:pt x="4025" y="6099"/>
                  </a:cubicBezTo>
                  <a:cubicBezTo>
                    <a:pt x="4532" y="6099"/>
                    <a:pt x="4532" y="6099"/>
                    <a:pt x="4532" y="6099"/>
                  </a:cubicBezTo>
                  <a:cubicBezTo>
                    <a:pt x="4554" y="6099"/>
                    <a:pt x="4575" y="6078"/>
                    <a:pt x="4575" y="6056"/>
                  </a:cubicBezTo>
                  <a:cubicBezTo>
                    <a:pt x="4575" y="5203"/>
                    <a:pt x="4575" y="5203"/>
                    <a:pt x="4575" y="5203"/>
                  </a:cubicBezTo>
                  <a:cubicBezTo>
                    <a:pt x="4575" y="5177"/>
                    <a:pt x="4554" y="5159"/>
                    <a:pt x="4532" y="5159"/>
                  </a:cubicBezTo>
                  <a:close/>
                  <a:moveTo>
                    <a:pt x="4532" y="3973"/>
                  </a:moveTo>
                  <a:cubicBezTo>
                    <a:pt x="4025" y="3973"/>
                    <a:pt x="4025" y="3973"/>
                    <a:pt x="4025" y="3973"/>
                  </a:cubicBezTo>
                  <a:cubicBezTo>
                    <a:pt x="3999" y="3973"/>
                    <a:pt x="3981" y="3990"/>
                    <a:pt x="3981" y="4016"/>
                  </a:cubicBezTo>
                  <a:cubicBezTo>
                    <a:pt x="3981" y="4869"/>
                    <a:pt x="3981" y="4869"/>
                    <a:pt x="3981" y="4869"/>
                  </a:cubicBezTo>
                  <a:cubicBezTo>
                    <a:pt x="3981" y="4891"/>
                    <a:pt x="3999" y="4912"/>
                    <a:pt x="4025" y="4912"/>
                  </a:cubicBezTo>
                  <a:cubicBezTo>
                    <a:pt x="4532" y="4912"/>
                    <a:pt x="4532" y="4912"/>
                    <a:pt x="4532" y="4912"/>
                  </a:cubicBezTo>
                  <a:cubicBezTo>
                    <a:pt x="4554" y="4912"/>
                    <a:pt x="4575" y="4891"/>
                    <a:pt x="4575" y="4869"/>
                  </a:cubicBezTo>
                  <a:cubicBezTo>
                    <a:pt x="4575" y="4016"/>
                    <a:pt x="4575" y="4016"/>
                    <a:pt x="4575" y="4016"/>
                  </a:cubicBezTo>
                  <a:cubicBezTo>
                    <a:pt x="4575" y="3990"/>
                    <a:pt x="4554" y="3973"/>
                    <a:pt x="4532" y="3973"/>
                  </a:cubicBezTo>
                  <a:close/>
                  <a:moveTo>
                    <a:pt x="6258" y="2829"/>
                  </a:moveTo>
                  <a:cubicBezTo>
                    <a:pt x="6258" y="3682"/>
                    <a:pt x="6258" y="3682"/>
                    <a:pt x="6258" y="3682"/>
                  </a:cubicBezTo>
                  <a:cubicBezTo>
                    <a:pt x="6258" y="3704"/>
                    <a:pt x="6275" y="3726"/>
                    <a:pt x="6301" y="3726"/>
                  </a:cubicBezTo>
                  <a:cubicBezTo>
                    <a:pt x="6808" y="3726"/>
                    <a:pt x="6808" y="3726"/>
                    <a:pt x="6808" y="3726"/>
                  </a:cubicBezTo>
                  <a:cubicBezTo>
                    <a:pt x="6830" y="3726"/>
                    <a:pt x="6852" y="3704"/>
                    <a:pt x="6852" y="3682"/>
                  </a:cubicBezTo>
                  <a:cubicBezTo>
                    <a:pt x="6852" y="2829"/>
                    <a:pt x="6852" y="2829"/>
                    <a:pt x="6852" y="2829"/>
                  </a:cubicBezTo>
                  <a:cubicBezTo>
                    <a:pt x="6852" y="2808"/>
                    <a:pt x="6830" y="2786"/>
                    <a:pt x="6808" y="2786"/>
                  </a:cubicBezTo>
                  <a:cubicBezTo>
                    <a:pt x="6301" y="2786"/>
                    <a:pt x="6301" y="2786"/>
                    <a:pt x="6301" y="2786"/>
                  </a:cubicBezTo>
                  <a:cubicBezTo>
                    <a:pt x="6275" y="2786"/>
                    <a:pt x="6258" y="2808"/>
                    <a:pt x="6258" y="2829"/>
                  </a:cubicBezTo>
                  <a:close/>
                  <a:moveTo>
                    <a:pt x="6258" y="1643"/>
                  </a:moveTo>
                  <a:cubicBezTo>
                    <a:pt x="6258" y="2496"/>
                    <a:pt x="6258" y="2496"/>
                    <a:pt x="6258" y="2496"/>
                  </a:cubicBezTo>
                  <a:cubicBezTo>
                    <a:pt x="6258" y="2522"/>
                    <a:pt x="6275" y="2539"/>
                    <a:pt x="6301" y="2539"/>
                  </a:cubicBezTo>
                  <a:cubicBezTo>
                    <a:pt x="6808" y="2539"/>
                    <a:pt x="6808" y="2539"/>
                    <a:pt x="6808" y="2539"/>
                  </a:cubicBezTo>
                  <a:cubicBezTo>
                    <a:pt x="6830" y="2539"/>
                    <a:pt x="6852" y="2522"/>
                    <a:pt x="6852" y="2496"/>
                  </a:cubicBezTo>
                  <a:cubicBezTo>
                    <a:pt x="6852" y="1643"/>
                    <a:pt x="6852" y="1643"/>
                    <a:pt x="6852" y="1643"/>
                  </a:cubicBezTo>
                  <a:cubicBezTo>
                    <a:pt x="6852" y="1621"/>
                    <a:pt x="6830" y="1599"/>
                    <a:pt x="6808" y="1599"/>
                  </a:cubicBezTo>
                  <a:cubicBezTo>
                    <a:pt x="6301" y="1599"/>
                    <a:pt x="6301" y="1599"/>
                    <a:pt x="6301" y="1599"/>
                  </a:cubicBezTo>
                  <a:cubicBezTo>
                    <a:pt x="6275" y="1599"/>
                    <a:pt x="6258" y="1621"/>
                    <a:pt x="6258" y="1643"/>
                  </a:cubicBezTo>
                  <a:close/>
                  <a:moveTo>
                    <a:pt x="6258" y="4016"/>
                  </a:moveTo>
                  <a:cubicBezTo>
                    <a:pt x="6258" y="4869"/>
                    <a:pt x="6258" y="4869"/>
                    <a:pt x="6258" y="4869"/>
                  </a:cubicBezTo>
                  <a:cubicBezTo>
                    <a:pt x="6258" y="4891"/>
                    <a:pt x="6275" y="4912"/>
                    <a:pt x="6301" y="4912"/>
                  </a:cubicBezTo>
                  <a:cubicBezTo>
                    <a:pt x="6808" y="4912"/>
                    <a:pt x="6808" y="4912"/>
                    <a:pt x="6808" y="4912"/>
                  </a:cubicBezTo>
                  <a:cubicBezTo>
                    <a:pt x="6830" y="4912"/>
                    <a:pt x="6852" y="4891"/>
                    <a:pt x="6852" y="4869"/>
                  </a:cubicBezTo>
                  <a:cubicBezTo>
                    <a:pt x="6852" y="4016"/>
                    <a:pt x="6852" y="4016"/>
                    <a:pt x="6852" y="4016"/>
                  </a:cubicBezTo>
                  <a:cubicBezTo>
                    <a:pt x="6852" y="3990"/>
                    <a:pt x="6830" y="3973"/>
                    <a:pt x="6808" y="3973"/>
                  </a:cubicBezTo>
                  <a:cubicBezTo>
                    <a:pt x="6301" y="3973"/>
                    <a:pt x="6301" y="3973"/>
                    <a:pt x="6301" y="3973"/>
                  </a:cubicBezTo>
                  <a:cubicBezTo>
                    <a:pt x="6275" y="3973"/>
                    <a:pt x="6258" y="3990"/>
                    <a:pt x="6258" y="4016"/>
                  </a:cubicBezTo>
                  <a:close/>
                  <a:moveTo>
                    <a:pt x="6258" y="5203"/>
                  </a:moveTo>
                  <a:cubicBezTo>
                    <a:pt x="6258" y="6056"/>
                    <a:pt x="6258" y="6056"/>
                    <a:pt x="6258" y="6056"/>
                  </a:cubicBezTo>
                  <a:cubicBezTo>
                    <a:pt x="6258" y="6078"/>
                    <a:pt x="6275" y="6099"/>
                    <a:pt x="6301" y="6099"/>
                  </a:cubicBezTo>
                  <a:cubicBezTo>
                    <a:pt x="6808" y="6099"/>
                    <a:pt x="6808" y="6099"/>
                    <a:pt x="6808" y="6099"/>
                  </a:cubicBezTo>
                  <a:cubicBezTo>
                    <a:pt x="6830" y="6099"/>
                    <a:pt x="6852" y="6078"/>
                    <a:pt x="6852" y="6056"/>
                  </a:cubicBezTo>
                  <a:cubicBezTo>
                    <a:pt x="6852" y="5203"/>
                    <a:pt x="6852" y="5203"/>
                    <a:pt x="6852" y="5203"/>
                  </a:cubicBezTo>
                  <a:cubicBezTo>
                    <a:pt x="6852" y="5177"/>
                    <a:pt x="6830" y="5159"/>
                    <a:pt x="6808" y="5159"/>
                  </a:cubicBezTo>
                  <a:cubicBezTo>
                    <a:pt x="6301" y="5159"/>
                    <a:pt x="6301" y="5159"/>
                    <a:pt x="6301" y="5159"/>
                  </a:cubicBezTo>
                  <a:cubicBezTo>
                    <a:pt x="6275" y="5159"/>
                    <a:pt x="6258" y="5177"/>
                    <a:pt x="6258" y="5203"/>
                  </a:cubicBezTo>
                  <a:close/>
                  <a:moveTo>
                    <a:pt x="5391" y="5203"/>
                  </a:moveTo>
                  <a:cubicBezTo>
                    <a:pt x="5391" y="6056"/>
                    <a:pt x="5391" y="6056"/>
                    <a:pt x="5391" y="6056"/>
                  </a:cubicBezTo>
                  <a:cubicBezTo>
                    <a:pt x="5391" y="6078"/>
                    <a:pt x="5412" y="6099"/>
                    <a:pt x="5434" y="6099"/>
                  </a:cubicBezTo>
                  <a:cubicBezTo>
                    <a:pt x="5941" y="6099"/>
                    <a:pt x="5941" y="6099"/>
                    <a:pt x="5941" y="6099"/>
                  </a:cubicBezTo>
                  <a:cubicBezTo>
                    <a:pt x="5967" y="6099"/>
                    <a:pt x="5985" y="6078"/>
                    <a:pt x="5985" y="6056"/>
                  </a:cubicBezTo>
                  <a:cubicBezTo>
                    <a:pt x="5985" y="5203"/>
                    <a:pt x="5985" y="5203"/>
                    <a:pt x="5985" y="5203"/>
                  </a:cubicBezTo>
                  <a:cubicBezTo>
                    <a:pt x="5985" y="5177"/>
                    <a:pt x="5967" y="5159"/>
                    <a:pt x="5941" y="5159"/>
                  </a:cubicBezTo>
                  <a:cubicBezTo>
                    <a:pt x="5434" y="5159"/>
                    <a:pt x="5434" y="5159"/>
                    <a:pt x="5434" y="5159"/>
                  </a:cubicBezTo>
                  <a:cubicBezTo>
                    <a:pt x="5412" y="5159"/>
                    <a:pt x="5391" y="5177"/>
                    <a:pt x="5391" y="5203"/>
                  </a:cubicBezTo>
                  <a:close/>
                  <a:moveTo>
                    <a:pt x="5391" y="4016"/>
                  </a:moveTo>
                  <a:cubicBezTo>
                    <a:pt x="5391" y="4869"/>
                    <a:pt x="5391" y="4869"/>
                    <a:pt x="5391" y="4869"/>
                  </a:cubicBezTo>
                  <a:cubicBezTo>
                    <a:pt x="5391" y="4891"/>
                    <a:pt x="5412" y="4912"/>
                    <a:pt x="5434" y="4912"/>
                  </a:cubicBezTo>
                  <a:cubicBezTo>
                    <a:pt x="5941" y="4912"/>
                    <a:pt x="5941" y="4912"/>
                    <a:pt x="5941" y="4912"/>
                  </a:cubicBezTo>
                  <a:cubicBezTo>
                    <a:pt x="5967" y="4912"/>
                    <a:pt x="5985" y="4891"/>
                    <a:pt x="5985" y="4869"/>
                  </a:cubicBezTo>
                  <a:cubicBezTo>
                    <a:pt x="5985" y="4016"/>
                    <a:pt x="5985" y="4016"/>
                    <a:pt x="5985" y="4016"/>
                  </a:cubicBezTo>
                  <a:cubicBezTo>
                    <a:pt x="5985" y="3990"/>
                    <a:pt x="5967" y="3973"/>
                    <a:pt x="5941" y="3973"/>
                  </a:cubicBezTo>
                  <a:cubicBezTo>
                    <a:pt x="5434" y="3973"/>
                    <a:pt x="5434" y="3973"/>
                    <a:pt x="5434" y="3973"/>
                  </a:cubicBezTo>
                  <a:cubicBezTo>
                    <a:pt x="5412" y="3973"/>
                    <a:pt x="5391" y="3990"/>
                    <a:pt x="5391" y="4016"/>
                  </a:cubicBezTo>
                  <a:close/>
                  <a:moveTo>
                    <a:pt x="4905" y="7970"/>
                  </a:moveTo>
                  <a:cubicBezTo>
                    <a:pt x="4905" y="6784"/>
                    <a:pt x="4905" y="6784"/>
                    <a:pt x="4905" y="6784"/>
                  </a:cubicBezTo>
                  <a:cubicBezTo>
                    <a:pt x="4905" y="6758"/>
                    <a:pt x="4888" y="6740"/>
                    <a:pt x="4861" y="6740"/>
                  </a:cubicBezTo>
                  <a:cubicBezTo>
                    <a:pt x="3678" y="6740"/>
                    <a:pt x="3678" y="6740"/>
                    <a:pt x="3678" y="6740"/>
                  </a:cubicBezTo>
                  <a:cubicBezTo>
                    <a:pt x="3656" y="6740"/>
                    <a:pt x="3634" y="6758"/>
                    <a:pt x="3634" y="6784"/>
                  </a:cubicBezTo>
                  <a:cubicBezTo>
                    <a:pt x="3634" y="7970"/>
                    <a:pt x="3634" y="7970"/>
                    <a:pt x="3634" y="7970"/>
                  </a:cubicBezTo>
                  <a:cubicBezTo>
                    <a:pt x="3634" y="7996"/>
                    <a:pt x="3656" y="8013"/>
                    <a:pt x="3678" y="8013"/>
                  </a:cubicBezTo>
                  <a:cubicBezTo>
                    <a:pt x="4861" y="8013"/>
                    <a:pt x="4861" y="8013"/>
                    <a:pt x="4861" y="8013"/>
                  </a:cubicBezTo>
                  <a:cubicBezTo>
                    <a:pt x="4888" y="8013"/>
                    <a:pt x="4905" y="7996"/>
                    <a:pt x="4905" y="7970"/>
                  </a:cubicBezTo>
                  <a:close/>
                  <a:moveTo>
                    <a:pt x="6349" y="7970"/>
                  </a:moveTo>
                  <a:cubicBezTo>
                    <a:pt x="6349" y="6784"/>
                    <a:pt x="6349" y="6784"/>
                    <a:pt x="6349" y="6784"/>
                  </a:cubicBezTo>
                  <a:cubicBezTo>
                    <a:pt x="6349" y="6758"/>
                    <a:pt x="6327" y="6740"/>
                    <a:pt x="6306" y="6740"/>
                  </a:cubicBezTo>
                  <a:cubicBezTo>
                    <a:pt x="5122" y="6740"/>
                    <a:pt x="5122" y="6740"/>
                    <a:pt x="5122" y="6740"/>
                  </a:cubicBezTo>
                  <a:cubicBezTo>
                    <a:pt x="5096" y="6740"/>
                    <a:pt x="5078" y="6758"/>
                    <a:pt x="5078" y="6784"/>
                  </a:cubicBezTo>
                  <a:cubicBezTo>
                    <a:pt x="5078" y="7970"/>
                    <a:pt x="5078" y="7970"/>
                    <a:pt x="5078" y="7970"/>
                  </a:cubicBezTo>
                  <a:cubicBezTo>
                    <a:pt x="5078" y="7996"/>
                    <a:pt x="5096" y="8013"/>
                    <a:pt x="5122" y="8013"/>
                  </a:cubicBezTo>
                  <a:cubicBezTo>
                    <a:pt x="6306" y="8013"/>
                    <a:pt x="6306" y="8013"/>
                    <a:pt x="6306" y="8013"/>
                  </a:cubicBezTo>
                  <a:cubicBezTo>
                    <a:pt x="6327" y="8013"/>
                    <a:pt x="6349" y="7996"/>
                    <a:pt x="6349" y="7970"/>
                  </a:cubicBezTo>
                  <a:close/>
                </a:path>
              </a:pathLst>
            </a:custGeom>
            <a:solidFill>
              <a:srgbClr val="FFFFFF"/>
            </a:solidFill>
            <a:ln w="0">
              <a:noFill/>
            </a:ln>
          </p:spPr>
          <p:txBody>
            <a:bodyPr/>
            <a:lstStyle/>
            <a:p>
              <a:endParaRPr lang="en-US"/>
            </a:p>
          </p:txBody>
        </p:sp>
      </p:grpSp>
      <p:sp>
        <p:nvSpPr>
          <p:cNvPr id="205" name="TB205"/>
          <p:cNvSpPr txBox="1"/>
          <p:nvPr/>
        </p:nvSpPr>
        <p:spPr>
          <a:xfrm>
            <a:off x="4480560" y="3374136"/>
            <a:ext cx="3236976" cy="502920"/>
          </a:xfrm>
          <a:prstGeom prst="rect">
            <a:avLst/>
          </a:prstGeom>
          <a:noFill/>
        </p:spPr>
        <p:txBody>
          <a:bodyPr wrap="square" rtlCol="0" anchor="t"/>
          <a:lstStyle/>
          <a:p>
            <a:pPr algn="ctr"/>
            <a:r>
              <a:rPr lang="en-US" sz="1200" dirty="0">
                <a:solidFill>
                  <a:srgbClr val="575757"/>
                </a:solidFill>
                <a:latin typeface="Trebuchet MS"/>
              </a:rPr>
              <a:t>Build #1 share in high-margin specialties (oncology, pediatrics, cardiac)</a:t>
            </a:r>
          </a:p>
        </p:txBody>
      </p:sp>
      <p:sp>
        <p:nvSpPr>
          <p:cNvPr id="206" name="BL206"/>
          <p:cNvSpPr txBox="1"/>
          <p:nvPr/>
        </p:nvSpPr>
        <p:spPr>
          <a:xfrm>
            <a:off x="4480560" y="3950208"/>
            <a:ext cx="3236976" cy="1188720"/>
          </a:xfrm>
          <a:prstGeom prst="rect">
            <a:avLst/>
          </a:prstGeom>
          <a:noFill/>
        </p:spPr>
        <p:txBody>
          <a:bodyPr wrap="square" rtlCol="0" anchor="t"/>
          <a:lstStyle/>
          <a:p>
            <a:pPr marL="228600" indent="-228600" algn="l">
              <a:spcAft>
                <a:spcPts val="400"/>
              </a:spcAft>
              <a:buChar char="-"/>
            </a:pPr>
            <a:r>
              <a:rPr lang="en-US" sz="1200" dirty="0">
                <a:solidFill>
                  <a:srgbClr val="575757"/>
                </a:solidFill>
                <a:latin typeface="Trebuchet MS"/>
              </a:rPr>
              <a:t>Acquire focused specialty platforms</a:t>
            </a:r>
          </a:p>
          <a:p>
            <a:pPr marL="228600" indent="-228600" algn="l">
              <a:spcAft>
                <a:spcPts val="400"/>
              </a:spcAft>
              <a:buChar char="-"/>
            </a:pPr>
            <a:r>
              <a:rPr lang="en-US" sz="1200" dirty="0">
                <a:solidFill>
                  <a:srgbClr val="575757"/>
                </a:solidFill>
                <a:latin typeface="Trebuchet MS"/>
              </a:rPr>
              <a:t>Cross-refer into Max network</a:t>
            </a:r>
          </a:p>
          <a:p>
            <a:pPr marL="228600" indent="-228600" algn="l">
              <a:spcAft>
                <a:spcPts val="400"/>
              </a:spcAft>
              <a:buChar char="-"/>
            </a:pPr>
            <a:r>
              <a:rPr lang="en-US" sz="1200" dirty="0">
                <a:solidFill>
                  <a:srgbClr val="575757"/>
                </a:solidFill>
                <a:latin typeface="Trebuchet MS"/>
              </a:rPr>
              <a:t>Capture out-of-network spend</a:t>
            </a:r>
          </a:p>
        </p:txBody>
      </p:sp>
      <p:sp>
        <p:nvSpPr>
          <p:cNvPr id="207" name="R207"/>
          <p:cNvSpPr/>
          <p:nvPr/>
        </p:nvSpPr>
        <p:spPr>
          <a:xfrm>
            <a:off x="4343400" y="4773168"/>
            <a:ext cx="3511296" cy="502920"/>
          </a:xfrm>
          <a:prstGeom prst="rect">
            <a:avLst/>
          </a:prstGeom>
          <a:solidFill>
            <a:srgbClr val="F2F2F2"/>
          </a:solidFill>
          <a:ln w="9525">
            <a:solidFill>
              <a:srgbClr val="F2F2F2"/>
            </a:solidFill>
          </a:ln>
        </p:spPr>
        <p:txBody>
          <a:bodyPr/>
          <a:lstStyle/>
          <a:p>
            <a:endParaRPr lang="en-US"/>
          </a:p>
        </p:txBody>
      </p:sp>
      <p:sp>
        <p:nvSpPr>
          <p:cNvPr id="208" name="TB208"/>
          <p:cNvSpPr txBox="1"/>
          <p:nvPr/>
        </p:nvSpPr>
        <p:spPr>
          <a:xfrm>
            <a:off x="4480560" y="4809744"/>
            <a:ext cx="3236976" cy="201168"/>
          </a:xfrm>
          <a:prstGeom prst="rect">
            <a:avLst/>
          </a:prstGeom>
          <a:noFill/>
        </p:spPr>
        <p:txBody>
          <a:bodyPr wrap="square" rtlCol="0" anchor="t"/>
          <a:lstStyle/>
          <a:p>
            <a:pPr algn="ctr"/>
            <a:r>
              <a:rPr lang="en-US" sz="1400" b="1" dirty="0">
                <a:solidFill>
                  <a:srgbClr val="295E7E"/>
                </a:solidFill>
                <a:latin typeface="Trebuchet MS"/>
              </a:rPr>
              <a:t>25% of capital</a:t>
            </a:r>
          </a:p>
        </p:txBody>
      </p:sp>
      <p:sp>
        <p:nvSpPr>
          <p:cNvPr id="209" name="TB209"/>
          <p:cNvSpPr txBox="1"/>
          <p:nvPr/>
        </p:nvSpPr>
        <p:spPr>
          <a:xfrm>
            <a:off x="4480560" y="5029200"/>
            <a:ext cx="3236976" cy="201168"/>
          </a:xfrm>
          <a:prstGeom prst="rect">
            <a:avLst/>
          </a:prstGeom>
          <a:noFill/>
        </p:spPr>
        <p:txBody>
          <a:bodyPr wrap="square" rtlCol="0" anchor="t"/>
          <a:lstStyle/>
          <a:p>
            <a:pPr algn="ctr"/>
            <a:r>
              <a:rPr lang="en-US" sz="1000" dirty="0">
                <a:solidFill>
                  <a:srgbClr val="6E6F73"/>
                </a:solidFill>
                <a:latin typeface="Trebuchet MS"/>
              </a:rPr>
              <a:t>Lead targets: HCG, Rainbow</a:t>
            </a:r>
          </a:p>
        </p:txBody>
      </p:sp>
      <p:sp>
        <p:nvSpPr>
          <p:cNvPr id="210" name="RR210"/>
          <p:cNvSpPr/>
          <p:nvPr/>
        </p:nvSpPr>
        <p:spPr>
          <a:xfrm>
            <a:off x="8055864" y="2075688"/>
            <a:ext cx="3511296" cy="320040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11" name="R211"/>
          <p:cNvSpPr/>
          <p:nvPr/>
        </p:nvSpPr>
        <p:spPr>
          <a:xfrm>
            <a:off x="8055864" y="2075688"/>
            <a:ext cx="3511296" cy="54864"/>
          </a:xfrm>
          <a:prstGeom prst="rect">
            <a:avLst/>
          </a:prstGeom>
          <a:solidFill>
            <a:srgbClr val="575757"/>
          </a:solidFill>
          <a:ln>
            <a:noFill/>
          </a:ln>
        </p:spPr>
        <p:txBody>
          <a:bodyPr/>
          <a:lstStyle/>
          <a:p>
            <a:endParaRPr lang="en-US"/>
          </a:p>
        </p:txBody>
      </p:sp>
      <p:sp>
        <p:nvSpPr>
          <p:cNvPr id="212" name="R212"/>
          <p:cNvSpPr/>
          <p:nvPr/>
        </p:nvSpPr>
        <p:spPr>
          <a:xfrm>
            <a:off x="8055864" y="2075688"/>
            <a:ext cx="3511296" cy="411480"/>
          </a:xfrm>
          <a:prstGeom prst="rect">
            <a:avLst/>
          </a:prstGeom>
          <a:solidFill>
            <a:srgbClr val="575757"/>
          </a:solidFill>
          <a:ln>
            <a:noFill/>
          </a:ln>
        </p:spPr>
        <p:txBody>
          <a:bodyPr/>
          <a:lstStyle/>
          <a:p>
            <a:endParaRPr lang="en-US"/>
          </a:p>
        </p:txBody>
      </p:sp>
      <p:sp>
        <p:nvSpPr>
          <p:cNvPr id="213" name="TB213"/>
          <p:cNvSpPr txBox="1"/>
          <p:nvPr/>
        </p:nvSpPr>
        <p:spPr>
          <a:xfrm>
            <a:off x="8193024" y="2075688"/>
            <a:ext cx="3236976" cy="182880"/>
          </a:xfrm>
          <a:prstGeom prst="rect">
            <a:avLst/>
          </a:prstGeom>
          <a:noFill/>
        </p:spPr>
        <p:txBody>
          <a:bodyPr wrap="square" rtlCol="0" anchor="ctr"/>
          <a:lstStyle/>
          <a:p>
            <a:r>
              <a:rPr lang="en-US" sz="1000" b="1" dirty="0">
                <a:solidFill>
                  <a:srgbClr val="FFFFFF"/>
                </a:solidFill>
                <a:latin typeface="Trebuchet MS"/>
              </a:rPr>
              <a:t>PILLAR 3</a:t>
            </a:r>
          </a:p>
        </p:txBody>
      </p:sp>
      <p:sp>
        <p:nvSpPr>
          <p:cNvPr id="214" name="TB214"/>
          <p:cNvSpPr txBox="1"/>
          <p:nvPr/>
        </p:nvSpPr>
        <p:spPr>
          <a:xfrm>
            <a:off x="8193024" y="2240280"/>
            <a:ext cx="3236976" cy="246888"/>
          </a:xfrm>
          <a:prstGeom prst="rect">
            <a:avLst/>
          </a:prstGeom>
          <a:noFill/>
        </p:spPr>
        <p:txBody>
          <a:bodyPr wrap="square" rtlCol="0" anchor="ctr"/>
          <a:lstStyle/>
          <a:p>
            <a:r>
              <a:rPr lang="en-US" sz="1500" b="1" dirty="0">
                <a:solidFill>
                  <a:srgbClr val="FFFFFF"/>
                </a:solidFill>
                <a:latin typeface="Trebuchet MS"/>
              </a:rPr>
              <a:t>Adjacency Plays</a:t>
            </a:r>
          </a:p>
        </p:txBody>
      </p:sp>
      <p:sp>
        <p:nvSpPr>
          <p:cNvPr id="215" name="O215"/>
          <p:cNvSpPr/>
          <p:nvPr/>
        </p:nvSpPr>
        <p:spPr>
          <a:xfrm>
            <a:off x="9518904" y="2670048"/>
            <a:ext cx="585216" cy="585216"/>
          </a:xfrm>
          <a:prstGeom prst="ellipse">
            <a:avLst/>
          </a:prstGeom>
          <a:solidFill>
            <a:srgbClr val="575757"/>
          </a:solidFill>
          <a:ln>
            <a:noFill/>
          </a:ln>
        </p:spPr>
        <p:txBody>
          <a:bodyPr/>
          <a:lstStyle/>
          <a:p>
            <a:endParaRPr lang="en-US"/>
          </a:p>
        </p:txBody>
      </p:sp>
      <p:grpSp>
        <p:nvGrpSpPr>
          <p:cNvPr id="216" name="bcgIcons_Strategy">
            <a:extLst>
              <a:ext uri="{FF2B5EF4-FFF2-40B4-BE49-F238E27FC236}">
                <a16:creationId xmlns:a16="http://schemas.microsoft.com/office/drawing/2014/main" id="{96F9A4AA-6DEE-48E2-9143-67EB34511180}"/>
              </a:ext>
            </a:extLst>
          </p:cNvPr>
          <p:cNvGrpSpPr>
            <a:grpSpLocks noChangeAspect="1"/>
          </p:cNvGrpSpPr>
          <p:nvPr/>
        </p:nvGrpSpPr>
        <p:grpSpPr bwMode="auto">
          <a:xfrm>
            <a:off x="9582912" y="2734056"/>
            <a:ext cx="456776" cy="457200"/>
            <a:chOff x="1682" y="0"/>
            <a:chExt cx="4316" cy="4320"/>
          </a:xfrm>
        </p:grpSpPr>
        <p:sp>
          <p:nvSpPr>
            <p:cNvPr id="217" name="AutoShape 3">
              <a:extLst>
                <a:ext uri="{FF2B5EF4-FFF2-40B4-BE49-F238E27FC236}">
                  <a16:creationId xmlns:a16="http://schemas.microsoft.com/office/drawing/2014/main" id="{C21EBBEA-EEAE-42D4-BEE2-E587BE61EE10}"/>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8" name="Freeform 5">
              <a:extLst>
                <a:ext uri="{FF2B5EF4-FFF2-40B4-BE49-F238E27FC236}">
                  <a16:creationId xmlns:a16="http://schemas.microsoft.com/office/drawing/2014/main" id="{C43E2BA7-091D-471D-B076-85B282692BD3}"/>
                </a:ext>
              </a:extLst>
            </p:cNvPr>
            <p:cNvSpPr>
              <a:spLocks noEditPoints="1"/>
            </p:cNvSpPr>
            <p:nvPr/>
          </p:nvSpPr>
          <p:spPr bwMode="auto">
            <a:xfrm>
              <a:off x="2120" y="932"/>
              <a:ext cx="3436" cy="2452"/>
            </a:xfrm>
            <a:custGeom>
              <a:avLst/>
              <a:gdLst>
                <a:gd name="T0" fmla="*/ 1790 w 1834"/>
                <a:gd name="T1" fmla="*/ 1308 h 1308"/>
                <a:gd name="T2" fmla="*/ 44 w 1834"/>
                <a:gd name="T3" fmla="*/ 1308 h 1308"/>
                <a:gd name="T4" fmla="*/ 0 w 1834"/>
                <a:gd name="T5" fmla="*/ 1264 h 1308"/>
                <a:gd name="T6" fmla="*/ 0 w 1834"/>
                <a:gd name="T7" fmla="*/ 44 h 1308"/>
                <a:gd name="T8" fmla="*/ 44 w 1834"/>
                <a:gd name="T9" fmla="*/ 0 h 1308"/>
                <a:gd name="T10" fmla="*/ 1790 w 1834"/>
                <a:gd name="T11" fmla="*/ 0 h 1308"/>
                <a:gd name="T12" fmla="*/ 1834 w 1834"/>
                <a:gd name="T13" fmla="*/ 44 h 1308"/>
                <a:gd name="T14" fmla="*/ 1834 w 1834"/>
                <a:gd name="T15" fmla="*/ 1264 h 1308"/>
                <a:gd name="T16" fmla="*/ 1790 w 1834"/>
                <a:gd name="T17" fmla="*/ 1308 h 1308"/>
                <a:gd name="T18" fmla="*/ 44 w 1834"/>
                <a:gd name="T19" fmla="*/ 44 h 1308"/>
                <a:gd name="T20" fmla="*/ 44 w 1834"/>
                <a:gd name="T21" fmla="*/ 1264 h 1308"/>
                <a:gd name="T22" fmla="*/ 1790 w 1834"/>
                <a:gd name="T23" fmla="*/ 1264 h 1308"/>
                <a:gd name="T24" fmla="*/ 1790 w 1834"/>
                <a:gd name="T25" fmla="*/ 44 h 1308"/>
                <a:gd name="T26" fmla="*/ 44 w 1834"/>
                <a:gd name="T27" fmla="*/ 44 h 1308"/>
                <a:gd name="T28" fmla="*/ 539 w 1834"/>
                <a:gd name="T29" fmla="*/ 270 h 1308"/>
                <a:gd name="T30" fmla="*/ 453 w 1834"/>
                <a:gd name="T31" fmla="*/ 356 h 1308"/>
                <a:gd name="T32" fmla="*/ 539 w 1834"/>
                <a:gd name="T33" fmla="*/ 442 h 1308"/>
                <a:gd name="T34" fmla="*/ 625 w 1834"/>
                <a:gd name="T35" fmla="*/ 356 h 1308"/>
                <a:gd name="T36" fmla="*/ 539 w 1834"/>
                <a:gd name="T37" fmla="*/ 270 h 1308"/>
                <a:gd name="T38" fmla="*/ 988 w 1834"/>
                <a:gd name="T39" fmla="*/ 906 h 1308"/>
                <a:gd name="T40" fmla="*/ 917 w 1834"/>
                <a:gd name="T41" fmla="*/ 943 h 1308"/>
                <a:gd name="T42" fmla="*/ 939 w 1834"/>
                <a:gd name="T43" fmla="*/ 1063 h 1308"/>
                <a:gd name="T44" fmla="*/ 1059 w 1834"/>
                <a:gd name="T45" fmla="*/ 1040 h 1308"/>
                <a:gd name="T46" fmla="*/ 1036 w 1834"/>
                <a:gd name="T47" fmla="*/ 921 h 1308"/>
                <a:gd name="T48" fmla="*/ 988 w 1834"/>
                <a:gd name="T49" fmla="*/ 906 h 1308"/>
                <a:gd name="T50" fmla="*/ 1540 w 1834"/>
                <a:gd name="T51" fmla="*/ 402 h 1308"/>
                <a:gd name="T52" fmla="*/ 1469 w 1834"/>
                <a:gd name="T53" fmla="*/ 439 h 1308"/>
                <a:gd name="T54" fmla="*/ 1491 w 1834"/>
                <a:gd name="T55" fmla="*/ 559 h 1308"/>
                <a:gd name="T56" fmla="*/ 1611 w 1834"/>
                <a:gd name="T57" fmla="*/ 536 h 1308"/>
                <a:gd name="T58" fmla="*/ 1588 w 1834"/>
                <a:gd name="T59" fmla="*/ 417 h 1308"/>
                <a:gd name="T60" fmla="*/ 1540 w 1834"/>
                <a:gd name="T61" fmla="*/ 402 h 1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34" h="1308">
                  <a:moveTo>
                    <a:pt x="1790" y="1308"/>
                  </a:moveTo>
                  <a:cubicBezTo>
                    <a:pt x="44" y="1308"/>
                    <a:pt x="44" y="1308"/>
                    <a:pt x="44" y="1308"/>
                  </a:cubicBezTo>
                  <a:cubicBezTo>
                    <a:pt x="20" y="1308"/>
                    <a:pt x="0" y="1288"/>
                    <a:pt x="0" y="1264"/>
                  </a:cubicBezTo>
                  <a:cubicBezTo>
                    <a:pt x="0" y="44"/>
                    <a:pt x="0" y="44"/>
                    <a:pt x="0" y="44"/>
                  </a:cubicBezTo>
                  <a:cubicBezTo>
                    <a:pt x="0" y="20"/>
                    <a:pt x="20" y="0"/>
                    <a:pt x="44" y="0"/>
                  </a:cubicBezTo>
                  <a:cubicBezTo>
                    <a:pt x="1790" y="0"/>
                    <a:pt x="1790" y="0"/>
                    <a:pt x="1790" y="0"/>
                  </a:cubicBezTo>
                  <a:cubicBezTo>
                    <a:pt x="1814" y="0"/>
                    <a:pt x="1834" y="20"/>
                    <a:pt x="1834" y="44"/>
                  </a:cubicBezTo>
                  <a:cubicBezTo>
                    <a:pt x="1834" y="1264"/>
                    <a:pt x="1834" y="1264"/>
                    <a:pt x="1834" y="1264"/>
                  </a:cubicBezTo>
                  <a:cubicBezTo>
                    <a:pt x="1834" y="1288"/>
                    <a:pt x="1814" y="1308"/>
                    <a:pt x="1790" y="1308"/>
                  </a:cubicBezTo>
                  <a:close/>
                  <a:moveTo>
                    <a:pt x="44" y="44"/>
                  </a:moveTo>
                  <a:cubicBezTo>
                    <a:pt x="44" y="1264"/>
                    <a:pt x="44" y="1264"/>
                    <a:pt x="44" y="1264"/>
                  </a:cubicBezTo>
                  <a:cubicBezTo>
                    <a:pt x="1790" y="1264"/>
                    <a:pt x="1790" y="1264"/>
                    <a:pt x="1790" y="1264"/>
                  </a:cubicBezTo>
                  <a:cubicBezTo>
                    <a:pt x="1790" y="44"/>
                    <a:pt x="1790" y="44"/>
                    <a:pt x="1790" y="44"/>
                  </a:cubicBezTo>
                  <a:lnTo>
                    <a:pt x="44" y="44"/>
                  </a:lnTo>
                  <a:close/>
                  <a:moveTo>
                    <a:pt x="539" y="270"/>
                  </a:moveTo>
                  <a:cubicBezTo>
                    <a:pt x="492" y="270"/>
                    <a:pt x="453" y="309"/>
                    <a:pt x="453" y="356"/>
                  </a:cubicBezTo>
                  <a:cubicBezTo>
                    <a:pt x="453" y="403"/>
                    <a:pt x="492" y="442"/>
                    <a:pt x="539" y="442"/>
                  </a:cubicBezTo>
                  <a:cubicBezTo>
                    <a:pt x="586" y="442"/>
                    <a:pt x="625" y="403"/>
                    <a:pt x="625" y="356"/>
                  </a:cubicBezTo>
                  <a:cubicBezTo>
                    <a:pt x="625" y="309"/>
                    <a:pt x="586" y="270"/>
                    <a:pt x="539" y="270"/>
                  </a:cubicBezTo>
                  <a:close/>
                  <a:moveTo>
                    <a:pt x="988" y="906"/>
                  </a:moveTo>
                  <a:cubicBezTo>
                    <a:pt x="960" y="906"/>
                    <a:pt x="933" y="919"/>
                    <a:pt x="917" y="943"/>
                  </a:cubicBezTo>
                  <a:cubicBezTo>
                    <a:pt x="890" y="982"/>
                    <a:pt x="900" y="1036"/>
                    <a:pt x="939" y="1063"/>
                  </a:cubicBezTo>
                  <a:cubicBezTo>
                    <a:pt x="978" y="1090"/>
                    <a:pt x="1032" y="1079"/>
                    <a:pt x="1059" y="1040"/>
                  </a:cubicBezTo>
                  <a:cubicBezTo>
                    <a:pt x="1085" y="1001"/>
                    <a:pt x="1075" y="947"/>
                    <a:pt x="1036" y="921"/>
                  </a:cubicBezTo>
                  <a:cubicBezTo>
                    <a:pt x="1021" y="911"/>
                    <a:pt x="1005" y="906"/>
                    <a:pt x="988" y="906"/>
                  </a:cubicBezTo>
                  <a:close/>
                  <a:moveTo>
                    <a:pt x="1540" y="402"/>
                  </a:moveTo>
                  <a:cubicBezTo>
                    <a:pt x="1512" y="402"/>
                    <a:pt x="1485" y="415"/>
                    <a:pt x="1469" y="439"/>
                  </a:cubicBezTo>
                  <a:cubicBezTo>
                    <a:pt x="1442" y="478"/>
                    <a:pt x="1452" y="532"/>
                    <a:pt x="1491" y="559"/>
                  </a:cubicBezTo>
                  <a:cubicBezTo>
                    <a:pt x="1530" y="586"/>
                    <a:pt x="1584" y="575"/>
                    <a:pt x="1611" y="536"/>
                  </a:cubicBezTo>
                  <a:cubicBezTo>
                    <a:pt x="1637" y="497"/>
                    <a:pt x="1627" y="443"/>
                    <a:pt x="1588" y="417"/>
                  </a:cubicBezTo>
                  <a:cubicBezTo>
                    <a:pt x="1573" y="407"/>
                    <a:pt x="1557" y="402"/>
                    <a:pt x="1540" y="402"/>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9" name="Freeform 6">
              <a:extLst>
                <a:ext uri="{FF2B5EF4-FFF2-40B4-BE49-F238E27FC236}">
                  <a16:creationId xmlns:a16="http://schemas.microsoft.com/office/drawing/2014/main" id="{1EED96BB-9979-4401-8F8F-43D515C4599E}"/>
                </a:ext>
              </a:extLst>
            </p:cNvPr>
            <p:cNvSpPr>
              <a:spLocks noEditPoints="1"/>
            </p:cNvSpPr>
            <p:nvPr/>
          </p:nvSpPr>
          <p:spPr bwMode="auto">
            <a:xfrm>
              <a:off x="2321" y="1131"/>
              <a:ext cx="3034" cy="2055"/>
            </a:xfrm>
            <a:custGeom>
              <a:avLst/>
              <a:gdLst>
                <a:gd name="T0" fmla="*/ 10 w 1620"/>
                <a:gd name="T1" fmla="*/ 0 h 1096"/>
                <a:gd name="T2" fmla="*/ 0 w 1620"/>
                <a:gd name="T3" fmla="*/ 1086 h 1096"/>
                <a:gd name="T4" fmla="*/ 1610 w 1620"/>
                <a:gd name="T5" fmla="*/ 1096 h 1096"/>
                <a:gd name="T6" fmla="*/ 1620 w 1620"/>
                <a:gd name="T7" fmla="*/ 10 h 1096"/>
                <a:gd name="T8" fmla="*/ 816 w 1620"/>
                <a:gd name="T9" fmla="*/ 150 h 1096"/>
                <a:gd name="T10" fmla="*/ 848 w 1620"/>
                <a:gd name="T11" fmla="*/ 118 h 1096"/>
                <a:gd name="T12" fmla="*/ 940 w 1620"/>
                <a:gd name="T13" fmla="*/ 118 h 1096"/>
                <a:gd name="T14" fmla="*/ 972 w 1620"/>
                <a:gd name="T15" fmla="*/ 150 h 1096"/>
                <a:gd name="T16" fmla="*/ 972 w 1620"/>
                <a:gd name="T17" fmla="*/ 242 h 1096"/>
                <a:gd name="T18" fmla="*/ 956 w 1620"/>
                <a:gd name="T19" fmla="*/ 280 h 1096"/>
                <a:gd name="T20" fmla="*/ 894 w 1620"/>
                <a:gd name="T21" fmla="*/ 227 h 1096"/>
                <a:gd name="T22" fmla="*/ 832 w 1620"/>
                <a:gd name="T23" fmla="*/ 280 h 1096"/>
                <a:gd name="T24" fmla="*/ 816 w 1620"/>
                <a:gd name="T25" fmla="*/ 242 h 1096"/>
                <a:gd name="T26" fmla="*/ 816 w 1620"/>
                <a:gd name="T27" fmla="*/ 150 h 1096"/>
                <a:gd name="T28" fmla="*/ 260 w 1620"/>
                <a:gd name="T29" fmla="*/ 724 h 1096"/>
                <a:gd name="T30" fmla="*/ 228 w 1620"/>
                <a:gd name="T31" fmla="*/ 724 h 1096"/>
                <a:gd name="T32" fmla="*/ 136 w 1620"/>
                <a:gd name="T33" fmla="*/ 724 h 1096"/>
                <a:gd name="T34" fmla="*/ 104 w 1620"/>
                <a:gd name="T35" fmla="*/ 724 h 1096"/>
                <a:gd name="T36" fmla="*/ 151 w 1620"/>
                <a:gd name="T37" fmla="*/ 646 h 1096"/>
                <a:gd name="T38" fmla="*/ 104 w 1620"/>
                <a:gd name="T39" fmla="*/ 568 h 1096"/>
                <a:gd name="T40" fmla="*/ 182 w 1620"/>
                <a:gd name="T41" fmla="*/ 615 h 1096"/>
                <a:gd name="T42" fmla="*/ 260 w 1620"/>
                <a:gd name="T43" fmla="*/ 568 h 1096"/>
                <a:gd name="T44" fmla="*/ 213 w 1620"/>
                <a:gd name="T45" fmla="*/ 646 h 1096"/>
                <a:gd name="T46" fmla="*/ 641 w 1620"/>
                <a:gd name="T47" fmla="*/ 585 h 1096"/>
                <a:gd name="T48" fmla="*/ 549 w 1620"/>
                <a:gd name="T49" fmla="*/ 890 h 1096"/>
                <a:gd name="T50" fmla="*/ 546 w 1620"/>
                <a:gd name="T51" fmla="*/ 933 h 1096"/>
                <a:gd name="T52" fmla="*/ 406 w 1620"/>
                <a:gd name="T53" fmla="*/ 915 h 1096"/>
                <a:gd name="T54" fmla="*/ 405 w 1620"/>
                <a:gd name="T55" fmla="*/ 753 h 1096"/>
                <a:gd name="T56" fmla="*/ 448 w 1620"/>
                <a:gd name="T57" fmla="*/ 759 h 1096"/>
                <a:gd name="T58" fmla="*/ 597 w 1620"/>
                <a:gd name="T59" fmla="*/ 583 h 1096"/>
                <a:gd name="T60" fmla="*/ 432 w 1620"/>
                <a:gd name="T61" fmla="*/ 380 h 1096"/>
                <a:gd name="T62" fmla="*/ 432 w 1620"/>
                <a:gd name="T63" fmla="*/ 120 h 1096"/>
                <a:gd name="T64" fmla="*/ 540 w 1620"/>
                <a:gd name="T65" fmla="*/ 322 h 1096"/>
                <a:gd name="T66" fmla="*/ 1279 w 1620"/>
                <a:gd name="T67" fmla="*/ 382 h 1096"/>
                <a:gd name="T68" fmla="*/ 1171 w 1620"/>
                <a:gd name="T69" fmla="*/ 493 h 1096"/>
                <a:gd name="T70" fmla="*/ 1154 w 1620"/>
                <a:gd name="T71" fmla="*/ 456 h 1096"/>
                <a:gd name="T72" fmla="*/ 932 w 1620"/>
                <a:gd name="T73" fmla="*/ 518 h 1096"/>
                <a:gd name="T74" fmla="*/ 954 w 1620"/>
                <a:gd name="T75" fmla="*/ 778 h 1096"/>
                <a:gd name="T76" fmla="*/ 988 w 1620"/>
                <a:gd name="T77" fmla="*/ 959 h 1096"/>
                <a:gd name="T78" fmla="*/ 807 w 1620"/>
                <a:gd name="T79" fmla="*/ 993 h 1096"/>
                <a:gd name="T80" fmla="*/ 831 w 1620"/>
                <a:gd name="T81" fmla="*/ 766 h 1096"/>
                <a:gd name="T82" fmla="*/ 1205 w 1620"/>
                <a:gd name="T83" fmla="*/ 345 h 1096"/>
                <a:gd name="T84" fmla="*/ 1143 w 1620"/>
                <a:gd name="T85" fmla="*/ 261 h 1096"/>
                <a:gd name="T86" fmla="*/ 1278 w 1620"/>
                <a:gd name="T87" fmla="*/ 351 h 1096"/>
                <a:gd name="T88" fmla="*/ 1279 w 1620"/>
                <a:gd name="T89" fmla="*/ 382 h 1096"/>
                <a:gd name="T90" fmla="*/ 1433 w 1620"/>
                <a:gd name="T91" fmla="*/ 512 h 1096"/>
                <a:gd name="T92" fmla="*/ 1325 w 1620"/>
                <a:gd name="T93" fmla="*/ 308 h 1096"/>
                <a:gd name="T94" fmla="*/ 1560 w 1620"/>
                <a:gd name="T95" fmla="*/ 358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20" h="1096">
                  <a:moveTo>
                    <a:pt x="1610" y="0"/>
                  </a:moveTo>
                  <a:cubicBezTo>
                    <a:pt x="10" y="0"/>
                    <a:pt x="10" y="0"/>
                    <a:pt x="10" y="0"/>
                  </a:cubicBezTo>
                  <a:cubicBezTo>
                    <a:pt x="5" y="0"/>
                    <a:pt x="0" y="5"/>
                    <a:pt x="0" y="10"/>
                  </a:cubicBezTo>
                  <a:cubicBezTo>
                    <a:pt x="0" y="1086"/>
                    <a:pt x="0" y="1086"/>
                    <a:pt x="0" y="1086"/>
                  </a:cubicBezTo>
                  <a:cubicBezTo>
                    <a:pt x="0" y="1091"/>
                    <a:pt x="5" y="1096"/>
                    <a:pt x="10" y="1096"/>
                  </a:cubicBezTo>
                  <a:cubicBezTo>
                    <a:pt x="1610" y="1096"/>
                    <a:pt x="1610" y="1096"/>
                    <a:pt x="1610" y="1096"/>
                  </a:cubicBezTo>
                  <a:cubicBezTo>
                    <a:pt x="1615" y="1096"/>
                    <a:pt x="1620" y="1091"/>
                    <a:pt x="1620" y="1086"/>
                  </a:cubicBezTo>
                  <a:cubicBezTo>
                    <a:pt x="1620" y="10"/>
                    <a:pt x="1620" y="10"/>
                    <a:pt x="1620" y="10"/>
                  </a:cubicBezTo>
                  <a:cubicBezTo>
                    <a:pt x="1620" y="5"/>
                    <a:pt x="1615" y="0"/>
                    <a:pt x="1610" y="0"/>
                  </a:cubicBezTo>
                  <a:close/>
                  <a:moveTo>
                    <a:pt x="816" y="150"/>
                  </a:moveTo>
                  <a:cubicBezTo>
                    <a:pt x="808" y="141"/>
                    <a:pt x="808" y="127"/>
                    <a:pt x="816" y="118"/>
                  </a:cubicBezTo>
                  <a:cubicBezTo>
                    <a:pt x="825" y="110"/>
                    <a:pt x="839" y="110"/>
                    <a:pt x="848" y="118"/>
                  </a:cubicBezTo>
                  <a:cubicBezTo>
                    <a:pt x="894" y="165"/>
                    <a:pt x="894" y="165"/>
                    <a:pt x="894" y="165"/>
                  </a:cubicBezTo>
                  <a:cubicBezTo>
                    <a:pt x="940" y="118"/>
                    <a:pt x="940" y="118"/>
                    <a:pt x="940" y="118"/>
                  </a:cubicBezTo>
                  <a:cubicBezTo>
                    <a:pt x="949" y="110"/>
                    <a:pt x="963" y="110"/>
                    <a:pt x="972" y="118"/>
                  </a:cubicBezTo>
                  <a:cubicBezTo>
                    <a:pt x="980" y="127"/>
                    <a:pt x="980" y="141"/>
                    <a:pt x="972" y="150"/>
                  </a:cubicBezTo>
                  <a:cubicBezTo>
                    <a:pt x="925" y="196"/>
                    <a:pt x="925" y="196"/>
                    <a:pt x="925" y="196"/>
                  </a:cubicBezTo>
                  <a:cubicBezTo>
                    <a:pt x="972" y="242"/>
                    <a:pt x="972" y="242"/>
                    <a:pt x="972" y="242"/>
                  </a:cubicBezTo>
                  <a:cubicBezTo>
                    <a:pt x="980" y="251"/>
                    <a:pt x="980" y="265"/>
                    <a:pt x="972" y="274"/>
                  </a:cubicBezTo>
                  <a:cubicBezTo>
                    <a:pt x="967" y="278"/>
                    <a:pt x="962" y="280"/>
                    <a:pt x="956" y="280"/>
                  </a:cubicBezTo>
                  <a:cubicBezTo>
                    <a:pt x="950" y="280"/>
                    <a:pt x="945" y="278"/>
                    <a:pt x="940" y="274"/>
                  </a:cubicBezTo>
                  <a:cubicBezTo>
                    <a:pt x="894" y="227"/>
                    <a:pt x="894" y="227"/>
                    <a:pt x="894" y="227"/>
                  </a:cubicBezTo>
                  <a:cubicBezTo>
                    <a:pt x="848" y="274"/>
                    <a:pt x="848" y="274"/>
                    <a:pt x="848" y="274"/>
                  </a:cubicBezTo>
                  <a:cubicBezTo>
                    <a:pt x="843" y="278"/>
                    <a:pt x="838" y="280"/>
                    <a:pt x="832" y="280"/>
                  </a:cubicBezTo>
                  <a:cubicBezTo>
                    <a:pt x="826" y="280"/>
                    <a:pt x="821" y="278"/>
                    <a:pt x="816" y="274"/>
                  </a:cubicBezTo>
                  <a:cubicBezTo>
                    <a:pt x="808" y="265"/>
                    <a:pt x="808" y="251"/>
                    <a:pt x="816" y="242"/>
                  </a:cubicBezTo>
                  <a:cubicBezTo>
                    <a:pt x="863" y="196"/>
                    <a:pt x="863" y="196"/>
                    <a:pt x="863" y="196"/>
                  </a:cubicBezTo>
                  <a:lnTo>
                    <a:pt x="816" y="150"/>
                  </a:lnTo>
                  <a:close/>
                  <a:moveTo>
                    <a:pt x="260" y="692"/>
                  </a:moveTo>
                  <a:cubicBezTo>
                    <a:pt x="268" y="701"/>
                    <a:pt x="268" y="715"/>
                    <a:pt x="260" y="724"/>
                  </a:cubicBezTo>
                  <a:cubicBezTo>
                    <a:pt x="255" y="728"/>
                    <a:pt x="250" y="730"/>
                    <a:pt x="244" y="730"/>
                  </a:cubicBezTo>
                  <a:cubicBezTo>
                    <a:pt x="238" y="730"/>
                    <a:pt x="233" y="728"/>
                    <a:pt x="228" y="724"/>
                  </a:cubicBezTo>
                  <a:cubicBezTo>
                    <a:pt x="182" y="677"/>
                    <a:pt x="182" y="677"/>
                    <a:pt x="182" y="677"/>
                  </a:cubicBezTo>
                  <a:cubicBezTo>
                    <a:pt x="136" y="724"/>
                    <a:pt x="136" y="724"/>
                    <a:pt x="136" y="724"/>
                  </a:cubicBezTo>
                  <a:cubicBezTo>
                    <a:pt x="131" y="728"/>
                    <a:pt x="126" y="730"/>
                    <a:pt x="120" y="730"/>
                  </a:cubicBezTo>
                  <a:cubicBezTo>
                    <a:pt x="114" y="730"/>
                    <a:pt x="109" y="728"/>
                    <a:pt x="104" y="724"/>
                  </a:cubicBezTo>
                  <a:cubicBezTo>
                    <a:pt x="96" y="715"/>
                    <a:pt x="96" y="701"/>
                    <a:pt x="104" y="692"/>
                  </a:cubicBezTo>
                  <a:cubicBezTo>
                    <a:pt x="151" y="646"/>
                    <a:pt x="151" y="646"/>
                    <a:pt x="151" y="646"/>
                  </a:cubicBezTo>
                  <a:cubicBezTo>
                    <a:pt x="104" y="600"/>
                    <a:pt x="104" y="600"/>
                    <a:pt x="104" y="600"/>
                  </a:cubicBezTo>
                  <a:cubicBezTo>
                    <a:pt x="96" y="591"/>
                    <a:pt x="96" y="577"/>
                    <a:pt x="104" y="568"/>
                  </a:cubicBezTo>
                  <a:cubicBezTo>
                    <a:pt x="113" y="560"/>
                    <a:pt x="127" y="560"/>
                    <a:pt x="136" y="568"/>
                  </a:cubicBezTo>
                  <a:cubicBezTo>
                    <a:pt x="182" y="615"/>
                    <a:pt x="182" y="615"/>
                    <a:pt x="182" y="615"/>
                  </a:cubicBezTo>
                  <a:cubicBezTo>
                    <a:pt x="228" y="568"/>
                    <a:pt x="228" y="568"/>
                    <a:pt x="228" y="568"/>
                  </a:cubicBezTo>
                  <a:cubicBezTo>
                    <a:pt x="237" y="560"/>
                    <a:pt x="251" y="560"/>
                    <a:pt x="260" y="568"/>
                  </a:cubicBezTo>
                  <a:cubicBezTo>
                    <a:pt x="268" y="577"/>
                    <a:pt x="268" y="591"/>
                    <a:pt x="260" y="600"/>
                  </a:cubicBezTo>
                  <a:cubicBezTo>
                    <a:pt x="213" y="646"/>
                    <a:pt x="213" y="646"/>
                    <a:pt x="213" y="646"/>
                  </a:cubicBezTo>
                  <a:lnTo>
                    <a:pt x="260" y="692"/>
                  </a:lnTo>
                  <a:close/>
                  <a:moveTo>
                    <a:pt x="641" y="585"/>
                  </a:moveTo>
                  <a:cubicBezTo>
                    <a:pt x="635" y="689"/>
                    <a:pt x="577" y="788"/>
                    <a:pt x="469" y="879"/>
                  </a:cubicBezTo>
                  <a:cubicBezTo>
                    <a:pt x="549" y="890"/>
                    <a:pt x="549" y="890"/>
                    <a:pt x="549" y="890"/>
                  </a:cubicBezTo>
                  <a:cubicBezTo>
                    <a:pt x="561" y="891"/>
                    <a:pt x="569" y="902"/>
                    <a:pt x="568" y="914"/>
                  </a:cubicBezTo>
                  <a:cubicBezTo>
                    <a:pt x="566" y="925"/>
                    <a:pt x="557" y="933"/>
                    <a:pt x="546" y="933"/>
                  </a:cubicBezTo>
                  <a:cubicBezTo>
                    <a:pt x="545" y="933"/>
                    <a:pt x="544" y="933"/>
                    <a:pt x="543" y="933"/>
                  </a:cubicBezTo>
                  <a:cubicBezTo>
                    <a:pt x="406" y="915"/>
                    <a:pt x="406" y="915"/>
                    <a:pt x="406" y="915"/>
                  </a:cubicBezTo>
                  <a:cubicBezTo>
                    <a:pt x="394" y="914"/>
                    <a:pt x="385" y="903"/>
                    <a:pt x="387" y="891"/>
                  </a:cubicBezTo>
                  <a:cubicBezTo>
                    <a:pt x="405" y="753"/>
                    <a:pt x="405" y="753"/>
                    <a:pt x="405" y="753"/>
                  </a:cubicBezTo>
                  <a:cubicBezTo>
                    <a:pt x="406" y="741"/>
                    <a:pt x="417" y="733"/>
                    <a:pt x="429" y="735"/>
                  </a:cubicBezTo>
                  <a:cubicBezTo>
                    <a:pt x="442" y="736"/>
                    <a:pt x="450" y="747"/>
                    <a:pt x="448" y="759"/>
                  </a:cubicBezTo>
                  <a:cubicBezTo>
                    <a:pt x="437" y="849"/>
                    <a:pt x="437" y="849"/>
                    <a:pt x="437" y="849"/>
                  </a:cubicBezTo>
                  <a:cubicBezTo>
                    <a:pt x="537" y="765"/>
                    <a:pt x="591" y="676"/>
                    <a:pt x="597" y="583"/>
                  </a:cubicBezTo>
                  <a:cubicBezTo>
                    <a:pt x="604" y="466"/>
                    <a:pt x="531" y="377"/>
                    <a:pt x="510" y="354"/>
                  </a:cubicBezTo>
                  <a:cubicBezTo>
                    <a:pt x="488" y="370"/>
                    <a:pt x="461" y="380"/>
                    <a:pt x="432" y="380"/>
                  </a:cubicBezTo>
                  <a:cubicBezTo>
                    <a:pt x="360" y="380"/>
                    <a:pt x="302" y="322"/>
                    <a:pt x="302" y="250"/>
                  </a:cubicBezTo>
                  <a:cubicBezTo>
                    <a:pt x="302" y="178"/>
                    <a:pt x="360" y="120"/>
                    <a:pt x="432" y="120"/>
                  </a:cubicBezTo>
                  <a:cubicBezTo>
                    <a:pt x="504" y="120"/>
                    <a:pt x="562" y="178"/>
                    <a:pt x="562" y="250"/>
                  </a:cubicBezTo>
                  <a:cubicBezTo>
                    <a:pt x="562" y="276"/>
                    <a:pt x="554" y="301"/>
                    <a:pt x="540" y="322"/>
                  </a:cubicBezTo>
                  <a:cubicBezTo>
                    <a:pt x="563" y="345"/>
                    <a:pt x="649" y="447"/>
                    <a:pt x="641" y="585"/>
                  </a:cubicBezTo>
                  <a:close/>
                  <a:moveTo>
                    <a:pt x="1279" y="382"/>
                  </a:moveTo>
                  <a:cubicBezTo>
                    <a:pt x="1187" y="485"/>
                    <a:pt x="1187" y="485"/>
                    <a:pt x="1187" y="485"/>
                  </a:cubicBezTo>
                  <a:cubicBezTo>
                    <a:pt x="1183" y="490"/>
                    <a:pt x="1177" y="493"/>
                    <a:pt x="1171" y="493"/>
                  </a:cubicBezTo>
                  <a:cubicBezTo>
                    <a:pt x="1165" y="493"/>
                    <a:pt x="1160" y="491"/>
                    <a:pt x="1156" y="487"/>
                  </a:cubicBezTo>
                  <a:cubicBezTo>
                    <a:pt x="1147" y="479"/>
                    <a:pt x="1146" y="465"/>
                    <a:pt x="1154" y="456"/>
                  </a:cubicBezTo>
                  <a:cubicBezTo>
                    <a:pt x="1215" y="388"/>
                    <a:pt x="1215" y="388"/>
                    <a:pt x="1215" y="388"/>
                  </a:cubicBezTo>
                  <a:cubicBezTo>
                    <a:pt x="1084" y="401"/>
                    <a:pt x="989" y="444"/>
                    <a:pt x="932" y="518"/>
                  </a:cubicBezTo>
                  <a:cubicBezTo>
                    <a:pt x="861" y="610"/>
                    <a:pt x="870" y="725"/>
                    <a:pt x="875" y="756"/>
                  </a:cubicBezTo>
                  <a:cubicBezTo>
                    <a:pt x="902" y="755"/>
                    <a:pt x="930" y="762"/>
                    <a:pt x="954" y="778"/>
                  </a:cubicBezTo>
                  <a:cubicBezTo>
                    <a:pt x="983" y="798"/>
                    <a:pt x="1002" y="828"/>
                    <a:pt x="1008" y="862"/>
                  </a:cubicBezTo>
                  <a:cubicBezTo>
                    <a:pt x="1015" y="896"/>
                    <a:pt x="1008" y="930"/>
                    <a:pt x="988" y="959"/>
                  </a:cubicBezTo>
                  <a:cubicBezTo>
                    <a:pt x="963" y="996"/>
                    <a:pt x="922" y="1016"/>
                    <a:pt x="881" y="1016"/>
                  </a:cubicBezTo>
                  <a:cubicBezTo>
                    <a:pt x="855" y="1016"/>
                    <a:pt x="830" y="1008"/>
                    <a:pt x="807" y="993"/>
                  </a:cubicBezTo>
                  <a:cubicBezTo>
                    <a:pt x="748" y="953"/>
                    <a:pt x="733" y="872"/>
                    <a:pt x="773" y="812"/>
                  </a:cubicBezTo>
                  <a:cubicBezTo>
                    <a:pt x="788" y="791"/>
                    <a:pt x="809" y="775"/>
                    <a:pt x="831" y="766"/>
                  </a:cubicBezTo>
                  <a:cubicBezTo>
                    <a:pt x="826" y="733"/>
                    <a:pt x="812" y="601"/>
                    <a:pt x="897" y="491"/>
                  </a:cubicBezTo>
                  <a:cubicBezTo>
                    <a:pt x="961" y="409"/>
                    <a:pt x="1065" y="360"/>
                    <a:pt x="1205" y="345"/>
                  </a:cubicBezTo>
                  <a:cubicBezTo>
                    <a:pt x="1145" y="292"/>
                    <a:pt x="1145" y="292"/>
                    <a:pt x="1145" y="292"/>
                  </a:cubicBezTo>
                  <a:cubicBezTo>
                    <a:pt x="1136" y="284"/>
                    <a:pt x="1135" y="270"/>
                    <a:pt x="1143" y="261"/>
                  </a:cubicBezTo>
                  <a:cubicBezTo>
                    <a:pt x="1151" y="252"/>
                    <a:pt x="1165" y="251"/>
                    <a:pt x="1174" y="259"/>
                  </a:cubicBezTo>
                  <a:cubicBezTo>
                    <a:pt x="1278" y="351"/>
                    <a:pt x="1278" y="351"/>
                    <a:pt x="1278" y="351"/>
                  </a:cubicBezTo>
                  <a:cubicBezTo>
                    <a:pt x="1282" y="355"/>
                    <a:pt x="1285" y="361"/>
                    <a:pt x="1285" y="366"/>
                  </a:cubicBezTo>
                  <a:cubicBezTo>
                    <a:pt x="1285" y="372"/>
                    <a:pt x="1283" y="378"/>
                    <a:pt x="1279" y="382"/>
                  </a:cubicBezTo>
                  <a:close/>
                  <a:moveTo>
                    <a:pt x="1540" y="455"/>
                  </a:moveTo>
                  <a:cubicBezTo>
                    <a:pt x="1515" y="492"/>
                    <a:pt x="1474" y="512"/>
                    <a:pt x="1433" y="512"/>
                  </a:cubicBezTo>
                  <a:cubicBezTo>
                    <a:pt x="1407" y="512"/>
                    <a:pt x="1382" y="504"/>
                    <a:pt x="1359" y="489"/>
                  </a:cubicBezTo>
                  <a:cubicBezTo>
                    <a:pt x="1300" y="449"/>
                    <a:pt x="1285" y="368"/>
                    <a:pt x="1325" y="308"/>
                  </a:cubicBezTo>
                  <a:cubicBezTo>
                    <a:pt x="1366" y="249"/>
                    <a:pt x="1447" y="234"/>
                    <a:pt x="1506" y="274"/>
                  </a:cubicBezTo>
                  <a:cubicBezTo>
                    <a:pt x="1535" y="294"/>
                    <a:pt x="1554" y="324"/>
                    <a:pt x="1560" y="358"/>
                  </a:cubicBezTo>
                  <a:cubicBezTo>
                    <a:pt x="1567" y="392"/>
                    <a:pt x="1560" y="426"/>
                    <a:pt x="1540" y="455"/>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20" name="TB220"/>
          <p:cNvSpPr txBox="1"/>
          <p:nvPr/>
        </p:nvSpPr>
        <p:spPr>
          <a:xfrm>
            <a:off x="8193024" y="3374136"/>
            <a:ext cx="3236976" cy="502920"/>
          </a:xfrm>
          <a:prstGeom prst="rect">
            <a:avLst/>
          </a:prstGeom>
          <a:noFill/>
        </p:spPr>
        <p:txBody>
          <a:bodyPr wrap="square" rtlCol="0" anchor="t"/>
          <a:lstStyle/>
          <a:p>
            <a:pPr algn="ctr"/>
            <a:r>
              <a:rPr lang="en-US" sz="1200" dirty="0">
                <a:solidFill>
                  <a:srgbClr val="575757"/>
                </a:solidFill>
                <a:latin typeface="Trebuchet MS"/>
              </a:rPr>
              <a:t>Bolt-on diagnostics, day-care, and home-care to capture full continuum</a:t>
            </a:r>
          </a:p>
        </p:txBody>
      </p:sp>
      <p:sp>
        <p:nvSpPr>
          <p:cNvPr id="221" name="BL221"/>
          <p:cNvSpPr txBox="1"/>
          <p:nvPr/>
        </p:nvSpPr>
        <p:spPr>
          <a:xfrm>
            <a:off x="8193024" y="3950208"/>
            <a:ext cx="3236976" cy="1188720"/>
          </a:xfrm>
          <a:prstGeom prst="rect">
            <a:avLst/>
          </a:prstGeom>
          <a:noFill/>
        </p:spPr>
        <p:txBody>
          <a:bodyPr wrap="square" rtlCol="0" anchor="t"/>
          <a:lstStyle/>
          <a:p>
            <a:pPr marL="228600" indent="-228600" algn="l">
              <a:spcAft>
                <a:spcPts val="400"/>
              </a:spcAft>
              <a:buChar char="-"/>
            </a:pPr>
            <a:r>
              <a:rPr lang="en-US" sz="1200" dirty="0">
                <a:solidFill>
                  <a:srgbClr val="575757"/>
                </a:solidFill>
                <a:latin typeface="Trebuchet MS"/>
              </a:rPr>
              <a:t>Asset-light, EBITDA-accretive</a:t>
            </a:r>
          </a:p>
          <a:p>
            <a:pPr marL="228600" indent="-228600" algn="l">
              <a:spcAft>
                <a:spcPts val="400"/>
              </a:spcAft>
              <a:buChar char="-"/>
            </a:pPr>
            <a:r>
              <a:rPr lang="en-US" sz="1200" dirty="0">
                <a:solidFill>
                  <a:srgbClr val="575757"/>
                </a:solidFill>
                <a:latin typeface="Trebuchet MS"/>
              </a:rPr>
              <a:t>Lower regulatory friction</a:t>
            </a:r>
          </a:p>
          <a:p>
            <a:pPr marL="228600" indent="-228600" algn="l">
              <a:spcAft>
                <a:spcPts val="400"/>
              </a:spcAft>
              <a:buChar char="-"/>
            </a:pPr>
            <a:r>
              <a:rPr lang="en-US" sz="1200" dirty="0">
                <a:solidFill>
                  <a:srgbClr val="575757"/>
                </a:solidFill>
                <a:latin typeface="Trebuchet MS"/>
              </a:rPr>
              <a:t>Capture digital health opportunity</a:t>
            </a:r>
          </a:p>
        </p:txBody>
      </p:sp>
      <p:sp>
        <p:nvSpPr>
          <p:cNvPr id="222" name="R222"/>
          <p:cNvSpPr/>
          <p:nvPr/>
        </p:nvSpPr>
        <p:spPr>
          <a:xfrm>
            <a:off x="8055864" y="4773168"/>
            <a:ext cx="3511296" cy="502920"/>
          </a:xfrm>
          <a:prstGeom prst="rect">
            <a:avLst/>
          </a:prstGeom>
          <a:solidFill>
            <a:srgbClr val="F2F2F2"/>
          </a:solidFill>
          <a:ln w="9525">
            <a:solidFill>
              <a:srgbClr val="F2F2F2"/>
            </a:solidFill>
          </a:ln>
        </p:spPr>
        <p:txBody>
          <a:bodyPr/>
          <a:lstStyle/>
          <a:p>
            <a:endParaRPr lang="en-US"/>
          </a:p>
        </p:txBody>
      </p:sp>
      <p:sp>
        <p:nvSpPr>
          <p:cNvPr id="223" name="TB223"/>
          <p:cNvSpPr txBox="1"/>
          <p:nvPr/>
        </p:nvSpPr>
        <p:spPr>
          <a:xfrm>
            <a:off x="8193024" y="4809744"/>
            <a:ext cx="3236976" cy="201168"/>
          </a:xfrm>
          <a:prstGeom prst="rect">
            <a:avLst/>
          </a:prstGeom>
          <a:noFill/>
        </p:spPr>
        <p:txBody>
          <a:bodyPr wrap="square" rtlCol="0" anchor="t"/>
          <a:lstStyle/>
          <a:p>
            <a:pPr algn="ctr"/>
            <a:r>
              <a:rPr lang="en-US" sz="1400" b="1" dirty="0">
                <a:solidFill>
                  <a:srgbClr val="575757"/>
                </a:solidFill>
                <a:latin typeface="Trebuchet MS"/>
              </a:rPr>
              <a:t>5% of capital</a:t>
            </a:r>
          </a:p>
        </p:txBody>
      </p:sp>
      <p:sp>
        <p:nvSpPr>
          <p:cNvPr id="224" name="TB224"/>
          <p:cNvSpPr txBox="1"/>
          <p:nvPr/>
        </p:nvSpPr>
        <p:spPr>
          <a:xfrm>
            <a:off x="8193024" y="5029200"/>
            <a:ext cx="3236976" cy="201168"/>
          </a:xfrm>
          <a:prstGeom prst="rect">
            <a:avLst/>
          </a:prstGeom>
          <a:noFill/>
        </p:spPr>
        <p:txBody>
          <a:bodyPr wrap="square" rtlCol="0" anchor="t"/>
          <a:lstStyle/>
          <a:p>
            <a:pPr algn="ctr"/>
            <a:r>
              <a:rPr lang="en-US" sz="1000" dirty="0">
                <a:solidFill>
                  <a:srgbClr val="6E6F73"/>
                </a:solidFill>
                <a:latin typeface="Trebuchet MS"/>
              </a:rPr>
              <a:t>Lead targets: Diagnostics roll-up</a:t>
            </a:r>
          </a:p>
        </p:txBody>
      </p:sp>
      <p:sp>
        <p:nvSpPr>
          <p:cNvPr id="225" name="RR225"/>
          <p:cNvSpPr/>
          <p:nvPr/>
        </p:nvSpPr>
        <p:spPr>
          <a:xfrm>
            <a:off x="630936" y="5440680"/>
            <a:ext cx="10936224" cy="502920"/>
          </a:xfrm>
          <a:prstGeom prst="roundRect">
            <a:avLst>
              <a:gd name="adj" fmla="val 5000"/>
            </a:avLst>
          </a:prstGeom>
          <a:solidFill>
            <a:srgbClr val="F2F2F2"/>
          </a:solidFill>
          <a:ln w="12700">
            <a:solidFill>
              <a:schemeClr val="tx2"/>
            </a:solidFill>
          </a:ln>
        </p:spPr>
        <p:txBody>
          <a:bodyPr/>
          <a:lstStyle/>
          <a:p>
            <a:endParaRPr lang="en-US"/>
          </a:p>
        </p:txBody>
      </p:sp>
      <p:sp>
        <p:nvSpPr>
          <p:cNvPr id="226" name="TB226"/>
          <p:cNvSpPr txBox="1"/>
          <p:nvPr/>
        </p:nvSpPr>
        <p:spPr>
          <a:xfrm>
            <a:off x="813815" y="5440680"/>
            <a:ext cx="10570464" cy="502920"/>
          </a:xfrm>
          <a:prstGeom prst="rect">
            <a:avLst/>
          </a:prstGeom>
          <a:noFill/>
        </p:spPr>
        <p:txBody>
          <a:bodyPr wrap="square" rtlCol="0" anchor="ctr"/>
          <a:lstStyle/>
          <a:p>
            <a:r>
              <a:rPr lang="en-US" sz="1200" b="1" dirty="0">
                <a:solidFill>
                  <a:srgbClr val="575757"/>
                </a:solidFill>
                <a:latin typeface="Trebuchet MS"/>
              </a:rPr>
              <a:t>Capital allocation discipline: </a:t>
            </a:r>
            <a:r>
              <a:rPr lang="en-US" sz="1200" dirty="0">
                <a:solidFill>
                  <a:srgbClr val="575757"/>
                </a:solidFill>
                <a:latin typeface="Trebuchet MS"/>
              </a:rPr>
              <a:t>Pillar 1 deals require &gt;18% IRR &amp; &lt;4.5x net leverage; Pillar 2 require strategic synergy &gt;25% of EV; all targets must be EPS-accretive within 24 months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4DD9D7F-5BE9-2D0E-6571-4019E0A8F279}"/>
              </a:ext>
            </a:extLst>
          </p:cNvPr>
          <p:cNvGraphicFramePr>
            <a:graphicFrameLocks noChangeAspect="1"/>
          </p:cNvGraphicFramePr>
          <p:nvPr>
            <p:custDataLst>
              <p:tags r:id="rId1"/>
            </p:custDataLst>
            <p:extLst>
              <p:ext uri="{D42A27DB-BD31-4B8C-83A1-F6EECF244321}">
                <p14:modId xmlns:p14="http://schemas.microsoft.com/office/powerpoint/2010/main" val="42853795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7" name="ph_title"/>
          <p:cNvSpPr>
            <a:spLocks noGrp="1"/>
          </p:cNvSpPr>
          <p:nvPr>
            <p:ph type="title"/>
          </p:nvPr>
        </p:nvSpPr>
        <p:spPr/>
        <p:txBody>
          <a:bodyPr vert="horz"/>
          <a:lstStyle/>
          <a:p>
            <a:r>
              <a:rPr lang="en-US" dirty="0"/>
              <a:t>Screened 47 targets to a shortlist of 5 high-conviction opportunities</a:t>
            </a:r>
          </a:p>
        </p:txBody>
      </p:sp>
      <p:sp>
        <p:nvSpPr>
          <p:cNvPr id="228" name="RR228"/>
          <p:cNvSpPr/>
          <p:nvPr/>
        </p:nvSpPr>
        <p:spPr>
          <a:xfrm>
            <a:off x="789511" y="2075688"/>
            <a:ext cx="6025859" cy="700430"/>
          </a:xfrm>
          <a:prstGeom prst="roundRect">
            <a:avLst>
              <a:gd name="adj" fmla="val 8000"/>
            </a:avLst>
          </a:prstGeom>
          <a:solidFill>
            <a:schemeClr val="tx2"/>
          </a:solidFill>
          <a:ln>
            <a:noFill/>
          </a:ln>
        </p:spPr>
        <p:txBody>
          <a:bodyPr/>
          <a:lstStyle/>
          <a:p>
            <a:endParaRPr lang="en-US"/>
          </a:p>
        </p:txBody>
      </p:sp>
      <p:sp>
        <p:nvSpPr>
          <p:cNvPr id="229" name="TB229"/>
          <p:cNvSpPr txBox="1"/>
          <p:nvPr/>
        </p:nvSpPr>
        <p:spPr>
          <a:xfrm>
            <a:off x="972391" y="2075688"/>
            <a:ext cx="3314222" cy="700430"/>
          </a:xfrm>
          <a:prstGeom prst="rect">
            <a:avLst/>
          </a:prstGeom>
          <a:noFill/>
        </p:spPr>
        <p:txBody>
          <a:bodyPr wrap="square" rtlCol="0" anchor="ctr"/>
          <a:lstStyle/>
          <a:p>
            <a:r>
              <a:rPr lang="en-US" sz="1300" b="1" dirty="0">
                <a:solidFill>
                  <a:srgbClr val="FFFFFF"/>
                </a:solidFill>
                <a:latin typeface="Trebuchet MS"/>
              </a:rPr>
              <a:t>Universe</a:t>
            </a:r>
          </a:p>
        </p:txBody>
      </p:sp>
      <p:sp>
        <p:nvSpPr>
          <p:cNvPr id="230" name="TB230"/>
          <p:cNvSpPr txBox="1"/>
          <p:nvPr/>
        </p:nvSpPr>
        <p:spPr>
          <a:xfrm>
            <a:off x="4103733" y="2075688"/>
            <a:ext cx="2530860" cy="700430"/>
          </a:xfrm>
          <a:prstGeom prst="rect">
            <a:avLst/>
          </a:prstGeom>
          <a:noFill/>
        </p:spPr>
        <p:txBody>
          <a:bodyPr wrap="square" rtlCol="0" anchor="ctr"/>
          <a:lstStyle/>
          <a:p>
            <a:pPr algn="r"/>
            <a:r>
              <a:rPr lang="en-US" sz="1200" dirty="0">
                <a:solidFill>
                  <a:srgbClr val="FFFFFF"/>
                </a:solidFill>
                <a:latin typeface="Trebuchet MS"/>
              </a:rPr>
              <a:t>47 hospital chains</a:t>
            </a:r>
          </a:p>
        </p:txBody>
      </p:sp>
      <p:sp>
        <p:nvSpPr>
          <p:cNvPr id="231" name="RR231"/>
          <p:cNvSpPr/>
          <p:nvPr/>
        </p:nvSpPr>
        <p:spPr>
          <a:xfrm>
            <a:off x="1128465" y="2867558"/>
            <a:ext cx="5347950" cy="700430"/>
          </a:xfrm>
          <a:prstGeom prst="roundRect">
            <a:avLst>
              <a:gd name="adj" fmla="val 8000"/>
            </a:avLst>
          </a:prstGeom>
          <a:solidFill>
            <a:srgbClr val="295E7E"/>
          </a:solidFill>
          <a:ln>
            <a:noFill/>
          </a:ln>
        </p:spPr>
        <p:txBody>
          <a:bodyPr/>
          <a:lstStyle/>
          <a:p>
            <a:endParaRPr lang="en-US"/>
          </a:p>
        </p:txBody>
      </p:sp>
      <p:sp>
        <p:nvSpPr>
          <p:cNvPr id="232" name="TB232"/>
          <p:cNvSpPr txBox="1"/>
          <p:nvPr/>
        </p:nvSpPr>
        <p:spPr>
          <a:xfrm>
            <a:off x="1311345" y="2867558"/>
            <a:ext cx="2941372" cy="700430"/>
          </a:xfrm>
          <a:prstGeom prst="rect">
            <a:avLst/>
          </a:prstGeom>
          <a:noFill/>
        </p:spPr>
        <p:txBody>
          <a:bodyPr wrap="square" rtlCol="0" anchor="ctr"/>
          <a:lstStyle/>
          <a:p>
            <a:r>
              <a:rPr lang="en-US" sz="1300" b="1" dirty="0">
                <a:solidFill>
                  <a:srgbClr val="FFFFFF"/>
                </a:solidFill>
                <a:latin typeface="Trebuchet MS"/>
              </a:rPr>
              <a:t>Strategic Fit</a:t>
            </a:r>
          </a:p>
        </p:txBody>
      </p:sp>
      <p:sp>
        <p:nvSpPr>
          <p:cNvPr id="233" name="TB233"/>
          <p:cNvSpPr txBox="1"/>
          <p:nvPr/>
        </p:nvSpPr>
        <p:spPr>
          <a:xfrm>
            <a:off x="4069838" y="2867558"/>
            <a:ext cx="2246139" cy="700430"/>
          </a:xfrm>
          <a:prstGeom prst="rect">
            <a:avLst/>
          </a:prstGeom>
          <a:noFill/>
        </p:spPr>
        <p:txBody>
          <a:bodyPr wrap="square" rtlCol="0" anchor="ctr"/>
          <a:lstStyle/>
          <a:p>
            <a:pPr algn="r"/>
            <a:r>
              <a:rPr lang="en-US" sz="1200" dirty="0">
                <a:solidFill>
                  <a:srgbClr val="FFFFFF"/>
                </a:solidFill>
                <a:latin typeface="Trebuchet MS"/>
              </a:rPr>
              <a:t>21 candidates</a:t>
            </a:r>
          </a:p>
        </p:txBody>
      </p:sp>
      <p:sp>
        <p:nvSpPr>
          <p:cNvPr id="234" name="TB234"/>
          <p:cNvSpPr txBox="1"/>
          <p:nvPr/>
        </p:nvSpPr>
        <p:spPr>
          <a:xfrm>
            <a:off x="6567856" y="2867558"/>
            <a:ext cx="594360" cy="700430"/>
          </a:xfrm>
          <a:prstGeom prst="rect">
            <a:avLst/>
          </a:prstGeom>
          <a:noFill/>
        </p:spPr>
        <p:txBody>
          <a:bodyPr wrap="square" rtlCol="0" anchor="ctr"/>
          <a:lstStyle/>
          <a:p>
            <a:r>
              <a:rPr lang="en-US" sz="1200" b="1" dirty="0">
                <a:solidFill>
                  <a:srgbClr val="D64454"/>
                </a:solidFill>
                <a:latin typeface="Trebuchet MS"/>
              </a:rPr>
              <a:t>-55%</a:t>
            </a:r>
          </a:p>
        </p:txBody>
      </p:sp>
      <p:sp>
        <p:nvSpPr>
          <p:cNvPr id="235" name="RR235"/>
          <p:cNvSpPr/>
          <p:nvPr/>
        </p:nvSpPr>
        <p:spPr>
          <a:xfrm>
            <a:off x="1467420" y="3659428"/>
            <a:ext cx="4670041" cy="700430"/>
          </a:xfrm>
          <a:prstGeom prst="roundRect">
            <a:avLst>
              <a:gd name="adj" fmla="val 8000"/>
            </a:avLst>
          </a:prstGeom>
          <a:solidFill>
            <a:srgbClr val="575757"/>
          </a:solidFill>
          <a:ln>
            <a:noFill/>
          </a:ln>
        </p:spPr>
        <p:txBody>
          <a:bodyPr/>
          <a:lstStyle/>
          <a:p>
            <a:endParaRPr lang="en-US"/>
          </a:p>
        </p:txBody>
      </p:sp>
      <p:sp>
        <p:nvSpPr>
          <p:cNvPr id="236" name="TB236"/>
          <p:cNvSpPr txBox="1"/>
          <p:nvPr/>
        </p:nvSpPr>
        <p:spPr>
          <a:xfrm>
            <a:off x="1650300" y="3659428"/>
            <a:ext cx="2568522" cy="700430"/>
          </a:xfrm>
          <a:prstGeom prst="rect">
            <a:avLst/>
          </a:prstGeom>
          <a:noFill/>
        </p:spPr>
        <p:txBody>
          <a:bodyPr wrap="square" rtlCol="0" anchor="ctr"/>
          <a:lstStyle/>
          <a:p>
            <a:r>
              <a:rPr lang="en-US" sz="1300" b="1" dirty="0">
                <a:solidFill>
                  <a:srgbClr val="FFFFFF"/>
                </a:solidFill>
                <a:latin typeface="Trebuchet MS"/>
              </a:rPr>
              <a:t>Financial Filter</a:t>
            </a:r>
          </a:p>
        </p:txBody>
      </p:sp>
      <p:sp>
        <p:nvSpPr>
          <p:cNvPr id="237" name="TB237"/>
          <p:cNvSpPr txBox="1"/>
          <p:nvPr/>
        </p:nvSpPr>
        <p:spPr>
          <a:xfrm>
            <a:off x="4035943" y="3659428"/>
            <a:ext cx="1961417" cy="700430"/>
          </a:xfrm>
          <a:prstGeom prst="rect">
            <a:avLst/>
          </a:prstGeom>
          <a:noFill/>
        </p:spPr>
        <p:txBody>
          <a:bodyPr wrap="square" rtlCol="0" anchor="ctr"/>
          <a:lstStyle/>
          <a:p>
            <a:pPr algn="r"/>
            <a:r>
              <a:rPr lang="en-US" sz="1200" dirty="0">
                <a:solidFill>
                  <a:srgbClr val="FFFFFF"/>
                </a:solidFill>
                <a:latin typeface="Trebuchet MS"/>
              </a:rPr>
              <a:t>12 candidates</a:t>
            </a:r>
          </a:p>
        </p:txBody>
      </p:sp>
      <p:sp>
        <p:nvSpPr>
          <p:cNvPr id="238" name="TB238"/>
          <p:cNvSpPr txBox="1"/>
          <p:nvPr/>
        </p:nvSpPr>
        <p:spPr>
          <a:xfrm>
            <a:off x="6228901" y="3659428"/>
            <a:ext cx="594360" cy="700430"/>
          </a:xfrm>
          <a:prstGeom prst="rect">
            <a:avLst/>
          </a:prstGeom>
          <a:noFill/>
        </p:spPr>
        <p:txBody>
          <a:bodyPr wrap="square" rtlCol="0" anchor="ctr"/>
          <a:lstStyle/>
          <a:p>
            <a:r>
              <a:rPr lang="en-US" sz="1200" b="1" dirty="0">
                <a:solidFill>
                  <a:srgbClr val="D64454"/>
                </a:solidFill>
                <a:latin typeface="Trebuchet MS"/>
              </a:rPr>
              <a:t>-43%</a:t>
            </a:r>
          </a:p>
        </p:txBody>
      </p:sp>
      <p:sp>
        <p:nvSpPr>
          <p:cNvPr id="239" name="RR239"/>
          <p:cNvSpPr/>
          <p:nvPr/>
        </p:nvSpPr>
        <p:spPr>
          <a:xfrm>
            <a:off x="1806375" y="4451299"/>
            <a:ext cx="3992131" cy="700430"/>
          </a:xfrm>
          <a:prstGeom prst="roundRect">
            <a:avLst>
              <a:gd name="adj" fmla="val 8000"/>
            </a:avLst>
          </a:prstGeom>
          <a:solidFill>
            <a:schemeClr val="accent1"/>
          </a:solidFill>
          <a:ln>
            <a:noFill/>
          </a:ln>
        </p:spPr>
        <p:txBody>
          <a:bodyPr/>
          <a:lstStyle/>
          <a:p>
            <a:endParaRPr lang="en-US"/>
          </a:p>
        </p:txBody>
      </p:sp>
      <p:sp>
        <p:nvSpPr>
          <p:cNvPr id="240" name="TB240"/>
          <p:cNvSpPr txBox="1"/>
          <p:nvPr/>
        </p:nvSpPr>
        <p:spPr>
          <a:xfrm>
            <a:off x="1989255" y="4451299"/>
            <a:ext cx="2195672" cy="700430"/>
          </a:xfrm>
          <a:prstGeom prst="rect">
            <a:avLst/>
          </a:prstGeom>
          <a:noFill/>
        </p:spPr>
        <p:txBody>
          <a:bodyPr wrap="square" rtlCol="0" anchor="ctr"/>
          <a:lstStyle/>
          <a:p>
            <a:r>
              <a:rPr lang="en-US" sz="1300" b="1" dirty="0">
                <a:solidFill>
                  <a:srgbClr val="FFFFFF"/>
                </a:solidFill>
                <a:latin typeface="Trebuchet MS"/>
              </a:rPr>
              <a:t>Deal-ability</a:t>
            </a:r>
          </a:p>
        </p:txBody>
      </p:sp>
      <p:sp>
        <p:nvSpPr>
          <p:cNvPr id="241" name="TB241"/>
          <p:cNvSpPr txBox="1"/>
          <p:nvPr/>
        </p:nvSpPr>
        <p:spPr>
          <a:xfrm>
            <a:off x="4002047" y="4451299"/>
            <a:ext cx="1676695" cy="700430"/>
          </a:xfrm>
          <a:prstGeom prst="rect">
            <a:avLst/>
          </a:prstGeom>
          <a:noFill/>
        </p:spPr>
        <p:txBody>
          <a:bodyPr wrap="square" rtlCol="0" anchor="ctr"/>
          <a:lstStyle/>
          <a:p>
            <a:pPr algn="r"/>
            <a:r>
              <a:rPr lang="en-US" sz="1200" dirty="0">
                <a:solidFill>
                  <a:srgbClr val="FFFFFF"/>
                </a:solidFill>
                <a:latin typeface="Trebuchet MS"/>
              </a:rPr>
              <a:t>8 candidates</a:t>
            </a:r>
          </a:p>
        </p:txBody>
      </p:sp>
      <p:sp>
        <p:nvSpPr>
          <p:cNvPr id="242" name="TB242"/>
          <p:cNvSpPr txBox="1"/>
          <p:nvPr/>
        </p:nvSpPr>
        <p:spPr>
          <a:xfrm>
            <a:off x="5889946" y="4451299"/>
            <a:ext cx="594360" cy="700430"/>
          </a:xfrm>
          <a:prstGeom prst="rect">
            <a:avLst/>
          </a:prstGeom>
          <a:noFill/>
        </p:spPr>
        <p:txBody>
          <a:bodyPr wrap="square" rtlCol="0" anchor="ctr"/>
          <a:lstStyle/>
          <a:p>
            <a:r>
              <a:rPr lang="en-US" sz="1200" b="1" dirty="0">
                <a:solidFill>
                  <a:srgbClr val="D64454"/>
                </a:solidFill>
                <a:latin typeface="Trebuchet MS"/>
              </a:rPr>
              <a:t>-33%</a:t>
            </a:r>
          </a:p>
        </p:txBody>
      </p:sp>
      <p:sp>
        <p:nvSpPr>
          <p:cNvPr id="243" name="RR243"/>
          <p:cNvSpPr/>
          <p:nvPr/>
        </p:nvSpPr>
        <p:spPr>
          <a:xfrm>
            <a:off x="2145329" y="5243169"/>
            <a:ext cx="3314222" cy="700430"/>
          </a:xfrm>
          <a:prstGeom prst="roundRect">
            <a:avLst>
              <a:gd name="adj" fmla="val 8000"/>
            </a:avLst>
          </a:prstGeom>
          <a:solidFill>
            <a:schemeClr val="accent2"/>
          </a:solidFill>
          <a:ln>
            <a:noFill/>
          </a:ln>
        </p:spPr>
        <p:txBody>
          <a:bodyPr/>
          <a:lstStyle/>
          <a:p>
            <a:endParaRPr lang="en-US"/>
          </a:p>
        </p:txBody>
      </p:sp>
      <p:sp>
        <p:nvSpPr>
          <p:cNvPr id="244" name="TB244"/>
          <p:cNvSpPr txBox="1"/>
          <p:nvPr/>
        </p:nvSpPr>
        <p:spPr>
          <a:xfrm>
            <a:off x="2328209" y="5243169"/>
            <a:ext cx="1822822" cy="700430"/>
          </a:xfrm>
          <a:prstGeom prst="rect">
            <a:avLst/>
          </a:prstGeom>
          <a:noFill/>
        </p:spPr>
        <p:txBody>
          <a:bodyPr wrap="square" rtlCol="0" anchor="ctr"/>
          <a:lstStyle/>
          <a:p>
            <a:r>
              <a:rPr lang="en-US" sz="1300" b="1" dirty="0">
                <a:solidFill>
                  <a:srgbClr val="FFFFFF"/>
                </a:solidFill>
                <a:latin typeface="Trebuchet MS"/>
              </a:rPr>
              <a:t>Final Shortlist</a:t>
            </a:r>
          </a:p>
        </p:txBody>
      </p:sp>
      <p:sp>
        <p:nvSpPr>
          <p:cNvPr id="245" name="TB245"/>
          <p:cNvSpPr txBox="1"/>
          <p:nvPr/>
        </p:nvSpPr>
        <p:spPr>
          <a:xfrm>
            <a:off x="3968152" y="5243169"/>
            <a:ext cx="1391973" cy="700430"/>
          </a:xfrm>
          <a:prstGeom prst="rect">
            <a:avLst/>
          </a:prstGeom>
          <a:noFill/>
        </p:spPr>
        <p:txBody>
          <a:bodyPr wrap="square" rtlCol="0" anchor="ctr"/>
          <a:lstStyle/>
          <a:p>
            <a:pPr algn="r"/>
            <a:r>
              <a:rPr lang="en-US" sz="1200" dirty="0">
                <a:solidFill>
                  <a:srgbClr val="FFFFFF"/>
                </a:solidFill>
                <a:latin typeface="Trebuchet MS"/>
              </a:rPr>
              <a:t>5 targets</a:t>
            </a:r>
          </a:p>
        </p:txBody>
      </p:sp>
      <p:sp>
        <p:nvSpPr>
          <p:cNvPr id="246" name="TB246"/>
          <p:cNvSpPr txBox="1"/>
          <p:nvPr/>
        </p:nvSpPr>
        <p:spPr>
          <a:xfrm>
            <a:off x="5550992" y="5243169"/>
            <a:ext cx="594360" cy="700430"/>
          </a:xfrm>
          <a:prstGeom prst="rect">
            <a:avLst/>
          </a:prstGeom>
          <a:noFill/>
        </p:spPr>
        <p:txBody>
          <a:bodyPr wrap="square" rtlCol="0" anchor="ctr"/>
          <a:lstStyle/>
          <a:p>
            <a:r>
              <a:rPr lang="en-US" sz="1200" b="1" dirty="0">
                <a:solidFill>
                  <a:srgbClr val="D64454"/>
                </a:solidFill>
                <a:latin typeface="Trebuchet MS"/>
              </a:rPr>
              <a:t>-38%</a:t>
            </a:r>
          </a:p>
        </p:txBody>
      </p:sp>
      <p:sp>
        <p:nvSpPr>
          <p:cNvPr id="247" name="R247"/>
          <p:cNvSpPr/>
          <p:nvPr/>
        </p:nvSpPr>
        <p:spPr>
          <a:xfrm>
            <a:off x="7202545" y="2075688"/>
            <a:ext cx="4364614" cy="365760"/>
          </a:xfrm>
          <a:prstGeom prst="rect">
            <a:avLst/>
          </a:prstGeom>
          <a:solidFill>
            <a:schemeClr val="tx2"/>
          </a:solidFill>
          <a:ln>
            <a:noFill/>
          </a:ln>
        </p:spPr>
        <p:txBody>
          <a:bodyPr/>
          <a:lstStyle/>
          <a:p>
            <a:endParaRPr lang="en-US"/>
          </a:p>
        </p:txBody>
      </p:sp>
      <p:sp>
        <p:nvSpPr>
          <p:cNvPr id="248" name="TB248"/>
          <p:cNvSpPr txBox="1"/>
          <p:nvPr/>
        </p:nvSpPr>
        <p:spPr>
          <a:xfrm>
            <a:off x="7339705" y="2075688"/>
            <a:ext cx="4090294" cy="365760"/>
          </a:xfrm>
          <a:prstGeom prst="rect">
            <a:avLst/>
          </a:prstGeom>
          <a:noFill/>
        </p:spPr>
        <p:txBody>
          <a:bodyPr wrap="square" rtlCol="0" anchor="ctr"/>
          <a:lstStyle/>
          <a:p>
            <a:r>
              <a:rPr lang="en-US" sz="1400" b="1" dirty="0">
                <a:solidFill>
                  <a:srgbClr val="FFFFFF"/>
                </a:solidFill>
                <a:latin typeface="Trebuchet MS"/>
              </a:rPr>
              <a:t>Screening Criteria</a:t>
            </a:r>
          </a:p>
        </p:txBody>
      </p:sp>
      <p:sp>
        <p:nvSpPr>
          <p:cNvPr id="249" name="BL249"/>
          <p:cNvSpPr txBox="1"/>
          <p:nvPr/>
        </p:nvSpPr>
        <p:spPr>
          <a:xfrm>
            <a:off x="7293985" y="2551176"/>
            <a:ext cx="4181734" cy="3364992"/>
          </a:xfrm>
          <a:prstGeom prst="rect">
            <a:avLst/>
          </a:prstGeom>
          <a:noFill/>
        </p:spPr>
        <p:txBody>
          <a:bodyPr wrap="square" rtlCol="0" anchor="t"/>
          <a:lstStyle/>
          <a:p>
            <a:pPr marL="228600" indent="-228600" algn="l">
              <a:spcAft>
                <a:spcPts val="800"/>
              </a:spcAft>
              <a:buChar char="-"/>
            </a:pPr>
            <a:r>
              <a:rPr lang="en-US" sz="1200" dirty="0">
                <a:solidFill>
                  <a:srgbClr val="575757"/>
                </a:solidFill>
                <a:latin typeface="Trebuchet MS"/>
              </a:rPr>
              <a:t>Strategic Fit — geography &amp; specialty complementarity</a:t>
            </a:r>
          </a:p>
          <a:p>
            <a:pPr marL="228600" indent="-228600" algn="l">
              <a:spcAft>
                <a:spcPts val="800"/>
              </a:spcAft>
              <a:buChar char="-"/>
            </a:pPr>
            <a:r>
              <a:rPr lang="en-US" sz="1200" dirty="0">
                <a:solidFill>
                  <a:srgbClr val="575757"/>
                </a:solidFill>
                <a:latin typeface="Trebuchet MS"/>
              </a:rPr>
              <a:t>Scale — minimum ₹500 Cr revenue / 500 beds</a:t>
            </a:r>
          </a:p>
          <a:p>
            <a:pPr marL="228600" indent="-228600" algn="l">
              <a:spcAft>
                <a:spcPts val="800"/>
              </a:spcAft>
              <a:buChar char="-"/>
            </a:pPr>
            <a:r>
              <a:rPr lang="en-US" sz="1200" dirty="0">
                <a:solidFill>
                  <a:srgbClr val="575757"/>
                </a:solidFill>
                <a:latin typeface="Trebuchet MS"/>
              </a:rPr>
              <a:t>Financial Health — EBITDA margin &gt;12%, ROCE &gt;10%</a:t>
            </a:r>
          </a:p>
          <a:p>
            <a:pPr marL="228600" indent="-228600" algn="l">
              <a:spcAft>
                <a:spcPts val="800"/>
              </a:spcAft>
              <a:buChar char="-"/>
            </a:pPr>
            <a:r>
              <a:rPr lang="en-US" sz="1200" dirty="0">
                <a:solidFill>
                  <a:srgbClr val="575757"/>
                </a:solidFill>
                <a:latin typeface="Trebuchet MS"/>
              </a:rPr>
              <a:t>Deal-ability — promoter willingness, PE exit timing, regulatory clearance</a:t>
            </a:r>
          </a:p>
          <a:p>
            <a:pPr marL="228600" indent="-228600" algn="l">
              <a:spcAft>
                <a:spcPts val="800"/>
              </a:spcAft>
              <a:buChar char="-"/>
            </a:pPr>
            <a:r>
              <a:rPr lang="en-US" sz="1200" dirty="0">
                <a:solidFill>
                  <a:srgbClr val="575757"/>
                </a:solidFill>
                <a:latin typeface="Trebuchet MS"/>
              </a:rPr>
              <a:t>Synergy Potential — quantifiable revenue + cost synergies &gt;25% of EV</a:t>
            </a:r>
          </a:p>
          <a:p>
            <a:pPr marL="228600" indent="-228600" algn="l">
              <a:spcAft>
                <a:spcPts val="800"/>
              </a:spcAft>
              <a:buChar char="-"/>
            </a:pPr>
            <a:r>
              <a:rPr lang="en-US" sz="1200" dirty="0">
                <a:solidFill>
                  <a:srgbClr val="575757"/>
                </a:solidFill>
                <a:latin typeface="Trebuchet MS"/>
              </a:rPr>
              <a:t>Cultural fit — clinical excellence brand alignment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F327C53-5416-B877-B8BA-41B35EF36941}"/>
              </a:ext>
            </a:extLst>
          </p:cNvPr>
          <p:cNvGraphicFramePr>
            <a:graphicFrameLocks noChangeAspect="1"/>
          </p:cNvGraphicFramePr>
          <p:nvPr>
            <p:custDataLst>
              <p:tags r:id="rId1"/>
            </p:custDataLst>
            <p:extLst>
              <p:ext uri="{D42A27DB-BD31-4B8C-83A1-F6EECF244321}">
                <p14:modId xmlns:p14="http://schemas.microsoft.com/office/powerpoint/2010/main" val="1742954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0" name="ph_title"/>
          <p:cNvSpPr>
            <a:spLocks noGrp="1"/>
          </p:cNvSpPr>
          <p:nvPr>
            <p:ph type="title"/>
          </p:nvPr>
        </p:nvSpPr>
        <p:spPr/>
        <p:txBody>
          <a:bodyPr vert="horz"/>
          <a:lstStyle/>
          <a:p>
            <a:r>
              <a:rPr lang="en-US" dirty="0"/>
              <a:t>Five targets cover all three pillars — KIMS &amp; HCG anchor the playbook</a:t>
            </a:r>
          </a:p>
        </p:txBody>
      </p:sp>
      <p:graphicFrame>
        <p:nvGraphicFramePr>
          <p:cNvPr id="251" name="Table 251"/>
          <p:cNvGraphicFramePr>
            <a:graphicFrameLocks noGrp="1"/>
          </p:cNvGraphicFramePr>
          <p:nvPr>
            <p:extLst>
              <p:ext uri="{D42A27DB-BD31-4B8C-83A1-F6EECF244321}">
                <p14:modId xmlns:p14="http://schemas.microsoft.com/office/powerpoint/2010/main" val="3624856288"/>
              </p:ext>
            </p:extLst>
          </p:nvPr>
        </p:nvGraphicFramePr>
        <p:xfrm>
          <a:off x="630936" y="2075688"/>
          <a:ext cx="10936220" cy="2773680"/>
        </p:xfrm>
        <a:graphic>
          <a:graphicData uri="http://schemas.openxmlformats.org/drawingml/2006/table">
            <a:tbl>
              <a:tblPr firstRow="1">
                <a:noFill/>
              </a:tblPr>
              <a:tblGrid>
                <a:gridCol w="1093622">
                  <a:extLst>
                    <a:ext uri="{9D8B030D-6E8A-4147-A177-3AD203B41FA5}">
                      <a16:colId xmlns:a16="http://schemas.microsoft.com/office/drawing/2014/main" val="20000"/>
                    </a:ext>
                  </a:extLst>
                </a:gridCol>
                <a:gridCol w="1093622">
                  <a:extLst>
                    <a:ext uri="{9D8B030D-6E8A-4147-A177-3AD203B41FA5}">
                      <a16:colId xmlns:a16="http://schemas.microsoft.com/office/drawing/2014/main" val="20001"/>
                    </a:ext>
                  </a:extLst>
                </a:gridCol>
                <a:gridCol w="1093622">
                  <a:extLst>
                    <a:ext uri="{9D8B030D-6E8A-4147-A177-3AD203B41FA5}">
                      <a16:colId xmlns:a16="http://schemas.microsoft.com/office/drawing/2014/main" val="20002"/>
                    </a:ext>
                  </a:extLst>
                </a:gridCol>
                <a:gridCol w="1093622">
                  <a:extLst>
                    <a:ext uri="{9D8B030D-6E8A-4147-A177-3AD203B41FA5}">
                      <a16:colId xmlns:a16="http://schemas.microsoft.com/office/drawing/2014/main" val="20003"/>
                    </a:ext>
                  </a:extLst>
                </a:gridCol>
                <a:gridCol w="1093622">
                  <a:extLst>
                    <a:ext uri="{9D8B030D-6E8A-4147-A177-3AD203B41FA5}">
                      <a16:colId xmlns:a16="http://schemas.microsoft.com/office/drawing/2014/main" val="20004"/>
                    </a:ext>
                  </a:extLst>
                </a:gridCol>
                <a:gridCol w="1093622">
                  <a:extLst>
                    <a:ext uri="{9D8B030D-6E8A-4147-A177-3AD203B41FA5}">
                      <a16:colId xmlns:a16="http://schemas.microsoft.com/office/drawing/2014/main" val="20005"/>
                    </a:ext>
                  </a:extLst>
                </a:gridCol>
                <a:gridCol w="1093622">
                  <a:extLst>
                    <a:ext uri="{9D8B030D-6E8A-4147-A177-3AD203B41FA5}">
                      <a16:colId xmlns:a16="http://schemas.microsoft.com/office/drawing/2014/main" val="20006"/>
                    </a:ext>
                  </a:extLst>
                </a:gridCol>
                <a:gridCol w="1093622">
                  <a:extLst>
                    <a:ext uri="{9D8B030D-6E8A-4147-A177-3AD203B41FA5}">
                      <a16:colId xmlns:a16="http://schemas.microsoft.com/office/drawing/2014/main" val="20007"/>
                    </a:ext>
                  </a:extLst>
                </a:gridCol>
                <a:gridCol w="1093622">
                  <a:extLst>
                    <a:ext uri="{9D8B030D-6E8A-4147-A177-3AD203B41FA5}">
                      <a16:colId xmlns:a16="http://schemas.microsoft.com/office/drawing/2014/main" val="20008"/>
                    </a:ext>
                  </a:extLst>
                </a:gridCol>
                <a:gridCol w="1093622">
                  <a:extLst>
                    <a:ext uri="{9D8B030D-6E8A-4147-A177-3AD203B41FA5}">
                      <a16:colId xmlns:a16="http://schemas.microsoft.com/office/drawing/2014/main" val="20009"/>
                    </a:ext>
                  </a:extLst>
                </a:gridCol>
              </a:tblGrid>
              <a:tr h="365760">
                <a:tc>
                  <a:txBody>
                    <a:bodyPr/>
                    <a:lstStyle/>
                    <a:p>
                      <a:pPr algn="l"/>
                      <a:r>
                        <a:rPr lang="en-US" sz="1200" b="1" dirty="0">
                          <a:solidFill>
                            <a:srgbClr val="FFFFFF"/>
                          </a:solidFill>
                          <a:latin typeface="Trebuchet MS"/>
                          <a:cs typeface="Trebuchet MS"/>
                        </a:rPr>
                        <a:t>Target</a:t>
                      </a:r>
                    </a:p>
                  </a:txBody>
                  <a:tcPr>
                    <a:lnL w="0">
                      <a:noFill/>
                    </a:lnL>
                    <a:lnR w="0">
                      <a:noFill/>
                    </a:lnR>
                    <a:lnT w="0">
                      <a:noFill/>
                    </a:lnT>
                    <a:lnB w="0">
                      <a:noFill/>
                    </a:lnB>
                    <a:solidFill>
                      <a:schemeClr val="tx2"/>
                    </a:solidFill>
                  </a:tcPr>
                </a:tc>
                <a:tc>
                  <a:txBody>
                    <a:bodyPr/>
                    <a:lstStyle/>
                    <a:p>
                      <a:pPr algn="l"/>
                      <a:r>
                        <a:rPr lang="en-US" sz="1200" b="1" dirty="0">
                          <a:solidFill>
                            <a:srgbClr val="FFFFFF"/>
                          </a:solidFill>
                          <a:latin typeface="Trebuchet MS"/>
                          <a:cs typeface="Trebuchet MS"/>
                        </a:rPr>
                        <a:t>Pillar</a:t>
                      </a:r>
                    </a:p>
                  </a:txBody>
                  <a:tcPr>
                    <a:lnL w="0">
                      <a:noFill/>
                    </a:lnL>
                    <a:lnR w="0">
                      <a:noFill/>
                    </a:lnR>
                    <a:lnT w="0">
                      <a:noFill/>
                    </a:lnT>
                    <a:lnB w="0">
                      <a:noFill/>
                    </a:lnB>
                    <a:solidFill>
                      <a:schemeClr val="tx2"/>
                    </a:solidFill>
                  </a:tcPr>
                </a:tc>
                <a:tc>
                  <a:txBody>
                    <a:bodyPr/>
                    <a:lstStyle/>
                    <a:p>
                      <a:pPr algn="l"/>
                      <a:r>
                        <a:rPr lang="en-US" sz="1200" b="1" dirty="0">
                          <a:solidFill>
                            <a:srgbClr val="FFFFFF"/>
                          </a:solidFill>
                          <a:latin typeface="Trebuchet MS"/>
                          <a:cs typeface="Trebuchet MS"/>
                        </a:rPr>
                        <a:t>Geography</a:t>
                      </a:r>
                    </a:p>
                  </a:txBody>
                  <a:tcPr>
                    <a:lnL w="0">
                      <a:noFill/>
                    </a:lnL>
                    <a:lnR w="0">
                      <a:noFill/>
                    </a:lnR>
                    <a:lnT w="0">
                      <a:noFill/>
                    </a:lnT>
                    <a:lnB w="0">
                      <a:noFill/>
                    </a:lnB>
                    <a:solidFill>
                      <a:schemeClr val="tx2"/>
                    </a:solidFill>
                  </a:tcPr>
                </a:tc>
                <a:tc>
                  <a:txBody>
                    <a:bodyPr/>
                    <a:lstStyle/>
                    <a:p>
                      <a:pPr algn="ctr"/>
                      <a:r>
                        <a:rPr lang="en-US" sz="1200" b="1" dirty="0">
                          <a:solidFill>
                            <a:srgbClr val="FFFFFF"/>
                          </a:solidFill>
                          <a:latin typeface="Trebuchet MS"/>
                          <a:cs typeface="Trebuchet MS"/>
                        </a:rPr>
                        <a:t>Beds</a:t>
                      </a:r>
                    </a:p>
                  </a:txBody>
                  <a:tcPr>
                    <a:lnL w="0">
                      <a:noFill/>
                    </a:lnL>
                    <a:lnR w="0">
                      <a:noFill/>
                    </a:lnR>
                    <a:lnT w="0">
                      <a:noFill/>
                    </a:lnT>
                    <a:lnB w="0">
                      <a:noFill/>
                    </a:lnB>
                    <a:solidFill>
                      <a:schemeClr val="tx2"/>
                    </a:solidFill>
                  </a:tcPr>
                </a:tc>
                <a:tc>
                  <a:txBody>
                    <a:bodyPr/>
                    <a:lstStyle/>
                    <a:p>
                      <a:pPr algn="ctr"/>
                      <a:r>
                        <a:rPr lang="en-US" sz="1200" b="1" dirty="0">
                          <a:solidFill>
                            <a:srgbClr val="FFFFFF"/>
                          </a:solidFill>
                          <a:latin typeface="Trebuchet MS"/>
                          <a:cs typeface="Trebuchet MS"/>
                        </a:rPr>
                        <a:t>Revenue</a:t>
                      </a:r>
                    </a:p>
                    <a:p>
                      <a:pPr algn="ctr"/>
                      <a:r>
                        <a:rPr lang="en-US" sz="1200" b="1" dirty="0">
                          <a:solidFill>
                            <a:srgbClr val="FFFFFF"/>
                          </a:solidFill>
                          <a:latin typeface="Trebuchet MS"/>
                          <a:cs typeface="Trebuchet MS"/>
                        </a:rPr>
                        <a:t>(₹ Cr)</a:t>
                      </a:r>
                    </a:p>
                  </a:txBody>
                  <a:tcPr>
                    <a:lnL w="0">
                      <a:noFill/>
                    </a:lnL>
                    <a:lnR w="0">
                      <a:noFill/>
                    </a:lnR>
                    <a:lnT w="0">
                      <a:noFill/>
                    </a:lnT>
                    <a:lnB w="0">
                      <a:noFill/>
                    </a:lnB>
                    <a:solidFill>
                      <a:schemeClr val="tx2"/>
                    </a:solidFill>
                  </a:tcPr>
                </a:tc>
                <a:tc>
                  <a:txBody>
                    <a:bodyPr/>
                    <a:lstStyle/>
                    <a:p>
                      <a:pPr algn="ctr"/>
                      <a:r>
                        <a:rPr lang="en-US" sz="1200" b="1" dirty="0">
                          <a:solidFill>
                            <a:srgbClr val="FFFFFF"/>
                          </a:solidFill>
                          <a:latin typeface="Trebuchet MS"/>
                          <a:cs typeface="Trebuchet MS"/>
                        </a:rPr>
                        <a:t>EBITDA</a:t>
                      </a:r>
                    </a:p>
                    <a:p>
                      <a:pPr algn="ctr"/>
                      <a:r>
                        <a:rPr lang="en-US" sz="1200" b="1" dirty="0">
                          <a:solidFill>
                            <a:srgbClr val="FFFFFF"/>
                          </a:solidFill>
                          <a:latin typeface="Trebuchet MS"/>
                          <a:cs typeface="Trebuchet MS"/>
                        </a:rPr>
                        <a:t>Margin</a:t>
                      </a:r>
                    </a:p>
                  </a:txBody>
                  <a:tcPr>
                    <a:lnL w="0">
                      <a:noFill/>
                    </a:lnL>
                    <a:lnR w="0">
                      <a:noFill/>
                    </a:lnR>
                    <a:lnT w="0">
                      <a:noFill/>
                    </a:lnT>
                    <a:lnB w="0">
                      <a:noFill/>
                    </a:lnB>
                    <a:solidFill>
                      <a:schemeClr val="tx2"/>
                    </a:solidFill>
                  </a:tcPr>
                </a:tc>
                <a:tc>
                  <a:txBody>
                    <a:bodyPr/>
                    <a:lstStyle/>
                    <a:p>
                      <a:pPr algn="ctr"/>
                      <a:r>
                        <a:rPr lang="en-US" sz="1200" b="1" dirty="0">
                          <a:solidFill>
                            <a:srgbClr val="FFFFFF"/>
                          </a:solidFill>
                          <a:latin typeface="Trebuchet MS"/>
                          <a:cs typeface="Trebuchet MS"/>
                        </a:rPr>
                        <a:t>EV</a:t>
                      </a:r>
                    </a:p>
                    <a:p>
                      <a:pPr algn="ctr"/>
                      <a:r>
                        <a:rPr lang="en-US" sz="1200" b="1" dirty="0">
                          <a:solidFill>
                            <a:srgbClr val="FFFFFF"/>
                          </a:solidFill>
                          <a:latin typeface="Trebuchet MS"/>
                          <a:cs typeface="Trebuchet MS"/>
                        </a:rPr>
                        <a:t>(₹ Cr)</a:t>
                      </a:r>
                    </a:p>
                  </a:txBody>
                  <a:tcPr>
                    <a:lnL w="0">
                      <a:noFill/>
                    </a:lnL>
                    <a:lnR w="0">
                      <a:noFill/>
                    </a:lnR>
                    <a:lnT w="0">
                      <a:noFill/>
                    </a:lnT>
                    <a:lnB w="0">
                      <a:noFill/>
                    </a:lnB>
                    <a:solidFill>
                      <a:schemeClr val="tx2"/>
                    </a:solidFill>
                  </a:tcPr>
                </a:tc>
                <a:tc>
                  <a:txBody>
                    <a:bodyPr/>
                    <a:lstStyle/>
                    <a:p>
                      <a:pPr algn="ctr"/>
                      <a:r>
                        <a:rPr lang="en-US" sz="1200" b="1" dirty="0">
                          <a:solidFill>
                            <a:srgbClr val="FFFFFF"/>
                          </a:solidFill>
                          <a:latin typeface="Trebuchet MS"/>
                          <a:cs typeface="Trebuchet MS"/>
                        </a:rPr>
                        <a:t>EV /</a:t>
                      </a:r>
                    </a:p>
                    <a:p>
                      <a:pPr algn="ctr"/>
                      <a:r>
                        <a:rPr lang="en-US" sz="1200" b="1" dirty="0">
                          <a:solidFill>
                            <a:srgbClr val="FFFFFF"/>
                          </a:solidFill>
                          <a:latin typeface="Trebuchet MS"/>
                          <a:cs typeface="Trebuchet MS"/>
                        </a:rPr>
                        <a:t>EBITDA</a:t>
                      </a:r>
                    </a:p>
                  </a:txBody>
                  <a:tcPr>
                    <a:lnL w="0">
                      <a:noFill/>
                    </a:lnL>
                    <a:lnR w="0">
                      <a:noFill/>
                    </a:lnR>
                    <a:lnT w="0">
                      <a:noFill/>
                    </a:lnT>
                    <a:lnB w="0">
                      <a:noFill/>
                    </a:lnB>
                    <a:solidFill>
                      <a:schemeClr val="tx2"/>
                    </a:solidFill>
                  </a:tcPr>
                </a:tc>
                <a:tc>
                  <a:txBody>
                    <a:bodyPr/>
                    <a:lstStyle/>
                    <a:p>
                      <a:pPr algn="ctr"/>
                      <a:r>
                        <a:rPr lang="en-US" sz="1200" b="1" dirty="0">
                          <a:solidFill>
                            <a:srgbClr val="FFFFFF"/>
                          </a:solidFill>
                          <a:latin typeface="Trebuchet MS"/>
                          <a:cs typeface="Trebuchet MS"/>
                        </a:rPr>
                        <a:t>Synergy</a:t>
                      </a:r>
                    </a:p>
                    <a:p>
                      <a:pPr algn="ctr"/>
                      <a:r>
                        <a:rPr lang="en-US" sz="1200" b="1" dirty="0">
                          <a:solidFill>
                            <a:srgbClr val="FFFFFF"/>
                          </a:solidFill>
                          <a:latin typeface="Trebuchet MS"/>
                          <a:cs typeface="Trebuchet MS"/>
                        </a:rPr>
                        <a:t>NPV</a:t>
                      </a:r>
                    </a:p>
                    <a:p>
                      <a:pPr algn="ctr"/>
                      <a:r>
                        <a:rPr lang="en-US" sz="1200" b="1" dirty="0">
                          <a:solidFill>
                            <a:srgbClr val="FFFFFF"/>
                          </a:solidFill>
                          <a:latin typeface="Trebuchet MS"/>
                          <a:cs typeface="Trebuchet MS"/>
                        </a:rPr>
                        <a:t>(₹ Cr)</a:t>
                      </a:r>
                    </a:p>
                  </a:txBody>
                  <a:tcPr>
                    <a:lnL w="0">
                      <a:noFill/>
                    </a:lnL>
                    <a:lnR w="0">
                      <a:noFill/>
                    </a:lnR>
                    <a:lnT w="0">
                      <a:noFill/>
                    </a:lnT>
                    <a:lnB w="0">
                      <a:noFill/>
                    </a:lnB>
                    <a:solidFill>
                      <a:schemeClr val="tx2"/>
                    </a:solidFill>
                  </a:tcPr>
                </a:tc>
                <a:tc>
                  <a:txBody>
                    <a:bodyPr/>
                    <a:lstStyle/>
                    <a:p>
                      <a:pPr algn="ctr"/>
                      <a:r>
                        <a:rPr lang="en-US" sz="1200" b="1" dirty="0">
                          <a:solidFill>
                            <a:srgbClr val="FFFFFF"/>
                          </a:solidFill>
                          <a:latin typeface="Trebuchet MS"/>
                          <a:cs typeface="Trebuchet MS"/>
                        </a:rPr>
                        <a:t>Strategic Fit</a:t>
                      </a:r>
                    </a:p>
                  </a:txBody>
                  <a:tcPr>
                    <a:lnL w="0">
                      <a:noFill/>
                    </a:lnL>
                    <a:lnR w="0">
                      <a:noFill/>
                    </a:lnR>
                    <a:lnT w="0">
                      <a:noFill/>
                    </a:lnT>
                    <a:lnB w="0">
                      <a:noFill/>
                    </a:lnB>
                    <a:solidFill>
                      <a:schemeClr val="tx2"/>
                    </a:solidFill>
                  </a:tcPr>
                </a:tc>
                <a:extLst>
                  <a:ext uri="{0D108BD9-81ED-4DB2-BD59-A6C34878D82A}">
                    <a16:rowId xmlns:a16="http://schemas.microsoft.com/office/drawing/2014/main" val="10000"/>
                  </a:ext>
                </a:extLst>
              </a:tr>
              <a:tr h="365760">
                <a:tc>
                  <a:txBody>
                    <a:bodyPr/>
                    <a:lstStyle/>
                    <a:p>
                      <a:pPr algn="l"/>
                      <a:r>
                        <a:rPr lang="en-US" sz="1100" dirty="0">
                          <a:solidFill>
                            <a:srgbClr val="575757"/>
                          </a:solidFill>
                          <a:latin typeface="Trebuchet MS"/>
                          <a:cs typeface="Trebuchet MS"/>
                        </a:rPr>
                        <a:t>KIMS Hospitals</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Geography</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South India</a:t>
                      </a:r>
                    </a:p>
                    <a:p>
                      <a:pPr algn="l"/>
                      <a:r>
                        <a:rPr lang="en-US" sz="1100" dirty="0">
                          <a:solidFill>
                            <a:srgbClr val="575757"/>
                          </a:solidFill>
                          <a:latin typeface="Trebuchet MS"/>
                          <a:cs typeface="Trebuchet MS"/>
                        </a:rPr>
                        <a:t>(AP/TS/MH)</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4,500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2,800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23%</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26,500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30x</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1,800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65760">
                <a:tc>
                  <a:txBody>
                    <a:bodyPr/>
                    <a:lstStyle/>
                    <a:p>
                      <a:pPr algn="l"/>
                      <a:r>
                        <a:rPr lang="en-US" sz="1100" dirty="0">
                          <a:solidFill>
                            <a:srgbClr val="575757"/>
                          </a:solidFill>
                          <a:latin typeface="Trebuchet MS"/>
                          <a:cs typeface="Trebuchet MS"/>
                        </a:rPr>
                        <a:t>HCG</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Specialty</a:t>
                      </a:r>
                    </a:p>
                    <a:p>
                      <a:pPr algn="l"/>
                      <a:r>
                        <a:rPr lang="en-US" sz="1100" dirty="0">
                          <a:solidFill>
                            <a:srgbClr val="575757"/>
                          </a:solidFill>
                          <a:latin typeface="Trebuchet MS"/>
                          <a:cs typeface="Trebuchet MS"/>
                        </a:rPr>
                        <a:t>(Oncology)</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Pan-India</a:t>
                      </a:r>
                    </a:p>
                    <a:p>
                      <a:pPr algn="l"/>
                      <a:r>
                        <a:rPr lang="en-US" sz="1100" dirty="0">
                          <a:solidFill>
                            <a:srgbClr val="575757"/>
                          </a:solidFill>
                          <a:latin typeface="Trebuchet MS"/>
                          <a:cs typeface="Trebuchet MS"/>
                        </a:rPr>
                        <a:t>(22 centers)</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1,700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2,100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18%</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8,500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22x</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1,200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365760">
                <a:tc>
                  <a:txBody>
                    <a:bodyPr/>
                    <a:lstStyle/>
                    <a:p>
                      <a:pPr algn="l"/>
                      <a:r>
                        <a:rPr lang="en-US" sz="1100" dirty="0">
                          <a:solidFill>
                            <a:srgbClr val="575757"/>
                          </a:solidFill>
                          <a:latin typeface="Trebuchet MS"/>
                          <a:cs typeface="Trebuchet MS"/>
                        </a:rPr>
                        <a:t>Rainbow Children's</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Specialty</a:t>
                      </a:r>
                    </a:p>
                    <a:p>
                      <a:pPr algn="l"/>
                      <a:r>
                        <a:rPr lang="en-US" sz="1100" dirty="0">
                          <a:solidFill>
                            <a:srgbClr val="575757"/>
                          </a:solidFill>
                          <a:latin typeface="Trebuchet MS"/>
                          <a:cs typeface="Trebuchet MS"/>
                        </a:rPr>
                        <a:t>(Pediatrics)</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South &amp; West</a:t>
                      </a:r>
                    </a:p>
                    <a:p>
                      <a:pPr algn="l"/>
                      <a:r>
                        <a:rPr lang="en-US" sz="1100" dirty="0">
                          <a:solidFill>
                            <a:srgbClr val="575757"/>
                          </a:solidFill>
                          <a:latin typeface="Trebuchet MS"/>
                          <a:cs typeface="Trebuchet MS"/>
                        </a:rPr>
                        <a:t>(16 hosp.)</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1,600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1,420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32%</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14,500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32x</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850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65760">
                <a:tc>
                  <a:txBody>
                    <a:bodyPr/>
                    <a:lstStyle/>
                    <a:p>
                      <a:pPr algn="l"/>
                      <a:r>
                        <a:rPr lang="en-US" sz="1100" dirty="0">
                          <a:solidFill>
                            <a:srgbClr val="575757"/>
                          </a:solidFill>
                          <a:latin typeface="Trebuchet MS"/>
                          <a:cs typeface="Trebuchet MS"/>
                        </a:rPr>
                        <a:t>Jupiter Hospital</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Geography</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Maharashtra,</a:t>
                      </a:r>
                    </a:p>
                    <a:p>
                      <a:pPr algn="l"/>
                      <a:r>
                        <a:rPr lang="en-US" sz="1100" dirty="0">
                          <a:solidFill>
                            <a:srgbClr val="575757"/>
                          </a:solidFill>
                          <a:latin typeface="Trebuchet MS"/>
                          <a:cs typeface="Trebuchet MS"/>
                        </a:rPr>
                        <a:t>Gujarat</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1,450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1,180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26%</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10,500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34x</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450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r h="365760">
                <a:tc>
                  <a:txBody>
                    <a:bodyPr/>
                    <a:lstStyle/>
                    <a:p>
                      <a:pPr algn="l"/>
                      <a:r>
                        <a:rPr lang="en-US" sz="1100" dirty="0">
                          <a:solidFill>
                            <a:srgbClr val="575757"/>
                          </a:solidFill>
                          <a:latin typeface="Trebuchet MS"/>
                          <a:cs typeface="Trebuchet MS"/>
                        </a:rPr>
                        <a:t>Shalby Hospitals</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Specialty</a:t>
                      </a:r>
                    </a:p>
                    <a:p>
                      <a:pPr algn="l"/>
                      <a:r>
                        <a:rPr lang="en-US" sz="1100" dirty="0">
                          <a:solidFill>
                            <a:srgbClr val="575757"/>
                          </a:solidFill>
                          <a:latin typeface="Trebuchet MS"/>
                          <a:cs typeface="Trebuchet MS"/>
                        </a:rPr>
                        <a:t>(Ortho)</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Western India</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2,100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880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2,800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16x</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200</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a:t>
                      </a:r>
                    </a:p>
                  </a:txBody>
                  <a:tcP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252" name="RR252"/>
          <p:cNvSpPr/>
          <p:nvPr/>
        </p:nvSpPr>
        <p:spPr>
          <a:xfrm>
            <a:off x="630936" y="5440680"/>
            <a:ext cx="10936224" cy="502920"/>
          </a:xfrm>
          <a:prstGeom prst="roundRect">
            <a:avLst>
              <a:gd name="adj" fmla="val 5000"/>
            </a:avLst>
          </a:prstGeom>
          <a:solidFill>
            <a:srgbClr val="F2F2F2"/>
          </a:solidFill>
          <a:ln w="12700">
            <a:solidFill>
              <a:schemeClr val="tx2"/>
            </a:solidFill>
          </a:ln>
        </p:spPr>
        <p:txBody>
          <a:bodyPr/>
          <a:lstStyle/>
          <a:p>
            <a:endParaRPr lang="en-US"/>
          </a:p>
        </p:txBody>
      </p:sp>
      <p:sp>
        <p:nvSpPr>
          <p:cNvPr id="253" name="TB253"/>
          <p:cNvSpPr txBox="1"/>
          <p:nvPr/>
        </p:nvSpPr>
        <p:spPr>
          <a:xfrm>
            <a:off x="813815" y="5440680"/>
            <a:ext cx="10570464" cy="502920"/>
          </a:xfrm>
          <a:prstGeom prst="rect">
            <a:avLst/>
          </a:prstGeom>
          <a:noFill/>
        </p:spPr>
        <p:txBody>
          <a:bodyPr wrap="square" rtlCol="0" anchor="ctr"/>
          <a:lstStyle/>
          <a:p>
            <a:r>
              <a:rPr lang="en-US" sz="1200" b="1" dirty="0">
                <a:solidFill>
                  <a:srgbClr val="575757"/>
                </a:solidFill>
                <a:latin typeface="Trebuchet MS"/>
              </a:rPr>
              <a:t>Combined deal size: ₹62,800 Cr EV / ₹4,500 Cr in synergies. </a:t>
            </a:r>
            <a:r>
              <a:rPr lang="en-US" sz="1200" dirty="0">
                <a:solidFill>
                  <a:srgbClr val="575757"/>
                </a:solidFill>
                <a:latin typeface="Trebuchet MS"/>
              </a:rPr>
              <a:t>Recommend KIMS + HCG as Phase 1 (high conviction, executable in 12 months); Rainbow + Jupiter as Phase 2; Shalby opportunistic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34ACC6A-067F-CF32-913F-EE819EF26367}"/>
              </a:ext>
            </a:extLst>
          </p:cNvPr>
          <p:cNvGraphicFramePr>
            <a:graphicFrameLocks noChangeAspect="1"/>
          </p:cNvGraphicFramePr>
          <p:nvPr>
            <p:custDataLst>
              <p:tags r:id="rId1"/>
            </p:custDataLst>
            <p:extLst>
              <p:ext uri="{D42A27DB-BD31-4B8C-83A1-F6EECF244321}">
                <p14:modId xmlns:p14="http://schemas.microsoft.com/office/powerpoint/2010/main" val="10083540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54" name="ph_title"/>
          <p:cNvSpPr>
            <a:spLocks noGrp="1"/>
          </p:cNvSpPr>
          <p:nvPr>
            <p:ph type="title"/>
          </p:nvPr>
        </p:nvSpPr>
        <p:spPr/>
        <p:txBody>
          <a:bodyPr vert="horz"/>
          <a:lstStyle/>
          <a:p>
            <a:r>
              <a:rPr lang="en-US" dirty="0"/>
              <a:t>KIMS Hospitals: South India market entry via #1 platform in AP/Telangana</a:t>
            </a:r>
          </a:p>
        </p:txBody>
      </p:sp>
      <p:sp>
        <p:nvSpPr>
          <p:cNvPr id="255" name="R255"/>
          <p:cNvSpPr/>
          <p:nvPr/>
        </p:nvSpPr>
        <p:spPr>
          <a:xfrm>
            <a:off x="630936" y="2075688"/>
            <a:ext cx="5468112" cy="365760"/>
          </a:xfrm>
          <a:prstGeom prst="rect">
            <a:avLst/>
          </a:prstGeom>
          <a:solidFill>
            <a:schemeClr val="tx2"/>
          </a:solidFill>
          <a:ln>
            <a:noFill/>
          </a:ln>
        </p:spPr>
        <p:txBody>
          <a:bodyPr/>
          <a:lstStyle/>
          <a:p>
            <a:endParaRPr lang="en-US"/>
          </a:p>
        </p:txBody>
      </p:sp>
      <p:sp>
        <p:nvSpPr>
          <p:cNvPr id="256" name="TB256"/>
          <p:cNvSpPr txBox="1"/>
          <p:nvPr/>
        </p:nvSpPr>
        <p:spPr>
          <a:xfrm>
            <a:off x="768096" y="2075688"/>
            <a:ext cx="5193792" cy="365760"/>
          </a:xfrm>
          <a:prstGeom prst="rect">
            <a:avLst/>
          </a:prstGeom>
          <a:noFill/>
        </p:spPr>
        <p:txBody>
          <a:bodyPr wrap="square" rtlCol="0" anchor="ctr"/>
          <a:lstStyle/>
          <a:p>
            <a:r>
              <a:rPr lang="en-US" sz="1400" b="1" dirty="0">
                <a:solidFill>
                  <a:srgbClr val="FFFFFF"/>
                </a:solidFill>
                <a:latin typeface="Trebuchet MS"/>
              </a:rPr>
              <a:t>KIMS Hospitals — Company Snapshot</a:t>
            </a:r>
          </a:p>
        </p:txBody>
      </p:sp>
      <p:sp>
        <p:nvSpPr>
          <p:cNvPr id="257" name="RR257"/>
          <p:cNvSpPr/>
          <p:nvPr/>
        </p:nvSpPr>
        <p:spPr>
          <a:xfrm>
            <a:off x="630936" y="253288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58" name="TB258"/>
          <p:cNvSpPr txBox="1"/>
          <p:nvPr/>
        </p:nvSpPr>
        <p:spPr>
          <a:xfrm>
            <a:off x="722375" y="2560320"/>
            <a:ext cx="2505456" cy="164592"/>
          </a:xfrm>
          <a:prstGeom prst="rect">
            <a:avLst/>
          </a:prstGeom>
          <a:noFill/>
        </p:spPr>
        <p:txBody>
          <a:bodyPr wrap="square" rtlCol="0" anchor="t"/>
          <a:lstStyle/>
          <a:p>
            <a:r>
              <a:rPr lang="en-US" sz="1000" b="1" dirty="0">
                <a:solidFill>
                  <a:srgbClr val="6E6F73"/>
                </a:solidFill>
                <a:latin typeface="Trebuchet MS"/>
              </a:rPr>
              <a:t>HQ</a:t>
            </a:r>
          </a:p>
        </p:txBody>
      </p:sp>
      <p:sp>
        <p:nvSpPr>
          <p:cNvPr id="259" name="TB259"/>
          <p:cNvSpPr txBox="1"/>
          <p:nvPr/>
        </p:nvSpPr>
        <p:spPr>
          <a:xfrm>
            <a:off x="722375" y="2734056"/>
            <a:ext cx="2505456" cy="237744"/>
          </a:xfrm>
          <a:prstGeom prst="rect">
            <a:avLst/>
          </a:prstGeom>
          <a:noFill/>
        </p:spPr>
        <p:txBody>
          <a:bodyPr wrap="square" rtlCol="0" anchor="t"/>
          <a:lstStyle/>
          <a:p>
            <a:r>
              <a:rPr lang="en-US" sz="1200" b="1" dirty="0">
                <a:solidFill>
                  <a:schemeClr val="tx2"/>
                </a:solidFill>
                <a:latin typeface="Trebuchet MS"/>
              </a:rPr>
              <a:t>Hyderabad</a:t>
            </a:r>
          </a:p>
        </p:txBody>
      </p:sp>
      <p:sp>
        <p:nvSpPr>
          <p:cNvPr id="260" name="RR260"/>
          <p:cNvSpPr/>
          <p:nvPr/>
        </p:nvSpPr>
        <p:spPr>
          <a:xfrm>
            <a:off x="3364992" y="253288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61" name="TB261"/>
          <p:cNvSpPr txBox="1"/>
          <p:nvPr/>
        </p:nvSpPr>
        <p:spPr>
          <a:xfrm>
            <a:off x="3456432" y="2560320"/>
            <a:ext cx="2505456" cy="164592"/>
          </a:xfrm>
          <a:prstGeom prst="rect">
            <a:avLst/>
          </a:prstGeom>
          <a:noFill/>
        </p:spPr>
        <p:txBody>
          <a:bodyPr wrap="square" rtlCol="0" anchor="t"/>
          <a:lstStyle/>
          <a:p>
            <a:r>
              <a:rPr lang="en-US" sz="1000" b="1" dirty="0">
                <a:solidFill>
                  <a:srgbClr val="6E6F73"/>
                </a:solidFill>
                <a:latin typeface="Trebuchet MS"/>
              </a:rPr>
              <a:t>Hospitals</a:t>
            </a:r>
          </a:p>
        </p:txBody>
      </p:sp>
      <p:sp>
        <p:nvSpPr>
          <p:cNvPr id="262" name="TB262"/>
          <p:cNvSpPr txBox="1"/>
          <p:nvPr/>
        </p:nvSpPr>
        <p:spPr>
          <a:xfrm>
            <a:off x="3456432" y="2734056"/>
            <a:ext cx="2505456" cy="237744"/>
          </a:xfrm>
          <a:prstGeom prst="rect">
            <a:avLst/>
          </a:prstGeom>
          <a:noFill/>
        </p:spPr>
        <p:txBody>
          <a:bodyPr wrap="square" rtlCol="0" anchor="t"/>
          <a:lstStyle/>
          <a:p>
            <a:r>
              <a:rPr lang="en-US" sz="1200" b="1" dirty="0">
                <a:solidFill>
                  <a:schemeClr val="tx2"/>
                </a:solidFill>
                <a:latin typeface="Trebuchet MS"/>
              </a:rPr>
              <a:t>21 facilities</a:t>
            </a:r>
          </a:p>
        </p:txBody>
      </p:sp>
      <p:sp>
        <p:nvSpPr>
          <p:cNvPr id="263" name="RR263"/>
          <p:cNvSpPr/>
          <p:nvPr/>
        </p:nvSpPr>
        <p:spPr>
          <a:xfrm>
            <a:off x="630936" y="303580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64" name="TB264"/>
          <p:cNvSpPr txBox="1"/>
          <p:nvPr/>
        </p:nvSpPr>
        <p:spPr>
          <a:xfrm>
            <a:off x="722375" y="3063240"/>
            <a:ext cx="2505456" cy="164592"/>
          </a:xfrm>
          <a:prstGeom prst="rect">
            <a:avLst/>
          </a:prstGeom>
          <a:noFill/>
        </p:spPr>
        <p:txBody>
          <a:bodyPr wrap="square" rtlCol="0" anchor="t"/>
          <a:lstStyle/>
          <a:p>
            <a:r>
              <a:rPr lang="en-US" sz="1000" b="1" dirty="0">
                <a:solidFill>
                  <a:srgbClr val="6E6F73"/>
                </a:solidFill>
                <a:latin typeface="Trebuchet MS"/>
              </a:rPr>
              <a:t>Beds</a:t>
            </a:r>
          </a:p>
        </p:txBody>
      </p:sp>
      <p:sp>
        <p:nvSpPr>
          <p:cNvPr id="265" name="TB265"/>
          <p:cNvSpPr txBox="1"/>
          <p:nvPr/>
        </p:nvSpPr>
        <p:spPr>
          <a:xfrm>
            <a:off x="722375" y="3236976"/>
            <a:ext cx="2505456" cy="237744"/>
          </a:xfrm>
          <a:prstGeom prst="rect">
            <a:avLst/>
          </a:prstGeom>
          <a:noFill/>
        </p:spPr>
        <p:txBody>
          <a:bodyPr wrap="square" rtlCol="0" anchor="t"/>
          <a:lstStyle/>
          <a:p>
            <a:r>
              <a:rPr lang="en-US" sz="1200" b="1" dirty="0">
                <a:solidFill>
                  <a:schemeClr val="tx2"/>
                </a:solidFill>
                <a:latin typeface="Trebuchet MS"/>
              </a:rPr>
              <a:t>4,500 operating</a:t>
            </a:r>
          </a:p>
        </p:txBody>
      </p:sp>
      <p:sp>
        <p:nvSpPr>
          <p:cNvPr id="266" name="RR266"/>
          <p:cNvSpPr/>
          <p:nvPr/>
        </p:nvSpPr>
        <p:spPr>
          <a:xfrm>
            <a:off x="3364992" y="303580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67" name="TB267"/>
          <p:cNvSpPr txBox="1"/>
          <p:nvPr/>
        </p:nvSpPr>
        <p:spPr>
          <a:xfrm>
            <a:off x="3456432" y="3063240"/>
            <a:ext cx="2505456" cy="164592"/>
          </a:xfrm>
          <a:prstGeom prst="rect">
            <a:avLst/>
          </a:prstGeom>
          <a:noFill/>
        </p:spPr>
        <p:txBody>
          <a:bodyPr wrap="square" rtlCol="0" anchor="t"/>
          <a:lstStyle/>
          <a:p>
            <a:r>
              <a:rPr lang="en-US" sz="1000" b="1" dirty="0">
                <a:solidFill>
                  <a:srgbClr val="6E6F73"/>
                </a:solidFill>
                <a:latin typeface="Trebuchet MS"/>
              </a:rPr>
              <a:t>Revenue (FY25)</a:t>
            </a:r>
          </a:p>
        </p:txBody>
      </p:sp>
      <p:sp>
        <p:nvSpPr>
          <p:cNvPr id="268" name="TB268"/>
          <p:cNvSpPr txBox="1"/>
          <p:nvPr/>
        </p:nvSpPr>
        <p:spPr>
          <a:xfrm>
            <a:off x="3456432" y="3236976"/>
            <a:ext cx="2505456" cy="237744"/>
          </a:xfrm>
          <a:prstGeom prst="rect">
            <a:avLst/>
          </a:prstGeom>
          <a:noFill/>
        </p:spPr>
        <p:txBody>
          <a:bodyPr wrap="square" rtlCol="0" anchor="t"/>
          <a:lstStyle/>
          <a:p>
            <a:r>
              <a:rPr lang="en-US" sz="1200" b="1" dirty="0">
                <a:solidFill>
                  <a:schemeClr val="tx2"/>
                </a:solidFill>
                <a:latin typeface="Trebuchet MS"/>
              </a:rPr>
              <a:t>₹2,800 Cr</a:t>
            </a:r>
          </a:p>
        </p:txBody>
      </p:sp>
      <p:sp>
        <p:nvSpPr>
          <p:cNvPr id="269" name="RR269"/>
          <p:cNvSpPr/>
          <p:nvPr/>
        </p:nvSpPr>
        <p:spPr>
          <a:xfrm>
            <a:off x="630936" y="353872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70" name="TB270"/>
          <p:cNvSpPr txBox="1"/>
          <p:nvPr/>
        </p:nvSpPr>
        <p:spPr>
          <a:xfrm>
            <a:off x="722375" y="3566160"/>
            <a:ext cx="2505456" cy="164592"/>
          </a:xfrm>
          <a:prstGeom prst="rect">
            <a:avLst/>
          </a:prstGeom>
          <a:noFill/>
        </p:spPr>
        <p:txBody>
          <a:bodyPr wrap="square" rtlCol="0" anchor="t"/>
          <a:lstStyle/>
          <a:p>
            <a:r>
              <a:rPr lang="en-US" sz="1000" b="1" dirty="0">
                <a:solidFill>
                  <a:srgbClr val="6E6F73"/>
                </a:solidFill>
                <a:latin typeface="Trebuchet MS"/>
              </a:rPr>
              <a:t>EBITDA Margin</a:t>
            </a:r>
          </a:p>
        </p:txBody>
      </p:sp>
      <p:sp>
        <p:nvSpPr>
          <p:cNvPr id="271" name="TB271"/>
          <p:cNvSpPr txBox="1"/>
          <p:nvPr/>
        </p:nvSpPr>
        <p:spPr>
          <a:xfrm>
            <a:off x="722375" y="3739896"/>
            <a:ext cx="2505456" cy="237744"/>
          </a:xfrm>
          <a:prstGeom prst="rect">
            <a:avLst/>
          </a:prstGeom>
          <a:noFill/>
        </p:spPr>
        <p:txBody>
          <a:bodyPr wrap="square" rtlCol="0" anchor="t"/>
          <a:lstStyle/>
          <a:p>
            <a:r>
              <a:rPr lang="en-US" sz="1200" b="1" dirty="0">
                <a:solidFill>
                  <a:schemeClr val="tx2"/>
                </a:solidFill>
                <a:latin typeface="Trebuchet MS"/>
              </a:rPr>
              <a:t>23.4%</a:t>
            </a:r>
          </a:p>
        </p:txBody>
      </p:sp>
      <p:sp>
        <p:nvSpPr>
          <p:cNvPr id="272" name="RR272"/>
          <p:cNvSpPr/>
          <p:nvPr/>
        </p:nvSpPr>
        <p:spPr>
          <a:xfrm>
            <a:off x="3364992" y="353872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73" name="TB273"/>
          <p:cNvSpPr txBox="1"/>
          <p:nvPr/>
        </p:nvSpPr>
        <p:spPr>
          <a:xfrm>
            <a:off x="3456432" y="3566160"/>
            <a:ext cx="2505456" cy="164592"/>
          </a:xfrm>
          <a:prstGeom prst="rect">
            <a:avLst/>
          </a:prstGeom>
          <a:noFill/>
        </p:spPr>
        <p:txBody>
          <a:bodyPr wrap="square" rtlCol="0" anchor="t"/>
          <a:lstStyle/>
          <a:p>
            <a:r>
              <a:rPr lang="en-US" sz="1000" b="1" dirty="0">
                <a:solidFill>
                  <a:srgbClr val="6E6F73"/>
                </a:solidFill>
                <a:latin typeface="Trebuchet MS"/>
              </a:rPr>
              <a:t>Promoter</a:t>
            </a:r>
          </a:p>
        </p:txBody>
      </p:sp>
      <p:sp>
        <p:nvSpPr>
          <p:cNvPr id="274" name="TB274"/>
          <p:cNvSpPr txBox="1"/>
          <p:nvPr/>
        </p:nvSpPr>
        <p:spPr>
          <a:xfrm>
            <a:off x="3456432" y="3739896"/>
            <a:ext cx="2505456" cy="237744"/>
          </a:xfrm>
          <a:prstGeom prst="rect">
            <a:avLst/>
          </a:prstGeom>
          <a:noFill/>
        </p:spPr>
        <p:txBody>
          <a:bodyPr wrap="square" rtlCol="0" anchor="t"/>
          <a:lstStyle/>
          <a:p>
            <a:r>
              <a:rPr lang="en-US" sz="1200" b="1" dirty="0">
                <a:solidFill>
                  <a:schemeClr val="tx2"/>
                </a:solidFill>
                <a:latin typeface="Trebuchet MS"/>
              </a:rPr>
              <a:t>Dr. B. Rao (38%)</a:t>
            </a:r>
          </a:p>
        </p:txBody>
      </p:sp>
      <p:sp>
        <p:nvSpPr>
          <p:cNvPr id="275" name="RR275"/>
          <p:cNvSpPr/>
          <p:nvPr/>
        </p:nvSpPr>
        <p:spPr>
          <a:xfrm>
            <a:off x="630936" y="404164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76" name="TB276"/>
          <p:cNvSpPr txBox="1"/>
          <p:nvPr/>
        </p:nvSpPr>
        <p:spPr>
          <a:xfrm>
            <a:off x="722375" y="4069080"/>
            <a:ext cx="2505456" cy="164592"/>
          </a:xfrm>
          <a:prstGeom prst="rect">
            <a:avLst/>
          </a:prstGeom>
          <a:noFill/>
        </p:spPr>
        <p:txBody>
          <a:bodyPr wrap="square" rtlCol="0" anchor="t"/>
          <a:lstStyle/>
          <a:p>
            <a:r>
              <a:rPr lang="en-US" sz="1000" b="1" dirty="0">
                <a:solidFill>
                  <a:srgbClr val="6E6F73"/>
                </a:solidFill>
                <a:latin typeface="Trebuchet MS"/>
              </a:rPr>
              <a:t>Listed</a:t>
            </a:r>
          </a:p>
        </p:txBody>
      </p:sp>
      <p:sp>
        <p:nvSpPr>
          <p:cNvPr id="277" name="TB277"/>
          <p:cNvSpPr txBox="1"/>
          <p:nvPr/>
        </p:nvSpPr>
        <p:spPr>
          <a:xfrm>
            <a:off x="722375" y="4242816"/>
            <a:ext cx="2505456" cy="237744"/>
          </a:xfrm>
          <a:prstGeom prst="rect">
            <a:avLst/>
          </a:prstGeom>
          <a:noFill/>
        </p:spPr>
        <p:txBody>
          <a:bodyPr wrap="square" rtlCol="0" anchor="t"/>
          <a:lstStyle/>
          <a:p>
            <a:r>
              <a:rPr lang="en-US" sz="1200" b="1" dirty="0">
                <a:solidFill>
                  <a:schemeClr val="tx2"/>
                </a:solidFill>
                <a:latin typeface="Trebuchet MS"/>
              </a:rPr>
              <a:t>NSE/BSE</a:t>
            </a:r>
          </a:p>
        </p:txBody>
      </p:sp>
      <p:sp>
        <p:nvSpPr>
          <p:cNvPr id="278" name="RR278"/>
          <p:cNvSpPr/>
          <p:nvPr/>
        </p:nvSpPr>
        <p:spPr>
          <a:xfrm>
            <a:off x="3364992" y="4041648"/>
            <a:ext cx="2688336" cy="457200"/>
          </a:xfrm>
          <a:prstGeom prst="roundRect">
            <a:avLst>
              <a:gd name="adj" fmla="val 3000"/>
            </a:avLst>
          </a:prstGeom>
          <a:solidFill>
            <a:srgbClr val="F2F2F2"/>
          </a:solidFill>
          <a:ln w="9525">
            <a:solidFill>
              <a:schemeClr val="tx2"/>
            </a:solidFill>
          </a:ln>
        </p:spPr>
        <p:txBody>
          <a:bodyPr/>
          <a:lstStyle/>
          <a:p>
            <a:endParaRPr lang="en-US"/>
          </a:p>
        </p:txBody>
      </p:sp>
      <p:sp>
        <p:nvSpPr>
          <p:cNvPr id="279" name="TB279"/>
          <p:cNvSpPr txBox="1"/>
          <p:nvPr/>
        </p:nvSpPr>
        <p:spPr>
          <a:xfrm>
            <a:off x="3456432" y="4069080"/>
            <a:ext cx="2505456" cy="164592"/>
          </a:xfrm>
          <a:prstGeom prst="rect">
            <a:avLst/>
          </a:prstGeom>
          <a:noFill/>
        </p:spPr>
        <p:txBody>
          <a:bodyPr wrap="square" rtlCol="0" anchor="t"/>
          <a:lstStyle/>
          <a:p>
            <a:r>
              <a:rPr lang="en-US" sz="1000" b="1" dirty="0">
                <a:solidFill>
                  <a:srgbClr val="6E6F73"/>
                </a:solidFill>
                <a:latin typeface="Trebuchet MS"/>
              </a:rPr>
              <a:t>Mkt Cap</a:t>
            </a:r>
          </a:p>
        </p:txBody>
      </p:sp>
      <p:sp>
        <p:nvSpPr>
          <p:cNvPr id="280" name="TB280"/>
          <p:cNvSpPr txBox="1"/>
          <p:nvPr/>
        </p:nvSpPr>
        <p:spPr>
          <a:xfrm>
            <a:off x="3456432" y="4242816"/>
            <a:ext cx="2505456" cy="237744"/>
          </a:xfrm>
          <a:prstGeom prst="rect">
            <a:avLst/>
          </a:prstGeom>
          <a:noFill/>
        </p:spPr>
        <p:txBody>
          <a:bodyPr wrap="square" rtlCol="0" anchor="t"/>
          <a:lstStyle/>
          <a:p>
            <a:r>
              <a:rPr lang="en-US" sz="1200" b="1" dirty="0">
                <a:solidFill>
                  <a:schemeClr val="tx2"/>
                </a:solidFill>
                <a:latin typeface="Trebuchet MS"/>
              </a:rPr>
              <a:t>₹25,000 Cr</a:t>
            </a:r>
          </a:p>
        </p:txBody>
      </p:sp>
      <p:sp>
        <p:nvSpPr>
          <p:cNvPr id="281" name="R281"/>
          <p:cNvSpPr/>
          <p:nvPr/>
        </p:nvSpPr>
        <p:spPr>
          <a:xfrm>
            <a:off x="6281928" y="2075688"/>
            <a:ext cx="5285232" cy="365760"/>
          </a:xfrm>
          <a:prstGeom prst="rect">
            <a:avLst/>
          </a:prstGeom>
          <a:solidFill>
            <a:schemeClr val="tx2"/>
          </a:solidFill>
          <a:ln>
            <a:noFill/>
          </a:ln>
        </p:spPr>
        <p:txBody>
          <a:bodyPr/>
          <a:lstStyle/>
          <a:p>
            <a:endParaRPr lang="en-US"/>
          </a:p>
        </p:txBody>
      </p:sp>
      <p:sp>
        <p:nvSpPr>
          <p:cNvPr id="282" name="TB282"/>
          <p:cNvSpPr txBox="1"/>
          <p:nvPr/>
        </p:nvSpPr>
        <p:spPr>
          <a:xfrm>
            <a:off x="6419088" y="2075688"/>
            <a:ext cx="5010912" cy="365760"/>
          </a:xfrm>
          <a:prstGeom prst="rect">
            <a:avLst/>
          </a:prstGeom>
          <a:noFill/>
        </p:spPr>
        <p:txBody>
          <a:bodyPr wrap="square" rtlCol="0" anchor="ctr"/>
          <a:lstStyle/>
          <a:p>
            <a:r>
              <a:rPr lang="en-US" sz="1400" b="1" dirty="0">
                <a:solidFill>
                  <a:srgbClr val="FFFFFF"/>
                </a:solidFill>
                <a:latin typeface="Trebuchet MS"/>
              </a:rPr>
              <a:t>Strategic Rationale</a:t>
            </a:r>
          </a:p>
        </p:txBody>
      </p:sp>
      <p:sp>
        <p:nvSpPr>
          <p:cNvPr id="283" name="BL283"/>
          <p:cNvSpPr txBox="1"/>
          <p:nvPr/>
        </p:nvSpPr>
        <p:spPr>
          <a:xfrm>
            <a:off x="6373368" y="2532888"/>
            <a:ext cx="5102352" cy="2011680"/>
          </a:xfrm>
          <a:prstGeom prst="rect">
            <a:avLst/>
          </a:prstGeom>
          <a:noFill/>
        </p:spPr>
        <p:txBody>
          <a:bodyPr wrap="square" rtlCol="0" anchor="t"/>
          <a:lstStyle/>
          <a:p>
            <a:pPr marL="228600" indent="-228600" algn="l">
              <a:spcAft>
                <a:spcPts val="400"/>
              </a:spcAft>
              <a:buChar char="-"/>
            </a:pPr>
            <a:r>
              <a:rPr lang="en-US" sz="1100" b="1" dirty="0">
                <a:solidFill>
                  <a:srgbClr val="575757"/>
                </a:solidFill>
                <a:latin typeface="Trebuchet MS"/>
              </a:rPr>
              <a:t>South India entry — </a:t>
            </a:r>
            <a:r>
              <a:rPr lang="en-US" sz="1100" dirty="0">
                <a:solidFill>
                  <a:srgbClr val="575757"/>
                </a:solidFill>
                <a:latin typeface="Trebuchet MS"/>
              </a:rPr>
              <a:t>zero overlap with Max footprint</a:t>
            </a:r>
          </a:p>
          <a:p>
            <a:pPr marL="228600" indent="-228600" algn="l">
              <a:spcAft>
                <a:spcPts val="400"/>
              </a:spcAft>
              <a:buChar char="-"/>
            </a:pPr>
            <a:r>
              <a:rPr lang="en-US" sz="1100" b="1" dirty="0">
                <a:solidFill>
                  <a:srgbClr val="575757"/>
                </a:solidFill>
                <a:latin typeface="Trebuchet MS"/>
              </a:rPr>
              <a:t>Tertiary excellence — </a:t>
            </a:r>
            <a:r>
              <a:rPr lang="en-US" sz="1100" dirty="0">
                <a:solidFill>
                  <a:srgbClr val="575757"/>
                </a:solidFill>
                <a:latin typeface="Trebuchet MS"/>
              </a:rPr>
              <a:t>KIMS Heart, Cancer = centers of excellence</a:t>
            </a:r>
          </a:p>
          <a:p>
            <a:pPr marL="228600" indent="-228600" algn="l">
              <a:spcAft>
                <a:spcPts val="400"/>
              </a:spcAft>
              <a:buChar char="-"/>
            </a:pPr>
            <a:r>
              <a:rPr lang="en-US" sz="1100" b="1" dirty="0">
                <a:solidFill>
                  <a:srgbClr val="575757"/>
                </a:solidFill>
                <a:latin typeface="Trebuchet MS"/>
              </a:rPr>
              <a:t>Operating leverage — </a:t>
            </a:r>
            <a:r>
              <a:rPr lang="en-US" sz="1100" dirty="0">
                <a:solidFill>
                  <a:srgbClr val="575757"/>
                </a:solidFill>
                <a:latin typeface="Trebuchet MS"/>
              </a:rPr>
              <a:t>23% margin, occupancy 68% → 78% upside</a:t>
            </a:r>
          </a:p>
          <a:p>
            <a:pPr marL="228600" indent="-228600" algn="l">
              <a:spcAft>
                <a:spcPts val="400"/>
              </a:spcAft>
              <a:buChar char="-"/>
            </a:pPr>
            <a:r>
              <a:rPr lang="en-US" sz="1100" b="1" dirty="0">
                <a:solidFill>
                  <a:srgbClr val="575757"/>
                </a:solidFill>
                <a:latin typeface="Trebuchet MS"/>
              </a:rPr>
              <a:t>Brand neutrality — </a:t>
            </a:r>
            <a:r>
              <a:rPr lang="en-US" sz="1100" dirty="0">
                <a:solidFill>
                  <a:srgbClr val="575757"/>
                </a:solidFill>
                <a:latin typeface="Trebuchet MS"/>
              </a:rPr>
              <a:t>preserve KIMS regional brand</a:t>
            </a:r>
          </a:p>
          <a:p>
            <a:pPr marL="228600" indent="-228600" algn="l">
              <a:spcAft>
                <a:spcPts val="400"/>
              </a:spcAft>
              <a:buChar char="-"/>
            </a:pPr>
            <a:r>
              <a:rPr lang="en-US" sz="1100" b="1" dirty="0">
                <a:solidFill>
                  <a:srgbClr val="575757"/>
                </a:solidFill>
                <a:latin typeface="Trebuchet MS"/>
              </a:rPr>
              <a:t>Promoter alignment — </a:t>
            </a:r>
            <a:r>
              <a:rPr lang="en-US" sz="1100" dirty="0">
                <a:solidFill>
                  <a:srgbClr val="575757"/>
                </a:solidFill>
                <a:latin typeface="Trebuchet MS"/>
              </a:rPr>
              <a:t>Dr. Rao open to strategic partnership</a:t>
            </a:r>
          </a:p>
        </p:txBody>
      </p:sp>
      <p:sp>
        <p:nvSpPr>
          <p:cNvPr id="284" name="RR284"/>
          <p:cNvSpPr/>
          <p:nvPr/>
        </p:nvSpPr>
        <p:spPr>
          <a:xfrm>
            <a:off x="6281928" y="4681728"/>
            <a:ext cx="5285232" cy="121615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85" name="R285"/>
          <p:cNvSpPr/>
          <p:nvPr/>
        </p:nvSpPr>
        <p:spPr>
          <a:xfrm>
            <a:off x="6281928" y="4681728"/>
            <a:ext cx="73152" cy="1216152"/>
          </a:xfrm>
          <a:prstGeom prst="rect">
            <a:avLst/>
          </a:prstGeom>
          <a:solidFill>
            <a:schemeClr val="tx1"/>
          </a:solidFill>
          <a:ln>
            <a:noFill/>
          </a:ln>
        </p:spPr>
        <p:txBody>
          <a:bodyPr/>
          <a:lstStyle/>
          <a:p>
            <a:endParaRPr lang="en-US"/>
          </a:p>
        </p:txBody>
      </p:sp>
      <p:sp>
        <p:nvSpPr>
          <p:cNvPr id="286" name="TB286"/>
          <p:cNvSpPr txBox="1"/>
          <p:nvPr/>
        </p:nvSpPr>
        <p:spPr>
          <a:xfrm>
            <a:off x="6419088" y="4727448"/>
            <a:ext cx="5010912" cy="256032"/>
          </a:xfrm>
          <a:prstGeom prst="rect">
            <a:avLst/>
          </a:prstGeom>
          <a:noFill/>
        </p:spPr>
        <p:txBody>
          <a:bodyPr wrap="square" rtlCol="0" anchor="t"/>
          <a:lstStyle/>
          <a:p>
            <a:r>
              <a:rPr lang="en-US" sz="1300" b="1" dirty="0">
                <a:solidFill>
                  <a:schemeClr val="tx2"/>
                </a:solidFill>
                <a:latin typeface="Trebuchet MS"/>
              </a:rPr>
              <a:t>Indicative Deal Contours</a:t>
            </a:r>
          </a:p>
        </p:txBody>
      </p:sp>
      <p:sp>
        <p:nvSpPr>
          <p:cNvPr id="287" name="TB287"/>
          <p:cNvSpPr txBox="1"/>
          <p:nvPr/>
        </p:nvSpPr>
        <p:spPr>
          <a:xfrm>
            <a:off x="6464808" y="5010912"/>
            <a:ext cx="1371600" cy="170078"/>
          </a:xfrm>
          <a:prstGeom prst="rect">
            <a:avLst/>
          </a:prstGeom>
          <a:noFill/>
        </p:spPr>
        <p:txBody>
          <a:bodyPr wrap="square" rtlCol="0" anchor="ctr"/>
          <a:lstStyle/>
          <a:p>
            <a:r>
              <a:rPr lang="en-US" sz="1000" dirty="0">
                <a:solidFill>
                  <a:srgbClr val="6E6F73"/>
                </a:solidFill>
                <a:latin typeface="Trebuchet MS"/>
              </a:rPr>
              <a:t>EV</a:t>
            </a:r>
          </a:p>
        </p:txBody>
      </p:sp>
      <p:sp>
        <p:nvSpPr>
          <p:cNvPr id="288" name="TB288"/>
          <p:cNvSpPr txBox="1"/>
          <p:nvPr/>
        </p:nvSpPr>
        <p:spPr>
          <a:xfrm>
            <a:off x="7882128" y="5010912"/>
            <a:ext cx="3502152" cy="170078"/>
          </a:xfrm>
          <a:prstGeom prst="rect">
            <a:avLst/>
          </a:prstGeom>
          <a:noFill/>
        </p:spPr>
        <p:txBody>
          <a:bodyPr wrap="square" rtlCol="0" anchor="ctr"/>
          <a:lstStyle/>
          <a:p>
            <a:r>
              <a:rPr lang="en-US" sz="1100" b="1" dirty="0">
                <a:solidFill>
                  <a:srgbClr val="575757"/>
                </a:solidFill>
                <a:latin typeface="Trebuchet MS"/>
              </a:rPr>
              <a:t>₹26,500 Cr</a:t>
            </a:r>
          </a:p>
        </p:txBody>
      </p:sp>
      <p:sp>
        <p:nvSpPr>
          <p:cNvPr id="289" name="TB289"/>
          <p:cNvSpPr txBox="1"/>
          <p:nvPr/>
        </p:nvSpPr>
        <p:spPr>
          <a:xfrm>
            <a:off x="6464808" y="5180990"/>
            <a:ext cx="1371600" cy="170078"/>
          </a:xfrm>
          <a:prstGeom prst="rect">
            <a:avLst/>
          </a:prstGeom>
          <a:noFill/>
        </p:spPr>
        <p:txBody>
          <a:bodyPr wrap="square" rtlCol="0" anchor="ctr"/>
          <a:lstStyle/>
          <a:p>
            <a:r>
              <a:rPr lang="en-US" sz="1000" dirty="0">
                <a:solidFill>
                  <a:srgbClr val="6E6F73"/>
                </a:solidFill>
                <a:latin typeface="Trebuchet MS"/>
              </a:rPr>
              <a:t>EV/EBITDA</a:t>
            </a:r>
          </a:p>
        </p:txBody>
      </p:sp>
      <p:sp>
        <p:nvSpPr>
          <p:cNvPr id="290" name="TB290"/>
          <p:cNvSpPr txBox="1"/>
          <p:nvPr/>
        </p:nvSpPr>
        <p:spPr>
          <a:xfrm>
            <a:off x="7882128" y="5180990"/>
            <a:ext cx="3502152" cy="170078"/>
          </a:xfrm>
          <a:prstGeom prst="rect">
            <a:avLst/>
          </a:prstGeom>
          <a:noFill/>
        </p:spPr>
        <p:txBody>
          <a:bodyPr wrap="square" rtlCol="0" anchor="ctr"/>
          <a:lstStyle/>
          <a:p>
            <a:r>
              <a:rPr lang="en-US" sz="1100" b="1" dirty="0">
                <a:solidFill>
                  <a:srgbClr val="575757"/>
                </a:solidFill>
                <a:latin typeface="Trebuchet MS"/>
              </a:rPr>
              <a:t>30x FY25 / 24x FY27E</a:t>
            </a:r>
          </a:p>
        </p:txBody>
      </p:sp>
      <p:sp>
        <p:nvSpPr>
          <p:cNvPr id="291" name="TB291"/>
          <p:cNvSpPr txBox="1"/>
          <p:nvPr/>
        </p:nvSpPr>
        <p:spPr>
          <a:xfrm>
            <a:off x="6464808" y="5351068"/>
            <a:ext cx="1371600" cy="170078"/>
          </a:xfrm>
          <a:prstGeom prst="rect">
            <a:avLst/>
          </a:prstGeom>
          <a:noFill/>
        </p:spPr>
        <p:txBody>
          <a:bodyPr wrap="square" rtlCol="0" anchor="ctr"/>
          <a:lstStyle/>
          <a:p>
            <a:r>
              <a:rPr lang="en-US" sz="1000" dirty="0">
                <a:solidFill>
                  <a:srgbClr val="6E6F73"/>
                </a:solidFill>
                <a:latin typeface="Trebuchet MS"/>
              </a:rPr>
              <a:t>Structure</a:t>
            </a:r>
          </a:p>
        </p:txBody>
      </p:sp>
      <p:sp>
        <p:nvSpPr>
          <p:cNvPr id="292" name="TB292"/>
          <p:cNvSpPr txBox="1"/>
          <p:nvPr/>
        </p:nvSpPr>
        <p:spPr>
          <a:xfrm>
            <a:off x="7882128" y="5351068"/>
            <a:ext cx="3502152" cy="170078"/>
          </a:xfrm>
          <a:prstGeom prst="rect">
            <a:avLst/>
          </a:prstGeom>
          <a:noFill/>
        </p:spPr>
        <p:txBody>
          <a:bodyPr wrap="square" rtlCol="0" anchor="ctr"/>
          <a:lstStyle/>
          <a:p>
            <a:r>
              <a:rPr lang="en-US" sz="1100" b="1" dirty="0">
                <a:solidFill>
                  <a:srgbClr val="575757"/>
                </a:solidFill>
                <a:latin typeface="Trebuchet MS"/>
              </a:rPr>
              <a:t>55% cash + 45% stock</a:t>
            </a:r>
          </a:p>
        </p:txBody>
      </p:sp>
      <p:sp>
        <p:nvSpPr>
          <p:cNvPr id="293" name="TB293"/>
          <p:cNvSpPr txBox="1"/>
          <p:nvPr/>
        </p:nvSpPr>
        <p:spPr>
          <a:xfrm>
            <a:off x="6464808" y="5521147"/>
            <a:ext cx="1371600" cy="170078"/>
          </a:xfrm>
          <a:prstGeom prst="rect">
            <a:avLst/>
          </a:prstGeom>
          <a:noFill/>
        </p:spPr>
        <p:txBody>
          <a:bodyPr wrap="square" rtlCol="0" anchor="ctr"/>
          <a:lstStyle/>
          <a:p>
            <a:r>
              <a:rPr lang="en-US" sz="1000" dirty="0">
                <a:solidFill>
                  <a:srgbClr val="6E6F73"/>
                </a:solidFill>
                <a:latin typeface="Trebuchet MS"/>
              </a:rPr>
              <a:t>Synergy NPV</a:t>
            </a:r>
          </a:p>
        </p:txBody>
      </p:sp>
      <p:sp>
        <p:nvSpPr>
          <p:cNvPr id="294" name="TB294"/>
          <p:cNvSpPr txBox="1"/>
          <p:nvPr/>
        </p:nvSpPr>
        <p:spPr>
          <a:xfrm>
            <a:off x="7882128" y="5521147"/>
            <a:ext cx="3502152" cy="170078"/>
          </a:xfrm>
          <a:prstGeom prst="rect">
            <a:avLst/>
          </a:prstGeom>
          <a:noFill/>
        </p:spPr>
        <p:txBody>
          <a:bodyPr wrap="square" rtlCol="0" anchor="ctr"/>
          <a:lstStyle/>
          <a:p>
            <a:r>
              <a:rPr lang="en-US" sz="1100" b="1" dirty="0">
                <a:solidFill>
                  <a:srgbClr val="575757"/>
                </a:solidFill>
                <a:latin typeface="Trebuchet MS"/>
              </a:rPr>
              <a:t>₹1,800 Cr (5-yr)</a:t>
            </a:r>
          </a:p>
        </p:txBody>
      </p:sp>
      <p:sp>
        <p:nvSpPr>
          <p:cNvPr id="295" name="TB295"/>
          <p:cNvSpPr txBox="1"/>
          <p:nvPr/>
        </p:nvSpPr>
        <p:spPr>
          <a:xfrm>
            <a:off x="6464808" y="5691225"/>
            <a:ext cx="1371600" cy="170078"/>
          </a:xfrm>
          <a:prstGeom prst="rect">
            <a:avLst/>
          </a:prstGeom>
          <a:noFill/>
        </p:spPr>
        <p:txBody>
          <a:bodyPr wrap="square" rtlCol="0" anchor="ctr"/>
          <a:lstStyle/>
          <a:p>
            <a:r>
              <a:rPr lang="en-US" sz="1000" dirty="0">
                <a:solidFill>
                  <a:srgbClr val="6E6F73"/>
                </a:solidFill>
                <a:latin typeface="Trebuchet MS"/>
              </a:rPr>
              <a:t>Accretion</a:t>
            </a:r>
          </a:p>
        </p:txBody>
      </p:sp>
      <p:sp>
        <p:nvSpPr>
          <p:cNvPr id="296" name="TB296"/>
          <p:cNvSpPr txBox="1"/>
          <p:nvPr/>
        </p:nvSpPr>
        <p:spPr>
          <a:xfrm>
            <a:off x="7882128" y="5691225"/>
            <a:ext cx="3502152" cy="170078"/>
          </a:xfrm>
          <a:prstGeom prst="rect">
            <a:avLst/>
          </a:prstGeom>
          <a:noFill/>
        </p:spPr>
        <p:txBody>
          <a:bodyPr wrap="square" rtlCol="0" anchor="ctr"/>
          <a:lstStyle/>
          <a:p>
            <a:r>
              <a:rPr lang="en-US" sz="1100" b="1" dirty="0">
                <a:solidFill>
                  <a:srgbClr val="575757"/>
                </a:solidFill>
                <a:latin typeface="Trebuchet MS"/>
              </a:rPr>
              <a:t>EPS-accretive Year 2</a:t>
            </a:r>
          </a:p>
        </p:txBody>
      </p:sp>
      <p:graphicFrame>
        <p:nvGraphicFramePr>
          <p:cNvPr id="297" name="Chart 296"/>
          <p:cNvGraphicFramePr>
            <a:graphicFrameLocks noGrp="1"/>
          </p:cNvGraphicFramePr>
          <p:nvPr>
            <p:extLst>
              <p:ext uri="{D42A27DB-BD31-4B8C-83A1-F6EECF244321}">
                <p14:modId xmlns:p14="http://schemas.microsoft.com/office/powerpoint/2010/main" val="170625399"/>
              </p:ext>
            </p:extLst>
          </p:nvPr>
        </p:nvGraphicFramePr>
        <p:xfrm>
          <a:off x="630936" y="4636008"/>
          <a:ext cx="5468112" cy="1261872"/>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3D69252-131A-45EA-C95A-4A471C11FCF1}"/>
              </a:ext>
            </a:extLst>
          </p:cNvPr>
          <p:cNvGraphicFramePr>
            <a:graphicFrameLocks noChangeAspect="1"/>
          </p:cNvGraphicFramePr>
          <p:nvPr>
            <p:custDataLst>
              <p:tags r:id="rId1"/>
            </p:custDataLst>
            <p:extLst>
              <p:ext uri="{D42A27DB-BD31-4B8C-83A1-F6EECF244321}">
                <p14:modId xmlns:p14="http://schemas.microsoft.com/office/powerpoint/2010/main" val="40157859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97" name="ph_title"/>
          <p:cNvSpPr>
            <a:spLocks noGrp="1"/>
          </p:cNvSpPr>
          <p:nvPr>
            <p:ph type="title"/>
          </p:nvPr>
        </p:nvSpPr>
        <p:spPr/>
        <p:txBody>
          <a:bodyPr vert="horz"/>
          <a:lstStyle/>
          <a:p>
            <a:r>
              <a:rPr lang="en-US" dirty="0"/>
              <a:t>HCG (Healthcare Global): Pan-India oncology platform — primary LBO target</a:t>
            </a:r>
          </a:p>
        </p:txBody>
      </p:sp>
      <p:sp>
        <p:nvSpPr>
          <p:cNvPr id="298" name="R298"/>
          <p:cNvSpPr/>
          <p:nvPr/>
        </p:nvSpPr>
        <p:spPr>
          <a:xfrm>
            <a:off x="630936" y="2075688"/>
            <a:ext cx="10936224" cy="365760"/>
          </a:xfrm>
          <a:prstGeom prst="rect">
            <a:avLst/>
          </a:prstGeom>
          <a:solidFill>
            <a:schemeClr val="tx2"/>
          </a:solidFill>
          <a:ln>
            <a:noFill/>
          </a:ln>
        </p:spPr>
        <p:txBody>
          <a:bodyPr/>
          <a:lstStyle/>
          <a:p>
            <a:endParaRPr lang="en-US"/>
          </a:p>
        </p:txBody>
      </p:sp>
      <p:sp>
        <p:nvSpPr>
          <p:cNvPr id="299" name="TB299"/>
          <p:cNvSpPr txBox="1"/>
          <p:nvPr/>
        </p:nvSpPr>
        <p:spPr>
          <a:xfrm>
            <a:off x="768096" y="2075688"/>
            <a:ext cx="10661904" cy="365760"/>
          </a:xfrm>
          <a:prstGeom prst="rect">
            <a:avLst/>
          </a:prstGeom>
          <a:noFill/>
        </p:spPr>
        <p:txBody>
          <a:bodyPr wrap="square" rtlCol="0" anchor="ctr"/>
          <a:lstStyle/>
          <a:p>
            <a:r>
              <a:rPr lang="en-US" sz="1300" b="1" dirty="0">
                <a:solidFill>
                  <a:srgbClr val="FFFFFF"/>
                </a:solidFill>
                <a:latin typeface="Trebuchet MS"/>
              </a:rPr>
              <a:t>HCG (Healthcare Global Enterprises) — Listed Pan-India Oncology Specialist (KKR-controlled, 76%)</a:t>
            </a:r>
          </a:p>
        </p:txBody>
      </p:sp>
      <p:sp>
        <p:nvSpPr>
          <p:cNvPr id="300" name="RR300"/>
          <p:cNvSpPr/>
          <p:nvPr/>
        </p:nvSpPr>
        <p:spPr>
          <a:xfrm>
            <a:off x="630936" y="2578608"/>
            <a:ext cx="2099462"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01" name="R301"/>
          <p:cNvSpPr/>
          <p:nvPr/>
        </p:nvSpPr>
        <p:spPr>
          <a:xfrm>
            <a:off x="630936" y="2578608"/>
            <a:ext cx="2099462" cy="54864"/>
          </a:xfrm>
          <a:prstGeom prst="rect">
            <a:avLst/>
          </a:prstGeom>
          <a:solidFill>
            <a:schemeClr val="tx2"/>
          </a:solidFill>
          <a:ln>
            <a:noFill/>
          </a:ln>
        </p:spPr>
        <p:txBody>
          <a:bodyPr/>
          <a:lstStyle/>
          <a:p>
            <a:endParaRPr lang="en-US"/>
          </a:p>
        </p:txBody>
      </p:sp>
      <p:sp>
        <p:nvSpPr>
          <p:cNvPr id="302" name="TB302"/>
          <p:cNvSpPr txBox="1"/>
          <p:nvPr/>
        </p:nvSpPr>
        <p:spPr>
          <a:xfrm>
            <a:off x="704087" y="2651760"/>
            <a:ext cx="1953158" cy="292608"/>
          </a:xfrm>
          <a:prstGeom prst="rect">
            <a:avLst/>
          </a:prstGeom>
          <a:noFill/>
        </p:spPr>
        <p:txBody>
          <a:bodyPr wrap="square" rtlCol="0" anchor="t"/>
          <a:lstStyle/>
          <a:p>
            <a:pPr algn="ctr"/>
            <a:r>
              <a:rPr lang="en-US" sz="1800" b="1" dirty="0">
                <a:solidFill>
                  <a:schemeClr val="tx2"/>
                </a:solidFill>
                <a:latin typeface="Trebuchet MS"/>
              </a:rPr>
              <a:t>₹2,100 Cr</a:t>
            </a:r>
          </a:p>
        </p:txBody>
      </p:sp>
      <p:sp>
        <p:nvSpPr>
          <p:cNvPr id="303" name="TB303"/>
          <p:cNvSpPr txBox="1"/>
          <p:nvPr/>
        </p:nvSpPr>
        <p:spPr>
          <a:xfrm>
            <a:off x="704087" y="2962656"/>
            <a:ext cx="1953158" cy="201168"/>
          </a:xfrm>
          <a:prstGeom prst="rect">
            <a:avLst/>
          </a:prstGeom>
          <a:noFill/>
        </p:spPr>
        <p:txBody>
          <a:bodyPr wrap="square" rtlCol="0" anchor="t"/>
          <a:lstStyle/>
          <a:p>
            <a:pPr algn="ctr"/>
            <a:r>
              <a:rPr lang="en-US" sz="1100" dirty="0">
                <a:solidFill>
                  <a:srgbClr val="575757"/>
                </a:solidFill>
                <a:latin typeface="Trebuchet MS"/>
              </a:rPr>
              <a:t>FY25 Revenue</a:t>
            </a:r>
          </a:p>
        </p:txBody>
      </p:sp>
      <p:sp>
        <p:nvSpPr>
          <p:cNvPr id="304" name="TB304"/>
          <p:cNvSpPr txBox="1"/>
          <p:nvPr/>
        </p:nvSpPr>
        <p:spPr>
          <a:xfrm>
            <a:off x="704087" y="3182112"/>
            <a:ext cx="1953158" cy="201168"/>
          </a:xfrm>
          <a:prstGeom prst="rect">
            <a:avLst/>
          </a:prstGeom>
          <a:noFill/>
        </p:spPr>
        <p:txBody>
          <a:bodyPr wrap="square" rtlCol="0" anchor="t"/>
          <a:lstStyle/>
          <a:p>
            <a:pPr algn="ctr"/>
            <a:r>
              <a:rPr lang="en-US" sz="1000" dirty="0">
                <a:solidFill>
                  <a:srgbClr val="6E6F73"/>
                </a:solidFill>
                <a:latin typeface="Trebuchet MS"/>
              </a:rPr>
              <a:t>+18% YoY</a:t>
            </a:r>
          </a:p>
        </p:txBody>
      </p:sp>
      <p:sp>
        <p:nvSpPr>
          <p:cNvPr id="305" name="RR305"/>
          <p:cNvSpPr/>
          <p:nvPr/>
        </p:nvSpPr>
        <p:spPr>
          <a:xfrm>
            <a:off x="2840126" y="2578608"/>
            <a:ext cx="2099462"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06" name="R306"/>
          <p:cNvSpPr/>
          <p:nvPr/>
        </p:nvSpPr>
        <p:spPr>
          <a:xfrm>
            <a:off x="2840126" y="2578608"/>
            <a:ext cx="2099462" cy="54864"/>
          </a:xfrm>
          <a:prstGeom prst="rect">
            <a:avLst/>
          </a:prstGeom>
          <a:solidFill>
            <a:schemeClr val="tx2"/>
          </a:solidFill>
          <a:ln>
            <a:noFill/>
          </a:ln>
        </p:spPr>
        <p:txBody>
          <a:bodyPr/>
          <a:lstStyle/>
          <a:p>
            <a:endParaRPr lang="en-US"/>
          </a:p>
        </p:txBody>
      </p:sp>
      <p:sp>
        <p:nvSpPr>
          <p:cNvPr id="307" name="TB307"/>
          <p:cNvSpPr txBox="1"/>
          <p:nvPr/>
        </p:nvSpPr>
        <p:spPr>
          <a:xfrm>
            <a:off x="2913278" y="2651760"/>
            <a:ext cx="1953158" cy="292608"/>
          </a:xfrm>
          <a:prstGeom prst="rect">
            <a:avLst/>
          </a:prstGeom>
          <a:noFill/>
        </p:spPr>
        <p:txBody>
          <a:bodyPr wrap="square" rtlCol="0" anchor="t"/>
          <a:lstStyle/>
          <a:p>
            <a:pPr algn="ctr"/>
            <a:r>
              <a:rPr lang="en-US" sz="1800" b="1" dirty="0">
                <a:solidFill>
                  <a:schemeClr val="tx2"/>
                </a:solidFill>
                <a:latin typeface="Trebuchet MS"/>
              </a:rPr>
              <a:t>18%</a:t>
            </a:r>
          </a:p>
        </p:txBody>
      </p:sp>
      <p:sp>
        <p:nvSpPr>
          <p:cNvPr id="308" name="TB308"/>
          <p:cNvSpPr txBox="1"/>
          <p:nvPr/>
        </p:nvSpPr>
        <p:spPr>
          <a:xfrm>
            <a:off x="2913278" y="2962656"/>
            <a:ext cx="1953158" cy="201168"/>
          </a:xfrm>
          <a:prstGeom prst="rect">
            <a:avLst/>
          </a:prstGeom>
          <a:noFill/>
        </p:spPr>
        <p:txBody>
          <a:bodyPr wrap="square" rtlCol="0" anchor="t"/>
          <a:lstStyle/>
          <a:p>
            <a:pPr algn="ctr"/>
            <a:r>
              <a:rPr lang="en-US" sz="1100" dirty="0">
                <a:solidFill>
                  <a:srgbClr val="575757"/>
                </a:solidFill>
                <a:latin typeface="Trebuchet MS"/>
              </a:rPr>
              <a:t>EBITDA Margin</a:t>
            </a:r>
          </a:p>
        </p:txBody>
      </p:sp>
      <p:sp>
        <p:nvSpPr>
          <p:cNvPr id="309" name="TB309"/>
          <p:cNvSpPr txBox="1"/>
          <p:nvPr/>
        </p:nvSpPr>
        <p:spPr>
          <a:xfrm>
            <a:off x="2913278" y="3182112"/>
            <a:ext cx="1953158" cy="201168"/>
          </a:xfrm>
          <a:prstGeom prst="rect">
            <a:avLst/>
          </a:prstGeom>
          <a:noFill/>
        </p:spPr>
        <p:txBody>
          <a:bodyPr wrap="square" rtlCol="0" anchor="t"/>
          <a:lstStyle/>
          <a:p>
            <a:pPr algn="ctr"/>
            <a:r>
              <a:rPr lang="en-US" sz="1000" dirty="0">
                <a:solidFill>
                  <a:srgbClr val="6E6F73"/>
                </a:solidFill>
                <a:latin typeface="Trebuchet MS"/>
              </a:rPr>
              <a:t>+150bps</a:t>
            </a:r>
          </a:p>
        </p:txBody>
      </p:sp>
      <p:sp>
        <p:nvSpPr>
          <p:cNvPr id="310" name="RR310"/>
          <p:cNvSpPr/>
          <p:nvPr/>
        </p:nvSpPr>
        <p:spPr>
          <a:xfrm>
            <a:off x="5049316" y="2578608"/>
            <a:ext cx="2099462"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11" name="R311"/>
          <p:cNvSpPr/>
          <p:nvPr/>
        </p:nvSpPr>
        <p:spPr>
          <a:xfrm>
            <a:off x="5049316" y="2578608"/>
            <a:ext cx="2099462" cy="54864"/>
          </a:xfrm>
          <a:prstGeom prst="rect">
            <a:avLst/>
          </a:prstGeom>
          <a:solidFill>
            <a:schemeClr val="tx2"/>
          </a:solidFill>
          <a:ln>
            <a:noFill/>
          </a:ln>
        </p:spPr>
        <p:txBody>
          <a:bodyPr/>
          <a:lstStyle/>
          <a:p>
            <a:endParaRPr lang="en-US"/>
          </a:p>
        </p:txBody>
      </p:sp>
      <p:sp>
        <p:nvSpPr>
          <p:cNvPr id="312" name="TB312"/>
          <p:cNvSpPr txBox="1"/>
          <p:nvPr/>
        </p:nvSpPr>
        <p:spPr>
          <a:xfrm>
            <a:off x="5122468" y="2651760"/>
            <a:ext cx="1953158" cy="292608"/>
          </a:xfrm>
          <a:prstGeom prst="rect">
            <a:avLst/>
          </a:prstGeom>
          <a:noFill/>
        </p:spPr>
        <p:txBody>
          <a:bodyPr wrap="square" rtlCol="0" anchor="t"/>
          <a:lstStyle/>
          <a:p>
            <a:pPr algn="ctr"/>
            <a:r>
              <a:rPr lang="en-US" sz="1800" b="1" dirty="0">
                <a:solidFill>
                  <a:schemeClr val="tx2"/>
                </a:solidFill>
                <a:latin typeface="Trebuchet MS"/>
              </a:rPr>
              <a:t>22</a:t>
            </a:r>
          </a:p>
        </p:txBody>
      </p:sp>
      <p:sp>
        <p:nvSpPr>
          <p:cNvPr id="313" name="TB313"/>
          <p:cNvSpPr txBox="1"/>
          <p:nvPr/>
        </p:nvSpPr>
        <p:spPr>
          <a:xfrm>
            <a:off x="5122468" y="2962656"/>
            <a:ext cx="1953158" cy="201168"/>
          </a:xfrm>
          <a:prstGeom prst="rect">
            <a:avLst/>
          </a:prstGeom>
          <a:noFill/>
        </p:spPr>
        <p:txBody>
          <a:bodyPr wrap="square" rtlCol="0" anchor="t"/>
          <a:lstStyle/>
          <a:p>
            <a:pPr algn="ctr"/>
            <a:r>
              <a:rPr lang="en-US" sz="1100" dirty="0">
                <a:solidFill>
                  <a:srgbClr val="575757"/>
                </a:solidFill>
                <a:latin typeface="Trebuchet MS"/>
              </a:rPr>
              <a:t>Cancer Centers</a:t>
            </a:r>
          </a:p>
        </p:txBody>
      </p:sp>
      <p:sp>
        <p:nvSpPr>
          <p:cNvPr id="314" name="TB314"/>
          <p:cNvSpPr txBox="1"/>
          <p:nvPr/>
        </p:nvSpPr>
        <p:spPr>
          <a:xfrm>
            <a:off x="5122468" y="3182112"/>
            <a:ext cx="1953158" cy="201168"/>
          </a:xfrm>
          <a:prstGeom prst="rect">
            <a:avLst/>
          </a:prstGeom>
          <a:noFill/>
        </p:spPr>
        <p:txBody>
          <a:bodyPr wrap="square" rtlCol="0" anchor="t"/>
          <a:lstStyle/>
          <a:p>
            <a:pPr algn="ctr"/>
            <a:r>
              <a:rPr lang="en-US" sz="1000" dirty="0">
                <a:solidFill>
                  <a:srgbClr val="6E6F73"/>
                </a:solidFill>
                <a:latin typeface="Trebuchet MS"/>
              </a:rPr>
              <a:t>Pan-India</a:t>
            </a:r>
          </a:p>
        </p:txBody>
      </p:sp>
      <p:sp>
        <p:nvSpPr>
          <p:cNvPr id="315" name="RR315"/>
          <p:cNvSpPr/>
          <p:nvPr/>
        </p:nvSpPr>
        <p:spPr>
          <a:xfrm>
            <a:off x="7258507" y="2578608"/>
            <a:ext cx="2099462"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16" name="R316"/>
          <p:cNvSpPr/>
          <p:nvPr/>
        </p:nvSpPr>
        <p:spPr>
          <a:xfrm>
            <a:off x="7258507" y="2578608"/>
            <a:ext cx="2099462" cy="54864"/>
          </a:xfrm>
          <a:prstGeom prst="rect">
            <a:avLst/>
          </a:prstGeom>
          <a:solidFill>
            <a:schemeClr val="tx2"/>
          </a:solidFill>
          <a:ln>
            <a:noFill/>
          </a:ln>
        </p:spPr>
        <p:txBody>
          <a:bodyPr/>
          <a:lstStyle/>
          <a:p>
            <a:endParaRPr lang="en-US"/>
          </a:p>
        </p:txBody>
      </p:sp>
      <p:sp>
        <p:nvSpPr>
          <p:cNvPr id="317" name="TB317"/>
          <p:cNvSpPr txBox="1"/>
          <p:nvPr/>
        </p:nvSpPr>
        <p:spPr>
          <a:xfrm>
            <a:off x="7331659" y="2651760"/>
            <a:ext cx="1953158" cy="292608"/>
          </a:xfrm>
          <a:prstGeom prst="rect">
            <a:avLst/>
          </a:prstGeom>
          <a:noFill/>
        </p:spPr>
        <p:txBody>
          <a:bodyPr wrap="square" rtlCol="0" anchor="t"/>
          <a:lstStyle/>
          <a:p>
            <a:pPr algn="ctr"/>
            <a:r>
              <a:rPr lang="en-US" sz="1800" b="1" dirty="0">
                <a:solidFill>
                  <a:schemeClr val="tx2"/>
                </a:solidFill>
                <a:latin typeface="Trebuchet MS"/>
              </a:rPr>
              <a:t>1,700</a:t>
            </a:r>
          </a:p>
        </p:txBody>
      </p:sp>
      <p:sp>
        <p:nvSpPr>
          <p:cNvPr id="318" name="TB318"/>
          <p:cNvSpPr txBox="1"/>
          <p:nvPr/>
        </p:nvSpPr>
        <p:spPr>
          <a:xfrm>
            <a:off x="7331659" y="2962656"/>
            <a:ext cx="1953158" cy="201168"/>
          </a:xfrm>
          <a:prstGeom prst="rect">
            <a:avLst/>
          </a:prstGeom>
          <a:noFill/>
        </p:spPr>
        <p:txBody>
          <a:bodyPr wrap="square" rtlCol="0" anchor="t"/>
          <a:lstStyle/>
          <a:p>
            <a:pPr algn="ctr"/>
            <a:r>
              <a:rPr lang="en-US" sz="1100" dirty="0">
                <a:solidFill>
                  <a:srgbClr val="575757"/>
                </a:solidFill>
                <a:latin typeface="Trebuchet MS"/>
              </a:rPr>
              <a:t>Operating Beds</a:t>
            </a:r>
          </a:p>
        </p:txBody>
      </p:sp>
      <p:sp>
        <p:nvSpPr>
          <p:cNvPr id="319" name="TB319"/>
          <p:cNvSpPr txBox="1"/>
          <p:nvPr/>
        </p:nvSpPr>
        <p:spPr>
          <a:xfrm>
            <a:off x="7331659" y="3182112"/>
            <a:ext cx="1953158" cy="201168"/>
          </a:xfrm>
          <a:prstGeom prst="rect">
            <a:avLst/>
          </a:prstGeom>
          <a:noFill/>
        </p:spPr>
        <p:txBody>
          <a:bodyPr wrap="square" rtlCol="0" anchor="t"/>
          <a:lstStyle/>
          <a:p>
            <a:pPr algn="ctr"/>
            <a:r>
              <a:rPr lang="en-US" sz="1000" dirty="0">
                <a:solidFill>
                  <a:srgbClr val="6E6F73"/>
                </a:solidFill>
                <a:latin typeface="Trebuchet MS"/>
              </a:rPr>
              <a:t>+8 new</a:t>
            </a:r>
          </a:p>
        </p:txBody>
      </p:sp>
      <p:sp>
        <p:nvSpPr>
          <p:cNvPr id="320" name="RR320"/>
          <p:cNvSpPr/>
          <p:nvPr/>
        </p:nvSpPr>
        <p:spPr>
          <a:xfrm>
            <a:off x="9467697" y="2578608"/>
            <a:ext cx="2099462"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21" name="R321"/>
          <p:cNvSpPr/>
          <p:nvPr/>
        </p:nvSpPr>
        <p:spPr>
          <a:xfrm>
            <a:off x="9467697" y="2578608"/>
            <a:ext cx="2099462" cy="54864"/>
          </a:xfrm>
          <a:prstGeom prst="rect">
            <a:avLst/>
          </a:prstGeom>
          <a:solidFill>
            <a:schemeClr val="tx2"/>
          </a:solidFill>
          <a:ln>
            <a:noFill/>
          </a:ln>
        </p:spPr>
        <p:txBody>
          <a:bodyPr/>
          <a:lstStyle/>
          <a:p>
            <a:endParaRPr lang="en-US"/>
          </a:p>
        </p:txBody>
      </p:sp>
      <p:sp>
        <p:nvSpPr>
          <p:cNvPr id="322" name="TB322"/>
          <p:cNvSpPr txBox="1"/>
          <p:nvPr/>
        </p:nvSpPr>
        <p:spPr>
          <a:xfrm>
            <a:off x="9540849" y="2651760"/>
            <a:ext cx="1953158" cy="292608"/>
          </a:xfrm>
          <a:prstGeom prst="rect">
            <a:avLst/>
          </a:prstGeom>
          <a:noFill/>
        </p:spPr>
        <p:txBody>
          <a:bodyPr wrap="square" rtlCol="0" anchor="t"/>
          <a:lstStyle/>
          <a:p>
            <a:pPr algn="ctr"/>
            <a:r>
              <a:rPr lang="en-US" sz="1800" b="1" dirty="0">
                <a:solidFill>
                  <a:schemeClr val="tx2"/>
                </a:solidFill>
                <a:latin typeface="Trebuchet MS"/>
              </a:rPr>
              <a:t>KKR</a:t>
            </a:r>
          </a:p>
        </p:txBody>
      </p:sp>
      <p:sp>
        <p:nvSpPr>
          <p:cNvPr id="323" name="TB323"/>
          <p:cNvSpPr txBox="1"/>
          <p:nvPr/>
        </p:nvSpPr>
        <p:spPr>
          <a:xfrm>
            <a:off x="9540849" y="2962656"/>
            <a:ext cx="1953158" cy="201168"/>
          </a:xfrm>
          <a:prstGeom prst="rect">
            <a:avLst/>
          </a:prstGeom>
          <a:noFill/>
        </p:spPr>
        <p:txBody>
          <a:bodyPr wrap="square" rtlCol="0" anchor="t"/>
          <a:lstStyle/>
          <a:p>
            <a:pPr algn="ctr"/>
            <a:r>
              <a:rPr lang="en-US" sz="1100" dirty="0">
                <a:solidFill>
                  <a:srgbClr val="575757"/>
                </a:solidFill>
                <a:latin typeface="Trebuchet MS"/>
              </a:rPr>
              <a:t>Sponsor (76%)</a:t>
            </a:r>
          </a:p>
        </p:txBody>
      </p:sp>
      <p:sp>
        <p:nvSpPr>
          <p:cNvPr id="324" name="TB324"/>
          <p:cNvSpPr txBox="1"/>
          <p:nvPr/>
        </p:nvSpPr>
        <p:spPr>
          <a:xfrm>
            <a:off x="9540849" y="3182112"/>
            <a:ext cx="1953158" cy="201168"/>
          </a:xfrm>
          <a:prstGeom prst="rect">
            <a:avLst/>
          </a:prstGeom>
          <a:noFill/>
        </p:spPr>
        <p:txBody>
          <a:bodyPr wrap="square" rtlCol="0" anchor="t"/>
          <a:lstStyle/>
          <a:p>
            <a:pPr algn="ctr"/>
            <a:r>
              <a:rPr lang="en-US" sz="1000" dirty="0">
                <a:solidFill>
                  <a:srgbClr val="6E6F73"/>
                </a:solidFill>
                <a:latin typeface="Trebuchet MS"/>
              </a:rPr>
              <a:t>5-yr hold</a:t>
            </a:r>
          </a:p>
        </p:txBody>
      </p:sp>
      <p:sp>
        <p:nvSpPr>
          <p:cNvPr id="325" name="R325"/>
          <p:cNvSpPr/>
          <p:nvPr/>
        </p:nvSpPr>
        <p:spPr>
          <a:xfrm>
            <a:off x="6828739" y="3584447"/>
            <a:ext cx="4738420" cy="320040"/>
          </a:xfrm>
          <a:prstGeom prst="rect">
            <a:avLst/>
          </a:prstGeom>
          <a:solidFill>
            <a:schemeClr val="tx2"/>
          </a:solidFill>
          <a:ln>
            <a:noFill/>
          </a:ln>
        </p:spPr>
        <p:txBody>
          <a:bodyPr/>
          <a:lstStyle/>
          <a:p>
            <a:endParaRPr lang="en-US"/>
          </a:p>
        </p:txBody>
      </p:sp>
      <p:sp>
        <p:nvSpPr>
          <p:cNvPr id="326" name="TB326"/>
          <p:cNvSpPr txBox="1"/>
          <p:nvPr/>
        </p:nvSpPr>
        <p:spPr>
          <a:xfrm>
            <a:off x="6938467" y="3584447"/>
            <a:ext cx="4518964" cy="320040"/>
          </a:xfrm>
          <a:prstGeom prst="rect">
            <a:avLst/>
          </a:prstGeom>
          <a:noFill/>
        </p:spPr>
        <p:txBody>
          <a:bodyPr wrap="square" rtlCol="0" anchor="ctr"/>
          <a:lstStyle/>
          <a:p>
            <a:r>
              <a:rPr lang="en-US" sz="1300" b="1" dirty="0">
                <a:solidFill>
                  <a:srgbClr val="FFFFFF"/>
                </a:solidFill>
                <a:latin typeface="Trebuchet MS"/>
              </a:rPr>
              <a:t>Why HCG is the right LBO target</a:t>
            </a:r>
          </a:p>
        </p:txBody>
      </p:sp>
      <p:sp>
        <p:nvSpPr>
          <p:cNvPr id="327" name="BL327"/>
          <p:cNvSpPr txBox="1"/>
          <p:nvPr/>
        </p:nvSpPr>
        <p:spPr>
          <a:xfrm>
            <a:off x="6920179" y="3995927"/>
            <a:ext cx="4555540" cy="1810512"/>
          </a:xfrm>
          <a:prstGeom prst="rect">
            <a:avLst/>
          </a:prstGeom>
          <a:noFill/>
        </p:spPr>
        <p:txBody>
          <a:bodyPr wrap="square" rtlCol="0" anchor="t"/>
          <a:lstStyle/>
          <a:p>
            <a:pPr marL="228600" indent="-228600" algn="l">
              <a:spcAft>
                <a:spcPts val="500"/>
              </a:spcAft>
              <a:buChar char="-"/>
            </a:pPr>
            <a:r>
              <a:rPr lang="en-US" sz="1100" b="1" dirty="0">
                <a:solidFill>
                  <a:srgbClr val="575757"/>
                </a:solidFill>
                <a:latin typeface="Trebuchet MS"/>
              </a:rPr>
              <a:t>Specialty premium: </a:t>
            </a:r>
            <a:r>
              <a:rPr lang="en-US" sz="1100" dirty="0">
                <a:solidFill>
                  <a:srgbClr val="575757"/>
                </a:solidFill>
                <a:latin typeface="Trebuchet MS"/>
              </a:rPr>
              <a:t>oncology = 18% margin vs 14% multi-specialty avg</a:t>
            </a:r>
          </a:p>
          <a:p>
            <a:pPr marL="228600" indent="-228600" algn="l">
              <a:spcAft>
                <a:spcPts val="500"/>
              </a:spcAft>
              <a:buChar char="-"/>
            </a:pPr>
            <a:r>
              <a:rPr lang="en-US" sz="1100" b="1" dirty="0">
                <a:solidFill>
                  <a:srgbClr val="575757"/>
                </a:solidFill>
                <a:latin typeface="Trebuchet MS"/>
              </a:rPr>
              <a:t>Defensible moat: </a:t>
            </a:r>
            <a:r>
              <a:rPr lang="en-US" sz="1100" dirty="0">
                <a:solidFill>
                  <a:srgbClr val="575757"/>
                </a:solidFill>
                <a:latin typeface="Trebuchet MS"/>
              </a:rPr>
              <a:t>largest cyber-knife/proton install base in India</a:t>
            </a:r>
          </a:p>
          <a:p>
            <a:pPr marL="228600" indent="-228600" algn="l">
              <a:spcAft>
                <a:spcPts val="500"/>
              </a:spcAft>
              <a:buChar char="-"/>
            </a:pPr>
            <a:r>
              <a:rPr lang="en-US" sz="1100" b="1" dirty="0">
                <a:solidFill>
                  <a:srgbClr val="575757"/>
                </a:solidFill>
                <a:latin typeface="Trebuchet MS"/>
              </a:rPr>
              <a:t>PE-ready: </a:t>
            </a:r>
            <a:r>
              <a:rPr lang="en-US" sz="1100" dirty="0">
                <a:solidFill>
                  <a:srgbClr val="575757"/>
                </a:solidFill>
                <a:latin typeface="Trebuchet MS"/>
              </a:rPr>
              <a:t>KKR 5-yr hold; willing seller; clean cap table</a:t>
            </a:r>
          </a:p>
          <a:p>
            <a:pPr marL="228600" indent="-228600" algn="l">
              <a:spcAft>
                <a:spcPts val="500"/>
              </a:spcAft>
              <a:buChar char="-"/>
            </a:pPr>
            <a:r>
              <a:rPr lang="en-US" sz="1100" b="1" dirty="0">
                <a:solidFill>
                  <a:srgbClr val="575757"/>
                </a:solidFill>
                <a:latin typeface="Trebuchet MS"/>
              </a:rPr>
              <a:t>Cross-sell engine: </a:t>
            </a:r>
            <a:r>
              <a:rPr lang="en-US" sz="1100" dirty="0">
                <a:solidFill>
                  <a:srgbClr val="575757"/>
                </a:solidFill>
                <a:latin typeface="Trebuchet MS"/>
              </a:rPr>
              <a:t>≥40% of Max oncology demand currently leaks to HCG/Apollo</a:t>
            </a:r>
          </a:p>
          <a:p>
            <a:pPr marL="228600" indent="-228600" algn="l">
              <a:spcAft>
                <a:spcPts val="500"/>
              </a:spcAft>
              <a:buChar char="-"/>
            </a:pPr>
            <a:r>
              <a:rPr lang="en-US" sz="1100" b="1" dirty="0">
                <a:solidFill>
                  <a:srgbClr val="575757"/>
                </a:solidFill>
                <a:latin typeface="Trebuchet MS"/>
              </a:rPr>
              <a:t>Capex cycle done: </a:t>
            </a:r>
            <a:r>
              <a:rPr lang="en-US" sz="1100" dirty="0">
                <a:solidFill>
                  <a:srgbClr val="575757"/>
                </a:solidFill>
                <a:latin typeface="Trebuchet MS"/>
              </a:rPr>
              <a:t>major centers built; FCF inflection ahead</a:t>
            </a:r>
          </a:p>
        </p:txBody>
      </p:sp>
      <p:graphicFrame>
        <p:nvGraphicFramePr>
          <p:cNvPr id="328" name="Chart 327"/>
          <p:cNvGraphicFramePr>
            <a:graphicFrameLocks noGrp="1"/>
          </p:cNvGraphicFramePr>
          <p:nvPr>
            <p:extLst>
              <p:ext uri="{D42A27DB-BD31-4B8C-83A1-F6EECF244321}">
                <p14:modId xmlns:p14="http://schemas.microsoft.com/office/powerpoint/2010/main" val="3076192190"/>
              </p:ext>
            </p:extLst>
          </p:nvPr>
        </p:nvGraphicFramePr>
        <p:xfrm>
          <a:off x="630936" y="3584447"/>
          <a:ext cx="6014923" cy="2267712"/>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F3B3B64-76C2-1C99-3D15-9E513B4D3D69}"/>
              </a:ext>
            </a:extLst>
          </p:cNvPr>
          <p:cNvGraphicFramePr>
            <a:graphicFrameLocks noChangeAspect="1"/>
          </p:cNvGraphicFramePr>
          <p:nvPr>
            <p:custDataLst>
              <p:tags r:id="rId1"/>
            </p:custDataLst>
            <p:extLst>
              <p:ext uri="{D42A27DB-BD31-4B8C-83A1-F6EECF244321}">
                <p14:modId xmlns:p14="http://schemas.microsoft.com/office/powerpoint/2010/main" val="29498742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8" name="ph_title"/>
          <p:cNvSpPr>
            <a:spLocks noGrp="1"/>
          </p:cNvSpPr>
          <p:nvPr>
            <p:ph type="title"/>
          </p:nvPr>
        </p:nvSpPr>
        <p:spPr>
          <a:xfrm>
            <a:off x="630000" y="622800"/>
            <a:ext cx="10933350" cy="664797"/>
          </a:xfrm>
        </p:spPr>
        <p:txBody>
          <a:bodyPr vert="horz"/>
          <a:lstStyle/>
          <a:p>
            <a:r>
              <a:rPr lang="en-US" dirty="0"/>
              <a:t>Rainbow Children's Medicare: Premium pediatric platform with 32% EBITDA margin</a:t>
            </a:r>
          </a:p>
        </p:txBody>
      </p:sp>
      <p:sp>
        <p:nvSpPr>
          <p:cNvPr id="330" name="TB330"/>
          <p:cNvSpPr txBox="1"/>
          <p:nvPr/>
        </p:nvSpPr>
        <p:spPr>
          <a:xfrm>
            <a:off x="630000" y="2075688"/>
            <a:ext cx="10933350" cy="365760"/>
          </a:xfrm>
          <a:prstGeom prst="rect">
            <a:avLst/>
          </a:prstGeom>
          <a:solidFill>
            <a:schemeClr val="tx2"/>
          </a:solidFill>
        </p:spPr>
        <p:txBody>
          <a:bodyPr wrap="square" rtlCol="0" anchor="ctr"/>
          <a:lstStyle/>
          <a:p>
            <a:r>
              <a:rPr lang="en-US" sz="1300" b="1" dirty="0">
                <a:solidFill>
                  <a:srgbClr val="FFFFFF"/>
                </a:solidFill>
                <a:latin typeface="Trebuchet MS"/>
              </a:rPr>
              <a:t>Rainbow Children's Medicare — India's largest pediatric &amp; maternity hospital chain</a:t>
            </a:r>
          </a:p>
        </p:txBody>
      </p:sp>
      <p:sp>
        <p:nvSpPr>
          <p:cNvPr id="331" name="RR331"/>
          <p:cNvSpPr/>
          <p:nvPr/>
        </p:nvSpPr>
        <p:spPr>
          <a:xfrm>
            <a:off x="630936" y="2578608"/>
            <a:ext cx="1731264"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32" name="R332"/>
          <p:cNvSpPr/>
          <p:nvPr/>
        </p:nvSpPr>
        <p:spPr>
          <a:xfrm>
            <a:off x="630936" y="2578608"/>
            <a:ext cx="1731264" cy="54864"/>
          </a:xfrm>
          <a:prstGeom prst="rect">
            <a:avLst/>
          </a:prstGeom>
          <a:solidFill>
            <a:srgbClr val="242852"/>
          </a:solidFill>
          <a:ln>
            <a:noFill/>
          </a:ln>
        </p:spPr>
        <p:txBody>
          <a:bodyPr/>
          <a:lstStyle/>
          <a:p>
            <a:endParaRPr lang="en-US"/>
          </a:p>
        </p:txBody>
      </p:sp>
      <p:sp>
        <p:nvSpPr>
          <p:cNvPr id="333" name="TB333"/>
          <p:cNvSpPr txBox="1"/>
          <p:nvPr/>
        </p:nvSpPr>
        <p:spPr>
          <a:xfrm>
            <a:off x="704087" y="2670048"/>
            <a:ext cx="1584960" cy="292608"/>
          </a:xfrm>
          <a:prstGeom prst="rect">
            <a:avLst/>
          </a:prstGeom>
          <a:noFill/>
        </p:spPr>
        <p:txBody>
          <a:bodyPr wrap="square" rtlCol="0" anchor="t"/>
          <a:lstStyle/>
          <a:p>
            <a:pPr algn="ctr"/>
            <a:r>
              <a:rPr lang="en-US" sz="1700" b="1" dirty="0">
                <a:solidFill>
                  <a:schemeClr val="tx2"/>
                </a:solidFill>
                <a:latin typeface="Trebuchet MS"/>
              </a:rPr>
              <a:t>₹1,420 Cr</a:t>
            </a:r>
          </a:p>
        </p:txBody>
      </p:sp>
      <p:sp>
        <p:nvSpPr>
          <p:cNvPr id="334" name="TB334"/>
          <p:cNvSpPr txBox="1"/>
          <p:nvPr/>
        </p:nvSpPr>
        <p:spPr>
          <a:xfrm>
            <a:off x="704087" y="2990088"/>
            <a:ext cx="1584960" cy="365760"/>
          </a:xfrm>
          <a:prstGeom prst="rect">
            <a:avLst/>
          </a:prstGeom>
          <a:noFill/>
        </p:spPr>
        <p:txBody>
          <a:bodyPr wrap="square" rtlCol="0" anchor="t"/>
          <a:lstStyle/>
          <a:p>
            <a:pPr algn="ctr"/>
            <a:r>
              <a:rPr lang="en-US" sz="1100" dirty="0">
                <a:solidFill>
                  <a:srgbClr val="575757"/>
                </a:solidFill>
                <a:latin typeface="Trebuchet MS"/>
              </a:rPr>
              <a:t>FY25 Revenue</a:t>
            </a:r>
          </a:p>
        </p:txBody>
      </p:sp>
      <p:sp>
        <p:nvSpPr>
          <p:cNvPr id="335" name="RR335"/>
          <p:cNvSpPr/>
          <p:nvPr/>
        </p:nvSpPr>
        <p:spPr>
          <a:xfrm>
            <a:off x="2471928" y="2578608"/>
            <a:ext cx="1731264"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36" name="R336"/>
          <p:cNvSpPr/>
          <p:nvPr/>
        </p:nvSpPr>
        <p:spPr>
          <a:xfrm>
            <a:off x="2471928" y="2578608"/>
            <a:ext cx="1731264" cy="54864"/>
          </a:xfrm>
          <a:prstGeom prst="rect">
            <a:avLst/>
          </a:prstGeom>
          <a:solidFill>
            <a:srgbClr val="242852"/>
          </a:solidFill>
          <a:ln>
            <a:noFill/>
          </a:ln>
        </p:spPr>
        <p:txBody>
          <a:bodyPr/>
          <a:lstStyle/>
          <a:p>
            <a:endParaRPr lang="en-US"/>
          </a:p>
        </p:txBody>
      </p:sp>
      <p:sp>
        <p:nvSpPr>
          <p:cNvPr id="337" name="TB337"/>
          <p:cNvSpPr txBox="1"/>
          <p:nvPr/>
        </p:nvSpPr>
        <p:spPr>
          <a:xfrm>
            <a:off x="2545080" y="2670048"/>
            <a:ext cx="1584960" cy="292608"/>
          </a:xfrm>
          <a:prstGeom prst="rect">
            <a:avLst/>
          </a:prstGeom>
          <a:noFill/>
        </p:spPr>
        <p:txBody>
          <a:bodyPr wrap="square" rtlCol="0" anchor="t"/>
          <a:lstStyle/>
          <a:p>
            <a:pPr algn="ctr"/>
            <a:r>
              <a:rPr lang="en-US" sz="1700" b="1" dirty="0">
                <a:solidFill>
                  <a:schemeClr val="tx2"/>
                </a:solidFill>
                <a:latin typeface="Trebuchet MS"/>
              </a:rPr>
              <a:t>32%</a:t>
            </a:r>
          </a:p>
        </p:txBody>
      </p:sp>
      <p:sp>
        <p:nvSpPr>
          <p:cNvPr id="338" name="TB338"/>
          <p:cNvSpPr txBox="1"/>
          <p:nvPr/>
        </p:nvSpPr>
        <p:spPr>
          <a:xfrm>
            <a:off x="2545080" y="2990088"/>
            <a:ext cx="1584960" cy="365760"/>
          </a:xfrm>
          <a:prstGeom prst="rect">
            <a:avLst/>
          </a:prstGeom>
          <a:noFill/>
        </p:spPr>
        <p:txBody>
          <a:bodyPr wrap="square" rtlCol="0" anchor="t"/>
          <a:lstStyle/>
          <a:p>
            <a:pPr algn="ctr"/>
            <a:r>
              <a:rPr lang="en-US" sz="1100" dirty="0">
                <a:solidFill>
                  <a:srgbClr val="575757"/>
                </a:solidFill>
                <a:latin typeface="Trebuchet MS"/>
              </a:rPr>
              <a:t>EBITDA Margin</a:t>
            </a:r>
          </a:p>
        </p:txBody>
      </p:sp>
      <p:sp>
        <p:nvSpPr>
          <p:cNvPr id="339" name="RR339"/>
          <p:cNvSpPr/>
          <p:nvPr/>
        </p:nvSpPr>
        <p:spPr>
          <a:xfrm>
            <a:off x="4312920" y="2578608"/>
            <a:ext cx="1731264"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40" name="R340"/>
          <p:cNvSpPr/>
          <p:nvPr/>
        </p:nvSpPr>
        <p:spPr>
          <a:xfrm>
            <a:off x="4312920" y="2578608"/>
            <a:ext cx="1731264" cy="54864"/>
          </a:xfrm>
          <a:prstGeom prst="rect">
            <a:avLst/>
          </a:prstGeom>
          <a:solidFill>
            <a:srgbClr val="242852"/>
          </a:solidFill>
          <a:ln>
            <a:noFill/>
          </a:ln>
        </p:spPr>
        <p:txBody>
          <a:bodyPr/>
          <a:lstStyle/>
          <a:p>
            <a:endParaRPr lang="en-US"/>
          </a:p>
        </p:txBody>
      </p:sp>
      <p:sp>
        <p:nvSpPr>
          <p:cNvPr id="341" name="TB341"/>
          <p:cNvSpPr txBox="1"/>
          <p:nvPr/>
        </p:nvSpPr>
        <p:spPr>
          <a:xfrm>
            <a:off x="4386072" y="2670048"/>
            <a:ext cx="1584960" cy="292608"/>
          </a:xfrm>
          <a:prstGeom prst="rect">
            <a:avLst/>
          </a:prstGeom>
          <a:noFill/>
        </p:spPr>
        <p:txBody>
          <a:bodyPr wrap="square" rtlCol="0" anchor="t"/>
          <a:lstStyle/>
          <a:p>
            <a:pPr algn="ctr"/>
            <a:r>
              <a:rPr lang="en-US" sz="1700" b="1" dirty="0">
                <a:solidFill>
                  <a:schemeClr val="tx2"/>
                </a:solidFill>
                <a:latin typeface="Trebuchet MS"/>
              </a:rPr>
              <a:t>16</a:t>
            </a:r>
          </a:p>
        </p:txBody>
      </p:sp>
      <p:sp>
        <p:nvSpPr>
          <p:cNvPr id="342" name="TB342"/>
          <p:cNvSpPr txBox="1"/>
          <p:nvPr/>
        </p:nvSpPr>
        <p:spPr>
          <a:xfrm>
            <a:off x="4386072" y="2990088"/>
            <a:ext cx="1584960" cy="365760"/>
          </a:xfrm>
          <a:prstGeom prst="rect">
            <a:avLst/>
          </a:prstGeom>
          <a:noFill/>
        </p:spPr>
        <p:txBody>
          <a:bodyPr wrap="square" rtlCol="0" anchor="t"/>
          <a:lstStyle/>
          <a:p>
            <a:pPr algn="ctr"/>
            <a:r>
              <a:rPr lang="en-US" sz="1100" dirty="0">
                <a:solidFill>
                  <a:srgbClr val="575757"/>
                </a:solidFill>
                <a:latin typeface="Trebuchet MS"/>
              </a:rPr>
              <a:t>Hospitals</a:t>
            </a:r>
          </a:p>
        </p:txBody>
      </p:sp>
      <p:sp>
        <p:nvSpPr>
          <p:cNvPr id="343" name="RR343"/>
          <p:cNvSpPr/>
          <p:nvPr/>
        </p:nvSpPr>
        <p:spPr>
          <a:xfrm>
            <a:off x="6153912" y="2578608"/>
            <a:ext cx="1731264"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44" name="R344"/>
          <p:cNvSpPr/>
          <p:nvPr/>
        </p:nvSpPr>
        <p:spPr>
          <a:xfrm>
            <a:off x="6153912" y="2578608"/>
            <a:ext cx="1731264" cy="54864"/>
          </a:xfrm>
          <a:prstGeom prst="rect">
            <a:avLst/>
          </a:prstGeom>
          <a:solidFill>
            <a:srgbClr val="242852"/>
          </a:solidFill>
          <a:ln>
            <a:noFill/>
          </a:ln>
        </p:spPr>
        <p:txBody>
          <a:bodyPr/>
          <a:lstStyle/>
          <a:p>
            <a:endParaRPr lang="en-US"/>
          </a:p>
        </p:txBody>
      </p:sp>
      <p:sp>
        <p:nvSpPr>
          <p:cNvPr id="345" name="TB345"/>
          <p:cNvSpPr txBox="1"/>
          <p:nvPr/>
        </p:nvSpPr>
        <p:spPr>
          <a:xfrm>
            <a:off x="6227064" y="2670048"/>
            <a:ext cx="1584960" cy="292608"/>
          </a:xfrm>
          <a:prstGeom prst="rect">
            <a:avLst/>
          </a:prstGeom>
          <a:noFill/>
        </p:spPr>
        <p:txBody>
          <a:bodyPr wrap="square" rtlCol="0" anchor="t"/>
          <a:lstStyle/>
          <a:p>
            <a:pPr algn="ctr"/>
            <a:r>
              <a:rPr lang="en-US" sz="1700" b="1" dirty="0">
                <a:solidFill>
                  <a:schemeClr val="tx2"/>
                </a:solidFill>
                <a:latin typeface="Trebuchet MS"/>
              </a:rPr>
              <a:t>1,600</a:t>
            </a:r>
          </a:p>
        </p:txBody>
      </p:sp>
      <p:sp>
        <p:nvSpPr>
          <p:cNvPr id="346" name="TB346"/>
          <p:cNvSpPr txBox="1"/>
          <p:nvPr/>
        </p:nvSpPr>
        <p:spPr>
          <a:xfrm>
            <a:off x="6227064" y="2990088"/>
            <a:ext cx="1584960" cy="365760"/>
          </a:xfrm>
          <a:prstGeom prst="rect">
            <a:avLst/>
          </a:prstGeom>
          <a:noFill/>
        </p:spPr>
        <p:txBody>
          <a:bodyPr wrap="square" rtlCol="0" anchor="t"/>
          <a:lstStyle/>
          <a:p>
            <a:pPr algn="ctr"/>
            <a:r>
              <a:rPr lang="en-US" sz="1100" dirty="0">
                <a:solidFill>
                  <a:srgbClr val="575757"/>
                </a:solidFill>
                <a:latin typeface="Trebuchet MS"/>
              </a:rPr>
              <a:t>Beds</a:t>
            </a:r>
          </a:p>
        </p:txBody>
      </p:sp>
      <p:sp>
        <p:nvSpPr>
          <p:cNvPr id="347" name="RR347"/>
          <p:cNvSpPr/>
          <p:nvPr/>
        </p:nvSpPr>
        <p:spPr>
          <a:xfrm>
            <a:off x="7994904" y="2578608"/>
            <a:ext cx="1731264"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48" name="R348"/>
          <p:cNvSpPr/>
          <p:nvPr/>
        </p:nvSpPr>
        <p:spPr>
          <a:xfrm>
            <a:off x="7994904" y="2578608"/>
            <a:ext cx="1731264" cy="54864"/>
          </a:xfrm>
          <a:prstGeom prst="rect">
            <a:avLst/>
          </a:prstGeom>
          <a:solidFill>
            <a:srgbClr val="242852"/>
          </a:solidFill>
          <a:ln>
            <a:noFill/>
          </a:ln>
        </p:spPr>
        <p:txBody>
          <a:bodyPr/>
          <a:lstStyle/>
          <a:p>
            <a:endParaRPr lang="en-US"/>
          </a:p>
        </p:txBody>
      </p:sp>
      <p:sp>
        <p:nvSpPr>
          <p:cNvPr id="349" name="TB349"/>
          <p:cNvSpPr txBox="1"/>
          <p:nvPr/>
        </p:nvSpPr>
        <p:spPr>
          <a:xfrm>
            <a:off x="8068056" y="2670048"/>
            <a:ext cx="1584960" cy="292608"/>
          </a:xfrm>
          <a:prstGeom prst="rect">
            <a:avLst/>
          </a:prstGeom>
          <a:noFill/>
        </p:spPr>
        <p:txBody>
          <a:bodyPr wrap="square" rtlCol="0" anchor="t"/>
          <a:lstStyle/>
          <a:p>
            <a:pPr algn="ctr"/>
            <a:r>
              <a:rPr lang="en-US" sz="1700" b="1" dirty="0">
                <a:solidFill>
                  <a:schemeClr val="tx2"/>
                </a:solidFill>
                <a:latin typeface="Trebuchet MS"/>
              </a:rPr>
              <a:t>70%</a:t>
            </a:r>
          </a:p>
        </p:txBody>
      </p:sp>
      <p:sp>
        <p:nvSpPr>
          <p:cNvPr id="350" name="TB350"/>
          <p:cNvSpPr txBox="1"/>
          <p:nvPr/>
        </p:nvSpPr>
        <p:spPr>
          <a:xfrm>
            <a:off x="8068056" y="2990088"/>
            <a:ext cx="1584960" cy="365760"/>
          </a:xfrm>
          <a:prstGeom prst="rect">
            <a:avLst/>
          </a:prstGeom>
          <a:noFill/>
        </p:spPr>
        <p:txBody>
          <a:bodyPr wrap="square" rtlCol="0" anchor="t"/>
          <a:lstStyle/>
          <a:p>
            <a:pPr algn="ctr"/>
            <a:r>
              <a:rPr lang="en-US" sz="1100" dirty="0">
                <a:solidFill>
                  <a:srgbClr val="575757"/>
                </a:solidFill>
                <a:latin typeface="Trebuchet MS"/>
              </a:rPr>
              <a:t>Maternity</a:t>
            </a:r>
          </a:p>
          <a:p>
            <a:pPr algn="ctr"/>
            <a:r>
              <a:rPr lang="en-US" sz="1100" dirty="0">
                <a:solidFill>
                  <a:srgbClr val="575757"/>
                </a:solidFill>
                <a:latin typeface="Trebuchet MS"/>
              </a:rPr>
              <a:t>Repeat</a:t>
            </a:r>
          </a:p>
        </p:txBody>
      </p:sp>
      <p:sp>
        <p:nvSpPr>
          <p:cNvPr id="351" name="RR351"/>
          <p:cNvSpPr/>
          <p:nvPr/>
        </p:nvSpPr>
        <p:spPr>
          <a:xfrm>
            <a:off x="9835896" y="2578608"/>
            <a:ext cx="1731264" cy="86868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52" name="R352"/>
          <p:cNvSpPr/>
          <p:nvPr/>
        </p:nvSpPr>
        <p:spPr>
          <a:xfrm>
            <a:off x="9835896" y="2578608"/>
            <a:ext cx="1731264" cy="54864"/>
          </a:xfrm>
          <a:prstGeom prst="rect">
            <a:avLst/>
          </a:prstGeom>
          <a:solidFill>
            <a:srgbClr val="242852"/>
          </a:solidFill>
          <a:ln>
            <a:noFill/>
          </a:ln>
        </p:spPr>
        <p:txBody>
          <a:bodyPr/>
          <a:lstStyle/>
          <a:p>
            <a:endParaRPr lang="en-US"/>
          </a:p>
        </p:txBody>
      </p:sp>
      <p:sp>
        <p:nvSpPr>
          <p:cNvPr id="353" name="TB353"/>
          <p:cNvSpPr txBox="1"/>
          <p:nvPr/>
        </p:nvSpPr>
        <p:spPr>
          <a:xfrm>
            <a:off x="9909048" y="2670048"/>
            <a:ext cx="1584960" cy="292608"/>
          </a:xfrm>
          <a:prstGeom prst="rect">
            <a:avLst/>
          </a:prstGeom>
          <a:noFill/>
        </p:spPr>
        <p:txBody>
          <a:bodyPr wrap="square" rtlCol="0" anchor="t"/>
          <a:lstStyle/>
          <a:p>
            <a:pPr algn="ctr"/>
            <a:r>
              <a:rPr lang="en-US" sz="1700" b="1" dirty="0">
                <a:solidFill>
                  <a:schemeClr val="tx2"/>
                </a:solidFill>
                <a:latin typeface="Trebuchet MS"/>
              </a:rPr>
              <a:t>75%</a:t>
            </a:r>
          </a:p>
        </p:txBody>
      </p:sp>
      <p:sp>
        <p:nvSpPr>
          <p:cNvPr id="354" name="TB354"/>
          <p:cNvSpPr txBox="1"/>
          <p:nvPr/>
        </p:nvSpPr>
        <p:spPr>
          <a:xfrm>
            <a:off x="9909048" y="2990088"/>
            <a:ext cx="1584960" cy="365760"/>
          </a:xfrm>
          <a:prstGeom prst="rect">
            <a:avLst/>
          </a:prstGeom>
          <a:noFill/>
        </p:spPr>
        <p:txBody>
          <a:bodyPr wrap="square" rtlCol="0" anchor="t"/>
          <a:lstStyle/>
          <a:p>
            <a:pPr algn="ctr"/>
            <a:r>
              <a:rPr lang="en-US" sz="1100" dirty="0">
                <a:solidFill>
                  <a:srgbClr val="575757"/>
                </a:solidFill>
                <a:latin typeface="Trebuchet MS"/>
              </a:rPr>
              <a:t>Cash Pay Mix</a:t>
            </a:r>
          </a:p>
        </p:txBody>
      </p:sp>
      <p:sp>
        <p:nvSpPr>
          <p:cNvPr id="355" name="RR355"/>
          <p:cNvSpPr/>
          <p:nvPr/>
        </p:nvSpPr>
        <p:spPr>
          <a:xfrm>
            <a:off x="630936" y="3584448"/>
            <a:ext cx="5353812" cy="231343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56" name="R356"/>
          <p:cNvSpPr/>
          <p:nvPr/>
        </p:nvSpPr>
        <p:spPr>
          <a:xfrm>
            <a:off x="630936" y="3584448"/>
            <a:ext cx="5353812" cy="54864"/>
          </a:xfrm>
          <a:prstGeom prst="rect">
            <a:avLst/>
          </a:prstGeom>
          <a:solidFill>
            <a:srgbClr val="29BA74"/>
          </a:solidFill>
          <a:ln>
            <a:noFill/>
          </a:ln>
        </p:spPr>
        <p:txBody>
          <a:bodyPr/>
          <a:lstStyle/>
          <a:p>
            <a:endParaRPr lang="en-US"/>
          </a:p>
        </p:txBody>
      </p:sp>
      <p:sp>
        <p:nvSpPr>
          <p:cNvPr id="357" name="R357"/>
          <p:cNvSpPr/>
          <p:nvPr/>
        </p:nvSpPr>
        <p:spPr>
          <a:xfrm>
            <a:off x="630936" y="3584448"/>
            <a:ext cx="5353812" cy="347472"/>
          </a:xfrm>
          <a:prstGeom prst="rect">
            <a:avLst/>
          </a:prstGeom>
          <a:solidFill>
            <a:srgbClr val="242852"/>
          </a:solidFill>
          <a:ln>
            <a:noFill/>
          </a:ln>
        </p:spPr>
        <p:txBody>
          <a:bodyPr/>
          <a:lstStyle/>
          <a:p>
            <a:endParaRPr lang="en-US"/>
          </a:p>
        </p:txBody>
      </p:sp>
      <p:sp>
        <p:nvSpPr>
          <p:cNvPr id="358" name="TB358"/>
          <p:cNvSpPr txBox="1"/>
          <p:nvPr/>
        </p:nvSpPr>
        <p:spPr>
          <a:xfrm>
            <a:off x="768096" y="3584448"/>
            <a:ext cx="5079492" cy="347472"/>
          </a:xfrm>
          <a:prstGeom prst="rect">
            <a:avLst/>
          </a:prstGeom>
          <a:noFill/>
        </p:spPr>
        <p:txBody>
          <a:bodyPr wrap="square" rtlCol="0" anchor="ctr"/>
          <a:lstStyle/>
          <a:p>
            <a:r>
              <a:rPr lang="en-US" sz="1400" b="1" dirty="0">
                <a:solidFill>
                  <a:srgbClr val="FFFFFF"/>
                </a:solidFill>
                <a:latin typeface="Trebuchet MS"/>
              </a:rPr>
              <a:t>Strategic Rationale</a:t>
            </a:r>
          </a:p>
        </p:txBody>
      </p:sp>
      <p:sp>
        <p:nvSpPr>
          <p:cNvPr id="359" name="BL359"/>
          <p:cNvSpPr txBox="1"/>
          <p:nvPr/>
        </p:nvSpPr>
        <p:spPr>
          <a:xfrm>
            <a:off x="768096" y="4041648"/>
            <a:ext cx="5079492" cy="1810512"/>
          </a:xfrm>
          <a:prstGeom prst="rect">
            <a:avLst/>
          </a:prstGeom>
          <a:noFill/>
        </p:spPr>
        <p:txBody>
          <a:bodyPr wrap="square" rtlCol="0" anchor="t"/>
          <a:lstStyle/>
          <a:p>
            <a:pPr marL="228600" indent="-228600" algn="l">
              <a:spcAft>
                <a:spcPts val="600"/>
              </a:spcAft>
              <a:buChar char="-"/>
            </a:pPr>
            <a:r>
              <a:rPr lang="en-US" sz="1200" dirty="0">
                <a:solidFill>
                  <a:srgbClr val="575757"/>
                </a:solidFill>
                <a:latin typeface="Trebuchet MS"/>
              </a:rPr>
              <a:t>Highest-margin segment in Indian healthcare (32% vs 18% multi-specialty)</a:t>
            </a:r>
          </a:p>
          <a:p>
            <a:pPr marL="228600" indent="-228600" algn="l">
              <a:spcAft>
                <a:spcPts val="600"/>
              </a:spcAft>
              <a:buChar char="-"/>
            </a:pPr>
            <a:r>
              <a:rPr lang="en-US" sz="1200" dirty="0">
                <a:solidFill>
                  <a:srgbClr val="575757"/>
                </a:solidFill>
                <a:latin typeface="Trebuchet MS"/>
              </a:rPr>
              <a:t>Underserved demand: only 0.4 pediatric beds per 1,000 children</a:t>
            </a:r>
          </a:p>
          <a:p>
            <a:pPr marL="228600" indent="-228600" algn="l">
              <a:spcAft>
                <a:spcPts val="600"/>
              </a:spcAft>
              <a:buChar char="-"/>
            </a:pPr>
            <a:r>
              <a:rPr lang="en-US" sz="1200" dirty="0">
                <a:solidFill>
                  <a:srgbClr val="575757"/>
                </a:solidFill>
                <a:latin typeface="Trebuchet MS"/>
              </a:rPr>
              <a:t>Attractive demographics: 28% of India under-15; growing affluent segment</a:t>
            </a:r>
          </a:p>
          <a:p>
            <a:pPr marL="228600" indent="-228600" algn="l">
              <a:spcAft>
                <a:spcPts val="600"/>
              </a:spcAft>
              <a:buChar char="-"/>
            </a:pPr>
            <a:r>
              <a:rPr lang="en-US" sz="1200" dirty="0">
                <a:solidFill>
                  <a:srgbClr val="575757"/>
                </a:solidFill>
                <a:latin typeface="Trebuchet MS"/>
              </a:rPr>
              <a:t>Asset-light expansion model: 18-month bed addition cycle</a:t>
            </a:r>
          </a:p>
          <a:p>
            <a:pPr marL="228600" indent="-228600" algn="l">
              <a:spcAft>
                <a:spcPts val="600"/>
              </a:spcAft>
              <a:buChar char="-"/>
            </a:pPr>
            <a:r>
              <a:rPr lang="en-US" sz="1200" dirty="0">
                <a:solidFill>
                  <a:srgbClr val="575757"/>
                </a:solidFill>
                <a:latin typeface="Trebuchet MS"/>
              </a:rPr>
              <a:t>Cross-sell into Max OB-GYN, IVF, fertility — captures full family lifecycle</a:t>
            </a:r>
          </a:p>
        </p:txBody>
      </p:sp>
      <p:sp>
        <p:nvSpPr>
          <p:cNvPr id="360" name="RR360"/>
          <p:cNvSpPr/>
          <p:nvPr/>
        </p:nvSpPr>
        <p:spPr>
          <a:xfrm>
            <a:off x="6213348" y="3584448"/>
            <a:ext cx="5353812" cy="231343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61" name="R361"/>
          <p:cNvSpPr/>
          <p:nvPr/>
        </p:nvSpPr>
        <p:spPr>
          <a:xfrm>
            <a:off x="6213348" y="3584448"/>
            <a:ext cx="5353812" cy="54864"/>
          </a:xfrm>
          <a:prstGeom prst="rect">
            <a:avLst/>
          </a:prstGeom>
          <a:solidFill>
            <a:srgbClr val="295E7E"/>
          </a:solidFill>
          <a:ln>
            <a:noFill/>
          </a:ln>
        </p:spPr>
        <p:txBody>
          <a:bodyPr/>
          <a:lstStyle/>
          <a:p>
            <a:endParaRPr lang="en-US"/>
          </a:p>
        </p:txBody>
      </p:sp>
      <p:sp>
        <p:nvSpPr>
          <p:cNvPr id="362" name="R362"/>
          <p:cNvSpPr/>
          <p:nvPr/>
        </p:nvSpPr>
        <p:spPr>
          <a:xfrm>
            <a:off x="6213348" y="3584448"/>
            <a:ext cx="5353812" cy="347472"/>
          </a:xfrm>
          <a:prstGeom prst="rect">
            <a:avLst/>
          </a:prstGeom>
          <a:solidFill>
            <a:srgbClr val="295E7E"/>
          </a:solidFill>
          <a:ln>
            <a:noFill/>
          </a:ln>
        </p:spPr>
        <p:txBody>
          <a:bodyPr/>
          <a:lstStyle/>
          <a:p>
            <a:endParaRPr lang="en-US"/>
          </a:p>
        </p:txBody>
      </p:sp>
      <p:sp>
        <p:nvSpPr>
          <p:cNvPr id="363" name="TB363"/>
          <p:cNvSpPr txBox="1"/>
          <p:nvPr/>
        </p:nvSpPr>
        <p:spPr>
          <a:xfrm>
            <a:off x="6350508" y="3584448"/>
            <a:ext cx="5079492" cy="347472"/>
          </a:xfrm>
          <a:prstGeom prst="rect">
            <a:avLst/>
          </a:prstGeom>
          <a:noFill/>
        </p:spPr>
        <p:txBody>
          <a:bodyPr wrap="square" rtlCol="0" anchor="ctr"/>
          <a:lstStyle/>
          <a:p>
            <a:r>
              <a:rPr lang="en-US" sz="1400" b="1" dirty="0">
                <a:solidFill>
                  <a:srgbClr val="FFFFFF"/>
                </a:solidFill>
                <a:latin typeface="Trebuchet MS"/>
              </a:rPr>
              <a:t>Risks &amp; Considerations</a:t>
            </a:r>
          </a:p>
        </p:txBody>
      </p:sp>
      <p:sp>
        <p:nvSpPr>
          <p:cNvPr id="364" name="BL364"/>
          <p:cNvSpPr txBox="1"/>
          <p:nvPr/>
        </p:nvSpPr>
        <p:spPr>
          <a:xfrm>
            <a:off x="6350508" y="4041648"/>
            <a:ext cx="5079492" cy="1810512"/>
          </a:xfrm>
          <a:prstGeom prst="rect">
            <a:avLst/>
          </a:prstGeom>
          <a:noFill/>
        </p:spPr>
        <p:txBody>
          <a:bodyPr wrap="square" rtlCol="0" anchor="t"/>
          <a:lstStyle/>
          <a:p>
            <a:pPr marL="228600" indent="-228600" algn="l">
              <a:spcAft>
                <a:spcPts val="600"/>
              </a:spcAft>
              <a:buChar char="-"/>
            </a:pPr>
            <a:r>
              <a:rPr lang="en-US" sz="1200" dirty="0">
                <a:solidFill>
                  <a:srgbClr val="575757"/>
                </a:solidFill>
                <a:latin typeface="Trebuchet MS"/>
              </a:rPr>
              <a:t>Premium valuation (32x EV/EBITDA) limits accretion in Year 1</a:t>
            </a:r>
          </a:p>
          <a:p>
            <a:pPr marL="228600" indent="-228600" algn="l">
              <a:spcAft>
                <a:spcPts val="600"/>
              </a:spcAft>
              <a:buChar char="-"/>
            </a:pPr>
            <a:r>
              <a:rPr lang="en-US" sz="1200" dirty="0">
                <a:solidFill>
                  <a:srgbClr val="575757"/>
                </a:solidFill>
                <a:latin typeface="Trebuchet MS"/>
              </a:rPr>
              <a:t>Founder/CEO dependence: Dr. Ramesh Kancharla key person risk</a:t>
            </a:r>
          </a:p>
          <a:p>
            <a:pPr marL="228600" indent="-228600" algn="l">
              <a:spcAft>
                <a:spcPts val="600"/>
              </a:spcAft>
              <a:buChar char="-"/>
            </a:pPr>
            <a:r>
              <a:rPr lang="en-US" sz="1200" dirty="0">
                <a:solidFill>
                  <a:srgbClr val="575757"/>
                </a:solidFill>
                <a:latin typeface="Trebuchet MS"/>
              </a:rPr>
              <a:t>Regional concentration — 65% revenue from Hyderabad / Bengaluru</a:t>
            </a:r>
          </a:p>
          <a:p>
            <a:pPr marL="228600" indent="-228600" algn="l">
              <a:spcAft>
                <a:spcPts val="600"/>
              </a:spcAft>
              <a:buChar char="-"/>
            </a:pPr>
            <a:r>
              <a:rPr lang="en-US" sz="1200" dirty="0">
                <a:solidFill>
                  <a:srgbClr val="575757"/>
                </a:solidFill>
                <a:latin typeface="Trebuchet MS"/>
              </a:rPr>
              <a:t>Capacity additions of 1,000+ beds underway require integration discipline</a:t>
            </a:r>
          </a:p>
          <a:p>
            <a:pPr marL="228600" indent="-228600" algn="l">
              <a:spcAft>
                <a:spcPts val="600"/>
              </a:spcAft>
              <a:buChar char="-"/>
            </a:pPr>
            <a:r>
              <a:rPr lang="en-US" sz="1200" dirty="0">
                <a:solidFill>
                  <a:srgbClr val="575757"/>
                </a:solidFill>
                <a:latin typeface="Trebuchet MS"/>
              </a:rPr>
              <a:t>Mitigation: 3-year earn-out, retain founder as Chair, ring-fence brand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CA874BA-C302-B8DB-9019-5B4FAC71608A}"/>
              </a:ext>
            </a:extLst>
          </p:cNvPr>
          <p:cNvGraphicFramePr>
            <a:graphicFrameLocks noChangeAspect="1"/>
          </p:cNvGraphicFramePr>
          <p:nvPr>
            <p:custDataLst>
              <p:tags r:id="rId1"/>
            </p:custDataLst>
            <p:extLst>
              <p:ext uri="{D42A27DB-BD31-4B8C-83A1-F6EECF244321}">
                <p14:modId xmlns:p14="http://schemas.microsoft.com/office/powerpoint/2010/main" val="34117809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65" name="ph_title"/>
          <p:cNvSpPr>
            <a:spLocks noGrp="1"/>
          </p:cNvSpPr>
          <p:nvPr>
            <p:ph type="title"/>
          </p:nvPr>
        </p:nvSpPr>
        <p:spPr/>
        <p:txBody>
          <a:bodyPr vert="horz"/>
          <a:lstStyle/>
          <a:p>
            <a:r>
              <a:rPr lang="en-US" dirty="0"/>
              <a:t>Synergies span four buckets — revenue 60% of total, achievable in 36 months</a:t>
            </a:r>
          </a:p>
        </p:txBody>
      </p:sp>
      <p:sp>
        <p:nvSpPr>
          <p:cNvPr id="366" name="RR366"/>
          <p:cNvSpPr/>
          <p:nvPr/>
        </p:nvSpPr>
        <p:spPr>
          <a:xfrm>
            <a:off x="630936" y="2075688"/>
            <a:ext cx="2610612" cy="320040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67" name="R367"/>
          <p:cNvSpPr/>
          <p:nvPr/>
        </p:nvSpPr>
        <p:spPr>
          <a:xfrm>
            <a:off x="630936" y="2075688"/>
            <a:ext cx="2610612" cy="54864"/>
          </a:xfrm>
          <a:prstGeom prst="rect">
            <a:avLst/>
          </a:prstGeom>
          <a:solidFill>
            <a:srgbClr val="03522D"/>
          </a:solidFill>
          <a:ln>
            <a:noFill/>
          </a:ln>
        </p:spPr>
        <p:txBody>
          <a:bodyPr/>
          <a:lstStyle/>
          <a:p>
            <a:endParaRPr lang="en-US"/>
          </a:p>
        </p:txBody>
      </p:sp>
      <p:sp>
        <p:nvSpPr>
          <p:cNvPr id="368" name="R368"/>
          <p:cNvSpPr/>
          <p:nvPr/>
        </p:nvSpPr>
        <p:spPr>
          <a:xfrm>
            <a:off x="630936" y="2075688"/>
            <a:ext cx="2610612" cy="502920"/>
          </a:xfrm>
          <a:prstGeom prst="rect">
            <a:avLst/>
          </a:prstGeom>
          <a:solidFill>
            <a:srgbClr val="242852"/>
          </a:solidFill>
          <a:ln>
            <a:noFill/>
          </a:ln>
        </p:spPr>
        <p:txBody>
          <a:bodyPr/>
          <a:lstStyle/>
          <a:p>
            <a:endParaRPr lang="en-US"/>
          </a:p>
        </p:txBody>
      </p:sp>
      <p:sp>
        <p:nvSpPr>
          <p:cNvPr id="369" name="TB369"/>
          <p:cNvSpPr txBox="1"/>
          <p:nvPr/>
        </p:nvSpPr>
        <p:spPr>
          <a:xfrm>
            <a:off x="722375" y="2112264"/>
            <a:ext cx="2427732" cy="164592"/>
          </a:xfrm>
          <a:prstGeom prst="rect">
            <a:avLst/>
          </a:prstGeom>
          <a:noFill/>
        </p:spPr>
        <p:txBody>
          <a:bodyPr wrap="square" rtlCol="0" anchor="t"/>
          <a:lstStyle/>
          <a:p>
            <a:r>
              <a:rPr lang="en-US" sz="900" b="1" dirty="0">
                <a:solidFill>
                  <a:srgbClr val="FFFFFF"/>
                </a:solidFill>
                <a:latin typeface="Trebuchet MS"/>
              </a:rPr>
              <a:t>REVENUE</a:t>
            </a:r>
          </a:p>
        </p:txBody>
      </p:sp>
      <p:sp>
        <p:nvSpPr>
          <p:cNvPr id="370" name="TB370"/>
          <p:cNvSpPr txBox="1"/>
          <p:nvPr/>
        </p:nvSpPr>
        <p:spPr>
          <a:xfrm>
            <a:off x="722375" y="2276856"/>
            <a:ext cx="2427732" cy="274320"/>
          </a:xfrm>
          <a:prstGeom prst="rect">
            <a:avLst/>
          </a:prstGeom>
          <a:noFill/>
        </p:spPr>
        <p:txBody>
          <a:bodyPr wrap="square" rtlCol="0" anchor="t"/>
          <a:lstStyle/>
          <a:p>
            <a:r>
              <a:rPr lang="en-US" sz="1300" b="1" dirty="0">
                <a:solidFill>
                  <a:srgbClr val="FFFFFF"/>
                </a:solidFill>
                <a:latin typeface="Trebuchet MS"/>
              </a:rPr>
              <a:t>Network Cross-Sell</a:t>
            </a:r>
          </a:p>
        </p:txBody>
      </p:sp>
      <p:sp>
        <p:nvSpPr>
          <p:cNvPr id="371" name="TB371"/>
          <p:cNvSpPr txBox="1"/>
          <p:nvPr/>
        </p:nvSpPr>
        <p:spPr>
          <a:xfrm>
            <a:off x="722375" y="2670048"/>
            <a:ext cx="2427732" cy="411480"/>
          </a:xfrm>
          <a:prstGeom prst="rect">
            <a:avLst/>
          </a:prstGeom>
          <a:noFill/>
        </p:spPr>
        <p:txBody>
          <a:bodyPr wrap="square" rtlCol="0" anchor="t"/>
          <a:lstStyle/>
          <a:p>
            <a:pPr algn="ctr"/>
            <a:r>
              <a:rPr lang="en-US" sz="2000" b="1" dirty="0">
                <a:solidFill>
                  <a:schemeClr val="tx2"/>
                </a:solidFill>
                <a:latin typeface="Trebuchet MS"/>
              </a:rPr>
              <a:t>₹1,650 Cr</a:t>
            </a:r>
          </a:p>
        </p:txBody>
      </p:sp>
      <p:sp>
        <p:nvSpPr>
          <p:cNvPr id="372" name="TB372"/>
          <p:cNvSpPr txBox="1"/>
          <p:nvPr/>
        </p:nvSpPr>
        <p:spPr>
          <a:xfrm>
            <a:off x="722375" y="3081528"/>
            <a:ext cx="2427732" cy="182880"/>
          </a:xfrm>
          <a:prstGeom prst="rect">
            <a:avLst/>
          </a:prstGeom>
          <a:noFill/>
        </p:spPr>
        <p:txBody>
          <a:bodyPr wrap="square" rtlCol="0" anchor="t"/>
          <a:lstStyle/>
          <a:p>
            <a:pPr algn="ctr"/>
            <a:r>
              <a:rPr lang="en-US" sz="1000" dirty="0">
                <a:solidFill>
                  <a:srgbClr val="6E6F73"/>
                </a:solidFill>
                <a:latin typeface="Trebuchet MS"/>
              </a:rPr>
              <a:t>5-yr NPV</a:t>
            </a:r>
          </a:p>
        </p:txBody>
      </p:sp>
      <p:sp>
        <p:nvSpPr>
          <p:cNvPr id="373" name="BL373"/>
          <p:cNvSpPr txBox="1"/>
          <p:nvPr/>
        </p:nvSpPr>
        <p:spPr>
          <a:xfrm>
            <a:off x="740664" y="3355848"/>
            <a:ext cx="2391156" cy="1828800"/>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Refer Max patients to KIMS for South India specialty needs</a:t>
            </a:r>
          </a:p>
          <a:p>
            <a:pPr marL="228600" indent="-228600" algn="l">
              <a:spcAft>
                <a:spcPts val="400"/>
              </a:spcAft>
              <a:buChar char="-"/>
            </a:pPr>
            <a:r>
              <a:rPr lang="en-US" sz="1100" dirty="0">
                <a:solidFill>
                  <a:srgbClr val="575757"/>
                </a:solidFill>
                <a:latin typeface="Trebuchet MS"/>
              </a:rPr>
              <a:t>Onboard HCG oncology to all Max sites (currently &lt;12% of revenue)</a:t>
            </a:r>
          </a:p>
          <a:p>
            <a:pPr marL="228600" indent="-228600" algn="l">
              <a:spcAft>
                <a:spcPts val="400"/>
              </a:spcAft>
              <a:buChar char="-"/>
            </a:pPr>
            <a:r>
              <a:rPr lang="en-US" sz="1100" dirty="0">
                <a:solidFill>
                  <a:srgbClr val="575757"/>
                </a:solidFill>
                <a:latin typeface="Trebuchet MS"/>
              </a:rPr>
              <a:t>Rainbow pediatric care plugged into Max OB-GYN funnel</a:t>
            </a:r>
          </a:p>
          <a:p>
            <a:pPr marL="228600" indent="-228600" algn="l">
              <a:spcAft>
                <a:spcPts val="400"/>
              </a:spcAft>
              <a:buChar char="-"/>
            </a:pPr>
            <a:r>
              <a:rPr lang="en-US" sz="1100" dirty="0">
                <a:solidFill>
                  <a:srgbClr val="575757"/>
                </a:solidFill>
                <a:latin typeface="Trebuchet MS"/>
              </a:rPr>
              <a:t>International medical tourism via integrated brand</a:t>
            </a:r>
          </a:p>
        </p:txBody>
      </p:sp>
      <p:sp>
        <p:nvSpPr>
          <p:cNvPr id="374" name="RR374"/>
          <p:cNvSpPr/>
          <p:nvPr/>
        </p:nvSpPr>
        <p:spPr>
          <a:xfrm>
            <a:off x="3406140" y="2075688"/>
            <a:ext cx="2610612" cy="320040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75" name="R375"/>
          <p:cNvSpPr/>
          <p:nvPr/>
        </p:nvSpPr>
        <p:spPr>
          <a:xfrm>
            <a:off x="3406140" y="2075688"/>
            <a:ext cx="2610612" cy="54864"/>
          </a:xfrm>
          <a:prstGeom prst="rect">
            <a:avLst/>
          </a:prstGeom>
          <a:solidFill>
            <a:srgbClr val="295E7E"/>
          </a:solidFill>
          <a:ln>
            <a:noFill/>
          </a:ln>
        </p:spPr>
        <p:txBody>
          <a:bodyPr/>
          <a:lstStyle/>
          <a:p>
            <a:endParaRPr lang="en-US"/>
          </a:p>
        </p:txBody>
      </p:sp>
      <p:sp>
        <p:nvSpPr>
          <p:cNvPr id="376" name="R376"/>
          <p:cNvSpPr/>
          <p:nvPr/>
        </p:nvSpPr>
        <p:spPr>
          <a:xfrm>
            <a:off x="3406140" y="2075688"/>
            <a:ext cx="2610612" cy="502920"/>
          </a:xfrm>
          <a:prstGeom prst="rect">
            <a:avLst/>
          </a:prstGeom>
          <a:solidFill>
            <a:srgbClr val="295E7E"/>
          </a:solidFill>
          <a:ln>
            <a:noFill/>
          </a:ln>
        </p:spPr>
        <p:txBody>
          <a:bodyPr/>
          <a:lstStyle/>
          <a:p>
            <a:endParaRPr lang="en-US"/>
          </a:p>
        </p:txBody>
      </p:sp>
      <p:sp>
        <p:nvSpPr>
          <p:cNvPr id="377" name="TB377"/>
          <p:cNvSpPr txBox="1"/>
          <p:nvPr/>
        </p:nvSpPr>
        <p:spPr>
          <a:xfrm>
            <a:off x="3497580" y="2112264"/>
            <a:ext cx="2427732" cy="164592"/>
          </a:xfrm>
          <a:prstGeom prst="rect">
            <a:avLst/>
          </a:prstGeom>
          <a:noFill/>
        </p:spPr>
        <p:txBody>
          <a:bodyPr wrap="square" rtlCol="0" anchor="t"/>
          <a:lstStyle/>
          <a:p>
            <a:r>
              <a:rPr lang="en-US" sz="900" b="1" dirty="0">
                <a:solidFill>
                  <a:srgbClr val="FFFFFF"/>
                </a:solidFill>
                <a:latin typeface="Trebuchet MS"/>
              </a:rPr>
              <a:t>REVENUE</a:t>
            </a:r>
          </a:p>
        </p:txBody>
      </p:sp>
      <p:sp>
        <p:nvSpPr>
          <p:cNvPr id="378" name="TB378"/>
          <p:cNvSpPr txBox="1"/>
          <p:nvPr/>
        </p:nvSpPr>
        <p:spPr>
          <a:xfrm>
            <a:off x="3497580" y="2276856"/>
            <a:ext cx="2427732" cy="274320"/>
          </a:xfrm>
          <a:prstGeom prst="rect">
            <a:avLst/>
          </a:prstGeom>
          <a:noFill/>
        </p:spPr>
        <p:txBody>
          <a:bodyPr wrap="square" rtlCol="0" anchor="t"/>
          <a:lstStyle/>
          <a:p>
            <a:r>
              <a:rPr lang="en-US" sz="1300" b="1" dirty="0">
                <a:solidFill>
                  <a:srgbClr val="FFFFFF"/>
                </a:solidFill>
                <a:latin typeface="Trebuchet MS"/>
              </a:rPr>
              <a:t>Pricing &amp; Mix</a:t>
            </a:r>
          </a:p>
        </p:txBody>
      </p:sp>
      <p:sp>
        <p:nvSpPr>
          <p:cNvPr id="379" name="TB379"/>
          <p:cNvSpPr txBox="1"/>
          <p:nvPr/>
        </p:nvSpPr>
        <p:spPr>
          <a:xfrm>
            <a:off x="3497580" y="2670048"/>
            <a:ext cx="2427732" cy="411480"/>
          </a:xfrm>
          <a:prstGeom prst="rect">
            <a:avLst/>
          </a:prstGeom>
          <a:noFill/>
        </p:spPr>
        <p:txBody>
          <a:bodyPr wrap="square" rtlCol="0" anchor="t"/>
          <a:lstStyle/>
          <a:p>
            <a:pPr algn="ctr"/>
            <a:r>
              <a:rPr lang="en-US" sz="2000" b="1" dirty="0">
                <a:solidFill>
                  <a:srgbClr val="295E7E"/>
                </a:solidFill>
                <a:latin typeface="Trebuchet MS"/>
              </a:rPr>
              <a:t>₹950 Cr</a:t>
            </a:r>
          </a:p>
        </p:txBody>
      </p:sp>
      <p:sp>
        <p:nvSpPr>
          <p:cNvPr id="380" name="TB380"/>
          <p:cNvSpPr txBox="1"/>
          <p:nvPr/>
        </p:nvSpPr>
        <p:spPr>
          <a:xfrm>
            <a:off x="3497580" y="3081528"/>
            <a:ext cx="2427732" cy="182880"/>
          </a:xfrm>
          <a:prstGeom prst="rect">
            <a:avLst/>
          </a:prstGeom>
          <a:noFill/>
        </p:spPr>
        <p:txBody>
          <a:bodyPr wrap="square" rtlCol="0" anchor="t"/>
          <a:lstStyle/>
          <a:p>
            <a:pPr algn="ctr"/>
            <a:r>
              <a:rPr lang="en-US" sz="1000" dirty="0">
                <a:solidFill>
                  <a:srgbClr val="6E6F73"/>
                </a:solidFill>
                <a:latin typeface="Trebuchet MS"/>
              </a:rPr>
              <a:t>5-yr NPV</a:t>
            </a:r>
          </a:p>
        </p:txBody>
      </p:sp>
      <p:sp>
        <p:nvSpPr>
          <p:cNvPr id="381" name="BL381"/>
          <p:cNvSpPr txBox="1"/>
          <p:nvPr/>
        </p:nvSpPr>
        <p:spPr>
          <a:xfrm>
            <a:off x="3515868" y="3355848"/>
            <a:ext cx="2391156" cy="1828800"/>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Insurance panel re-negotiation with combined volume</a:t>
            </a:r>
          </a:p>
          <a:p>
            <a:pPr marL="228600" indent="-228600" algn="l">
              <a:spcAft>
                <a:spcPts val="400"/>
              </a:spcAft>
              <a:buChar char="-"/>
            </a:pPr>
            <a:r>
              <a:rPr lang="en-US" sz="1100" dirty="0">
                <a:solidFill>
                  <a:srgbClr val="575757"/>
                </a:solidFill>
                <a:latin typeface="Trebuchet MS"/>
              </a:rPr>
              <a:t>Premium specialty pricing (oncology, neuro, cardiac)</a:t>
            </a:r>
          </a:p>
          <a:p>
            <a:pPr marL="228600" indent="-228600" algn="l">
              <a:spcAft>
                <a:spcPts val="400"/>
              </a:spcAft>
              <a:buChar char="-"/>
            </a:pPr>
            <a:r>
              <a:rPr lang="en-US" sz="1100" dirty="0">
                <a:solidFill>
                  <a:srgbClr val="575757"/>
                </a:solidFill>
                <a:latin typeface="Trebuchet MS"/>
              </a:rPr>
              <a:t>Higher-margin payor mix (cash + corporate + intl tourism)</a:t>
            </a:r>
          </a:p>
          <a:p>
            <a:pPr marL="228600" indent="-228600" algn="l">
              <a:spcAft>
                <a:spcPts val="400"/>
              </a:spcAft>
              <a:buChar char="-"/>
            </a:pPr>
            <a:r>
              <a:rPr lang="en-US" sz="1100" dirty="0">
                <a:solidFill>
                  <a:srgbClr val="575757"/>
                </a:solidFill>
                <a:latin typeface="Trebuchet MS"/>
              </a:rPr>
              <a:t>ARPOB lift of 8-12% from upsell into integrated network</a:t>
            </a:r>
          </a:p>
        </p:txBody>
      </p:sp>
      <p:sp>
        <p:nvSpPr>
          <p:cNvPr id="382" name="RR382"/>
          <p:cNvSpPr/>
          <p:nvPr/>
        </p:nvSpPr>
        <p:spPr>
          <a:xfrm>
            <a:off x="6181344" y="2075688"/>
            <a:ext cx="2610612" cy="320040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83" name="R383"/>
          <p:cNvSpPr/>
          <p:nvPr/>
        </p:nvSpPr>
        <p:spPr>
          <a:xfrm>
            <a:off x="6181344" y="2075688"/>
            <a:ext cx="2610612" cy="54864"/>
          </a:xfrm>
          <a:prstGeom prst="rect">
            <a:avLst/>
          </a:prstGeom>
          <a:solidFill>
            <a:srgbClr val="575757"/>
          </a:solidFill>
          <a:ln>
            <a:noFill/>
          </a:ln>
        </p:spPr>
        <p:txBody>
          <a:bodyPr/>
          <a:lstStyle/>
          <a:p>
            <a:endParaRPr lang="en-US"/>
          </a:p>
        </p:txBody>
      </p:sp>
      <p:sp>
        <p:nvSpPr>
          <p:cNvPr id="384" name="R384"/>
          <p:cNvSpPr/>
          <p:nvPr/>
        </p:nvSpPr>
        <p:spPr>
          <a:xfrm>
            <a:off x="6181344" y="2075688"/>
            <a:ext cx="2610612" cy="502920"/>
          </a:xfrm>
          <a:prstGeom prst="rect">
            <a:avLst/>
          </a:prstGeom>
          <a:solidFill>
            <a:srgbClr val="575757"/>
          </a:solidFill>
          <a:ln>
            <a:noFill/>
          </a:ln>
        </p:spPr>
        <p:txBody>
          <a:bodyPr/>
          <a:lstStyle/>
          <a:p>
            <a:endParaRPr lang="en-US"/>
          </a:p>
        </p:txBody>
      </p:sp>
      <p:sp>
        <p:nvSpPr>
          <p:cNvPr id="385" name="TB385"/>
          <p:cNvSpPr txBox="1"/>
          <p:nvPr/>
        </p:nvSpPr>
        <p:spPr>
          <a:xfrm>
            <a:off x="6272784" y="2112264"/>
            <a:ext cx="2427732" cy="164592"/>
          </a:xfrm>
          <a:prstGeom prst="rect">
            <a:avLst/>
          </a:prstGeom>
          <a:noFill/>
        </p:spPr>
        <p:txBody>
          <a:bodyPr wrap="square" rtlCol="0" anchor="t"/>
          <a:lstStyle/>
          <a:p>
            <a:r>
              <a:rPr lang="en-US" sz="900" b="1" dirty="0">
                <a:solidFill>
                  <a:srgbClr val="FFFFFF"/>
                </a:solidFill>
                <a:latin typeface="Trebuchet MS"/>
              </a:rPr>
              <a:t>COST</a:t>
            </a:r>
          </a:p>
        </p:txBody>
      </p:sp>
      <p:sp>
        <p:nvSpPr>
          <p:cNvPr id="386" name="TB386"/>
          <p:cNvSpPr txBox="1"/>
          <p:nvPr/>
        </p:nvSpPr>
        <p:spPr>
          <a:xfrm>
            <a:off x="6272784" y="2276856"/>
            <a:ext cx="2427732" cy="274320"/>
          </a:xfrm>
          <a:prstGeom prst="rect">
            <a:avLst/>
          </a:prstGeom>
          <a:noFill/>
        </p:spPr>
        <p:txBody>
          <a:bodyPr wrap="square" rtlCol="0" anchor="t"/>
          <a:lstStyle/>
          <a:p>
            <a:r>
              <a:rPr lang="en-US" sz="1300" b="1" dirty="0">
                <a:solidFill>
                  <a:srgbClr val="FFFFFF"/>
                </a:solidFill>
                <a:latin typeface="Trebuchet MS"/>
              </a:rPr>
              <a:t>Procurement</a:t>
            </a:r>
          </a:p>
        </p:txBody>
      </p:sp>
      <p:sp>
        <p:nvSpPr>
          <p:cNvPr id="387" name="TB387"/>
          <p:cNvSpPr txBox="1"/>
          <p:nvPr/>
        </p:nvSpPr>
        <p:spPr>
          <a:xfrm>
            <a:off x="6272784" y="2670048"/>
            <a:ext cx="2427732" cy="411480"/>
          </a:xfrm>
          <a:prstGeom prst="rect">
            <a:avLst/>
          </a:prstGeom>
          <a:noFill/>
        </p:spPr>
        <p:txBody>
          <a:bodyPr wrap="square" rtlCol="0" anchor="t"/>
          <a:lstStyle/>
          <a:p>
            <a:pPr algn="ctr"/>
            <a:r>
              <a:rPr lang="en-US" sz="2000" b="1" dirty="0">
                <a:solidFill>
                  <a:srgbClr val="575757"/>
                </a:solidFill>
                <a:latin typeface="Trebuchet MS"/>
              </a:rPr>
              <a:t>₹1,250 Cr</a:t>
            </a:r>
          </a:p>
        </p:txBody>
      </p:sp>
      <p:sp>
        <p:nvSpPr>
          <p:cNvPr id="388" name="TB388"/>
          <p:cNvSpPr txBox="1"/>
          <p:nvPr/>
        </p:nvSpPr>
        <p:spPr>
          <a:xfrm>
            <a:off x="6272784" y="3081528"/>
            <a:ext cx="2427732" cy="182880"/>
          </a:xfrm>
          <a:prstGeom prst="rect">
            <a:avLst/>
          </a:prstGeom>
          <a:noFill/>
        </p:spPr>
        <p:txBody>
          <a:bodyPr wrap="square" rtlCol="0" anchor="t"/>
          <a:lstStyle/>
          <a:p>
            <a:pPr algn="ctr"/>
            <a:r>
              <a:rPr lang="en-US" sz="1000" dirty="0">
                <a:solidFill>
                  <a:srgbClr val="6E6F73"/>
                </a:solidFill>
                <a:latin typeface="Trebuchet MS"/>
              </a:rPr>
              <a:t>5-yr NPV</a:t>
            </a:r>
          </a:p>
        </p:txBody>
      </p:sp>
      <p:sp>
        <p:nvSpPr>
          <p:cNvPr id="389" name="BL389"/>
          <p:cNvSpPr txBox="1"/>
          <p:nvPr/>
        </p:nvSpPr>
        <p:spPr>
          <a:xfrm>
            <a:off x="6291072" y="3355848"/>
            <a:ext cx="2391156" cy="1828800"/>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₹1,800 Cr combined pharma/consumable spend pooled</a:t>
            </a:r>
          </a:p>
          <a:p>
            <a:pPr marL="228600" indent="-228600" algn="l">
              <a:spcAft>
                <a:spcPts val="400"/>
              </a:spcAft>
              <a:buChar char="-"/>
            </a:pPr>
            <a:r>
              <a:rPr lang="en-US" sz="1100" dirty="0">
                <a:solidFill>
                  <a:srgbClr val="575757"/>
                </a:solidFill>
                <a:latin typeface="Trebuchet MS"/>
              </a:rPr>
              <a:t>12-15% savings on devices, implants, consumables</a:t>
            </a:r>
          </a:p>
          <a:p>
            <a:pPr marL="228600" indent="-228600" algn="l">
              <a:spcAft>
                <a:spcPts val="400"/>
              </a:spcAft>
              <a:buChar char="-"/>
            </a:pPr>
            <a:r>
              <a:rPr lang="en-US" sz="1100" dirty="0">
                <a:solidFill>
                  <a:srgbClr val="575757"/>
                </a:solidFill>
                <a:latin typeface="Trebuchet MS"/>
              </a:rPr>
              <a:t>Group GPO arrangements with MNC suppliers</a:t>
            </a:r>
          </a:p>
          <a:p>
            <a:pPr marL="228600" indent="-228600" algn="l">
              <a:spcAft>
                <a:spcPts val="400"/>
              </a:spcAft>
              <a:buChar char="-"/>
            </a:pPr>
            <a:r>
              <a:rPr lang="en-US" sz="1100" dirty="0">
                <a:solidFill>
                  <a:srgbClr val="575757"/>
                </a:solidFill>
                <a:latin typeface="Trebuchet MS"/>
              </a:rPr>
              <a:t>Shared diagnostics, blood bank, central kitchen</a:t>
            </a:r>
          </a:p>
        </p:txBody>
      </p:sp>
      <p:sp>
        <p:nvSpPr>
          <p:cNvPr id="390" name="RR390"/>
          <p:cNvSpPr/>
          <p:nvPr/>
        </p:nvSpPr>
        <p:spPr>
          <a:xfrm>
            <a:off x="8956548" y="2075688"/>
            <a:ext cx="2610612" cy="320040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91" name="R391"/>
          <p:cNvSpPr/>
          <p:nvPr/>
        </p:nvSpPr>
        <p:spPr>
          <a:xfrm>
            <a:off x="8956548" y="2075688"/>
            <a:ext cx="2610612" cy="54864"/>
          </a:xfrm>
          <a:prstGeom prst="rect">
            <a:avLst/>
          </a:prstGeom>
          <a:solidFill>
            <a:srgbClr val="197A56"/>
          </a:solidFill>
          <a:ln>
            <a:noFill/>
          </a:ln>
        </p:spPr>
        <p:txBody>
          <a:bodyPr/>
          <a:lstStyle/>
          <a:p>
            <a:endParaRPr lang="en-US"/>
          </a:p>
        </p:txBody>
      </p:sp>
      <p:sp>
        <p:nvSpPr>
          <p:cNvPr id="392" name="R392"/>
          <p:cNvSpPr/>
          <p:nvPr/>
        </p:nvSpPr>
        <p:spPr>
          <a:xfrm>
            <a:off x="8956548" y="2075688"/>
            <a:ext cx="2610612" cy="502920"/>
          </a:xfrm>
          <a:prstGeom prst="rect">
            <a:avLst/>
          </a:prstGeom>
          <a:solidFill>
            <a:schemeClr val="accent1"/>
          </a:solidFill>
          <a:ln>
            <a:noFill/>
          </a:ln>
        </p:spPr>
        <p:txBody>
          <a:bodyPr/>
          <a:lstStyle/>
          <a:p>
            <a:endParaRPr lang="en-US"/>
          </a:p>
        </p:txBody>
      </p:sp>
      <p:sp>
        <p:nvSpPr>
          <p:cNvPr id="393" name="TB393"/>
          <p:cNvSpPr txBox="1"/>
          <p:nvPr/>
        </p:nvSpPr>
        <p:spPr>
          <a:xfrm>
            <a:off x="9047988" y="2112264"/>
            <a:ext cx="2427732" cy="164592"/>
          </a:xfrm>
          <a:prstGeom prst="rect">
            <a:avLst/>
          </a:prstGeom>
          <a:noFill/>
        </p:spPr>
        <p:txBody>
          <a:bodyPr wrap="square" rtlCol="0" anchor="t"/>
          <a:lstStyle/>
          <a:p>
            <a:r>
              <a:rPr lang="en-US" sz="900" b="1" dirty="0">
                <a:solidFill>
                  <a:srgbClr val="FFFFFF"/>
                </a:solidFill>
                <a:latin typeface="Trebuchet MS"/>
              </a:rPr>
              <a:t>COST + CAPITAL</a:t>
            </a:r>
          </a:p>
        </p:txBody>
      </p:sp>
      <p:sp>
        <p:nvSpPr>
          <p:cNvPr id="394" name="TB394"/>
          <p:cNvSpPr txBox="1"/>
          <p:nvPr/>
        </p:nvSpPr>
        <p:spPr>
          <a:xfrm>
            <a:off x="9047988" y="2276856"/>
            <a:ext cx="2427732" cy="274320"/>
          </a:xfrm>
          <a:prstGeom prst="rect">
            <a:avLst/>
          </a:prstGeom>
          <a:noFill/>
        </p:spPr>
        <p:txBody>
          <a:bodyPr wrap="square" rtlCol="0" anchor="t"/>
          <a:lstStyle/>
          <a:p>
            <a:r>
              <a:rPr lang="en-US" sz="1300" b="1" dirty="0">
                <a:solidFill>
                  <a:srgbClr val="FFFFFF"/>
                </a:solidFill>
                <a:latin typeface="Trebuchet MS"/>
              </a:rPr>
              <a:t>Corporate &amp; Capex</a:t>
            </a:r>
          </a:p>
        </p:txBody>
      </p:sp>
      <p:sp>
        <p:nvSpPr>
          <p:cNvPr id="395" name="TB395"/>
          <p:cNvSpPr txBox="1"/>
          <p:nvPr/>
        </p:nvSpPr>
        <p:spPr>
          <a:xfrm>
            <a:off x="9047988" y="2670048"/>
            <a:ext cx="2427732" cy="411480"/>
          </a:xfrm>
          <a:prstGeom prst="rect">
            <a:avLst/>
          </a:prstGeom>
          <a:noFill/>
        </p:spPr>
        <p:txBody>
          <a:bodyPr wrap="square" rtlCol="0" anchor="t"/>
          <a:lstStyle/>
          <a:p>
            <a:pPr algn="ctr"/>
            <a:r>
              <a:rPr lang="en-US" sz="2000" b="1" dirty="0">
                <a:solidFill>
                  <a:schemeClr val="accent1"/>
                </a:solidFill>
                <a:latin typeface="Trebuchet MS"/>
              </a:rPr>
              <a:t>₹650 Cr</a:t>
            </a:r>
          </a:p>
        </p:txBody>
      </p:sp>
      <p:sp>
        <p:nvSpPr>
          <p:cNvPr id="396" name="TB396"/>
          <p:cNvSpPr txBox="1"/>
          <p:nvPr/>
        </p:nvSpPr>
        <p:spPr>
          <a:xfrm>
            <a:off x="9047988" y="3081528"/>
            <a:ext cx="2427732" cy="182880"/>
          </a:xfrm>
          <a:prstGeom prst="rect">
            <a:avLst/>
          </a:prstGeom>
          <a:noFill/>
        </p:spPr>
        <p:txBody>
          <a:bodyPr wrap="square" rtlCol="0" anchor="t"/>
          <a:lstStyle/>
          <a:p>
            <a:pPr algn="ctr"/>
            <a:r>
              <a:rPr lang="en-US" sz="1000" dirty="0">
                <a:solidFill>
                  <a:srgbClr val="6E6F73"/>
                </a:solidFill>
                <a:latin typeface="Trebuchet MS"/>
              </a:rPr>
              <a:t>5-yr NPV</a:t>
            </a:r>
          </a:p>
        </p:txBody>
      </p:sp>
      <p:sp>
        <p:nvSpPr>
          <p:cNvPr id="397" name="BL397"/>
          <p:cNvSpPr txBox="1"/>
          <p:nvPr/>
        </p:nvSpPr>
        <p:spPr>
          <a:xfrm>
            <a:off x="9066276" y="3355848"/>
            <a:ext cx="2391156" cy="1828800"/>
          </a:xfrm>
          <a:prstGeom prst="rect">
            <a:avLst/>
          </a:prstGeom>
          <a:noFill/>
        </p:spPr>
        <p:txBody>
          <a:bodyPr wrap="square" rtlCol="0" anchor="t"/>
          <a:lstStyle/>
          <a:p>
            <a:pPr marL="228600" indent="-228600" algn="l">
              <a:spcAft>
                <a:spcPts val="400"/>
              </a:spcAft>
              <a:buChar char="-"/>
            </a:pPr>
            <a:r>
              <a:rPr lang="en-US" sz="1100" dirty="0">
                <a:solidFill>
                  <a:srgbClr val="575757"/>
                </a:solidFill>
                <a:latin typeface="Trebuchet MS"/>
              </a:rPr>
              <a:t>Corporate functions: F&amp;A, IT, HR consolidation (~120 FTEs)</a:t>
            </a:r>
          </a:p>
          <a:p>
            <a:pPr marL="228600" indent="-228600" algn="l">
              <a:spcAft>
                <a:spcPts val="400"/>
              </a:spcAft>
              <a:buChar char="-"/>
            </a:pPr>
            <a:r>
              <a:rPr lang="en-US" sz="1100" dirty="0">
                <a:solidFill>
                  <a:srgbClr val="575757"/>
                </a:solidFill>
                <a:latin typeface="Trebuchet MS"/>
              </a:rPr>
              <a:t>Common ERP, EHR, RCM platform — ₹150 Cr capex avoidance</a:t>
            </a:r>
          </a:p>
          <a:p>
            <a:pPr marL="228600" indent="-228600" algn="l">
              <a:spcAft>
                <a:spcPts val="400"/>
              </a:spcAft>
              <a:buChar char="-"/>
            </a:pPr>
            <a:r>
              <a:rPr lang="en-US" sz="1100" dirty="0">
                <a:solidFill>
                  <a:srgbClr val="575757"/>
                </a:solidFill>
                <a:latin typeface="Trebuchet MS"/>
              </a:rPr>
              <a:t>Real-estate optimization &amp; shared services centers</a:t>
            </a:r>
          </a:p>
          <a:p>
            <a:pPr marL="228600" indent="-228600" algn="l">
              <a:spcAft>
                <a:spcPts val="400"/>
              </a:spcAft>
              <a:buChar char="-"/>
            </a:pPr>
            <a:r>
              <a:rPr lang="en-US" sz="1100" dirty="0">
                <a:solidFill>
                  <a:srgbClr val="575757"/>
                </a:solidFill>
                <a:latin typeface="Trebuchet MS"/>
              </a:rPr>
              <a:t>Working capital release via centralized treasury</a:t>
            </a:r>
          </a:p>
        </p:txBody>
      </p:sp>
      <p:sp>
        <p:nvSpPr>
          <p:cNvPr id="398" name="RR398"/>
          <p:cNvSpPr/>
          <p:nvPr/>
        </p:nvSpPr>
        <p:spPr>
          <a:xfrm>
            <a:off x="630936" y="5440680"/>
            <a:ext cx="10936224" cy="502920"/>
          </a:xfrm>
          <a:prstGeom prst="roundRect">
            <a:avLst>
              <a:gd name="adj" fmla="val 5000"/>
            </a:avLst>
          </a:prstGeom>
          <a:solidFill>
            <a:srgbClr val="F2F2F2"/>
          </a:solidFill>
          <a:ln w="12700">
            <a:solidFill>
              <a:schemeClr val="tx2"/>
            </a:solidFill>
          </a:ln>
        </p:spPr>
        <p:txBody>
          <a:bodyPr/>
          <a:lstStyle/>
          <a:p>
            <a:endParaRPr lang="en-US"/>
          </a:p>
        </p:txBody>
      </p:sp>
      <p:sp>
        <p:nvSpPr>
          <p:cNvPr id="399" name="TB399"/>
          <p:cNvSpPr txBox="1"/>
          <p:nvPr/>
        </p:nvSpPr>
        <p:spPr>
          <a:xfrm>
            <a:off x="813815" y="5440680"/>
            <a:ext cx="10570464" cy="502920"/>
          </a:xfrm>
          <a:prstGeom prst="rect">
            <a:avLst/>
          </a:prstGeom>
          <a:noFill/>
        </p:spPr>
        <p:txBody>
          <a:bodyPr wrap="square" rtlCol="0" anchor="ctr"/>
          <a:lstStyle/>
          <a:p>
            <a:r>
              <a:rPr lang="en-US" sz="1200" b="1" dirty="0">
                <a:solidFill>
                  <a:srgbClr val="575757"/>
                </a:solidFill>
                <a:latin typeface="Trebuchet MS"/>
              </a:rPr>
              <a:t>Total synergy NPV: ₹4,500 Cr (5-year, post-tax). </a:t>
            </a:r>
            <a:r>
              <a:rPr lang="en-US" sz="1200" dirty="0">
                <a:solidFill>
                  <a:srgbClr val="575757"/>
                </a:solidFill>
                <a:latin typeface="Trebuchet MS"/>
              </a:rPr>
              <a:t>60% revenue / 40% cost+capital. Run-rate by Year 3; integration cost ~₹600 Cr (one-time)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95C6D72-9A0C-CD2F-CC8F-05952AC826D8}"/>
              </a:ext>
            </a:extLst>
          </p:cNvPr>
          <p:cNvGraphicFramePr>
            <a:graphicFrameLocks noChangeAspect="1"/>
          </p:cNvGraphicFramePr>
          <p:nvPr>
            <p:custDataLst>
              <p:tags r:id="rId1"/>
            </p:custDataLst>
            <p:extLst>
              <p:ext uri="{D42A27DB-BD31-4B8C-83A1-F6EECF244321}">
                <p14:modId xmlns:p14="http://schemas.microsoft.com/office/powerpoint/2010/main" val="15456679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00" name="ph_title"/>
          <p:cNvSpPr>
            <a:spLocks noGrp="1"/>
          </p:cNvSpPr>
          <p:nvPr>
            <p:ph type="title"/>
          </p:nvPr>
        </p:nvSpPr>
        <p:spPr/>
        <p:txBody>
          <a:bodyPr vert="horz"/>
          <a:lstStyle/>
          <a:p>
            <a:r>
              <a:rPr lang="en-US" dirty="0"/>
              <a:t>Synergy run-rate of ₹1,250 Cr/yr by FY29 — 65% achieved by Year 3</a:t>
            </a:r>
          </a:p>
        </p:txBody>
      </p:sp>
      <p:sp>
        <p:nvSpPr>
          <p:cNvPr id="401" name="R401"/>
          <p:cNvSpPr/>
          <p:nvPr/>
        </p:nvSpPr>
        <p:spPr>
          <a:xfrm>
            <a:off x="7922361" y="2075688"/>
            <a:ext cx="3644798" cy="365760"/>
          </a:xfrm>
          <a:prstGeom prst="rect">
            <a:avLst/>
          </a:prstGeom>
          <a:solidFill>
            <a:srgbClr val="242852"/>
          </a:solidFill>
          <a:ln>
            <a:noFill/>
          </a:ln>
        </p:spPr>
        <p:txBody>
          <a:bodyPr/>
          <a:lstStyle/>
          <a:p>
            <a:endParaRPr lang="en-US"/>
          </a:p>
        </p:txBody>
      </p:sp>
      <p:sp>
        <p:nvSpPr>
          <p:cNvPr id="402" name="TB402"/>
          <p:cNvSpPr txBox="1"/>
          <p:nvPr/>
        </p:nvSpPr>
        <p:spPr>
          <a:xfrm>
            <a:off x="8059521" y="2075688"/>
            <a:ext cx="3370478" cy="365760"/>
          </a:xfrm>
          <a:prstGeom prst="rect">
            <a:avLst/>
          </a:prstGeom>
          <a:noFill/>
        </p:spPr>
        <p:txBody>
          <a:bodyPr wrap="square" rtlCol="0" anchor="ctr"/>
          <a:lstStyle/>
          <a:p>
            <a:r>
              <a:rPr lang="en-US" sz="1400" b="1" dirty="0">
                <a:solidFill>
                  <a:srgbClr val="FFFFFF"/>
                </a:solidFill>
                <a:latin typeface="Trebuchet MS"/>
              </a:rPr>
              <a:t>Phasing Logic</a:t>
            </a:r>
          </a:p>
        </p:txBody>
      </p:sp>
      <p:sp>
        <p:nvSpPr>
          <p:cNvPr id="403" name="BL403"/>
          <p:cNvSpPr txBox="1"/>
          <p:nvPr/>
        </p:nvSpPr>
        <p:spPr>
          <a:xfrm>
            <a:off x="8013801" y="2532888"/>
            <a:ext cx="3461918" cy="1895185"/>
          </a:xfrm>
          <a:prstGeom prst="rect">
            <a:avLst/>
          </a:prstGeom>
          <a:noFill/>
        </p:spPr>
        <p:txBody>
          <a:bodyPr wrap="square" rtlCol="0" anchor="t"/>
          <a:lstStyle/>
          <a:p>
            <a:pPr marL="228600" indent="-228600" algn="l">
              <a:spcAft>
                <a:spcPts val="800"/>
              </a:spcAft>
              <a:buChar char="-"/>
            </a:pPr>
            <a:r>
              <a:rPr lang="en-US" sz="1200" b="1" dirty="0">
                <a:solidFill>
                  <a:schemeClr val="tx2"/>
                </a:solidFill>
                <a:latin typeface="Trebuchet MS"/>
              </a:rPr>
              <a:t>Year 1: </a:t>
            </a:r>
            <a:r>
              <a:rPr lang="en-US" sz="1200" dirty="0">
                <a:solidFill>
                  <a:srgbClr val="575757"/>
                </a:solidFill>
                <a:latin typeface="Trebuchet MS"/>
              </a:rPr>
              <a:t>Quick wins — procurement renegotiation, corporate consolidation (~₹300 Cr)</a:t>
            </a:r>
          </a:p>
          <a:p>
            <a:pPr marL="228600" indent="-228600" algn="l">
              <a:spcAft>
                <a:spcPts val="800"/>
              </a:spcAft>
              <a:buChar char="-"/>
            </a:pPr>
            <a:r>
              <a:rPr lang="en-US" sz="1200" b="1" dirty="0">
                <a:solidFill>
                  <a:schemeClr val="tx2"/>
                </a:solidFill>
                <a:latin typeface="Trebuchet MS"/>
              </a:rPr>
              <a:t>Year 2: </a:t>
            </a:r>
            <a:r>
              <a:rPr lang="en-US" sz="1200" dirty="0">
                <a:solidFill>
                  <a:srgbClr val="575757"/>
                </a:solidFill>
                <a:latin typeface="Trebuchet MS"/>
              </a:rPr>
              <a:t>Cross-sell ramp, IT integration, payor renegotiation (~₹710 Cr)</a:t>
            </a:r>
          </a:p>
          <a:p>
            <a:pPr marL="228600" indent="-228600" algn="l">
              <a:spcAft>
                <a:spcPts val="800"/>
              </a:spcAft>
              <a:buChar char="-"/>
            </a:pPr>
            <a:r>
              <a:rPr lang="en-US" sz="1200" b="1" dirty="0">
                <a:solidFill>
                  <a:schemeClr val="tx2"/>
                </a:solidFill>
                <a:latin typeface="Trebuchet MS"/>
              </a:rPr>
              <a:t>Year 3: </a:t>
            </a:r>
            <a:r>
              <a:rPr lang="en-US" sz="1200" dirty="0">
                <a:solidFill>
                  <a:srgbClr val="575757"/>
                </a:solidFill>
                <a:latin typeface="Trebuchet MS"/>
              </a:rPr>
              <a:t>Run-rate inflection — 65% of total realized (~₹1,210 Cr/yr)</a:t>
            </a:r>
          </a:p>
          <a:p>
            <a:pPr marL="228600" indent="-228600" algn="l">
              <a:spcAft>
                <a:spcPts val="800"/>
              </a:spcAft>
              <a:buChar char="-"/>
            </a:pPr>
            <a:r>
              <a:rPr lang="en-US" sz="1200" b="1" dirty="0">
                <a:solidFill>
                  <a:schemeClr val="tx2"/>
                </a:solidFill>
                <a:latin typeface="Trebuchet MS"/>
              </a:rPr>
              <a:t>Year 5: </a:t>
            </a:r>
            <a:r>
              <a:rPr lang="en-US" sz="1200" dirty="0">
                <a:solidFill>
                  <a:srgbClr val="575757"/>
                </a:solidFill>
                <a:latin typeface="Trebuchet MS"/>
              </a:rPr>
              <a:t>Full run-rate ₹1,755 Cr/yr; revenue dominates as cross-sell matures</a:t>
            </a:r>
          </a:p>
        </p:txBody>
      </p:sp>
      <p:sp>
        <p:nvSpPr>
          <p:cNvPr id="404" name="RR404"/>
          <p:cNvSpPr/>
          <p:nvPr/>
        </p:nvSpPr>
        <p:spPr>
          <a:xfrm>
            <a:off x="630936" y="4610953"/>
            <a:ext cx="2077516" cy="133264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05" name="R405"/>
          <p:cNvSpPr/>
          <p:nvPr/>
        </p:nvSpPr>
        <p:spPr>
          <a:xfrm>
            <a:off x="630936" y="4610953"/>
            <a:ext cx="73152" cy="1332646"/>
          </a:xfrm>
          <a:prstGeom prst="rect">
            <a:avLst/>
          </a:prstGeom>
          <a:solidFill>
            <a:srgbClr val="242852"/>
          </a:solidFill>
          <a:ln>
            <a:noFill/>
          </a:ln>
        </p:spPr>
        <p:txBody>
          <a:bodyPr/>
          <a:lstStyle/>
          <a:p>
            <a:endParaRPr lang="en-US"/>
          </a:p>
        </p:txBody>
      </p:sp>
      <p:sp>
        <p:nvSpPr>
          <p:cNvPr id="406" name="TB406"/>
          <p:cNvSpPr txBox="1"/>
          <p:nvPr/>
        </p:nvSpPr>
        <p:spPr>
          <a:xfrm>
            <a:off x="722375" y="4702393"/>
            <a:ext cx="1894636" cy="274320"/>
          </a:xfrm>
          <a:prstGeom prst="rect">
            <a:avLst/>
          </a:prstGeom>
          <a:noFill/>
        </p:spPr>
        <p:txBody>
          <a:bodyPr wrap="square" rtlCol="0" anchor="t"/>
          <a:lstStyle/>
          <a:p>
            <a:pPr algn="ctr"/>
            <a:r>
              <a:rPr lang="en-US" sz="1500" b="1" dirty="0">
                <a:solidFill>
                  <a:schemeClr val="tx2"/>
                </a:solidFill>
                <a:latin typeface="Trebuchet MS"/>
              </a:rPr>
              <a:t>₹4,500 Cr</a:t>
            </a:r>
          </a:p>
        </p:txBody>
      </p:sp>
      <p:sp>
        <p:nvSpPr>
          <p:cNvPr id="407" name="TB407"/>
          <p:cNvSpPr txBox="1"/>
          <p:nvPr/>
        </p:nvSpPr>
        <p:spPr>
          <a:xfrm>
            <a:off x="722375" y="5022433"/>
            <a:ext cx="1894636" cy="274320"/>
          </a:xfrm>
          <a:prstGeom prst="rect">
            <a:avLst/>
          </a:prstGeom>
          <a:noFill/>
        </p:spPr>
        <p:txBody>
          <a:bodyPr wrap="square" rtlCol="0" anchor="t"/>
          <a:lstStyle/>
          <a:p>
            <a:pPr algn="ctr"/>
            <a:r>
              <a:rPr lang="en-US" sz="1000" dirty="0">
                <a:solidFill>
                  <a:srgbClr val="575757"/>
                </a:solidFill>
                <a:latin typeface="Trebuchet MS"/>
              </a:rPr>
              <a:t>Total Synergy NPV</a:t>
            </a:r>
          </a:p>
        </p:txBody>
      </p:sp>
      <p:sp>
        <p:nvSpPr>
          <p:cNvPr id="408" name="RR408"/>
          <p:cNvSpPr/>
          <p:nvPr/>
        </p:nvSpPr>
        <p:spPr>
          <a:xfrm>
            <a:off x="2845612" y="4610953"/>
            <a:ext cx="2077516" cy="133264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09" name="R409"/>
          <p:cNvSpPr/>
          <p:nvPr/>
        </p:nvSpPr>
        <p:spPr>
          <a:xfrm>
            <a:off x="2845612" y="4610953"/>
            <a:ext cx="73152" cy="1332646"/>
          </a:xfrm>
          <a:prstGeom prst="rect">
            <a:avLst/>
          </a:prstGeom>
          <a:solidFill>
            <a:srgbClr val="242852"/>
          </a:solidFill>
          <a:ln>
            <a:noFill/>
          </a:ln>
        </p:spPr>
        <p:txBody>
          <a:bodyPr/>
          <a:lstStyle/>
          <a:p>
            <a:endParaRPr lang="en-US"/>
          </a:p>
        </p:txBody>
      </p:sp>
      <p:sp>
        <p:nvSpPr>
          <p:cNvPr id="410" name="TB410"/>
          <p:cNvSpPr txBox="1"/>
          <p:nvPr/>
        </p:nvSpPr>
        <p:spPr>
          <a:xfrm>
            <a:off x="2937052" y="4702393"/>
            <a:ext cx="1894636" cy="274320"/>
          </a:xfrm>
          <a:prstGeom prst="rect">
            <a:avLst/>
          </a:prstGeom>
          <a:noFill/>
        </p:spPr>
        <p:txBody>
          <a:bodyPr wrap="square" rtlCol="0" anchor="t"/>
          <a:lstStyle/>
          <a:p>
            <a:pPr algn="ctr"/>
            <a:r>
              <a:rPr lang="en-US" sz="1500" b="1" dirty="0">
                <a:solidFill>
                  <a:schemeClr val="tx2"/>
                </a:solidFill>
                <a:latin typeface="Trebuchet MS"/>
              </a:rPr>
              <a:t>₹1,755 Cr/yr</a:t>
            </a:r>
          </a:p>
        </p:txBody>
      </p:sp>
      <p:sp>
        <p:nvSpPr>
          <p:cNvPr id="411" name="TB411"/>
          <p:cNvSpPr txBox="1"/>
          <p:nvPr/>
        </p:nvSpPr>
        <p:spPr>
          <a:xfrm>
            <a:off x="2937052" y="5022433"/>
            <a:ext cx="1894636" cy="274320"/>
          </a:xfrm>
          <a:prstGeom prst="rect">
            <a:avLst/>
          </a:prstGeom>
          <a:noFill/>
        </p:spPr>
        <p:txBody>
          <a:bodyPr wrap="square" rtlCol="0" anchor="t"/>
          <a:lstStyle/>
          <a:p>
            <a:pPr algn="ctr"/>
            <a:r>
              <a:rPr lang="en-US" sz="1000" dirty="0">
                <a:solidFill>
                  <a:srgbClr val="575757"/>
                </a:solidFill>
                <a:latin typeface="Trebuchet MS"/>
              </a:rPr>
              <a:t>Run-rate by Y5</a:t>
            </a:r>
          </a:p>
        </p:txBody>
      </p:sp>
      <p:sp>
        <p:nvSpPr>
          <p:cNvPr id="412" name="RR412"/>
          <p:cNvSpPr/>
          <p:nvPr/>
        </p:nvSpPr>
        <p:spPr>
          <a:xfrm>
            <a:off x="5060289" y="4610953"/>
            <a:ext cx="2077516" cy="133264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13" name="R413"/>
          <p:cNvSpPr/>
          <p:nvPr/>
        </p:nvSpPr>
        <p:spPr>
          <a:xfrm>
            <a:off x="5060289" y="4610953"/>
            <a:ext cx="73152" cy="1332646"/>
          </a:xfrm>
          <a:prstGeom prst="rect">
            <a:avLst/>
          </a:prstGeom>
          <a:solidFill>
            <a:srgbClr val="242852"/>
          </a:solidFill>
          <a:ln>
            <a:noFill/>
          </a:ln>
        </p:spPr>
        <p:txBody>
          <a:bodyPr/>
          <a:lstStyle/>
          <a:p>
            <a:endParaRPr lang="en-US"/>
          </a:p>
        </p:txBody>
      </p:sp>
      <p:sp>
        <p:nvSpPr>
          <p:cNvPr id="414" name="TB414"/>
          <p:cNvSpPr txBox="1"/>
          <p:nvPr/>
        </p:nvSpPr>
        <p:spPr>
          <a:xfrm>
            <a:off x="5151729" y="4702393"/>
            <a:ext cx="1894636" cy="274320"/>
          </a:xfrm>
          <a:prstGeom prst="rect">
            <a:avLst/>
          </a:prstGeom>
          <a:noFill/>
        </p:spPr>
        <p:txBody>
          <a:bodyPr wrap="square" rtlCol="0" anchor="t"/>
          <a:lstStyle/>
          <a:p>
            <a:pPr algn="ctr"/>
            <a:r>
              <a:rPr lang="en-US" sz="1500" b="1" dirty="0">
                <a:solidFill>
                  <a:schemeClr val="tx2"/>
                </a:solidFill>
                <a:latin typeface="Trebuchet MS"/>
              </a:rPr>
              <a:t>₹600 Cr</a:t>
            </a:r>
          </a:p>
        </p:txBody>
      </p:sp>
      <p:sp>
        <p:nvSpPr>
          <p:cNvPr id="415" name="TB415"/>
          <p:cNvSpPr txBox="1"/>
          <p:nvPr/>
        </p:nvSpPr>
        <p:spPr>
          <a:xfrm>
            <a:off x="5151729" y="5022433"/>
            <a:ext cx="1894636" cy="274320"/>
          </a:xfrm>
          <a:prstGeom prst="rect">
            <a:avLst/>
          </a:prstGeom>
          <a:noFill/>
        </p:spPr>
        <p:txBody>
          <a:bodyPr wrap="square" rtlCol="0" anchor="t"/>
          <a:lstStyle/>
          <a:p>
            <a:pPr algn="ctr"/>
            <a:r>
              <a:rPr lang="en-US" sz="1000" dirty="0">
                <a:solidFill>
                  <a:srgbClr val="575757"/>
                </a:solidFill>
                <a:latin typeface="Trebuchet MS"/>
              </a:rPr>
              <a:t>One-time integration cost</a:t>
            </a:r>
          </a:p>
        </p:txBody>
      </p:sp>
      <p:sp>
        <p:nvSpPr>
          <p:cNvPr id="416" name="RR416"/>
          <p:cNvSpPr/>
          <p:nvPr/>
        </p:nvSpPr>
        <p:spPr>
          <a:xfrm>
            <a:off x="7274966" y="4610953"/>
            <a:ext cx="2077516" cy="133264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17" name="R417"/>
          <p:cNvSpPr/>
          <p:nvPr/>
        </p:nvSpPr>
        <p:spPr>
          <a:xfrm>
            <a:off x="7274966" y="4610953"/>
            <a:ext cx="73152" cy="1332646"/>
          </a:xfrm>
          <a:prstGeom prst="rect">
            <a:avLst/>
          </a:prstGeom>
          <a:solidFill>
            <a:srgbClr val="242852"/>
          </a:solidFill>
          <a:ln>
            <a:noFill/>
          </a:ln>
        </p:spPr>
        <p:txBody>
          <a:bodyPr/>
          <a:lstStyle/>
          <a:p>
            <a:endParaRPr lang="en-US"/>
          </a:p>
        </p:txBody>
      </p:sp>
      <p:sp>
        <p:nvSpPr>
          <p:cNvPr id="418" name="TB418"/>
          <p:cNvSpPr txBox="1"/>
          <p:nvPr/>
        </p:nvSpPr>
        <p:spPr>
          <a:xfrm>
            <a:off x="7366406" y="4702393"/>
            <a:ext cx="1894636" cy="274320"/>
          </a:xfrm>
          <a:prstGeom prst="rect">
            <a:avLst/>
          </a:prstGeom>
          <a:noFill/>
        </p:spPr>
        <p:txBody>
          <a:bodyPr wrap="square" rtlCol="0" anchor="t"/>
          <a:lstStyle/>
          <a:p>
            <a:pPr algn="ctr"/>
            <a:r>
              <a:rPr lang="en-US" sz="1500" b="1" dirty="0">
                <a:solidFill>
                  <a:schemeClr val="tx2"/>
                </a:solidFill>
                <a:latin typeface="Trebuchet MS"/>
              </a:rPr>
              <a:t>36 months</a:t>
            </a:r>
          </a:p>
        </p:txBody>
      </p:sp>
      <p:sp>
        <p:nvSpPr>
          <p:cNvPr id="419" name="TB419"/>
          <p:cNvSpPr txBox="1"/>
          <p:nvPr/>
        </p:nvSpPr>
        <p:spPr>
          <a:xfrm>
            <a:off x="7366406" y="5022433"/>
            <a:ext cx="1894636" cy="274320"/>
          </a:xfrm>
          <a:prstGeom prst="rect">
            <a:avLst/>
          </a:prstGeom>
          <a:noFill/>
        </p:spPr>
        <p:txBody>
          <a:bodyPr wrap="square" rtlCol="0" anchor="t"/>
          <a:lstStyle/>
          <a:p>
            <a:pPr algn="ctr"/>
            <a:r>
              <a:rPr lang="en-US" sz="1000" dirty="0">
                <a:solidFill>
                  <a:srgbClr val="575757"/>
                </a:solidFill>
                <a:latin typeface="Trebuchet MS"/>
              </a:rPr>
              <a:t>Time to run-rate</a:t>
            </a:r>
          </a:p>
        </p:txBody>
      </p:sp>
      <p:sp>
        <p:nvSpPr>
          <p:cNvPr id="420" name="RR420"/>
          <p:cNvSpPr/>
          <p:nvPr/>
        </p:nvSpPr>
        <p:spPr>
          <a:xfrm>
            <a:off x="9489643" y="4610953"/>
            <a:ext cx="2077516" cy="133264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21" name="R421"/>
          <p:cNvSpPr/>
          <p:nvPr/>
        </p:nvSpPr>
        <p:spPr>
          <a:xfrm>
            <a:off x="9489643" y="4610953"/>
            <a:ext cx="73152" cy="1332646"/>
          </a:xfrm>
          <a:prstGeom prst="rect">
            <a:avLst/>
          </a:prstGeom>
          <a:solidFill>
            <a:srgbClr val="242852"/>
          </a:solidFill>
          <a:ln>
            <a:noFill/>
          </a:ln>
        </p:spPr>
        <p:txBody>
          <a:bodyPr/>
          <a:lstStyle/>
          <a:p>
            <a:endParaRPr lang="en-US"/>
          </a:p>
        </p:txBody>
      </p:sp>
      <p:sp>
        <p:nvSpPr>
          <p:cNvPr id="422" name="TB422"/>
          <p:cNvSpPr txBox="1"/>
          <p:nvPr/>
        </p:nvSpPr>
        <p:spPr>
          <a:xfrm>
            <a:off x="9581083" y="4702393"/>
            <a:ext cx="1894636" cy="274320"/>
          </a:xfrm>
          <a:prstGeom prst="rect">
            <a:avLst/>
          </a:prstGeom>
          <a:noFill/>
        </p:spPr>
        <p:txBody>
          <a:bodyPr wrap="square" rtlCol="0" anchor="t"/>
          <a:lstStyle/>
          <a:p>
            <a:pPr algn="ctr"/>
            <a:r>
              <a:rPr lang="en-US" sz="1500" b="1" dirty="0">
                <a:solidFill>
                  <a:schemeClr val="tx2"/>
                </a:solidFill>
                <a:latin typeface="Trebuchet MS"/>
              </a:rPr>
              <a:t>7.5x</a:t>
            </a:r>
          </a:p>
        </p:txBody>
      </p:sp>
      <p:sp>
        <p:nvSpPr>
          <p:cNvPr id="423" name="TB423"/>
          <p:cNvSpPr txBox="1"/>
          <p:nvPr/>
        </p:nvSpPr>
        <p:spPr>
          <a:xfrm>
            <a:off x="9581083" y="5022433"/>
            <a:ext cx="1894636" cy="274320"/>
          </a:xfrm>
          <a:prstGeom prst="rect">
            <a:avLst/>
          </a:prstGeom>
          <a:noFill/>
        </p:spPr>
        <p:txBody>
          <a:bodyPr wrap="square" rtlCol="0" anchor="t"/>
          <a:lstStyle/>
          <a:p>
            <a:pPr algn="ctr"/>
            <a:r>
              <a:rPr lang="en-US" sz="1000" dirty="0">
                <a:solidFill>
                  <a:srgbClr val="575757"/>
                </a:solidFill>
                <a:latin typeface="Trebuchet MS"/>
              </a:rPr>
              <a:t>ROI on integration spend</a:t>
            </a:r>
          </a:p>
        </p:txBody>
      </p:sp>
      <p:graphicFrame>
        <p:nvGraphicFramePr>
          <p:cNvPr id="424" name="Chart 423"/>
          <p:cNvGraphicFramePr>
            <a:graphicFrameLocks noGrp="1"/>
          </p:cNvGraphicFramePr>
          <p:nvPr>
            <p:extLst>
              <p:ext uri="{D42A27DB-BD31-4B8C-83A1-F6EECF244321}">
                <p14:modId xmlns:p14="http://schemas.microsoft.com/office/powerpoint/2010/main" val="3176296669"/>
              </p:ext>
            </p:extLst>
          </p:nvPr>
        </p:nvGraphicFramePr>
        <p:xfrm>
          <a:off x="630936" y="2075688"/>
          <a:ext cx="7108545" cy="2398105"/>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3970423-2414-E18E-D24D-42CCC9C185B6}"/>
              </a:ext>
            </a:extLst>
          </p:cNvPr>
          <p:cNvGraphicFramePr>
            <a:graphicFrameLocks noChangeAspect="1"/>
          </p:cNvGraphicFramePr>
          <p:nvPr>
            <p:custDataLst>
              <p:tags r:id="rId1"/>
            </p:custDataLst>
            <p:extLst>
              <p:ext uri="{D42A27DB-BD31-4B8C-83A1-F6EECF244321}">
                <p14:modId xmlns:p14="http://schemas.microsoft.com/office/powerpoint/2010/main" val="2281895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4" name="ph_title"/>
          <p:cNvSpPr>
            <a:spLocks noGrp="1"/>
          </p:cNvSpPr>
          <p:nvPr>
            <p:ph type="title"/>
          </p:nvPr>
        </p:nvSpPr>
        <p:spPr/>
        <p:txBody>
          <a:bodyPr vert="horz"/>
          <a:lstStyle/>
          <a:p>
            <a:r>
              <a:rPr lang="en-US" dirty="0"/>
              <a:t>HCG transaction: ₹8,500 Cr EV at 22.4x — 29% IRR with synergies</a:t>
            </a:r>
          </a:p>
        </p:txBody>
      </p:sp>
      <p:sp>
        <p:nvSpPr>
          <p:cNvPr id="425" name="R425"/>
          <p:cNvSpPr/>
          <p:nvPr/>
        </p:nvSpPr>
        <p:spPr>
          <a:xfrm>
            <a:off x="630936" y="2075688"/>
            <a:ext cx="5468112" cy="310896"/>
          </a:xfrm>
          <a:prstGeom prst="rect">
            <a:avLst/>
          </a:prstGeom>
          <a:solidFill>
            <a:schemeClr val="tx2"/>
          </a:solidFill>
          <a:ln>
            <a:noFill/>
          </a:ln>
        </p:spPr>
        <p:txBody>
          <a:bodyPr/>
          <a:lstStyle/>
          <a:p>
            <a:endParaRPr lang="en-US"/>
          </a:p>
        </p:txBody>
      </p:sp>
      <p:sp>
        <p:nvSpPr>
          <p:cNvPr id="426" name="TB426"/>
          <p:cNvSpPr txBox="1"/>
          <p:nvPr/>
        </p:nvSpPr>
        <p:spPr>
          <a:xfrm>
            <a:off x="768096" y="2075688"/>
            <a:ext cx="5193792" cy="310896"/>
          </a:xfrm>
          <a:prstGeom prst="rect">
            <a:avLst/>
          </a:prstGeom>
          <a:noFill/>
        </p:spPr>
        <p:txBody>
          <a:bodyPr wrap="square" rtlCol="0" anchor="ctr"/>
          <a:lstStyle/>
          <a:p>
            <a:r>
              <a:rPr lang="en-US" sz="1300" b="1" dirty="0">
                <a:solidFill>
                  <a:srgbClr val="FFFFFF"/>
                </a:solidFill>
                <a:latin typeface="Trebuchet MS"/>
              </a:rPr>
              <a:t>Sources &amp; Uses (₹ Cr)</a:t>
            </a:r>
          </a:p>
        </p:txBody>
      </p:sp>
      <p:graphicFrame>
        <p:nvGraphicFramePr>
          <p:cNvPr id="427" name="Table 427"/>
          <p:cNvGraphicFramePr>
            <a:graphicFrameLocks noGrp="1"/>
          </p:cNvGraphicFramePr>
          <p:nvPr>
            <p:extLst>
              <p:ext uri="{D42A27DB-BD31-4B8C-83A1-F6EECF244321}">
                <p14:modId xmlns:p14="http://schemas.microsoft.com/office/powerpoint/2010/main" val="1163621823"/>
              </p:ext>
            </p:extLst>
          </p:nvPr>
        </p:nvGraphicFramePr>
        <p:xfrm>
          <a:off x="630936" y="2404872"/>
          <a:ext cx="5468110" cy="2068920"/>
        </p:xfrm>
        <a:graphic>
          <a:graphicData uri="http://schemas.openxmlformats.org/drawingml/2006/table">
            <a:tbl>
              <a:tblPr firstRow="1">
                <a:noFill/>
              </a:tblPr>
              <a:tblGrid>
                <a:gridCol w="1093622">
                  <a:extLst>
                    <a:ext uri="{9D8B030D-6E8A-4147-A177-3AD203B41FA5}">
                      <a16:colId xmlns:a16="http://schemas.microsoft.com/office/drawing/2014/main" val="20000"/>
                    </a:ext>
                  </a:extLst>
                </a:gridCol>
                <a:gridCol w="1093622">
                  <a:extLst>
                    <a:ext uri="{9D8B030D-6E8A-4147-A177-3AD203B41FA5}">
                      <a16:colId xmlns:a16="http://schemas.microsoft.com/office/drawing/2014/main" val="20001"/>
                    </a:ext>
                  </a:extLst>
                </a:gridCol>
                <a:gridCol w="1093622">
                  <a:extLst>
                    <a:ext uri="{9D8B030D-6E8A-4147-A177-3AD203B41FA5}">
                      <a16:colId xmlns:a16="http://schemas.microsoft.com/office/drawing/2014/main" val="20002"/>
                    </a:ext>
                  </a:extLst>
                </a:gridCol>
                <a:gridCol w="1093622">
                  <a:extLst>
                    <a:ext uri="{9D8B030D-6E8A-4147-A177-3AD203B41FA5}">
                      <a16:colId xmlns:a16="http://schemas.microsoft.com/office/drawing/2014/main" val="20003"/>
                    </a:ext>
                  </a:extLst>
                </a:gridCol>
                <a:gridCol w="1093622">
                  <a:extLst>
                    <a:ext uri="{9D8B030D-6E8A-4147-A177-3AD203B41FA5}">
                      <a16:colId xmlns:a16="http://schemas.microsoft.com/office/drawing/2014/main" val="20004"/>
                    </a:ext>
                  </a:extLst>
                </a:gridCol>
              </a:tblGrid>
              <a:tr h="344820">
                <a:tc>
                  <a:txBody>
                    <a:bodyPr/>
                    <a:lstStyle/>
                    <a:p>
                      <a:pPr algn="l"/>
                      <a:r>
                        <a:rPr lang="en-US" sz="1100" b="1" dirty="0">
                          <a:solidFill>
                            <a:srgbClr val="FFFFFF"/>
                          </a:solidFill>
                          <a:latin typeface="Trebuchet MS"/>
                          <a:cs typeface="Trebuchet MS"/>
                        </a:rPr>
                        <a:t>Sources</a:t>
                      </a:r>
                    </a:p>
                  </a:txBody>
                  <a:tcPr>
                    <a:lnL w="0">
                      <a:noFill/>
                    </a:lnL>
                    <a:lnR w="0">
                      <a:noFill/>
                    </a:lnR>
                    <a:lnT w="0">
                      <a:noFill/>
                    </a:lnT>
                    <a:lnB w="0">
                      <a:noFill/>
                    </a:lnB>
                    <a:solidFill>
                      <a:schemeClr val="accent1"/>
                    </a:solidFill>
                  </a:tcPr>
                </a:tc>
                <a:tc>
                  <a:txBody>
                    <a:bodyPr/>
                    <a:lstStyle/>
                    <a:p>
                      <a:pPr algn="r"/>
                      <a:r>
                        <a:rPr lang="en-US" sz="1100" b="1" dirty="0">
                          <a:solidFill>
                            <a:srgbClr val="FFFFFF"/>
                          </a:solidFill>
                          <a:latin typeface="Trebuchet MS"/>
                          <a:cs typeface="Trebuchet MS"/>
                        </a:rPr>
                        <a:t>Amt</a:t>
                      </a:r>
                    </a:p>
                  </a:txBody>
                  <a:tcPr>
                    <a:lnL w="0">
                      <a:noFill/>
                    </a:lnL>
                    <a:lnR w="0">
                      <a:noFill/>
                    </a:lnR>
                    <a:lnT w="0">
                      <a:noFill/>
                    </a:lnT>
                    <a:lnB w="0">
                      <a:noFill/>
                    </a:lnB>
                    <a:solidFill>
                      <a:schemeClr val="accent1"/>
                    </a:solidFill>
                  </a:tcPr>
                </a:tc>
                <a:tc>
                  <a:txBody>
                    <a:bodyPr/>
                    <a:lstStyle/>
                    <a:p>
                      <a:pPr algn="r"/>
                      <a:r>
                        <a:rPr lang="en-US" sz="1100" b="1" dirty="0">
                          <a:solidFill>
                            <a:srgbClr val="FFFFFF"/>
                          </a:solidFill>
                          <a:latin typeface="Trebuchet MS"/>
                          <a:cs typeface="Trebuchet MS"/>
                        </a:rPr>
                        <a:t>%</a:t>
                      </a:r>
                    </a:p>
                  </a:txBody>
                  <a:tcPr>
                    <a:lnL w="0">
                      <a:noFill/>
                    </a:lnL>
                    <a:lnR w="0">
                      <a:noFill/>
                    </a:lnR>
                    <a:lnT w="0">
                      <a:noFill/>
                    </a:lnT>
                    <a:lnB w="0">
                      <a:noFill/>
                    </a:lnB>
                    <a:solidFill>
                      <a:schemeClr val="accent1"/>
                    </a:solidFill>
                  </a:tcPr>
                </a:tc>
                <a:tc>
                  <a:txBody>
                    <a:bodyPr/>
                    <a:lstStyle/>
                    <a:p>
                      <a:pPr algn="l"/>
                      <a:r>
                        <a:rPr lang="en-US" sz="1100" b="1" dirty="0">
                          <a:solidFill>
                            <a:srgbClr val="FFFFFF"/>
                          </a:solidFill>
                          <a:latin typeface="Trebuchet MS"/>
                          <a:cs typeface="Trebuchet MS"/>
                        </a:rPr>
                        <a:t>Uses</a:t>
                      </a:r>
                    </a:p>
                  </a:txBody>
                  <a:tcPr>
                    <a:lnL w="0">
                      <a:noFill/>
                    </a:lnL>
                    <a:lnR w="0">
                      <a:noFill/>
                    </a:lnR>
                    <a:lnT w="0">
                      <a:noFill/>
                    </a:lnT>
                    <a:lnB w="0">
                      <a:noFill/>
                    </a:lnB>
                    <a:solidFill>
                      <a:schemeClr val="accent1"/>
                    </a:solidFill>
                  </a:tcPr>
                </a:tc>
                <a:tc>
                  <a:txBody>
                    <a:bodyPr/>
                    <a:lstStyle/>
                    <a:p>
                      <a:pPr algn="r"/>
                      <a:r>
                        <a:rPr lang="en-US" sz="1100" b="1" dirty="0">
                          <a:solidFill>
                            <a:srgbClr val="FFFFFF"/>
                          </a:solidFill>
                          <a:latin typeface="Trebuchet MS"/>
                          <a:cs typeface="Trebuchet MS"/>
                        </a:rPr>
                        <a:t>Amt</a:t>
                      </a:r>
                    </a:p>
                  </a:txBody>
                  <a:tcPr>
                    <a:lnL w="0">
                      <a:noFill/>
                    </a:lnL>
                    <a:lnR w="0">
                      <a:noFill/>
                    </a:lnR>
                    <a:lnT w="0">
                      <a:noFill/>
                    </a:lnT>
                    <a:lnB w="0">
                      <a:noFill/>
                    </a:lnB>
                    <a:solidFill>
                      <a:schemeClr val="accent1"/>
                    </a:solidFill>
                  </a:tcPr>
                </a:tc>
                <a:extLst>
                  <a:ext uri="{0D108BD9-81ED-4DB2-BD59-A6C34878D82A}">
                    <a16:rowId xmlns:a16="http://schemas.microsoft.com/office/drawing/2014/main" val="10000"/>
                  </a:ext>
                </a:extLst>
              </a:tr>
              <a:tr h="344820">
                <a:tc>
                  <a:txBody>
                    <a:bodyPr/>
                    <a:lstStyle/>
                    <a:p>
                      <a:pPr algn="l"/>
                      <a:r>
                        <a:rPr lang="en-US" sz="1000" dirty="0">
                          <a:solidFill>
                            <a:srgbClr val="575757"/>
                          </a:solidFill>
                          <a:latin typeface="Trebuchet MS"/>
                          <a:cs typeface="Trebuchet MS"/>
                        </a:rPr>
                        <a:t>Senior TLB (5yr)</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3,400</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40%</a:t>
                      </a:r>
                    </a:p>
                  </a:txBody>
                  <a:tcPr>
                    <a:lnL w="0">
                      <a:noFill/>
                    </a:lnL>
                    <a:lnR w="0">
                      <a:noFill/>
                    </a:lnR>
                    <a:lnT w="0">
                      <a:noFill/>
                    </a:lnT>
                    <a:lnB w="0">
                      <a:noFill/>
                    </a:lnB>
                    <a:solidFill>
                      <a:srgbClr val="FFFFFF"/>
                    </a:solidFill>
                  </a:tcPr>
                </a:tc>
                <a:tc>
                  <a:txBody>
                    <a:bodyPr/>
                    <a:lstStyle/>
                    <a:p>
                      <a:pPr algn="l"/>
                      <a:r>
                        <a:rPr lang="en-US" sz="1000" dirty="0">
                          <a:solidFill>
                            <a:srgbClr val="575757"/>
                          </a:solidFill>
                          <a:latin typeface="Trebuchet MS"/>
                          <a:cs typeface="Trebuchet MS"/>
                        </a:rPr>
                        <a:t>KKR 76% Equity</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6,460</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44820">
                <a:tc>
                  <a:txBody>
                    <a:bodyPr/>
                    <a:lstStyle/>
                    <a:p>
                      <a:pPr algn="l"/>
                      <a:r>
                        <a:rPr lang="en-US" sz="1000" dirty="0">
                          <a:solidFill>
                            <a:srgbClr val="575757"/>
                          </a:solidFill>
                          <a:latin typeface="Trebuchet MS"/>
                          <a:cs typeface="Trebuchet MS"/>
                        </a:rPr>
                        <a:t>Mezzanine</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850</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10%</a:t>
                      </a:r>
                    </a:p>
                  </a:txBody>
                  <a:tcPr>
                    <a:lnL w="0">
                      <a:noFill/>
                    </a:lnL>
                    <a:lnR w="0">
                      <a:noFill/>
                    </a:lnR>
                    <a:lnT w="0">
                      <a:noFill/>
                    </a:lnT>
                    <a:lnB w="0">
                      <a:noFill/>
                    </a:lnB>
                    <a:solidFill>
                      <a:srgbClr val="F2F2F2"/>
                    </a:solidFill>
                  </a:tcPr>
                </a:tc>
                <a:tc>
                  <a:txBody>
                    <a:bodyPr/>
                    <a:lstStyle/>
                    <a:p>
                      <a:pPr algn="l"/>
                      <a:r>
                        <a:rPr lang="en-US" sz="1000" dirty="0">
                          <a:solidFill>
                            <a:srgbClr val="575757"/>
                          </a:solidFill>
                          <a:latin typeface="Trebuchet MS"/>
                          <a:cs typeface="Trebuchet MS"/>
                        </a:rPr>
                        <a:t>Refinance Debt</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650</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344820">
                <a:tc>
                  <a:txBody>
                    <a:bodyPr/>
                    <a:lstStyle/>
                    <a:p>
                      <a:pPr algn="l"/>
                      <a:r>
                        <a:rPr lang="en-US" sz="1000" dirty="0">
                          <a:solidFill>
                            <a:srgbClr val="575757"/>
                          </a:solidFill>
                          <a:latin typeface="Trebuchet MS"/>
                          <a:cs typeface="Trebuchet MS"/>
                        </a:rPr>
                        <a:t>Sponsor Equity</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3,825</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45%</a:t>
                      </a:r>
                    </a:p>
                  </a:txBody>
                  <a:tcPr>
                    <a:lnL w="0">
                      <a:noFill/>
                    </a:lnL>
                    <a:lnR w="0">
                      <a:noFill/>
                    </a:lnR>
                    <a:lnT w="0">
                      <a:noFill/>
                    </a:lnT>
                    <a:lnB w="0">
                      <a:noFill/>
                    </a:lnB>
                    <a:solidFill>
                      <a:srgbClr val="FFFFFF"/>
                    </a:solidFill>
                  </a:tcPr>
                </a:tc>
                <a:tc>
                  <a:txBody>
                    <a:bodyPr/>
                    <a:lstStyle/>
                    <a:p>
                      <a:pPr algn="l"/>
                      <a:r>
                        <a:rPr lang="en-US" sz="1000" dirty="0">
                          <a:solidFill>
                            <a:srgbClr val="575757"/>
                          </a:solidFill>
                          <a:latin typeface="Trebuchet MS"/>
                          <a:cs typeface="Trebuchet MS"/>
                        </a:rPr>
                        <a:t>B/S Cash</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200</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44820">
                <a:tc>
                  <a:txBody>
                    <a:bodyPr/>
                    <a:lstStyle/>
                    <a:p>
                      <a:pPr algn="l"/>
                      <a:r>
                        <a:rPr lang="en-US" sz="1000" dirty="0">
                          <a:solidFill>
                            <a:srgbClr val="575757"/>
                          </a:solidFill>
                          <a:latin typeface="Trebuchet MS"/>
                          <a:cs typeface="Trebuchet MS"/>
                        </a:rPr>
                        <a:t>Mgmt Rollover</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425</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5%</a:t>
                      </a:r>
                    </a:p>
                  </a:txBody>
                  <a:tcPr>
                    <a:lnL w="0">
                      <a:noFill/>
                    </a:lnL>
                    <a:lnR w="0">
                      <a:noFill/>
                    </a:lnR>
                    <a:lnT w="0">
                      <a:noFill/>
                    </a:lnT>
                    <a:lnB w="0">
                      <a:noFill/>
                    </a:lnB>
                    <a:solidFill>
                      <a:srgbClr val="F2F2F2"/>
                    </a:solidFill>
                  </a:tcPr>
                </a:tc>
                <a:tc>
                  <a:txBody>
                    <a:bodyPr/>
                    <a:lstStyle/>
                    <a:p>
                      <a:pPr algn="l"/>
                      <a:r>
                        <a:rPr lang="en-US" sz="1000" dirty="0">
                          <a:solidFill>
                            <a:srgbClr val="575757"/>
                          </a:solidFill>
                          <a:latin typeface="Trebuchet MS"/>
                          <a:cs typeface="Trebuchet MS"/>
                        </a:rPr>
                        <a:t>Fees</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190</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r h="344820">
                <a:tc>
                  <a:txBody>
                    <a:bodyPr/>
                    <a:lstStyle/>
                    <a:p>
                      <a:pPr algn="l"/>
                      <a:r>
                        <a:rPr lang="en-US" sz="1000" dirty="0">
                          <a:solidFill>
                            <a:srgbClr val="575757"/>
                          </a:solidFill>
                          <a:latin typeface="Trebuchet MS"/>
                          <a:cs typeface="Trebuchet MS"/>
                        </a:rPr>
                        <a:t>Total</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8,500</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100%</a:t>
                      </a:r>
                    </a:p>
                  </a:txBody>
                  <a:tcPr>
                    <a:lnL w="0">
                      <a:noFill/>
                    </a:lnL>
                    <a:lnR w="0">
                      <a:noFill/>
                    </a:lnR>
                    <a:lnT w="0">
                      <a:noFill/>
                    </a:lnT>
                    <a:lnB w="0">
                      <a:noFill/>
                    </a:lnB>
                    <a:solidFill>
                      <a:srgbClr val="FFFFFF"/>
                    </a:solidFill>
                  </a:tcPr>
                </a:tc>
                <a:tc>
                  <a:txBody>
                    <a:bodyPr/>
                    <a:lstStyle/>
                    <a:p>
                      <a:pPr algn="l"/>
                      <a:r>
                        <a:rPr lang="en-US" sz="1000" dirty="0">
                          <a:solidFill>
                            <a:srgbClr val="575757"/>
                          </a:solidFill>
                          <a:latin typeface="Trebuchet MS"/>
                          <a:cs typeface="Trebuchet MS"/>
                        </a:rPr>
                        <a:t>Total</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8,500</a:t>
                      </a:r>
                    </a:p>
                  </a:txBody>
                  <a:tcP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428" name="R428"/>
          <p:cNvSpPr/>
          <p:nvPr/>
        </p:nvSpPr>
        <p:spPr>
          <a:xfrm>
            <a:off x="6281928" y="2075688"/>
            <a:ext cx="5285232" cy="310896"/>
          </a:xfrm>
          <a:prstGeom prst="rect">
            <a:avLst/>
          </a:prstGeom>
          <a:solidFill>
            <a:srgbClr val="242852"/>
          </a:solidFill>
          <a:ln>
            <a:noFill/>
          </a:ln>
        </p:spPr>
        <p:txBody>
          <a:bodyPr/>
          <a:lstStyle/>
          <a:p>
            <a:endParaRPr lang="en-US"/>
          </a:p>
        </p:txBody>
      </p:sp>
      <p:sp>
        <p:nvSpPr>
          <p:cNvPr id="429" name="TB429"/>
          <p:cNvSpPr txBox="1"/>
          <p:nvPr/>
        </p:nvSpPr>
        <p:spPr>
          <a:xfrm>
            <a:off x="6419088" y="2075688"/>
            <a:ext cx="5010912" cy="310896"/>
          </a:xfrm>
          <a:prstGeom prst="rect">
            <a:avLst/>
          </a:prstGeom>
          <a:noFill/>
        </p:spPr>
        <p:txBody>
          <a:bodyPr wrap="square" rtlCol="0" anchor="ctr"/>
          <a:lstStyle/>
          <a:p>
            <a:r>
              <a:rPr lang="en-US" sz="1300" b="1" dirty="0">
                <a:solidFill>
                  <a:srgbClr val="FFFFFF"/>
                </a:solidFill>
                <a:latin typeface="Trebuchet MS"/>
              </a:rPr>
              <a:t>Sponsor Returns (5-yr exit)</a:t>
            </a:r>
          </a:p>
        </p:txBody>
      </p:sp>
      <p:graphicFrame>
        <p:nvGraphicFramePr>
          <p:cNvPr id="430" name="Table 430"/>
          <p:cNvGraphicFramePr>
            <a:graphicFrameLocks noGrp="1"/>
          </p:cNvGraphicFramePr>
          <p:nvPr>
            <p:extLst>
              <p:ext uri="{D42A27DB-BD31-4B8C-83A1-F6EECF244321}">
                <p14:modId xmlns:p14="http://schemas.microsoft.com/office/powerpoint/2010/main" val="2914550016"/>
              </p:ext>
            </p:extLst>
          </p:nvPr>
        </p:nvGraphicFramePr>
        <p:xfrm>
          <a:off x="6281928" y="2404872"/>
          <a:ext cx="5285232" cy="2068920"/>
        </p:xfrm>
        <a:graphic>
          <a:graphicData uri="http://schemas.openxmlformats.org/drawingml/2006/table">
            <a:tbl>
              <a:tblPr firstRow="1">
                <a:noFill/>
              </a:tblPr>
              <a:tblGrid>
                <a:gridCol w="1321308">
                  <a:extLst>
                    <a:ext uri="{9D8B030D-6E8A-4147-A177-3AD203B41FA5}">
                      <a16:colId xmlns:a16="http://schemas.microsoft.com/office/drawing/2014/main" val="20000"/>
                    </a:ext>
                  </a:extLst>
                </a:gridCol>
                <a:gridCol w="1321308">
                  <a:extLst>
                    <a:ext uri="{9D8B030D-6E8A-4147-A177-3AD203B41FA5}">
                      <a16:colId xmlns:a16="http://schemas.microsoft.com/office/drawing/2014/main" val="20001"/>
                    </a:ext>
                  </a:extLst>
                </a:gridCol>
                <a:gridCol w="1321308">
                  <a:extLst>
                    <a:ext uri="{9D8B030D-6E8A-4147-A177-3AD203B41FA5}">
                      <a16:colId xmlns:a16="http://schemas.microsoft.com/office/drawing/2014/main" val="20002"/>
                    </a:ext>
                  </a:extLst>
                </a:gridCol>
                <a:gridCol w="1321308">
                  <a:extLst>
                    <a:ext uri="{9D8B030D-6E8A-4147-A177-3AD203B41FA5}">
                      <a16:colId xmlns:a16="http://schemas.microsoft.com/office/drawing/2014/main" val="20003"/>
                    </a:ext>
                  </a:extLst>
                </a:gridCol>
              </a:tblGrid>
              <a:tr h="295560">
                <a:tc>
                  <a:txBody>
                    <a:bodyPr/>
                    <a:lstStyle/>
                    <a:p>
                      <a:pPr algn="l"/>
                      <a:r>
                        <a:rPr lang="en-US" sz="1100" b="1" dirty="0">
                          <a:solidFill>
                            <a:srgbClr val="FFFFFF"/>
                          </a:solidFill>
                          <a:latin typeface="Trebuchet MS"/>
                          <a:cs typeface="Trebuchet MS"/>
                        </a:rPr>
                        <a:t>Metric</a:t>
                      </a:r>
                    </a:p>
                  </a:txBody>
                  <a:tcPr>
                    <a:lnL w="0">
                      <a:noFill/>
                    </a:lnL>
                    <a:lnR w="0">
                      <a:noFill/>
                    </a:lnR>
                    <a:lnT w="0">
                      <a:noFill/>
                    </a:lnT>
                    <a:lnB w="0">
                      <a:noFill/>
                    </a:lnB>
                    <a:solidFill>
                      <a:schemeClr val="accent1"/>
                    </a:solidFill>
                  </a:tcPr>
                </a:tc>
                <a:tc>
                  <a:txBody>
                    <a:bodyPr/>
                    <a:lstStyle/>
                    <a:p>
                      <a:pPr algn="r"/>
                      <a:r>
                        <a:rPr lang="en-US" sz="1100" b="1" dirty="0">
                          <a:solidFill>
                            <a:srgbClr val="FFFFFF"/>
                          </a:solidFill>
                          <a:latin typeface="Trebuchet MS"/>
                          <a:cs typeface="Trebuchet MS"/>
                        </a:rPr>
                        <a:t>Standalone</a:t>
                      </a:r>
                    </a:p>
                  </a:txBody>
                  <a:tcPr>
                    <a:lnL w="0">
                      <a:noFill/>
                    </a:lnL>
                    <a:lnR w="0">
                      <a:noFill/>
                    </a:lnR>
                    <a:lnT w="0">
                      <a:noFill/>
                    </a:lnT>
                    <a:lnB w="0">
                      <a:noFill/>
                    </a:lnB>
                    <a:solidFill>
                      <a:schemeClr val="accent1"/>
                    </a:solidFill>
                  </a:tcPr>
                </a:tc>
                <a:tc>
                  <a:txBody>
                    <a:bodyPr/>
                    <a:lstStyle/>
                    <a:p>
                      <a:pPr algn="r"/>
                      <a:r>
                        <a:rPr lang="en-US" sz="1100" b="1" dirty="0">
                          <a:solidFill>
                            <a:srgbClr val="FFFFFF"/>
                          </a:solidFill>
                          <a:latin typeface="Trebuchet MS"/>
                          <a:cs typeface="Trebuchet MS"/>
                        </a:rPr>
                        <a:t>With Synergy</a:t>
                      </a:r>
                    </a:p>
                  </a:txBody>
                  <a:tcPr>
                    <a:lnL w="0">
                      <a:noFill/>
                    </a:lnL>
                    <a:lnR w="0">
                      <a:noFill/>
                    </a:lnR>
                    <a:lnT w="0">
                      <a:noFill/>
                    </a:lnT>
                    <a:lnB w="0">
                      <a:noFill/>
                    </a:lnB>
                    <a:solidFill>
                      <a:schemeClr val="accent1"/>
                    </a:solidFill>
                  </a:tcPr>
                </a:tc>
                <a:tc>
                  <a:txBody>
                    <a:bodyPr/>
                    <a:lstStyle/>
                    <a:p>
                      <a:pPr algn="r"/>
                      <a:r>
                        <a:rPr lang="en-US" sz="1100" b="1" dirty="0">
                          <a:solidFill>
                            <a:srgbClr val="FFFFFF"/>
                          </a:solidFill>
                          <a:latin typeface="Trebuchet MS"/>
                          <a:cs typeface="Trebuchet MS"/>
                        </a:rPr>
                        <a:t>Δ</a:t>
                      </a:r>
                    </a:p>
                  </a:txBody>
                  <a:tcPr>
                    <a:lnL w="0">
                      <a:noFill/>
                    </a:lnL>
                    <a:lnR w="0">
                      <a:noFill/>
                    </a:lnR>
                    <a:lnT w="0">
                      <a:noFill/>
                    </a:lnT>
                    <a:lnB w="0">
                      <a:noFill/>
                    </a:lnB>
                    <a:solidFill>
                      <a:schemeClr val="accent1"/>
                    </a:solidFill>
                  </a:tcPr>
                </a:tc>
                <a:extLst>
                  <a:ext uri="{0D108BD9-81ED-4DB2-BD59-A6C34878D82A}">
                    <a16:rowId xmlns:a16="http://schemas.microsoft.com/office/drawing/2014/main" val="10000"/>
                  </a:ext>
                </a:extLst>
              </a:tr>
              <a:tr h="295560">
                <a:tc>
                  <a:txBody>
                    <a:bodyPr/>
                    <a:lstStyle/>
                    <a:p>
                      <a:pPr algn="l"/>
                      <a:r>
                        <a:rPr lang="en-US" sz="1000" dirty="0">
                          <a:solidFill>
                            <a:srgbClr val="575757"/>
                          </a:solidFill>
                          <a:latin typeface="Trebuchet MS"/>
                          <a:cs typeface="Trebuchet MS"/>
                        </a:rPr>
                        <a:t>Exit EBITDA (₹ Cr)</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555</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835</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+50%</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295560">
                <a:tc>
                  <a:txBody>
                    <a:bodyPr/>
                    <a:lstStyle/>
                    <a:p>
                      <a:pPr algn="l"/>
                      <a:r>
                        <a:rPr lang="en-US" sz="1000" dirty="0">
                          <a:solidFill>
                            <a:srgbClr val="575757"/>
                          </a:solidFill>
                          <a:latin typeface="Trebuchet MS"/>
                          <a:cs typeface="Trebuchet MS"/>
                        </a:rPr>
                        <a:t>Exit Multiple</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18.0x</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18.0x</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295560">
                <a:tc>
                  <a:txBody>
                    <a:bodyPr/>
                    <a:lstStyle/>
                    <a:p>
                      <a:pPr algn="l"/>
                      <a:r>
                        <a:rPr lang="en-US" sz="1000" dirty="0">
                          <a:solidFill>
                            <a:srgbClr val="575757"/>
                          </a:solidFill>
                          <a:latin typeface="Trebuchet MS"/>
                          <a:cs typeface="Trebuchet MS"/>
                        </a:rPr>
                        <a:t>Exit EV (₹ Cr)</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9,990</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15,030</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+50%</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295560">
                <a:tc>
                  <a:txBody>
                    <a:bodyPr/>
                    <a:lstStyle/>
                    <a:p>
                      <a:pPr algn="l"/>
                      <a:r>
                        <a:rPr lang="en-US" sz="1000" dirty="0">
                          <a:solidFill>
                            <a:srgbClr val="575757"/>
                          </a:solidFill>
                          <a:latin typeface="Trebuchet MS"/>
                          <a:cs typeface="Trebuchet MS"/>
                        </a:rPr>
                        <a:t>Equity to Sponsor</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8,140</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15,480</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+90%</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r h="295560">
                <a:tc>
                  <a:txBody>
                    <a:bodyPr/>
                    <a:lstStyle/>
                    <a:p>
                      <a:pPr algn="l"/>
                      <a:r>
                        <a:rPr lang="en-US" sz="1000" dirty="0">
                          <a:solidFill>
                            <a:srgbClr val="575757"/>
                          </a:solidFill>
                          <a:latin typeface="Trebuchet MS"/>
                          <a:cs typeface="Trebuchet MS"/>
                        </a:rPr>
                        <a:t>MOIC</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1.9x</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3.6x</a:t>
                      </a:r>
                    </a:p>
                  </a:txBody>
                  <a:tcPr>
                    <a:lnL w="0">
                      <a:noFill/>
                    </a:lnL>
                    <a:lnR w="0">
                      <a:noFill/>
                    </a:lnR>
                    <a:lnT w="0">
                      <a:noFill/>
                    </a:lnT>
                    <a:lnB w="0">
                      <a:noFill/>
                    </a:lnB>
                    <a:solidFill>
                      <a:srgbClr val="FFFFFF"/>
                    </a:solidFill>
                  </a:tcPr>
                </a:tc>
                <a:tc>
                  <a:txBody>
                    <a:bodyPr/>
                    <a:lstStyle/>
                    <a:p>
                      <a:pPr algn="r"/>
                      <a:r>
                        <a:rPr lang="en-US" sz="1000" dirty="0">
                          <a:solidFill>
                            <a:srgbClr val="575757"/>
                          </a:solidFill>
                          <a:latin typeface="Trebuchet MS"/>
                          <a:cs typeface="Trebuchet MS"/>
                        </a:rPr>
                        <a:t>+1.7x</a:t>
                      </a:r>
                    </a:p>
                  </a:txBody>
                  <a:tcPr>
                    <a:lnL w="0">
                      <a:noFill/>
                    </a:lnL>
                    <a:lnR w="0">
                      <a:noFill/>
                    </a:lnR>
                    <a:lnT w="0">
                      <a:noFill/>
                    </a:lnT>
                    <a:lnB w="0">
                      <a:noFill/>
                    </a:lnB>
                    <a:solidFill>
                      <a:srgbClr val="FFFFFF"/>
                    </a:solidFill>
                  </a:tcPr>
                </a:tc>
                <a:extLst>
                  <a:ext uri="{0D108BD9-81ED-4DB2-BD59-A6C34878D82A}">
                    <a16:rowId xmlns:a16="http://schemas.microsoft.com/office/drawing/2014/main" val="10005"/>
                  </a:ext>
                </a:extLst>
              </a:tr>
              <a:tr h="295560">
                <a:tc>
                  <a:txBody>
                    <a:bodyPr/>
                    <a:lstStyle/>
                    <a:p>
                      <a:pPr algn="l"/>
                      <a:r>
                        <a:rPr lang="en-US" sz="1000" dirty="0">
                          <a:solidFill>
                            <a:srgbClr val="575757"/>
                          </a:solidFill>
                          <a:latin typeface="Trebuchet MS"/>
                          <a:cs typeface="Trebuchet MS"/>
                        </a:rPr>
                        <a:t>IRR</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13.6%</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29.2%</a:t>
                      </a:r>
                    </a:p>
                  </a:txBody>
                  <a:tcPr>
                    <a:lnL w="0">
                      <a:noFill/>
                    </a:lnL>
                    <a:lnR w="0">
                      <a:noFill/>
                    </a:lnR>
                    <a:lnT w="0">
                      <a:noFill/>
                    </a:lnT>
                    <a:lnB w="0">
                      <a:noFill/>
                    </a:lnB>
                    <a:solidFill>
                      <a:srgbClr val="F2F2F2"/>
                    </a:solidFill>
                  </a:tcPr>
                </a:tc>
                <a:tc>
                  <a:txBody>
                    <a:bodyPr/>
                    <a:lstStyle/>
                    <a:p>
                      <a:pPr algn="r"/>
                      <a:r>
                        <a:rPr lang="en-US" sz="1000" dirty="0">
                          <a:solidFill>
                            <a:srgbClr val="575757"/>
                          </a:solidFill>
                          <a:latin typeface="Trebuchet MS"/>
                          <a:cs typeface="Trebuchet MS"/>
                        </a:rPr>
                        <a:t>+1,560bps</a:t>
                      </a:r>
                    </a:p>
                  </a:txBody>
                  <a:tcPr>
                    <a:lnL w="0">
                      <a:noFill/>
                    </a:lnL>
                    <a:lnR w="0">
                      <a:noFill/>
                    </a:lnR>
                    <a:lnT w="0">
                      <a:noFill/>
                    </a:lnT>
                    <a:lnB w="0">
                      <a:noFill/>
                    </a:lnB>
                    <a:solidFill>
                      <a:srgbClr val="F2F2F2"/>
                    </a:solidFill>
                  </a:tcPr>
                </a:tc>
                <a:extLst>
                  <a:ext uri="{0D108BD9-81ED-4DB2-BD59-A6C34878D82A}">
                    <a16:rowId xmlns:a16="http://schemas.microsoft.com/office/drawing/2014/main" val="10006"/>
                  </a:ext>
                </a:extLst>
              </a:tr>
            </a:tbl>
          </a:graphicData>
        </a:graphic>
      </p:graphicFrame>
      <p:sp>
        <p:nvSpPr>
          <p:cNvPr id="431" name="RR431"/>
          <p:cNvSpPr/>
          <p:nvPr/>
        </p:nvSpPr>
        <p:spPr>
          <a:xfrm>
            <a:off x="630936" y="4610953"/>
            <a:ext cx="5468112" cy="133264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32" name="R432"/>
          <p:cNvSpPr/>
          <p:nvPr/>
        </p:nvSpPr>
        <p:spPr>
          <a:xfrm>
            <a:off x="630936" y="4610953"/>
            <a:ext cx="73152" cy="1332646"/>
          </a:xfrm>
          <a:prstGeom prst="rect">
            <a:avLst/>
          </a:prstGeom>
          <a:solidFill>
            <a:srgbClr val="242852"/>
          </a:solidFill>
          <a:ln>
            <a:noFill/>
          </a:ln>
        </p:spPr>
        <p:txBody>
          <a:bodyPr/>
          <a:lstStyle/>
          <a:p>
            <a:endParaRPr lang="en-US"/>
          </a:p>
        </p:txBody>
      </p:sp>
      <p:sp>
        <p:nvSpPr>
          <p:cNvPr id="433" name="TB433"/>
          <p:cNvSpPr txBox="1"/>
          <p:nvPr/>
        </p:nvSpPr>
        <p:spPr>
          <a:xfrm>
            <a:off x="768096" y="4656673"/>
            <a:ext cx="5193792" cy="237744"/>
          </a:xfrm>
          <a:prstGeom prst="rect">
            <a:avLst/>
          </a:prstGeom>
          <a:noFill/>
        </p:spPr>
        <p:txBody>
          <a:bodyPr wrap="square" rtlCol="0" anchor="t"/>
          <a:lstStyle/>
          <a:p>
            <a:r>
              <a:rPr lang="en-US" sz="1200" b="1" dirty="0">
                <a:solidFill>
                  <a:schemeClr val="tx2"/>
                </a:solidFill>
                <a:latin typeface="Trebuchet MS"/>
              </a:rPr>
              <a:t>Key Transaction Parameters</a:t>
            </a:r>
          </a:p>
        </p:txBody>
      </p:sp>
      <p:sp>
        <p:nvSpPr>
          <p:cNvPr id="434" name="TB434"/>
          <p:cNvSpPr txBox="1"/>
          <p:nvPr/>
        </p:nvSpPr>
        <p:spPr>
          <a:xfrm>
            <a:off x="813815" y="4921849"/>
            <a:ext cx="2824581" cy="138126"/>
          </a:xfrm>
          <a:prstGeom prst="rect">
            <a:avLst/>
          </a:prstGeom>
          <a:noFill/>
        </p:spPr>
        <p:txBody>
          <a:bodyPr wrap="square" rtlCol="0" anchor="ctr"/>
          <a:lstStyle/>
          <a:p>
            <a:r>
              <a:rPr lang="en-US" sz="1000" dirty="0">
                <a:solidFill>
                  <a:srgbClr val="6E6F73"/>
                </a:solidFill>
                <a:latin typeface="Trebuchet MS"/>
              </a:rPr>
              <a:t>Entry EV / FY25 EBITDA</a:t>
            </a:r>
          </a:p>
        </p:txBody>
      </p:sp>
      <p:sp>
        <p:nvSpPr>
          <p:cNvPr id="435" name="TB435"/>
          <p:cNvSpPr txBox="1"/>
          <p:nvPr/>
        </p:nvSpPr>
        <p:spPr>
          <a:xfrm>
            <a:off x="3638397" y="4921849"/>
            <a:ext cx="2369210" cy="138126"/>
          </a:xfrm>
          <a:prstGeom prst="rect">
            <a:avLst/>
          </a:prstGeom>
          <a:noFill/>
        </p:spPr>
        <p:txBody>
          <a:bodyPr wrap="square" rtlCol="0" anchor="ctr"/>
          <a:lstStyle/>
          <a:p>
            <a:r>
              <a:rPr lang="en-US" sz="1000" b="1" dirty="0">
                <a:solidFill>
                  <a:srgbClr val="575757"/>
                </a:solidFill>
                <a:latin typeface="Trebuchet MS"/>
              </a:rPr>
              <a:t>22.4x</a:t>
            </a:r>
          </a:p>
        </p:txBody>
      </p:sp>
      <p:sp>
        <p:nvSpPr>
          <p:cNvPr id="436" name="TB436"/>
          <p:cNvSpPr txBox="1"/>
          <p:nvPr/>
        </p:nvSpPr>
        <p:spPr>
          <a:xfrm>
            <a:off x="813815" y="5059976"/>
            <a:ext cx="2824581" cy="138126"/>
          </a:xfrm>
          <a:prstGeom prst="rect">
            <a:avLst/>
          </a:prstGeom>
          <a:noFill/>
        </p:spPr>
        <p:txBody>
          <a:bodyPr wrap="square" rtlCol="0" anchor="ctr"/>
          <a:lstStyle/>
          <a:p>
            <a:r>
              <a:rPr lang="en-US" sz="1000" dirty="0">
                <a:solidFill>
                  <a:srgbClr val="6E6F73"/>
                </a:solidFill>
                <a:latin typeface="Trebuchet MS"/>
              </a:rPr>
              <a:t>Total Leverage / FY25 EBITDA</a:t>
            </a:r>
          </a:p>
        </p:txBody>
      </p:sp>
      <p:sp>
        <p:nvSpPr>
          <p:cNvPr id="437" name="TB437"/>
          <p:cNvSpPr txBox="1"/>
          <p:nvPr/>
        </p:nvSpPr>
        <p:spPr>
          <a:xfrm>
            <a:off x="3638397" y="5059976"/>
            <a:ext cx="2369210" cy="138126"/>
          </a:xfrm>
          <a:prstGeom prst="rect">
            <a:avLst/>
          </a:prstGeom>
          <a:noFill/>
        </p:spPr>
        <p:txBody>
          <a:bodyPr wrap="square" rtlCol="0" anchor="ctr"/>
          <a:lstStyle/>
          <a:p>
            <a:r>
              <a:rPr lang="en-US" sz="1000" b="1" dirty="0">
                <a:solidFill>
                  <a:srgbClr val="575757"/>
                </a:solidFill>
                <a:latin typeface="Trebuchet MS"/>
              </a:rPr>
              <a:t>11.2x → 4.5x by Year 5</a:t>
            </a:r>
          </a:p>
        </p:txBody>
      </p:sp>
      <p:sp>
        <p:nvSpPr>
          <p:cNvPr id="438" name="TB438"/>
          <p:cNvSpPr txBox="1"/>
          <p:nvPr/>
        </p:nvSpPr>
        <p:spPr>
          <a:xfrm>
            <a:off x="813815" y="5198102"/>
            <a:ext cx="2824581" cy="138126"/>
          </a:xfrm>
          <a:prstGeom prst="rect">
            <a:avLst/>
          </a:prstGeom>
          <a:noFill/>
        </p:spPr>
        <p:txBody>
          <a:bodyPr wrap="square" rtlCol="0" anchor="ctr"/>
          <a:lstStyle/>
          <a:p>
            <a:r>
              <a:rPr lang="en-US" sz="1000" dirty="0">
                <a:solidFill>
                  <a:srgbClr val="6E6F73"/>
                </a:solidFill>
                <a:latin typeface="Trebuchet MS"/>
              </a:rPr>
              <a:t>Cost of Senior Debt</a:t>
            </a:r>
          </a:p>
        </p:txBody>
      </p:sp>
      <p:sp>
        <p:nvSpPr>
          <p:cNvPr id="439" name="TB439"/>
          <p:cNvSpPr txBox="1"/>
          <p:nvPr/>
        </p:nvSpPr>
        <p:spPr>
          <a:xfrm>
            <a:off x="3638397" y="5198102"/>
            <a:ext cx="2369210" cy="138126"/>
          </a:xfrm>
          <a:prstGeom prst="rect">
            <a:avLst/>
          </a:prstGeom>
          <a:noFill/>
        </p:spPr>
        <p:txBody>
          <a:bodyPr wrap="square" rtlCol="0" anchor="ctr"/>
          <a:lstStyle/>
          <a:p>
            <a:r>
              <a:rPr lang="en-US" sz="1000" b="1" dirty="0">
                <a:solidFill>
                  <a:srgbClr val="575757"/>
                </a:solidFill>
                <a:latin typeface="Trebuchet MS"/>
              </a:rPr>
              <a:t>SOFR + 450bps (~11.0%)</a:t>
            </a:r>
          </a:p>
        </p:txBody>
      </p:sp>
      <p:sp>
        <p:nvSpPr>
          <p:cNvPr id="440" name="TB440"/>
          <p:cNvSpPr txBox="1"/>
          <p:nvPr/>
        </p:nvSpPr>
        <p:spPr>
          <a:xfrm>
            <a:off x="813815" y="5336229"/>
            <a:ext cx="2824581" cy="138126"/>
          </a:xfrm>
          <a:prstGeom prst="rect">
            <a:avLst/>
          </a:prstGeom>
          <a:noFill/>
        </p:spPr>
        <p:txBody>
          <a:bodyPr wrap="square" rtlCol="0" anchor="ctr"/>
          <a:lstStyle/>
          <a:p>
            <a:r>
              <a:rPr lang="en-US" sz="1000" dirty="0">
                <a:solidFill>
                  <a:srgbClr val="6E6F73"/>
                </a:solidFill>
                <a:latin typeface="Trebuchet MS"/>
              </a:rPr>
              <a:t>Cost of Mezzanine</a:t>
            </a:r>
          </a:p>
        </p:txBody>
      </p:sp>
      <p:sp>
        <p:nvSpPr>
          <p:cNvPr id="441" name="TB441"/>
          <p:cNvSpPr txBox="1"/>
          <p:nvPr/>
        </p:nvSpPr>
        <p:spPr>
          <a:xfrm>
            <a:off x="3638397" y="5336229"/>
            <a:ext cx="2369210" cy="138126"/>
          </a:xfrm>
          <a:prstGeom prst="rect">
            <a:avLst/>
          </a:prstGeom>
          <a:noFill/>
        </p:spPr>
        <p:txBody>
          <a:bodyPr wrap="square" rtlCol="0" anchor="ctr"/>
          <a:lstStyle/>
          <a:p>
            <a:r>
              <a:rPr lang="en-US" sz="1000" b="1" dirty="0">
                <a:solidFill>
                  <a:srgbClr val="575757"/>
                </a:solidFill>
                <a:latin typeface="Trebuchet MS"/>
              </a:rPr>
              <a:t>14.5% (PIK toggle)</a:t>
            </a:r>
          </a:p>
        </p:txBody>
      </p:sp>
      <p:sp>
        <p:nvSpPr>
          <p:cNvPr id="442" name="TB442"/>
          <p:cNvSpPr txBox="1"/>
          <p:nvPr/>
        </p:nvSpPr>
        <p:spPr>
          <a:xfrm>
            <a:off x="813815" y="5474356"/>
            <a:ext cx="2824581" cy="138126"/>
          </a:xfrm>
          <a:prstGeom prst="rect">
            <a:avLst/>
          </a:prstGeom>
          <a:noFill/>
        </p:spPr>
        <p:txBody>
          <a:bodyPr wrap="square" rtlCol="0" anchor="ctr"/>
          <a:lstStyle/>
          <a:p>
            <a:r>
              <a:rPr lang="en-US" sz="1000" dirty="0">
                <a:solidFill>
                  <a:srgbClr val="6E6F73"/>
                </a:solidFill>
                <a:latin typeface="Trebuchet MS"/>
              </a:rPr>
              <a:t>Mandatory FCF Sweep</a:t>
            </a:r>
          </a:p>
        </p:txBody>
      </p:sp>
      <p:sp>
        <p:nvSpPr>
          <p:cNvPr id="443" name="TB443"/>
          <p:cNvSpPr txBox="1"/>
          <p:nvPr/>
        </p:nvSpPr>
        <p:spPr>
          <a:xfrm>
            <a:off x="3638397" y="5474356"/>
            <a:ext cx="2369210" cy="138126"/>
          </a:xfrm>
          <a:prstGeom prst="rect">
            <a:avLst/>
          </a:prstGeom>
          <a:noFill/>
        </p:spPr>
        <p:txBody>
          <a:bodyPr wrap="square" rtlCol="0" anchor="ctr"/>
          <a:lstStyle/>
          <a:p>
            <a:r>
              <a:rPr lang="en-US" sz="1000" b="1" dirty="0">
                <a:solidFill>
                  <a:srgbClr val="575757"/>
                </a:solidFill>
                <a:latin typeface="Trebuchet MS"/>
              </a:rPr>
              <a:t>75% above ₹150 Cr min cash</a:t>
            </a:r>
          </a:p>
        </p:txBody>
      </p:sp>
      <p:sp>
        <p:nvSpPr>
          <p:cNvPr id="444" name="TB444"/>
          <p:cNvSpPr txBox="1"/>
          <p:nvPr/>
        </p:nvSpPr>
        <p:spPr>
          <a:xfrm>
            <a:off x="813815" y="5612482"/>
            <a:ext cx="2824581" cy="138126"/>
          </a:xfrm>
          <a:prstGeom prst="rect">
            <a:avLst/>
          </a:prstGeom>
          <a:noFill/>
        </p:spPr>
        <p:txBody>
          <a:bodyPr wrap="square" rtlCol="0" anchor="ctr"/>
          <a:lstStyle/>
          <a:p>
            <a:r>
              <a:rPr lang="en-US" sz="1000" dirty="0">
                <a:solidFill>
                  <a:srgbClr val="6E6F73"/>
                </a:solidFill>
                <a:latin typeface="Trebuchet MS"/>
              </a:rPr>
              <a:t>Holding Period</a:t>
            </a:r>
          </a:p>
        </p:txBody>
      </p:sp>
      <p:sp>
        <p:nvSpPr>
          <p:cNvPr id="445" name="TB445"/>
          <p:cNvSpPr txBox="1"/>
          <p:nvPr/>
        </p:nvSpPr>
        <p:spPr>
          <a:xfrm>
            <a:off x="3638397" y="5612482"/>
            <a:ext cx="2369210" cy="138126"/>
          </a:xfrm>
          <a:prstGeom prst="rect">
            <a:avLst/>
          </a:prstGeom>
          <a:noFill/>
        </p:spPr>
        <p:txBody>
          <a:bodyPr wrap="square" rtlCol="0" anchor="ctr"/>
          <a:lstStyle/>
          <a:p>
            <a:r>
              <a:rPr lang="en-US" sz="1000" b="1" dirty="0">
                <a:solidFill>
                  <a:srgbClr val="575757"/>
                </a:solidFill>
                <a:latin typeface="Trebuchet MS"/>
              </a:rPr>
              <a:t>5 years</a:t>
            </a:r>
          </a:p>
        </p:txBody>
      </p:sp>
      <p:sp>
        <p:nvSpPr>
          <p:cNvPr id="446" name="TB446"/>
          <p:cNvSpPr txBox="1"/>
          <p:nvPr/>
        </p:nvSpPr>
        <p:spPr>
          <a:xfrm>
            <a:off x="813815" y="5750609"/>
            <a:ext cx="2824581" cy="138126"/>
          </a:xfrm>
          <a:prstGeom prst="rect">
            <a:avLst/>
          </a:prstGeom>
          <a:noFill/>
        </p:spPr>
        <p:txBody>
          <a:bodyPr wrap="square" rtlCol="0" anchor="ctr"/>
          <a:lstStyle/>
          <a:p>
            <a:r>
              <a:rPr lang="en-US" sz="1000" dirty="0">
                <a:solidFill>
                  <a:srgbClr val="6E6F73"/>
                </a:solidFill>
                <a:latin typeface="Trebuchet MS"/>
              </a:rPr>
              <a:t>Synergy Run-Rate by Year 3</a:t>
            </a:r>
          </a:p>
        </p:txBody>
      </p:sp>
      <p:sp>
        <p:nvSpPr>
          <p:cNvPr id="447" name="TB447"/>
          <p:cNvSpPr txBox="1"/>
          <p:nvPr/>
        </p:nvSpPr>
        <p:spPr>
          <a:xfrm>
            <a:off x="3638397" y="5750609"/>
            <a:ext cx="2369210" cy="138126"/>
          </a:xfrm>
          <a:prstGeom prst="rect">
            <a:avLst/>
          </a:prstGeom>
          <a:noFill/>
        </p:spPr>
        <p:txBody>
          <a:bodyPr wrap="square" rtlCol="0" anchor="ctr"/>
          <a:lstStyle/>
          <a:p>
            <a:r>
              <a:rPr lang="en-US" sz="1000" b="1" dirty="0">
                <a:solidFill>
                  <a:srgbClr val="575757"/>
                </a:solidFill>
                <a:latin typeface="Trebuchet MS"/>
              </a:rPr>
              <a:t>₹280 Cr / yr</a:t>
            </a:r>
          </a:p>
        </p:txBody>
      </p:sp>
      <p:sp>
        <p:nvSpPr>
          <p:cNvPr id="448" name="R448"/>
          <p:cNvSpPr/>
          <p:nvPr/>
        </p:nvSpPr>
        <p:spPr>
          <a:xfrm>
            <a:off x="6281928" y="4610953"/>
            <a:ext cx="5285232" cy="310896"/>
          </a:xfrm>
          <a:prstGeom prst="rect">
            <a:avLst/>
          </a:prstGeom>
          <a:solidFill>
            <a:srgbClr val="242852"/>
          </a:solidFill>
          <a:ln>
            <a:noFill/>
          </a:ln>
        </p:spPr>
        <p:txBody>
          <a:bodyPr/>
          <a:lstStyle/>
          <a:p>
            <a:endParaRPr lang="en-US"/>
          </a:p>
        </p:txBody>
      </p:sp>
      <p:sp>
        <p:nvSpPr>
          <p:cNvPr id="449" name="TB449"/>
          <p:cNvSpPr txBox="1"/>
          <p:nvPr/>
        </p:nvSpPr>
        <p:spPr>
          <a:xfrm>
            <a:off x="6419088" y="4610953"/>
            <a:ext cx="5010912" cy="310896"/>
          </a:xfrm>
          <a:prstGeom prst="rect">
            <a:avLst/>
          </a:prstGeom>
          <a:noFill/>
        </p:spPr>
        <p:txBody>
          <a:bodyPr wrap="square" rtlCol="0" anchor="ctr"/>
          <a:lstStyle/>
          <a:p>
            <a:r>
              <a:rPr lang="en-US" sz="1200" b="1" dirty="0">
                <a:solidFill>
                  <a:srgbClr val="FFFFFF"/>
                </a:solidFill>
                <a:latin typeface="Trebuchet MS"/>
              </a:rPr>
              <a:t>IRR Sensitivity — Exit Multiple × Synergy</a:t>
            </a:r>
          </a:p>
        </p:txBody>
      </p:sp>
      <p:graphicFrame>
        <p:nvGraphicFramePr>
          <p:cNvPr id="450" name="Table 450"/>
          <p:cNvGraphicFramePr>
            <a:graphicFrameLocks noGrp="1"/>
          </p:cNvGraphicFramePr>
          <p:nvPr>
            <p:extLst>
              <p:ext uri="{D42A27DB-BD31-4B8C-83A1-F6EECF244321}">
                <p14:modId xmlns:p14="http://schemas.microsoft.com/office/powerpoint/2010/main" val="4123336028"/>
              </p:ext>
            </p:extLst>
          </p:nvPr>
        </p:nvGraphicFramePr>
        <p:xfrm>
          <a:off x="6281928" y="4940137"/>
          <a:ext cx="5285230" cy="1493520"/>
        </p:xfrm>
        <a:graphic>
          <a:graphicData uri="http://schemas.openxmlformats.org/drawingml/2006/table">
            <a:tbl>
              <a:tblPr firstRow="1">
                <a:noFill/>
              </a:tblPr>
              <a:tblGrid>
                <a:gridCol w="1057046">
                  <a:extLst>
                    <a:ext uri="{9D8B030D-6E8A-4147-A177-3AD203B41FA5}">
                      <a16:colId xmlns:a16="http://schemas.microsoft.com/office/drawing/2014/main" val="20000"/>
                    </a:ext>
                  </a:extLst>
                </a:gridCol>
                <a:gridCol w="1057046">
                  <a:extLst>
                    <a:ext uri="{9D8B030D-6E8A-4147-A177-3AD203B41FA5}">
                      <a16:colId xmlns:a16="http://schemas.microsoft.com/office/drawing/2014/main" val="20001"/>
                    </a:ext>
                  </a:extLst>
                </a:gridCol>
                <a:gridCol w="1057046">
                  <a:extLst>
                    <a:ext uri="{9D8B030D-6E8A-4147-A177-3AD203B41FA5}">
                      <a16:colId xmlns:a16="http://schemas.microsoft.com/office/drawing/2014/main" val="20002"/>
                    </a:ext>
                  </a:extLst>
                </a:gridCol>
                <a:gridCol w="1057046">
                  <a:extLst>
                    <a:ext uri="{9D8B030D-6E8A-4147-A177-3AD203B41FA5}">
                      <a16:colId xmlns:a16="http://schemas.microsoft.com/office/drawing/2014/main" val="20003"/>
                    </a:ext>
                  </a:extLst>
                </a:gridCol>
                <a:gridCol w="1057046">
                  <a:extLst>
                    <a:ext uri="{9D8B030D-6E8A-4147-A177-3AD203B41FA5}">
                      <a16:colId xmlns:a16="http://schemas.microsoft.com/office/drawing/2014/main" val="20004"/>
                    </a:ext>
                  </a:extLst>
                </a:gridCol>
              </a:tblGrid>
              <a:tr h="200692">
                <a:tc>
                  <a:txBody>
                    <a:bodyPr/>
                    <a:lstStyle/>
                    <a:p>
                      <a:pPr algn="ctr"/>
                      <a:r>
                        <a:rPr lang="en-US" sz="1200" b="1" dirty="0">
                          <a:solidFill>
                            <a:srgbClr val="FFFFFF"/>
                          </a:solidFill>
                          <a:latin typeface="Trebuchet MS"/>
                          <a:cs typeface="Trebuchet MS"/>
                        </a:rPr>
                        <a:t>Exit</a:t>
                      </a:r>
                    </a:p>
                    <a:p>
                      <a:pPr algn="ctr"/>
                      <a:r>
                        <a:rPr lang="en-US" sz="1200" b="1" dirty="0">
                          <a:solidFill>
                            <a:srgbClr val="FFFFFF"/>
                          </a:solidFill>
                          <a:latin typeface="Trebuchet MS"/>
                          <a:cs typeface="Trebuchet MS"/>
                        </a:rPr>
                        <a:t>Mult.</a:t>
                      </a:r>
                    </a:p>
                  </a:txBody>
                  <a:tcPr>
                    <a:lnL w="0">
                      <a:noFill/>
                    </a:lnL>
                    <a:lnR w="0">
                      <a:noFill/>
                    </a:lnR>
                    <a:lnT w="0">
                      <a:noFill/>
                    </a:lnT>
                    <a:lnB w="0">
                      <a:noFill/>
                    </a:lnB>
                    <a:solidFill>
                      <a:srgbClr val="242852"/>
                    </a:solidFill>
                  </a:tcPr>
                </a:tc>
                <a:tc>
                  <a:txBody>
                    <a:bodyPr/>
                    <a:lstStyle/>
                    <a:p>
                      <a:pPr algn="ctr"/>
                      <a:r>
                        <a:rPr lang="en-US" sz="1200" b="1" dirty="0">
                          <a:solidFill>
                            <a:srgbClr val="FFFFFF"/>
                          </a:solidFill>
                          <a:latin typeface="Trebuchet MS"/>
                          <a:cs typeface="Trebuchet MS"/>
                        </a:rPr>
                        <a:t>50%</a:t>
                      </a:r>
                    </a:p>
                  </a:txBody>
                  <a:tcPr>
                    <a:lnL w="0">
                      <a:noFill/>
                    </a:lnL>
                    <a:lnR w="0">
                      <a:noFill/>
                    </a:lnR>
                    <a:lnT w="0">
                      <a:noFill/>
                    </a:lnT>
                    <a:lnB w="0">
                      <a:noFill/>
                    </a:lnB>
                    <a:solidFill>
                      <a:srgbClr val="242852"/>
                    </a:solidFill>
                  </a:tcPr>
                </a:tc>
                <a:tc>
                  <a:txBody>
                    <a:bodyPr/>
                    <a:lstStyle/>
                    <a:p>
                      <a:pPr algn="ctr"/>
                      <a:r>
                        <a:rPr lang="en-US" sz="1200" b="1" dirty="0">
                          <a:solidFill>
                            <a:srgbClr val="FFFFFF"/>
                          </a:solidFill>
                          <a:latin typeface="Trebuchet MS"/>
                          <a:cs typeface="Trebuchet MS"/>
                        </a:rPr>
                        <a:t>75%</a:t>
                      </a:r>
                    </a:p>
                  </a:txBody>
                  <a:tcPr>
                    <a:lnL w="0">
                      <a:noFill/>
                    </a:lnL>
                    <a:lnR w="0">
                      <a:noFill/>
                    </a:lnR>
                    <a:lnT w="0">
                      <a:noFill/>
                    </a:lnT>
                    <a:lnB w="0">
                      <a:noFill/>
                    </a:lnB>
                    <a:solidFill>
                      <a:srgbClr val="242852"/>
                    </a:solidFill>
                  </a:tcPr>
                </a:tc>
                <a:tc>
                  <a:txBody>
                    <a:bodyPr/>
                    <a:lstStyle/>
                    <a:p>
                      <a:pPr algn="ctr"/>
                      <a:r>
                        <a:rPr lang="en-US" sz="1200" b="1" dirty="0">
                          <a:solidFill>
                            <a:srgbClr val="FFFFFF"/>
                          </a:solidFill>
                          <a:latin typeface="Trebuchet MS"/>
                          <a:cs typeface="Trebuchet MS"/>
                        </a:rPr>
                        <a:t>100%</a:t>
                      </a:r>
                    </a:p>
                  </a:txBody>
                  <a:tcPr>
                    <a:lnL w="0">
                      <a:noFill/>
                    </a:lnL>
                    <a:lnR w="0">
                      <a:noFill/>
                    </a:lnR>
                    <a:lnT w="0">
                      <a:noFill/>
                    </a:lnT>
                    <a:lnB w="0">
                      <a:noFill/>
                    </a:lnB>
                    <a:solidFill>
                      <a:srgbClr val="242852"/>
                    </a:solidFill>
                  </a:tcPr>
                </a:tc>
                <a:tc>
                  <a:txBody>
                    <a:bodyPr/>
                    <a:lstStyle/>
                    <a:p>
                      <a:pPr algn="ctr"/>
                      <a:r>
                        <a:rPr lang="en-US" sz="1200" b="1" dirty="0">
                          <a:solidFill>
                            <a:srgbClr val="FFFFFF"/>
                          </a:solidFill>
                          <a:latin typeface="Trebuchet MS"/>
                          <a:cs typeface="Trebuchet MS"/>
                        </a:rPr>
                        <a:t>125%</a:t>
                      </a:r>
                    </a:p>
                  </a:txBody>
                  <a:tcPr>
                    <a:lnL w="0">
                      <a:noFill/>
                    </a:lnL>
                    <a:lnR w="0">
                      <a:noFill/>
                    </a:lnR>
                    <a:lnT w="0">
                      <a:noFill/>
                    </a:lnT>
                    <a:lnB w="0">
                      <a:noFill/>
                    </a:lnB>
                    <a:solidFill>
                      <a:srgbClr val="242852"/>
                    </a:solidFill>
                  </a:tcPr>
                </a:tc>
                <a:extLst>
                  <a:ext uri="{0D108BD9-81ED-4DB2-BD59-A6C34878D82A}">
                    <a16:rowId xmlns:a16="http://schemas.microsoft.com/office/drawing/2014/main" val="10000"/>
                  </a:ext>
                </a:extLst>
              </a:tr>
              <a:tr h="200692">
                <a:tc>
                  <a:txBody>
                    <a:bodyPr/>
                    <a:lstStyle/>
                    <a:p>
                      <a:pPr algn="ctr"/>
                      <a:r>
                        <a:rPr lang="en-US" sz="1100" dirty="0">
                          <a:solidFill>
                            <a:srgbClr val="575757"/>
                          </a:solidFill>
                          <a:latin typeface="Trebuchet MS"/>
                          <a:cs typeface="Trebuchet MS"/>
                        </a:rPr>
                        <a:t>16.0x</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16%</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21%</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25%</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29%</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200692">
                <a:tc>
                  <a:txBody>
                    <a:bodyPr/>
                    <a:lstStyle/>
                    <a:p>
                      <a:pPr algn="ctr"/>
                      <a:r>
                        <a:rPr lang="en-US" sz="1100" dirty="0">
                          <a:solidFill>
                            <a:srgbClr val="575757"/>
                          </a:solidFill>
                          <a:latin typeface="Trebuchet MS"/>
                          <a:cs typeface="Trebuchet MS"/>
                        </a:rPr>
                        <a:t>18.0x</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20%</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25%</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29%</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33%</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200692">
                <a:tc>
                  <a:txBody>
                    <a:bodyPr/>
                    <a:lstStyle/>
                    <a:p>
                      <a:pPr algn="ctr"/>
                      <a:r>
                        <a:rPr lang="en-US" sz="1100" dirty="0">
                          <a:solidFill>
                            <a:srgbClr val="575757"/>
                          </a:solidFill>
                          <a:latin typeface="Trebuchet MS"/>
                          <a:cs typeface="Trebuchet MS"/>
                        </a:rPr>
                        <a:t>20.0x</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24%</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28%</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33%</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37%</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200692">
                <a:tc>
                  <a:txBody>
                    <a:bodyPr/>
                    <a:lstStyle/>
                    <a:p>
                      <a:pPr algn="ctr"/>
                      <a:r>
                        <a:rPr lang="en-US" sz="1100" dirty="0">
                          <a:solidFill>
                            <a:srgbClr val="575757"/>
                          </a:solidFill>
                          <a:latin typeface="Trebuchet MS"/>
                          <a:cs typeface="Trebuchet MS"/>
                        </a:rPr>
                        <a:t>22.0x</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27%</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32%</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36%</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40%</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B6D5B0-DE9B-BA3A-B004-CD3AF6283DDA}"/>
              </a:ext>
            </a:extLst>
          </p:cNvPr>
          <p:cNvGraphicFramePr>
            <a:graphicFrameLocks noChangeAspect="1"/>
          </p:cNvGraphicFramePr>
          <p:nvPr>
            <p:custDataLst>
              <p:tags r:id="rId1"/>
            </p:custDataLst>
            <p:extLst>
              <p:ext uri="{D42A27DB-BD31-4B8C-83A1-F6EECF244321}">
                <p14:modId xmlns:p14="http://schemas.microsoft.com/office/powerpoint/2010/main" val="1769637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51" name="ph_title"/>
          <p:cNvSpPr>
            <a:spLocks noGrp="1"/>
          </p:cNvSpPr>
          <p:nvPr>
            <p:ph type="title"/>
          </p:nvPr>
        </p:nvSpPr>
        <p:spPr/>
        <p:txBody>
          <a:bodyPr vert="horz"/>
          <a:lstStyle/>
          <a:p>
            <a:r>
              <a:rPr lang="en-US" dirty="0"/>
              <a:t>Six value creation levers drive ₹4,500 Cr of equity value over 5 years</a:t>
            </a:r>
          </a:p>
        </p:txBody>
      </p:sp>
      <p:sp>
        <p:nvSpPr>
          <p:cNvPr id="452" name="RR452"/>
          <p:cNvSpPr/>
          <p:nvPr/>
        </p:nvSpPr>
        <p:spPr>
          <a:xfrm>
            <a:off x="630936" y="4146804"/>
            <a:ext cx="3535680" cy="84353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53" name="R453"/>
          <p:cNvSpPr/>
          <p:nvPr/>
        </p:nvSpPr>
        <p:spPr>
          <a:xfrm>
            <a:off x="630936" y="4146804"/>
            <a:ext cx="73152" cy="843534"/>
          </a:xfrm>
          <a:prstGeom prst="rect">
            <a:avLst/>
          </a:prstGeom>
          <a:solidFill>
            <a:srgbClr val="242852"/>
          </a:solidFill>
          <a:ln>
            <a:noFill/>
          </a:ln>
        </p:spPr>
        <p:txBody>
          <a:bodyPr/>
          <a:lstStyle/>
          <a:p>
            <a:endParaRPr lang="en-US"/>
          </a:p>
        </p:txBody>
      </p:sp>
      <p:sp>
        <p:nvSpPr>
          <p:cNvPr id="454" name="O454"/>
          <p:cNvSpPr/>
          <p:nvPr/>
        </p:nvSpPr>
        <p:spPr>
          <a:xfrm>
            <a:off x="722375" y="4362831"/>
            <a:ext cx="411480" cy="411480"/>
          </a:xfrm>
          <a:prstGeom prst="ellipse">
            <a:avLst/>
          </a:prstGeom>
          <a:solidFill>
            <a:schemeClr val="tx2"/>
          </a:solidFill>
          <a:ln>
            <a:noFill/>
          </a:ln>
        </p:spPr>
        <p:txBody>
          <a:bodyPr/>
          <a:lstStyle/>
          <a:p>
            <a:endParaRPr lang="en-US">
              <a:solidFill>
                <a:schemeClr val="tx2"/>
              </a:solidFill>
            </a:endParaRPr>
          </a:p>
        </p:txBody>
      </p:sp>
      <p:grpSp>
        <p:nvGrpSpPr>
          <p:cNvPr id="455" name="svg_Strategy_Operating_Model"/>
          <p:cNvGrpSpPr>
            <a:grpSpLocks noChangeAspect="1"/>
          </p:cNvGrpSpPr>
          <p:nvPr/>
        </p:nvGrpSpPr>
        <p:grpSpPr bwMode="auto">
          <a:xfrm>
            <a:off x="749808" y="4408551"/>
            <a:ext cx="320040" cy="320040"/>
            <a:chOff x="0" y="0"/>
            <a:chExt cx="10000" cy="10000"/>
          </a:xfrm>
        </p:grpSpPr>
        <p:sp>
          <p:nvSpPr>
            <p:cNvPr id="456" name="Path 11"/>
            <p:cNvSpPr/>
            <p:nvPr/>
          </p:nvSpPr>
          <p:spPr bwMode="auto">
            <a:xfrm>
              <a:off x="0" y="0"/>
              <a:ext cx="10000" cy="10000"/>
            </a:xfrm>
            <a:custGeom>
              <a:avLst/>
              <a:gdLst/>
              <a:ahLst/>
              <a:cxnLst/>
              <a:rect l="0" t="0" r="10000" b="10000"/>
              <a:pathLst>
                <a:path w="10000" h="10000">
                  <a:moveTo>
                    <a:pt x="5216" y="6024"/>
                  </a:moveTo>
                  <a:cubicBezTo>
                    <a:pt x="5290" y="6024"/>
                    <a:pt x="5359" y="6046"/>
                    <a:pt x="5425" y="6089"/>
                  </a:cubicBezTo>
                  <a:cubicBezTo>
                    <a:pt x="5594" y="6201"/>
                    <a:pt x="5638" y="6434"/>
                    <a:pt x="5525" y="6602"/>
                  </a:cubicBezTo>
                  <a:cubicBezTo>
                    <a:pt x="5407" y="6770"/>
                    <a:pt x="5172" y="6817"/>
                    <a:pt x="5002" y="6701"/>
                  </a:cubicBezTo>
                  <a:cubicBezTo>
                    <a:pt x="4832" y="6584"/>
                    <a:pt x="4789" y="6352"/>
                    <a:pt x="4907" y="6184"/>
                  </a:cubicBezTo>
                  <a:cubicBezTo>
                    <a:pt x="4976" y="6080"/>
                    <a:pt x="5094" y="6024"/>
                    <a:pt x="5216" y="6024"/>
                  </a:cubicBezTo>
                  <a:close/>
                  <a:moveTo>
                    <a:pt x="7608" y="3831"/>
                  </a:moveTo>
                  <a:cubicBezTo>
                    <a:pt x="7682" y="3831"/>
                    <a:pt x="7752" y="3852"/>
                    <a:pt x="7817" y="3896"/>
                  </a:cubicBezTo>
                  <a:cubicBezTo>
                    <a:pt x="7987" y="4009"/>
                    <a:pt x="8030" y="4245"/>
                    <a:pt x="7917" y="4415"/>
                  </a:cubicBezTo>
                  <a:cubicBezTo>
                    <a:pt x="7799" y="4585"/>
                    <a:pt x="7564" y="4633"/>
                    <a:pt x="7395" y="4515"/>
                  </a:cubicBezTo>
                  <a:cubicBezTo>
                    <a:pt x="7225" y="4397"/>
                    <a:pt x="7181" y="4162"/>
                    <a:pt x="7299" y="3992"/>
                  </a:cubicBezTo>
                  <a:cubicBezTo>
                    <a:pt x="7369" y="3887"/>
                    <a:pt x="7486" y="3831"/>
                    <a:pt x="7608" y="3831"/>
                  </a:cubicBezTo>
                  <a:close/>
                  <a:moveTo>
                    <a:pt x="3265" y="3260"/>
                  </a:moveTo>
                  <a:cubicBezTo>
                    <a:pt x="3473" y="3260"/>
                    <a:pt x="3641" y="3427"/>
                    <a:pt x="3641" y="3632"/>
                  </a:cubicBezTo>
                  <a:cubicBezTo>
                    <a:pt x="3641" y="3838"/>
                    <a:pt x="3473" y="4005"/>
                    <a:pt x="3265" y="4005"/>
                  </a:cubicBezTo>
                  <a:cubicBezTo>
                    <a:pt x="3057" y="4005"/>
                    <a:pt x="2889" y="3838"/>
                    <a:pt x="2889" y="3632"/>
                  </a:cubicBezTo>
                  <a:cubicBezTo>
                    <a:pt x="2889" y="3427"/>
                    <a:pt x="3057" y="3260"/>
                    <a:pt x="3265" y="3260"/>
                  </a:cubicBezTo>
                  <a:close/>
                  <a:moveTo>
                    <a:pt x="1210" y="2352"/>
                  </a:moveTo>
                  <a:cubicBezTo>
                    <a:pt x="1210" y="2352"/>
                    <a:pt x="1210" y="2352"/>
                    <a:pt x="1210" y="7648"/>
                  </a:cubicBezTo>
                  <a:cubicBezTo>
                    <a:pt x="1210" y="7648"/>
                    <a:pt x="1210" y="7648"/>
                    <a:pt x="8773" y="7648"/>
                  </a:cubicBezTo>
                  <a:cubicBezTo>
                    <a:pt x="8773" y="7648"/>
                    <a:pt x="8773" y="7648"/>
                    <a:pt x="8773" y="2352"/>
                  </a:cubicBezTo>
                  <a:cubicBezTo>
                    <a:pt x="8773" y="2352"/>
                    <a:pt x="8773" y="2352"/>
                    <a:pt x="1210" y="2352"/>
                  </a:cubicBezTo>
                  <a:close/>
                  <a:moveTo>
                    <a:pt x="1122" y="2159"/>
                  </a:moveTo>
                  <a:cubicBezTo>
                    <a:pt x="1122" y="2159"/>
                    <a:pt x="1122" y="2159"/>
                    <a:pt x="8861" y="2159"/>
                  </a:cubicBezTo>
                  <a:cubicBezTo>
                    <a:pt x="8913" y="2159"/>
                    <a:pt x="8956" y="2198"/>
                    <a:pt x="8956" y="2254"/>
                  </a:cubicBezTo>
                  <a:cubicBezTo>
                    <a:pt x="8956" y="2254"/>
                    <a:pt x="8956" y="2254"/>
                    <a:pt x="8956" y="7746"/>
                  </a:cubicBezTo>
                  <a:cubicBezTo>
                    <a:pt x="8956" y="7802"/>
                    <a:pt x="8913" y="7841"/>
                    <a:pt x="8861" y="7841"/>
                  </a:cubicBezTo>
                  <a:cubicBezTo>
                    <a:pt x="8861" y="7841"/>
                    <a:pt x="8861" y="7841"/>
                    <a:pt x="1122" y="7841"/>
                  </a:cubicBezTo>
                  <a:cubicBezTo>
                    <a:pt x="1070" y="7841"/>
                    <a:pt x="1027" y="7802"/>
                    <a:pt x="1027" y="7746"/>
                  </a:cubicBezTo>
                  <a:cubicBezTo>
                    <a:pt x="1027" y="7746"/>
                    <a:pt x="1027" y="7746"/>
                    <a:pt x="1027" y="2254"/>
                  </a:cubicBezTo>
                  <a:cubicBezTo>
                    <a:pt x="1027" y="2198"/>
                    <a:pt x="1070" y="2159"/>
                    <a:pt x="1122" y="2159"/>
                  </a:cubicBezTo>
                  <a:close/>
                </a:path>
              </a:pathLst>
            </a:custGeom>
            <a:solidFill>
              <a:srgbClr val="FFFFFF"/>
            </a:solidFill>
            <a:ln w="0">
              <a:noFill/>
            </a:ln>
          </p:spPr>
          <p:txBody>
            <a:bodyPr/>
            <a:lstStyle/>
            <a:p>
              <a:endParaRPr lang="en-US"/>
            </a:p>
          </p:txBody>
        </p:sp>
        <p:sp>
          <p:nvSpPr>
            <p:cNvPr id="457" name="Path 12"/>
            <p:cNvSpPr/>
            <p:nvPr/>
          </p:nvSpPr>
          <p:spPr bwMode="auto">
            <a:xfrm>
              <a:off x="0" y="0"/>
              <a:ext cx="10000" cy="10000"/>
            </a:xfrm>
            <a:custGeom>
              <a:avLst/>
              <a:gdLst/>
              <a:ahLst/>
              <a:cxnLst/>
              <a:rect l="0" t="0" r="10000" b="10000"/>
              <a:pathLst>
                <a:path w="10000" h="10000">
                  <a:moveTo>
                    <a:pt x="1907" y="4989"/>
                  </a:moveTo>
                  <a:cubicBezTo>
                    <a:pt x="1882" y="4989"/>
                    <a:pt x="1857" y="4998"/>
                    <a:pt x="1838" y="5016"/>
                  </a:cubicBezTo>
                  <a:cubicBezTo>
                    <a:pt x="1803" y="5055"/>
                    <a:pt x="1803" y="5116"/>
                    <a:pt x="1838" y="5156"/>
                  </a:cubicBezTo>
                  <a:cubicBezTo>
                    <a:pt x="1838" y="5156"/>
                    <a:pt x="1838" y="5156"/>
                    <a:pt x="2041" y="5357"/>
                  </a:cubicBezTo>
                  <a:cubicBezTo>
                    <a:pt x="2041" y="5357"/>
                    <a:pt x="2041" y="5357"/>
                    <a:pt x="1838" y="5558"/>
                  </a:cubicBezTo>
                  <a:cubicBezTo>
                    <a:pt x="1803" y="5598"/>
                    <a:pt x="1803" y="5659"/>
                    <a:pt x="1838" y="5698"/>
                  </a:cubicBezTo>
                  <a:cubicBezTo>
                    <a:pt x="1859" y="5716"/>
                    <a:pt x="1881" y="5724"/>
                    <a:pt x="1907" y="5724"/>
                  </a:cubicBezTo>
                  <a:cubicBezTo>
                    <a:pt x="1933" y="5724"/>
                    <a:pt x="1955" y="5716"/>
                    <a:pt x="1976" y="5698"/>
                  </a:cubicBezTo>
                  <a:cubicBezTo>
                    <a:pt x="1976" y="5698"/>
                    <a:pt x="1976" y="5698"/>
                    <a:pt x="2175" y="5493"/>
                  </a:cubicBezTo>
                  <a:cubicBezTo>
                    <a:pt x="2175" y="5493"/>
                    <a:pt x="2175" y="5493"/>
                    <a:pt x="2374" y="5698"/>
                  </a:cubicBezTo>
                  <a:cubicBezTo>
                    <a:pt x="2396" y="5716"/>
                    <a:pt x="2417" y="5724"/>
                    <a:pt x="2443" y="5724"/>
                  </a:cubicBezTo>
                  <a:cubicBezTo>
                    <a:pt x="2469" y="5724"/>
                    <a:pt x="2491" y="5716"/>
                    <a:pt x="2512" y="5698"/>
                  </a:cubicBezTo>
                  <a:cubicBezTo>
                    <a:pt x="2547" y="5659"/>
                    <a:pt x="2547" y="5598"/>
                    <a:pt x="2512" y="5558"/>
                  </a:cubicBezTo>
                  <a:lnTo>
                    <a:pt x="2309" y="5357"/>
                  </a:lnTo>
                  <a:cubicBezTo>
                    <a:pt x="2309" y="5357"/>
                    <a:pt x="2309" y="5357"/>
                    <a:pt x="2512" y="5156"/>
                  </a:cubicBezTo>
                  <a:cubicBezTo>
                    <a:pt x="2547" y="5116"/>
                    <a:pt x="2547" y="5055"/>
                    <a:pt x="2512" y="5016"/>
                  </a:cubicBezTo>
                  <a:cubicBezTo>
                    <a:pt x="2493" y="4998"/>
                    <a:pt x="2468" y="4989"/>
                    <a:pt x="2443" y="4989"/>
                  </a:cubicBezTo>
                  <a:cubicBezTo>
                    <a:pt x="2418" y="4989"/>
                    <a:pt x="2394" y="4998"/>
                    <a:pt x="2374" y="5016"/>
                  </a:cubicBezTo>
                  <a:cubicBezTo>
                    <a:pt x="2374" y="5016"/>
                    <a:pt x="2374" y="5016"/>
                    <a:pt x="2175" y="5221"/>
                  </a:cubicBezTo>
                  <a:cubicBezTo>
                    <a:pt x="2175" y="5221"/>
                    <a:pt x="2175" y="5221"/>
                    <a:pt x="1976" y="5016"/>
                  </a:cubicBezTo>
                  <a:cubicBezTo>
                    <a:pt x="1957" y="4998"/>
                    <a:pt x="1932" y="4989"/>
                    <a:pt x="1907" y="4989"/>
                  </a:cubicBezTo>
                  <a:close/>
                  <a:moveTo>
                    <a:pt x="7501" y="3657"/>
                  </a:moveTo>
                  <a:cubicBezTo>
                    <a:pt x="7359" y="3683"/>
                    <a:pt x="7226" y="3764"/>
                    <a:pt x="7137" y="3892"/>
                  </a:cubicBezTo>
                  <a:cubicBezTo>
                    <a:pt x="6963" y="4152"/>
                    <a:pt x="7028" y="4504"/>
                    <a:pt x="7285" y="4678"/>
                  </a:cubicBezTo>
                  <a:cubicBezTo>
                    <a:pt x="7385" y="4743"/>
                    <a:pt x="7493" y="4778"/>
                    <a:pt x="7607" y="4778"/>
                  </a:cubicBezTo>
                  <a:cubicBezTo>
                    <a:pt x="7785" y="4778"/>
                    <a:pt x="7963" y="4691"/>
                    <a:pt x="8072" y="4530"/>
                  </a:cubicBezTo>
                  <a:cubicBezTo>
                    <a:pt x="8159" y="4404"/>
                    <a:pt x="8190" y="4257"/>
                    <a:pt x="8159" y="4109"/>
                  </a:cubicBezTo>
                  <a:cubicBezTo>
                    <a:pt x="8133" y="3961"/>
                    <a:pt x="8051" y="3831"/>
                    <a:pt x="7924" y="3744"/>
                  </a:cubicBezTo>
                  <a:cubicBezTo>
                    <a:pt x="7796" y="3657"/>
                    <a:pt x="7644" y="3630"/>
                    <a:pt x="7501" y="3657"/>
                  </a:cubicBezTo>
                  <a:close/>
                  <a:moveTo>
                    <a:pt x="6415" y="3649"/>
                  </a:moveTo>
                  <a:cubicBezTo>
                    <a:pt x="6391" y="3651"/>
                    <a:pt x="6367" y="3662"/>
                    <a:pt x="6349" y="3681"/>
                  </a:cubicBezTo>
                  <a:cubicBezTo>
                    <a:pt x="6315" y="3720"/>
                    <a:pt x="6319" y="3781"/>
                    <a:pt x="6358" y="3816"/>
                  </a:cubicBezTo>
                  <a:cubicBezTo>
                    <a:pt x="6358" y="3816"/>
                    <a:pt x="6358" y="3816"/>
                    <a:pt x="6615" y="4046"/>
                  </a:cubicBezTo>
                  <a:cubicBezTo>
                    <a:pt x="6010" y="4111"/>
                    <a:pt x="5558" y="4324"/>
                    <a:pt x="5280" y="4680"/>
                  </a:cubicBezTo>
                  <a:cubicBezTo>
                    <a:pt x="4910" y="5158"/>
                    <a:pt x="4971" y="5732"/>
                    <a:pt x="4993" y="5875"/>
                  </a:cubicBezTo>
                  <a:cubicBezTo>
                    <a:pt x="4897" y="5914"/>
                    <a:pt x="4806" y="5984"/>
                    <a:pt x="4740" y="6075"/>
                  </a:cubicBezTo>
                  <a:cubicBezTo>
                    <a:pt x="4566" y="6335"/>
                    <a:pt x="4632" y="6687"/>
                    <a:pt x="4888" y="6861"/>
                  </a:cubicBezTo>
                  <a:cubicBezTo>
                    <a:pt x="4988" y="6926"/>
                    <a:pt x="5097" y="6961"/>
                    <a:pt x="5210" y="6961"/>
                  </a:cubicBezTo>
                  <a:cubicBezTo>
                    <a:pt x="5388" y="6961"/>
                    <a:pt x="5567" y="6874"/>
                    <a:pt x="5675" y="6713"/>
                  </a:cubicBezTo>
                  <a:cubicBezTo>
                    <a:pt x="5762" y="6587"/>
                    <a:pt x="5793" y="6440"/>
                    <a:pt x="5762" y="6292"/>
                  </a:cubicBezTo>
                  <a:cubicBezTo>
                    <a:pt x="5736" y="6144"/>
                    <a:pt x="5654" y="6014"/>
                    <a:pt x="5528" y="5927"/>
                  </a:cubicBezTo>
                  <a:cubicBezTo>
                    <a:pt x="5423" y="5858"/>
                    <a:pt x="5301" y="5827"/>
                    <a:pt x="5184" y="5832"/>
                  </a:cubicBezTo>
                  <a:cubicBezTo>
                    <a:pt x="5162" y="5697"/>
                    <a:pt x="5123" y="5197"/>
                    <a:pt x="5432" y="4798"/>
                  </a:cubicBezTo>
                  <a:cubicBezTo>
                    <a:pt x="5680" y="4476"/>
                    <a:pt x="6093" y="4290"/>
                    <a:pt x="6658" y="4233"/>
                  </a:cubicBezTo>
                  <a:cubicBezTo>
                    <a:pt x="6658" y="4233"/>
                    <a:pt x="6658" y="4233"/>
                    <a:pt x="6397" y="4528"/>
                  </a:cubicBezTo>
                  <a:cubicBezTo>
                    <a:pt x="6362" y="4567"/>
                    <a:pt x="6367" y="4628"/>
                    <a:pt x="6406" y="4663"/>
                  </a:cubicBezTo>
                  <a:cubicBezTo>
                    <a:pt x="6423" y="4680"/>
                    <a:pt x="6445" y="4689"/>
                    <a:pt x="6471" y="4689"/>
                  </a:cubicBezTo>
                  <a:cubicBezTo>
                    <a:pt x="6497" y="4689"/>
                    <a:pt x="6523" y="4676"/>
                    <a:pt x="6541" y="4654"/>
                  </a:cubicBezTo>
                  <a:cubicBezTo>
                    <a:pt x="6541" y="4654"/>
                    <a:pt x="6541" y="4654"/>
                    <a:pt x="6937" y="4207"/>
                  </a:cubicBezTo>
                  <a:cubicBezTo>
                    <a:pt x="6954" y="4190"/>
                    <a:pt x="6963" y="4164"/>
                    <a:pt x="6963" y="4137"/>
                  </a:cubicBezTo>
                  <a:cubicBezTo>
                    <a:pt x="6963" y="4116"/>
                    <a:pt x="6950" y="4090"/>
                    <a:pt x="6932" y="4072"/>
                  </a:cubicBezTo>
                  <a:cubicBezTo>
                    <a:pt x="6932" y="4072"/>
                    <a:pt x="6932" y="4072"/>
                    <a:pt x="6484" y="3673"/>
                  </a:cubicBezTo>
                  <a:cubicBezTo>
                    <a:pt x="6465" y="3655"/>
                    <a:pt x="6440" y="3648"/>
                    <a:pt x="6415" y="3649"/>
                  </a:cubicBezTo>
                  <a:close/>
                  <a:moveTo>
                    <a:pt x="3260" y="3068"/>
                  </a:moveTo>
                  <a:cubicBezTo>
                    <a:pt x="2946" y="3068"/>
                    <a:pt x="2692" y="3320"/>
                    <a:pt x="2692" y="3633"/>
                  </a:cubicBezTo>
                  <a:cubicBezTo>
                    <a:pt x="2692" y="3947"/>
                    <a:pt x="2946" y="4199"/>
                    <a:pt x="3260" y="4199"/>
                  </a:cubicBezTo>
                  <a:cubicBezTo>
                    <a:pt x="3387" y="4199"/>
                    <a:pt x="3505" y="4155"/>
                    <a:pt x="3601" y="4086"/>
                  </a:cubicBezTo>
                  <a:cubicBezTo>
                    <a:pt x="3693" y="4186"/>
                    <a:pt x="4012" y="4573"/>
                    <a:pt x="3982" y="5081"/>
                  </a:cubicBezTo>
                  <a:cubicBezTo>
                    <a:pt x="3955" y="5486"/>
                    <a:pt x="3719" y="5873"/>
                    <a:pt x="3282" y="6238"/>
                  </a:cubicBezTo>
                  <a:cubicBezTo>
                    <a:pt x="3282" y="6238"/>
                    <a:pt x="3282" y="6238"/>
                    <a:pt x="3330" y="5847"/>
                  </a:cubicBezTo>
                  <a:cubicBezTo>
                    <a:pt x="3339" y="5795"/>
                    <a:pt x="3304" y="5747"/>
                    <a:pt x="3247" y="5742"/>
                  </a:cubicBezTo>
                  <a:cubicBezTo>
                    <a:pt x="3195" y="5734"/>
                    <a:pt x="3147" y="5769"/>
                    <a:pt x="3142" y="5821"/>
                  </a:cubicBezTo>
                  <a:cubicBezTo>
                    <a:pt x="3142" y="5821"/>
                    <a:pt x="3142" y="5821"/>
                    <a:pt x="3064" y="6421"/>
                  </a:cubicBezTo>
                  <a:cubicBezTo>
                    <a:pt x="3055" y="6473"/>
                    <a:pt x="3094" y="6521"/>
                    <a:pt x="3147" y="6525"/>
                  </a:cubicBezTo>
                  <a:cubicBezTo>
                    <a:pt x="3147" y="6525"/>
                    <a:pt x="3147" y="6525"/>
                    <a:pt x="3746" y="6604"/>
                  </a:cubicBezTo>
                  <a:cubicBezTo>
                    <a:pt x="3750" y="6604"/>
                    <a:pt x="3754" y="6604"/>
                    <a:pt x="3759" y="6604"/>
                  </a:cubicBezTo>
                  <a:cubicBezTo>
                    <a:pt x="3807" y="6604"/>
                    <a:pt x="3846" y="6569"/>
                    <a:pt x="3855" y="6521"/>
                  </a:cubicBezTo>
                  <a:cubicBezTo>
                    <a:pt x="3859" y="6469"/>
                    <a:pt x="3824" y="6421"/>
                    <a:pt x="3772" y="6417"/>
                  </a:cubicBezTo>
                  <a:cubicBezTo>
                    <a:pt x="3772" y="6417"/>
                    <a:pt x="3772" y="6417"/>
                    <a:pt x="3422" y="6369"/>
                  </a:cubicBezTo>
                  <a:cubicBezTo>
                    <a:pt x="3894" y="5973"/>
                    <a:pt x="4148" y="5542"/>
                    <a:pt x="4174" y="5090"/>
                  </a:cubicBezTo>
                  <a:cubicBezTo>
                    <a:pt x="4209" y="4490"/>
                    <a:pt x="3833" y="4047"/>
                    <a:pt x="3732" y="3947"/>
                  </a:cubicBezTo>
                  <a:cubicBezTo>
                    <a:pt x="3794" y="3855"/>
                    <a:pt x="3829" y="3746"/>
                    <a:pt x="3829" y="3633"/>
                  </a:cubicBezTo>
                  <a:cubicBezTo>
                    <a:pt x="3829" y="3320"/>
                    <a:pt x="3575" y="3068"/>
                    <a:pt x="3260" y="3068"/>
                  </a:cubicBezTo>
                  <a:close/>
                  <a:moveTo>
                    <a:pt x="5000" y="3038"/>
                  </a:moveTo>
                  <a:cubicBezTo>
                    <a:pt x="4975" y="3038"/>
                    <a:pt x="4950" y="3047"/>
                    <a:pt x="4930" y="3064"/>
                  </a:cubicBezTo>
                  <a:cubicBezTo>
                    <a:pt x="4895" y="3103"/>
                    <a:pt x="4895" y="3163"/>
                    <a:pt x="4930" y="3202"/>
                  </a:cubicBezTo>
                  <a:lnTo>
                    <a:pt x="5136" y="3401"/>
                  </a:lnTo>
                  <a:cubicBezTo>
                    <a:pt x="5136" y="3401"/>
                    <a:pt x="5136" y="3401"/>
                    <a:pt x="4930" y="3599"/>
                  </a:cubicBezTo>
                  <a:cubicBezTo>
                    <a:pt x="4895" y="3638"/>
                    <a:pt x="4895" y="3699"/>
                    <a:pt x="4930" y="3738"/>
                  </a:cubicBezTo>
                  <a:cubicBezTo>
                    <a:pt x="4952" y="3755"/>
                    <a:pt x="4974" y="3764"/>
                    <a:pt x="5000" y="3764"/>
                  </a:cubicBezTo>
                  <a:cubicBezTo>
                    <a:pt x="5026" y="3764"/>
                    <a:pt x="5048" y="3755"/>
                    <a:pt x="5070" y="3738"/>
                  </a:cubicBezTo>
                  <a:cubicBezTo>
                    <a:pt x="5070" y="3738"/>
                    <a:pt x="5070" y="3738"/>
                    <a:pt x="5272" y="3535"/>
                  </a:cubicBezTo>
                  <a:cubicBezTo>
                    <a:pt x="5272" y="3535"/>
                    <a:pt x="5272" y="3535"/>
                    <a:pt x="5473" y="3738"/>
                  </a:cubicBezTo>
                  <a:cubicBezTo>
                    <a:pt x="5495" y="3755"/>
                    <a:pt x="5517" y="3764"/>
                    <a:pt x="5543" y="3764"/>
                  </a:cubicBezTo>
                  <a:cubicBezTo>
                    <a:pt x="5570" y="3764"/>
                    <a:pt x="5592" y="3755"/>
                    <a:pt x="5613" y="3738"/>
                  </a:cubicBezTo>
                  <a:cubicBezTo>
                    <a:pt x="5649" y="3699"/>
                    <a:pt x="5649" y="3638"/>
                    <a:pt x="5613" y="3599"/>
                  </a:cubicBezTo>
                  <a:cubicBezTo>
                    <a:pt x="5613" y="3599"/>
                    <a:pt x="5613" y="3599"/>
                    <a:pt x="5408" y="3401"/>
                  </a:cubicBezTo>
                  <a:cubicBezTo>
                    <a:pt x="5408" y="3401"/>
                    <a:pt x="5408" y="3401"/>
                    <a:pt x="5613" y="3202"/>
                  </a:cubicBezTo>
                  <a:cubicBezTo>
                    <a:pt x="5649" y="3163"/>
                    <a:pt x="5649" y="3103"/>
                    <a:pt x="5613" y="3064"/>
                  </a:cubicBezTo>
                  <a:cubicBezTo>
                    <a:pt x="5594" y="3047"/>
                    <a:pt x="5569" y="3038"/>
                    <a:pt x="5543" y="3038"/>
                  </a:cubicBezTo>
                  <a:cubicBezTo>
                    <a:pt x="5518" y="3038"/>
                    <a:pt x="5493" y="3047"/>
                    <a:pt x="5473" y="3064"/>
                  </a:cubicBezTo>
                  <a:cubicBezTo>
                    <a:pt x="5473" y="3064"/>
                    <a:pt x="5473" y="3064"/>
                    <a:pt x="5272" y="3267"/>
                  </a:cubicBezTo>
                  <a:cubicBezTo>
                    <a:pt x="5272" y="3267"/>
                    <a:pt x="5272" y="3267"/>
                    <a:pt x="5070" y="3064"/>
                  </a:cubicBezTo>
                  <a:cubicBezTo>
                    <a:pt x="5051" y="3047"/>
                    <a:pt x="5025" y="3038"/>
                    <a:pt x="5000" y="3038"/>
                  </a:cubicBezTo>
                  <a:close/>
                  <a:moveTo>
                    <a:pt x="1397" y="2546"/>
                  </a:moveTo>
                  <a:lnTo>
                    <a:pt x="8586" y="2546"/>
                  </a:lnTo>
                  <a:lnTo>
                    <a:pt x="8586" y="7454"/>
                  </a:lnTo>
                  <a:lnTo>
                    <a:pt x="1397" y="7454"/>
                  </a:lnTo>
                  <a:close/>
                </a:path>
              </a:pathLst>
            </a:custGeom>
            <a:solidFill>
              <a:srgbClr val="FFFFFF"/>
            </a:solidFill>
            <a:ln w="0">
              <a:noFill/>
            </a:ln>
          </p:spPr>
          <p:txBody>
            <a:bodyPr/>
            <a:lstStyle/>
            <a:p>
              <a:endParaRPr lang="en-US"/>
            </a:p>
          </p:txBody>
        </p:sp>
      </p:grpSp>
      <p:sp>
        <p:nvSpPr>
          <p:cNvPr id="458" name="TB458"/>
          <p:cNvSpPr txBox="1"/>
          <p:nvPr/>
        </p:nvSpPr>
        <p:spPr>
          <a:xfrm>
            <a:off x="1225295" y="4219956"/>
            <a:ext cx="1935480" cy="219456"/>
          </a:xfrm>
          <a:prstGeom prst="rect">
            <a:avLst/>
          </a:prstGeom>
          <a:noFill/>
        </p:spPr>
        <p:txBody>
          <a:bodyPr wrap="square" rtlCol="0" anchor="t"/>
          <a:lstStyle/>
          <a:p>
            <a:r>
              <a:rPr lang="en-US" sz="1100" b="1" dirty="0">
                <a:solidFill>
                  <a:srgbClr val="575757"/>
                </a:solidFill>
                <a:latin typeface="Trebuchet MS"/>
              </a:rPr>
              <a:t>1. Op. Leverage</a:t>
            </a:r>
          </a:p>
        </p:txBody>
      </p:sp>
      <p:sp>
        <p:nvSpPr>
          <p:cNvPr id="459" name="TB459"/>
          <p:cNvSpPr txBox="1"/>
          <p:nvPr/>
        </p:nvSpPr>
        <p:spPr>
          <a:xfrm>
            <a:off x="1225295" y="4457700"/>
            <a:ext cx="1935480" cy="477774"/>
          </a:xfrm>
          <a:prstGeom prst="rect">
            <a:avLst/>
          </a:prstGeom>
          <a:noFill/>
        </p:spPr>
        <p:txBody>
          <a:bodyPr wrap="square" rtlCol="0" anchor="t"/>
          <a:lstStyle/>
          <a:p>
            <a:r>
              <a:rPr lang="en-US" sz="1000" dirty="0">
                <a:solidFill>
                  <a:srgbClr val="575757"/>
                </a:solidFill>
                <a:latin typeface="Trebuchet MS"/>
              </a:rPr>
              <a:t>Occupancy 68→78%, ARPOB +12%, throughput +20%</a:t>
            </a:r>
          </a:p>
        </p:txBody>
      </p:sp>
      <p:sp>
        <p:nvSpPr>
          <p:cNvPr id="460" name="R460"/>
          <p:cNvSpPr/>
          <p:nvPr/>
        </p:nvSpPr>
        <p:spPr>
          <a:xfrm>
            <a:off x="3252216" y="4219956"/>
            <a:ext cx="868680" cy="697230"/>
          </a:xfrm>
          <a:prstGeom prst="rect">
            <a:avLst/>
          </a:prstGeom>
          <a:solidFill>
            <a:srgbClr val="03522D"/>
          </a:solidFill>
          <a:ln>
            <a:noFill/>
          </a:ln>
        </p:spPr>
        <p:txBody>
          <a:bodyPr/>
          <a:lstStyle/>
          <a:p>
            <a:endParaRPr lang="en-US"/>
          </a:p>
        </p:txBody>
      </p:sp>
      <p:sp>
        <p:nvSpPr>
          <p:cNvPr id="461" name="TB461"/>
          <p:cNvSpPr txBox="1"/>
          <p:nvPr/>
        </p:nvSpPr>
        <p:spPr>
          <a:xfrm>
            <a:off x="3252216" y="4219956"/>
            <a:ext cx="868680" cy="697230"/>
          </a:xfrm>
          <a:prstGeom prst="rect">
            <a:avLst/>
          </a:prstGeom>
          <a:solidFill>
            <a:srgbClr val="242852"/>
          </a:solidFill>
        </p:spPr>
        <p:txBody>
          <a:bodyPr wrap="square" rtlCol="0" anchor="ctr"/>
          <a:lstStyle/>
          <a:p>
            <a:pPr algn="ctr"/>
            <a:r>
              <a:rPr lang="en-US" sz="1200" b="1" dirty="0">
                <a:solidFill>
                  <a:srgbClr val="FFFFFF"/>
                </a:solidFill>
                <a:latin typeface="Trebuchet MS"/>
              </a:rPr>
              <a:t>₹850 Cr</a:t>
            </a:r>
          </a:p>
        </p:txBody>
      </p:sp>
      <p:sp>
        <p:nvSpPr>
          <p:cNvPr id="462" name="RR462"/>
          <p:cNvSpPr/>
          <p:nvPr/>
        </p:nvSpPr>
        <p:spPr>
          <a:xfrm>
            <a:off x="4331208" y="4146804"/>
            <a:ext cx="3535680" cy="84353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63" name="R463"/>
          <p:cNvSpPr/>
          <p:nvPr/>
        </p:nvSpPr>
        <p:spPr>
          <a:xfrm>
            <a:off x="4331208" y="4146804"/>
            <a:ext cx="73152" cy="843534"/>
          </a:xfrm>
          <a:prstGeom prst="rect">
            <a:avLst/>
          </a:prstGeom>
          <a:solidFill>
            <a:srgbClr val="295E7E"/>
          </a:solidFill>
          <a:ln>
            <a:noFill/>
          </a:ln>
        </p:spPr>
        <p:txBody>
          <a:bodyPr/>
          <a:lstStyle/>
          <a:p>
            <a:endParaRPr lang="en-US"/>
          </a:p>
        </p:txBody>
      </p:sp>
      <p:sp>
        <p:nvSpPr>
          <p:cNvPr id="464" name="O464"/>
          <p:cNvSpPr/>
          <p:nvPr/>
        </p:nvSpPr>
        <p:spPr>
          <a:xfrm>
            <a:off x="4422647" y="4362831"/>
            <a:ext cx="411480" cy="411480"/>
          </a:xfrm>
          <a:prstGeom prst="ellipse">
            <a:avLst/>
          </a:prstGeom>
          <a:solidFill>
            <a:srgbClr val="295E7E"/>
          </a:solidFill>
          <a:ln>
            <a:noFill/>
          </a:ln>
        </p:spPr>
        <p:txBody>
          <a:bodyPr/>
          <a:lstStyle/>
          <a:p>
            <a:endParaRPr lang="en-US"/>
          </a:p>
        </p:txBody>
      </p:sp>
      <p:grpSp>
        <p:nvGrpSpPr>
          <p:cNvPr id="465" name="bcgIcons_ShoppingCart">
            <a:extLst>
              <a:ext uri="{FF2B5EF4-FFF2-40B4-BE49-F238E27FC236}">
                <a16:creationId xmlns:a16="http://schemas.microsoft.com/office/drawing/2014/main" id="{F8FC110B-FB7F-4BE0-BCB8-EAD2CA5B125E}"/>
              </a:ext>
            </a:extLst>
          </p:cNvPr>
          <p:cNvGrpSpPr>
            <a:grpSpLocks noChangeAspect="1"/>
          </p:cNvGrpSpPr>
          <p:nvPr/>
        </p:nvGrpSpPr>
        <p:grpSpPr bwMode="auto">
          <a:xfrm>
            <a:off x="4450080" y="4408551"/>
            <a:ext cx="319743" cy="320040"/>
            <a:chOff x="1682" y="0"/>
            <a:chExt cx="4316" cy="4320"/>
          </a:xfrm>
        </p:grpSpPr>
        <p:sp>
          <p:nvSpPr>
            <p:cNvPr id="466" name="AutoShape 18">
              <a:extLst>
                <a:ext uri="{FF2B5EF4-FFF2-40B4-BE49-F238E27FC236}">
                  <a16:creationId xmlns:a16="http://schemas.microsoft.com/office/drawing/2014/main" id="{F3008CC6-A508-42AA-A991-F2DF191BB63D}"/>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7" name="Freeform 20">
              <a:extLst>
                <a:ext uri="{FF2B5EF4-FFF2-40B4-BE49-F238E27FC236}">
                  <a16:creationId xmlns:a16="http://schemas.microsoft.com/office/drawing/2014/main" id="{2ABD7B86-01EC-4002-9532-55756FAD715D}"/>
                </a:ext>
              </a:extLst>
            </p:cNvPr>
            <p:cNvSpPr>
              <a:spLocks noEditPoints="1"/>
            </p:cNvSpPr>
            <p:nvPr/>
          </p:nvSpPr>
          <p:spPr bwMode="auto">
            <a:xfrm>
              <a:off x="2799" y="973"/>
              <a:ext cx="2680" cy="2490"/>
            </a:xfrm>
            <a:custGeom>
              <a:avLst/>
              <a:gdLst>
                <a:gd name="T0" fmla="*/ 1431 w 1431"/>
                <a:gd name="T1" fmla="*/ 32 h 1328"/>
                <a:gd name="T2" fmla="*/ 1400 w 1431"/>
                <a:gd name="T3" fmla="*/ 0 h 1328"/>
                <a:gd name="T4" fmla="*/ 0 w 1431"/>
                <a:gd name="T5" fmla="*/ 31 h 1328"/>
                <a:gd name="T6" fmla="*/ 15 w 1431"/>
                <a:gd name="T7" fmla="*/ 114 h 1328"/>
                <a:gd name="T8" fmla="*/ 334 w 1431"/>
                <a:gd name="T9" fmla="*/ 123 h 1328"/>
                <a:gd name="T10" fmla="*/ 345 w 1431"/>
                <a:gd name="T11" fmla="*/ 223 h 1328"/>
                <a:gd name="T12" fmla="*/ 49 w 1431"/>
                <a:gd name="T13" fmla="*/ 233 h 1328"/>
                <a:gd name="T14" fmla="*/ 58 w 1431"/>
                <a:gd name="T15" fmla="*/ 353 h 1328"/>
                <a:gd name="T16" fmla="*/ 334 w 1431"/>
                <a:gd name="T17" fmla="*/ 362 h 1328"/>
                <a:gd name="T18" fmla="*/ 345 w 1431"/>
                <a:gd name="T19" fmla="*/ 462 h 1328"/>
                <a:gd name="T20" fmla="*/ 91 w 1431"/>
                <a:gd name="T21" fmla="*/ 472 h 1328"/>
                <a:gd name="T22" fmla="*/ 101 w 1431"/>
                <a:gd name="T23" fmla="*/ 592 h 1328"/>
                <a:gd name="T24" fmla="*/ 334 w 1431"/>
                <a:gd name="T25" fmla="*/ 601 h 1328"/>
                <a:gd name="T26" fmla="*/ 345 w 1431"/>
                <a:gd name="T27" fmla="*/ 701 h 1328"/>
                <a:gd name="T28" fmla="*/ 132 w 1431"/>
                <a:gd name="T29" fmla="*/ 711 h 1328"/>
                <a:gd name="T30" fmla="*/ 138 w 1431"/>
                <a:gd name="T31" fmla="*/ 811 h 1328"/>
                <a:gd name="T32" fmla="*/ 168 w 1431"/>
                <a:gd name="T33" fmla="*/ 843 h 1328"/>
                <a:gd name="T34" fmla="*/ 1312 w 1431"/>
                <a:gd name="T35" fmla="*/ 811 h 1328"/>
                <a:gd name="T36" fmla="*/ 1315 w 1431"/>
                <a:gd name="T37" fmla="*/ 711 h 1328"/>
                <a:gd name="T38" fmla="*/ 1102 w 1431"/>
                <a:gd name="T39" fmla="*/ 701 h 1328"/>
                <a:gd name="T40" fmla="*/ 1112 w 1431"/>
                <a:gd name="T41" fmla="*/ 601 h 1328"/>
                <a:gd name="T42" fmla="*/ 1347 w 1431"/>
                <a:gd name="T43" fmla="*/ 592 h 1328"/>
                <a:gd name="T44" fmla="*/ 1353 w 1431"/>
                <a:gd name="T45" fmla="*/ 472 h 1328"/>
                <a:gd name="T46" fmla="*/ 1102 w 1431"/>
                <a:gd name="T47" fmla="*/ 462 h 1328"/>
                <a:gd name="T48" fmla="*/ 1112 w 1431"/>
                <a:gd name="T49" fmla="*/ 362 h 1328"/>
                <a:gd name="T50" fmla="*/ 1383 w 1431"/>
                <a:gd name="T51" fmla="*/ 353 h 1328"/>
                <a:gd name="T52" fmla="*/ 1389 w 1431"/>
                <a:gd name="T53" fmla="*/ 233 h 1328"/>
                <a:gd name="T54" fmla="*/ 1102 w 1431"/>
                <a:gd name="T55" fmla="*/ 223 h 1328"/>
                <a:gd name="T56" fmla="*/ 1112 w 1431"/>
                <a:gd name="T57" fmla="*/ 123 h 1328"/>
                <a:gd name="T58" fmla="*/ 1418 w 1431"/>
                <a:gd name="T59" fmla="*/ 114 h 1328"/>
                <a:gd name="T60" fmla="*/ 671 w 1431"/>
                <a:gd name="T61" fmla="*/ 123 h 1328"/>
                <a:gd name="T62" fmla="*/ 681 w 1431"/>
                <a:gd name="T63" fmla="*/ 223 h 1328"/>
                <a:gd name="T64" fmla="*/ 440 w 1431"/>
                <a:gd name="T65" fmla="*/ 233 h 1328"/>
                <a:gd name="T66" fmla="*/ 430 w 1431"/>
                <a:gd name="T67" fmla="*/ 133 h 1328"/>
                <a:gd name="T68" fmla="*/ 440 w 1431"/>
                <a:gd name="T69" fmla="*/ 362 h 1328"/>
                <a:gd name="T70" fmla="*/ 681 w 1431"/>
                <a:gd name="T71" fmla="*/ 372 h 1328"/>
                <a:gd name="T72" fmla="*/ 671 w 1431"/>
                <a:gd name="T73" fmla="*/ 472 h 1328"/>
                <a:gd name="T74" fmla="*/ 430 w 1431"/>
                <a:gd name="T75" fmla="*/ 462 h 1328"/>
                <a:gd name="T76" fmla="*/ 440 w 1431"/>
                <a:gd name="T77" fmla="*/ 362 h 1328"/>
                <a:gd name="T78" fmla="*/ 671 w 1431"/>
                <a:gd name="T79" fmla="*/ 601 h 1328"/>
                <a:gd name="T80" fmla="*/ 681 w 1431"/>
                <a:gd name="T81" fmla="*/ 701 h 1328"/>
                <a:gd name="T82" fmla="*/ 440 w 1431"/>
                <a:gd name="T83" fmla="*/ 711 h 1328"/>
                <a:gd name="T84" fmla="*/ 430 w 1431"/>
                <a:gd name="T85" fmla="*/ 611 h 1328"/>
                <a:gd name="T86" fmla="*/ 1007 w 1431"/>
                <a:gd name="T87" fmla="*/ 711 h 1328"/>
                <a:gd name="T88" fmla="*/ 766 w 1431"/>
                <a:gd name="T89" fmla="*/ 701 h 1328"/>
                <a:gd name="T90" fmla="*/ 776 w 1431"/>
                <a:gd name="T91" fmla="*/ 601 h 1328"/>
                <a:gd name="T92" fmla="*/ 1017 w 1431"/>
                <a:gd name="T93" fmla="*/ 611 h 1328"/>
                <a:gd name="T94" fmla="*/ 1007 w 1431"/>
                <a:gd name="T95" fmla="*/ 711 h 1328"/>
                <a:gd name="T96" fmla="*/ 776 w 1431"/>
                <a:gd name="T97" fmla="*/ 472 h 1328"/>
                <a:gd name="T98" fmla="*/ 766 w 1431"/>
                <a:gd name="T99" fmla="*/ 372 h 1328"/>
                <a:gd name="T100" fmla="*/ 1007 w 1431"/>
                <a:gd name="T101" fmla="*/ 362 h 1328"/>
                <a:gd name="T102" fmla="*/ 1017 w 1431"/>
                <a:gd name="T103" fmla="*/ 462 h 1328"/>
                <a:gd name="T104" fmla="*/ 1007 w 1431"/>
                <a:gd name="T105" fmla="*/ 233 h 1328"/>
                <a:gd name="T106" fmla="*/ 766 w 1431"/>
                <a:gd name="T107" fmla="*/ 223 h 1328"/>
                <a:gd name="T108" fmla="*/ 776 w 1431"/>
                <a:gd name="T109" fmla="*/ 123 h 1328"/>
                <a:gd name="T110" fmla="*/ 1017 w 1431"/>
                <a:gd name="T111" fmla="*/ 133 h 1328"/>
                <a:gd name="T112" fmla="*/ 1007 w 1431"/>
                <a:gd name="T113" fmla="*/ 233 h 1328"/>
                <a:gd name="T114" fmla="*/ 177 w 1431"/>
                <a:gd name="T115" fmla="*/ 1200 h 1328"/>
                <a:gd name="T116" fmla="*/ 177 w 1431"/>
                <a:gd name="T117" fmla="*/ 1328 h 1328"/>
                <a:gd name="T118" fmla="*/ 956 w 1431"/>
                <a:gd name="T119" fmla="*/ 1264 h 1328"/>
                <a:gd name="T120" fmla="*/ 1084 w 1431"/>
                <a:gd name="T121" fmla="*/ 1264 h 1328"/>
                <a:gd name="T122" fmla="*/ 956 w 1431"/>
                <a:gd name="T123" fmla="*/ 1264 h 1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31" h="1328">
                  <a:moveTo>
                    <a:pt x="1418" y="114"/>
                  </a:moveTo>
                  <a:cubicBezTo>
                    <a:pt x="1431" y="32"/>
                    <a:pt x="1431" y="32"/>
                    <a:pt x="1431" y="32"/>
                  </a:cubicBezTo>
                  <a:cubicBezTo>
                    <a:pt x="1431" y="32"/>
                    <a:pt x="1431" y="32"/>
                    <a:pt x="1431" y="31"/>
                  </a:cubicBezTo>
                  <a:cubicBezTo>
                    <a:pt x="1430" y="14"/>
                    <a:pt x="1416" y="0"/>
                    <a:pt x="1400" y="0"/>
                  </a:cubicBezTo>
                  <a:cubicBezTo>
                    <a:pt x="31" y="0"/>
                    <a:pt x="31" y="0"/>
                    <a:pt x="31" y="0"/>
                  </a:cubicBezTo>
                  <a:cubicBezTo>
                    <a:pt x="15" y="0"/>
                    <a:pt x="1" y="14"/>
                    <a:pt x="0" y="31"/>
                  </a:cubicBezTo>
                  <a:cubicBezTo>
                    <a:pt x="0" y="32"/>
                    <a:pt x="0" y="32"/>
                    <a:pt x="0" y="33"/>
                  </a:cubicBezTo>
                  <a:cubicBezTo>
                    <a:pt x="15" y="114"/>
                    <a:pt x="15" y="114"/>
                    <a:pt x="15" y="114"/>
                  </a:cubicBezTo>
                  <a:cubicBezTo>
                    <a:pt x="15" y="120"/>
                    <a:pt x="20" y="123"/>
                    <a:pt x="25" y="123"/>
                  </a:cubicBezTo>
                  <a:cubicBezTo>
                    <a:pt x="334" y="123"/>
                    <a:pt x="334" y="123"/>
                    <a:pt x="334" y="123"/>
                  </a:cubicBezTo>
                  <a:cubicBezTo>
                    <a:pt x="340" y="123"/>
                    <a:pt x="345" y="127"/>
                    <a:pt x="345" y="133"/>
                  </a:cubicBezTo>
                  <a:cubicBezTo>
                    <a:pt x="345" y="223"/>
                    <a:pt x="345" y="223"/>
                    <a:pt x="345" y="223"/>
                  </a:cubicBezTo>
                  <a:cubicBezTo>
                    <a:pt x="345" y="229"/>
                    <a:pt x="340" y="233"/>
                    <a:pt x="334" y="233"/>
                  </a:cubicBezTo>
                  <a:cubicBezTo>
                    <a:pt x="49" y="233"/>
                    <a:pt x="49" y="233"/>
                    <a:pt x="49" y="233"/>
                  </a:cubicBezTo>
                  <a:cubicBezTo>
                    <a:pt x="42" y="233"/>
                    <a:pt x="38" y="239"/>
                    <a:pt x="38" y="245"/>
                  </a:cubicBezTo>
                  <a:cubicBezTo>
                    <a:pt x="58" y="353"/>
                    <a:pt x="58" y="353"/>
                    <a:pt x="58" y="353"/>
                  </a:cubicBezTo>
                  <a:cubicBezTo>
                    <a:pt x="59" y="358"/>
                    <a:pt x="63" y="362"/>
                    <a:pt x="68" y="362"/>
                  </a:cubicBezTo>
                  <a:cubicBezTo>
                    <a:pt x="334" y="362"/>
                    <a:pt x="334" y="362"/>
                    <a:pt x="334" y="362"/>
                  </a:cubicBezTo>
                  <a:cubicBezTo>
                    <a:pt x="340" y="362"/>
                    <a:pt x="345" y="366"/>
                    <a:pt x="345" y="372"/>
                  </a:cubicBezTo>
                  <a:cubicBezTo>
                    <a:pt x="345" y="462"/>
                    <a:pt x="345" y="462"/>
                    <a:pt x="345" y="462"/>
                  </a:cubicBezTo>
                  <a:cubicBezTo>
                    <a:pt x="345" y="468"/>
                    <a:pt x="340" y="472"/>
                    <a:pt x="334" y="472"/>
                  </a:cubicBezTo>
                  <a:cubicBezTo>
                    <a:pt x="91" y="472"/>
                    <a:pt x="91" y="472"/>
                    <a:pt x="91" y="472"/>
                  </a:cubicBezTo>
                  <a:cubicBezTo>
                    <a:pt x="85" y="472"/>
                    <a:pt x="80" y="478"/>
                    <a:pt x="81" y="484"/>
                  </a:cubicBezTo>
                  <a:cubicBezTo>
                    <a:pt x="101" y="592"/>
                    <a:pt x="101" y="592"/>
                    <a:pt x="101" y="592"/>
                  </a:cubicBezTo>
                  <a:cubicBezTo>
                    <a:pt x="102" y="597"/>
                    <a:pt x="106" y="601"/>
                    <a:pt x="111" y="601"/>
                  </a:cubicBezTo>
                  <a:cubicBezTo>
                    <a:pt x="334" y="601"/>
                    <a:pt x="334" y="601"/>
                    <a:pt x="334" y="601"/>
                  </a:cubicBezTo>
                  <a:cubicBezTo>
                    <a:pt x="340" y="601"/>
                    <a:pt x="345" y="605"/>
                    <a:pt x="345" y="611"/>
                  </a:cubicBezTo>
                  <a:cubicBezTo>
                    <a:pt x="345" y="701"/>
                    <a:pt x="345" y="701"/>
                    <a:pt x="345" y="701"/>
                  </a:cubicBezTo>
                  <a:cubicBezTo>
                    <a:pt x="345" y="707"/>
                    <a:pt x="340" y="711"/>
                    <a:pt x="334" y="711"/>
                  </a:cubicBezTo>
                  <a:cubicBezTo>
                    <a:pt x="132" y="711"/>
                    <a:pt x="132" y="711"/>
                    <a:pt x="132" y="711"/>
                  </a:cubicBezTo>
                  <a:cubicBezTo>
                    <a:pt x="125" y="711"/>
                    <a:pt x="121" y="717"/>
                    <a:pt x="122" y="723"/>
                  </a:cubicBezTo>
                  <a:cubicBezTo>
                    <a:pt x="138" y="811"/>
                    <a:pt x="138" y="811"/>
                    <a:pt x="138" y="811"/>
                  </a:cubicBezTo>
                  <a:cubicBezTo>
                    <a:pt x="138" y="811"/>
                    <a:pt x="138" y="811"/>
                    <a:pt x="138" y="812"/>
                  </a:cubicBezTo>
                  <a:cubicBezTo>
                    <a:pt x="138" y="829"/>
                    <a:pt x="152" y="843"/>
                    <a:pt x="168" y="843"/>
                  </a:cubicBezTo>
                  <a:cubicBezTo>
                    <a:pt x="1282" y="843"/>
                    <a:pt x="1282" y="843"/>
                    <a:pt x="1282" y="843"/>
                  </a:cubicBezTo>
                  <a:cubicBezTo>
                    <a:pt x="1298" y="843"/>
                    <a:pt x="1312" y="829"/>
                    <a:pt x="1312" y="811"/>
                  </a:cubicBezTo>
                  <a:cubicBezTo>
                    <a:pt x="1326" y="723"/>
                    <a:pt x="1326" y="723"/>
                    <a:pt x="1326" y="723"/>
                  </a:cubicBezTo>
                  <a:cubicBezTo>
                    <a:pt x="1326" y="717"/>
                    <a:pt x="1321" y="711"/>
                    <a:pt x="1315" y="711"/>
                  </a:cubicBezTo>
                  <a:cubicBezTo>
                    <a:pt x="1112" y="711"/>
                    <a:pt x="1112" y="711"/>
                    <a:pt x="1112" y="711"/>
                  </a:cubicBezTo>
                  <a:cubicBezTo>
                    <a:pt x="1106" y="711"/>
                    <a:pt x="1102" y="707"/>
                    <a:pt x="1102" y="701"/>
                  </a:cubicBezTo>
                  <a:cubicBezTo>
                    <a:pt x="1102" y="611"/>
                    <a:pt x="1102" y="611"/>
                    <a:pt x="1102" y="611"/>
                  </a:cubicBezTo>
                  <a:cubicBezTo>
                    <a:pt x="1102" y="605"/>
                    <a:pt x="1106" y="601"/>
                    <a:pt x="1112" y="601"/>
                  </a:cubicBezTo>
                  <a:cubicBezTo>
                    <a:pt x="1337" y="601"/>
                    <a:pt x="1337" y="601"/>
                    <a:pt x="1337" y="601"/>
                  </a:cubicBezTo>
                  <a:cubicBezTo>
                    <a:pt x="1342" y="601"/>
                    <a:pt x="1346" y="597"/>
                    <a:pt x="1347" y="592"/>
                  </a:cubicBezTo>
                  <a:cubicBezTo>
                    <a:pt x="1363" y="484"/>
                    <a:pt x="1363" y="484"/>
                    <a:pt x="1363" y="484"/>
                  </a:cubicBezTo>
                  <a:cubicBezTo>
                    <a:pt x="1364" y="478"/>
                    <a:pt x="1359" y="472"/>
                    <a:pt x="1353" y="472"/>
                  </a:cubicBezTo>
                  <a:cubicBezTo>
                    <a:pt x="1112" y="472"/>
                    <a:pt x="1112" y="472"/>
                    <a:pt x="1112" y="472"/>
                  </a:cubicBezTo>
                  <a:cubicBezTo>
                    <a:pt x="1106" y="472"/>
                    <a:pt x="1102" y="468"/>
                    <a:pt x="1102" y="462"/>
                  </a:cubicBezTo>
                  <a:cubicBezTo>
                    <a:pt x="1102" y="372"/>
                    <a:pt x="1102" y="372"/>
                    <a:pt x="1102" y="372"/>
                  </a:cubicBezTo>
                  <a:cubicBezTo>
                    <a:pt x="1102" y="366"/>
                    <a:pt x="1106" y="362"/>
                    <a:pt x="1112" y="362"/>
                  </a:cubicBezTo>
                  <a:cubicBezTo>
                    <a:pt x="1373" y="362"/>
                    <a:pt x="1373" y="362"/>
                    <a:pt x="1373" y="362"/>
                  </a:cubicBezTo>
                  <a:cubicBezTo>
                    <a:pt x="1378" y="362"/>
                    <a:pt x="1382" y="358"/>
                    <a:pt x="1383" y="353"/>
                  </a:cubicBezTo>
                  <a:cubicBezTo>
                    <a:pt x="1399" y="245"/>
                    <a:pt x="1399" y="245"/>
                    <a:pt x="1399" y="245"/>
                  </a:cubicBezTo>
                  <a:cubicBezTo>
                    <a:pt x="1400" y="239"/>
                    <a:pt x="1395" y="233"/>
                    <a:pt x="1389" y="233"/>
                  </a:cubicBezTo>
                  <a:cubicBezTo>
                    <a:pt x="1112" y="233"/>
                    <a:pt x="1112" y="233"/>
                    <a:pt x="1112" y="233"/>
                  </a:cubicBezTo>
                  <a:cubicBezTo>
                    <a:pt x="1106" y="233"/>
                    <a:pt x="1102" y="229"/>
                    <a:pt x="1102" y="223"/>
                  </a:cubicBezTo>
                  <a:cubicBezTo>
                    <a:pt x="1102" y="133"/>
                    <a:pt x="1102" y="133"/>
                    <a:pt x="1102" y="133"/>
                  </a:cubicBezTo>
                  <a:cubicBezTo>
                    <a:pt x="1102" y="127"/>
                    <a:pt x="1106" y="123"/>
                    <a:pt x="1112" y="123"/>
                  </a:cubicBezTo>
                  <a:cubicBezTo>
                    <a:pt x="1408" y="123"/>
                    <a:pt x="1408" y="123"/>
                    <a:pt x="1408" y="123"/>
                  </a:cubicBezTo>
                  <a:cubicBezTo>
                    <a:pt x="1413" y="123"/>
                    <a:pt x="1418" y="120"/>
                    <a:pt x="1418" y="114"/>
                  </a:cubicBezTo>
                  <a:close/>
                  <a:moveTo>
                    <a:pt x="440" y="123"/>
                  </a:moveTo>
                  <a:cubicBezTo>
                    <a:pt x="671" y="123"/>
                    <a:pt x="671" y="123"/>
                    <a:pt x="671" y="123"/>
                  </a:cubicBezTo>
                  <a:cubicBezTo>
                    <a:pt x="676" y="123"/>
                    <a:pt x="681" y="127"/>
                    <a:pt x="681" y="133"/>
                  </a:cubicBezTo>
                  <a:cubicBezTo>
                    <a:pt x="681" y="223"/>
                    <a:pt x="681" y="223"/>
                    <a:pt x="681" y="223"/>
                  </a:cubicBezTo>
                  <a:cubicBezTo>
                    <a:pt x="681" y="229"/>
                    <a:pt x="676" y="233"/>
                    <a:pt x="671" y="233"/>
                  </a:cubicBezTo>
                  <a:cubicBezTo>
                    <a:pt x="440" y="233"/>
                    <a:pt x="440" y="233"/>
                    <a:pt x="440" y="233"/>
                  </a:cubicBezTo>
                  <a:cubicBezTo>
                    <a:pt x="435" y="233"/>
                    <a:pt x="430" y="229"/>
                    <a:pt x="430" y="223"/>
                  </a:cubicBezTo>
                  <a:cubicBezTo>
                    <a:pt x="430" y="133"/>
                    <a:pt x="430" y="133"/>
                    <a:pt x="430" y="133"/>
                  </a:cubicBezTo>
                  <a:cubicBezTo>
                    <a:pt x="430" y="127"/>
                    <a:pt x="435" y="123"/>
                    <a:pt x="440" y="123"/>
                  </a:cubicBezTo>
                  <a:close/>
                  <a:moveTo>
                    <a:pt x="440" y="362"/>
                  </a:moveTo>
                  <a:cubicBezTo>
                    <a:pt x="671" y="362"/>
                    <a:pt x="671" y="362"/>
                    <a:pt x="671" y="362"/>
                  </a:cubicBezTo>
                  <a:cubicBezTo>
                    <a:pt x="676" y="362"/>
                    <a:pt x="681" y="366"/>
                    <a:pt x="681" y="372"/>
                  </a:cubicBezTo>
                  <a:cubicBezTo>
                    <a:pt x="681" y="462"/>
                    <a:pt x="681" y="462"/>
                    <a:pt x="681" y="462"/>
                  </a:cubicBezTo>
                  <a:cubicBezTo>
                    <a:pt x="681" y="468"/>
                    <a:pt x="676" y="472"/>
                    <a:pt x="671" y="472"/>
                  </a:cubicBezTo>
                  <a:cubicBezTo>
                    <a:pt x="440" y="472"/>
                    <a:pt x="440" y="472"/>
                    <a:pt x="440" y="472"/>
                  </a:cubicBezTo>
                  <a:cubicBezTo>
                    <a:pt x="435" y="472"/>
                    <a:pt x="430" y="468"/>
                    <a:pt x="430" y="462"/>
                  </a:cubicBezTo>
                  <a:cubicBezTo>
                    <a:pt x="430" y="372"/>
                    <a:pt x="430" y="372"/>
                    <a:pt x="430" y="372"/>
                  </a:cubicBezTo>
                  <a:cubicBezTo>
                    <a:pt x="430" y="366"/>
                    <a:pt x="435" y="362"/>
                    <a:pt x="440" y="362"/>
                  </a:cubicBezTo>
                  <a:close/>
                  <a:moveTo>
                    <a:pt x="440" y="601"/>
                  </a:moveTo>
                  <a:cubicBezTo>
                    <a:pt x="671" y="601"/>
                    <a:pt x="671" y="601"/>
                    <a:pt x="671" y="601"/>
                  </a:cubicBezTo>
                  <a:cubicBezTo>
                    <a:pt x="676" y="601"/>
                    <a:pt x="681" y="605"/>
                    <a:pt x="681" y="611"/>
                  </a:cubicBezTo>
                  <a:cubicBezTo>
                    <a:pt x="681" y="701"/>
                    <a:pt x="681" y="701"/>
                    <a:pt x="681" y="701"/>
                  </a:cubicBezTo>
                  <a:cubicBezTo>
                    <a:pt x="681" y="707"/>
                    <a:pt x="676" y="711"/>
                    <a:pt x="671" y="711"/>
                  </a:cubicBezTo>
                  <a:cubicBezTo>
                    <a:pt x="440" y="711"/>
                    <a:pt x="440" y="711"/>
                    <a:pt x="440" y="711"/>
                  </a:cubicBezTo>
                  <a:cubicBezTo>
                    <a:pt x="435" y="711"/>
                    <a:pt x="430" y="707"/>
                    <a:pt x="430" y="701"/>
                  </a:cubicBezTo>
                  <a:cubicBezTo>
                    <a:pt x="430" y="611"/>
                    <a:pt x="430" y="611"/>
                    <a:pt x="430" y="611"/>
                  </a:cubicBezTo>
                  <a:cubicBezTo>
                    <a:pt x="430" y="605"/>
                    <a:pt x="435" y="601"/>
                    <a:pt x="440" y="601"/>
                  </a:cubicBezTo>
                  <a:close/>
                  <a:moveTo>
                    <a:pt x="1007" y="711"/>
                  </a:moveTo>
                  <a:cubicBezTo>
                    <a:pt x="776" y="711"/>
                    <a:pt x="776" y="711"/>
                    <a:pt x="776" y="711"/>
                  </a:cubicBezTo>
                  <a:cubicBezTo>
                    <a:pt x="771" y="711"/>
                    <a:pt x="766" y="707"/>
                    <a:pt x="766" y="701"/>
                  </a:cubicBezTo>
                  <a:cubicBezTo>
                    <a:pt x="766" y="611"/>
                    <a:pt x="766" y="611"/>
                    <a:pt x="766" y="611"/>
                  </a:cubicBezTo>
                  <a:cubicBezTo>
                    <a:pt x="766" y="605"/>
                    <a:pt x="771" y="601"/>
                    <a:pt x="776" y="601"/>
                  </a:cubicBezTo>
                  <a:cubicBezTo>
                    <a:pt x="1007" y="601"/>
                    <a:pt x="1007" y="601"/>
                    <a:pt x="1007" y="601"/>
                  </a:cubicBezTo>
                  <a:cubicBezTo>
                    <a:pt x="1013" y="601"/>
                    <a:pt x="1017" y="605"/>
                    <a:pt x="1017" y="611"/>
                  </a:cubicBezTo>
                  <a:cubicBezTo>
                    <a:pt x="1017" y="701"/>
                    <a:pt x="1017" y="701"/>
                    <a:pt x="1017" y="701"/>
                  </a:cubicBezTo>
                  <a:cubicBezTo>
                    <a:pt x="1017" y="707"/>
                    <a:pt x="1013" y="711"/>
                    <a:pt x="1007" y="711"/>
                  </a:cubicBezTo>
                  <a:close/>
                  <a:moveTo>
                    <a:pt x="1007" y="472"/>
                  </a:moveTo>
                  <a:cubicBezTo>
                    <a:pt x="776" y="472"/>
                    <a:pt x="776" y="472"/>
                    <a:pt x="776" y="472"/>
                  </a:cubicBezTo>
                  <a:cubicBezTo>
                    <a:pt x="771" y="472"/>
                    <a:pt x="766" y="468"/>
                    <a:pt x="766" y="462"/>
                  </a:cubicBezTo>
                  <a:cubicBezTo>
                    <a:pt x="766" y="372"/>
                    <a:pt x="766" y="372"/>
                    <a:pt x="766" y="372"/>
                  </a:cubicBezTo>
                  <a:cubicBezTo>
                    <a:pt x="766" y="366"/>
                    <a:pt x="771" y="362"/>
                    <a:pt x="776" y="362"/>
                  </a:cubicBezTo>
                  <a:cubicBezTo>
                    <a:pt x="1007" y="362"/>
                    <a:pt x="1007" y="362"/>
                    <a:pt x="1007" y="362"/>
                  </a:cubicBezTo>
                  <a:cubicBezTo>
                    <a:pt x="1013" y="362"/>
                    <a:pt x="1017" y="366"/>
                    <a:pt x="1017" y="372"/>
                  </a:cubicBezTo>
                  <a:cubicBezTo>
                    <a:pt x="1017" y="462"/>
                    <a:pt x="1017" y="462"/>
                    <a:pt x="1017" y="462"/>
                  </a:cubicBezTo>
                  <a:cubicBezTo>
                    <a:pt x="1017" y="468"/>
                    <a:pt x="1013" y="472"/>
                    <a:pt x="1007" y="472"/>
                  </a:cubicBezTo>
                  <a:close/>
                  <a:moveTo>
                    <a:pt x="1007" y="233"/>
                  </a:moveTo>
                  <a:cubicBezTo>
                    <a:pt x="776" y="233"/>
                    <a:pt x="776" y="233"/>
                    <a:pt x="776" y="233"/>
                  </a:cubicBezTo>
                  <a:cubicBezTo>
                    <a:pt x="771" y="233"/>
                    <a:pt x="766" y="229"/>
                    <a:pt x="766" y="223"/>
                  </a:cubicBezTo>
                  <a:cubicBezTo>
                    <a:pt x="766" y="133"/>
                    <a:pt x="766" y="133"/>
                    <a:pt x="766" y="133"/>
                  </a:cubicBezTo>
                  <a:cubicBezTo>
                    <a:pt x="766" y="127"/>
                    <a:pt x="771" y="123"/>
                    <a:pt x="776" y="123"/>
                  </a:cubicBezTo>
                  <a:cubicBezTo>
                    <a:pt x="1007" y="123"/>
                    <a:pt x="1007" y="123"/>
                    <a:pt x="1007" y="123"/>
                  </a:cubicBezTo>
                  <a:cubicBezTo>
                    <a:pt x="1013" y="123"/>
                    <a:pt x="1017" y="127"/>
                    <a:pt x="1017" y="133"/>
                  </a:cubicBezTo>
                  <a:cubicBezTo>
                    <a:pt x="1017" y="223"/>
                    <a:pt x="1017" y="223"/>
                    <a:pt x="1017" y="223"/>
                  </a:cubicBezTo>
                  <a:cubicBezTo>
                    <a:pt x="1017" y="229"/>
                    <a:pt x="1013" y="233"/>
                    <a:pt x="1007" y="233"/>
                  </a:cubicBezTo>
                  <a:close/>
                  <a:moveTo>
                    <a:pt x="113" y="1264"/>
                  </a:moveTo>
                  <a:cubicBezTo>
                    <a:pt x="113" y="1229"/>
                    <a:pt x="141" y="1200"/>
                    <a:pt x="177" y="1200"/>
                  </a:cubicBezTo>
                  <a:cubicBezTo>
                    <a:pt x="212" y="1200"/>
                    <a:pt x="241" y="1229"/>
                    <a:pt x="241" y="1264"/>
                  </a:cubicBezTo>
                  <a:cubicBezTo>
                    <a:pt x="241" y="1300"/>
                    <a:pt x="212" y="1328"/>
                    <a:pt x="177" y="1328"/>
                  </a:cubicBezTo>
                  <a:cubicBezTo>
                    <a:pt x="141" y="1328"/>
                    <a:pt x="113" y="1300"/>
                    <a:pt x="113" y="1264"/>
                  </a:cubicBezTo>
                  <a:close/>
                  <a:moveTo>
                    <a:pt x="956" y="1264"/>
                  </a:moveTo>
                  <a:cubicBezTo>
                    <a:pt x="956" y="1229"/>
                    <a:pt x="985" y="1200"/>
                    <a:pt x="1020" y="1200"/>
                  </a:cubicBezTo>
                  <a:cubicBezTo>
                    <a:pt x="1055" y="1200"/>
                    <a:pt x="1084" y="1229"/>
                    <a:pt x="1084" y="1264"/>
                  </a:cubicBezTo>
                  <a:cubicBezTo>
                    <a:pt x="1084" y="1300"/>
                    <a:pt x="1055" y="1328"/>
                    <a:pt x="1020" y="1328"/>
                  </a:cubicBezTo>
                  <a:cubicBezTo>
                    <a:pt x="985" y="1328"/>
                    <a:pt x="956" y="1300"/>
                    <a:pt x="956" y="1264"/>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8" name="Freeform 21">
              <a:extLst>
                <a:ext uri="{FF2B5EF4-FFF2-40B4-BE49-F238E27FC236}">
                  <a16:creationId xmlns:a16="http://schemas.microsoft.com/office/drawing/2014/main" id="{003ABB0B-C8AC-47BB-8CFD-3A1DF1AB5771}"/>
                </a:ext>
              </a:extLst>
            </p:cNvPr>
            <p:cNvSpPr>
              <a:spLocks noEditPoints="1"/>
            </p:cNvSpPr>
            <p:nvPr/>
          </p:nvSpPr>
          <p:spPr bwMode="auto">
            <a:xfrm>
              <a:off x="2053" y="686"/>
              <a:ext cx="2935" cy="2918"/>
            </a:xfrm>
            <a:custGeom>
              <a:avLst/>
              <a:gdLst>
                <a:gd name="T0" fmla="*/ 1545 w 1567"/>
                <a:gd name="T1" fmla="*/ 1138 h 1556"/>
                <a:gd name="T2" fmla="*/ 453 w 1567"/>
                <a:gd name="T3" fmla="*/ 1138 h 1556"/>
                <a:gd name="T4" fmla="*/ 431 w 1567"/>
                <a:gd name="T5" fmla="*/ 1120 h 1556"/>
                <a:gd name="T6" fmla="*/ 245 w 1567"/>
                <a:gd name="T7" fmla="*/ 44 h 1556"/>
                <a:gd name="T8" fmla="*/ 22 w 1567"/>
                <a:gd name="T9" fmla="*/ 44 h 1556"/>
                <a:gd name="T10" fmla="*/ 0 w 1567"/>
                <a:gd name="T11" fmla="*/ 22 h 1556"/>
                <a:gd name="T12" fmla="*/ 22 w 1567"/>
                <a:gd name="T13" fmla="*/ 0 h 1556"/>
                <a:gd name="T14" fmla="*/ 263 w 1567"/>
                <a:gd name="T15" fmla="*/ 0 h 1556"/>
                <a:gd name="T16" fmla="*/ 285 w 1567"/>
                <a:gd name="T17" fmla="*/ 18 h 1556"/>
                <a:gd name="T18" fmla="*/ 471 w 1567"/>
                <a:gd name="T19" fmla="*/ 1094 h 1556"/>
                <a:gd name="T20" fmla="*/ 1545 w 1567"/>
                <a:gd name="T21" fmla="*/ 1094 h 1556"/>
                <a:gd name="T22" fmla="*/ 1567 w 1567"/>
                <a:gd name="T23" fmla="*/ 1116 h 1556"/>
                <a:gd name="T24" fmla="*/ 1545 w 1567"/>
                <a:gd name="T25" fmla="*/ 1138 h 1556"/>
                <a:gd name="T26" fmla="*/ 1557 w 1567"/>
                <a:gd name="T27" fmla="*/ 1417 h 1556"/>
                <a:gd name="T28" fmla="*/ 1418 w 1567"/>
                <a:gd name="T29" fmla="*/ 1278 h 1556"/>
                <a:gd name="T30" fmla="*/ 1279 w 1567"/>
                <a:gd name="T31" fmla="*/ 1417 h 1556"/>
                <a:gd name="T32" fmla="*/ 1418 w 1567"/>
                <a:gd name="T33" fmla="*/ 1556 h 1556"/>
                <a:gd name="T34" fmla="*/ 1557 w 1567"/>
                <a:gd name="T35" fmla="*/ 1417 h 1556"/>
                <a:gd name="T36" fmla="*/ 1513 w 1567"/>
                <a:gd name="T37" fmla="*/ 1417 h 1556"/>
                <a:gd name="T38" fmla="*/ 1418 w 1567"/>
                <a:gd name="T39" fmla="*/ 1512 h 1556"/>
                <a:gd name="T40" fmla="*/ 1323 w 1567"/>
                <a:gd name="T41" fmla="*/ 1417 h 1556"/>
                <a:gd name="T42" fmla="*/ 1418 w 1567"/>
                <a:gd name="T43" fmla="*/ 1322 h 1556"/>
                <a:gd name="T44" fmla="*/ 1513 w 1567"/>
                <a:gd name="T45" fmla="*/ 1417 h 1556"/>
                <a:gd name="T46" fmla="*/ 714 w 1567"/>
                <a:gd name="T47" fmla="*/ 1417 h 1556"/>
                <a:gd name="T48" fmla="*/ 575 w 1567"/>
                <a:gd name="T49" fmla="*/ 1278 h 1556"/>
                <a:gd name="T50" fmla="*/ 436 w 1567"/>
                <a:gd name="T51" fmla="*/ 1417 h 1556"/>
                <a:gd name="T52" fmla="*/ 575 w 1567"/>
                <a:gd name="T53" fmla="*/ 1556 h 1556"/>
                <a:gd name="T54" fmla="*/ 714 w 1567"/>
                <a:gd name="T55" fmla="*/ 1417 h 1556"/>
                <a:gd name="T56" fmla="*/ 670 w 1567"/>
                <a:gd name="T57" fmla="*/ 1417 h 1556"/>
                <a:gd name="T58" fmla="*/ 575 w 1567"/>
                <a:gd name="T59" fmla="*/ 1512 h 1556"/>
                <a:gd name="T60" fmla="*/ 480 w 1567"/>
                <a:gd name="T61" fmla="*/ 1417 h 1556"/>
                <a:gd name="T62" fmla="*/ 575 w 1567"/>
                <a:gd name="T63" fmla="*/ 1322 h 1556"/>
                <a:gd name="T64" fmla="*/ 670 w 1567"/>
                <a:gd name="T65" fmla="*/ 1417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67" h="1556">
                  <a:moveTo>
                    <a:pt x="1545" y="1138"/>
                  </a:moveTo>
                  <a:cubicBezTo>
                    <a:pt x="453" y="1138"/>
                    <a:pt x="453" y="1138"/>
                    <a:pt x="453" y="1138"/>
                  </a:cubicBezTo>
                  <a:cubicBezTo>
                    <a:pt x="442" y="1138"/>
                    <a:pt x="433" y="1130"/>
                    <a:pt x="431" y="1120"/>
                  </a:cubicBezTo>
                  <a:cubicBezTo>
                    <a:pt x="245" y="44"/>
                    <a:pt x="245" y="44"/>
                    <a:pt x="245" y="44"/>
                  </a:cubicBezTo>
                  <a:cubicBezTo>
                    <a:pt x="22" y="44"/>
                    <a:pt x="22" y="44"/>
                    <a:pt x="22" y="44"/>
                  </a:cubicBezTo>
                  <a:cubicBezTo>
                    <a:pt x="10" y="44"/>
                    <a:pt x="0" y="34"/>
                    <a:pt x="0" y="22"/>
                  </a:cubicBezTo>
                  <a:cubicBezTo>
                    <a:pt x="0" y="10"/>
                    <a:pt x="10" y="0"/>
                    <a:pt x="22" y="0"/>
                  </a:cubicBezTo>
                  <a:cubicBezTo>
                    <a:pt x="263" y="0"/>
                    <a:pt x="263" y="0"/>
                    <a:pt x="263" y="0"/>
                  </a:cubicBezTo>
                  <a:cubicBezTo>
                    <a:pt x="274" y="0"/>
                    <a:pt x="283" y="8"/>
                    <a:pt x="285" y="18"/>
                  </a:cubicBezTo>
                  <a:cubicBezTo>
                    <a:pt x="471" y="1094"/>
                    <a:pt x="471" y="1094"/>
                    <a:pt x="471" y="1094"/>
                  </a:cubicBezTo>
                  <a:cubicBezTo>
                    <a:pt x="1545" y="1094"/>
                    <a:pt x="1545" y="1094"/>
                    <a:pt x="1545" y="1094"/>
                  </a:cubicBezTo>
                  <a:cubicBezTo>
                    <a:pt x="1557" y="1094"/>
                    <a:pt x="1567" y="1104"/>
                    <a:pt x="1567" y="1116"/>
                  </a:cubicBezTo>
                  <a:cubicBezTo>
                    <a:pt x="1567" y="1128"/>
                    <a:pt x="1557" y="1138"/>
                    <a:pt x="1545" y="1138"/>
                  </a:cubicBezTo>
                  <a:close/>
                  <a:moveTo>
                    <a:pt x="1557" y="1417"/>
                  </a:moveTo>
                  <a:cubicBezTo>
                    <a:pt x="1557" y="1341"/>
                    <a:pt x="1495" y="1278"/>
                    <a:pt x="1418" y="1278"/>
                  </a:cubicBezTo>
                  <a:cubicBezTo>
                    <a:pt x="1341" y="1278"/>
                    <a:pt x="1279" y="1341"/>
                    <a:pt x="1279" y="1417"/>
                  </a:cubicBezTo>
                  <a:cubicBezTo>
                    <a:pt x="1279" y="1494"/>
                    <a:pt x="1341" y="1556"/>
                    <a:pt x="1418" y="1556"/>
                  </a:cubicBezTo>
                  <a:cubicBezTo>
                    <a:pt x="1495" y="1556"/>
                    <a:pt x="1557" y="1494"/>
                    <a:pt x="1557" y="1417"/>
                  </a:cubicBezTo>
                  <a:close/>
                  <a:moveTo>
                    <a:pt x="1513" y="1417"/>
                  </a:moveTo>
                  <a:cubicBezTo>
                    <a:pt x="1513" y="1470"/>
                    <a:pt x="1470" y="1512"/>
                    <a:pt x="1418" y="1512"/>
                  </a:cubicBezTo>
                  <a:cubicBezTo>
                    <a:pt x="1366" y="1512"/>
                    <a:pt x="1323" y="1470"/>
                    <a:pt x="1323" y="1417"/>
                  </a:cubicBezTo>
                  <a:cubicBezTo>
                    <a:pt x="1323" y="1365"/>
                    <a:pt x="1366" y="1322"/>
                    <a:pt x="1418" y="1322"/>
                  </a:cubicBezTo>
                  <a:cubicBezTo>
                    <a:pt x="1470" y="1322"/>
                    <a:pt x="1513" y="1365"/>
                    <a:pt x="1513" y="1417"/>
                  </a:cubicBezTo>
                  <a:close/>
                  <a:moveTo>
                    <a:pt x="714" y="1417"/>
                  </a:moveTo>
                  <a:cubicBezTo>
                    <a:pt x="714" y="1341"/>
                    <a:pt x="651" y="1278"/>
                    <a:pt x="575" y="1278"/>
                  </a:cubicBezTo>
                  <a:cubicBezTo>
                    <a:pt x="498" y="1278"/>
                    <a:pt x="436" y="1341"/>
                    <a:pt x="436" y="1417"/>
                  </a:cubicBezTo>
                  <a:cubicBezTo>
                    <a:pt x="436" y="1494"/>
                    <a:pt x="498" y="1556"/>
                    <a:pt x="575" y="1556"/>
                  </a:cubicBezTo>
                  <a:cubicBezTo>
                    <a:pt x="651" y="1556"/>
                    <a:pt x="714" y="1494"/>
                    <a:pt x="714" y="1417"/>
                  </a:cubicBezTo>
                  <a:close/>
                  <a:moveTo>
                    <a:pt x="670" y="1417"/>
                  </a:moveTo>
                  <a:cubicBezTo>
                    <a:pt x="670" y="1470"/>
                    <a:pt x="627" y="1512"/>
                    <a:pt x="575" y="1512"/>
                  </a:cubicBezTo>
                  <a:cubicBezTo>
                    <a:pt x="522" y="1512"/>
                    <a:pt x="480" y="1470"/>
                    <a:pt x="480" y="1417"/>
                  </a:cubicBezTo>
                  <a:cubicBezTo>
                    <a:pt x="480" y="1365"/>
                    <a:pt x="522" y="1322"/>
                    <a:pt x="575" y="1322"/>
                  </a:cubicBezTo>
                  <a:cubicBezTo>
                    <a:pt x="627" y="1322"/>
                    <a:pt x="670" y="1365"/>
                    <a:pt x="670" y="1417"/>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69" name="TB469"/>
          <p:cNvSpPr txBox="1"/>
          <p:nvPr/>
        </p:nvSpPr>
        <p:spPr>
          <a:xfrm>
            <a:off x="4925568" y="4219956"/>
            <a:ext cx="1935480" cy="219456"/>
          </a:xfrm>
          <a:prstGeom prst="rect">
            <a:avLst/>
          </a:prstGeom>
          <a:noFill/>
        </p:spPr>
        <p:txBody>
          <a:bodyPr wrap="square" rtlCol="0" anchor="t"/>
          <a:lstStyle/>
          <a:p>
            <a:r>
              <a:rPr lang="en-US" sz="1100" b="1" dirty="0">
                <a:solidFill>
                  <a:srgbClr val="575757"/>
                </a:solidFill>
                <a:latin typeface="Trebuchet MS"/>
              </a:rPr>
              <a:t>2. Procurement</a:t>
            </a:r>
          </a:p>
        </p:txBody>
      </p:sp>
      <p:sp>
        <p:nvSpPr>
          <p:cNvPr id="470" name="TB470"/>
          <p:cNvSpPr txBox="1"/>
          <p:nvPr/>
        </p:nvSpPr>
        <p:spPr>
          <a:xfrm>
            <a:off x="4925568" y="4457700"/>
            <a:ext cx="1935480" cy="477774"/>
          </a:xfrm>
          <a:prstGeom prst="rect">
            <a:avLst/>
          </a:prstGeom>
          <a:noFill/>
        </p:spPr>
        <p:txBody>
          <a:bodyPr wrap="square" rtlCol="0" anchor="t"/>
          <a:lstStyle/>
          <a:p>
            <a:r>
              <a:rPr lang="en-US" sz="1000" dirty="0">
                <a:solidFill>
                  <a:srgbClr val="575757"/>
                </a:solidFill>
                <a:latin typeface="Trebuchet MS"/>
              </a:rPr>
              <a:t>13% saving on ₹1,800 Cr pharma + devices</a:t>
            </a:r>
          </a:p>
        </p:txBody>
      </p:sp>
      <p:sp>
        <p:nvSpPr>
          <p:cNvPr id="471" name="R471"/>
          <p:cNvSpPr/>
          <p:nvPr/>
        </p:nvSpPr>
        <p:spPr>
          <a:xfrm>
            <a:off x="6952488" y="4219956"/>
            <a:ext cx="868680" cy="697230"/>
          </a:xfrm>
          <a:prstGeom prst="rect">
            <a:avLst/>
          </a:prstGeom>
          <a:solidFill>
            <a:srgbClr val="295E7E"/>
          </a:solidFill>
          <a:ln>
            <a:noFill/>
          </a:ln>
        </p:spPr>
        <p:txBody>
          <a:bodyPr/>
          <a:lstStyle/>
          <a:p>
            <a:endParaRPr lang="en-US"/>
          </a:p>
        </p:txBody>
      </p:sp>
      <p:sp>
        <p:nvSpPr>
          <p:cNvPr id="472" name="TB472"/>
          <p:cNvSpPr txBox="1"/>
          <p:nvPr/>
        </p:nvSpPr>
        <p:spPr>
          <a:xfrm>
            <a:off x="6952488" y="4219956"/>
            <a:ext cx="868680" cy="697230"/>
          </a:xfrm>
          <a:prstGeom prst="rect">
            <a:avLst/>
          </a:prstGeom>
          <a:noFill/>
        </p:spPr>
        <p:txBody>
          <a:bodyPr wrap="square" rtlCol="0" anchor="ctr"/>
          <a:lstStyle/>
          <a:p>
            <a:pPr algn="ctr"/>
            <a:r>
              <a:rPr lang="en-US" sz="1200" b="1" dirty="0">
                <a:solidFill>
                  <a:srgbClr val="FFFFFF"/>
                </a:solidFill>
                <a:latin typeface="Trebuchet MS"/>
              </a:rPr>
              <a:t>₹620 Cr</a:t>
            </a:r>
          </a:p>
        </p:txBody>
      </p:sp>
      <p:sp>
        <p:nvSpPr>
          <p:cNvPr id="473" name="RR473"/>
          <p:cNvSpPr/>
          <p:nvPr/>
        </p:nvSpPr>
        <p:spPr>
          <a:xfrm>
            <a:off x="8031480" y="4146804"/>
            <a:ext cx="3535680" cy="84353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74" name="R474"/>
          <p:cNvSpPr/>
          <p:nvPr/>
        </p:nvSpPr>
        <p:spPr>
          <a:xfrm>
            <a:off x="8031480" y="4146804"/>
            <a:ext cx="73152" cy="843534"/>
          </a:xfrm>
          <a:prstGeom prst="rect">
            <a:avLst/>
          </a:prstGeom>
          <a:solidFill>
            <a:srgbClr val="575757"/>
          </a:solidFill>
          <a:ln>
            <a:noFill/>
          </a:ln>
        </p:spPr>
        <p:txBody>
          <a:bodyPr/>
          <a:lstStyle/>
          <a:p>
            <a:endParaRPr lang="en-US"/>
          </a:p>
        </p:txBody>
      </p:sp>
      <p:sp>
        <p:nvSpPr>
          <p:cNvPr id="475" name="O475"/>
          <p:cNvSpPr/>
          <p:nvPr/>
        </p:nvSpPr>
        <p:spPr>
          <a:xfrm>
            <a:off x="8122920" y="4362831"/>
            <a:ext cx="411480" cy="411480"/>
          </a:xfrm>
          <a:prstGeom prst="ellipse">
            <a:avLst/>
          </a:prstGeom>
          <a:solidFill>
            <a:srgbClr val="575757"/>
          </a:solidFill>
          <a:ln>
            <a:noFill/>
          </a:ln>
        </p:spPr>
        <p:txBody>
          <a:bodyPr/>
          <a:lstStyle/>
          <a:p>
            <a:endParaRPr lang="en-US"/>
          </a:p>
        </p:txBody>
      </p:sp>
      <p:grpSp>
        <p:nvGrpSpPr>
          <p:cNvPr id="476" name="svg_Cash_growth"/>
          <p:cNvGrpSpPr>
            <a:grpSpLocks noChangeAspect="1"/>
          </p:cNvGrpSpPr>
          <p:nvPr/>
        </p:nvGrpSpPr>
        <p:grpSpPr bwMode="auto">
          <a:xfrm>
            <a:off x="8150352" y="4408551"/>
            <a:ext cx="320040" cy="320040"/>
            <a:chOff x="0" y="0"/>
            <a:chExt cx="10000" cy="10000"/>
          </a:xfrm>
        </p:grpSpPr>
        <p:sp>
          <p:nvSpPr>
            <p:cNvPr id="477" name="Path 11"/>
            <p:cNvSpPr/>
            <p:nvPr/>
          </p:nvSpPr>
          <p:spPr bwMode="auto">
            <a:xfrm>
              <a:off x="0" y="0"/>
              <a:ext cx="10000" cy="10000"/>
            </a:xfrm>
            <a:custGeom>
              <a:avLst/>
              <a:gdLst/>
              <a:ahLst/>
              <a:cxnLst/>
              <a:rect l="0" t="0" r="10000" b="10000"/>
              <a:pathLst>
                <a:path w="10000" h="10000">
                  <a:moveTo>
                    <a:pt x="5546" y="3384"/>
                  </a:moveTo>
                  <a:cubicBezTo>
                    <a:pt x="5546" y="3384"/>
                    <a:pt x="5546" y="3384"/>
                    <a:pt x="8189" y="3384"/>
                  </a:cubicBezTo>
                  <a:cubicBezTo>
                    <a:pt x="8180" y="3419"/>
                    <a:pt x="8176" y="3449"/>
                    <a:pt x="8176" y="3484"/>
                  </a:cubicBezTo>
                  <a:cubicBezTo>
                    <a:pt x="8176" y="3701"/>
                    <a:pt x="8346" y="3870"/>
                    <a:pt x="8559" y="3870"/>
                  </a:cubicBezTo>
                  <a:cubicBezTo>
                    <a:pt x="8602" y="3870"/>
                    <a:pt x="8646" y="3862"/>
                    <a:pt x="8685" y="3849"/>
                  </a:cubicBezTo>
                  <a:cubicBezTo>
                    <a:pt x="8685" y="3849"/>
                    <a:pt x="8685" y="3849"/>
                    <a:pt x="8685" y="6160"/>
                  </a:cubicBezTo>
                  <a:cubicBezTo>
                    <a:pt x="8646" y="6147"/>
                    <a:pt x="8602" y="6138"/>
                    <a:pt x="8559" y="6138"/>
                  </a:cubicBezTo>
                  <a:cubicBezTo>
                    <a:pt x="8346" y="6138"/>
                    <a:pt x="8176" y="6308"/>
                    <a:pt x="8176" y="6525"/>
                  </a:cubicBezTo>
                  <a:cubicBezTo>
                    <a:pt x="8176" y="6555"/>
                    <a:pt x="8180" y="6586"/>
                    <a:pt x="8185" y="6616"/>
                  </a:cubicBezTo>
                  <a:cubicBezTo>
                    <a:pt x="8185" y="6616"/>
                    <a:pt x="8185" y="6616"/>
                    <a:pt x="5546" y="6616"/>
                  </a:cubicBezTo>
                  <a:cubicBezTo>
                    <a:pt x="5941" y="6316"/>
                    <a:pt x="6215" y="5704"/>
                    <a:pt x="6215" y="5000"/>
                  </a:cubicBezTo>
                  <a:cubicBezTo>
                    <a:pt x="6215" y="4296"/>
                    <a:pt x="5941" y="3684"/>
                    <a:pt x="5546" y="3384"/>
                  </a:cubicBezTo>
                  <a:close/>
                  <a:moveTo>
                    <a:pt x="1807" y="3384"/>
                  </a:moveTo>
                  <a:cubicBezTo>
                    <a:pt x="1807" y="3384"/>
                    <a:pt x="1807" y="3384"/>
                    <a:pt x="4454" y="3384"/>
                  </a:cubicBezTo>
                  <a:cubicBezTo>
                    <a:pt x="4076" y="3671"/>
                    <a:pt x="3811" y="4244"/>
                    <a:pt x="3789" y="4913"/>
                  </a:cubicBezTo>
                  <a:cubicBezTo>
                    <a:pt x="3789" y="4944"/>
                    <a:pt x="3785" y="4970"/>
                    <a:pt x="3785" y="5000"/>
                  </a:cubicBezTo>
                  <a:cubicBezTo>
                    <a:pt x="3785" y="5030"/>
                    <a:pt x="3789" y="5056"/>
                    <a:pt x="3789" y="5087"/>
                  </a:cubicBezTo>
                  <a:cubicBezTo>
                    <a:pt x="3811" y="5756"/>
                    <a:pt x="4076" y="6329"/>
                    <a:pt x="4454" y="6616"/>
                  </a:cubicBezTo>
                  <a:cubicBezTo>
                    <a:pt x="4454" y="6616"/>
                    <a:pt x="4454" y="6616"/>
                    <a:pt x="1807" y="6616"/>
                  </a:cubicBezTo>
                  <a:cubicBezTo>
                    <a:pt x="1815" y="6586"/>
                    <a:pt x="1820" y="6555"/>
                    <a:pt x="1820" y="6525"/>
                  </a:cubicBezTo>
                  <a:cubicBezTo>
                    <a:pt x="1820" y="6308"/>
                    <a:pt x="1646" y="6138"/>
                    <a:pt x="1437" y="6138"/>
                  </a:cubicBezTo>
                  <a:cubicBezTo>
                    <a:pt x="1398" y="6138"/>
                    <a:pt x="1354" y="6147"/>
                    <a:pt x="1320" y="6156"/>
                  </a:cubicBezTo>
                  <a:cubicBezTo>
                    <a:pt x="1320" y="6156"/>
                    <a:pt x="1315" y="6156"/>
                    <a:pt x="1315" y="6156"/>
                  </a:cubicBezTo>
                  <a:cubicBezTo>
                    <a:pt x="1315" y="6156"/>
                    <a:pt x="1315" y="6156"/>
                    <a:pt x="1315" y="3849"/>
                  </a:cubicBezTo>
                  <a:cubicBezTo>
                    <a:pt x="1315" y="3849"/>
                    <a:pt x="1320" y="3849"/>
                    <a:pt x="1320" y="3849"/>
                  </a:cubicBezTo>
                  <a:cubicBezTo>
                    <a:pt x="1354" y="3862"/>
                    <a:pt x="1398" y="3870"/>
                    <a:pt x="1437" y="3870"/>
                  </a:cubicBezTo>
                  <a:cubicBezTo>
                    <a:pt x="1646" y="3870"/>
                    <a:pt x="1820" y="3701"/>
                    <a:pt x="1820" y="3484"/>
                  </a:cubicBezTo>
                  <a:cubicBezTo>
                    <a:pt x="1820" y="3449"/>
                    <a:pt x="1815" y="3419"/>
                    <a:pt x="1807" y="3384"/>
                  </a:cubicBezTo>
                  <a:close/>
                </a:path>
              </a:pathLst>
            </a:custGeom>
            <a:solidFill>
              <a:srgbClr val="FFFFFF"/>
            </a:solidFill>
            <a:ln w="0">
              <a:noFill/>
            </a:ln>
          </p:spPr>
          <p:txBody>
            <a:bodyPr/>
            <a:lstStyle/>
            <a:p>
              <a:endParaRPr lang="en-US"/>
            </a:p>
          </p:txBody>
        </p:sp>
        <p:sp>
          <p:nvSpPr>
            <p:cNvPr id="478" name="Path 12"/>
            <p:cNvSpPr/>
            <p:nvPr/>
          </p:nvSpPr>
          <p:spPr bwMode="auto">
            <a:xfrm>
              <a:off x="0" y="0"/>
              <a:ext cx="10000" cy="10000"/>
            </a:xfrm>
            <a:custGeom>
              <a:avLst/>
              <a:gdLst/>
              <a:ahLst/>
              <a:cxnLst/>
              <a:rect l="0" t="0" r="10000" b="10000"/>
              <a:pathLst>
                <a:path w="10000" h="10000">
                  <a:moveTo>
                    <a:pt x="4992" y="3883"/>
                  </a:moveTo>
                  <a:cubicBezTo>
                    <a:pt x="5000" y="3883"/>
                    <a:pt x="5009" y="3883"/>
                    <a:pt x="5018" y="3888"/>
                  </a:cubicBezTo>
                  <a:cubicBezTo>
                    <a:pt x="5018" y="3888"/>
                    <a:pt x="5018" y="3888"/>
                    <a:pt x="5022" y="3888"/>
                  </a:cubicBezTo>
                  <a:cubicBezTo>
                    <a:pt x="5031" y="3888"/>
                    <a:pt x="5035" y="3892"/>
                    <a:pt x="5044" y="3892"/>
                  </a:cubicBezTo>
                  <a:cubicBezTo>
                    <a:pt x="5044" y="3892"/>
                    <a:pt x="5044" y="3892"/>
                    <a:pt x="5048" y="3892"/>
                  </a:cubicBezTo>
                  <a:cubicBezTo>
                    <a:pt x="5048" y="3892"/>
                    <a:pt x="5048" y="3892"/>
                    <a:pt x="5053" y="3896"/>
                  </a:cubicBezTo>
                  <a:cubicBezTo>
                    <a:pt x="5057" y="3896"/>
                    <a:pt x="5066" y="3901"/>
                    <a:pt x="5074" y="3905"/>
                  </a:cubicBezTo>
                  <a:cubicBezTo>
                    <a:pt x="5074" y="3905"/>
                    <a:pt x="5074" y="3905"/>
                    <a:pt x="5074" y="3909"/>
                  </a:cubicBezTo>
                  <a:cubicBezTo>
                    <a:pt x="5074" y="3909"/>
                    <a:pt x="5074" y="3909"/>
                    <a:pt x="5079" y="3909"/>
                  </a:cubicBezTo>
                  <a:cubicBezTo>
                    <a:pt x="5083" y="3914"/>
                    <a:pt x="5092" y="3922"/>
                    <a:pt x="5101" y="3927"/>
                  </a:cubicBezTo>
                  <a:cubicBezTo>
                    <a:pt x="5101" y="3927"/>
                    <a:pt x="5101" y="3927"/>
                    <a:pt x="5663" y="4488"/>
                  </a:cubicBezTo>
                  <a:cubicBezTo>
                    <a:pt x="5684" y="4518"/>
                    <a:pt x="5702" y="4557"/>
                    <a:pt x="5702" y="4596"/>
                  </a:cubicBezTo>
                  <a:cubicBezTo>
                    <a:pt x="5702" y="4636"/>
                    <a:pt x="5684" y="4675"/>
                    <a:pt x="5663" y="4705"/>
                  </a:cubicBezTo>
                  <a:cubicBezTo>
                    <a:pt x="5632" y="4731"/>
                    <a:pt x="5593" y="4748"/>
                    <a:pt x="5554" y="4748"/>
                  </a:cubicBezTo>
                  <a:cubicBezTo>
                    <a:pt x="5515" y="4748"/>
                    <a:pt x="5475" y="4731"/>
                    <a:pt x="5445" y="4705"/>
                  </a:cubicBezTo>
                  <a:cubicBezTo>
                    <a:pt x="5445" y="4705"/>
                    <a:pt x="5445" y="4705"/>
                    <a:pt x="5144" y="4405"/>
                  </a:cubicBezTo>
                  <a:cubicBezTo>
                    <a:pt x="5144" y="4405"/>
                    <a:pt x="5144" y="4527"/>
                    <a:pt x="5144" y="5957"/>
                  </a:cubicBezTo>
                  <a:cubicBezTo>
                    <a:pt x="5144" y="6040"/>
                    <a:pt x="5074" y="6110"/>
                    <a:pt x="4992" y="6110"/>
                  </a:cubicBezTo>
                  <a:cubicBezTo>
                    <a:pt x="4909" y="6110"/>
                    <a:pt x="4839" y="6040"/>
                    <a:pt x="4839" y="5957"/>
                  </a:cubicBezTo>
                  <a:cubicBezTo>
                    <a:pt x="4839" y="5957"/>
                    <a:pt x="4839" y="5836"/>
                    <a:pt x="4839" y="4405"/>
                  </a:cubicBezTo>
                  <a:cubicBezTo>
                    <a:pt x="4839" y="4405"/>
                    <a:pt x="4839" y="4405"/>
                    <a:pt x="4538" y="4705"/>
                  </a:cubicBezTo>
                  <a:cubicBezTo>
                    <a:pt x="4508" y="4731"/>
                    <a:pt x="4469" y="4748"/>
                    <a:pt x="4429" y="4748"/>
                  </a:cubicBezTo>
                  <a:cubicBezTo>
                    <a:pt x="4390" y="4748"/>
                    <a:pt x="4351" y="4731"/>
                    <a:pt x="4320" y="4705"/>
                  </a:cubicBezTo>
                  <a:cubicBezTo>
                    <a:pt x="4299" y="4675"/>
                    <a:pt x="4281" y="4636"/>
                    <a:pt x="4281" y="4596"/>
                  </a:cubicBezTo>
                  <a:cubicBezTo>
                    <a:pt x="4281" y="4557"/>
                    <a:pt x="4299" y="4518"/>
                    <a:pt x="4320" y="4488"/>
                  </a:cubicBezTo>
                  <a:cubicBezTo>
                    <a:pt x="4320" y="4488"/>
                    <a:pt x="4320" y="4488"/>
                    <a:pt x="4883" y="3927"/>
                  </a:cubicBezTo>
                  <a:cubicBezTo>
                    <a:pt x="4891" y="3922"/>
                    <a:pt x="4896" y="3914"/>
                    <a:pt x="4904" y="3909"/>
                  </a:cubicBezTo>
                  <a:cubicBezTo>
                    <a:pt x="4904" y="3909"/>
                    <a:pt x="4904" y="3909"/>
                    <a:pt x="4909" y="3909"/>
                  </a:cubicBezTo>
                  <a:cubicBezTo>
                    <a:pt x="4909" y="3909"/>
                    <a:pt x="4909" y="3909"/>
                    <a:pt x="4909" y="3905"/>
                  </a:cubicBezTo>
                  <a:cubicBezTo>
                    <a:pt x="4918" y="3901"/>
                    <a:pt x="4926" y="3896"/>
                    <a:pt x="4931" y="3896"/>
                  </a:cubicBezTo>
                  <a:cubicBezTo>
                    <a:pt x="4931" y="3896"/>
                    <a:pt x="4931" y="3896"/>
                    <a:pt x="4935" y="3892"/>
                  </a:cubicBezTo>
                  <a:cubicBezTo>
                    <a:pt x="4935" y="3892"/>
                    <a:pt x="4935" y="3892"/>
                    <a:pt x="4939" y="3892"/>
                  </a:cubicBezTo>
                  <a:cubicBezTo>
                    <a:pt x="4948" y="3892"/>
                    <a:pt x="4952" y="3888"/>
                    <a:pt x="4961" y="3888"/>
                  </a:cubicBezTo>
                  <a:cubicBezTo>
                    <a:pt x="4961" y="3888"/>
                    <a:pt x="4961" y="3888"/>
                    <a:pt x="4965" y="3888"/>
                  </a:cubicBezTo>
                  <a:cubicBezTo>
                    <a:pt x="4974" y="3883"/>
                    <a:pt x="4983" y="3883"/>
                    <a:pt x="4992" y="3883"/>
                  </a:cubicBezTo>
                  <a:close/>
                  <a:moveTo>
                    <a:pt x="1111" y="3189"/>
                  </a:moveTo>
                  <a:lnTo>
                    <a:pt x="1111" y="3286"/>
                  </a:lnTo>
                  <a:lnTo>
                    <a:pt x="1111" y="6697"/>
                  </a:lnTo>
                  <a:lnTo>
                    <a:pt x="1111" y="6794"/>
                  </a:lnTo>
                  <a:lnTo>
                    <a:pt x="1208" y="6794"/>
                  </a:lnTo>
                  <a:lnTo>
                    <a:pt x="4958" y="6794"/>
                  </a:lnTo>
                  <a:lnTo>
                    <a:pt x="5035" y="6794"/>
                  </a:lnTo>
                  <a:lnTo>
                    <a:pt x="8775" y="6794"/>
                  </a:lnTo>
                  <a:lnTo>
                    <a:pt x="8872" y="6794"/>
                  </a:lnTo>
                  <a:lnTo>
                    <a:pt x="8872" y="6697"/>
                  </a:lnTo>
                  <a:lnTo>
                    <a:pt x="8872" y="3286"/>
                  </a:lnTo>
                  <a:lnTo>
                    <a:pt x="8872" y="3189"/>
                  </a:lnTo>
                  <a:lnTo>
                    <a:pt x="8775" y="3189"/>
                  </a:lnTo>
                  <a:lnTo>
                    <a:pt x="5035" y="3189"/>
                  </a:lnTo>
                  <a:lnTo>
                    <a:pt x="4958" y="3189"/>
                  </a:lnTo>
                  <a:lnTo>
                    <a:pt x="1208" y="3189"/>
                  </a:lnTo>
                  <a:close/>
                  <a:moveTo>
                    <a:pt x="1023" y="2997"/>
                  </a:moveTo>
                  <a:cubicBezTo>
                    <a:pt x="1023" y="2997"/>
                    <a:pt x="1023" y="2997"/>
                    <a:pt x="8960" y="2997"/>
                  </a:cubicBezTo>
                  <a:cubicBezTo>
                    <a:pt x="9012" y="2997"/>
                    <a:pt x="9056" y="3040"/>
                    <a:pt x="9056" y="3092"/>
                  </a:cubicBezTo>
                  <a:cubicBezTo>
                    <a:pt x="9056" y="3092"/>
                    <a:pt x="9056" y="3092"/>
                    <a:pt x="9056" y="6891"/>
                  </a:cubicBezTo>
                  <a:cubicBezTo>
                    <a:pt x="9056" y="6943"/>
                    <a:pt x="9012" y="6987"/>
                    <a:pt x="8960" y="6987"/>
                  </a:cubicBezTo>
                  <a:cubicBezTo>
                    <a:pt x="8960" y="6987"/>
                    <a:pt x="8960" y="6987"/>
                    <a:pt x="1023" y="6987"/>
                  </a:cubicBezTo>
                  <a:cubicBezTo>
                    <a:pt x="971" y="6987"/>
                    <a:pt x="927" y="6943"/>
                    <a:pt x="927" y="6891"/>
                  </a:cubicBezTo>
                  <a:cubicBezTo>
                    <a:pt x="927" y="6891"/>
                    <a:pt x="927" y="6891"/>
                    <a:pt x="927" y="3092"/>
                  </a:cubicBezTo>
                  <a:cubicBezTo>
                    <a:pt x="927" y="3040"/>
                    <a:pt x="971" y="2997"/>
                    <a:pt x="1023" y="2997"/>
                  </a:cubicBezTo>
                  <a:close/>
                </a:path>
              </a:pathLst>
            </a:custGeom>
            <a:solidFill>
              <a:srgbClr val="FFFFFF"/>
            </a:solidFill>
            <a:ln w="0">
              <a:noFill/>
            </a:ln>
          </p:spPr>
          <p:txBody>
            <a:bodyPr/>
            <a:lstStyle/>
            <a:p>
              <a:endParaRPr lang="en-US"/>
            </a:p>
          </p:txBody>
        </p:sp>
      </p:grpSp>
      <p:sp>
        <p:nvSpPr>
          <p:cNvPr id="479" name="TB479"/>
          <p:cNvSpPr txBox="1"/>
          <p:nvPr/>
        </p:nvSpPr>
        <p:spPr>
          <a:xfrm>
            <a:off x="8625840" y="4219956"/>
            <a:ext cx="1935480" cy="219456"/>
          </a:xfrm>
          <a:prstGeom prst="rect">
            <a:avLst/>
          </a:prstGeom>
          <a:noFill/>
        </p:spPr>
        <p:txBody>
          <a:bodyPr wrap="square" rtlCol="0" anchor="t"/>
          <a:lstStyle/>
          <a:p>
            <a:r>
              <a:rPr lang="en-US" sz="1100" b="1" dirty="0">
                <a:solidFill>
                  <a:srgbClr val="575757"/>
                </a:solidFill>
                <a:latin typeface="Trebuchet MS"/>
              </a:rPr>
              <a:t>3. Cross-Sell</a:t>
            </a:r>
          </a:p>
        </p:txBody>
      </p:sp>
      <p:sp>
        <p:nvSpPr>
          <p:cNvPr id="480" name="TB480"/>
          <p:cNvSpPr txBox="1"/>
          <p:nvPr/>
        </p:nvSpPr>
        <p:spPr>
          <a:xfrm>
            <a:off x="8625840" y="4457700"/>
            <a:ext cx="1935480" cy="477774"/>
          </a:xfrm>
          <a:prstGeom prst="rect">
            <a:avLst/>
          </a:prstGeom>
          <a:noFill/>
        </p:spPr>
        <p:txBody>
          <a:bodyPr wrap="square" rtlCol="0" anchor="t"/>
          <a:lstStyle/>
          <a:p>
            <a:r>
              <a:rPr lang="en-US" sz="1000" dirty="0">
                <a:solidFill>
                  <a:srgbClr val="575757"/>
                </a:solidFill>
                <a:latin typeface="Trebuchet MS"/>
              </a:rPr>
              <a:t>Capture ₹450 Cr/yr competitor leakage</a:t>
            </a:r>
          </a:p>
        </p:txBody>
      </p:sp>
      <p:sp>
        <p:nvSpPr>
          <p:cNvPr id="481" name="R481"/>
          <p:cNvSpPr/>
          <p:nvPr/>
        </p:nvSpPr>
        <p:spPr>
          <a:xfrm>
            <a:off x="10652760" y="4219956"/>
            <a:ext cx="868680" cy="697230"/>
          </a:xfrm>
          <a:prstGeom prst="rect">
            <a:avLst/>
          </a:prstGeom>
          <a:solidFill>
            <a:srgbClr val="575757"/>
          </a:solidFill>
          <a:ln>
            <a:noFill/>
          </a:ln>
        </p:spPr>
        <p:txBody>
          <a:bodyPr/>
          <a:lstStyle/>
          <a:p>
            <a:endParaRPr lang="en-US"/>
          </a:p>
        </p:txBody>
      </p:sp>
      <p:sp>
        <p:nvSpPr>
          <p:cNvPr id="482" name="TB482"/>
          <p:cNvSpPr txBox="1"/>
          <p:nvPr/>
        </p:nvSpPr>
        <p:spPr>
          <a:xfrm>
            <a:off x="10652760" y="4219956"/>
            <a:ext cx="868680" cy="697230"/>
          </a:xfrm>
          <a:prstGeom prst="rect">
            <a:avLst/>
          </a:prstGeom>
          <a:noFill/>
        </p:spPr>
        <p:txBody>
          <a:bodyPr wrap="square" rtlCol="0" anchor="ctr"/>
          <a:lstStyle/>
          <a:p>
            <a:pPr algn="ctr"/>
            <a:r>
              <a:rPr lang="en-US" sz="1200" b="1" dirty="0">
                <a:solidFill>
                  <a:srgbClr val="FFFFFF"/>
                </a:solidFill>
                <a:latin typeface="Trebuchet MS"/>
              </a:rPr>
              <a:t>₹1,450 Cr</a:t>
            </a:r>
          </a:p>
        </p:txBody>
      </p:sp>
      <p:sp>
        <p:nvSpPr>
          <p:cNvPr id="483" name="RR483"/>
          <p:cNvSpPr/>
          <p:nvPr/>
        </p:nvSpPr>
        <p:spPr>
          <a:xfrm>
            <a:off x="630936" y="5100066"/>
            <a:ext cx="3535680" cy="84353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84" name="R484"/>
          <p:cNvSpPr/>
          <p:nvPr/>
        </p:nvSpPr>
        <p:spPr>
          <a:xfrm>
            <a:off x="630936" y="5100066"/>
            <a:ext cx="73152" cy="843534"/>
          </a:xfrm>
          <a:prstGeom prst="rect">
            <a:avLst/>
          </a:prstGeom>
          <a:solidFill>
            <a:srgbClr val="242852"/>
          </a:solidFill>
          <a:ln>
            <a:noFill/>
          </a:ln>
        </p:spPr>
        <p:txBody>
          <a:bodyPr/>
          <a:lstStyle/>
          <a:p>
            <a:endParaRPr lang="en-US"/>
          </a:p>
        </p:txBody>
      </p:sp>
      <p:sp>
        <p:nvSpPr>
          <p:cNvPr id="485" name="O485"/>
          <p:cNvSpPr/>
          <p:nvPr/>
        </p:nvSpPr>
        <p:spPr>
          <a:xfrm>
            <a:off x="722375" y="5316093"/>
            <a:ext cx="411480" cy="411480"/>
          </a:xfrm>
          <a:prstGeom prst="ellipse">
            <a:avLst/>
          </a:prstGeom>
          <a:solidFill>
            <a:schemeClr val="tx2"/>
          </a:solidFill>
          <a:ln>
            <a:noFill/>
          </a:ln>
        </p:spPr>
        <p:txBody>
          <a:bodyPr/>
          <a:lstStyle/>
          <a:p>
            <a:endParaRPr lang="en-US"/>
          </a:p>
        </p:txBody>
      </p:sp>
      <p:grpSp>
        <p:nvGrpSpPr>
          <p:cNvPr id="486" name="bcgIcons_Strategy">
            <a:extLst>
              <a:ext uri="{FF2B5EF4-FFF2-40B4-BE49-F238E27FC236}">
                <a16:creationId xmlns:a16="http://schemas.microsoft.com/office/drawing/2014/main" id="{96F9A4AA-6DEE-48E2-9143-67EB34511180}"/>
              </a:ext>
            </a:extLst>
          </p:cNvPr>
          <p:cNvGrpSpPr>
            <a:grpSpLocks noChangeAspect="1"/>
          </p:cNvGrpSpPr>
          <p:nvPr/>
        </p:nvGrpSpPr>
        <p:grpSpPr bwMode="auto">
          <a:xfrm>
            <a:off x="749808" y="5361813"/>
            <a:ext cx="319743" cy="320040"/>
            <a:chOff x="1682" y="0"/>
            <a:chExt cx="4316" cy="4320"/>
          </a:xfrm>
        </p:grpSpPr>
        <p:sp>
          <p:nvSpPr>
            <p:cNvPr id="487" name="AutoShape 3">
              <a:extLst>
                <a:ext uri="{FF2B5EF4-FFF2-40B4-BE49-F238E27FC236}">
                  <a16:creationId xmlns:a16="http://schemas.microsoft.com/office/drawing/2014/main" id="{C21EBBEA-EEAE-42D4-BEE2-E587BE61EE10}"/>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8" name="Freeform 5">
              <a:extLst>
                <a:ext uri="{FF2B5EF4-FFF2-40B4-BE49-F238E27FC236}">
                  <a16:creationId xmlns:a16="http://schemas.microsoft.com/office/drawing/2014/main" id="{C43E2BA7-091D-471D-B076-85B282692BD3}"/>
                </a:ext>
              </a:extLst>
            </p:cNvPr>
            <p:cNvSpPr>
              <a:spLocks noEditPoints="1"/>
            </p:cNvSpPr>
            <p:nvPr/>
          </p:nvSpPr>
          <p:spPr bwMode="auto">
            <a:xfrm>
              <a:off x="2120" y="932"/>
              <a:ext cx="3436" cy="2452"/>
            </a:xfrm>
            <a:custGeom>
              <a:avLst/>
              <a:gdLst>
                <a:gd name="T0" fmla="*/ 1790 w 1834"/>
                <a:gd name="T1" fmla="*/ 1308 h 1308"/>
                <a:gd name="T2" fmla="*/ 44 w 1834"/>
                <a:gd name="T3" fmla="*/ 1308 h 1308"/>
                <a:gd name="T4" fmla="*/ 0 w 1834"/>
                <a:gd name="T5" fmla="*/ 1264 h 1308"/>
                <a:gd name="T6" fmla="*/ 0 w 1834"/>
                <a:gd name="T7" fmla="*/ 44 h 1308"/>
                <a:gd name="T8" fmla="*/ 44 w 1834"/>
                <a:gd name="T9" fmla="*/ 0 h 1308"/>
                <a:gd name="T10" fmla="*/ 1790 w 1834"/>
                <a:gd name="T11" fmla="*/ 0 h 1308"/>
                <a:gd name="T12" fmla="*/ 1834 w 1834"/>
                <a:gd name="T13" fmla="*/ 44 h 1308"/>
                <a:gd name="T14" fmla="*/ 1834 w 1834"/>
                <a:gd name="T15" fmla="*/ 1264 h 1308"/>
                <a:gd name="T16" fmla="*/ 1790 w 1834"/>
                <a:gd name="T17" fmla="*/ 1308 h 1308"/>
                <a:gd name="T18" fmla="*/ 44 w 1834"/>
                <a:gd name="T19" fmla="*/ 44 h 1308"/>
                <a:gd name="T20" fmla="*/ 44 w 1834"/>
                <a:gd name="T21" fmla="*/ 1264 h 1308"/>
                <a:gd name="T22" fmla="*/ 1790 w 1834"/>
                <a:gd name="T23" fmla="*/ 1264 h 1308"/>
                <a:gd name="T24" fmla="*/ 1790 w 1834"/>
                <a:gd name="T25" fmla="*/ 44 h 1308"/>
                <a:gd name="T26" fmla="*/ 44 w 1834"/>
                <a:gd name="T27" fmla="*/ 44 h 1308"/>
                <a:gd name="T28" fmla="*/ 539 w 1834"/>
                <a:gd name="T29" fmla="*/ 270 h 1308"/>
                <a:gd name="T30" fmla="*/ 453 w 1834"/>
                <a:gd name="T31" fmla="*/ 356 h 1308"/>
                <a:gd name="T32" fmla="*/ 539 w 1834"/>
                <a:gd name="T33" fmla="*/ 442 h 1308"/>
                <a:gd name="T34" fmla="*/ 625 w 1834"/>
                <a:gd name="T35" fmla="*/ 356 h 1308"/>
                <a:gd name="T36" fmla="*/ 539 w 1834"/>
                <a:gd name="T37" fmla="*/ 270 h 1308"/>
                <a:gd name="T38" fmla="*/ 988 w 1834"/>
                <a:gd name="T39" fmla="*/ 906 h 1308"/>
                <a:gd name="T40" fmla="*/ 917 w 1834"/>
                <a:gd name="T41" fmla="*/ 943 h 1308"/>
                <a:gd name="T42" fmla="*/ 939 w 1834"/>
                <a:gd name="T43" fmla="*/ 1063 h 1308"/>
                <a:gd name="T44" fmla="*/ 1059 w 1834"/>
                <a:gd name="T45" fmla="*/ 1040 h 1308"/>
                <a:gd name="T46" fmla="*/ 1036 w 1834"/>
                <a:gd name="T47" fmla="*/ 921 h 1308"/>
                <a:gd name="T48" fmla="*/ 988 w 1834"/>
                <a:gd name="T49" fmla="*/ 906 h 1308"/>
                <a:gd name="T50" fmla="*/ 1540 w 1834"/>
                <a:gd name="T51" fmla="*/ 402 h 1308"/>
                <a:gd name="T52" fmla="*/ 1469 w 1834"/>
                <a:gd name="T53" fmla="*/ 439 h 1308"/>
                <a:gd name="T54" fmla="*/ 1491 w 1834"/>
                <a:gd name="T55" fmla="*/ 559 h 1308"/>
                <a:gd name="T56" fmla="*/ 1611 w 1834"/>
                <a:gd name="T57" fmla="*/ 536 h 1308"/>
                <a:gd name="T58" fmla="*/ 1588 w 1834"/>
                <a:gd name="T59" fmla="*/ 417 h 1308"/>
                <a:gd name="T60" fmla="*/ 1540 w 1834"/>
                <a:gd name="T61" fmla="*/ 402 h 1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834" h="1308">
                  <a:moveTo>
                    <a:pt x="1790" y="1308"/>
                  </a:moveTo>
                  <a:cubicBezTo>
                    <a:pt x="44" y="1308"/>
                    <a:pt x="44" y="1308"/>
                    <a:pt x="44" y="1308"/>
                  </a:cubicBezTo>
                  <a:cubicBezTo>
                    <a:pt x="20" y="1308"/>
                    <a:pt x="0" y="1288"/>
                    <a:pt x="0" y="1264"/>
                  </a:cubicBezTo>
                  <a:cubicBezTo>
                    <a:pt x="0" y="44"/>
                    <a:pt x="0" y="44"/>
                    <a:pt x="0" y="44"/>
                  </a:cubicBezTo>
                  <a:cubicBezTo>
                    <a:pt x="0" y="20"/>
                    <a:pt x="20" y="0"/>
                    <a:pt x="44" y="0"/>
                  </a:cubicBezTo>
                  <a:cubicBezTo>
                    <a:pt x="1790" y="0"/>
                    <a:pt x="1790" y="0"/>
                    <a:pt x="1790" y="0"/>
                  </a:cubicBezTo>
                  <a:cubicBezTo>
                    <a:pt x="1814" y="0"/>
                    <a:pt x="1834" y="20"/>
                    <a:pt x="1834" y="44"/>
                  </a:cubicBezTo>
                  <a:cubicBezTo>
                    <a:pt x="1834" y="1264"/>
                    <a:pt x="1834" y="1264"/>
                    <a:pt x="1834" y="1264"/>
                  </a:cubicBezTo>
                  <a:cubicBezTo>
                    <a:pt x="1834" y="1288"/>
                    <a:pt x="1814" y="1308"/>
                    <a:pt x="1790" y="1308"/>
                  </a:cubicBezTo>
                  <a:close/>
                  <a:moveTo>
                    <a:pt x="44" y="44"/>
                  </a:moveTo>
                  <a:cubicBezTo>
                    <a:pt x="44" y="1264"/>
                    <a:pt x="44" y="1264"/>
                    <a:pt x="44" y="1264"/>
                  </a:cubicBezTo>
                  <a:cubicBezTo>
                    <a:pt x="1790" y="1264"/>
                    <a:pt x="1790" y="1264"/>
                    <a:pt x="1790" y="1264"/>
                  </a:cubicBezTo>
                  <a:cubicBezTo>
                    <a:pt x="1790" y="44"/>
                    <a:pt x="1790" y="44"/>
                    <a:pt x="1790" y="44"/>
                  </a:cubicBezTo>
                  <a:lnTo>
                    <a:pt x="44" y="44"/>
                  </a:lnTo>
                  <a:close/>
                  <a:moveTo>
                    <a:pt x="539" y="270"/>
                  </a:moveTo>
                  <a:cubicBezTo>
                    <a:pt x="492" y="270"/>
                    <a:pt x="453" y="309"/>
                    <a:pt x="453" y="356"/>
                  </a:cubicBezTo>
                  <a:cubicBezTo>
                    <a:pt x="453" y="403"/>
                    <a:pt x="492" y="442"/>
                    <a:pt x="539" y="442"/>
                  </a:cubicBezTo>
                  <a:cubicBezTo>
                    <a:pt x="586" y="442"/>
                    <a:pt x="625" y="403"/>
                    <a:pt x="625" y="356"/>
                  </a:cubicBezTo>
                  <a:cubicBezTo>
                    <a:pt x="625" y="309"/>
                    <a:pt x="586" y="270"/>
                    <a:pt x="539" y="270"/>
                  </a:cubicBezTo>
                  <a:close/>
                  <a:moveTo>
                    <a:pt x="988" y="906"/>
                  </a:moveTo>
                  <a:cubicBezTo>
                    <a:pt x="960" y="906"/>
                    <a:pt x="933" y="919"/>
                    <a:pt x="917" y="943"/>
                  </a:cubicBezTo>
                  <a:cubicBezTo>
                    <a:pt x="890" y="982"/>
                    <a:pt x="900" y="1036"/>
                    <a:pt x="939" y="1063"/>
                  </a:cubicBezTo>
                  <a:cubicBezTo>
                    <a:pt x="978" y="1090"/>
                    <a:pt x="1032" y="1079"/>
                    <a:pt x="1059" y="1040"/>
                  </a:cubicBezTo>
                  <a:cubicBezTo>
                    <a:pt x="1085" y="1001"/>
                    <a:pt x="1075" y="947"/>
                    <a:pt x="1036" y="921"/>
                  </a:cubicBezTo>
                  <a:cubicBezTo>
                    <a:pt x="1021" y="911"/>
                    <a:pt x="1005" y="906"/>
                    <a:pt x="988" y="906"/>
                  </a:cubicBezTo>
                  <a:close/>
                  <a:moveTo>
                    <a:pt x="1540" y="402"/>
                  </a:moveTo>
                  <a:cubicBezTo>
                    <a:pt x="1512" y="402"/>
                    <a:pt x="1485" y="415"/>
                    <a:pt x="1469" y="439"/>
                  </a:cubicBezTo>
                  <a:cubicBezTo>
                    <a:pt x="1442" y="478"/>
                    <a:pt x="1452" y="532"/>
                    <a:pt x="1491" y="559"/>
                  </a:cubicBezTo>
                  <a:cubicBezTo>
                    <a:pt x="1530" y="586"/>
                    <a:pt x="1584" y="575"/>
                    <a:pt x="1611" y="536"/>
                  </a:cubicBezTo>
                  <a:cubicBezTo>
                    <a:pt x="1637" y="497"/>
                    <a:pt x="1627" y="443"/>
                    <a:pt x="1588" y="417"/>
                  </a:cubicBezTo>
                  <a:cubicBezTo>
                    <a:pt x="1573" y="407"/>
                    <a:pt x="1557" y="402"/>
                    <a:pt x="1540" y="402"/>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89" name="Freeform 6">
              <a:extLst>
                <a:ext uri="{FF2B5EF4-FFF2-40B4-BE49-F238E27FC236}">
                  <a16:creationId xmlns:a16="http://schemas.microsoft.com/office/drawing/2014/main" id="{1EED96BB-9979-4401-8F8F-43D515C4599E}"/>
                </a:ext>
              </a:extLst>
            </p:cNvPr>
            <p:cNvSpPr>
              <a:spLocks noEditPoints="1"/>
            </p:cNvSpPr>
            <p:nvPr/>
          </p:nvSpPr>
          <p:spPr bwMode="auto">
            <a:xfrm>
              <a:off x="2321" y="1131"/>
              <a:ext cx="3034" cy="2055"/>
            </a:xfrm>
            <a:custGeom>
              <a:avLst/>
              <a:gdLst>
                <a:gd name="T0" fmla="*/ 10 w 1620"/>
                <a:gd name="T1" fmla="*/ 0 h 1096"/>
                <a:gd name="T2" fmla="*/ 0 w 1620"/>
                <a:gd name="T3" fmla="*/ 1086 h 1096"/>
                <a:gd name="T4" fmla="*/ 1610 w 1620"/>
                <a:gd name="T5" fmla="*/ 1096 h 1096"/>
                <a:gd name="T6" fmla="*/ 1620 w 1620"/>
                <a:gd name="T7" fmla="*/ 10 h 1096"/>
                <a:gd name="T8" fmla="*/ 816 w 1620"/>
                <a:gd name="T9" fmla="*/ 150 h 1096"/>
                <a:gd name="T10" fmla="*/ 848 w 1620"/>
                <a:gd name="T11" fmla="*/ 118 h 1096"/>
                <a:gd name="T12" fmla="*/ 940 w 1620"/>
                <a:gd name="T13" fmla="*/ 118 h 1096"/>
                <a:gd name="T14" fmla="*/ 972 w 1620"/>
                <a:gd name="T15" fmla="*/ 150 h 1096"/>
                <a:gd name="T16" fmla="*/ 972 w 1620"/>
                <a:gd name="T17" fmla="*/ 242 h 1096"/>
                <a:gd name="T18" fmla="*/ 956 w 1620"/>
                <a:gd name="T19" fmla="*/ 280 h 1096"/>
                <a:gd name="T20" fmla="*/ 894 w 1620"/>
                <a:gd name="T21" fmla="*/ 227 h 1096"/>
                <a:gd name="T22" fmla="*/ 832 w 1620"/>
                <a:gd name="T23" fmla="*/ 280 h 1096"/>
                <a:gd name="T24" fmla="*/ 816 w 1620"/>
                <a:gd name="T25" fmla="*/ 242 h 1096"/>
                <a:gd name="T26" fmla="*/ 816 w 1620"/>
                <a:gd name="T27" fmla="*/ 150 h 1096"/>
                <a:gd name="T28" fmla="*/ 260 w 1620"/>
                <a:gd name="T29" fmla="*/ 724 h 1096"/>
                <a:gd name="T30" fmla="*/ 228 w 1620"/>
                <a:gd name="T31" fmla="*/ 724 h 1096"/>
                <a:gd name="T32" fmla="*/ 136 w 1620"/>
                <a:gd name="T33" fmla="*/ 724 h 1096"/>
                <a:gd name="T34" fmla="*/ 104 w 1620"/>
                <a:gd name="T35" fmla="*/ 724 h 1096"/>
                <a:gd name="T36" fmla="*/ 151 w 1620"/>
                <a:gd name="T37" fmla="*/ 646 h 1096"/>
                <a:gd name="T38" fmla="*/ 104 w 1620"/>
                <a:gd name="T39" fmla="*/ 568 h 1096"/>
                <a:gd name="T40" fmla="*/ 182 w 1620"/>
                <a:gd name="T41" fmla="*/ 615 h 1096"/>
                <a:gd name="T42" fmla="*/ 260 w 1620"/>
                <a:gd name="T43" fmla="*/ 568 h 1096"/>
                <a:gd name="T44" fmla="*/ 213 w 1620"/>
                <a:gd name="T45" fmla="*/ 646 h 1096"/>
                <a:gd name="T46" fmla="*/ 641 w 1620"/>
                <a:gd name="T47" fmla="*/ 585 h 1096"/>
                <a:gd name="T48" fmla="*/ 549 w 1620"/>
                <a:gd name="T49" fmla="*/ 890 h 1096"/>
                <a:gd name="T50" fmla="*/ 546 w 1620"/>
                <a:gd name="T51" fmla="*/ 933 h 1096"/>
                <a:gd name="T52" fmla="*/ 406 w 1620"/>
                <a:gd name="T53" fmla="*/ 915 h 1096"/>
                <a:gd name="T54" fmla="*/ 405 w 1620"/>
                <a:gd name="T55" fmla="*/ 753 h 1096"/>
                <a:gd name="T56" fmla="*/ 448 w 1620"/>
                <a:gd name="T57" fmla="*/ 759 h 1096"/>
                <a:gd name="T58" fmla="*/ 597 w 1620"/>
                <a:gd name="T59" fmla="*/ 583 h 1096"/>
                <a:gd name="T60" fmla="*/ 432 w 1620"/>
                <a:gd name="T61" fmla="*/ 380 h 1096"/>
                <a:gd name="T62" fmla="*/ 432 w 1620"/>
                <a:gd name="T63" fmla="*/ 120 h 1096"/>
                <a:gd name="T64" fmla="*/ 540 w 1620"/>
                <a:gd name="T65" fmla="*/ 322 h 1096"/>
                <a:gd name="T66" fmla="*/ 1279 w 1620"/>
                <a:gd name="T67" fmla="*/ 382 h 1096"/>
                <a:gd name="T68" fmla="*/ 1171 w 1620"/>
                <a:gd name="T69" fmla="*/ 493 h 1096"/>
                <a:gd name="T70" fmla="*/ 1154 w 1620"/>
                <a:gd name="T71" fmla="*/ 456 h 1096"/>
                <a:gd name="T72" fmla="*/ 932 w 1620"/>
                <a:gd name="T73" fmla="*/ 518 h 1096"/>
                <a:gd name="T74" fmla="*/ 954 w 1620"/>
                <a:gd name="T75" fmla="*/ 778 h 1096"/>
                <a:gd name="T76" fmla="*/ 988 w 1620"/>
                <a:gd name="T77" fmla="*/ 959 h 1096"/>
                <a:gd name="T78" fmla="*/ 807 w 1620"/>
                <a:gd name="T79" fmla="*/ 993 h 1096"/>
                <a:gd name="T80" fmla="*/ 831 w 1620"/>
                <a:gd name="T81" fmla="*/ 766 h 1096"/>
                <a:gd name="T82" fmla="*/ 1205 w 1620"/>
                <a:gd name="T83" fmla="*/ 345 h 1096"/>
                <a:gd name="T84" fmla="*/ 1143 w 1620"/>
                <a:gd name="T85" fmla="*/ 261 h 1096"/>
                <a:gd name="T86" fmla="*/ 1278 w 1620"/>
                <a:gd name="T87" fmla="*/ 351 h 1096"/>
                <a:gd name="T88" fmla="*/ 1279 w 1620"/>
                <a:gd name="T89" fmla="*/ 382 h 1096"/>
                <a:gd name="T90" fmla="*/ 1433 w 1620"/>
                <a:gd name="T91" fmla="*/ 512 h 1096"/>
                <a:gd name="T92" fmla="*/ 1325 w 1620"/>
                <a:gd name="T93" fmla="*/ 308 h 1096"/>
                <a:gd name="T94" fmla="*/ 1560 w 1620"/>
                <a:gd name="T95" fmla="*/ 358 h 1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20" h="1096">
                  <a:moveTo>
                    <a:pt x="1610" y="0"/>
                  </a:moveTo>
                  <a:cubicBezTo>
                    <a:pt x="10" y="0"/>
                    <a:pt x="10" y="0"/>
                    <a:pt x="10" y="0"/>
                  </a:cubicBezTo>
                  <a:cubicBezTo>
                    <a:pt x="5" y="0"/>
                    <a:pt x="0" y="5"/>
                    <a:pt x="0" y="10"/>
                  </a:cubicBezTo>
                  <a:cubicBezTo>
                    <a:pt x="0" y="1086"/>
                    <a:pt x="0" y="1086"/>
                    <a:pt x="0" y="1086"/>
                  </a:cubicBezTo>
                  <a:cubicBezTo>
                    <a:pt x="0" y="1091"/>
                    <a:pt x="5" y="1096"/>
                    <a:pt x="10" y="1096"/>
                  </a:cubicBezTo>
                  <a:cubicBezTo>
                    <a:pt x="1610" y="1096"/>
                    <a:pt x="1610" y="1096"/>
                    <a:pt x="1610" y="1096"/>
                  </a:cubicBezTo>
                  <a:cubicBezTo>
                    <a:pt x="1615" y="1096"/>
                    <a:pt x="1620" y="1091"/>
                    <a:pt x="1620" y="1086"/>
                  </a:cubicBezTo>
                  <a:cubicBezTo>
                    <a:pt x="1620" y="10"/>
                    <a:pt x="1620" y="10"/>
                    <a:pt x="1620" y="10"/>
                  </a:cubicBezTo>
                  <a:cubicBezTo>
                    <a:pt x="1620" y="5"/>
                    <a:pt x="1615" y="0"/>
                    <a:pt x="1610" y="0"/>
                  </a:cubicBezTo>
                  <a:close/>
                  <a:moveTo>
                    <a:pt x="816" y="150"/>
                  </a:moveTo>
                  <a:cubicBezTo>
                    <a:pt x="808" y="141"/>
                    <a:pt x="808" y="127"/>
                    <a:pt x="816" y="118"/>
                  </a:cubicBezTo>
                  <a:cubicBezTo>
                    <a:pt x="825" y="110"/>
                    <a:pt x="839" y="110"/>
                    <a:pt x="848" y="118"/>
                  </a:cubicBezTo>
                  <a:cubicBezTo>
                    <a:pt x="894" y="165"/>
                    <a:pt x="894" y="165"/>
                    <a:pt x="894" y="165"/>
                  </a:cubicBezTo>
                  <a:cubicBezTo>
                    <a:pt x="940" y="118"/>
                    <a:pt x="940" y="118"/>
                    <a:pt x="940" y="118"/>
                  </a:cubicBezTo>
                  <a:cubicBezTo>
                    <a:pt x="949" y="110"/>
                    <a:pt x="963" y="110"/>
                    <a:pt x="972" y="118"/>
                  </a:cubicBezTo>
                  <a:cubicBezTo>
                    <a:pt x="980" y="127"/>
                    <a:pt x="980" y="141"/>
                    <a:pt x="972" y="150"/>
                  </a:cubicBezTo>
                  <a:cubicBezTo>
                    <a:pt x="925" y="196"/>
                    <a:pt x="925" y="196"/>
                    <a:pt x="925" y="196"/>
                  </a:cubicBezTo>
                  <a:cubicBezTo>
                    <a:pt x="972" y="242"/>
                    <a:pt x="972" y="242"/>
                    <a:pt x="972" y="242"/>
                  </a:cubicBezTo>
                  <a:cubicBezTo>
                    <a:pt x="980" y="251"/>
                    <a:pt x="980" y="265"/>
                    <a:pt x="972" y="274"/>
                  </a:cubicBezTo>
                  <a:cubicBezTo>
                    <a:pt x="967" y="278"/>
                    <a:pt x="962" y="280"/>
                    <a:pt x="956" y="280"/>
                  </a:cubicBezTo>
                  <a:cubicBezTo>
                    <a:pt x="950" y="280"/>
                    <a:pt x="945" y="278"/>
                    <a:pt x="940" y="274"/>
                  </a:cubicBezTo>
                  <a:cubicBezTo>
                    <a:pt x="894" y="227"/>
                    <a:pt x="894" y="227"/>
                    <a:pt x="894" y="227"/>
                  </a:cubicBezTo>
                  <a:cubicBezTo>
                    <a:pt x="848" y="274"/>
                    <a:pt x="848" y="274"/>
                    <a:pt x="848" y="274"/>
                  </a:cubicBezTo>
                  <a:cubicBezTo>
                    <a:pt x="843" y="278"/>
                    <a:pt x="838" y="280"/>
                    <a:pt x="832" y="280"/>
                  </a:cubicBezTo>
                  <a:cubicBezTo>
                    <a:pt x="826" y="280"/>
                    <a:pt x="821" y="278"/>
                    <a:pt x="816" y="274"/>
                  </a:cubicBezTo>
                  <a:cubicBezTo>
                    <a:pt x="808" y="265"/>
                    <a:pt x="808" y="251"/>
                    <a:pt x="816" y="242"/>
                  </a:cubicBezTo>
                  <a:cubicBezTo>
                    <a:pt x="863" y="196"/>
                    <a:pt x="863" y="196"/>
                    <a:pt x="863" y="196"/>
                  </a:cubicBezTo>
                  <a:lnTo>
                    <a:pt x="816" y="150"/>
                  </a:lnTo>
                  <a:close/>
                  <a:moveTo>
                    <a:pt x="260" y="692"/>
                  </a:moveTo>
                  <a:cubicBezTo>
                    <a:pt x="268" y="701"/>
                    <a:pt x="268" y="715"/>
                    <a:pt x="260" y="724"/>
                  </a:cubicBezTo>
                  <a:cubicBezTo>
                    <a:pt x="255" y="728"/>
                    <a:pt x="250" y="730"/>
                    <a:pt x="244" y="730"/>
                  </a:cubicBezTo>
                  <a:cubicBezTo>
                    <a:pt x="238" y="730"/>
                    <a:pt x="233" y="728"/>
                    <a:pt x="228" y="724"/>
                  </a:cubicBezTo>
                  <a:cubicBezTo>
                    <a:pt x="182" y="677"/>
                    <a:pt x="182" y="677"/>
                    <a:pt x="182" y="677"/>
                  </a:cubicBezTo>
                  <a:cubicBezTo>
                    <a:pt x="136" y="724"/>
                    <a:pt x="136" y="724"/>
                    <a:pt x="136" y="724"/>
                  </a:cubicBezTo>
                  <a:cubicBezTo>
                    <a:pt x="131" y="728"/>
                    <a:pt x="126" y="730"/>
                    <a:pt x="120" y="730"/>
                  </a:cubicBezTo>
                  <a:cubicBezTo>
                    <a:pt x="114" y="730"/>
                    <a:pt x="109" y="728"/>
                    <a:pt x="104" y="724"/>
                  </a:cubicBezTo>
                  <a:cubicBezTo>
                    <a:pt x="96" y="715"/>
                    <a:pt x="96" y="701"/>
                    <a:pt x="104" y="692"/>
                  </a:cubicBezTo>
                  <a:cubicBezTo>
                    <a:pt x="151" y="646"/>
                    <a:pt x="151" y="646"/>
                    <a:pt x="151" y="646"/>
                  </a:cubicBezTo>
                  <a:cubicBezTo>
                    <a:pt x="104" y="600"/>
                    <a:pt x="104" y="600"/>
                    <a:pt x="104" y="600"/>
                  </a:cubicBezTo>
                  <a:cubicBezTo>
                    <a:pt x="96" y="591"/>
                    <a:pt x="96" y="577"/>
                    <a:pt x="104" y="568"/>
                  </a:cubicBezTo>
                  <a:cubicBezTo>
                    <a:pt x="113" y="560"/>
                    <a:pt x="127" y="560"/>
                    <a:pt x="136" y="568"/>
                  </a:cubicBezTo>
                  <a:cubicBezTo>
                    <a:pt x="182" y="615"/>
                    <a:pt x="182" y="615"/>
                    <a:pt x="182" y="615"/>
                  </a:cubicBezTo>
                  <a:cubicBezTo>
                    <a:pt x="228" y="568"/>
                    <a:pt x="228" y="568"/>
                    <a:pt x="228" y="568"/>
                  </a:cubicBezTo>
                  <a:cubicBezTo>
                    <a:pt x="237" y="560"/>
                    <a:pt x="251" y="560"/>
                    <a:pt x="260" y="568"/>
                  </a:cubicBezTo>
                  <a:cubicBezTo>
                    <a:pt x="268" y="577"/>
                    <a:pt x="268" y="591"/>
                    <a:pt x="260" y="600"/>
                  </a:cubicBezTo>
                  <a:cubicBezTo>
                    <a:pt x="213" y="646"/>
                    <a:pt x="213" y="646"/>
                    <a:pt x="213" y="646"/>
                  </a:cubicBezTo>
                  <a:lnTo>
                    <a:pt x="260" y="692"/>
                  </a:lnTo>
                  <a:close/>
                  <a:moveTo>
                    <a:pt x="641" y="585"/>
                  </a:moveTo>
                  <a:cubicBezTo>
                    <a:pt x="635" y="689"/>
                    <a:pt x="577" y="788"/>
                    <a:pt x="469" y="879"/>
                  </a:cubicBezTo>
                  <a:cubicBezTo>
                    <a:pt x="549" y="890"/>
                    <a:pt x="549" y="890"/>
                    <a:pt x="549" y="890"/>
                  </a:cubicBezTo>
                  <a:cubicBezTo>
                    <a:pt x="561" y="891"/>
                    <a:pt x="569" y="902"/>
                    <a:pt x="568" y="914"/>
                  </a:cubicBezTo>
                  <a:cubicBezTo>
                    <a:pt x="566" y="925"/>
                    <a:pt x="557" y="933"/>
                    <a:pt x="546" y="933"/>
                  </a:cubicBezTo>
                  <a:cubicBezTo>
                    <a:pt x="545" y="933"/>
                    <a:pt x="544" y="933"/>
                    <a:pt x="543" y="933"/>
                  </a:cubicBezTo>
                  <a:cubicBezTo>
                    <a:pt x="406" y="915"/>
                    <a:pt x="406" y="915"/>
                    <a:pt x="406" y="915"/>
                  </a:cubicBezTo>
                  <a:cubicBezTo>
                    <a:pt x="394" y="914"/>
                    <a:pt x="385" y="903"/>
                    <a:pt x="387" y="891"/>
                  </a:cubicBezTo>
                  <a:cubicBezTo>
                    <a:pt x="405" y="753"/>
                    <a:pt x="405" y="753"/>
                    <a:pt x="405" y="753"/>
                  </a:cubicBezTo>
                  <a:cubicBezTo>
                    <a:pt x="406" y="741"/>
                    <a:pt x="417" y="733"/>
                    <a:pt x="429" y="735"/>
                  </a:cubicBezTo>
                  <a:cubicBezTo>
                    <a:pt x="442" y="736"/>
                    <a:pt x="450" y="747"/>
                    <a:pt x="448" y="759"/>
                  </a:cubicBezTo>
                  <a:cubicBezTo>
                    <a:pt x="437" y="849"/>
                    <a:pt x="437" y="849"/>
                    <a:pt x="437" y="849"/>
                  </a:cubicBezTo>
                  <a:cubicBezTo>
                    <a:pt x="537" y="765"/>
                    <a:pt x="591" y="676"/>
                    <a:pt x="597" y="583"/>
                  </a:cubicBezTo>
                  <a:cubicBezTo>
                    <a:pt x="604" y="466"/>
                    <a:pt x="531" y="377"/>
                    <a:pt x="510" y="354"/>
                  </a:cubicBezTo>
                  <a:cubicBezTo>
                    <a:pt x="488" y="370"/>
                    <a:pt x="461" y="380"/>
                    <a:pt x="432" y="380"/>
                  </a:cubicBezTo>
                  <a:cubicBezTo>
                    <a:pt x="360" y="380"/>
                    <a:pt x="302" y="322"/>
                    <a:pt x="302" y="250"/>
                  </a:cubicBezTo>
                  <a:cubicBezTo>
                    <a:pt x="302" y="178"/>
                    <a:pt x="360" y="120"/>
                    <a:pt x="432" y="120"/>
                  </a:cubicBezTo>
                  <a:cubicBezTo>
                    <a:pt x="504" y="120"/>
                    <a:pt x="562" y="178"/>
                    <a:pt x="562" y="250"/>
                  </a:cubicBezTo>
                  <a:cubicBezTo>
                    <a:pt x="562" y="276"/>
                    <a:pt x="554" y="301"/>
                    <a:pt x="540" y="322"/>
                  </a:cubicBezTo>
                  <a:cubicBezTo>
                    <a:pt x="563" y="345"/>
                    <a:pt x="649" y="447"/>
                    <a:pt x="641" y="585"/>
                  </a:cubicBezTo>
                  <a:close/>
                  <a:moveTo>
                    <a:pt x="1279" y="382"/>
                  </a:moveTo>
                  <a:cubicBezTo>
                    <a:pt x="1187" y="485"/>
                    <a:pt x="1187" y="485"/>
                    <a:pt x="1187" y="485"/>
                  </a:cubicBezTo>
                  <a:cubicBezTo>
                    <a:pt x="1183" y="490"/>
                    <a:pt x="1177" y="493"/>
                    <a:pt x="1171" y="493"/>
                  </a:cubicBezTo>
                  <a:cubicBezTo>
                    <a:pt x="1165" y="493"/>
                    <a:pt x="1160" y="491"/>
                    <a:pt x="1156" y="487"/>
                  </a:cubicBezTo>
                  <a:cubicBezTo>
                    <a:pt x="1147" y="479"/>
                    <a:pt x="1146" y="465"/>
                    <a:pt x="1154" y="456"/>
                  </a:cubicBezTo>
                  <a:cubicBezTo>
                    <a:pt x="1215" y="388"/>
                    <a:pt x="1215" y="388"/>
                    <a:pt x="1215" y="388"/>
                  </a:cubicBezTo>
                  <a:cubicBezTo>
                    <a:pt x="1084" y="401"/>
                    <a:pt x="989" y="444"/>
                    <a:pt x="932" y="518"/>
                  </a:cubicBezTo>
                  <a:cubicBezTo>
                    <a:pt x="861" y="610"/>
                    <a:pt x="870" y="725"/>
                    <a:pt x="875" y="756"/>
                  </a:cubicBezTo>
                  <a:cubicBezTo>
                    <a:pt x="902" y="755"/>
                    <a:pt x="930" y="762"/>
                    <a:pt x="954" y="778"/>
                  </a:cubicBezTo>
                  <a:cubicBezTo>
                    <a:pt x="983" y="798"/>
                    <a:pt x="1002" y="828"/>
                    <a:pt x="1008" y="862"/>
                  </a:cubicBezTo>
                  <a:cubicBezTo>
                    <a:pt x="1015" y="896"/>
                    <a:pt x="1008" y="930"/>
                    <a:pt x="988" y="959"/>
                  </a:cubicBezTo>
                  <a:cubicBezTo>
                    <a:pt x="963" y="996"/>
                    <a:pt x="922" y="1016"/>
                    <a:pt x="881" y="1016"/>
                  </a:cubicBezTo>
                  <a:cubicBezTo>
                    <a:pt x="855" y="1016"/>
                    <a:pt x="830" y="1008"/>
                    <a:pt x="807" y="993"/>
                  </a:cubicBezTo>
                  <a:cubicBezTo>
                    <a:pt x="748" y="953"/>
                    <a:pt x="733" y="872"/>
                    <a:pt x="773" y="812"/>
                  </a:cubicBezTo>
                  <a:cubicBezTo>
                    <a:pt x="788" y="791"/>
                    <a:pt x="809" y="775"/>
                    <a:pt x="831" y="766"/>
                  </a:cubicBezTo>
                  <a:cubicBezTo>
                    <a:pt x="826" y="733"/>
                    <a:pt x="812" y="601"/>
                    <a:pt x="897" y="491"/>
                  </a:cubicBezTo>
                  <a:cubicBezTo>
                    <a:pt x="961" y="409"/>
                    <a:pt x="1065" y="360"/>
                    <a:pt x="1205" y="345"/>
                  </a:cubicBezTo>
                  <a:cubicBezTo>
                    <a:pt x="1145" y="292"/>
                    <a:pt x="1145" y="292"/>
                    <a:pt x="1145" y="292"/>
                  </a:cubicBezTo>
                  <a:cubicBezTo>
                    <a:pt x="1136" y="284"/>
                    <a:pt x="1135" y="270"/>
                    <a:pt x="1143" y="261"/>
                  </a:cubicBezTo>
                  <a:cubicBezTo>
                    <a:pt x="1151" y="252"/>
                    <a:pt x="1165" y="251"/>
                    <a:pt x="1174" y="259"/>
                  </a:cubicBezTo>
                  <a:cubicBezTo>
                    <a:pt x="1278" y="351"/>
                    <a:pt x="1278" y="351"/>
                    <a:pt x="1278" y="351"/>
                  </a:cubicBezTo>
                  <a:cubicBezTo>
                    <a:pt x="1282" y="355"/>
                    <a:pt x="1285" y="361"/>
                    <a:pt x="1285" y="366"/>
                  </a:cubicBezTo>
                  <a:cubicBezTo>
                    <a:pt x="1285" y="372"/>
                    <a:pt x="1283" y="378"/>
                    <a:pt x="1279" y="382"/>
                  </a:cubicBezTo>
                  <a:close/>
                  <a:moveTo>
                    <a:pt x="1540" y="455"/>
                  </a:moveTo>
                  <a:cubicBezTo>
                    <a:pt x="1515" y="492"/>
                    <a:pt x="1474" y="512"/>
                    <a:pt x="1433" y="512"/>
                  </a:cubicBezTo>
                  <a:cubicBezTo>
                    <a:pt x="1407" y="512"/>
                    <a:pt x="1382" y="504"/>
                    <a:pt x="1359" y="489"/>
                  </a:cubicBezTo>
                  <a:cubicBezTo>
                    <a:pt x="1300" y="449"/>
                    <a:pt x="1285" y="368"/>
                    <a:pt x="1325" y="308"/>
                  </a:cubicBezTo>
                  <a:cubicBezTo>
                    <a:pt x="1366" y="249"/>
                    <a:pt x="1447" y="234"/>
                    <a:pt x="1506" y="274"/>
                  </a:cubicBezTo>
                  <a:cubicBezTo>
                    <a:pt x="1535" y="294"/>
                    <a:pt x="1554" y="324"/>
                    <a:pt x="1560" y="358"/>
                  </a:cubicBezTo>
                  <a:cubicBezTo>
                    <a:pt x="1567" y="392"/>
                    <a:pt x="1560" y="426"/>
                    <a:pt x="1540" y="455"/>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490" name="TB490"/>
          <p:cNvSpPr txBox="1"/>
          <p:nvPr/>
        </p:nvSpPr>
        <p:spPr>
          <a:xfrm>
            <a:off x="1225295" y="5173218"/>
            <a:ext cx="1935480" cy="219456"/>
          </a:xfrm>
          <a:prstGeom prst="rect">
            <a:avLst/>
          </a:prstGeom>
          <a:noFill/>
        </p:spPr>
        <p:txBody>
          <a:bodyPr wrap="square" rtlCol="0" anchor="t"/>
          <a:lstStyle/>
          <a:p>
            <a:r>
              <a:rPr lang="en-US" sz="1100" b="1" dirty="0">
                <a:solidFill>
                  <a:srgbClr val="575757"/>
                </a:solidFill>
                <a:latin typeface="Trebuchet MS"/>
              </a:rPr>
              <a:t>4. Specialty Mix</a:t>
            </a:r>
          </a:p>
        </p:txBody>
      </p:sp>
      <p:sp>
        <p:nvSpPr>
          <p:cNvPr id="491" name="TB491"/>
          <p:cNvSpPr txBox="1"/>
          <p:nvPr/>
        </p:nvSpPr>
        <p:spPr>
          <a:xfrm>
            <a:off x="1225295" y="5410962"/>
            <a:ext cx="1935480" cy="477774"/>
          </a:xfrm>
          <a:prstGeom prst="rect">
            <a:avLst/>
          </a:prstGeom>
          <a:noFill/>
        </p:spPr>
        <p:txBody>
          <a:bodyPr wrap="square" rtlCol="0" anchor="t"/>
          <a:lstStyle/>
          <a:p>
            <a:r>
              <a:rPr lang="en-US" sz="1000" dirty="0">
                <a:solidFill>
                  <a:srgbClr val="575757"/>
                </a:solidFill>
                <a:latin typeface="Trebuchet MS"/>
              </a:rPr>
              <a:t>Onco/peds/cardiac mix 38% → 52% of revenue</a:t>
            </a:r>
          </a:p>
        </p:txBody>
      </p:sp>
      <p:sp>
        <p:nvSpPr>
          <p:cNvPr id="492" name="R492"/>
          <p:cNvSpPr/>
          <p:nvPr/>
        </p:nvSpPr>
        <p:spPr>
          <a:xfrm>
            <a:off x="3252216" y="5173218"/>
            <a:ext cx="868680" cy="697230"/>
          </a:xfrm>
          <a:prstGeom prst="rect">
            <a:avLst/>
          </a:prstGeom>
          <a:solidFill>
            <a:srgbClr val="03522D"/>
          </a:solidFill>
          <a:ln>
            <a:noFill/>
          </a:ln>
        </p:spPr>
        <p:txBody>
          <a:bodyPr/>
          <a:lstStyle/>
          <a:p>
            <a:endParaRPr lang="en-US"/>
          </a:p>
        </p:txBody>
      </p:sp>
      <p:sp>
        <p:nvSpPr>
          <p:cNvPr id="493" name="TB493"/>
          <p:cNvSpPr txBox="1"/>
          <p:nvPr/>
        </p:nvSpPr>
        <p:spPr>
          <a:xfrm>
            <a:off x="3252216" y="5173218"/>
            <a:ext cx="868680" cy="697230"/>
          </a:xfrm>
          <a:prstGeom prst="rect">
            <a:avLst/>
          </a:prstGeom>
          <a:solidFill>
            <a:srgbClr val="242852"/>
          </a:solidFill>
        </p:spPr>
        <p:txBody>
          <a:bodyPr wrap="square" rtlCol="0" anchor="ctr"/>
          <a:lstStyle/>
          <a:p>
            <a:pPr algn="ctr"/>
            <a:r>
              <a:rPr lang="en-US" sz="1200" b="1" dirty="0">
                <a:solidFill>
                  <a:srgbClr val="FFFFFF"/>
                </a:solidFill>
                <a:latin typeface="Trebuchet MS"/>
              </a:rPr>
              <a:t>₹780 Cr</a:t>
            </a:r>
          </a:p>
        </p:txBody>
      </p:sp>
      <p:sp>
        <p:nvSpPr>
          <p:cNvPr id="494" name="RR494"/>
          <p:cNvSpPr/>
          <p:nvPr/>
        </p:nvSpPr>
        <p:spPr>
          <a:xfrm>
            <a:off x="4331208" y="5100066"/>
            <a:ext cx="3535680" cy="84353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495" name="R495"/>
          <p:cNvSpPr/>
          <p:nvPr/>
        </p:nvSpPr>
        <p:spPr>
          <a:xfrm>
            <a:off x="4331208" y="5100066"/>
            <a:ext cx="73152" cy="843534"/>
          </a:xfrm>
          <a:prstGeom prst="rect">
            <a:avLst/>
          </a:prstGeom>
          <a:solidFill>
            <a:srgbClr val="295E7E"/>
          </a:solidFill>
          <a:ln>
            <a:noFill/>
          </a:ln>
        </p:spPr>
        <p:txBody>
          <a:bodyPr/>
          <a:lstStyle/>
          <a:p>
            <a:endParaRPr lang="en-US"/>
          </a:p>
        </p:txBody>
      </p:sp>
      <p:sp>
        <p:nvSpPr>
          <p:cNvPr id="496" name="O496"/>
          <p:cNvSpPr/>
          <p:nvPr/>
        </p:nvSpPr>
        <p:spPr>
          <a:xfrm>
            <a:off x="4422647" y="5316093"/>
            <a:ext cx="411480" cy="411480"/>
          </a:xfrm>
          <a:prstGeom prst="ellipse">
            <a:avLst/>
          </a:prstGeom>
          <a:solidFill>
            <a:srgbClr val="295E7E"/>
          </a:solidFill>
          <a:ln>
            <a:noFill/>
          </a:ln>
        </p:spPr>
        <p:txBody>
          <a:bodyPr/>
          <a:lstStyle/>
          <a:p>
            <a:endParaRPr lang="en-US"/>
          </a:p>
        </p:txBody>
      </p:sp>
      <p:grpSp>
        <p:nvGrpSpPr>
          <p:cNvPr id="497" name="bcgIcons_DigitalGrowth">
            <a:extLst>
              <a:ext uri="{FF2B5EF4-FFF2-40B4-BE49-F238E27FC236}">
                <a16:creationId xmlns:a16="http://schemas.microsoft.com/office/drawing/2014/main" id="{CC6AF3DC-4362-463B-8BF3-FA97E6C8BAEC}"/>
              </a:ext>
            </a:extLst>
          </p:cNvPr>
          <p:cNvGrpSpPr>
            <a:grpSpLocks noChangeAspect="1"/>
          </p:cNvGrpSpPr>
          <p:nvPr/>
        </p:nvGrpSpPr>
        <p:grpSpPr bwMode="auto">
          <a:xfrm>
            <a:off x="4450080" y="5361813"/>
            <a:ext cx="319743" cy="320040"/>
            <a:chOff x="1682" y="0"/>
            <a:chExt cx="4316" cy="4320"/>
          </a:xfrm>
        </p:grpSpPr>
        <p:sp>
          <p:nvSpPr>
            <p:cNvPr id="498" name="AutoShape 19">
              <a:extLst>
                <a:ext uri="{FF2B5EF4-FFF2-40B4-BE49-F238E27FC236}">
                  <a16:creationId xmlns:a16="http://schemas.microsoft.com/office/drawing/2014/main" id="{841594D9-E815-4368-AC56-677E0B2B65FF}"/>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9" name="Freeform 21">
              <a:extLst>
                <a:ext uri="{FF2B5EF4-FFF2-40B4-BE49-F238E27FC236}">
                  <a16:creationId xmlns:a16="http://schemas.microsoft.com/office/drawing/2014/main" id="{EEA49B44-169A-4E61-98CF-BF2B6A1757B5}"/>
                </a:ext>
              </a:extLst>
            </p:cNvPr>
            <p:cNvSpPr>
              <a:spLocks/>
            </p:cNvSpPr>
            <p:nvPr/>
          </p:nvSpPr>
          <p:spPr bwMode="auto">
            <a:xfrm>
              <a:off x="2326" y="587"/>
              <a:ext cx="3095" cy="3099"/>
            </a:xfrm>
            <a:custGeom>
              <a:avLst/>
              <a:gdLst>
                <a:gd name="T0" fmla="*/ 1526 w 1652"/>
                <a:gd name="T1" fmla="*/ 1 h 1653"/>
                <a:gd name="T2" fmla="*/ 1253 w 1652"/>
                <a:gd name="T3" fmla="*/ 586 h 1653"/>
                <a:gd name="T4" fmla="*/ 1343 w 1652"/>
                <a:gd name="T5" fmla="*/ 307 h 1653"/>
                <a:gd name="T6" fmla="*/ 1545 w 1652"/>
                <a:gd name="T7" fmla="*/ 307 h 1653"/>
                <a:gd name="T8" fmla="*/ 1444 w 1652"/>
                <a:gd name="T9" fmla="*/ 551 h 1653"/>
                <a:gd name="T10" fmla="*/ 1271 w 1652"/>
                <a:gd name="T11" fmla="*/ 630 h 1653"/>
                <a:gd name="T12" fmla="*/ 544 w 1652"/>
                <a:gd name="T13" fmla="*/ 983 h 1653"/>
                <a:gd name="T14" fmla="*/ 429 w 1652"/>
                <a:gd name="T15" fmla="*/ 1210 h 1653"/>
                <a:gd name="T16" fmla="*/ 286 w 1652"/>
                <a:gd name="T17" fmla="*/ 1067 h 1653"/>
                <a:gd name="T18" fmla="*/ 429 w 1652"/>
                <a:gd name="T19" fmla="*/ 924 h 1653"/>
                <a:gd name="T20" fmla="*/ 1463 w 1652"/>
                <a:gd name="T21" fmla="*/ 1 h 1653"/>
                <a:gd name="T22" fmla="*/ 869 w 1652"/>
                <a:gd name="T23" fmla="*/ 41 h 1653"/>
                <a:gd name="T24" fmla="*/ 764 w 1652"/>
                <a:gd name="T25" fmla="*/ 275 h 1653"/>
                <a:gd name="T26" fmla="*/ 0 w 1652"/>
                <a:gd name="T27" fmla="*/ 962 h 1653"/>
                <a:gd name="T28" fmla="*/ 139 w 1652"/>
                <a:gd name="T29" fmla="*/ 1157 h 1653"/>
                <a:gd name="T30" fmla="*/ 495 w 1652"/>
                <a:gd name="T31" fmla="*/ 579 h 1653"/>
                <a:gd name="T32" fmla="*/ 510 w 1652"/>
                <a:gd name="T33" fmla="*/ 394 h 1653"/>
                <a:gd name="T34" fmla="*/ 712 w 1652"/>
                <a:gd name="T35" fmla="*/ 596 h 1653"/>
                <a:gd name="T36" fmla="*/ 527 w 1652"/>
                <a:gd name="T37" fmla="*/ 610 h 1653"/>
                <a:gd name="T38" fmla="*/ 186 w 1652"/>
                <a:gd name="T39" fmla="*/ 1172 h 1653"/>
                <a:gd name="T40" fmla="*/ 691 w 1652"/>
                <a:gd name="T41" fmla="*/ 1653 h 1653"/>
                <a:gd name="T42" fmla="*/ 955 w 1652"/>
                <a:gd name="T43" fmla="*/ 1412 h 1653"/>
                <a:gd name="T44" fmla="*/ 769 w 1652"/>
                <a:gd name="T45" fmla="*/ 1338 h 1653"/>
                <a:gd name="T46" fmla="*/ 627 w 1652"/>
                <a:gd name="T47" fmla="*/ 1195 h 1653"/>
                <a:gd name="T48" fmla="*/ 870 w 1652"/>
                <a:gd name="T49" fmla="*/ 1094 h 1653"/>
                <a:gd name="T50" fmla="*/ 973 w 1652"/>
                <a:gd name="T51" fmla="*/ 1367 h 1653"/>
                <a:gd name="T52" fmla="*/ 1346 w 1652"/>
                <a:gd name="T53" fmla="*/ 1183 h 1653"/>
                <a:gd name="T54" fmla="*/ 1072 w 1652"/>
                <a:gd name="T55" fmla="*/ 1091 h 1653"/>
                <a:gd name="T56" fmla="*/ 887 w 1652"/>
                <a:gd name="T57" fmla="*/ 1077 h 1653"/>
                <a:gd name="T58" fmla="*/ 1089 w 1652"/>
                <a:gd name="T59" fmla="*/ 875 h 1653"/>
                <a:gd name="T60" fmla="*/ 1192 w 1652"/>
                <a:gd name="T61" fmla="*/ 1148 h 1653"/>
                <a:gd name="T62" fmla="*/ 1382 w 1652"/>
                <a:gd name="T63" fmla="*/ 962 h 1653"/>
                <a:gd name="T64" fmla="*/ 1546 w 1652"/>
                <a:gd name="T65" fmla="*/ 718 h 1653"/>
                <a:gd name="T66" fmla="*/ 1649 w 1652"/>
                <a:gd name="T67" fmla="*/ 768 h 1653"/>
                <a:gd name="T68" fmla="*/ 1629 w 1652"/>
                <a:gd name="T69" fmla="*/ 0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52" h="1653">
                  <a:moveTo>
                    <a:pt x="1629" y="0"/>
                  </a:moveTo>
                  <a:cubicBezTo>
                    <a:pt x="1526" y="1"/>
                    <a:pt x="1526" y="1"/>
                    <a:pt x="1526" y="1"/>
                  </a:cubicBezTo>
                  <a:cubicBezTo>
                    <a:pt x="941" y="586"/>
                    <a:pt x="941" y="586"/>
                    <a:pt x="941" y="586"/>
                  </a:cubicBezTo>
                  <a:cubicBezTo>
                    <a:pt x="1253" y="586"/>
                    <a:pt x="1253" y="586"/>
                    <a:pt x="1253" y="586"/>
                  </a:cubicBezTo>
                  <a:cubicBezTo>
                    <a:pt x="1337" y="502"/>
                    <a:pt x="1337" y="502"/>
                    <a:pt x="1337" y="502"/>
                  </a:cubicBezTo>
                  <a:cubicBezTo>
                    <a:pt x="1287" y="446"/>
                    <a:pt x="1290" y="361"/>
                    <a:pt x="1343" y="307"/>
                  </a:cubicBezTo>
                  <a:cubicBezTo>
                    <a:pt x="1343" y="307"/>
                    <a:pt x="1343" y="307"/>
                    <a:pt x="1343" y="307"/>
                  </a:cubicBezTo>
                  <a:cubicBezTo>
                    <a:pt x="1399" y="252"/>
                    <a:pt x="1489" y="252"/>
                    <a:pt x="1545" y="307"/>
                  </a:cubicBezTo>
                  <a:cubicBezTo>
                    <a:pt x="1600" y="363"/>
                    <a:pt x="1600" y="454"/>
                    <a:pt x="1545" y="509"/>
                  </a:cubicBezTo>
                  <a:cubicBezTo>
                    <a:pt x="1517" y="537"/>
                    <a:pt x="1480" y="551"/>
                    <a:pt x="1444" y="551"/>
                  </a:cubicBezTo>
                  <a:cubicBezTo>
                    <a:pt x="1418" y="551"/>
                    <a:pt x="1393" y="544"/>
                    <a:pt x="1370" y="531"/>
                  </a:cubicBezTo>
                  <a:cubicBezTo>
                    <a:pt x="1271" y="630"/>
                    <a:pt x="1271" y="630"/>
                    <a:pt x="1271" y="630"/>
                  </a:cubicBezTo>
                  <a:cubicBezTo>
                    <a:pt x="897" y="630"/>
                    <a:pt x="897" y="630"/>
                    <a:pt x="897" y="630"/>
                  </a:cubicBezTo>
                  <a:cubicBezTo>
                    <a:pt x="544" y="983"/>
                    <a:pt x="544" y="983"/>
                    <a:pt x="544" y="983"/>
                  </a:cubicBezTo>
                  <a:cubicBezTo>
                    <a:pt x="585" y="1039"/>
                    <a:pt x="580" y="1117"/>
                    <a:pt x="530" y="1168"/>
                  </a:cubicBezTo>
                  <a:cubicBezTo>
                    <a:pt x="503" y="1195"/>
                    <a:pt x="467" y="1210"/>
                    <a:pt x="429" y="1210"/>
                  </a:cubicBezTo>
                  <a:cubicBezTo>
                    <a:pt x="391" y="1210"/>
                    <a:pt x="355" y="1195"/>
                    <a:pt x="328" y="1168"/>
                  </a:cubicBezTo>
                  <a:cubicBezTo>
                    <a:pt x="301" y="1141"/>
                    <a:pt x="286" y="1105"/>
                    <a:pt x="286" y="1067"/>
                  </a:cubicBezTo>
                  <a:cubicBezTo>
                    <a:pt x="286" y="1029"/>
                    <a:pt x="301" y="993"/>
                    <a:pt x="328" y="966"/>
                  </a:cubicBezTo>
                  <a:cubicBezTo>
                    <a:pt x="355" y="939"/>
                    <a:pt x="391" y="924"/>
                    <a:pt x="429" y="924"/>
                  </a:cubicBezTo>
                  <a:cubicBezTo>
                    <a:pt x="459" y="924"/>
                    <a:pt x="489" y="934"/>
                    <a:pt x="513" y="952"/>
                  </a:cubicBezTo>
                  <a:cubicBezTo>
                    <a:pt x="1463" y="1"/>
                    <a:pt x="1463" y="1"/>
                    <a:pt x="1463" y="1"/>
                  </a:cubicBezTo>
                  <a:cubicBezTo>
                    <a:pt x="884" y="3"/>
                    <a:pt x="884" y="3"/>
                    <a:pt x="884" y="3"/>
                  </a:cubicBezTo>
                  <a:cubicBezTo>
                    <a:pt x="865" y="3"/>
                    <a:pt x="855" y="27"/>
                    <a:pt x="869" y="41"/>
                  </a:cubicBezTo>
                  <a:cubicBezTo>
                    <a:pt x="933" y="106"/>
                    <a:pt x="933" y="106"/>
                    <a:pt x="933" y="106"/>
                  </a:cubicBezTo>
                  <a:cubicBezTo>
                    <a:pt x="764" y="275"/>
                    <a:pt x="764" y="275"/>
                    <a:pt x="764" y="275"/>
                  </a:cubicBezTo>
                  <a:cubicBezTo>
                    <a:pt x="740" y="273"/>
                    <a:pt x="716" y="272"/>
                    <a:pt x="691" y="272"/>
                  </a:cubicBezTo>
                  <a:cubicBezTo>
                    <a:pt x="310" y="272"/>
                    <a:pt x="0" y="581"/>
                    <a:pt x="0" y="962"/>
                  </a:cubicBezTo>
                  <a:cubicBezTo>
                    <a:pt x="0" y="1060"/>
                    <a:pt x="21" y="1153"/>
                    <a:pt x="58" y="1238"/>
                  </a:cubicBezTo>
                  <a:cubicBezTo>
                    <a:pt x="139" y="1157"/>
                    <a:pt x="139" y="1157"/>
                    <a:pt x="139" y="1157"/>
                  </a:cubicBezTo>
                  <a:cubicBezTo>
                    <a:pt x="111" y="964"/>
                    <a:pt x="111" y="964"/>
                    <a:pt x="111" y="964"/>
                  </a:cubicBezTo>
                  <a:cubicBezTo>
                    <a:pt x="495" y="579"/>
                    <a:pt x="495" y="579"/>
                    <a:pt x="495" y="579"/>
                  </a:cubicBezTo>
                  <a:cubicBezTo>
                    <a:pt x="478" y="555"/>
                    <a:pt x="468" y="526"/>
                    <a:pt x="468" y="495"/>
                  </a:cubicBezTo>
                  <a:cubicBezTo>
                    <a:pt x="468" y="457"/>
                    <a:pt x="483" y="421"/>
                    <a:pt x="510" y="394"/>
                  </a:cubicBezTo>
                  <a:cubicBezTo>
                    <a:pt x="565" y="339"/>
                    <a:pt x="656" y="339"/>
                    <a:pt x="712" y="394"/>
                  </a:cubicBezTo>
                  <a:cubicBezTo>
                    <a:pt x="767" y="450"/>
                    <a:pt x="767" y="540"/>
                    <a:pt x="712" y="596"/>
                  </a:cubicBezTo>
                  <a:cubicBezTo>
                    <a:pt x="684" y="624"/>
                    <a:pt x="647" y="638"/>
                    <a:pt x="611" y="638"/>
                  </a:cubicBezTo>
                  <a:cubicBezTo>
                    <a:pt x="581" y="638"/>
                    <a:pt x="552" y="629"/>
                    <a:pt x="527" y="610"/>
                  </a:cubicBezTo>
                  <a:cubicBezTo>
                    <a:pt x="157" y="980"/>
                    <a:pt x="157" y="980"/>
                    <a:pt x="157" y="980"/>
                  </a:cubicBezTo>
                  <a:cubicBezTo>
                    <a:pt x="186" y="1172"/>
                    <a:pt x="186" y="1172"/>
                    <a:pt x="186" y="1172"/>
                  </a:cubicBezTo>
                  <a:cubicBezTo>
                    <a:pt x="78" y="1280"/>
                    <a:pt x="78" y="1280"/>
                    <a:pt x="78" y="1280"/>
                  </a:cubicBezTo>
                  <a:cubicBezTo>
                    <a:pt x="193" y="1501"/>
                    <a:pt x="425" y="1653"/>
                    <a:pt x="691" y="1653"/>
                  </a:cubicBezTo>
                  <a:cubicBezTo>
                    <a:pt x="905" y="1653"/>
                    <a:pt x="1097" y="1555"/>
                    <a:pt x="1223" y="1402"/>
                  </a:cubicBezTo>
                  <a:cubicBezTo>
                    <a:pt x="955" y="1412"/>
                    <a:pt x="955" y="1412"/>
                    <a:pt x="955" y="1412"/>
                  </a:cubicBezTo>
                  <a:cubicBezTo>
                    <a:pt x="853" y="1310"/>
                    <a:pt x="853" y="1310"/>
                    <a:pt x="853" y="1310"/>
                  </a:cubicBezTo>
                  <a:cubicBezTo>
                    <a:pt x="828" y="1328"/>
                    <a:pt x="799" y="1338"/>
                    <a:pt x="769" y="1338"/>
                  </a:cubicBezTo>
                  <a:cubicBezTo>
                    <a:pt x="733" y="1338"/>
                    <a:pt x="696" y="1324"/>
                    <a:pt x="668" y="1296"/>
                  </a:cubicBezTo>
                  <a:cubicBezTo>
                    <a:pt x="641" y="1269"/>
                    <a:pt x="627" y="1233"/>
                    <a:pt x="627" y="1195"/>
                  </a:cubicBezTo>
                  <a:cubicBezTo>
                    <a:pt x="627" y="1157"/>
                    <a:pt x="641" y="1121"/>
                    <a:pt x="668" y="1094"/>
                  </a:cubicBezTo>
                  <a:cubicBezTo>
                    <a:pt x="724" y="1038"/>
                    <a:pt x="815" y="1038"/>
                    <a:pt x="870" y="1094"/>
                  </a:cubicBezTo>
                  <a:cubicBezTo>
                    <a:pt x="920" y="1144"/>
                    <a:pt x="925" y="1223"/>
                    <a:pt x="884" y="1279"/>
                  </a:cubicBezTo>
                  <a:cubicBezTo>
                    <a:pt x="973" y="1367"/>
                    <a:pt x="973" y="1367"/>
                    <a:pt x="973" y="1367"/>
                  </a:cubicBezTo>
                  <a:cubicBezTo>
                    <a:pt x="1258" y="1357"/>
                    <a:pt x="1258" y="1357"/>
                    <a:pt x="1258" y="1357"/>
                  </a:cubicBezTo>
                  <a:cubicBezTo>
                    <a:pt x="1295" y="1304"/>
                    <a:pt x="1324" y="1246"/>
                    <a:pt x="1346" y="1183"/>
                  </a:cubicBezTo>
                  <a:cubicBezTo>
                    <a:pt x="1175" y="1193"/>
                    <a:pt x="1175" y="1193"/>
                    <a:pt x="1175" y="1193"/>
                  </a:cubicBezTo>
                  <a:cubicBezTo>
                    <a:pt x="1072" y="1091"/>
                    <a:pt x="1072" y="1091"/>
                    <a:pt x="1072" y="1091"/>
                  </a:cubicBezTo>
                  <a:cubicBezTo>
                    <a:pt x="1048" y="1109"/>
                    <a:pt x="1019" y="1119"/>
                    <a:pt x="988" y="1119"/>
                  </a:cubicBezTo>
                  <a:cubicBezTo>
                    <a:pt x="950" y="1119"/>
                    <a:pt x="914" y="1104"/>
                    <a:pt x="887" y="1077"/>
                  </a:cubicBezTo>
                  <a:cubicBezTo>
                    <a:pt x="832" y="1021"/>
                    <a:pt x="832" y="931"/>
                    <a:pt x="887" y="875"/>
                  </a:cubicBezTo>
                  <a:cubicBezTo>
                    <a:pt x="943" y="819"/>
                    <a:pt x="1034" y="819"/>
                    <a:pt x="1089" y="875"/>
                  </a:cubicBezTo>
                  <a:cubicBezTo>
                    <a:pt x="1139" y="925"/>
                    <a:pt x="1144" y="1004"/>
                    <a:pt x="1104" y="1060"/>
                  </a:cubicBezTo>
                  <a:cubicBezTo>
                    <a:pt x="1192" y="1148"/>
                    <a:pt x="1192" y="1148"/>
                    <a:pt x="1192" y="1148"/>
                  </a:cubicBezTo>
                  <a:cubicBezTo>
                    <a:pt x="1359" y="1139"/>
                    <a:pt x="1359" y="1139"/>
                    <a:pt x="1359" y="1139"/>
                  </a:cubicBezTo>
                  <a:cubicBezTo>
                    <a:pt x="1374" y="1082"/>
                    <a:pt x="1382" y="1023"/>
                    <a:pt x="1382" y="962"/>
                  </a:cubicBezTo>
                  <a:cubicBezTo>
                    <a:pt x="1382" y="937"/>
                    <a:pt x="1380" y="912"/>
                    <a:pt x="1378" y="887"/>
                  </a:cubicBezTo>
                  <a:cubicBezTo>
                    <a:pt x="1546" y="718"/>
                    <a:pt x="1546" y="718"/>
                    <a:pt x="1546" y="718"/>
                  </a:cubicBezTo>
                  <a:cubicBezTo>
                    <a:pt x="1611" y="783"/>
                    <a:pt x="1611" y="783"/>
                    <a:pt x="1611" y="783"/>
                  </a:cubicBezTo>
                  <a:cubicBezTo>
                    <a:pt x="1625" y="797"/>
                    <a:pt x="1648" y="787"/>
                    <a:pt x="1649" y="768"/>
                  </a:cubicBezTo>
                  <a:cubicBezTo>
                    <a:pt x="1651" y="23"/>
                    <a:pt x="1651" y="23"/>
                    <a:pt x="1651" y="23"/>
                  </a:cubicBezTo>
                  <a:cubicBezTo>
                    <a:pt x="1652" y="10"/>
                    <a:pt x="1642" y="0"/>
                    <a:pt x="1629" y="0"/>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0" name="Freeform 22">
              <a:extLst>
                <a:ext uri="{FF2B5EF4-FFF2-40B4-BE49-F238E27FC236}">
                  <a16:creationId xmlns:a16="http://schemas.microsoft.com/office/drawing/2014/main" id="{31A2DC10-BEF7-44EC-B0FC-1DB94D57B7E8}"/>
                </a:ext>
              </a:extLst>
            </p:cNvPr>
            <p:cNvSpPr>
              <a:spLocks noEditPoints="1"/>
            </p:cNvSpPr>
            <p:nvPr/>
          </p:nvSpPr>
          <p:spPr bwMode="auto">
            <a:xfrm>
              <a:off x="2162" y="932"/>
              <a:ext cx="3072" cy="2919"/>
            </a:xfrm>
            <a:custGeom>
              <a:avLst/>
              <a:gdLst>
                <a:gd name="T0" fmla="*/ 1553 w 1640"/>
                <a:gd name="T1" fmla="*/ 688 h 1557"/>
                <a:gd name="T2" fmla="*/ 1558 w 1640"/>
                <a:gd name="T3" fmla="*/ 778 h 1557"/>
                <a:gd name="T4" fmla="*/ 779 w 1640"/>
                <a:gd name="T5" fmla="*/ 1557 h 1557"/>
                <a:gd name="T6" fmla="*/ 0 w 1640"/>
                <a:gd name="T7" fmla="*/ 778 h 1557"/>
                <a:gd name="T8" fmla="*/ 779 w 1640"/>
                <a:gd name="T9" fmla="*/ 0 h 1557"/>
                <a:gd name="T10" fmla="*/ 867 w 1640"/>
                <a:gd name="T11" fmla="*/ 5 h 1557"/>
                <a:gd name="T12" fmla="*/ 826 w 1640"/>
                <a:gd name="T13" fmla="*/ 45 h 1557"/>
                <a:gd name="T14" fmla="*/ 779 w 1640"/>
                <a:gd name="T15" fmla="*/ 44 h 1557"/>
                <a:gd name="T16" fmla="*/ 44 w 1640"/>
                <a:gd name="T17" fmla="*/ 778 h 1557"/>
                <a:gd name="T18" fmla="*/ 779 w 1640"/>
                <a:gd name="T19" fmla="*/ 1513 h 1557"/>
                <a:gd name="T20" fmla="*/ 1514 w 1640"/>
                <a:gd name="T21" fmla="*/ 778 h 1557"/>
                <a:gd name="T22" fmla="*/ 1512 w 1640"/>
                <a:gd name="T23" fmla="*/ 728 h 1557"/>
                <a:gd name="T24" fmla="*/ 1553 w 1640"/>
                <a:gd name="T25" fmla="*/ 688 h 1557"/>
                <a:gd name="T26" fmla="*/ 517 w 1640"/>
                <a:gd name="T27" fmla="*/ 784 h 1557"/>
                <a:gd name="T28" fmla="*/ 447 w 1640"/>
                <a:gd name="T29" fmla="*/ 813 h 1557"/>
                <a:gd name="T30" fmla="*/ 447 w 1640"/>
                <a:gd name="T31" fmla="*/ 813 h 1557"/>
                <a:gd name="T32" fmla="*/ 418 w 1640"/>
                <a:gd name="T33" fmla="*/ 883 h 1557"/>
                <a:gd name="T34" fmla="*/ 447 w 1640"/>
                <a:gd name="T35" fmla="*/ 953 h 1557"/>
                <a:gd name="T36" fmla="*/ 517 w 1640"/>
                <a:gd name="T37" fmla="*/ 982 h 1557"/>
                <a:gd name="T38" fmla="*/ 586 w 1640"/>
                <a:gd name="T39" fmla="*/ 953 h 1557"/>
                <a:gd name="T40" fmla="*/ 586 w 1640"/>
                <a:gd name="T41" fmla="*/ 813 h 1557"/>
                <a:gd name="T42" fmla="*/ 517 w 1640"/>
                <a:gd name="T43" fmla="*/ 784 h 1557"/>
                <a:gd name="T44" fmla="*/ 699 w 1640"/>
                <a:gd name="T45" fmla="*/ 213 h 1557"/>
                <a:gd name="T46" fmla="*/ 629 w 1640"/>
                <a:gd name="T47" fmla="*/ 241 h 1557"/>
                <a:gd name="T48" fmla="*/ 600 w 1640"/>
                <a:gd name="T49" fmla="*/ 311 h 1557"/>
                <a:gd name="T50" fmla="*/ 629 w 1640"/>
                <a:gd name="T51" fmla="*/ 381 h 1557"/>
                <a:gd name="T52" fmla="*/ 768 w 1640"/>
                <a:gd name="T53" fmla="*/ 381 h 1557"/>
                <a:gd name="T54" fmla="*/ 768 w 1640"/>
                <a:gd name="T55" fmla="*/ 241 h 1557"/>
                <a:gd name="T56" fmla="*/ 699 w 1640"/>
                <a:gd name="T57" fmla="*/ 213 h 1557"/>
                <a:gd name="T58" fmla="*/ 857 w 1640"/>
                <a:gd name="T59" fmla="*/ 912 h 1557"/>
                <a:gd name="T60" fmla="*/ 787 w 1640"/>
                <a:gd name="T61" fmla="*/ 941 h 1557"/>
                <a:gd name="T62" fmla="*/ 759 w 1640"/>
                <a:gd name="T63" fmla="*/ 1011 h 1557"/>
                <a:gd name="T64" fmla="*/ 787 w 1640"/>
                <a:gd name="T65" fmla="*/ 1081 h 1557"/>
                <a:gd name="T66" fmla="*/ 927 w 1640"/>
                <a:gd name="T67" fmla="*/ 1081 h 1557"/>
                <a:gd name="T68" fmla="*/ 927 w 1640"/>
                <a:gd name="T69" fmla="*/ 941 h 1557"/>
                <a:gd name="T70" fmla="*/ 857 w 1640"/>
                <a:gd name="T71" fmla="*/ 912 h 1557"/>
                <a:gd name="T72" fmla="*/ 1076 w 1640"/>
                <a:gd name="T73" fmla="*/ 693 h 1557"/>
                <a:gd name="T74" fmla="*/ 1007 w 1640"/>
                <a:gd name="T75" fmla="*/ 722 h 1557"/>
                <a:gd name="T76" fmla="*/ 1007 w 1640"/>
                <a:gd name="T77" fmla="*/ 862 h 1557"/>
                <a:gd name="T78" fmla="*/ 1146 w 1640"/>
                <a:gd name="T79" fmla="*/ 862 h 1557"/>
                <a:gd name="T80" fmla="*/ 1146 w 1640"/>
                <a:gd name="T81" fmla="*/ 722 h 1557"/>
                <a:gd name="T82" fmla="*/ 1076 w 1640"/>
                <a:gd name="T83" fmla="*/ 693 h 1557"/>
                <a:gd name="T84" fmla="*/ 1462 w 1640"/>
                <a:gd name="T85" fmla="*/ 155 h 1557"/>
                <a:gd name="T86" fmla="*/ 1462 w 1640"/>
                <a:gd name="T87" fmla="*/ 294 h 1557"/>
                <a:gd name="T88" fmla="*/ 1602 w 1640"/>
                <a:gd name="T89" fmla="*/ 294 h 1557"/>
                <a:gd name="T90" fmla="*/ 1602 w 1640"/>
                <a:gd name="T91" fmla="*/ 155 h 1557"/>
                <a:gd name="T92" fmla="*/ 1462 w 1640"/>
                <a:gd name="T93" fmla="*/ 155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40" h="1557">
                  <a:moveTo>
                    <a:pt x="1553" y="688"/>
                  </a:moveTo>
                  <a:cubicBezTo>
                    <a:pt x="1556" y="718"/>
                    <a:pt x="1558" y="748"/>
                    <a:pt x="1558" y="778"/>
                  </a:cubicBezTo>
                  <a:cubicBezTo>
                    <a:pt x="1558" y="1208"/>
                    <a:pt x="1208" y="1557"/>
                    <a:pt x="779" y="1557"/>
                  </a:cubicBezTo>
                  <a:cubicBezTo>
                    <a:pt x="350" y="1557"/>
                    <a:pt x="0" y="1208"/>
                    <a:pt x="0" y="778"/>
                  </a:cubicBezTo>
                  <a:cubicBezTo>
                    <a:pt x="0" y="349"/>
                    <a:pt x="350" y="0"/>
                    <a:pt x="779" y="0"/>
                  </a:cubicBezTo>
                  <a:cubicBezTo>
                    <a:pt x="809" y="0"/>
                    <a:pt x="838" y="1"/>
                    <a:pt x="867" y="5"/>
                  </a:cubicBezTo>
                  <a:cubicBezTo>
                    <a:pt x="826" y="45"/>
                    <a:pt x="826" y="45"/>
                    <a:pt x="826" y="45"/>
                  </a:cubicBezTo>
                  <a:cubicBezTo>
                    <a:pt x="811" y="44"/>
                    <a:pt x="795" y="44"/>
                    <a:pt x="779" y="44"/>
                  </a:cubicBezTo>
                  <a:cubicBezTo>
                    <a:pt x="374" y="44"/>
                    <a:pt x="44" y="373"/>
                    <a:pt x="44" y="778"/>
                  </a:cubicBezTo>
                  <a:cubicBezTo>
                    <a:pt x="44" y="1183"/>
                    <a:pt x="374" y="1513"/>
                    <a:pt x="779" y="1513"/>
                  </a:cubicBezTo>
                  <a:cubicBezTo>
                    <a:pt x="1184" y="1513"/>
                    <a:pt x="1514" y="1183"/>
                    <a:pt x="1514" y="778"/>
                  </a:cubicBezTo>
                  <a:cubicBezTo>
                    <a:pt x="1514" y="762"/>
                    <a:pt x="1513" y="745"/>
                    <a:pt x="1512" y="728"/>
                  </a:cubicBezTo>
                  <a:lnTo>
                    <a:pt x="1553" y="688"/>
                  </a:lnTo>
                  <a:close/>
                  <a:moveTo>
                    <a:pt x="517" y="784"/>
                  </a:moveTo>
                  <a:cubicBezTo>
                    <a:pt x="490" y="784"/>
                    <a:pt x="466" y="794"/>
                    <a:pt x="447" y="813"/>
                  </a:cubicBezTo>
                  <a:cubicBezTo>
                    <a:pt x="447" y="813"/>
                    <a:pt x="447" y="813"/>
                    <a:pt x="447" y="813"/>
                  </a:cubicBezTo>
                  <a:cubicBezTo>
                    <a:pt x="428" y="832"/>
                    <a:pt x="418" y="857"/>
                    <a:pt x="418" y="883"/>
                  </a:cubicBezTo>
                  <a:cubicBezTo>
                    <a:pt x="418" y="909"/>
                    <a:pt x="428" y="934"/>
                    <a:pt x="447" y="953"/>
                  </a:cubicBezTo>
                  <a:cubicBezTo>
                    <a:pt x="466" y="971"/>
                    <a:pt x="490" y="982"/>
                    <a:pt x="517" y="982"/>
                  </a:cubicBezTo>
                  <a:cubicBezTo>
                    <a:pt x="543" y="982"/>
                    <a:pt x="568" y="971"/>
                    <a:pt x="586" y="953"/>
                  </a:cubicBezTo>
                  <a:cubicBezTo>
                    <a:pt x="625" y="914"/>
                    <a:pt x="625" y="852"/>
                    <a:pt x="586" y="813"/>
                  </a:cubicBezTo>
                  <a:cubicBezTo>
                    <a:pt x="568" y="794"/>
                    <a:pt x="543" y="784"/>
                    <a:pt x="517" y="784"/>
                  </a:cubicBezTo>
                  <a:close/>
                  <a:moveTo>
                    <a:pt x="699" y="213"/>
                  </a:moveTo>
                  <a:cubicBezTo>
                    <a:pt x="673" y="213"/>
                    <a:pt x="648" y="222"/>
                    <a:pt x="629" y="241"/>
                  </a:cubicBezTo>
                  <a:cubicBezTo>
                    <a:pt x="610" y="260"/>
                    <a:pt x="600" y="285"/>
                    <a:pt x="600" y="311"/>
                  </a:cubicBezTo>
                  <a:cubicBezTo>
                    <a:pt x="600" y="338"/>
                    <a:pt x="610" y="362"/>
                    <a:pt x="629" y="381"/>
                  </a:cubicBezTo>
                  <a:cubicBezTo>
                    <a:pt x="667" y="419"/>
                    <a:pt x="730" y="419"/>
                    <a:pt x="768" y="381"/>
                  </a:cubicBezTo>
                  <a:cubicBezTo>
                    <a:pt x="807" y="342"/>
                    <a:pt x="807" y="280"/>
                    <a:pt x="768" y="241"/>
                  </a:cubicBezTo>
                  <a:cubicBezTo>
                    <a:pt x="749" y="222"/>
                    <a:pt x="724" y="213"/>
                    <a:pt x="699" y="213"/>
                  </a:cubicBezTo>
                  <a:close/>
                  <a:moveTo>
                    <a:pt x="857" y="912"/>
                  </a:moveTo>
                  <a:cubicBezTo>
                    <a:pt x="832" y="912"/>
                    <a:pt x="807" y="922"/>
                    <a:pt x="787" y="941"/>
                  </a:cubicBezTo>
                  <a:cubicBezTo>
                    <a:pt x="769" y="960"/>
                    <a:pt x="759" y="985"/>
                    <a:pt x="759" y="1011"/>
                  </a:cubicBezTo>
                  <a:cubicBezTo>
                    <a:pt x="759" y="1037"/>
                    <a:pt x="769" y="1062"/>
                    <a:pt x="787" y="1081"/>
                  </a:cubicBezTo>
                  <a:cubicBezTo>
                    <a:pt x="826" y="1119"/>
                    <a:pt x="889" y="1119"/>
                    <a:pt x="927" y="1081"/>
                  </a:cubicBezTo>
                  <a:cubicBezTo>
                    <a:pt x="965" y="1042"/>
                    <a:pt x="965" y="980"/>
                    <a:pt x="927" y="941"/>
                  </a:cubicBezTo>
                  <a:cubicBezTo>
                    <a:pt x="908" y="922"/>
                    <a:pt x="883" y="912"/>
                    <a:pt x="857" y="912"/>
                  </a:cubicBezTo>
                  <a:close/>
                  <a:moveTo>
                    <a:pt x="1076" y="693"/>
                  </a:moveTo>
                  <a:cubicBezTo>
                    <a:pt x="1051" y="693"/>
                    <a:pt x="1026" y="703"/>
                    <a:pt x="1007" y="722"/>
                  </a:cubicBezTo>
                  <a:cubicBezTo>
                    <a:pt x="968" y="761"/>
                    <a:pt x="968" y="823"/>
                    <a:pt x="1007" y="862"/>
                  </a:cubicBezTo>
                  <a:cubicBezTo>
                    <a:pt x="1045" y="900"/>
                    <a:pt x="1108" y="900"/>
                    <a:pt x="1146" y="862"/>
                  </a:cubicBezTo>
                  <a:cubicBezTo>
                    <a:pt x="1185" y="823"/>
                    <a:pt x="1185" y="761"/>
                    <a:pt x="1146" y="722"/>
                  </a:cubicBezTo>
                  <a:cubicBezTo>
                    <a:pt x="1127" y="703"/>
                    <a:pt x="1102" y="693"/>
                    <a:pt x="1076" y="693"/>
                  </a:cubicBezTo>
                  <a:close/>
                  <a:moveTo>
                    <a:pt x="1462" y="155"/>
                  </a:moveTo>
                  <a:cubicBezTo>
                    <a:pt x="1424" y="193"/>
                    <a:pt x="1424" y="256"/>
                    <a:pt x="1462" y="294"/>
                  </a:cubicBezTo>
                  <a:cubicBezTo>
                    <a:pt x="1500" y="333"/>
                    <a:pt x="1563" y="333"/>
                    <a:pt x="1602" y="294"/>
                  </a:cubicBezTo>
                  <a:cubicBezTo>
                    <a:pt x="1640" y="256"/>
                    <a:pt x="1640" y="193"/>
                    <a:pt x="1602" y="155"/>
                  </a:cubicBezTo>
                  <a:cubicBezTo>
                    <a:pt x="1563" y="116"/>
                    <a:pt x="1500" y="116"/>
                    <a:pt x="1462" y="155"/>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01" name="TB501"/>
          <p:cNvSpPr txBox="1"/>
          <p:nvPr/>
        </p:nvSpPr>
        <p:spPr>
          <a:xfrm>
            <a:off x="4925568" y="5173218"/>
            <a:ext cx="1935480" cy="219456"/>
          </a:xfrm>
          <a:prstGeom prst="rect">
            <a:avLst/>
          </a:prstGeom>
          <a:noFill/>
        </p:spPr>
        <p:txBody>
          <a:bodyPr wrap="square" rtlCol="0" anchor="t"/>
          <a:lstStyle/>
          <a:p>
            <a:r>
              <a:rPr lang="en-US" sz="1100" b="1" dirty="0">
                <a:solidFill>
                  <a:srgbClr val="575757"/>
                </a:solidFill>
                <a:latin typeface="Trebuchet MS"/>
              </a:rPr>
              <a:t>5. Re-Rating</a:t>
            </a:r>
          </a:p>
        </p:txBody>
      </p:sp>
      <p:sp>
        <p:nvSpPr>
          <p:cNvPr id="502" name="TB502"/>
          <p:cNvSpPr txBox="1"/>
          <p:nvPr/>
        </p:nvSpPr>
        <p:spPr>
          <a:xfrm>
            <a:off x="4925568" y="5410962"/>
            <a:ext cx="1935480" cy="477774"/>
          </a:xfrm>
          <a:prstGeom prst="rect">
            <a:avLst/>
          </a:prstGeom>
          <a:noFill/>
        </p:spPr>
        <p:txBody>
          <a:bodyPr wrap="square" rtlCol="0" anchor="t"/>
          <a:lstStyle/>
          <a:p>
            <a:r>
              <a:rPr lang="en-US" sz="1000" dirty="0">
                <a:solidFill>
                  <a:srgbClr val="575757"/>
                </a:solidFill>
                <a:latin typeface="Trebuchet MS"/>
              </a:rPr>
              <a:t>Pan-India tier-1: 24-26x vs 18-20x today</a:t>
            </a:r>
          </a:p>
        </p:txBody>
      </p:sp>
      <p:sp>
        <p:nvSpPr>
          <p:cNvPr id="503" name="R503"/>
          <p:cNvSpPr/>
          <p:nvPr/>
        </p:nvSpPr>
        <p:spPr>
          <a:xfrm>
            <a:off x="6952488" y="5173218"/>
            <a:ext cx="868680" cy="697230"/>
          </a:xfrm>
          <a:prstGeom prst="rect">
            <a:avLst/>
          </a:prstGeom>
          <a:solidFill>
            <a:srgbClr val="295E7E"/>
          </a:solidFill>
          <a:ln>
            <a:noFill/>
          </a:ln>
        </p:spPr>
        <p:txBody>
          <a:bodyPr/>
          <a:lstStyle/>
          <a:p>
            <a:endParaRPr lang="en-US"/>
          </a:p>
        </p:txBody>
      </p:sp>
      <p:sp>
        <p:nvSpPr>
          <p:cNvPr id="504" name="TB504"/>
          <p:cNvSpPr txBox="1"/>
          <p:nvPr/>
        </p:nvSpPr>
        <p:spPr>
          <a:xfrm>
            <a:off x="6952488" y="5173218"/>
            <a:ext cx="868680" cy="697230"/>
          </a:xfrm>
          <a:prstGeom prst="rect">
            <a:avLst/>
          </a:prstGeom>
          <a:noFill/>
        </p:spPr>
        <p:txBody>
          <a:bodyPr wrap="square" rtlCol="0" anchor="ctr"/>
          <a:lstStyle/>
          <a:p>
            <a:pPr algn="ctr"/>
            <a:r>
              <a:rPr lang="en-US" sz="1200" b="1" dirty="0">
                <a:solidFill>
                  <a:srgbClr val="FFFFFF"/>
                </a:solidFill>
                <a:latin typeface="Trebuchet MS"/>
              </a:rPr>
              <a:t>₹1,100 Cr</a:t>
            </a:r>
          </a:p>
        </p:txBody>
      </p:sp>
      <p:sp>
        <p:nvSpPr>
          <p:cNvPr id="505" name="RR505"/>
          <p:cNvSpPr/>
          <p:nvPr/>
        </p:nvSpPr>
        <p:spPr>
          <a:xfrm>
            <a:off x="8031480" y="5100066"/>
            <a:ext cx="3535680" cy="84353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506" name="R506"/>
          <p:cNvSpPr/>
          <p:nvPr/>
        </p:nvSpPr>
        <p:spPr>
          <a:xfrm>
            <a:off x="8031480" y="5100066"/>
            <a:ext cx="73152" cy="843534"/>
          </a:xfrm>
          <a:prstGeom prst="rect">
            <a:avLst/>
          </a:prstGeom>
          <a:solidFill>
            <a:srgbClr val="575757"/>
          </a:solidFill>
          <a:ln>
            <a:noFill/>
          </a:ln>
        </p:spPr>
        <p:txBody>
          <a:bodyPr/>
          <a:lstStyle/>
          <a:p>
            <a:endParaRPr lang="en-US"/>
          </a:p>
        </p:txBody>
      </p:sp>
      <p:sp>
        <p:nvSpPr>
          <p:cNvPr id="507" name="O507"/>
          <p:cNvSpPr/>
          <p:nvPr/>
        </p:nvSpPr>
        <p:spPr>
          <a:xfrm>
            <a:off x="8122920" y="5316093"/>
            <a:ext cx="411480" cy="411480"/>
          </a:xfrm>
          <a:prstGeom prst="ellipse">
            <a:avLst/>
          </a:prstGeom>
          <a:solidFill>
            <a:srgbClr val="575757"/>
          </a:solidFill>
          <a:ln>
            <a:noFill/>
          </a:ln>
        </p:spPr>
        <p:txBody>
          <a:bodyPr/>
          <a:lstStyle/>
          <a:p>
            <a:endParaRPr lang="en-US"/>
          </a:p>
        </p:txBody>
      </p:sp>
      <p:grpSp>
        <p:nvGrpSpPr>
          <p:cNvPr id="508" name="bcgIcons_Bank">
            <a:extLst>
              <a:ext uri="{FF2B5EF4-FFF2-40B4-BE49-F238E27FC236}">
                <a16:creationId xmlns:a16="http://schemas.microsoft.com/office/drawing/2014/main" id="{B9CD3580-432D-4508-8A81-DA65CF6E70D9}"/>
              </a:ext>
            </a:extLst>
          </p:cNvPr>
          <p:cNvGrpSpPr>
            <a:grpSpLocks noChangeAspect="1"/>
          </p:cNvGrpSpPr>
          <p:nvPr/>
        </p:nvGrpSpPr>
        <p:grpSpPr bwMode="auto">
          <a:xfrm>
            <a:off x="8150352" y="5361813"/>
            <a:ext cx="319743" cy="320040"/>
            <a:chOff x="1682" y="0"/>
            <a:chExt cx="4316" cy="4320"/>
          </a:xfrm>
        </p:grpSpPr>
        <p:sp>
          <p:nvSpPr>
            <p:cNvPr id="509" name="AutoShape 3">
              <a:extLst>
                <a:ext uri="{FF2B5EF4-FFF2-40B4-BE49-F238E27FC236}">
                  <a16:creationId xmlns:a16="http://schemas.microsoft.com/office/drawing/2014/main" id="{9C346E6B-E788-44C6-9740-941EE2A207BD}"/>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0" name="Freeform 5">
              <a:extLst>
                <a:ext uri="{FF2B5EF4-FFF2-40B4-BE49-F238E27FC236}">
                  <a16:creationId xmlns:a16="http://schemas.microsoft.com/office/drawing/2014/main" id="{61EEF2F3-5E32-48A7-A4F8-F3841294A969}"/>
                </a:ext>
              </a:extLst>
            </p:cNvPr>
            <p:cNvSpPr>
              <a:spLocks noEditPoints="1"/>
            </p:cNvSpPr>
            <p:nvPr/>
          </p:nvSpPr>
          <p:spPr bwMode="auto">
            <a:xfrm>
              <a:off x="2124" y="418"/>
              <a:ext cx="3428" cy="3454"/>
            </a:xfrm>
            <a:custGeom>
              <a:avLst/>
              <a:gdLst>
                <a:gd name="T0" fmla="*/ 1807 w 1830"/>
                <a:gd name="T1" fmla="*/ 1666 h 1842"/>
                <a:gd name="T2" fmla="*/ 1708 w 1830"/>
                <a:gd name="T3" fmla="*/ 1666 h 1842"/>
                <a:gd name="T4" fmla="*/ 1708 w 1830"/>
                <a:gd name="T5" fmla="*/ 1616 h 1842"/>
                <a:gd name="T6" fmla="*/ 1686 w 1830"/>
                <a:gd name="T7" fmla="*/ 1594 h 1842"/>
                <a:gd name="T8" fmla="*/ 144 w 1830"/>
                <a:gd name="T9" fmla="*/ 1594 h 1842"/>
                <a:gd name="T10" fmla="*/ 122 w 1830"/>
                <a:gd name="T11" fmla="*/ 1616 h 1842"/>
                <a:gd name="T12" fmla="*/ 122 w 1830"/>
                <a:gd name="T13" fmla="*/ 1666 h 1842"/>
                <a:gd name="T14" fmla="*/ 23 w 1830"/>
                <a:gd name="T15" fmla="*/ 1666 h 1842"/>
                <a:gd name="T16" fmla="*/ 1 w 1830"/>
                <a:gd name="T17" fmla="*/ 1688 h 1842"/>
                <a:gd name="T18" fmla="*/ 1 w 1830"/>
                <a:gd name="T19" fmla="*/ 1820 h 1842"/>
                <a:gd name="T20" fmla="*/ 23 w 1830"/>
                <a:gd name="T21" fmla="*/ 1842 h 1842"/>
                <a:gd name="T22" fmla="*/ 1807 w 1830"/>
                <a:gd name="T23" fmla="*/ 1842 h 1842"/>
                <a:gd name="T24" fmla="*/ 1829 w 1830"/>
                <a:gd name="T25" fmla="*/ 1820 h 1842"/>
                <a:gd name="T26" fmla="*/ 1829 w 1830"/>
                <a:gd name="T27" fmla="*/ 1688 h 1842"/>
                <a:gd name="T28" fmla="*/ 1807 w 1830"/>
                <a:gd name="T29" fmla="*/ 1666 h 1842"/>
                <a:gd name="T30" fmla="*/ 1818 w 1830"/>
                <a:gd name="T31" fmla="*/ 441 h 1842"/>
                <a:gd name="T32" fmla="*/ 925 w 1830"/>
                <a:gd name="T33" fmla="*/ 3 h 1842"/>
                <a:gd name="T34" fmla="*/ 905 w 1830"/>
                <a:gd name="T35" fmla="*/ 3 h 1842"/>
                <a:gd name="T36" fmla="*/ 12 w 1830"/>
                <a:gd name="T37" fmla="*/ 441 h 1842"/>
                <a:gd name="T38" fmla="*/ 0 w 1830"/>
                <a:gd name="T39" fmla="*/ 461 h 1842"/>
                <a:gd name="T40" fmla="*/ 0 w 1830"/>
                <a:gd name="T41" fmla="*/ 533 h 1842"/>
                <a:gd name="T42" fmla="*/ 22 w 1830"/>
                <a:gd name="T43" fmla="*/ 555 h 1842"/>
                <a:gd name="T44" fmla="*/ 169 w 1830"/>
                <a:gd name="T45" fmla="*/ 555 h 1842"/>
                <a:gd name="T46" fmla="*/ 169 w 1830"/>
                <a:gd name="T47" fmla="*/ 641 h 1842"/>
                <a:gd name="T48" fmla="*/ 191 w 1830"/>
                <a:gd name="T49" fmla="*/ 663 h 1842"/>
                <a:gd name="T50" fmla="*/ 1639 w 1830"/>
                <a:gd name="T51" fmla="*/ 663 h 1842"/>
                <a:gd name="T52" fmla="*/ 1661 w 1830"/>
                <a:gd name="T53" fmla="*/ 641 h 1842"/>
                <a:gd name="T54" fmla="*/ 1661 w 1830"/>
                <a:gd name="T55" fmla="*/ 555 h 1842"/>
                <a:gd name="T56" fmla="*/ 1808 w 1830"/>
                <a:gd name="T57" fmla="*/ 555 h 1842"/>
                <a:gd name="T58" fmla="*/ 1830 w 1830"/>
                <a:gd name="T59" fmla="*/ 533 h 1842"/>
                <a:gd name="T60" fmla="*/ 1830 w 1830"/>
                <a:gd name="T61" fmla="*/ 461 h 1842"/>
                <a:gd name="T62" fmla="*/ 1818 w 1830"/>
                <a:gd name="T63" fmla="*/ 441 h 1842"/>
                <a:gd name="T64" fmla="*/ 1617 w 1830"/>
                <a:gd name="T65" fmla="*/ 619 h 1842"/>
                <a:gd name="T66" fmla="*/ 213 w 1830"/>
                <a:gd name="T67" fmla="*/ 619 h 1842"/>
                <a:gd name="T68" fmla="*/ 213 w 1830"/>
                <a:gd name="T69" fmla="*/ 555 h 1842"/>
                <a:gd name="T70" fmla="*/ 1617 w 1830"/>
                <a:gd name="T71" fmla="*/ 555 h 1842"/>
                <a:gd name="T72" fmla="*/ 1617 w 1830"/>
                <a:gd name="T73" fmla="*/ 619 h 1842"/>
                <a:gd name="T74" fmla="*/ 1786 w 1830"/>
                <a:gd name="T75" fmla="*/ 511 h 1842"/>
                <a:gd name="T76" fmla="*/ 1661 w 1830"/>
                <a:gd name="T77" fmla="*/ 511 h 1842"/>
                <a:gd name="T78" fmla="*/ 1617 w 1830"/>
                <a:gd name="T79" fmla="*/ 511 h 1842"/>
                <a:gd name="T80" fmla="*/ 213 w 1830"/>
                <a:gd name="T81" fmla="*/ 511 h 1842"/>
                <a:gd name="T82" fmla="*/ 169 w 1830"/>
                <a:gd name="T83" fmla="*/ 511 h 1842"/>
                <a:gd name="T84" fmla="*/ 44 w 1830"/>
                <a:gd name="T85" fmla="*/ 511 h 1842"/>
                <a:gd name="T86" fmla="*/ 44 w 1830"/>
                <a:gd name="T87" fmla="*/ 474 h 1842"/>
                <a:gd name="T88" fmla="*/ 915 w 1830"/>
                <a:gd name="T89" fmla="*/ 47 h 1842"/>
                <a:gd name="T90" fmla="*/ 1786 w 1830"/>
                <a:gd name="T91" fmla="*/ 474 h 1842"/>
                <a:gd name="T92" fmla="*/ 1786 w 1830"/>
                <a:gd name="T93" fmla="*/ 511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30" h="1842">
                  <a:moveTo>
                    <a:pt x="1807" y="1666"/>
                  </a:moveTo>
                  <a:cubicBezTo>
                    <a:pt x="1708" y="1666"/>
                    <a:pt x="1708" y="1666"/>
                    <a:pt x="1708" y="1666"/>
                  </a:cubicBezTo>
                  <a:cubicBezTo>
                    <a:pt x="1708" y="1616"/>
                    <a:pt x="1708" y="1616"/>
                    <a:pt x="1708" y="1616"/>
                  </a:cubicBezTo>
                  <a:cubicBezTo>
                    <a:pt x="1708" y="1603"/>
                    <a:pt x="1699" y="1594"/>
                    <a:pt x="1686" y="1594"/>
                  </a:cubicBezTo>
                  <a:cubicBezTo>
                    <a:pt x="144" y="1594"/>
                    <a:pt x="144" y="1594"/>
                    <a:pt x="144" y="1594"/>
                  </a:cubicBezTo>
                  <a:cubicBezTo>
                    <a:pt x="131" y="1594"/>
                    <a:pt x="122" y="1603"/>
                    <a:pt x="122" y="1616"/>
                  </a:cubicBezTo>
                  <a:cubicBezTo>
                    <a:pt x="122" y="1666"/>
                    <a:pt x="122" y="1666"/>
                    <a:pt x="122" y="1666"/>
                  </a:cubicBezTo>
                  <a:cubicBezTo>
                    <a:pt x="23" y="1666"/>
                    <a:pt x="23" y="1666"/>
                    <a:pt x="23" y="1666"/>
                  </a:cubicBezTo>
                  <a:cubicBezTo>
                    <a:pt x="11" y="1666"/>
                    <a:pt x="1" y="1675"/>
                    <a:pt x="1" y="1688"/>
                  </a:cubicBezTo>
                  <a:cubicBezTo>
                    <a:pt x="1" y="1820"/>
                    <a:pt x="1" y="1820"/>
                    <a:pt x="1" y="1820"/>
                  </a:cubicBezTo>
                  <a:cubicBezTo>
                    <a:pt x="1" y="1832"/>
                    <a:pt x="11" y="1842"/>
                    <a:pt x="23" y="1842"/>
                  </a:cubicBezTo>
                  <a:cubicBezTo>
                    <a:pt x="1807" y="1842"/>
                    <a:pt x="1807" y="1842"/>
                    <a:pt x="1807" y="1842"/>
                  </a:cubicBezTo>
                  <a:cubicBezTo>
                    <a:pt x="1819" y="1842"/>
                    <a:pt x="1829" y="1832"/>
                    <a:pt x="1829" y="1820"/>
                  </a:cubicBezTo>
                  <a:cubicBezTo>
                    <a:pt x="1829" y="1688"/>
                    <a:pt x="1829" y="1688"/>
                    <a:pt x="1829" y="1688"/>
                  </a:cubicBezTo>
                  <a:cubicBezTo>
                    <a:pt x="1829" y="1675"/>
                    <a:pt x="1819" y="1666"/>
                    <a:pt x="1807" y="1666"/>
                  </a:cubicBezTo>
                  <a:close/>
                  <a:moveTo>
                    <a:pt x="1818" y="441"/>
                  </a:moveTo>
                  <a:cubicBezTo>
                    <a:pt x="925" y="3"/>
                    <a:pt x="925" y="3"/>
                    <a:pt x="925" y="3"/>
                  </a:cubicBezTo>
                  <a:cubicBezTo>
                    <a:pt x="919" y="0"/>
                    <a:pt x="911" y="0"/>
                    <a:pt x="905" y="3"/>
                  </a:cubicBezTo>
                  <a:cubicBezTo>
                    <a:pt x="12" y="441"/>
                    <a:pt x="12" y="441"/>
                    <a:pt x="12" y="441"/>
                  </a:cubicBezTo>
                  <a:cubicBezTo>
                    <a:pt x="5" y="445"/>
                    <a:pt x="0" y="452"/>
                    <a:pt x="0" y="461"/>
                  </a:cubicBezTo>
                  <a:cubicBezTo>
                    <a:pt x="0" y="533"/>
                    <a:pt x="0" y="533"/>
                    <a:pt x="0" y="533"/>
                  </a:cubicBezTo>
                  <a:cubicBezTo>
                    <a:pt x="0" y="545"/>
                    <a:pt x="10" y="555"/>
                    <a:pt x="22" y="555"/>
                  </a:cubicBezTo>
                  <a:cubicBezTo>
                    <a:pt x="169" y="555"/>
                    <a:pt x="169" y="555"/>
                    <a:pt x="169" y="555"/>
                  </a:cubicBezTo>
                  <a:cubicBezTo>
                    <a:pt x="169" y="641"/>
                    <a:pt x="169" y="641"/>
                    <a:pt x="169" y="641"/>
                  </a:cubicBezTo>
                  <a:cubicBezTo>
                    <a:pt x="169" y="654"/>
                    <a:pt x="179" y="663"/>
                    <a:pt x="191" y="663"/>
                  </a:cubicBezTo>
                  <a:cubicBezTo>
                    <a:pt x="1639" y="663"/>
                    <a:pt x="1639" y="663"/>
                    <a:pt x="1639" y="663"/>
                  </a:cubicBezTo>
                  <a:cubicBezTo>
                    <a:pt x="1651" y="663"/>
                    <a:pt x="1661" y="654"/>
                    <a:pt x="1661" y="641"/>
                  </a:cubicBezTo>
                  <a:cubicBezTo>
                    <a:pt x="1661" y="555"/>
                    <a:pt x="1661" y="555"/>
                    <a:pt x="1661" y="555"/>
                  </a:cubicBezTo>
                  <a:cubicBezTo>
                    <a:pt x="1808" y="555"/>
                    <a:pt x="1808" y="555"/>
                    <a:pt x="1808" y="555"/>
                  </a:cubicBezTo>
                  <a:cubicBezTo>
                    <a:pt x="1820" y="555"/>
                    <a:pt x="1830" y="545"/>
                    <a:pt x="1830" y="533"/>
                  </a:cubicBezTo>
                  <a:cubicBezTo>
                    <a:pt x="1830" y="461"/>
                    <a:pt x="1830" y="461"/>
                    <a:pt x="1830" y="461"/>
                  </a:cubicBezTo>
                  <a:cubicBezTo>
                    <a:pt x="1830" y="452"/>
                    <a:pt x="1825" y="445"/>
                    <a:pt x="1818" y="441"/>
                  </a:cubicBezTo>
                  <a:close/>
                  <a:moveTo>
                    <a:pt x="1617" y="619"/>
                  </a:moveTo>
                  <a:cubicBezTo>
                    <a:pt x="213" y="619"/>
                    <a:pt x="213" y="619"/>
                    <a:pt x="213" y="619"/>
                  </a:cubicBezTo>
                  <a:cubicBezTo>
                    <a:pt x="213" y="555"/>
                    <a:pt x="213" y="555"/>
                    <a:pt x="213" y="555"/>
                  </a:cubicBezTo>
                  <a:cubicBezTo>
                    <a:pt x="1617" y="555"/>
                    <a:pt x="1617" y="555"/>
                    <a:pt x="1617" y="555"/>
                  </a:cubicBezTo>
                  <a:lnTo>
                    <a:pt x="1617" y="619"/>
                  </a:lnTo>
                  <a:close/>
                  <a:moveTo>
                    <a:pt x="1786" y="511"/>
                  </a:moveTo>
                  <a:cubicBezTo>
                    <a:pt x="1661" y="511"/>
                    <a:pt x="1661" y="511"/>
                    <a:pt x="1661" y="511"/>
                  </a:cubicBezTo>
                  <a:cubicBezTo>
                    <a:pt x="1617" y="511"/>
                    <a:pt x="1617" y="511"/>
                    <a:pt x="1617" y="511"/>
                  </a:cubicBezTo>
                  <a:cubicBezTo>
                    <a:pt x="213" y="511"/>
                    <a:pt x="213" y="511"/>
                    <a:pt x="213" y="511"/>
                  </a:cubicBezTo>
                  <a:cubicBezTo>
                    <a:pt x="169" y="511"/>
                    <a:pt x="169" y="511"/>
                    <a:pt x="169" y="511"/>
                  </a:cubicBezTo>
                  <a:cubicBezTo>
                    <a:pt x="44" y="511"/>
                    <a:pt x="44" y="511"/>
                    <a:pt x="44" y="511"/>
                  </a:cubicBezTo>
                  <a:cubicBezTo>
                    <a:pt x="44" y="474"/>
                    <a:pt x="44" y="474"/>
                    <a:pt x="44" y="474"/>
                  </a:cubicBezTo>
                  <a:cubicBezTo>
                    <a:pt x="915" y="47"/>
                    <a:pt x="915" y="47"/>
                    <a:pt x="915" y="47"/>
                  </a:cubicBezTo>
                  <a:cubicBezTo>
                    <a:pt x="1786" y="474"/>
                    <a:pt x="1786" y="474"/>
                    <a:pt x="1786" y="474"/>
                  </a:cubicBezTo>
                  <a:lnTo>
                    <a:pt x="1786" y="511"/>
                  </a:ln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1" name="Freeform 6">
              <a:extLst>
                <a:ext uri="{FF2B5EF4-FFF2-40B4-BE49-F238E27FC236}">
                  <a16:creationId xmlns:a16="http://schemas.microsoft.com/office/drawing/2014/main" id="{1D77D616-DB7C-40F8-9632-BC312012A1CE}"/>
                </a:ext>
              </a:extLst>
            </p:cNvPr>
            <p:cNvSpPr>
              <a:spLocks noEditPoints="1"/>
            </p:cNvSpPr>
            <p:nvPr/>
          </p:nvSpPr>
          <p:spPr bwMode="auto">
            <a:xfrm>
              <a:off x="2574" y="778"/>
              <a:ext cx="2529" cy="2516"/>
            </a:xfrm>
            <a:custGeom>
              <a:avLst/>
              <a:gdLst>
                <a:gd name="T0" fmla="*/ 783 w 1350"/>
                <a:gd name="T1" fmla="*/ 108 h 1342"/>
                <a:gd name="T2" fmla="*/ 675 w 1350"/>
                <a:gd name="T3" fmla="*/ 216 h 1342"/>
                <a:gd name="T4" fmla="*/ 567 w 1350"/>
                <a:gd name="T5" fmla="*/ 108 h 1342"/>
                <a:gd name="T6" fmla="*/ 675 w 1350"/>
                <a:gd name="T7" fmla="*/ 0 h 1342"/>
                <a:gd name="T8" fmla="*/ 783 w 1350"/>
                <a:gd name="T9" fmla="*/ 108 h 1342"/>
                <a:gd name="T10" fmla="*/ 174 w 1350"/>
                <a:gd name="T11" fmla="*/ 540 h 1342"/>
                <a:gd name="T12" fmla="*/ 164 w 1350"/>
                <a:gd name="T13" fmla="*/ 531 h 1342"/>
                <a:gd name="T14" fmla="*/ 35 w 1350"/>
                <a:gd name="T15" fmla="*/ 531 h 1342"/>
                <a:gd name="T16" fmla="*/ 25 w 1350"/>
                <a:gd name="T17" fmla="*/ 540 h 1342"/>
                <a:gd name="T18" fmla="*/ 0 w 1350"/>
                <a:gd name="T19" fmla="*/ 1332 h 1342"/>
                <a:gd name="T20" fmla="*/ 10 w 1350"/>
                <a:gd name="T21" fmla="*/ 1342 h 1342"/>
                <a:gd name="T22" fmla="*/ 188 w 1350"/>
                <a:gd name="T23" fmla="*/ 1342 h 1342"/>
                <a:gd name="T24" fmla="*/ 198 w 1350"/>
                <a:gd name="T25" fmla="*/ 1332 h 1342"/>
                <a:gd name="T26" fmla="*/ 174 w 1350"/>
                <a:gd name="T27" fmla="*/ 540 h 1342"/>
                <a:gd name="T28" fmla="*/ 557 w 1350"/>
                <a:gd name="T29" fmla="*/ 540 h 1342"/>
                <a:gd name="T30" fmla="*/ 548 w 1350"/>
                <a:gd name="T31" fmla="*/ 531 h 1342"/>
                <a:gd name="T32" fmla="*/ 418 w 1350"/>
                <a:gd name="T33" fmla="*/ 531 h 1342"/>
                <a:gd name="T34" fmla="*/ 409 w 1350"/>
                <a:gd name="T35" fmla="*/ 540 h 1342"/>
                <a:gd name="T36" fmla="*/ 384 w 1350"/>
                <a:gd name="T37" fmla="*/ 1332 h 1342"/>
                <a:gd name="T38" fmla="*/ 394 w 1350"/>
                <a:gd name="T39" fmla="*/ 1342 h 1342"/>
                <a:gd name="T40" fmla="*/ 572 w 1350"/>
                <a:gd name="T41" fmla="*/ 1342 h 1342"/>
                <a:gd name="T42" fmla="*/ 582 w 1350"/>
                <a:gd name="T43" fmla="*/ 1332 h 1342"/>
                <a:gd name="T44" fmla="*/ 557 w 1350"/>
                <a:gd name="T45" fmla="*/ 540 h 1342"/>
                <a:gd name="T46" fmla="*/ 941 w 1350"/>
                <a:gd name="T47" fmla="*/ 540 h 1342"/>
                <a:gd name="T48" fmla="*/ 932 w 1350"/>
                <a:gd name="T49" fmla="*/ 531 h 1342"/>
                <a:gd name="T50" fmla="*/ 802 w 1350"/>
                <a:gd name="T51" fmla="*/ 531 h 1342"/>
                <a:gd name="T52" fmla="*/ 793 w 1350"/>
                <a:gd name="T53" fmla="*/ 540 h 1342"/>
                <a:gd name="T54" fmla="*/ 768 w 1350"/>
                <a:gd name="T55" fmla="*/ 1332 h 1342"/>
                <a:gd name="T56" fmla="*/ 778 w 1350"/>
                <a:gd name="T57" fmla="*/ 1342 h 1342"/>
                <a:gd name="T58" fmla="*/ 956 w 1350"/>
                <a:gd name="T59" fmla="*/ 1342 h 1342"/>
                <a:gd name="T60" fmla="*/ 966 w 1350"/>
                <a:gd name="T61" fmla="*/ 1332 h 1342"/>
                <a:gd name="T62" fmla="*/ 941 w 1350"/>
                <a:gd name="T63" fmla="*/ 540 h 1342"/>
                <a:gd name="T64" fmla="*/ 1325 w 1350"/>
                <a:gd name="T65" fmla="*/ 540 h 1342"/>
                <a:gd name="T66" fmla="*/ 1315 w 1350"/>
                <a:gd name="T67" fmla="*/ 531 h 1342"/>
                <a:gd name="T68" fmla="*/ 1186 w 1350"/>
                <a:gd name="T69" fmla="*/ 531 h 1342"/>
                <a:gd name="T70" fmla="*/ 1176 w 1350"/>
                <a:gd name="T71" fmla="*/ 540 h 1342"/>
                <a:gd name="T72" fmla="*/ 1152 w 1350"/>
                <a:gd name="T73" fmla="*/ 1332 h 1342"/>
                <a:gd name="T74" fmla="*/ 1162 w 1350"/>
                <a:gd name="T75" fmla="*/ 1342 h 1342"/>
                <a:gd name="T76" fmla="*/ 1340 w 1350"/>
                <a:gd name="T77" fmla="*/ 1342 h 1342"/>
                <a:gd name="T78" fmla="*/ 1350 w 1350"/>
                <a:gd name="T79" fmla="*/ 1332 h 1342"/>
                <a:gd name="T80" fmla="*/ 1325 w 1350"/>
                <a:gd name="T81" fmla="*/ 540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50" h="1342">
                  <a:moveTo>
                    <a:pt x="783" y="108"/>
                  </a:moveTo>
                  <a:cubicBezTo>
                    <a:pt x="783" y="167"/>
                    <a:pt x="735" y="216"/>
                    <a:pt x="675" y="216"/>
                  </a:cubicBezTo>
                  <a:cubicBezTo>
                    <a:pt x="615" y="216"/>
                    <a:pt x="567" y="167"/>
                    <a:pt x="567" y="108"/>
                  </a:cubicBezTo>
                  <a:cubicBezTo>
                    <a:pt x="567" y="48"/>
                    <a:pt x="615" y="0"/>
                    <a:pt x="675" y="0"/>
                  </a:cubicBezTo>
                  <a:cubicBezTo>
                    <a:pt x="735" y="0"/>
                    <a:pt x="783" y="48"/>
                    <a:pt x="783" y="108"/>
                  </a:cubicBezTo>
                  <a:close/>
                  <a:moveTo>
                    <a:pt x="174" y="540"/>
                  </a:moveTo>
                  <a:cubicBezTo>
                    <a:pt x="174" y="535"/>
                    <a:pt x="169" y="531"/>
                    <a:pt x="164" y="531"/>
                  </a:cubicBezTo>
                  <a:cubicBezTo>
                    <a:pt x="35" y="531"/>
                    <a:pt x="35" y="531"/>
                    <a:pt x="35" y="531"/>
                  </a:cubicBezTo>
                  <a:cubicBezTo>
                    <a:pt x="29" y="531"/>
                    <a:pt x="25" y="535"/>
                    <a:pt x="25" y="540"/>
                  </a:cubicBezTo>
                  <a:cubicBezTo>
                    <a:pt x="0" y="1332"/>
                    <a:pt x="0" y="1332"/>
                    <a:pt x="0" y="1332"/>
                  </a:cubicBezTo>
                  <a:cubicBezTo>
                    <a:pt x="0" y="1337"/>
                    <a:pt x="5" y="1342"/>
                    <a:pt x="10" y="1342"/>
                  </a:cubicBezTo>
                  <a:cubicBezTo>
                    <a:pt x="188" y="1342"/>
                    <a:pt x="188" y="1342"/>
                    <a:pt x="188" y="1342"/>
                  </a:cubicBezTo>
                  <a:cubicBezTo>
                    <a:pt x="194" y="1342"/>
                    <a:pt x="198" y="1337"/>
                    <a:pt x="198" y="1332"/>
                  </a:cubicBezTo>
                  <a:lnTo>
                    <a:pt x="174" y="540"/>
                  </a:lnTo>
                  <a:close/>
                  <a:moveTo>
                    <a:pt x="557" y="540"/>
                  </a:moveTo>
                  <a:cubicBezTo>
                    <a:pt x="557" y="535"/>
                    <a:pt x="553" y="531"/>
                    <a:pt x="548" y="531"/>
                  </a:cubicBezTo>
                  <a:cubicBezTo>
                    <a:pt x="418" y="531"/>
                    <a:pt x="418" y="531"/>
                    <a:pt x="418" y="531"/>
                  </a:cubicBezTo>
                  <a:cubicBezTo>
                    <a:pt x="413" y="531"/>
                    <a:pt x="409" y="535"/>
                    <a:pt x="409" y="540"/>
                  </a:cubicBezTo>
                  <a:cubicBezTo>
                    <a:pt x="384" y="1332"/>
                    <a:pt x="384" y="1332"/>
                    <a:pt x="384" y="1332"/>
                  </a:cubicBezTo>
                  <a:cubicBezTo>
                    <a:pt x="384" y="1337"/>
                    <a:pt x="389" y="1342"/>
                    <a:pt x="394" y="1342"/>
                  </a:cubicBezTo>
                  <a:cubicBezTo>
                    <a:pt x="572" y="1342"/>
                    <a:pt x="572" y="1342"/>
                    <a:pt x="572" y="1342"/>
                  </a:cubicBezTo>
                  <a:cubicBezTo>
                    <a:pt x="578" y="1342"/>
                    <a:pt x="582" y="1337"/>
                    <a:pt x="582" y="1332"/>
                  </a:cubicBezTo>
                  <a:lnTo>
                    <a:pt x="557" y="540"/>
                  </a:lnTo>
                  <a:close/>
                  <a:moveTo>
                    <a:pt x="941" y="540"/>
                  </a:moveTo>
                  <a:cubicBezTo>
                    <a:pt x="941" y="535"/>
                    <a:pt x="937" y="531"/>
                    <a:pt x="932" y="531"/>
                  </a:cubicBezTo>
                  <a:cubicBezTo>
                    <a:pt x="802" y="531"/>
                    <a:pt x="802" y="531"/>
                    <a:pt x="802" y="531"/>
                  </a:cubicBezTo>
                  <a:cubicBezTo>
                    <a:pt x="797" y="531"/>
                    <a:pt x="793" y="535"/>
                    <a:pt x="793" y="540"/>
                  </a:cubicBezTo>
                  <a:cubicBezTo>
                    <a:pt x="768" y="1332"/>
                    <a:pt x="768" y="1332"/>
                    <a:pt x="768" y="1332"/>
                  </a:cubicBezTo>
                  <a:cubicBezTo>
                    <a:pt x="768" y="1337"/>
                    <a:pt x="772" y="1342"/>
                    <a:pt x="778" y="1342"/>
                  </a:cubicBezTo>
                  <a:cubicBezTo>
                    <a:pt x="956" y="1342"/>
                    <a:pt x="956" y="1342"/>
                    <a:pt x="956" y="1342"/>
                  </a:cubicBezTo>
                  <a:cubicBezTo>
                    <a:pt x="961" y="1342"/>
                    <a:pt x="966" y="1337"/>
                    <a:pt x="966" y="1332"/>
                  </a:cubicBezTo>
                  <a:lnTo>
                    <a:pt x="941" y="540"/>
                  </a:lnTo>
                  <a:close/>
                  <a:moveTo>
                    <a:pt x="1325" y="540"/>
                  </a:moveTo>
                  <a:cubicBezTo>
                    <a:pt x="1325" y="535"/>
                    <a:pt x="1321" y="531"/>
                    <a:pt x="1315" y="531"/>
                  </a:cubicBezTo>
                  <a:cubicBezTo>
                    <a:pt x="1186" y="531"/>
                    <a:pt x="1186" y="531"/>
                    <a:pt x="1186" y="531"/>
                  </a:cubicBezTo>
                  <a:cubicBezTo>
                    <a:pt x="1181" y="531"/>
                    <a:pt x="1176" y="535"/>
                    <a:pt x="1176" y="540"/>
                  </a:cubicBezTo>
                  <a:cubicBezTo>
                    <a:pt x="1152" y="1332"/>
                    <a:pt x="1152" y="1332"/>
                    <a:pt x="1152" y="1332"/>
                  </a:cubicBezTo>
                  <a:cubicBezTo>
                    <a:pt x="1152" y="1337"/>
                    <a:pt x="1156" y="1342"/>
                    <a:pt x="1162" y="1342"/>
                  </a:cubicBezTo>
                  <a:cubicBezTo>
                    <a:pt x="1340" y="1342"/>
                    <a:pt x="1340" y="1342"/>
                    <a:pt x="1340" y="1342"/>
                  </a:cubicBezTo>
                  <a:cubicBezTo>
                    <a:pt x="1345" y="1342"/>
                    <a:pt x="1350" y="1337"/>
                    <a:pt x="1350" y="1332"/>
                  </a:cubicBezTo>
                  <a:lnTo>
                    <a:pt x="1325" y="540"/>
                  </a:ln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12" name="TB512"/>
          <p:cNvSpPr txBox="1"/>
          <p:nvPr/>
        </p:nvSpPr>
        <p:spPr>
          <a:xfrm>
            <a:off x="8625840" y="5173218"/>
            <a:ext cx="1935480" cy="219456"/>
          </a:xfrm>
          <a:prstGeom prst="rect">
            <a:avLst/>
          </a:prstGeom>
          <a:noFill/>
        </p:spPr>
        <p:txBody>
          <a:bodyPr wrap="square" rtlCol="0" anchor="t"/>
          <a:lstStyle/>
          <a:p>
            <a:r>
              <a:rPr lang="en-US" sz="1100" b="1" dirty="0">
                <a:solidFill>
                  <a:srgbClr val="575757"/>
                </a:solidFill>
                <a:latin typeface="Trebuchet MS"/>
              </a:rPr>
              <a:t>6. Debt Paydown</a:t>
            </a:r>
          </a:p>
        </p:txBody>
      </p:sp>
      <p:sp>
        <p:nvSpPr>
          <p:cNvPr id="513" name="TB513"/>
          <p:cNvSpPr txBox="1"/>
          <p:nvPr/>
        </p:nvSpPr>
        <p:spPr>
          <a:xfrm>
            <a:off x="8625840" y="5410962"/>
            <a:ext cx="1935480" cy="477774"/>
          </a:xfrm>
          <a:prstGeom prst="rect">
            <a:avLst/>
          </a:prstGeom>
          <a:noFill/>
        </p:spPr>
        <p:txBody>
          <a:bodyPr wrap="square" rtlCol="0" anchor="t"/>
          <a:lstStyle/>
          <a:p>
            <a:r>
              <a:rPr lang="en-US" sz="1000" dirty="0">
                <a:solidFill>
                  <a:srgbClr val="575757"/>
                </a:solidFill>
                <a:latin typeface="Trebuchet MS"/>
              </a:rPr>
              <a:t>₹2,700 Cr cumulative FCF retires senior debt</a:t>
            </a:r>
          </a:p>
        </p:txBody>
      </p:sp>
      <p:sp>
        <p:nvSpPr>
          <p:cNvPr id="514" name="R514"/>
          <p:cNvSpPr/>
          <p:nvPr/>
        </p:nvSpPr>
        <p:spPr>
          <a:xfrm>
            <a:off x="10652760" y="5173218"/>
            <a:ext cx="868680" cy="697230"/>
          </a:xfrm>
          <a:prstGeom prst="rect">
            <a:avLst/>
          </a:prstGeom>
          <a:solidFill>
            <a:srgbClr val="575757"/>
          </a:solidFill>
          <a:ln>
            <a:noFill/>
          </a:ln>
        </p:spPr>
        <p:txBody>
          <a:bodyPr/>
          <a:lstStyle/>
          <a:p>
            <a:endParaRPr lang="en-US"/>
          </a:p>
        </p:txBody>
      </p:sp>
      <p:sp>
        <p:nvSpPr>
          <p:cNvPr id="515" name="TB515"/>
          <p:cNvSpPr txBox="1"/>
          <p:nvPr/>
        </p:nvSpPr>
        <p:spPr>
          <a:xfrm>
            <a:off x="10652760" y="5173218"/>
            <a:ext cx="868680" cy="697230"/>
          </a:xfrm>
          <a:prstGeom prst="rect">
            <a:avLst/>
          </a:prstGeom>
          <a:noFill/>
        </p:spPr>
        <p:txBody>
          <a:bodyPr wrap="square" rtlCol="0" anchor="ctr"/>
          <a:lstStyle/>
          <a:p>
            <a:pPr algn="ctr"/>
            <a:r>
              <a:rPr lang="en-US" sz="1200" b="1" dirty="0">
                <a:solidFill>
                  <a:srgbClr val="FFFFFF"/>
                </a:solidFill>
                <a:latin typeface="Trebuchet MS"/>
              </a:rPr>
              <a:t>₹2,855 Cr</a:t>
            </a:r>
          </a:p>
        </p:txBody>
      </p:sp>
      <p:graphicFrame>
        <p:nvGraphicFramePr>
          <p:cNvPr id="516" name="Chart 515"/>
          <p:cNvGraphicFramePr>
            <a:graphicFrameLocks noGrp="1"/>
          </p:cNvGraphicFramePr>
          <p:nvPr>
            <p:extLst>
              <p:ext uri="{D42A27DB-BD31-4B8C-83A1-F6EECF244321}">
                <p14:modId xmlns:p14="http://schemas.microsoft.com/office/powerpoint/2010/main" val="1779521703"/>
              </p:ext>
            </p:extLst>
          </p:nvPr>
        </p:nvGraphicFramePr>
        <p:xfrm>
          <a:off x="630936" y="2075688"/>
          <a:ext cx="10936224" cy="1933956"/>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421246-F14E-98E4-8994-DBE634F16340}"/>
              </a:ext>
            </a:extLst>
          </p:cNvPr>
          <p:cNvGraphicFramePr>
            <a:graphicFrameLocks noChangeAspect="1"/>
          </p:cNvGraphicFramePr>
          <p:nvPr>
            <p:custDataLst>
              <p:tags r:id="rId1"/>
            </p:custDataLst>
            <p:extLst>
              <p:ext uri="{D42A27DB-BD31-4B8C-83A1-F6EECF244321}">
                <p14:modId xmlns:p14="http://schemas.microsoft.com/office/powerpoint/2010/main" val="30274408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16" name="ph_title"/>
          <p:cNvSpPr>
            <a:spLocks noGrp="1"/>
          </p:cNvSpPr>
          <p:nvPr>
            <p:ph type="title"/>
          </p:nvPr>
        </p:nvSpPr>
        <p:spPr/>
        <p:txBody>
          <a:bodyPr vert="horz"/>
          <a:lstStyle/>
          <a:p>
            <a:r>
              <a:rPr lang="en-US" dirty="0"/>
              <a:t>Six execution risks managed via clear gates — Phase 1 launch within 90 days</a:t>
            </a:r>
          </a:p>
        </p:txBody>
      </p:sp>
      <p:sp>
        <p:nvSpPr>
          <p:cNvPr id="517" name="R517"/>
          <p:cNvSpPr/>
          <p:nvPr/>
        </p:nvSpPr>
        <p:spPr>
          <a:xfrm>
            <a:off x="630936" y="2075688"/>
            <a:ext cx="5686836" cy="329184"/>
          </a:xfrm>
          <a:prstGeom prst="rect">
            <a:avLst/>
          </a:prstGeom>
          <a:solidFill>
            <a:schemeClr val="tx2"/>
          </a:solidFill>
          <a:ln>
            <a:noFill/>
          </a:ln>
        </p:spPr>
        <p:txBody>
          <a:bodyPr/>
          <a:lstStyle/>
          <a:p>
            <a:endParaRPr lang="en-US"/>
          </a:p>
        </p:txBody>
      </p:sp>
      <p:sp>
        <p:nvSpPr>
          <p:cNvPr id="518" name="TB518"/>
          <p:cNvSpPr txBox="1"/>
          <p:nvPr/>
        </p:nvSpPr>
        <p:spPr>
          <a:xfrm>
            <a:off x="768096" y="2075688"/>
            <a:ext cx="5412516" cy="329184"/>
          </a:xfrm>
          <a:prstGeom prst="rect">
            <a:avLst/>
          </a:prstGeom>
          <a:noFill/>
        </p:spPr>
        <p:txBody>
          <a:bodyPr wrap="square" rtlCol="0" anchor="ctr"/>
          <a:lstStyle/>
          <a:p>
            <a:r>
              <a:rPr lang="en-US" sz="1300" b="1" dirty="0">
                <a:solidFill>
                  <a:srgbClr val="FFFFFF"/>
                </a:solidFill>
                <a:latin typeface="Trebuchet MS"/>
              </a:rPr>
              <a:t>Top Risks &amp; Mitigation</a:t>
            </a:r>
          </a:p>
        </p:txBody>
      </p:sp>
      <p:graphicFrame>
        <p:nvGraphicFramePr>
          <p:cNvPr id="519" name="Table 519"/>
          <p:cNvGraphicFramePr>
            <a:graphicFrameLocks noGrp="1"/>
          </p:cNvGraphicFramePr>
          <p:nvPr>
            <p:extLst>
              <p:ext uri="{D42A27DB-BD31-4B8C-83A1-F6EECF244321}">
                <p14:modId xmlns:p14="http://schemas.microsoft.com/office/powerpoint/2010/main" val="3196322704"/>
              </p:ext>
            </p:extLst>
          </p:nvPr>
        </p:nvGraphicFramePr>
        <p:xfrm>
          <a:off x="630936" y="2441448"/>
          <a:ext cx="5686836" cy="2499360"/>
        </p:xfrm>
        <a:graphic>
          <a:graphicData uri="http://schemas.openxmlformats.org/drawingml/2006/table">
            <a:tbl>
              <a:tblPr firstRow="1">
                <a:noFill/>
              </a:tblPr>
              <a:tblGrid>
                <a:gridCol w="1895612">
                  <a:extLst>
                    <a:ext uri="{9D8B030D-6E8A-4147-A177-3AD203B41FA5}">
                      <a16:colId xmlns:a16="http://schemas.microsoft.com/office/drawing/2014/main" val="20000"/>
                    </a:ext>
                  </a:extLst>
                </a:gridCol>
                <a:gridCol w="1895612">
                  <a:extLst>
                    <a:ext uri="{9D8B030D-6E8A-4147-A177-3AD203B41FA5}">
                      <a16:colId xmlns:a16="http://schemas.microsoft.com/office/drawing/2014/main" val="20001"/>
                    </a:ext>
                  </a:extLst>
                </a:gridCol>
                <a:gridCol w="1895612">
                  <a:extLst>
                    <a:ext uri="{9D8B030D-6E8A-4147-A177-3AD203B41FA5}">
                      <a16:colId xmlns:a16="http://schemas.microsoft.com/office/drawing/2014/main" val="20002"/>
                    </a:ext>
                  </a:extLst>
                </a:gridCol>
              </a:tblGrid>
              <a:tr h="365760">
                <a:tc>
                  <a:txBody>
                    <a:bodyPr/>
                    <a:lstStyle/>
                    <a:p>
                      <a:pPr algn="l"/>
                      <a:r>
                        <a:rPr lang="en-US" sz="1200" b="1" dirty="0">
                          <a:solidFill>
                            <a:srgbClr val="FFFFFF"/>
                          </a:solidFill>
                          <a:latin typeface="Trebuchet MS"/>
                          <a:cs typeface="Trebuchet MS"/>
                        </a:rPr>
                        <a:t>Risk</a:t>
                      </a:r>
                    </a:p>
                  </a:txBody>
                  <a:tcPr>
                    <a:lnL w="0">
                      <a:noFill/>
                    </a:lnL>
                    <a:lnR w="0">
                      <a:noFill/>
                    </a:lnR>
                    <a:lnT w="0">
                      <a:noFill/>
                    </a:lnT>
                    <a:lnB w="0">
                      <a:noFill/>
                    </a:lnB>
                    <a:solidFill>
                      <a:schemeClr val="accent1"/>
                    </a:solidFill>
                  </a:tcPr>
                </a:tc>
                <a:tc>
                  <a:txBody>
                    <a:bodyPr/>
                    <a:lstStyle/>
                    <a:p>
                      <a:pPr algn="ctr"/>
                      <a:r>
                        <a:rPr lang="en-US" sz="1200" b="1" dirty="0">
                          <a:solidFill>
                            <a:srgbClr val="FFFFFF"/>
                          </a:solidFill>
                          <a:latin typeface="Trebuchet MS"/>
                          <a:cs typeface="Trebuchet MS"/>
                        </a:rPr>
                        <a:t>Sev</a:t>
                      </a:r>
                    </a:p>
                  </a:txBody>
                  <a:tcPr>
                    <a:lnL w="0">
                      <a:noFill/>
                    </a:lnL>
                    <a:lnR w="0">
                      <a:noFill/>
                    </a:lnR>
                    <a:lnT w="0">
                      <a:noFill/>
                    </a:lnT>
                    <a:lnB w="0">
                      <a:noFill/>
                    </a:lnB>
                    <a:solidFill>
                      <a:schemeClr val="accent1"/>
                    </a:solidFill>
                  </a:tcPr>
                </a:tc>
                <a:tc>
                  <a:txBody>
                    <a:bodyPr/>
                    <a:lstStyle/>
                    <a:p>
                      <a:pPr algn="l"/>
                      <a:r>
                        <a:rPr lang="en-US" sz="1200" b="1" dirty="0">
                          <a:solidFill>
                            <a:srgbClr val="FFFFFF"/>
                          </a:solidFill>
                          <a:latin typeface="Trebuchet MS"/>
                          <a:cs typeface="Trebuchet MS"/>
                        </a:rPr>
                        <a:t>Mitigation</a:t>
                      </a:r>
                    </a:p>
                  </a:txBody>
                  <a:tcPr>
                    <a:lnL w="0">
                      <a:noFill/>
                    </a:lnL>
                    <a:lnR w="0">
                      <a:noFill/>
                    </a:lnR>
                    <a:lnT w="0">
                      <a:noFill/>
                    </a:lnT>
                    <a:lnB w="0">
                      <a:noFill/>
                    </a:lnB>
                    <a:solidFill>
                      <a:schemeClr val="accent1"/>
                    </a:solidFill>
                  </a:tcPr>
                </a:tc>
                <a:extLst>
                  <a:ext uri="{0D108BD9-81ED-4DB2-BD59-A6C34878D82A}">
                    <a16:rowId xmlns:a16="http://schemas.microsoft.com/office/drawing/2014/main" val="10000"/>
                  </a:ext>
                </a:extLst>
              </a:tr>
              <a:tr h="365760">
                <a:tc>
                  <a:txBody>
                    <a:bodyPr/>
                    <a:lstStyle/>
                    <a:p>
                      <a:pPr algn="l"/>
                      <a:r>
                        <a:rPr lang="en-US" sz="1100" dirty="0">
                          <a:solidFill>
                            <a:srgbClr val="575757"/>
                          </a:solidFill>
                          <a:latin typeface="Trebuchet MS"/>
                          <a:cs typeface="Trebuchet MS"/>
                        </a:rPr>
                        <a:t>Promoter retention (KIMS, Rainbow)</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H</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3-yr earn-out + Chair role</a:t>
                      </a:r>
                    </a:p>
                  </a:txBody>
                  <a:tcPr>
                    <a:lnL w="0">
                      <a:noFill/>
                    </a:lnL>
                    <a:lnR w="0">
                      <a:noFill/>
                    </a:lnR>
                    <a:lnT w="0">
                      <a:noFill/>
                    </a:lnT>
                    <a:lnB w="0">
                      <a:noFill/>
                    </a:lnB>
                    <a:solidFill>
                      <a:srgbClr val="FFFFFF"/>
                    </a:solidFill>
                  </a:tcPr>
                </a:tc>
                <a:extLst>
                  <a:ext uri="{0D108BD9-81ED-4DB2-BD59-A6C34878D82A}">
                    <a16:rowId xmlns:a16="http://schemas.microsoft.com/office/drawing/2014/main" val="10001"/>
                  </a:ext>
                </a:extLst>
              </a:tr>
              <a:tr h="365760">
                <a:tc>
                  <a:txBody>
                    <a:bodyPr/>
                    <a:lstStyle/>
                    <a:p>
                      <a:pPr algn="l"/>
                      <a:r>
                        <a:rPr lang="en-US" sz="1100" dirty="0">
                          <a:solidFill>
                            <a:srgbClr val="575757"/>
                          </a:solidFill>
                          <a:latin typeface="Trebuchet MS"/>
                          <a:cs typeface="Trebuchet MS"/>
                        </a:rPr>
                        <a:t>Integration capacity overload</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H</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Phased — KIMS+HCG only Y1</a:t>
                      </a:r>
                    </a:p>
                  </a:txBody>
                  <a:tcPr>
                    <a:lnL w="0">
                      <a:noFill/>
                    </a:lnL>
                    <a:lnR w="0">
                      <a:noFill/>
                    </a:lnR>
                    <a:lnT w="0">
                      <a:noFill/>
                    </a:lnT>
                    <a:lnB w="0">
                      <a:noFill/>
                    </a:lnB>
                    <a:solidFill>
                      <a:srgbClr val="F2F2F2"/>
                    </a:solidFill>
                  </a:tcPr>
                </a:tc>
                <a:extLst>
                  <a:ext uri="{0D108BD9-81ED-4DB2-BD59-A6C34878D82A}">
                    <a16:rowId xmlns:a16="http://schemas.microsoft.com/office/drawing/2014/main" val="10002"/>
                  </a:ext>
                </a:extLst>
              </a:tr>
              <a:tr h="365760">
                <a:tc>
                  <a:txBody>
                    <a:bodyPr/>
                    <a:lstStyle/>
                    <a:p>
                      <a:pPr algn="l"/>
                      <a:r>
                        <a:rPr lang="en-US" sz="1100" dirty="0">
                          <a:solidFill>
                            <a:srgbClr val="575757"/>
                          </a:solidFill>
                          <a:latin typeface="Trebuchet MS"/>
                          <a:cs typeface="Trebuchet MS"/>
                        </a:rPr>
                        <a:t>Antitrust (CCI delays)</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M</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Pre-file, ringfence overlap states</a:t>
                      </a:r>
                    </a:p>
                  </a:txBody>
                  <a:tcPr>
                    <a:lnL w="0">
                      <a:noFill/>
                    </a:lnL>
                    <a:lnR w="0">
                      <a:noFill/>
                    </a:lnR>
                    <a:lnT w="0">
                      <a:noFill/>
                    </a:lnT>
                    <a:lnB w="0">
                      <a:noFill/>
                    </a:lnB>
                    <a:solidFill>
                      <a:srgbClr val="FFFFFF"/>
                    </a:solidFill>
                  </a:tcPr>
                </a:tc>
                <a:extLst>
                  <a:ext uri="{0D108BD9-81ED-4DB2-BD59-A6C34878D82A}">
                    <a16:rowId xmlns:a16="http://schemas.microsoft.com/office/drawing/2014/main" val="10003"/>
                  </a:ext>
                </a:extLst>
              </a:tr>
              <a:tr h="365760">
                <a:tc>
                  <a:txBody>
                    <a:bodyPr/>
                    <a:lstStyle/>
                    <a:p>
                      <a:pPr algn="l"/>
                      <a:r>
                        <a:rPr lang="en-US" sz="1100" dirty="0">
                          <a:solidFill>
                            <a:srgbClr val="575757"/>
                          </a:solidFill>
                          <a:latin typeface="Trebuchet MS"/>
                          <a:cs typeface="Trebuchet MS"/>
                        </a:rPr>
                        <a:t>Synergy realization shortfall</a:t>
                      </a:r>
                    </a:p>
                  </a:txBody>
                  <a:tcPr>
                    <a:lnL w="0">
                      <a:noFill/>
                    </a:lnL>
                    <a:lnR w="0">
                      <a:noFill/>
                    </a:lnR>
                    <a:lnT w="0">
                      <a:noFill/>
                    </a:lnT>
                    <a:lnB w="0">
                      <a:noFill/>
                    </a:lnB>
                    <a:solidFill>
                      <a:srgbClr val="F2F2F2"/>
                    </a:solidFill>
                  </a:tcPr>
                </a:tc>
                <a:tc>
                  <a:txBody>
                    <a:bodyPr/>
                    <a:lstStyle/>
                    <a:p>
                      <a:pPr algn="ctr"/>
                      <a:r>
                        <a:rPr lang="en-US" sz="1100" dirty="0">
                          <a:solidFill>
                            <a:srgbClr val="575757"/>
                          </a:solidFill>
                          <a:latin typeface="Trebuchet MS"/>
                          <a:cs typeface="Trebuchet MS"/>
                        </a:rPr>
                        <a:t>M</a:t>
                      </a:r>
                    </a:p>
                  </a:txBody>
                  <a:tcPr>
                    <a:lnL w="0">
                      <a:noFill/>
                    </a:lnL>
                    <a:lnR w="0">
                      <a:noFill/>
                    </a:lnR>
                    <a:lnT w="0">
                      <a:noFill/>
                    </a:lnT>
                    <a:lnB w="0">
                      <a:noFill/>
                    </a:lnB>
                    <a:solidFill>
                      <a:srgbClr val="F2F2F2"/>
                    </a:solidFill>
                  </a:tcPr>
                </a:tc>
                <a:tc>
                  <a:txBody>
                    <a:bodyPr/>
                    <a:lstStyle/>
                    <a:p>
                      <a:pPr algn="l"/>
                      <a:r>
                        <a:rPr lang="en-US" sz="1100" dirty="0">
                          <a:solidFill>
                            <a:srgbClr val="575757"/>
                          </a:solidFill>
                          <a:latin typeface="Trebuchet MS"/>
                          <a:cs typeface="Trebuchet MS"/>
                        </a:rPr>
                        <a:t>PMO with weekly tracking</a:t>
                      </a:r>
                    </a:p>
                  </a:txBody>
                  <a:tcPr>
                    <a:lnL w="0">
                      <a:noFill/>
                    </a:lnL>
                    <a:lnR w="0">
                      <a:noFill/>
                    </a:lnR>
                    <a:lnT w="0">
                      <a:noFill/>
                    </a:lnT>
                    <a:lnB w="0">
                      <a:noFill/>
                    </a:lnB>
                    <a:solidFill>
                      <a:srgbClr val="F2F2F2"/>
                    </a:solidFill>
                  </a:tcPr>
                </a:tc>
                <a:extLst>
                  <a:ext uri="{0D108BD9-81ED-4DB2-BD59-A6C34878D82A}">
                    <a16:rowId xmlns:a16="http://schemas.microsoft.com/office/drawing/2014/main" val="10004"/>
                  </a:ext>
                </a:extLst>
              </a:tr>
              <a:tr h="365760">
                <a:tc>
                  <a:txBody>
                    <a:bodyPr/>
                    <a:lstStyle/>
                    <a:p>
                      <a:pPr algn="l"/>
                      <a:r>
                        <a:rPr lang="en-US" sz="1100" dirty="0">
                          <a:solidFill>
                            <a:srgbClr val="575757"/>
                          </a:solidFill>
                          <a:latin typeface="Trebuchet MS"/>
                          <a:cs typeface="Trebuchet MS"/>
                        </a:rPr>
                        <a:t>Leverage covenant breach</a:t>
                      </a:r>
                    </a:p>
                  </a:txBody>
                  <a:tcPr>
                    <a:lnL w="0">
                      <a:noFill/>
                    </a:lnL>
                    <a:lnR w="0">
                      <a:noFill/>
                    </a:lnR>
                    <a:lnT w="0">
                      <a:noFill/>
                    </a:lnT>
                    <a:lnB w="0">
                      <a:noFill/>
                    </a:lnB>
                    <a:solidFill>
                      <a:srgbClr val="FFFFFF"/>
                    </a:solidFill>
                  </a:tcPr>
                </a:tc>
                <a:tc>
                  <a:txBody>
                    <a:bodyPr/>
                    <a:lstStyle/>
                    <a:p>
                      <a:pPr algn="ctr"/>
                      <a:r>
                        <a:rPr lang="en-US" sz="1100" dirty="0">
                          <a:solidFill>
                            <a:srgbClr val="575757"/>
                          </a:solidFill>
                          <a:latin typeface="Trebuchet MS"/>
                          <a:cs typeface="Trebuchet MS"/>
                        </a:rPr>
                        <a:t>M</a:t>
                      </a:r>
                    </a:p>
                  </a:txBody>
                  <a:tcPr>
                    <a:lnL w="0">
                      <a:noFill/>
                    </a:lnL>
                    <a:lnR w="0">
                      <a:noFill/>
                    </a:lnR>
                    <a:lnT w="0">
                      <a:noFill/>
                    </a:lnT>
                    <a:lnB w="0">
                      <a:noFill/>
                    </a:lnB>
                    <a:solidFill>
                      <a:srgbClr val="FFFFFF"/>
                    </a:solidFill>
                  </a:tcPr>
                </a:tc>
                <a:tc>
                  <a:txBody>
                    <a:bodyPr/>
                    <a:lstStyle/>
                    <a:p>
                      <a:pPr algn="l"/>
                      <a:r>
                        <a:rPr lang="en-US" sz="1100" dirty="0">
                          <a:solidFill>
                            <a:srgbClr val="575757"/>
                          </a:solidFill>
                          <a:latin typeface="Trebuchet MS"/>
                          <a:cs typeface="Trebuchet MS"/>
                        </a:rPr>
                        <a:t>Equity cure + mezz PIK toggle</a:t>
                      </a:r>
                    </a:p>
                  </a:txBody>
                  <a:tcPr>
                    <a:lnL w="0">
                      <a:noFill/>
                    </a:lnL>
                    <a:lnR w="0">
                      <a:noFill/>
                    </a:lnR>
                    <a:lnT w="0">
                      <a:noFill/>
                    </a:lnT>
                    <a:lnB w="0">
                      <a:noFill/>
                    </a:lnB>
                    <a:solidFill>
                      <a:srgbClr val="FFFFFF"/>
                    </a:solidFill>
                  </a:tcPr>
                </a:tc>
                <a:extLst>
                  <a:ext uri="{0D108BD9-81ED-4DB2-BD59-A6C34878D82A}">
                    <a16:rowId xmlns:a16="http://schemas.microsoft.com/office/drawing/2014/main" val="10005"/>
                  </a:ext>
                </a:extLst>
              </a:tr>
            </a:tbl>
          </a:graphicData>
        </a:graphic>
      </p:graphicFrame>
      <p:sp>
        <p:nvSpPr>
          <p:cNvPr id="520" name="R520"/>
          <p:cNvSpPr/>
          <p:nvPr/>
        </p:nvSpPr>
        <p:spPr>
          <a:xfrm>
            <a:off x="6500652" y="2075688"/>
            <a:ext cx="5066507" cy="329184"/>
          </a:xfrm>
          <a:prstGeom prst="rect">
            <a:avLst/>
          </a:prstGeom>
          <a:solidFill>
            <a:srgbClr val="242852"/>
          </a:solidFill>
          <a:ln>
            <a:noFill/>
          </a:ln>
        </p:spPr>
        <p:txBody>
          <a:bodyPr/>
          <a:lstStyle/>
          <a:p>
            <a:endParaRPr lang="en-US"/>
          </a:p>
        </p:txBody>
      </p:sp>
      <p:sp>
        <p:nvSpPr>
          <p:cNvPr id="521" name="TB521"/>
          <p:cNvSpPr txBox="1"/>
          <p:nvPr/>
        </p:nvSpPr>
        <p:spPr>
          <a:xfrm>
            <a:off x="6637812" y="2075688"/>
            <a:ext cx="4792187" cy="329184"/>
          </a:xfrm>
          <a:prstGeom prst="rect">
            <a:avLst/>
          </a:prstGeom>
          <a:noFill/>
        </p:spPr>
        <p:txBody>
          <a:bodyPr wrap="square" rtlCol="0" anchor="ctr"/>
          <a:lstStyle/>
          <a:p>
            <a:r>
              <a:rPr lang="en-US" sz="1300" b="1" dirty="0">
                <a:solidFill>
                  <a:srgbClr val="FFFFFF"/>
                </a:solidFill>
                <a:latin typeface="Trebuchet MS"/>
              </a:rPr>
              <a:t>90-Day Action Plan</a:t>
            </a:r>
          </a:p>
        </p:txBody>
      </p:sp>
      <p:sp>
        <p:nvSpPr>
          <p:cNvPr id="522" name="BL522"/>
          <p:cNvSpPr txBox="1"/>
          <p:nvPr/>
        </p:nvSpPr>
        <p:spPr>
          <a:xfrm>
            <a:off x="6592092" y="2487168"/>
            <a:ext cx="4883627" cy="2172980"/>
          </a:xfrm>
          <a:prstGeom prst="rect">
            <a:avLst/>
          </a:prstGeom>
          <a:noFill/>
        </p:spPr>
        <p:txBody>
          <a:bodyPr wrap="square" rtlCol="0" anchor="t"/>
          <a:lstStyle/>
          <a:p>
            <a:pPr marL="228600" indent="-228600" algn="l">
              <a:spcAft>
                <a:spcPts val="400"/>
              </a:spcAft>
              <a:buChar char="-"/>
            </a:pPr>
            <a:r>
              <a:rPr lang="en-US" sz="1100" b="1" dirty="0">
                <a:solidFill>
                  <a:srgbClr val="575757"/>
                </a:solidFill>
                <a:latin typeface="Trebuchet MS"/>
              </a:rPr>
              <a:t>Week 1-2: </a:t>
            </a:r>
            <a:r>
              <a:rPr lang="en-US" sz="1100" dirty="0">
                <a:solidFill>
                  <a:srgbClr val="575757"/>
                </a:solidFill>
                <a:latin typeface="Trebuchet MS"/>
              </a:rPr>
              <a:t>Board approval; engage Goldman as M&amp;A advisor</a:t>
            </a:r>
          </a:p>
          <a:p>
            <a:pPr marL="228600" indent="-228600" algn="l">
              <a:spcAft>
                <a:spcPts val="400"/>
              </a:spcAft>
              <a:buChar char="-"/>
            </a:pPr>
            <a:r>
              <a:rPr lang="en-US" sz="1100" b="1" dirty="0">
                <a:solidFill>
                  <a:srgbClr val="575757"/>
                </a:solidFill>
                <a:latin typeface="Trebuchet MS"/>
              </a:rPr>
              <a:t>Week 3-6: </a:t>
            </a:r>
            <a:r>
              <a:rPr lang="en-US" sz="1100" dirty="0">
                <a:solidFill>
                  <a:srgbClr val="575757"/>
                </a:solidFill>
                <a:latin typeface="Trebuchet MS"/>
              </a:rPr>
              <a:t>Approach KIMS promoter; sign non-binding LOI</a:t>
            </a:r>
          </a:p>
          <a:p>
            <a:pPr marL="228600" indent="-228600" algn="l">
              <a:spcAft>
                <a:spcPts val="400"/>
              </a:spcAft>
              <a:buChar char="-"/>
            </a:pPr>
            <a:r>
              <a:rPr lang="en-US" sz="1100" b="1" dirty="0">
                <a:solidFill>
                  <a:srgbClr val="575757"/>
                </a:solidFill>
                <a:latin typeface="Trebuchet MS"/>
              </a:rPr>
              <a:t>Week 7-10: </a:t>
            </a:r>
            <a:r>
              <a:rPr lang="en-US" sz="1100" dirty="0">
                <a:solidFill>
                  <a:srgbClr val="575757"/>
                </a:solidFill>
                <a:latin typeface="Trebuchet MS"/>
              </a:rPr>
              <a:t>Approach KKR for HCG; appoint DD advisors</a:t>
            </a:r>
          </a:p>
          <a:p>
            <a:pPr marL="228600" indent="-228600" algn="l">
              <a:spcAft>
                <a:spcPts val="400"/>
              </a:spcAft>
              <a:buChar char="-"/>
            </a:pPr>
            <a:r>
              <a:rPr lang="en-US" sz="1100" b="1" dirty="0">
                <a:solidFill>
                  <a:srgbClr val="575757"/>
                </a:solidFill>
                <a:latin typeface="Trebuchet MS"/>
              </a:rPr>
              <a:t>Week 11-13: </a:t>
            </a:r>
            <a:r>
              <a:rPr lang="en-US" sz="1100" dirty="0">
                <a:solidFill>
                  <a:srgbClr val="575757"/>
                </a:solidFill>
                <a:latin typeface="Trebuchet MS"/>
              </a:rPr>
              <a:t>CDD, financial DD, legal DD on both targets</a:t>
            </a:r>
          </a:p>
          <a:p>
            <a:pPr marL="228600" indent="-228600" algn="l">
              <a:spcAft>
                <a:spcPts val="400"/>
              </a:spcAft>
              <a:buChar char="-"/>
            </a:pPr>
            <a:r>
              <a:rPr lang="en-US" sz="1100" b="1" dirty="0">
                <a:solidFill>
                  <a:srgbClr val="575757"/>
                </a:solidFill>
                <a:latin typeface="Trebuchet MS"/>
              </a:rPr>
              <a:t>Day 90: </a:t>
            </a:r>
            <a:r>
              <a:rPr lang="en-US" sz="1100" dirty="0">
                <a:solidFill>
                  <a:srgbClr val="575757"/>
                </a:solidFill>
                <a:latin typeface="Trebuchet MS"/>
              </a:rPr>
              <a:t>Binding bid for HCG; term sheet for KIMS</a:t>
            </a:r>
          </a:p>
          <a:p>
            <a:pPr marL="228600" indent="-228600" algn="l">
              <a:spcAft>
                <a:spcPts val="400"/>
              </a:spcAft>
              <a:buChar char="-"/>
            </a:pPr>
            <a:r>
              <a:rPr lang="en-US" sz="1100" b="1" dirty="0">
                <a:solidFill>
                  <a:srgbClr val="575757"/>
                </a:solidFill>
                <a:latin typeface="Trebuchet MS"/>
              </a:rPr>
              <a:t>Month 4-6: </a:t>
            </a:r>
            <a:r>
              <a:rPr lang="en-US" sz="1100" dirty="0">
                <a:solidFill>
                  <a:srgbClr val="575757"/>
                </a:solidFill>
                <a:latin typeface="Trebuchet MS"/>
              </a:rPr>
              <a:t>Definitive agreements; CCI filing</a:t>
            </a:r>
          </a:p>
          <a:p>
            <a:pPr marL="228600" indent="-228600" algn="l">
              <a:spcAft>
                <a:spcPts val="400"/>
              </a:spcAft>
              <a:buChar char="-"/>
            </a:pPr>
            <a:r>
              <a:rPr lang="en-US" sz="1100" b="1" dirty="0">
                <a:solidFill>
                  <a:srgbClr val="575757"/>
                </a:solidFill>
                <a:latin typeface="Trebuchet MS"/>
              </a:rPr>
              <a:t>Month 9-12: </a:t>
            </a:r>
            <a:r>
              <a:rPr lang="en-US" sz="1100" dirty="0">
                <a:solidFill>
                  <a:srgbClr val="575757"/>
                </a:solidFill>
                <a:latin typeface="Trebuchet MS"/>
              </a:rPr>
              <a:t>Close Phase 1; prep Phase 2 (Rainbow, Jupiter)</a:t>
            </a:r>
          </a:p>
        </p:txBody>
      </p:sp>
      <p:sp>
        <p:nvSpPr>
          <p:cNvPr id="523" name="RR523"/>
          <p:cNvSpPr/>
          <p:nvPr/>
        </p:nvSpPr>
        <p:spPr>
          <a:xfrm>
            <a:off x="630936" y="4797308"/>
            <a:ext cx="10936224" cy="1146291"/>
          </a:xfrm>
          <a:prstGeom prst="roundRect">
            <a:avLst>
              <a:gd name="adj" fmla="val 8000"/>
            </a:avLst>
          </a:prstGeom>
          <a:solidFill>
            <a:srgbClr val="242852"/>
          </a:solidFill>
          <a:ln>
            <a:noFill/>
          </a:ln>
        </p:spPr>
        <p:txBody>
          <a:bodyPr/>
          <a:lstStyle/>
          <a:p>
            <a:endParaRPr lang="en-US"/>
          </a:p>
        </p:txBody>
      </p:sp>
      <p:sp>
        <p:nvSpPr>
          <p:cNvPr id="524" name="TB524"/>
          <p:cNvSpPr txBox="1"/>
          <p:nvPr/>
        </p:nvSpPr>
        <p:spPr>
          <a:xfrm>
            <a:off x="905256" y="4843028"/>
            <a:ext cx="10387584" cy="1054851"/>
          </a:xfrm>
          <a:prstGeom prst="rect">
            <a:avLst/>
          </a:prstGeom>
          <a:noFill/>
        </p:spPr>
        <p:txBody>
          <a:bodyPr wrap="square" rtlCol="0" anchor="ctr"/>
          <a:lstStyle/>
          <a:p>
            <a:pPr algn="ctr"/>
            <a:r>
              <a:rPr lang="en-US" sz="1100" b="1" dirty="0">
                <a:solidFill>
                  <a:srgbClr val="FFFFFF"/>
                </a:solidFill>
                <a:latin typeface="Trebuchet MS"/>
              </a:rPr>
              <a:t>RECOMMENDATION  </a:t>
            </a:r>
            <a:r>
              <a:rPr lang="en-US" sz="1300" b="1" dirty="0">
                <a:solidFill>
                  <a:srgbClr val="FFFFFF"/>
                </a:solidFill>
                <a:latin typeface="Trebuchet MS"/>
              </a:rPr>
              <a:t>Approve Project Apex — pursue HCG (LBO) + KIMS (strategic) as Phase 1; ~₹35,000 Cr capital for ₹3,000 Cr Phase-1 synergy NPV. Engage Goldman / BCG as advisors.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TotalTime>
  <Words>2159</Words>
  <Application>Microsoft Office PowerPoint</Application>
  <PresentationFormat>Widescreen</PresentationFormat>
  <Paragraphs>467</Paragraphs>
  <Slides>16</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16</vt:i4>
      </vt:variant>
      <vt:variant>
        <vt:lpstr>Custom Shows</vt:lpstr>
      </vt:variant>
      <vt:variant>
        <vt:i4>1</vt:i4>
      </vt:variant>
    </vt:vector>
  </HeadingPairs>
  <TitlesOfParts>
    <vt:vector size="21" baseType="lpstr">
      <vt:lpstr>Arial</vt:lpstr>
      <vt:lpstr>Trebuchet MS</vt:lpstr>
      <vt:lpstr>BCG Grid 16:9</vt:lpstr>
      <vt:lpstr>think-cell Slide</vt:lpstr>
      <vt:lpstr>Project Apex</vt:lpstr>
      <vt:lpstr>Five high-conviction targets unlock ~₹4,500 Cr of value over a 5-year hold</vt:lpstr>
      <vt:lpstr>Indian healthcare set for ~17% CAGR — hospital segment to triple by 2030</vt:lpstr>
      <vt:lpstr>Max is structurally over-indexed to North India and acute care — 3 white spaces</vt:lpstr>
      <vt:lpstr>Three M&amp;A pillars guide capital allocation: Geography, Specialty, Adjacency</vt:lpstr>
      <vt:lpstr>Screened 47 targets to a shortlist of 5 high-conviction opportunities</vt:lpstr>
      <vt:lpstr>Five targets cover all three pillars — KIMS &amp; HCG anchor the playbook</vt:lpstr>
      <vt:lpstr>KIMS Hospitals: South India market entry via #1 platform in AP/Telangana</vt:lpstr>
      <vt:lpstr>HCG (Healthcare Global): Pan-India oncology platform — primary LBO target</vt:lpstr>
      <vt:lpstr>Rainbow Children's Medicare: Premium pediatric platform with 32% EBITDA margin</vt:lpstr>
      <vt:lpstr>Synergies span four buckets — revenue 60% of total, achievable in 36 months</vt:lpstr>
      <vt:lpstr>Synergy run-rate of ₹1,250 Cr/yr by FY29 — 65% achieved by Year 3</vt:lpstr>
      <vt:lpstr>HCG transaction: ₹8,500 Cr EV at 22.4x — 29% IRR with synergies</vt:lpstr>
      <vt:lpstr>Six value creation levers drive ₹4,500 Cr of equity value over 5 years</vt:lpstr>
      <vt:lpstr>Six execution risks managed via clear gates — Phase 1 launch within 90 days</vt:lpstr>
      <vt:lpstr>PowerPoint Presentation</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Boston Consulting Group</dc:creator>
  <cp:lastModifiedBy>Bhattacharya, Bodhisatwa</cp:lastModifiedBy>
  <cp:revision>440</cp:revision>
  <cp:lastPrinted>2016-04-06T18:59:25Z</cp:lastPrinted>
  <dcterms:created xsi:type="dcterms:W3CDTF">2016-11-04T11:46:04Z</dcterms:created>
  <dcterms:modified xsi:type="dcterms:W3CDTF">2026-05-09T12:19:46Z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2026-03-02T22:47:51Z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1d0d9304-b604-40c5-9b39-c9e5f6258716</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ies>
</file>