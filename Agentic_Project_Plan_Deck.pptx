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9" d="100"/>
          <a:sy n="99" d="100"/>
        </p:scale>
        <p:origin x="6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059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54864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0" y="91440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0" y="128016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0" y="164592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0" y="54864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0" y="91440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052560" y="128016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52560" y="164592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418320" y="54864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418320" y="91440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418320" y="128016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418320" y="164592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784080" y="54864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784080" y="91440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784080" y="128016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784080" y="164592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149840" y="54864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149840" y="91440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149840" y="128016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149840" y="164592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515600" y="54864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515600" y="91440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515600" y="128016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515600" y="1645920"/>
            <a:ext cx="45720" cy="457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PLAYBOOK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1554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Offering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plan, RACI, checklist &amp; execution templates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31520" y="4206240"/>
            <a:ext cx="34747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4400" y="4297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914400" y="5074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· Discovery to Scale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80560" y="4206240"/>
            <a:ext cx="34747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4297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800" dirty="0"/>
          </a:p>
        </p:txBody>
      </p:sp>
      <p:sp>
        <p:nvSpPr>
          <p:cNvPr id="35" name="Text 33"/>
          <p:cNvSpPr/>
          <p:nvPr/>
        </p:nvSpPr>
        <p:spPr>
          <a:xfrm>
            <a:off x="4663440" y="5074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gates · No gate, no spend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0" y="4206240"/>
            <a:ext cx="34747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12480" y="4297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24+</a:t>
            </a:r>
            <a:endParaRPr lang="en-US" sz="4800" dirty="0"/>
          </a:p>
        </p:txBody>
      </p:sp>
      <p:sp>
        <p:nvSpPr>
          <p:cNvPr id="38" name="Text 36"/>
          <p:cNvSpPr/>
          <p:nvPr/>
        </p:nvSpPr>
        <p:spPr>
          <a:xfrm>
            <a:off x="8412480" y="5074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first cycle · re-usable platform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Project Management Office  ·  Working pack for engagement leads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THIS PACK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581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agentic, why a structured plan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8928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operating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258568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240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8-phase roadmap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5511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view, week by week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916936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916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2898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deep-dives (4 × 2 phases)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2095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Activities, owners, deliverables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575304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575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35570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RACI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3867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what, who decides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233672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42153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risks &amp; mitigations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3040" y="4526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agentic projects fail, and how we don't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89204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4873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metrics &amp; KPIs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51846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know it worked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5550408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" y="5550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checklist &amp; next steps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63040" y="58430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artifacts in the Excel pack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Offering · Project Plan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agentic projects need their own playbook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aren't apps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9659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plan, choose tools, hold memory, and act. Traditional SDLC misses safety, eval and HITL design.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974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651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is probabilistic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280160" y="3017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vary across runs. We need eval harnesses, not just unit tests, and red-team passes before any gate.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4904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703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compounds across use cases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280160" y="40690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investments (tools, memory, observability) pay back as we scale to use-case #2 and beyond.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80060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4754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is the throughput limiter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1280160" y="51206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legal, data and risk must be on the team from day 1 — not gate-keepers at the end.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772400" y="1600200"/>
            <a:ext cx="3931920" cy="47548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7772400" y="1600200"/>
            <a:ext cx="393192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79552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PRINCIPLES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955280" y="2194560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sponsor, one product owner, one architect — no shared accountability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gates are real. No gate, no spend on the next phase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before users. Red-team before production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latency are first-class metrics, not after-thoughts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on every high-stakes action until trust is earned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platform once. Scale to many use cases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Offering · Project Plan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8-phase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642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1148878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118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Discovery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18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52382" y="2194560"/>
            <a:ext cx="1148878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34094" y="1801368"/>
            <a:ext cx="118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Design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4094" y="2743200"/>
            <a:ext cx="118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W4–W6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37837" y="2194560"/>
            <a:ext cx="154403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19549" y="1801368"/>
            <a:ext cx="1580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Data &amp; Infra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19549" y="2743200"/>
            <a:ext cx="1580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W7–W10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18442" y="2194560"/>
            <a:ext cx="1939181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00154" y="1801368"/>
            <a:ext cx="1975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Build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00154" y="2743200"/>
            <a:ext cx="1975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W11–W15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94199" y="2194560"/>
            <a:ext cx="1148878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75911" y="1801368"/>
            <a:ext cx="118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· Test &amp; Red-Team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5911" y="2743200"/>
            <a:ext cx="118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W16–W18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79654" y="2194560"/>
            <a:ext cx="1148878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61366" y="1801368"/>
            <a:ext cx="118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· Pilot / UAT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61366" y="2743200"/>
            <a:ext cx="118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W19–W21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865108" y="2194560"/>
            <a:ext cx="753727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846820" y="1801368"/>
            <a:ext cx="7903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· Deploy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46820" y="2743200"/>
            <a:ext cx="7903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W22–W23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655411" y="2194560"/>
            <a:ext cx="1939181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37123" y="1801368"/>
            <a:ext cx="1975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 · Monitor &amp; Scale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37123" y="2743200"/>
            <a:ext cx="1975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W24+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38328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" y="3383280"/>
            <a:ext cx="73152" cy="12801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49808" y="3584448"/>
            <a:ext cx="502920" cy="5029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685032"/>
            <a:ext cx="301752" cy="301752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2697480" y="3547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3152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31520" y="4462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W1–W3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364992" y="338328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3364992" y="3383280"/>
            <a:ext cx="73152" cy="12801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3566160" y="3584448"/>
            <a:ext cx="502920" cy="5029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3685032"/>
            <a:ext cx="301752" cy="301752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513832" y="3547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3547872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3547872" y="4462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W4–W6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6181344" y="338328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2"/>
          <p:cNvSpPr/>
          <p:nvPr/>
        </p:nvSpPr>
        <p:spPr>
          <a:xfrm>
            <a:off x="6181344" y="3383280"/>
            <a:ext cx="73152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6382512" y="3584448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3685032"/>
            <a:ext cx="301752" cy="301752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8330184" y="3547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1600" dirty="0"/>
          </a:p>
        </p:txBody>
      </p:sp>
      <p:sp>
        <p:nvSpPr>
          <p:cNvPr id="50" name="Text 45"/>
          <p:cNvSpPr/>
          <p:nvPr/>
        </p:nvSpPr>
        <p:spPr>
          <a:xfrm>
            <a:off x="6364224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Infra</a:t>
            </a:r>
            <a:endParaRPr lang="en-US" sz="1400" dirty="0"/>
          </a:p>
        </p:txBody>
      </p:sp>
      <p:sp>
        <p:nvSpPr>
          <p:cNvPr id="51" name="Text 46"/>
          <p:cNvSpPr/>
          <p:nvPr/>
        </p:nvSpPr>
        <p:spPr>
          <a:xfrm>
            <a:off x="6364224" y="4462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W7–W10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8997696" y="338328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8"/>
          <p:cNvSpPr/>
          <p:nvPr/>
        </p:nvSpPr>
        <p:spPr>
          <a:xfrm>
            <a:off x="8997696" y="3383280"/>
            <a:ext cx="73152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9"/>
          <p:cNvSpPr/>
          <p:nvPr/>
        </p:nvSpPr>
        <p:spPr>
          <a:xfrm>
            <a:off x="9198864" y="3584448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3685032"/>
            <a:ext cx="301752" cy="301752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11146536" y="3547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</a:t>
            </a:r>
            <a:endParaRPr lang="en-US" sz="1600" dirty="0"/>
          </a:p>
        </p:txBody>
      </p:sp>
      <p:sp>
        <p:nvSpPr>
          <p:cNvPr id="57" name="Text 51"/>
          <p:cNvSpPr/>
          <p:nvPr/>
        </p:nvSpPr>
        <p:spPr>
          <a:xfrm>
            <a:off x="9180576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400" dirty="0"/>
          </a:p>
        </p:txBody>
      </p:sp>
      <p:sp>
        <p:nvSpPr>
          <p:cNvPr id="58" name="Text 52"/>
          <p:cNvSpPr/>
          <p:nvPr/>
        </p:nvSpPr>
        <p:spPr>
          <a:xfrm>
            <a:off x="9180576" y="4462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W11–W15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548640" y="489204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4"/>
          <p:cNvSpPr/>
          <p:nvPr/>
        </p:nvSpPr>
        <p:spPr>
          <a:xfrm>
            <a:off x="548640" y="4892040"/>
            <a:ext cx="73152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5"/>
          <p:cNvSpPr/>
          <p:nvPr/>
        </p:nvSpPr>
        <p:spPr>
          <a:xfrm>
            <a:off x="749808" y="5093208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" y="5193792"/>
            <a:ext cx="301752" cy="301752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2697480" y="5056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P5</a:t>
            </a:r>
            <a:endParaRPr lang="en-US" sz="1600" dirty="0"/>
          </a:p>
        </p:txBody>
      </p:sp>
      <p:sp>
        <p:nvSpPr>
          <p:cNvPr id="64" name="Text 57"/>
          <p:cNvSpPr/>
          <p:nvPr/>
        </p:nvSpPr>
        <p:spPr>
          <a:xfrm>
            <a:off x="731520" y="5669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&amp; Red-Team</a:t>
            </a:r>
            <a:endParaRPr lang="en-US" sz="1400" dirty="0"/>
          </a:p>
        </p:txBody>
      </p:sp>
      <p:sp>
        <p:nvSpPr>
          <p:cNvPr id="65" name="Text 58"/>
          <p:cNvSpPr/>
          <p:nvPr/>
        </p:nvSpPr>
        <p:spPr>
          <a:xfrm>
            <a:off x="731520" y="5971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W16–W18</a:t>
            </a:r>
            <a:endParaRPr lang="en-US" sz="1000" dirty="0"/>
          </a:p>
        </p:txBody>
      </p:sp>
      <p:sp>
        <p:nvSpPr>
          <p:cNvPr id="66" name="Shape 59"/>
          <p:cNvSpPr/>
          <p:nvPr/>
        </p:nvSpPr>
        <p:spPr>
          <a:xfrm>
            <a:off x="3364992" y="489204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60"/>
          <p:cNvSpPr/>
          <p:nvPr/>
        </p:nvSpPr>
        <p:spPr>
          <a:xfrm>
            <a:off x="3364992" y="4892040"/>
            <a:ext cx="73152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1"/>
          <p:cNvSpPr/>
          <p:nvPr/>
        </p:nvSpPr>
        <p:spPr>
          <a:xfrm>
            <a:off x="3566160" y="5093208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6744" y="5193792"/>
            <a:ext cx="301752" cy="301752"/>
          </a:xfrm>
          <a:prstGeom prst="rect">
            <a:avLst/>
          </a:prstGeom>
        </p:spPr>
      </p:pic>
      <p:sp>
        <p:nvSpPr>
          <p:cNvPr id="70" name="Text 62"/>
          <p:cNvSpPr/>
          <p:nvPr/>
        </p:nvSpPr>
        <p:spPr>
          <a:xfrm>
            <a:off x="5513832" y="5056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P6</a:t>
            </a:r>
            <a:endParaRPr lang="en-US" sz="1600" dirty="0"/>
          </a:p>
        </p:txBody>
      </p:sp>
      <p:sp>
        <p:nvSpPr>
          <p:cNvPr id="71" name="Text 63"/>
          <p:cNvSpPr/>
          <p:nvPr/>
        </p:nvSpPr>
        <p:spPr>
          <a:xfrm>
            <a:off x="3547872" y="5669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/ UAT</a:t>
            </a:r>
            <a:endParaRPr lang="en-US" sz="1400" dirty="0"/>
          </a:p>
        </p:txBody>
      </p:sp>
      <p:sp>
        <p:nvSpPr>
          <p:cNvPr id="72" name="Text 64"/>
          <p:cNvSpPr/>
          <p:nvPr/>
        </p:nvSpPr>
        <p:spPr>
          <a:xfrm>
            <a:off x="3547872" y="5971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W19–W21</a:t>
            </a:r>
            <a:endParaRPr lang="en-US" sz="1000" dirty="0"/>
          </a:p>
        </p:txBody>
      </p:sp>
      <p:sp>
        <p:nvSpPr>
          <p:cNvPr id="73" name="Shape 65"/>
          <p:cNvSpPr/>
          <p:nvPr/>
        </p:nvSpPr>
        <p:spPr>
          <a:xfrm>
            <a:off x="6181344" y="489204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66"/>
          <p:cNvSpPr/>
          <p:nvPr/>
        </p:nvSpPr>
        <p:spPr>
          <a:xfrm>
            <a:off x="6181344" y="4892040"/>
            <a:ext cx="73152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67"/>
          <p:cNvSpPr/>
          <p:nvPr/>
        </p:nvSpPr>
        <p:spPr>
          <a:xfrm>
            <a:off x="6382512" y="5093208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3096" y="5193792"/>
            <a:ext cx="301752" cy="301752"/>
          </a:xfrm>
          <a:prstGeom prst="rect">
            <a:avLst/>
          </a:prstGeom>
        </p:spPr>
      </p:pic>
      <p:sp>
        <p:nvSpPr>
          <p:cNvPr id="77" name="Text 68"/>
          <p:cNvSpPr/>
          <p:nvPr/>
        </p:nvSpPr>
        <p:spPr>
          <a:xfrm>
            <a:off x="8330184" y="5056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P7</a:t>
            </a:r>
            <a:endParaRPr lang="en-US" sz="1600" dirty="0"/>
          </a:p>
        </p:txBody>
      </p:sp>
      <p:sp>
        <p:nvSpPr>
          <p:cNvPr id="78" name="Text 69"/>
          <p:cNvSpPr/>
          <p:nvPr/>
        </p:nvSpPr>
        <p:spPr>
          <a:xfrm>
            <a:off x="6364224" y="5669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400" dirty="0"/>
          </a:p>
        </p:txBody>
      </p:sp>
      <p:sp>
        <p:nvSpPr>
          <p:cNvPr id="79" name="Text 70"/>
          <p:cNvSpPr/>
          <p:nvPr/>
        </p:nvSpPr>
        <p:spPr>
          <a:xfrm>
            <a:off x="6364224" y="5971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W22–W23</a:t>
            </a:r>
            <a:endParaRPr lang="en-US" sz="1000" dirty="0"/>
          </a:p>
        </p:txBody>
      </p:sp>
      <p:sp>
        <p:nvSpPr>
          <p:cNvPr id="80" name="Shape 71"/>
          <p:cNvSpPr/>
          <p:nvPr/>
        </p:nvSpPr>
        <p:spPr>
          <a:xfrm>
            <a:off x="8997696" y="489204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Shape 72"/>
          <p:cNvSpPr/>
          <p:nvPr/>
        </p:nvSpPr>
        <p:spPr>
          <a:xfrm>
            <a:off x="8997696" y="4892040"/>
            <a:ext cx="73152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3"/>
          <p:cNvSpPr/>
          <p:nvPr/>
        </p:nvSpPr>
        <p:spPr>
          <a:xfrm>
            <a:off x="9198864" y="5093208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9448" y="5193792"/>
            <a:ext cx="301752" cy="301752"/>
          </a:xfrm>
          <a:prstGeom prst="rect">
            <a:avLst/>
          </a:prstGeom>
        </p:spPr>
      </p:pic>
      <p:sp>
        <p:nvSpPr>
          <p:cNvPr id="84" name="Text 74"/>
          <p:cNvSpPr/>
          <p:nvPr/>
        </p:nvSpPr>
        <p:spPr>
          <a:xfrm>
            <a:off x="11146536" y="5056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P8</a:t>
            </a:r>
            <a:endParaRPr lang="en-US" sz="1600" dirty="0"/>
          </a:p>
        </p:txBody>
      </p:sp>
      <p:sp>
        <p:nvSpPr>
          <p:cNvPr id="85" name="Text 75"/>
          <p:cNvSpPr/>
          <p:nvPr/>
        </p:nvSpPr>
        <p:spPr>
          <a:xfrm>
            <a:off x="9180576" y="5669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 &amp; Scale</a:t>
            </a:r>
            <a:endParaRPr lang="en-US" sz="1400" dirty="0"/>
          </a:p>
        </p:txBody>
      </p:sp>
      <p:sp>
        <p:nvSpPr>
          <p:cNvPr id="86" name="Text 76"/>
          <p:cNvSpPr/>
          <p:nvPr/>
        </p:nvSpPr>
        <p:spPr>
          <a:xfrm>
            <a:off x="9180576" y="5971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W24+</a:t>
            </a:r>
            <a:endParaRPr lang="en-US" sz="1000" dirty="0"/>
          </a:p>
        </p:txBody>
      </p:sp>
      <p:sp>
        <p:nvSpPr>
          <p:cNvPr id="87" name="Shape 7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7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Offering · Project Plan</a:t>
            </a:r>
            <a:endParaRPr lang="en-US" sz="900" dirty="0"/>
          </a:p>
        </p:txBody>
      </p:sp>
      <p:sp>
        <p:nvSpPr>
          <p:cNvPr id="89" name="Text 79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DEEP-DIVES · 1 OF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&amp;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532120" cy="8686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79222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6733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17320" y="1874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&amp; Use-Case Definition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3484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377440"/>
            <a:ext cx="55321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2377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use case + value case + signed charter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32004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&amp; stakeholder alignment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long-list &amp; prioritisation (value × feasibility × risk × data)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vs. simple-automation triage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case with leading + lagging KPIs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51206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charter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520696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520696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backlog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18432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218432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tree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5852160"/>
            <a:ext cx="5532120" cy="5029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943600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43000" y="5852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gate: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148840" y="58521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· Use-case charter signed-off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217920" y="150876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217920" y="1508760"/>
            <a:ext cx="5532120" cy="8686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1792224"/>
            <a:ext cx="301752" cy="30175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086600" y="16733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086600" y="1874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Strategy, Architecture &amp; Design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1010412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4–6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217920" y="2377440"/>
            <a:ext cx="55321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6446520" y="2377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target architecture and tech stack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644652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492240" y="32004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pattern: single, orchestrator, or multi-agent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(capability, latency, cost, residency)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MCP and integrations map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RAG design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safety, HITL points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446520" y="51206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492240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6492240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doc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189976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8189976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tool matrix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9887712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9887712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policy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217920" y="5852160"/>
            <a:ext cx="5532120" cy="5029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943600"/>
            <a:ext cx="292608" cy="292608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812280" y="5852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gate: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7818120" y="58521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· Architecture Review Board approval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Offering · Project Plan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DEEP-DIVES · 2 OF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Data, Infrastructure &amp; Build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53212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79222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6733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17320" y="1874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Readiness &amp; Infra Setup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3484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377440"/>
            <a:ext cx="55321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2377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KB and environments production-ready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32004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inventory, lineage &amp; access (DPAs signed)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+ vector store with retrieval baseline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Test / Prod environments with IAM &amp; cost guardrails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tracing, prompt log, token &amp; cost metrics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51206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inventory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520696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520696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KB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18432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218432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dashboard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5852160"/>
            <a:ext cx="5532120" cy="5029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943600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43000" y="5852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gate: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148840" y="58521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· Data &amp; infra readiness review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217920" y="150876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217920" y="1508760"/>
            <a:ext cx="553212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1792224"/>
            <a:ext cx="301752" cy="30175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086600" y="16733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086600" y="1874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&amp; Develop Agent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1010412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11–15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217920" y="2377440"/>
            <a:ext cx="55321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6446520" y="2377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 agent in dev, demoable end-to-end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644652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492240" y="32004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prompt &amp; policy library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development &amp; MCP wiring with error handling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loop, sub-agents, retries, HITL hooks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/ channel integration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eval harness wired to CI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446520" y="51206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492240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6492240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agent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189976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8189976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library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9887712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9887712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217920" y="5852160"/>
            <a:ext cx="5532120" cy="5029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943600"/>
            <a:ext cx="292608" cy="292608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812280" y="5852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gate: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7818120" y="58521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· MVP demo + code review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Offering · Project Plan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DEEP-DIVES · 3 OF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Test, Eval, Pilot &amp; UAT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532120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79222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6733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17320" y="1874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Test, Eval &amp; Red-Team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3484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16–18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377440"/>
            <a:ext cx="55321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2377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scorecard meets thresholds; no Sev-1 safety findings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32004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regression eval on full dataset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red-team (prompt injection, jailbreak, exfil, tool misuse)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on stratified sample of outputs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cost tuning to hit SLAs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51206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scorecard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520696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520696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report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18432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218432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MVP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5852160"/>
            <a:ext cx="5532120" cy="5029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943600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43000" y="5852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gate: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148840" y="58521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· Quality &amp; safety gate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217920" y="150876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217920" y="1508760"/>
            <a:ext cx="5532120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1792224"/>
            <a:ext cx="301752" cy="30175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086600" y="16733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086600" y="1874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/ UAT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1010412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19–21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217920" y="2377440"/>
            <a:ext cx="55321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6446520" y="2377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sign-off and clear Go / No-Go for production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644652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492240" y="32004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cohort onboarding (10–30 users)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issue triage; weekly prompt/policy iteration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UAT against acceptance criteria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Steerco Go / No-Go decision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446520" y="51206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492240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6492240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results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189976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8189976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sign-off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9887712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9887712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record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217920" y="5852160"/>
            <a:ext cx="5532120" cy="5029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943600"/>
            <a:ext cx="292608" cy="292608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812280" y="5852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gate: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7818120" y="58521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· Go / No-Go for production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Offering · Project Plan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DEEP-DIVES · 4 OF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Deploy, Monitor &amp; Scale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532120" cy="8686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79222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6733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17320" y="1874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&amp; Change Mgmt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3484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22–23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377440"/>
            <a:ext cx="55321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2377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agent, trained users, hypercare active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32004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cutover plan + rollback runbook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training &amp; enablement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comms, FAQ, support channel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with hypercare team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51206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runbook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520696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520696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pack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18432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218432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comms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5852160"/>
            <a:ext cx="5532120" cy="5029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943600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43000" y="5852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gate: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148840" y="58521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 · Production go-live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217920" y="150876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217920" y="1508760"/>
            <a:ext cx="5532120" cy="8686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1792224"/>
            <a:ext cx="301752" cy="30175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086600" y="16733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086600" y="1874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Monitor, Optimise &amp; Scale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1010412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24+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217920" y="2377440"/>
            <a:ext cx="55321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6446520" y="2377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ops, benefits realised, next use case scoped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644652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492240" y="32004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&amp; incident triage (first 2–4 weeks)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eval, drift monitoring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performance optimisation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realisation tracking vs business case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platform to the next use case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446520" y="51206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492240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6492240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dashboard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189976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8189976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tracker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9887712" y="5440680"/>
            <a:ext cx="1588008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9887712" y="5440680"/>
            <a:ext cx="1588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plan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217920" y="5852160"/>
            <a:ext cx="5532120" cy="5029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943600"/>
            <a:ext cx="292608" cy="292608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812280" y="5852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gate: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7818120" y="58521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G8 · Quarterly AI governance review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Offering · Project Plan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does what · RACI snapshot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· does the 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457200" cy="457200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· single owner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 · two-way input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146304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0525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· one-way comms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194560"/>
            <a:ext cx="3108960" cy="4114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2194560"/>
            <a:ext cx="1033272" cy="4114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0" y="21945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90872" y="2194560"/>
            <a:ext cx="1033272" cy="4114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90872" y="21945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Owner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24144" y="2194560"/>
            <a:ext cx="1033272" cy="4114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24144" y="21945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57416" y="2194560"/>
            <a:ext cx="1033272" cy="4114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57416" y="21945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90688" y="2194560"/>
            <a:ext cx="1033272" cy="4114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90688" y="21945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823960" y="2194560"/>
            <a:ext cx="1033272" cy="4114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823960" y="21945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&amp; Risk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857232" y="2194560"/>
            <a:ext cx="1033272" cy="4114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857232" y="21945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890504" y="2194560"/>
            <a:ext cx="1033272" cy="4114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890504" y="21945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260604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prioritisation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0" y="2606040"/>
            <a:ext cx="1033272" cy="411480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0" y="26060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90872" y="2606040"/>
            <a:ext cx="1033272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90872" y="26060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724144" y="260604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24144" y="26060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757416" y="260604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57416" y="26060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790688" y="260604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90688" y="26060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823960" y="260604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823960" y="26060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857232" y="260604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857232" y="26060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0890504" y="260604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890504" y="26060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3017520"/>
            <a:ext cx="31089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008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0" y="301752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57600" y="30175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90872" y="301752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690872" y="30175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724144" y="301752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724144" y="30175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757416" y="3017520"/>
            <a:ext cx="1033272" cy="411480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757416" y="30175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790688" y="3017520"/>
            <a:ext cx="1033272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790688" y="30175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823960" y="301752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823960" y="30175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857232" y="301752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857232" y="30175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0890504" y="301752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0890504" y="30175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48640" y="342900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40080" y="3429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HITL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0" y="342900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657600" y="34290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690872" y="342900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690872" y="34290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724144" y="342900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5724144" y="34290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757416" y="342900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757416" y="34290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790688" y="342900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7790688" y="34290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823960" y="3429000"/>
            <a:ext cx="1033272" cy="411480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8823960" y="34290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9857232" y="3429000"/>
            <a:ext cx="1033272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9857232" y="34290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10890504" y="342900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0890504" y="34290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48640" y="3840480"/>
            <a:ext cx="31089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40080" y="3840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&amp; data setup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657600" y="384048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657600" y="384048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4690872" y="384048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690872" y="384048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5724144" y="384048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5724144" y="384048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6757416" y="384048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757416" y="384048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7790688" y="3840480"/>
            <a:ext cx="1033272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7790688" y="384048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8823960" y="384048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8823960" y="384048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9857232" y="384048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9857232" y="384048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10890504" y="384048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10890504" y="384048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548640" y="425196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64008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 &amp; tools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3657600" y="425196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3657600" y="42519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4690872" y="425196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4690872" y="42519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5724144" y="425196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5724144" y="42519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6757416" y="425196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6757416" y="42519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7790688" y="4251960"/>
            <a:ext cx="1033272" cy="411480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7790688" y="42519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8823960" y="425196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8823960" y="42519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9857232" y="4251960"/>
            <a:ext cx="1033272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9857232" y="42519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10890504" y="425196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10890504" y="425196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548640" y="4663440"/>
            <a:ext cx="31089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64008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Eval, red-team &amp; gate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3657600" y="466344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3657600" y="46634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4690872" y="466344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4690872" y="46634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5724144" y="466344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5724144" y="46634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6757416" y="466344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6757416" y="46634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7790688" y="466344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7790688" y="46634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8823960" y="4663440"/>
            <a:ext cx="1033272" cy="411480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8823960" y="46634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9857232" y="4663440"/>
            <a:ext cx="1033272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9857232" y="46634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42" name="Shape 140"/>
          <p:cNvSpPr/>
          <p:nvPr/>
        </p:nvSpPr>
        <p:spPr>
          <a:xfrm>
            <a:off x="10890504" y="466344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10890504" y="466344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44" name="Shape 142"/>
          <p:cNvSpPr/>
          <p:nvPr/>
        </p:nvSpPr>
        <p:spPr>
          <a:xfrm>
            <a:off x="548640" y="507492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640080" y="5074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Pilot, UAT &amp; Go/No-Go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3657600" y="5074920"/>
            <a:ext cx="1033272" cy="411480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3657600" y="50749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48" name="Shape 146"/>
          <p:cNvSpPr/>
          <p:nvPr/>
        </p:nvSpPr>
        <p:spPr>
          <a:xfrm>
            <a:off x="4690872" y="5074920"/>
            <a:ext cx="1033272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4690872" y="50749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50" name="Shape 148"/>
          <p:cNvSpPr/>
          <p:nvPr/>
        </p:nvSpPr>
        <p:spPr>
          <a:xfrm>
            <a:off x="5724144" y="507492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5724144" y="50749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52" name="Shape 150"/>
          <p:cNvSpPr/>
          <p:nvPr/>
        </p:nvSpPr>
        <p:spPr>
          <a:xfrm>
            <a:off x="6757416" y="507492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6757416" y="50749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54" name="Shape 152"/>
          <p:cNvSpPr/>
          <p:nvPr/>
        </p:nvSpPr>
        <p:spPr>
          <a:xfrm>
            <a:off x="7790688" y="507492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7790688" y="50749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56" name="Shape 154"/>
          <p:cNvSpPr/>
          <p:nvPr/>
        </p:nvSpPr>
        <p:spPr>
          <a:xfrm>
            <a:off x="8823960" y="507492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8823960" y="50749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58" name="Shape 156"/>
          <p:cNvSpPr/>
          <p:nvPr/>
        </p:nvSpPr>
        <p:spPr>
          <a:xfrm>
            <a:off x="9857232" y="507492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9857232" y="50749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60" name="Shape 158"/>
          <p:cNvSpPr/>
          <p:nvPr/>
        </p:nvSpPr>
        <p:spPr>
          <a:xfrm>
            <a:off x="10890504" y="507492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59"/>
          <p:cNvSpPr/>
          <p:nvPr/>
        </p:nvSpPr>
        <p:spPr>
          <a:xfrm>
            <a:off x="10890504" y="50749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62" name="Shape 160"/>
          <p:cNvSpPr/>
          <p:nvPr/>
        </p:nvSpPr>
        <p:spPr>
          <a:xfrm>
            <a:off x="548640" y="5486400"/>
            <a:ext cx="31089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161"/>
          <p:cNvSpPr/>
          <p:nvPr/>
        </p:nvSpPr>
        <p:spPr>
          <a:xfrm>
            <a:off x="640080" y="5486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go-live</a:t>
            </a:r>
            <a:endParaRPr lang="en-US" sz="1000" dirty="0"/>
          </a:p>
        </p:txBody>
      </p:sp>
      <p:sp>
        <p:nvSpPr>
          <p:cNvPr id="164" name="Shape 162"/>
          <p:cNvSpPr/>
          <p:nvPr/>
        </p:nvSpPr>
        <p:spPr>
          <a:xfrm>
            <a:off x="3657600" y="5486400"/>
            <a:ext cx="103327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63"/>
          <p:cNvSpPr/>
          <p:nvPr/>
        </p:nvSpPr>
        <p:spPr>
          <a:xfrm>
            <a:off x="3657600" y="54864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66" name="Shape 164"/>
          <p:cNvSpPr/>
          <p:nvPr/>
        </p:nvSpPr>
        <p:spPr>
          <a:xfrm>
            <a:off x="4690872" y="548640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165"/>
          <p:cNvSpPr/>
          <p:nvPr/>
        </p:nvSpPr>
        <p:spPr>
          <a:xfrm>
            <a:off x="4690872" y="54864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68" name="Shape 166"/>
          <p:cNvSpPr/>
          <p:nvPr/>
        </p:nvSpPr>
        <p:spPr>
          <a:xfrm>
            <a:off x="5724144" y="5486400"/>
            <a:ext cx="1033272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167"/>
          <p:cNvSpPr/>
          <p:nvPr/>
        </p:nvSpPr>
        <p:spPr>
          <a:xfrm>
            <a:off x="5724144" y="54864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70" name="Shape 168"/>
          <p:cNvSpPr/>
          <p:nvPr/>
        </p:nvSpPr>
        <p:spPr>
          <a:xfrm>
            <a:off x="6757416" y="548640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169"/>
          <p:cNvSpPr/>
          <p:nvPr/>
        </p:nvSpPr>
        <p:spPr>
          <a:xfrm>
            <a:off x="6757416" y="54864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72" name="Shape 170"/>
          <p:cNvSpPr/>
          <p:nvPr/>
        </p:nvSpPr>
        <p:spPr>
          <a:xfrm>
            <a:off x="7790688" y="548640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171"/>
          <p:cNvSpPr/>
          <p:nvPr/>
        </p:nvSpPr>
        <p:spPr>
          <a:xfrm>
            <a:off x="7790688" y="54864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74" name="Shape 172"/>
          <p:cNvSpPr/>
          <p:nvPr/>
        </p:nvSpPr>
        <p:spPr>
          <a:xfrm>
            <a:off x="8823960" y="548640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 173"/>
          <p:cNvSpPr/>
          <p:nvPr/>
        </p:nvSpPr>
        <p:spPr>
          <a:xfrm>
            <a:off x="8823960" y="54864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76" name="Shape 174"/>
          <p:cNvSpPr/>
          <p:nvPr/>
        </p:nvSpPr>
        <p:spPr>
          <a:xfrm>
            <a:off x="9857232" y="5486400"/>
            <a:ext cx="1033272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 175"/>
          <p:cNvSpPr/>
          <p:nvPr/>
        </p:nvSpPr>
        <p:spPr>
          <a:xfrm>
            <a:off x="9857232" y="54864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78" name="Shape 176"/>
          <p:cNvSpPr/>
          <p:nvPr/>
        </p:nvSpPr>
        <p:spPr>
          <a:xfrm>
            <a:off x="10890504" y="5486400"/>
            <a:ext cx="1033272" cy="411480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/>
          <p:nvPr/>
        </p:nvSpPr>
        <p:spPr>
          <a:xfrm>
            <a:off x="10890504" y="548640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80" name="Text 178"/>
          <p:cNvSpPr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26-row RACI is in the Excel pack · 'RACI Matrix' tab</a:t>
            </a:r>
            <a:endParaRPr lang="en-US" sz="1000" dirty="0"/>
          </a:p>
        </p:txBody>
      </p:sp>
      <p:sp>
        <p:nvSpPr>
          <p:cNvPr id="181" name="Shape 17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180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Offering · Project Plan</a:t>
            </a:r>
            <a:endParaRPr lang="en-US" sz="900" dirty="0"/>
          </a:p>
        </p:txBody>
      </p:sp>
      <p:sp>
        <p:nvSpPr>
          <p:cNvPr id="183" name="Text 181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agentic projects fail — and how we don't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640080" cy="1417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25880" y="1691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R01  ·  Hallucinated outputs reach users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0574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Strict eval gates, RAG with citations, HITL on high-stakes actions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640080" cy="1417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95160" y="1691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R02  ·  Prompt injection / tool misuse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20574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Input sanitisation, tool allow-lists, sandboxed exec, red-team per release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64008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25880" y="32461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R03  ·  PII / data leakage via prompts/logs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6118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Pre-prompt redaction, log scrubbing, minimum-necessary data, DLP rules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10896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64008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0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95160" y="32461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R04  ·  Runaway token / API costs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95160" y="36118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Max-turn guards, budget alerts, model routing, cache, cost reviews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66344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40" y="4663440"/>
            <a:ext cx="64008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5029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" y="5394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325880" y="48006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R07  ·  Regulatory / compliance violation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25880" y="51663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Risk-tier classification, model cards, audit logs, legal review at G2 &amp; G6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466344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17920" y="4663440"/>
            <a:ext cx="640080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17920" y="5029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217920" y="5394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95160" y="48006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R08  ·  Low business adoption post go-live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95160" y="51663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Role-based training, super-user network, embed in workflow, exec endorsement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12-risk register with probability × impact scoring in the Excel pack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Offering · Project Plan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we'll know it worked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53212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per user / week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487168"/>
            <a:ext cx="5074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resolution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2898648"/>
            <a:ext cx="5074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value uplift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business case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310128"/>
            <a:ext cx="5074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from agent users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+30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5321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15544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safety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score on golden set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2487168"/>
            <a:ext cx="5074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4652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 (sample)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7552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2898648"/>
            <a:ext cx="5074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4652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Sev-1 safety findings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7552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46520" y="3310128"/>
            <a:ext cx="5074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4652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override rate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75520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93192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8640" y="3931920"/>
            <a:ext cx="55321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39319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cost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724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06240" y="4480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7240" y="4864608"/>
            <a:ext cx="5074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724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request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206240" y="4892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target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7240" y="5276088"/>
            <a:ext cx="5074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77240" y="5303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efficiency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206240" y="5303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MoM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77240" y="5687568"/>
            <a:ext cx="5074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7240" y="5715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206240" y="5715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99.5%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393192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217920" y="3931920"/>
            <a:ext cx="55321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00800" y="39319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scale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44652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 users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875520" y="4480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each month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46520" y="4864608"/>
            <a:ext cx="5074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4652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live on platform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875520" y="4892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by month 12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446520" y="5276088"/>
            <a:ext cx="5074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446520" y="5303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Time-to-onboard next case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875520" y="5303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8 weeks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46520" y="5687568"/>
            <a:ext cx="5074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46520" y="5715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prompt re-use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875520" y="5715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Offering · Project Plan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REAL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checklist &amp;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checklist (highlights from Excel pack)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965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named  ·  charter signed  ·  KPIs defined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approved by ARB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3464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788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inventory + DPAs + observability live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4612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200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library versioned  ·  eval harness in CI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0120" y="3611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passed  ·  no Sev-1 findings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69080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60120" y="4023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KPIs met  ·  business UAT signed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80560"/>
            <a:ext cx="256032" cy="25603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60120" y="4434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runbook + rollback + training</a:t>
            </a:r>
            <a:endParaRPr lang="en-US" sz="12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892040"/>
            <a:ext cx="256032" cy="25603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960120" y="4846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active  ·  benefits tracker live</a:t>
            </a:r>
            <a:endParaRPr lang="en-US" sz="1200" dirty="0"/>
          </a:p>
        </p:txBody>
      </p:sp>
      <p:sp>
        <p:nvSpPr>
          <p:cNvPr id="23" name="Shape 13"/>
          <p:cNvSpPr/>
          <p:nvPr/>
        </p:nvSpPr>
        <p:spPr>
          <a:xfrm>
            <a:off x="7498080" y="1463040"/>
            <a:ext cx="4206240" cy="45720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4"/>
          <p:cNvSpPr/>
          <p:nvPr/>
        </p:nvSpPr>
        <p:spPr>
          <a:xfrm>
            <a:off x="7498080" y="1463040"/>
            <a:ext cx="4206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5"/>
          <p:cNvSpPr/>
          <p:nvPr/>
        </p:nvSpPr>
        <p:spPr>
          <a:xfrm>
            <a:off x="768096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DAYS</a:t>
            </a:r>
            <a:endParaRPr lang="en-US" sz="1100" dirty="0"/>
          </a:p>
        </p:txBody>
      </p:sp>
      <p:sp>
        <p:nvSpPr>
          <p:cNvPr id="26" name="Shape 16"/>
          <p:cNvSpPr/>
          <p:nvPr/>
        </p:nvSpPr>
        <p:spPr>
          <a:xfrm>
            <a:off x="7680960" y="21488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7"/>
          <p:cNvSpPr/>
          <p:nvPr/>
        </p:nvSpPr>
        <p:spPr>
          <a:xfrm>
            <a:off x="7680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18"/>
          <p:cNvSpPr/>
          <p:nvPr/>
        </p:nvSpPr>
        <p:spPr>
          <a:xfrm>
            <a:off x="8275320" y="2130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sponsor + product owner</a:t>
            </a:r>
            <a:endParaRPr lang="en-US" sz="1400" dirty="0"/>
          </a:p>
        </p:txBody>
      </p:sp>
      <p:sp>
        <p:nvSpPr>
          <p:cNvPr id="29" name="Text 19"/>
          <p:cNvSpPr/>
          <p:nvPr/>
        </p:nvSpPr>
        <p:spPr>
          <a:xfrm>
            <a:off x="827532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single accountability before any other commitment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7680960" y="31546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1"/>
          <p:cNvSpPr/>
          <p:nvPr/>
        </p:nvSpPr>
        <p:spPr>
          <a:xfrm>
            <a:off x="76809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22"/>
          <p:cNvSpPr/>
          <p:nvPr/>
        </p:nvSpPr>
        <p:spPr>
          <a:xfrm>
            <a:off x="8275320" y="3136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use-case workshop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8275320" y="3429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6–10 candidates; pick 1 for first cycle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7680960" y="41605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5"/>
          <p:cNvSpPr/>
          <p:nvPr/>
        </p:nvSpPr>
        <p:spPr>
          <a:xfrm>
            <a:off x="7680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26"/>
          <p:cNvSpPr/>
          <p:nvPr/>
        </p:nvSpPr>
        <p:spPr>
          <a:xfrm>
            <a:off x="8275320" y="4142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 up the core team</a:t>
            </a:r>
            <a:endParaRPr lang="en-US" sz="1400" dirty="0"/>
          </a:p>
        </p:txBody>
      </p:sp>
      <p:sp>
        <p:nvSpPr>
          <p:cNvPr id="37" name="Text 27"/>
          <p:cNvSpPr/>
          <p:nvPr/>
        </p:nvSpPr>
        <p:spPr>
          <a:xfrm>
            <a:off x="8275320" y="4434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Architect, AI engineer, data engineer, sec &amp; risk, eval lead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7680960" y="5166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9"/>
          <p:cNvSpPr/>
          <p:nvPr/>
        </p:nvSpPr>
        <p:spPr>
          <a:xfrm>
            <a:off x="768096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0"/>
          <p:cNvSpPr/>
          <p:nvPr/>
        </p:nvSpPr>
        <p:spPr>
          <a:xfrm>
            <a:off x="8275320" y="5148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G1 gate review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8275320" y="5440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sign-off in week 3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pack: Project Plan · RACI · Checklist · Risks · Status &amp; Decision templates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Offering · Project Plan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1685</Words>
  <Application>Microsoft Office PowerPoint</Application>
  <PresentationFormat>Widescreen</PresentationFormat>
  <Paragraphs>439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Offering — Project Plan &amp; Execution Pack</dc:title>
  <dc:subject>PptxGenJS Presentation</dc:subject>
  <dc:creator>Project Management Office</dc:creator>
  <cp:lastModifiedBy>Bhattacharya, Bodhisatwa</cp:lastModifiedBy>
  <cp:revision>1</cp:revision>
  <dcterms:created xsi:type="dcterms:W3CDTF">2026-05-12T16:50:10Z</dcterms:created>
  <dcterms:modified xsi:type="dcterms:W3CDTF">2026-05-13T05:40:37Z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2026-05-13T05:40:37Z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a26464e5-0cae-43df-905b-2231e5e842a5</vt:lpwstr>
  </property>
  <property fmtid="{D5CDD505-2E9C-101B-9397-08002B2CF9AE}" pid="8" name="MSIP_Label_b0d5c4f4-7a29-4385-b7a5-afbe2154ae6f_ContentBits">
    <vt:lpwstr>0</vt:lpwstr>
  </property>
  <property fmtid="{D5CDD505-2E9C-101B-9397-08002B2CF9AE}" pid="9" name="MSIP_Label_b0d5c4f4-7a29-4385-b7a5-afbe2154ae6f_Tag">
    <vt:lpwstr>10, 3, 0, 1</vt:lpwstr>
  </property>
</Properties>
</file>