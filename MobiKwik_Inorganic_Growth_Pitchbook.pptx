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mix</c:v>
                </c:pt>
              </c:strCache>
            </c:strRef>
          </c:tx>
          <c:spPr>
            <a:solidFill>
              <a:schemeClr val="accent1"/>
            </a:solidFill>
            <a:ln w="9525" cap="flat">
              <a:solidFill>
                <a:srgbClr val="F9F9F9"/>
              </a:solidFill>
              <a:prstDash val="solid"/>
              <a:round/>
            </a:ln>
            <a:effectLst/>
          </c:spPr>
          <c:dPt>
            <c:idx val="0"/>
            <c:bubble3D val="0"/>
            <c:spPr>
              <a:solidFill>
                <a:srgbClr val="0B2545"/>
              </a:solidFill>
              <a:effectLst/>
            </c:spPr>
          </c:dPt>
          <c:dPt>
            <c:idx val="1"/>
            <c:bubble3D val="0"/>
            <c:spPr>
              <a:solidFill>
                <a:srgbClr val="B08D57"/>
              </a:solidFill>
              <a:effectLst/>
            </c:spPr>
          </c:dPt>
          <c:dPt>
            <c:idx val="2"/>
            <c:bubble3D val="0"/>
            <c:spPr>
              <a:solidFill>
                <a:srgbClr val="B8C2CE"/>
              </a:solidFill>
              <a:effectLst/>
            </c:spPr>
          </c:dPt>
          <c:dLbls>
            <c:dLbl>
              <c:idx val="0"/>
              <c:numFmt formatCode="0%" sourceLinked="0"/>
              <c:spPr/>
              <c:txPr>
                <a:bodyPr/>
                <a:lstStyle/>
                <a:p>
                  <a:pPr>
                    <a:defRPr sz="1000" b="1"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1000" b="1" i="0" u="none" strike="noStrike">
                      <a:solidFill>
                        <a:srgbClr val="FFFFFF"/>
                      </a:solidFill>
                      <a:latin typeface="Calibri"/>
                    </a:defRPr>
                  </a:pPr>
                </a:p>
              </c:txPr>
              <c:showLegendKey val="0"/>
              <c:showVal val="0"/>
              <c:showCatName val="0"/>
              <c:showSerName val="0"/>
              <c:showPercent val="1"/>
              <c:showBubbleSize val="0"/>
            </c:dLbl>
            <c:dLbl>
              <c:idx val="2"/>
              <c:numFmt formatCode="0%" sourceLinked="0"/>
              <c:spPr/>
              <c:txPr>
                <a:bodyPr/>
                <a:lstStyle/>
                <a:p>
                  <a:pPr>
                    <a:defRPr sz="1000" b="1"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New equity</c:v>
                </c:pt>
                <c:pt idx="1">
                  <c:v>Cash on hand</c:v>
                </c:pt>
                <c:pt idx="2">
                  <c:v>Earnout / deferred</c:v>
                </c:pt>
              </c:strCache>
            </c:strRef>
          </c:cat>
          <c:val>
            <c:numRef>
              <c:f>Sheet1!$B$2:$B$4</c:f>
              <c:numCache>
                <c:ptCount val="3"/>
                <c:pt idx="0">
                  <c:v>70</c:v>
                </c:pt>
                <c:pt idx="1">
                  <c:v>18</c:v>
                </c:pt>
                <c:pt idx="2">
                  <c:v>12</c:v>
                </c:pt>
              </c:numCache>
            </c:numRef>
          </c:val>
        </c:ser>
        <c:firstSliceAng val="0"/>
        <c:holeSize val="60"/>
      </c:doughnutChart>
      <c:spPr>
        <a:noFill/>
        <a:ln>
          <a:noFill/>
        </a:ln>
        <a:effectLst/>
      </c:spPr>
    </c:plotArea>
    <c:legend>
      <c:legendPos val="b"/>
      <c:overlay val="0"/>
      <c:txPr>
        <a:bodyPr/>
        <a:lstStyle/>
        <a:p>
          <a:pPr>
            <a:defRPr sz="1000">
              <a:solidFill>
                <a:srgbClr val="3D4A5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image" Target="../media/image-18-11.png"/><Relationship Id="rId12" Type="http://schemas.openxmlformats.org/officeDocument/2006/relationships/image" Target="../media/image-18-12.png"/><Relationship Id="rId13" Type="http://schemas.openxmlformats.org/officeDocument/2006/relationships/slideLayout" Target="../slideLayouts/slideLayout1.xml"/><Relationship Id="rId1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A2E"/>
        </a:solidFill>
      </p:bgPr>
    </p:bg>
    <p:spTree>
      <p:nvGrpSpPr>
        <p:cNvPr id="1" name=""/>
        <p:cNvGrpSpPr/>
        <p:nvPr/>
      </p:nvGrpSpPr>
      <p:grpSpPr>
        <a:xfrm>
          <a:off x="0" y="0"/>
          <a:ext cx="0" cy="0"/>
          <a:chOff x="0" y="0"/>
          <a:chExt cx="0" cy="0"/>
        </a:xfrm>
      </p:grpSpPr>
      <p:sp>
        <p:nvSpPr>
          <p:cNvPr id="2" name="Shape 0"/>
          <p:cNvSpPr/>
          <p:nvPr/>
        </p:nvSpPr>
        <p:spPr>
          <a:xfrm>
            <a:off x="8869680" y="3383280"/>
            <a:ext cx="5669280" cy="5669280"/>
          </a:xfrm>
          <a:prstGeom prst="ellipse">
            <a:avLst/>
          </a:prstGeom>
          <a:solidFill>
            <a:srgbClr val="0D2138"/>
          </a:solidFill>
          <a:ln/>
        </p:spPr>
      </p:sp>
      <p:sp>
        <p:nvSpPr>
          <p:cNvPr id="3" name="Shape 1"/>
          <p:cNvSpPr/>
          <p:nvPr/>
        </p:nvSpPr>
        <p:spPr>
          <a:xfrm>
            <a:off x="10241280" y="-1280160"/>
            <a:ext cx="3108960" cy="3108960"/>
          </a:xfrm>
          <a:prstGeom prst="ellipse">
            <a:avLst/>
          </a:prstGeom>
          <a:solidFill>
            <a:srgbClr val="0E2440"/>
          </a:solidFill>
          <a:ln/>
        </p:spPr>
      </p:sp>
      <p:sp>
        <p:nvSpPr>
          <p:cNvPr id="4" name="Shape 2"/>
          <p:cNvSpPr/>
          <p:nvPr/>
        </p:nvSpPr>
        <p:spPr>
          <a:xfrm>
            <a:off x="9966960" y="4297680"/>
            <a:ext cx="4023360" cy="4023360"/>
          </a:xfrm>
          <a:prstGeom prst="ellipse">
            <a:avLst/>
          </a:prstGeom>
          <a:ln w="12700">
            <a:solidFill>
              <a:srgbClr val="8A6B3C"/>
            </a:solidFill>
            <a:prstDash val="solid"/>
          </a:ln>
        </p:spPr>
      </p:sp>
      <p:sp>
        <p:nvSpPr>
          <p:cNvPr id="5" name="Text 3"/>
          <p:cNvSpPr/>
          <p:nvPr/>
        </p:nvSpPr>
        <p:spPr>
          <a:xfrm>
            <a:off x="640080" y="777240"/>
            <a:ext cx="8229600" cy="274320"/>
          </a:xfrm>
          <a:prstGeom prst="rect">
            <a:avLst/>
          </a:prstGeom>
          <a:noFill/>
          <a:ln/>
        </p:spPr>
        <p:txBody>
          <a:bodyPr wrap="square" lIns="0" tIns="0" rIns="0" bIns="0" rtlCol="0" anchor="ctr"/>
          <a:lstStyle/>
          <a:p>
            <a:pPr indent="0" marL="0">
              <a:buNone/>
            </a:pPr>
            <a:r>
              <a:rPr lang="en-US" sz="1100" b="1" spc="300" kern="0" dirty="0">
                <a:solidFill>
                  <a:srgbClr val="B08D57"/>
                </a:solidFill>
                <a:latin typeface="Calibri" pitchFamily="34" charset="0"/>
                <a:ea typeface="Calibri" pitchFamily="34" charset="-122"/>
                <a:cs typeface="Calibri" pitchFamily="34" charset="-120"/>
              </a:rPr>
              <a:t>STRICTLY PRIVATE AND CONFIDENTIAL</a:t>
            </a:r>
            <a:endParaRPr lang="en-US" sz="1100" dirty="0"/>
          </a:p>
        </p:txBody>
      </p:sp>
      <p:sp>
        <p:nvSpPr>
          <p:cNvPr id="6" name="Text 4"/>
          <p:cNvSpPr/>
          <p:nvPr/>
        </p:nvSpPr>
        <p:spPr>
          <a:xfrm>
            <a:off x="640080" y="2148840"/>
            <a:ext cx="9144000" cy="640080"/>
          </a:xfrm>
          <a:prstGeom prst="rect">
            <a:avLst/>
          </a:prstGeom>
          <a:noFill/>
          <a:ln/>
        </p:spPr>
        <p:txBody>
          <a:bodyPr wrap="square" lIns="0" tIns="0" rIns="0" bIns="0" rtlCol="0" anchor="ctr"/>
          <a:lstStyle/>
          <a:p>
            <a:pPr indent="0" marL="0">
              <a:buNone/>
            </a:pPr>
            <a:r>
              <a:rPr lang="en-US" sz="3400" b="1" i="1" dirty="0">
                <a:solidFill>
                  <a:srgbClr val="C9AE82"/>
                </a:solidFill>
                <a:latin typeface="Cambria" pitchFamily="34" charset="0"/>
                <a:ea typeface="Cambria" pitchFamily="34" charset="-122"/>
                <a:cs typeface="Cambria" pitchFamily="34" charset="-120"/>
              </a:rPr>
              <a:t>Project Keystone</a:t>
            </a:r>
            <a:endParaRPr lang="en-US" sz="3400" dirty="0"/>
          </a:p>
        </p:txBody>
      </p:sp>
      <p:sp>
        <p:nvSpPr>
          <p:cNvPr id="7" name="Text 5"/>
          <p:cNvSpPr/>
          <p:nvPr/>
        </p:nvSpPr>
        <p:spPr>
          <a:xfrm>
            <a:off x="640080" y="2788920"/>
            <a:ext cx="9601200" cy="1371600"/>
          </a:xfrm>
          <a:prstGeom prst="rect">
            <a:avLst/>
          </a:prstGeom>
          <a:noFill/>
          <a:ln/>
        </p:spPr>
        <p:txBody>
          <a:bodyPr wrap="square" lIns="0" tIns="0" rIns="0" bIns="0" rtlCol="0" anchor="ctr"/>
          <a:lstStyle/>
          <a:p>
            <a:pPr indent="0" marL="0">
              <a:lnSpc>
                <a:spcPct val="100000"/>
              </a:lnSpc>
              <a:buNone/>
            </a:pPr>
            <a:r>
              <a:rPr lang="en-US" sz="4000" b="1" dirty="0">
                <a:solidFill>
                  <a:srgbClr val="FFFFFF"/>
                </a:solidFill>
                <a:latin typeface="Cambria" pitchFamily="34" charset="0"/>
                <a:ea typeface="Cambria" pitchFamily="34" charset="-122"/>
                <a:cs typeface="Cambria" pitchFamily="34" charset="-120"/>
              </a:rPr>
              <a:t>Inorganic Growth Strategy and</a:t>
            </a:r>
            <a:endParaRPr lang="en-US" sz="4000" dirty="0"/>
          </a:p>
          <a:p>
            <a:pPr indent="0" marL="0">
              <a:lnSpc>
                <a:spcPct val="100000"/>
              </a:lnSpc>
              <a:buNone/>
            </a:pPr>
            <a:r>
              <a:rPr lang="en-US" sz="4000" b="1" dirty="0">
                <a:solidFill>
                  <a:srgbClr val="FFFFFF"/>
                </a:solidFill>
                <a:latin typeface="Cambria" pitchFamily="34" charset="0"/>
                <a:ea typeface="Cambria" pitchFamily="34" charset="-122"/>
                <a:cs typeface="Cambria" pitchFamily="34" charset="-120"/>
              </a:rPr>
              <a:t>Acquisition Roadmap</a:t>
            </a:r>
            <a:endParaRPr lang="en-US" sz="4000" dirty="0"/>
          </a:p>
        </p:txBody>
      </p:sp>
      <p:sp>
        <p:nvSpPr>
          <p:cNvPr id="8" name="Text 6"/>
          <p:cNvSpPr/>
          <p:nvPr/>
        </p:nvSpPr>
        <p:spPr>
          <a:xfrm>
            <a:off x="640080" y="4224528"/>
            <a:ext cx="8412480" cy="640080"/>
          </a:xfrm>
          <a:prstGeom prst="rect">
            <a:avLst/>
          </a:prstGeom>
          <a:noFill/>
          <a:ln/>
        </p:spPr>
        <p:txBody>
          <a:bodyPr wrap="square" lIns="0" tIns="0" rIns="0" bIns="0" rtlCol="0" anchor="t"/>
          <a:lstStyle/>
          <a:p>
            <a:pPr indent="0" marL="0">
              <a:lnSpc>
                <a:spcPct val="106000"/>
              </a:lnSpc>
              <a:buNone/>
            </a:pPr>
            <a:r>
              <a:rPr lang="en-US" sz="1500" dirty="0">
                <a:solidFill>
                  <a:srgbClr val="C3D2E4"/>
                </a:solidFill>
                <a:latin typeface="Calibri" pitchFamily="34" charset="0"/>
                <a:ea typeface="Calibri" pitchFamily="34" charset="-122"/>
                <a:cs typeface="Calibri" pitchFamily="34" charset="-120"/>
              </a:rPr>
              <a:t>A disciplined, capability-led bolt-on programme for MobiKwik, with two recommended acquisition targets</a:t>
            </a:r>
            <a:endParaRPr lang="en-US" sz="1500" dirty="0"/>
          </a:p>
        </p:txBody>
      </p:sp>
      <p:sp>
        <p:nvSpPr>
          <p:cNvPr id="9" name="Text 7"/>
          <p:cNvSpPr/>
          <p:nvPr/>
        </p:nvSpPr>
        <p:spPr>
          <a:xfrm>
            <a:off x="640080" y="5440680"/>
            <a:ext cx="9144000" cy="640080"/>
          </a:xfrm>
          <a:prstGeom prst="rect">
            <a:avLst/>
          </a:prstGeom>
          <a:noFill/>
          <a:ln/>
        </p:spPr>
        <p:txBody>
          <a:bodyPr wrap="square" lIns="0" tIns="0" rIns="0" bIns="0" rtlCol="0" anchor="ctr"/>
          <a:lstStyle/>
          <a:p>
            <a:pPr indent="0" marL="0">
              <a:lnSpc>
                <a:spcPct val="120000"/>
              </a:lnSpc>
              <a:buNone/>
            </a:pPr>
            <a:r>
              <a:rPr lang="en-US" sz="1200" dirty="0">
                <a:solidFill>
                  <a:srgbClr val="AFC0D6"/>
                </a:solidFill>
                <a:latin typeface="Calibri" pitchFamily="34" charset="0"/>
                <a:ea typeface="Calibri" pitchFamily="34" charset="-122"/>
                <a:cs typeface="Calibri" pitchFamily="34" charset="-120"/>
              </a:rPr>
              <a:t>Prepared for the Board and the Founder's Office</a:t>
            </a:r>
            <a:endParaRPr lang="en-US" sz="1200" dirty="0"/>
          </a:p>
          <a:p>
            <a:pPr indent="0" marL="0">
              <a:lnSpc>
                <a:spcPct val="120000"/>
              </a:lnSpc>
              <a:buNone/>
            </a:pPr>
            <a:r>
              <a:rPr lang="en-US" sz="1200" dirty="0">
                <a:solidFill>
                  <a:srgbClr val="8DA0BA"/>
                </a:solidFill>
                <a:latin typeface="Calibri" pitchFamily="34" charset="0"/>
                <a:ea typeface="Calibri" pitchFamily="34" charset="-122"/>
                <a:cs typeface="Calibri" pitchFamily="34" charset="-120"/>
              </a:rPr>
              <a:t>[Your Name]   ·   Application work sample   ·   June 2026</a:t>
            </a:r>
            <a:endParaRPr lang="en-US" sz="1200" dirty="0"/>
          </a:p>
        </p:txBody>
      </p:sp>
      <p:sp>
        <p:nvSpPr>
          <p:cNvPr id="10" name="Text 8"/>
          <p:cNvSpPr/>
          <p:nvPr/>
        </p:nvSpPr>
        <p:spPr>
          <a:xfrm>
            <a:off x="640080" y="6355080"/>
            <a:ext cx="10424160" cy="365760"/>
          </a:xfrm>
          <a:prstGeom prst="rect">
            <a:avLst/>
          </a:prstGeom>
          <a:noFill/>
          <a:ln/>
        </p:spPr>
        <p:txBody>
          <a:bodyPr wrap="square" lIns="0" tIns="0" rIns="0" bIns="0" rtlCol="0" anchor="ctr"/>
          <a:lstStyle/>
          <a:p>
            <a:pPr indent="0" marL="0">
              <a:buNone/>
            </a:pPr>
            <a:r>
              <a:rPr lang="en-US" sz="850" i="1" dirty="0">
                <a:solidFill>
                  <a:srgbClr val="6F8197"/>
                </a:solidFill>
                <a:latin typeface="Calibri" pitchFamily="34" charset="0"/>
                <a:ea typeface="Calibri" pitchFamily="34" charset="-122"/>
                <a:cs typeface="Calibri" pitchFamily="34" charset="-120"/>
              </a:rPr>
              <a:t>Independent analysis prepared solely from public information. Illustrative and not investment advice. Not affiliated with or endorsed by One MobiKwik Systems Ltd.</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20" kern="0" dirty="0">
                <a:solidFill>
                  <a:srgbClr val="8A6B3C"/>
                </a:solidFill>
                <a:latin typeface="Calibri" pitchFamily="34" charset="0"/>
                <a:ea typeface="Calibri" pitchFamily="34" charset="-122"/>
                <a:cs typeface="Calibri" pitchFamily="34" charset="-120"/>
              </a:rPr>
              <a:t>IMPORTANT NOTICE</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t"/>
          <a:lstStyle/>
          <a:p>
            <a:pPr indent="0" marL="0">
              <a:lnSpc>
                <a:spcPct val="98000"/>
              </a:lnSpc>
              <a:buNone/>
            </a:pPr>
            <a:r>
              <a:rPr lang="en-US" sz="2500" b="1" dirty="0">
                <a:solidFill>
                  <a:srgbClr val="0B2545"/>
                </a:solidFill>
                <a:latin typeface="Cambria" pitchFamily="34" charset="0"/>
                <a:ea typeface="Cambria" pitchFamily="34" charset="-122"/>
                <a:cs typeface="Cambria" pitchFamily="34" charset="-120"/>
              </a:rPr>
              <a:t>Basis of preparation and disclaimer</a:t>
            </a:r>
            <a:endParaRPr lang="en-US" sz="2500" dirty="0"/>
          </a:p>
        </p:txBody>
      </p:sp>
      <p:sp>
        <p:nvSpPr>
          <p:cNvPr id="4" name="Shape 2"/>
          <p:cNvSpPr/>
          <p:nvPr/>
        </p:nvSpPr>
        <p:spPr>
          <a:xfrm>
            <a:off x="640080" y="1554480"/>
            <a:ext cx="10911535" cy="4297680"/>
          </a:xfrm>
          <a:prstGeom prst="roundRect">
            <a:avLst>
              <a:gd name="adj" fmla="val 1277"/>
            </a:avLst>
          </a:prstGeom>
          <a:solidFill>
            <a:srgbClr val="F4F6F9"/>
          </a:solidFill>
          <a:ln w="12700">
            <a:solidFill>
              <a:srgbClr val="DCE3EB"/>
            </a:solidFill>
            <a:prstDash val="solid"/>
          </a:ln>
        </p:spPr>
      </p:sp>
      <p:sp>
        <p:nvSpPr>
          <p:cNvPr id="5" name="Shape 3"/>
          <p:cNvSpPr/>
          <p:nvPr/>
        </p:nvSpPr>
        <p:spPr>
          <a:xfrm>
            <a:off x="1005840" y="1892808"/>
            <a:ext cx="109728" cy="109728"/>
          </a:xfrm>
          <a:prstGeom prst="rect">
            <a:avLst/>
          </a:prstGeom>
          <a:solidFill>
            <a:srgbClr val="B08D57"/>
          </a:solidFill>
          <a:ln/>
        </p:spPr>
      </p:sp>
      <p:sp>
        <p:nvSpPr>
          <p:cNvPr id="6" name="Text 4"/>
          <p:cNvSpPr/>
          <p:nvPr/>
        </p:nvSpPr>
        <p:spPr>
          <a:xfrm>
            <a:off x="1261872" y="1828800"/>
            <a:ext cx="9905695" cy="960120"/>
          </a:xfrm>
          <a:prstGeom prst="rect">
            <a:avLst/>
          </a:prstGeom>
          <a:noFill/>
          <a:ln/>
        </p:spPr>
        <p:txBody>
          <a:bodyPr wrap="square" lIns="0" tIns="0" rIns="0" bIns="0" rtlCol="0" anchor="t"/>
          <a:lstStyle/>
          <a:p>
            <a:pPr indent="0" marL="0">
              <a:lnSpc>
                <a:spcPct val="105000"/>
              </a:lnSpc>
              <a:buNone/>
            </a:pPr>
            <a:r>
              <a:rPr lang="en-US" sz="1150" dirty="0">
                <a:solidFill>
                  <a:srgbClr val="3D4A57"/>
                </a:solidFill>
                <a:latin typeface="Calibri" pitchFamily="34" charset="0"/>
                <a:ea typeface="Calibri" pitchFamily="34" charset="-122"/>
                <a:cs typeface="Calibri" pitchFamily="34" charset="-120"/>
              </a:rPr>
              <a:t>This document has been prepared as an independent work sample. It is based solely on publicly available information, including company earnings releases and exchange filings, regulatory disclosures, and reputable press and analyst commentary. None of this information has been independently verified.</a:t>
            </a:r>
            <a:endParaRPr lang="en-US" sz="1150" dirty="0"/>
          </a:p>
        </p:txBody>
      </p:sp>
      <p:sp>
        <p:nvSpPr>
          <p:cNvPr id="7" name="Shape 5"/>
          <p:cNvSpPr/>
          <p:nvPr/>
        </p:nvSpPr>
        <p:spPr>
          <a:xfrm>
            <a:off x="1005840" y="2898648"/>
            <a:ext cx="109728" cy="109728"/>
          </a:xfrm>
          <a:prstGeom prst="rect">
            <a:avLst/>
          </a:prstGeom>
          <a:solidFill>
            <a:srgbClr val="B08D57"/>
          </a:solidFill>
          <a:ln/>
        </p:spPr>
      </p:sp>
      <p:sp>
        <p:nvSpPr>
          <p:cNvPr id="8" name="Text 6"/>
          <p:cNvSpPr/>
          <p:nvPr/>
        </p:nvSpPr>
        <p:spPr>
          <a:xfrm>
            <a:off x="1261872" y="2834640"/>
            <a:ext cx="9905695" cy="960120"/>
          </a:xfrm>
          <a:prstGeom prst="rect">
            <a:avLst/>
          </a:prstGeom>
          <a:noFill/>
          <a:ln/>
        </p:spPr>
        <p:txBody>
          <a:bodyPr wrap="square" lIns="0" tIns="0" rIns="0" bIns="0" rtlCol="0" anchor="t"/>
          <a:lstStyle/>
          <a:p>
            <a:pPr indent="0" marL="0">
              <a:lnSpc>
                <a:spcPct val="105000"/>
              </a:lnSpc>
              <a:buNone/>
            </a:pPr>
            <a:r>
              <a:rPr lang="en-US" sz="1150" dirty="0">
                <a:solidFill>
                  <a:srgbClr val="3D4A57"/>
                </a:solidFill>
                <a:latin typeface="Calibri" pitchFamily="34" charset="0"/>
                <a:ea typeface="Calibri" pitchFamily="34" charset="-122"/>
                <a:cs typeface="Calibri" pitchFamily="34" charset="-120"/>
              </a:rPr>
              <a:t>The acquisition targets named in this document are illustrative candidates identified from public sources. Their inclusion does not constitute an offer, a recommendation to transact, or any indication of the targets' willingness to be acquired, and implies no non-public knowledge of any company.</a:t>
            </a:r>
            <a:endParaRPr lang="en-US" sz="1150" dirty="0"/>
          </a:p>
        </p:txBody>
      </p:sp>
      <p:sp>
        <p:nvSpPr>
          <p:cNvPr id="9" name="Shape 7"/>
          <p:cNvSpPr/>
          <p:nvPr/>
        </p:nvSpPr>
        <p:spPr>
          <a:xfrm>
            <a:off x="1005840" y="3904488"/>
            <a:ext cx="109728" cy="109728"/>
          </a:xfrm>
          <a:prstGeom prst="rect">
            <a:avLst/>
          </a:prstGeom>
          <a:solidFill>
            <a:srgbClr val="B08D57"/>
          </a:solidFill>
          <a:ln/>
        </p:spPr>
      </p:sp>
      <p:sp>
        <p:nvSpPr>
          <p:cNvPr id="10" name="Text 8"/>
          <p:cNvSpPr/>
          <p:nvPr/>
        </p:nvSpPr>
        <p:spPr>
          <a:xfrm>
            <a:off x="1261872" y="3840480"/>
            <a:ext cx="9905695" cy="960120"/>
          </a:xfrm>
          <a:prstGeom prst="rect">
            <a:avLst/>
          </a:prstGeom>
          <a:noFill/>
          <a:ln/>
        </p:spPr>
        <p:txBody>
          <a:bodyPr wrap="square" lIns="0" tIns="0" rIns="0" bIns="0" rtlCol="0" anchor="t"/>
          <a:lstStyle/>
          <a:p>
            <a:pPr indent="0" marL="0">
              <a:lnSpc>
                <a:spcPct val="105000"/>
              </a:lnSpc>
              <a:buNone/>
            </a:pPr>
            <a:r>
              <a:rPr lang="en-US" sz="1150" dirty="0">
                <a:solidFill>
                  <a:srgbClr val="3D4A57"/>
                </a:solidFill>
                <a:latin typeface="Calibri" pitchFamily="34" charset="0"/>
                <a:ea typeface="Calibri" pitchFamily="34" charset="-122"/>
                <a:cs typeface="Calibri" pitchFamily="34" charset="-120"/>
              </a:rPr>
              <a:t>All financial figures relating to valuation, deal structure, synergies and pro forma impact are illustrative and presented for framework purposes only. They are not forecasts and should not be relied upon. Actual outcomes would depend on diligence, negotiation and prevailing market conditions.</a:t>
            </a:r>
            <a:endParaRPr lang="en-US" sz="1150" dirty="0"/>
          </a:p>
        </p:txBody>
      </p:sp>
      <p:sp>
        <p:nvSpPr>
          <p:cNvPr id="11" name="Shape 9"/>
          <p:cNvSpPr/>
          <p:nvPr/>
        </p:nvSpPr>
        <p:spPr>
          <a:xfrm>
            <a:off x="1005840" y="4910328"/>
            <a:ext cx="109728" cy="109728"/>
          </a:xfrm>
          <a:prstGeom prst="rect">
            <a:avLst/>
          </a:prstGeom>
          <a:solidFill>
            <a:srgbClr val="B08D57"/>
          </a:solidFill>
          <a:ln/>
        </p:spPr>
      </p:sp>
      <p:sp>
        <p:nvSpPr>
          <p:cNvPr id="12" name="Text 10"/>
          <p:cNvSpPr/>
          <p:nvPr/>
        </p:nvSpPr>
        <p:spPr>
          <a:xfrm>
            <a:off x="1261872" y="4846320"/>
            <a:ext cx="9905695" cy="960120"/>
          </a:xfrm>
          <a:prstGeom prst="rect">
            <a:avLst/>
          </a:prstGeom>
          <a:noFill/>
          <a:ln/>
        </p:spPr>
        <p:txBody>
          <a:bodyPr wrap="square" lIns="0" tIns="0" rIns="0" bIns="0" rtlCol="0" anchor="t"/>
          <a:lstStyle/>
          <a:p>
            <a:pPr indent="0" marL="0">
              <a:lnSpc>
                <a:spcPct val="105000"/>
              </a:lnSpc>
              <a:buNone/>
            </a:pPr>
            <a:r>
              <a:rPr lang="en-US" sz="1150" dirty="0">
                <a:solidFill>
                  <a:srgbClr val="3D4A57"/>
                </a:solidFill>
                <a:latin typeface="Calibri" pitchFamily="34" charset="0"/>
                <a:ea typeface="Calibri" pitchFamily="34" charset="-122"/>
                <a:cs typeface="Calibri" pitchFamily="34" charset="-120"/>
              </a:rPr>
              <a:t>This document is not investment, legal, tax or accounting advice. It is strictly private and confidential and is intended only to demonstrate an approach to corporate development at MobiKwik.</a:t>
            </a:r>
            <a:endParaRPr lang="en-US" sz="1150" dirty="0"/>
          </a:p>
        </p:txBody>
      </p:sp>
      <p:sp>
        <p:nvSpPr>
          <p:cNvPr id="13" name="Text 11"/>
          <p:cNvSpPr/>
          <p:nvPr/>
        </p:nvSpPr>
        <p:spPr>
          <a:xfrm>
            <a:off x="640080" y="6492240"/>
            <a:ext cx="2743200" cy="237744"/>
          </a:xfrm>
          <a:prstGeom prst="rect">
            <a:avLst/>
          </a:prstGeom>
          <a:noFill/>
          <a:ln/>
        </p:spPr>
        <p:txBody>
          <a:bodyPr wrap="square" lIns="0" tIns="0" rIns="0" bIns="0" rtlCol="0" anchor="ctr"/>
          <a:lstStyle/>
          <a:p>
            <a:pPr indent="0" marL="0">
              <a:buNone/>
            </a:pPr>
            <a:r>
              <a:rPr lang="en-US" sz="750" b="1" spc="150" kern="0" dirty="0">
                <a:solidFill>
                  <a:srgbClr val="7A8794"/>
                </a:solidFill>
                <a:latin typeface="Calibri" pitchFamily="34" charset="0"/>
                <a:ea typeface="Calibri" pitchFamily="34" charset="-122"/>
                <a:cs typeface="Calibri" pitchFamily="34" charset="-120"/>
              </a:rPr>
              <a:t>PROJECT KEYSTONE</a:t>
            </a:r>
            <a:endParaRPr lang="en-US" sz="750" dirty="0"/>
          </a:p>
        </p:txBody>
      </p:sp>
      <p:sp>
        <p:nvSpPr>
          <p:cNvPr id="14" name="Text 12"/>
          <p:cNvSpPr/>
          <p:nvPr/>
        </p:nvSpPr>
        <p:spPr>
          <a:xfrm>
            <a:off x="3352648" y="6492240"/>
            <a:ext cx="5486400" cy="237744"/>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Strictly private and confidential  ·  Illustrative</a:t>
            </a:r>
            <a:endParaRPr lang="en-US" sz="750" dirty="0"/>
          </a:p>
        </p:txBody>
      </p:sp>
      <p:sp>
        <p:nvSpPr>
          <p:cNvPr id="15" name="Text 13"/>
          <p:cNvSpPr/>
          <p:nvPr/>
        </p:nvSpPr>
        <p:spPr>
          <a:xfrm>
            <a:off x="11094415" y="6492240"/>
            <a:ext cx="457200" cy="237744"/>
          </a:xfrm>
          <a:prstGeom prst="rect">
            <a:avLst/>
          </a:prstGeom>
          <a:noFill/>
          <a:ln/>
        </p:spPr>
        <p:txBody>
          <a:bodyPr wrap="square" lIns="0" tIns="0" rIns="0" bIns="0" rtlCol="0" anchor="ctr"/>
          <a:lstStyle/>
          <a:p>
            <a:pPr algn="r" indent="0" marL="0">
              <a:buNone/>
            </a:pPr>
            <a:r>
              <a:rPr lang="en-US" sz="850" dirty="0">
                <a:solidFill>
                  <a:srgbClr val="7A8794"/>
                </a:solidFill>
                <a:latin typeface="Calibri" pitchFamily="34" charset="0"/>
                <a:ea typeface="Calibri" pitchFamily="34" charset="-122"/>
                <a:cs typeface="Calibri"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20" kern="0" dirty="0">
                <a:solidFill>
                  <a:srgbClr val="8A6B3C"/>
                </a:solidFill>
                <a:latin typeface="Calibri" pitchFamily="34" charset="0"/>
                <a:ea typeface="Calibri" pitchFamily="34" charset="-122"/>
                <a:cs typeface="Calibri" pitchFamily="34" charset="-120"/>
              </a:rPr>
              <a:t>CONTENTS</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t"/>
          <a:lstStyle/>
          <a:p>
            <a:pPr indent="0" marL="0">
              <a:lnSpc>
                <a:spcPct val="98000"/>
              </a:lnSpc>
              <a:buNone/>
            </a:pPr>
            <a:r>
              <a:rPr lang="en-US" sz="2500" b="1" dirty="0">
                <a:solidFill>
                  <a:srgbClr val="0B2545"/>
                </a:solidFill>
                <a:latin typeface="Cambria" pitchFamily="34" charset="0"/>
                <a:ea typeface="Cambria" pitchFamily="34" charset="-122"/>
                <a:cs typeface="Cambria" pitchFamily="34" charset="-120"/>
              </a:rPr>
              <a:t>Agenda</a:t>
            </a:r>
            <a:endParaRPr lang="en-US" sz="2500" dirty="0"/>
          </a:p>
        </p:txBody>
      </p:sp>
      <p:sp>
        <p:nvSpPr>
          <p:cNvPr id="4" name="Text 2"/>
          <p:cNvSpPr/>
          <p:nvPr/>
        </p:nvSpPr>
        <p:spPr>
          <a:xfrm>
            <a:off x="640080" y="1627632"/>
            <a:ext cx="822960" cy="731520"/>
          </a:xfrm>
          <a:prstGeom prst="rect">
            <a:avLst/>
          </a:prstGeom>
          <a:noFill/>
          <a:ln/>
        </p:spPr>
        <p:txBody>
          <a:bodyPr wrap="square" lIns="0" tIns="0" rIns="0" bIns="0" rtlCol="0" anchor="ctr"/>
          <a:lstStyle/>
          <a:p>
            <a:pPr algn="ctr" indent="0" marL="0">
              <a:buNone/>
            </a:pPr>
            <a:r>
              <a:rPr lang="en-US" sz="4000" b="1" i="1" dirty="0">
                <a:solidFill>
                  <a:srgbClr val="C9AE82"/>
                </a:solidFill>
                <a:latin typeface="Cambria" pitchFamily="34" charset="0"/>
                <a:ea typeface="Cambria" pitchFamily="34" charset="-122"/>
                <a:cs typeface="Cambria" pitchFamily="34" charset="-120"/>
              </a:rPr>
              <a:t>I</a:t>
            </a:r>
            <a:endParaRPr lang="en-US" sz="4000" dirty="0"/>
          </a:p>
        </p:txBody>
      </p:sp>
      <p:sp>
        <p:nvSpPr>
          <p:cNvPr id="5" name="Text 3"/>
          <p:cNvSpPr/>
          <p:nvPr/>
        </p:nvSpPr>
        <p:spPr>
          <a:xfrm>
            <a:off x="1554480" y="1664208"/>
            <a:ext cx="5669280" cy="411480"/>
          </a:xfrm>
          <a:prstGeom prst="rect">
            <a:avLst/>
          </a:prstGeom>
          <a:noFill/>
          <a:ln/>
        </p:spPr>
        <p:txBody>
          <a:bodyPr wrap="square" lIns="0" tIns="0" rIns="0" bIns="0" rtlCol="0" anchor="ctr"/>
          <a:lstStyle/>
          <a:p>
            <a:pPr indent="0" marL="0">
              <a:buNone/>
            </a:pPr>
            <a:r>
              <a:rPr lang="en-US" sz="1900" b="1" dirty="0">
                <a:solidFill>
                  <a:srgbClr val="0B2545"/>
                </a:solidFill>
                <a:latin typeface="Cambria" pitchFamily="34" charset="0"/>
                <a:ea typeface="Cambria" pitchFamily="34" charset="-122"/>
                <a:cs typeface="Cambria" pitchFamily="34" charset="-120"/>
              </a:rPr>
              <a:t>Situation and strategic rationale</a:t>
            </a:r>
            <a:endParaRPr lang="en-US" sz="1900" dirty="0"/>
          </a:p>
        </p:txBody>
      </p:sp>
      <p:sp>
        <p:nvSpPr>
          <p:cNvPr id="6" name="Text 4"/>
          <p:cNvSpPr/>
          <p:nvPr/>
        </p:nvSpPr>
        <p:spPr>
          <a:xfrm>
            <a:off x="1554480" y="2130552"/>
            <a:ext cx="10058400" cy="274320"/>
          </a:xfrm>
          <a:prstGeom prst="rect">
            <a:avLst/>
          </a:prstGeom>
          <a:noFill/>
          <a:ln/>
        </p:spPr>
        <p:txBody>
          <a:bodyPr wrap="square" lIns="0" tIns="0" rIns="0" bIns="0" rtlCol="0" anchor="ctr"/>
          <a:lstStyle/>
          <a:p>
            <a:pPr indent="0" marL="0">
              <a:buNone/>
            </a:pPr>
            <a:r>
              <a:rPr lang="en-US" sz="1150" dirty="0">
                <a:solidFill>
                  <a:srgbClr val="7A8794"/>
                </a:solidFill>
                <a:latin typeface="Calibri" pitchFamily="34" charset="0"/>
                <a:ea typeface="Calibri" pitchFamily="34" charset="-122"/>
                <a:cs typeface="Calibri" pitchFamily="34" charset="-120"/>
              </a:rPr>
              <a:t>MobiKwik today      ·      The case for inorganic growth      ·      Acquisition framework and criteria</a:t>
            </a:r>
            <a:endParaRPr lang="en-US" sz="1150" dirty="0"/>
          </a:p>
        </p:txBody>
      </p:sp>
      <p:sp>
        <p:nvSpPr>
          <p:cNvPr id="7" name="Text 5"/>
          <p:cNvSpPr/>
          <p:nvPr/>
        </p:nvSpPr>
        <p:spPr>
          <a:xfrm>
            <a:off x="640080" y="2834640"/>
            <a:ext cx="822960" cy="731520"/>
          </a:xfrm>
          <a:prstGeom prst="rect">
            <a:avLst/>
          </a:prstGeom>
          <a:noFill/>
          <a:ln/>
        </p:spPr>
        <p:txBody>
          <a:bodyPr wrap="square" lIns="0" tIns="0" rIns="0" bIns="0" rtlCol="0" anchor="ctr"/>
          <a:lstStyle/>
          <a:p>
            <a:pPr algn="ctr" indent="0" marL="0">
              <a:buNone/>
            </a:pPr>
            <a:r>
              <a:rPr lang="en-US" sz="4000" b="1" i="1" dirty="0">
                <a:solidFill>
                  <a:srgbClr val="C9AE82"/>
                </a:solidFill>
                <a:latin typeface="Cambria" pitchFamily="34" charset="0"/>
                <a:ea typeface="Cambria" pitchFamily="34" charset="-122"/>
                <a:cs typeface="Cambria" pitchFamily="34" charset="-120"/>
              </a:rPr>
              <a:t>II</a:t>
            </a:r>
            <a:endParaRPr lang="en-US" sz="4000" dirty="0"/>
          </a:p>
        </p:txBody>
      </p:sp>
      <p:sp>
        <p:nvSpPr>
          <p:cNvPr id="8" name="Text 6"/>
          <p:cNvSpPr/>
          <p:nvPr/>
        </p:nvSpPr>
        <p:spPr>
          <a:xfrm>
            <a:off x="1554480" y="2871216"/>
            <a:ext cx="5669280" cy="411480"/>
          </a:xfrm>
          <a:prstGeom prst="rect">
            <a:avLst/>
          </a:prstGeom>
          <a:noFill/>
          <a:ln/>
        </p:spPr>
        <p:txBody>
          <a:bodyPr wrap="square" lIns="0" tIns="0" rIns="0" bIns="0" rtlCol="0" anchor="ctr"/>
          <a:lstStyle/>
          <a:p>
            <a:pPr indent="0" marL="0">
              <a:buNone/>
            </a:pPr>
            <a:r>
              <a:rPr lang="en-US" sz="1900" b="1" dirty="0">
                <a:solidFill>
                  <a:srgbClr val="0B2545"/>
                </a:solidFill>
                <a:latin typeface="Cambria" pitchFamily="34" charset="0"/>
                <a:ea typeface="Cambria" pitchFamily="34" charset="-122"/>
                <a:cs typeface="Cambria" pitchFamily="34" charset="-120"/>
              </a:rPr>
              <a:t>Target identification and screening</a:t>
            </a:r>
            <a:endParaRPr lang="en-US" sz="1900" dirty="0"/>
          </a:p>
        </p:txBody>
      </p:sp>
      <p:sp>
        <p:nvSpPr>
          <p:cNvPr id="9" name="Text 7"/>
          <p:cNvSpPr/>
          <p:nvPr/>
        </p:nvSpPr>
        <p:spPr>
          <a:xfrm>
            <a:off x="1554480" y="3337560"/>
            <a:ext cx="10058400" cy="274320"/>
          </a:xfrm>
          <a:prstGeom prst="rect">
            <a:avLst/>
          </a:prstGeom>
          <a:noFill/>
          <a:ln/>
        </p:spPr>
        <p:txBody>
          <a:bodyPr wrap="square" lIns="0" tIns="0" rIns="0" bIns="0" rtlCol="0" anchor="ctr"/>
          <a:lstStyle/>
          <a:p>
            <a:pPr indent="0" marL="0">
              <a:buNone/>
            </a:pPr>
            <a:r>
              <a:rPr lang="en-US" sz="1150" dirty="0">
                <a:solidFill>
                  <a:srgbClr val="7A8794"/>
                </a:solidFill>
                <a:latin typeface="Calibri" pitchFamily="34" charset="0"/>
                <a:ea typeface="Calibri" pitchFamily="34" charset="-122"/>
                <a:cs typeface="Calibri" pitchFamily="34" charset="-120"/>
              </a:rPr>
              <a:t>Target universe and screening      ·      Two recommended targets      ·      Target profiles: Blostem and Riskcovry</a:t>
            </a:r>
            <a:endParaRPr lang="en-US" sz="1150" dirty="0"/>
          </a:p>
        </p:txBody>
      </p:sp>
      <p:sp>
        <p:nvSpPr>
          <p:cNvPr id="10" name="Text 8"/>
          <p:cNvSpPr/>
          <p:nvPr/>
        </p:nvSpPr>
        <p:spPr>
          <a:xfrm>
            <a:off x="640080" y="4041648"/>
            <a:ext cx="822960" cy="731520"/>
          </a:xfrm>
          <a:prstGeom prst="rect">
            <a:avLst/>
          </a:prstGeom>
          <a:noFill/>
          <a:ln/>
        </p:spPr>
        <p:txBody>
          <a:bodyPr wrap="square" lIns="0" tIns="0" rIns="0" bIns="0" rtlCol="0" anchor="ctr"/>
          <a:lstStyle/>
          <a:p>
            <a:pPr algn="ctr" indent="0" marL="0">
              <a:buNone/>
            </a:pPr>
            <a:r>
              <a:rPr lang="en-US" sz="4000" b="1" i="1" dirty="0">
                <a:solidFill>
                  <a:srgbClr val="C9AE82"/>
                </a:solidFill>
                <a:latin typeface="Cambria" pitchFamily="34" charset="0"/>
                <a:ea typeface="Cambria" pitchFamily="34" charset="-122"/>
                <a:cs typeface="Cambria" pitchFamily="34" charset="-120"/>
              </a:rPr>
              <a:t>III</a:t>
            </a:r>
            <a:endParaRPr lang="en-US" sz="4000" dirty="0"/>
          </a:p>
        </p:txBody>
      </p:sp>
      <p:sp>
        <p:nvSpPr>
          <p:cNvPr id="11" name="Text 9"/>
          <p:cNvSpPr/>
          <p:nvPr/>
        </p:nvSpPr>
        <p:spPr>
          <a:xfrm>
            <a:off x="1554480" y="4078224"/>
            <a:ext cx="5669280" cy="411480"/>
          </a:xfrm>
          <a:prstGeom prst="rect">
            <a:avLst/>
          </a:prstGeom>
          <a:noFill/>
          <a:ln/>
        </p:spPr>
        <p:txBody>
          <a:bodyPr wrap="square" lIns="0" tIns="0" rIns="0" bIns="0" rtlCol="0" anchor="ctr"/>
          <a:lstStyle/>
          <a:p>
            <a:pPr indent="0" marL="0">
              <a:buNone/>
            </a:pPr>
            <a:r>
              <a:rPr lang="en-US" sz="1900" b="1" dirty="0">
                <a:solidFill>
                  <a:srgbClr val="0B2545"/>
                </a:solidFill>
                <a:latin typeface="Cambria" pitchFamily="34" charset="0"/>
                <a:ea typeface="Cambria" pitchFamily="34" charset="-122"/>
                <a:cs typeface="Cambria" pitchFamily="34" charset="-120"/>
              </a:rPr>
              <a:t>Valuation, structure and execution</a:t>
            </a:r>
            <a:endParaRPr lang="en-US" sz="1900" dirty="0"/>
          </a:p>
        </p:txBody>
      </p:sp>
      <p:sp>
        <p:nvSpPr>
          <p:cNvPr id="12" name="Text 10"/>
          <p:cNvSpPr/>
          <p:nvPr/>
        </p:nvSpPr>
        <p:spPr>
          <a:xfrm>
            <a:off x="1554480" y="4544568"/>
            <a:ext cx="10058400" cy="274320"/>
          </a:xfrm>
          <a:prstGeom prst="rect">
            <a:avLst/>
          </a:prstGeom>
          <a:noFill/>
          <a:ln/>
        </p:spPr>
        <p:txBody>
          <a:bodyPr wrap="square" lIns="0" tIns="0" rIns="0" bIns="0" rtlCol="0" anchor="ctr"/>
          <a:lstStyle/>
          <a:p>
            <a:pPr indent="0" marL="0">
              <a:buNone/>
            </a:pPr>
            <a:r>
              <a:rPr lang="en-US" sz="1150" dirty="0">
                <a:solidFill>
                  <a:srgbClr val="7A8794"/>
                </a:solidFill>
                <a:latin typeface="Calibri" pitchFamily="34" charset="0"/>
                <a:ea typeface="Calibri" pitchFamily="34" charset="-122"/>
                <a:cs typeface="Calibri" pitchFamily="34" charset="-120"/>
              </a:rPr>
              <a:t>Illustrative valuation      ·      Deal structure and sources and uses      ·      Synergies, risks and the path forward</a:t>
            </a:r>
            <a:endParaRPr lang="en-US" sz="1150" dirty="0"/>
          </a:p>
        </p:txBody>
      </p:sp>
      <p:sp>
        <p:nvSpPr>
          <p:cNvPr id="13" name="Text 11"/>
          <p:cNvSpPr/>
          <p:nvPr/>
        </p:nvSpPr>
        <p:spPr>
          <a:xfrm>
            <a:off x="1554480" y="5294376"/>
            <a:ext cx="9144000" cy="274320"/>
          </a:xfrm>
          <a:prstGeom prst="rect">
            <a:avLst/>
          </a:prstGeom>
          <a:noFill/>
          <a:ln/>
        </p:spPr>
        <p:txBody>
          <a:bodyPr wrap="square" lIns="0" tIns="0" rIns="0" bIns="0" rtlCol="0" anchor="ctr"/>
          <a:lstStyle/>
          <a:p>
            <a:pPr indent="0" marL="0">
              <a:buNone/>
            </a:pPr>
            <a:r>
              <a:rPr lang="en-US" sz="1150" i="1" dirty="0">
                <a:solidFill>
                  <a:srgbClr val="8A6B3C"/>
                </a:solidFill>
                <a:latin typeface="Calibri" pitchFamily="34" charset="0"/>
                <a:ea typeface="Calibri" pitchFamily="34" charset="-122"/>
                <a:cs typeface="Calibri" pitchFamily="34" charset="-120"/>
              </a:rPr>
              <a:t>Appendix      ·      Sources and assumptions</a:t>
            </a:r>
            <a:endParaRPr lang="en-US" sz="1150" dirty="0"/>
          </a:p>
        </p:txBody>
      </p:sp>
      <p:sp>
        <p:nvSpPr>
          <p:cNvPr id="14" name="Text 12"/>
          <p:cNvSpPr/>
          <p:nvPr/>
        </p:nvSpPr>
        <p:spPr>
          <a:xfrm>
            <a:off x="640080" y="6492240"/>
            <a:ext cx="2743200" cy="237744"/>
          </a:xfrm>
          <a:prstGeom prst="rect">
            <a:avLst/>
          </a:prstGeom>
          <a:noFill/>
          <a:ln/>
        </p:spPr>
        <p:txBody>
          <a:bodyPr wrap="square" lIns="0" tIns="0" rIns="0" bIns="0" rtlCol="0" anchor="ctr"/>
          <a:lstStyle/>
          <a:p>
            <a:pPr indent="0" marL="0">
              <a:buNone/>
            </a:pPr>
            <a:r>
              <a:rPr lang="en-US" sz="750" b="1" spc="150" kern="0" dirty="0">
                <a:solidFill>
                  <a:srgbClr val="7A8794"/>
                </a:solidFill>
                <a:latin typeface="Calibri" pitchFamily="34" charset="0"/>
                <a:ea typeface="Calibri" pitchFamily="34" charset="-122"/>
                <a:cs typeface="Calibri" pitchFamily="34" charset="-120"/>
              </a:rPr>
              <a:t>PROJECT KEYSTONE</a:t>
            </a:r>
            <a:endParaRPr lang="en-US" sz="750" dirty="0"/>
          </a:p>
        </p:txBody>
      </p:sp>
      <p:sp>
        <p:nvSpPr>
          <p:cNvPr id="15" name="Text 13"/>
          <p:cNvSpPr/>
          <p:nvPr/>
        </p:nvSpPr>
        <p:spPr>
          <a:xfrm>
            <a:off x="3352648" y="6492240"/>
            <a:ext cx="5486400" cy="237744"/>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Strictly private and confidential  ·  Illustrative</a:t>
            </a:r>
            <a:endParaRPr lang="en-US" sz="750" dirty="0"/>
          </a:p>
        </p:txBody>
      </p:sp>
      <p:sp>
        <p:nvSpPr>
          <p:cNvPr id="16" name="Text 14"/>
          <p:cNvSpPr/>
          <p:nvPr/>
        </p:nvSpPr>
        <p:spPr>
          <a:xfrm>
            <a:off x="11094415" y="6492240"/>
            <a:ext cx="457200" cy="237744"/>
          </a:xfrm>
          <a:prstGeom prst="rect">
            <a:avLst/>
          </a:prstGeom>
          <a:noFill/>
          <a:ln/>
        </p:spPr>
        <p:txBody>
          <a:bodyPr wrap="square" lIns="0" tIns="0" rIns="0" bIns="0" rtlCol="0" anchor="ctr"/>
          <a:lstStyle/>
          <a:p>
            <a:pPr algn="r" indent="0" marL="0">
              <a:buNone/>
            </a:pPr>
            <a:r>
              <a:rPr lang="en-US" sz="850" dirty="0">
                <a:solidFill>
                  <a:srgbClr val="7A8794"/>
                </a:solidFill>
                <a:latin typeface="Calibri" pitchFamily="34" charset="0"/>
                <a:ea typeface="Calibri" pitchFamily="34" charset="-122"/>
                <a:cs typeface="Calibri"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20" kern="0" dirty="0">
                <a:solidFill>
                  <a:srgbClr val="8A6B3C"/>
                </a:solidFill>
                <a:latin typeface="Calibri" pitchFamily="34" charset="0"/>
                <a:ea typeface="Calibri" pitchFamily="34" charset="-122"/>
                <a:cs typeface="Calibri" pitchFamily="34" charset="-120"/>
              </a:rPr>
              <a:t>EXECUTIVE SUMMARY</a:t>
            </a:r>
            <a:endParaRPr lang="en-US" sz="1100" dirty="0"/>
          </a:p>
        </p:txBody>
      </p:sp>
      <p:sp>
        <p:nvSpPr>
          <p:cNvPr id="3" name="Text 1"/>
          <p:cNvSpPr/>
          <p:nvPr/>
        </p:nvSpPr>
        <p:spPr>
          <a:xfrm>
            <a:off x="8808415" y="402336"/>
            <a:ext cx="2743200" cy="237744"/>
          </a:xfrm>
          <a:prstGeom prst="rect">
            <a:avLst/>
          </a:prstGeom>
          <a:noFill/>
          <a:ln/>
        </p:spPr>
        <p:txBody>
          <a:bodyPr wrap="square" lIns="0" tIns="0" rIns="0" bIns="0" rtlCol="0" anchor="ctr"/>
          <a:lstStyle/>
          <a:p>
            <a:pPr algn="r" indent="0" marL="0">
              <a:buNone/>
            </a:pPr>
            <a:r>
              <a:rPr lang="en-US" sz="950" b="1" spc="100" kern="0" dirty="0">
                <a:solidFill>
                  <a:srgbClr val="8A6B3C"/>
                </a:solidFill>
                <a:latin typeface="Calibri" pitchFamily="34" charset="0"/>
                <a:ea typeface="Calibri" pitchFamily="34" charset="-122"/>
                <a:cs typeface="Calibri" pitchFamily="34" charset="-120"/>
              </a:rPr>
              <a:t>Exhibit 1</a:t>
            </a:r>
            <a:endParaRPr lang="en-US" sz="950" dirty="0"/>
          </a:p>
        </p:txBody>
      </p:sp>
      <p:sp>
        <p:nvSpPr>
          <p:cNvPr id="4" name="Text 2"/>
          <p:cNvSpPr/>
          <p:nvPr/>
        </p:nvSpPr>
        <p:spPr>
          <a:xfrm>
            <a:off x="640080" y="658368"/>
            <a:ext cx="10911535" cy="566928"/>
          </a:xfrm>
          <a:prstGeom prst="rect">
            <a:avLst/>
          </a:prstGeom>
          <a:noFill/>
          <a:ln/>
        </p:spPr>
        <p:txBody>
          <a:bodyPr wrap="square" lIns="0" tIns="0" rIns="0" bIns="0" rtlCol="0" anchor="t"/>
          <a:lstStyle/>
          <a:p>
            <a:pPr indent="0" marL="0">
              <a:lnSpc>
                <a:spcPct val="98000"/>
              </a:lnSpc>
              <a:buNone/>
            </a:pPr>
            <a:r>
              <a:rPr lang="en-US" sz="2500" b="1" dirty="0">
                <a:solidFill>
                  <a:srgbClr val="0B2545"/>
                </a:solidFill>
                <a:latin typeface="Cambria" pitchFamily="34" charset="0"/>
                <a:ea typeface="Cambria" pitchFamily="34" charset="-122"/>
                <a:cs typeface="Cambria" pitchFamily="34" charset="-120"/>
              </a:rPr>
              <a:t>Recommendation and key messages</a:t>
            </a:r>
            <a:endParaRPr lang="en-US" sz="2500" dirty="0"/>
          </a:p>
        </p:txBody>
      </p:sp>
      <p:sp>
        <p:nvSpPr>
          <p:cNvPr id="5" name="Shape 3"/>
          <p:cNvSpPr/>
          <p:nvPr/>
        </p:nvSpPr>
        <p:spPr>
          <a:xfrm>
            <a:off x="640080" y="1371600"/>
            <a:ext cx="10911535" cy="914400"/>
          </a:xfrm>
          <a:prstGeom prst="roundRect">
            <a:avLst>
              <a:gd name="adj" fmla="val 6000"/>
            </a:avLst>
          </a:prstGeom>
          <a:solidFill>
            <a:srgbClr val="0B2545"/>
          </a:solidFill>
          <a:ln/>
          <a:effectLst>
            <a:outerShdw sx="100000" sy="100000" kx="0" ky="0" algn="bl" rotWithShape="0" blurRad="101600" dist="38100" dir="5400000">
              <a:srgbClr val="13243A">
                <a:alpha val="10000"/>
              </a:srgbClr>
            </a:outerShdw>
          </a:effectLst>
        </p:spPr>
      </p:sp>
      <p:sp>
        <p:nvSpPr>
          <p:cNvPr id="6" name="Text 4"/>
          <p:cNvSpPr/>
          <p:nvPr/>
        </p:nvSpPr>
        <p:spPr>
          <a:xfrm>
            <a:off x="932688" y="1371600"/>
            <a:ext cx="10326319" cy="914400"/>
          </a:xfrm>
          <a:prstGeom prst="rect">
            <a:avLst/>
          </a:prstGeom>
          <a:noFill/>
          <a:ln/>
        </p:spPr>
        <p:txBody>
          <a:bodyPr wrap="square" lIns="0" tIns="0" rIns="0" bIns="0" rtlCol="0" anchor="ctr"/>
          <a:lstStyle/>
          <a:p>
            <a:pPr indent="0" marL="0">
              <a:lnSpc>
                <a:spcPct val="104000"/>
              </a:lnSpc>
              <a:buNone/>
            </a:pPr>
            <a:r>
              <a:rPr lang="en-US" sz="1300" b="1" dirty="0">
                <a:solidFill>
                  <a:srgbClr val="C9AE82"/>
                </a:solidFill>
                <a:latin typeface="Calibri" pitchFamily="34" charset="0"/>
                <a:ea typeface="Calibri" pitchFamily="34" charset="-122"/>
                <a:cs typeface="Calibri" pitchFamily="34" charset="-120"/>
              </a:rPr>
              <a:t>Recommendation.  </a:t>
            </a:r>
            <a:pPr indent="0" marL="0">
              <a:lnSpc>
                <a:spcPct val="104000"/>
              </a:lnSpc>
              <a:buNone/>
            </a:pPr>
            <a:r>
              <a:rPr lang="en-US" sz="1300" dirty="0">
                <a:solidFill>
                  <a:srgbClr val="E8EEF6"/>
                </a:solidFill>
                <a:latin typeface="Calibri" pitchFamily="34" charset="0"/>
                <a:ea typeface="Calibri" pitchFamily="34" charset="-122"/>
                <a:cs typeface="Calibri" pitchFamily="34" charset="-120"/>
              </a:rPr>
              <a:t>MobiKwik should run a disciplined, capability-led bolt-on M&amp;A programme over FY27 to FY28, using its listed stock as currency in a buyer's market while protecting the profitability won in H2 FY26. Two targets are recommended to begin: Blostem and Riskcovry.</a:t>
            </a:r>
            <a:endParaRPr lang="en-US" sz="1300" dirty="0"/>
          </a:p>
        </p:txBody>
      </p:sp>
      <p:sp>
        <p:nvSpPr>
          <p:cNvPr id="7" name="Shape 5"/>
          <p:cNvSpPr/>
          <p:nvPr/>
        </p:nvSpPr>
        <p:spPr>
          <a:xfrm>
            <a:off x="640080" y="2542032"/>
            <a:ext cx="2549576" cy="2395728"/>
          </a:xfrm>
          <a:prstGeom prst="roundRect">
            <a:avLst>
              <a:gd name="adj" fmla="val 1908"/>
            </a:avLst>
          </a:prstGeom>
          <a:solidFill>
            <a:srgbClr val="F4F6F9"/>
          </a:solidFill>
          <a:ln w="12700">
            <a:solidFill>
              <a:srgbClr val="DCE3EB"/>
            </a:solidFill>
            <a:prstDash val="solid"/>
          </a:ln>
        </p:spPr>
      </p:sp>
      <p:sp>
        <p:nvSpPr>
          <p:cNvPr id="8" name="Shape 6"/>
          <p:cNvSpPr/>
          <p:nvPr/>
        </p:nvSpPr>
        <p:spPr>
          <a:xfrm>
            <a:off x="877824" y="2798064"/>
            <a:ext cx="603504" cy="603504"/>
          </a:xfrm>
          <a:prstGeom prst="ellipse">
            <a:avLst/>
          </a:prstGeom>
          <a:solidFill>
            <a:srgbClr val="F7F2E9"/>
          </a:solidFill>
          <a:ln w="12700">
            <a:solidFill>
              <a:srgbClr val="C9AE82"/>
            </a:solidFill>
            <a:prstDash val="solid"/>
          </a:ln>
        </p:spPr>
      </p:sp>
      <p:pic>
        <p:nvPicPr>
          <p:cNvPr id="9" name="Image 0" descr="preencoded.png">    </p:cNvPr>
          <p:cNvPicPr>
            <a:picLocks noChangeAspect="1"/>
          </p:cNvPicPr>
          <p:nvPr/>
        </p:nvPicPr>
        <p:blipFill>
          <a:blip r:embed="rId1"/>
          <a:stretch>
            <a:fillRect/>
          </a:stretch>
        </p:blipFill>
        <p:spPr>
          <a:xfrm>
            <a:off x="1033272" y="2953512"/>
            <a:ext cx="292608" cy="292608"/>
          </a:xfrm>
          <a:prstGeom prst="rect">
            <a:avLst/>
          </a:prstGeom>
        </p:spPr>
      </p:pic>
      <p:sp>
        <p:nvSpPr>
          <p:cNvPr id="10" name="Text 7"/>
          <p:cNvSpPr/>
          <p:nvPr/>
        </p:nvSpPr>
        <p:spPr>
          <a:xfrm>
            <a:off x="877824" y="3511296"/>
            <a:ext cx="2092376" cy="457200"/>
          </a:xfrm>
          <a:prstGeom prst="rect">
            <a:avLst/>
          </a:prstGeom>
          <a:noFill/>
          <a:ln/>
        </p:spPr>
        <p:txBody>
          <a:bodyPr wrap="square" lIns="0" tIns="0" rIns="0" bIns="0" rtlCol="0" anchor="ctr"/>
          <a:lstStyle/>
          <a:p>
            <a:pPr indent="0" marL="0">
              <a:lnSpc>
                <a:spcPct val="96000"/>
              </a:lnSpc>
              <a:buNone/>
            </a:pPr>
            <a:r>
              <a:rPr lang="en-US" sz="1350" b="1" dirty="0">
                <a:solidFill>
                  <a:srgbClr val="0B2545"/>
                </a:solidFill>
                <a:latin typeface="Calibri" pitchFamily="34" charset="0"/>
                <a:ea typeface="Calibri" pitchFamily="34" charset="-122"/>
                <a:cs typeface="Calibri" pitchFamily="34" charset="-120"/>
              </a:rPr>
              <a:t>An inflection to build from</a:t>
            </a:r>
            <a:endParaRPr lang="en-US" sz="1350" dirty="0"/>
          </a:p>
        </p:txBody>
      </p:sp>
      <p:sp>
        <p:nvSpPr>
          <p:cNvPr id="11" name="Text 8"/>
          <p:cNvSpPr/>
          <p:nvPr/>
        </p:nvSpPr>
        <p:spPr>
          <a:xfrm>
            <a:off x="877824" y="3931920"/>
            <a:ext cx="2092376" cy="914400"/>
          </a:xfrm>
          <a:prstGeom prst="rect">
            <a:avLst/>
          </a:prstGeom>
          <a:noFill/>
          <a:ln/>
        </p:spPr>
        <p:txBody>
          <a:bodyPr wrap="square" lIns="0" tIns="0" rIns="0" bIns="0" rtlCol="0" anchor="t"/>
          <a:lstStyle/>
          <a:p>
            <a:pPr indent="0" marL="0">
              <a:lnSpc>
                <a:spcPct val="102000"/>
              </a:lnSpc>
              <a:buNone/>
            </a:pPr>
            <a:r>
              <a:rPr lang="en-US" sz="1050" dirty="0">
                <a:solidFill>
                  <a:srgbClr val="3D4A57"/>
                </a:solidFill>
                <a:latin typeface="Calibri" pitchFamily="34" charset="0"/>
                <a:ea typeface="Calibri" pitchFamily="34" charset="-122"/>
                <a:cs typeface="Calibri" pitchFamily="34" charset="-120"/>
              </a:rPr>
              <a:t>FY26 delivered a profitable second half and a roughly Rs 74 Cr EBITDA swing, giving MobiKwik a listed currency and a stable base.</a:t>
            </a:r>
            <a:endParaRPr lang="en-US" sz="1050" dirty="0"/>
          </a:p>
        </p:txBody>
      </p:sp>
      <p:sp>
        <p:nvSpPr>
          <p:cNvPr id="12" name="Shape 9"/>
          <p:cNvSpPr/>
          <p:nvPr/>
        </p:nvSpPr>
        <p:spPr>
          <a:xfrm>
            <a:off x="3427400" y="2542032"/>
            <a:ext cx="2549576" cy="2395728"/>
          </a:xfrm>
          <a:prstGeom prst="roundRect">
            <a:avLst>
              <a:gd name="adj" fmla="val 1908"/>
            </a:avLst>
          </a:prstGeom>
          <a:solidFill>
            <a:srgbClr val="F4F6F9"/>
          </a:solidFill>
          <a:ln w="12700">
            <a:solidFill>
              <a:srgbClr val="DCE3EB"/>
            </a:solidFill>
            <a:prstDash val="solid"/>
          </a:ln>
        </p:spPr>
      </p:sp>
      <p:sp>
        <p:nvSpPr>
          <p:cNvPr id="13" name="Shape 10"/>
          <p:cNvSpPr/>
          <p:nvPr/>
        </p:nvSpPr>
        <p:spPr>
          <a:xfrm>
            <a:off x="3665144" y="2798064"/>
            <a:ext cx="603504" cy="603504"/>
          </a:xfrm>
          <a:prstGeom prst="ellipse">
            <a:avLst/>
          </a:prstGeom>
          <a:solidFill>
            <a:srgbClr val="F7F2E9"/>
          </a:solidFill>
          <a:ln w="12700">
            <a:solidFill>
              <a:srgbClr val="C9AE82"/>
            </a:solidFill>
            <a:prstDash val="solid"/>
          </a:ln>
        </p:spPr>
      </p:sp>
      <p:pic>
        <p:nvPicPr>
          <p:cNvPr id="14" name="Image 1" descr="preencoded.png">    </p:cNvPr>
          <p:cNvPicPr>
            <a:picLocks noChangeAspect="1"/>
          </p:cNvPicPr>
          <p:nvPr/>
        </p:nvPicPr>
        <p:blipFill>
          <a:blip r:embed="rId2"/>
          <a:stretch>
            <a:fillRect/>
          </a:stretch>
        </p:blipFill>
        <p:spPr>
          <a:xfrm>
            <a:off x="3820592" y="2953512"/>
            <a:ext cx="292608" cy="292608"/>
          </a:xfrm>
          <a:prstGeom prst="rect">
            <a:avLst/>
          </a:prstGeom>
        </p:spPr>
      </p:pic>
      <p:sp>
        <p:nvSpPr>
          <p:cNvPr id="15" name="Text 11"/>
          <p:cNvSpPr/>
          <p:nvPr/>
        </p:nvSpPr>
        <p:spPr>
          <a:xfrm>
            <a:off x="3665144" y="3511296"/>
            <a:ext cx="2092376" cy="457200"/>
          </a:xfrm>
          <a:prstGeom prst="rect">
            <a:avLst/>
          </a:prstGeom>
          <a:noFill/>
          <a:ln/>
        </p:spPr>
        <p:txBody>
          <a:bodyPr wrap="square" lIns="0" tIns="0" rIns="0" bIns="0" rtlCol="0" anchor="ctr"/>
          <a:lstStyle/>
          <a:p>
            <a:pPr indent="0" marL="0">
              <a:lnSpc>
                <a:spcPct val="96000"/>
              </a:lnSpc>
              <a:buNone/>
            </a:pPr>
            <a:r>
              <a:rPr lang="en-US" sz="1350" b="1" dirty="0">
                <a:solidFill>
                  <a:srgbClr val="0B2545"/>
                </a:solidFill>
                <a:latin typeface="Calibri" pitchFamily="34" charset="0"/>
                <a:ea typeface="Calibri" pitchFamily="34" charset="-122"/>
                <a:cs typeface="Calibri" pitchFamily="34" charset="-120"/>
              </a:rPr>
              <a:t>A disciplined screen</a:t>
            </a:r>
            <a:endParaRPr lang="en-US" sz="1350" dirty="0"/>
          </a:p>
        </p:txBody>
      </p:sp>
      <p:sp>
        <p:nvSpPr>
          <p:cNvPr id="16" name="Text 12"/>
          <p:cNvSpPr/>
          <p:nvPr/>
        </p:nvSpPr>
        <p:spPr>
          <a:xfrm>
            <a:off x="3665144" y="3931920"/>
            <a:ext cx="2092376" cy="914400"/>
          </a:xfrm>
          <a:prstGeom prst="rect">
            <a:avLst/>
          </a:prstGeom>
          <a:noFill/>
          <a:ln/>
        </p:spPr>
        <p:txBody>
          <a:bodyPr wrap="square" lIns="0" tIns="0" rIns="0" bIns="0" rtlCol="0" anchor="t"/>
          <a:lstStyle/>
          <a:p>
            <a:pPr indent="0" marL="0">
              <a:lnSpc>
                <a:spcPct val="102000"/>
              </a:lnSpc>
              <a:buNone/>
            </a:pPr>
            <a:r>
              <a:rPr lang="en-US" sz="1050" dirty="0">
                <a:solidFill>
                  <a:srgbClr val="3D4A57"/>
                </a:solidFill>
                <a:latin typeface="Calibri" pitchFamily="34" charset="0"/>
                <a:ea typeface="Calibri" pitchFamily="34" charset="-122"/>
                <a:cs typeface="Calibri" pitchFamily="34" charset="-120"/>
              </a:rPr>
              <a:t>The recognisable names are now acquirers; a structured screen points to focused infrastructure targets that fit a small-cap balance sheet.</a:t>
            </a:r>
            <a:endParaRPr lang="en-US" sz="1050" dirty="0"/>
          </a:p>
        </p:txBody>
      </p:sp>
      <p:sp>
        <p:nvSpPr>
          <p:cNvPr id="17" name="Shape 13"/>
          <p:cNvSpPr/>
          <p:nvPr/>
        </p:nvSpPr>
        <p:spPr>
          <a:xfrm>
            <a:off x="6214720" y="2542032"/>
            <a:ext cx="2549576" cy="2395728"/>
          </a:xfrm>
          <a:prstGeom prst="roundRect">
            <a:avLst>
              <a:gd name="adj" fmla="val 1908"/>
            </a:avLst>
          </a:prstGeom>
          <a:solidFill>
            <a:srgbClr val="F4F6F9"/>
          </a:solidFill>
          <a:ln w="12700">
            <a:solidFill>
              <a:srgbClr val="DCE3EB"/>
            </a:solidFill>
            <a:prstDash val="solid"/>
          </a:ln>
        </p:spPr>
      </p:sp>
      <p:sp>
        <p:nvSpPr>
          <p:cNvPr id="18" name="Shape 14"/>
          <p:cNvSpPr/>
          <p:nvPr/>
        </p:nvSpPr>
        <p:spPr>
          <a:xfrm>
            <a:off x="6452464" y="2798064"/>
            <a:ext cx="603504" cy="603504"/>
          </a:xfrm>
          <a:prstGeom prst="ellipse">
            <a:avLst/>
          </a:prstGeom>
          <a:solidFill>
            <a:srgbClr val="F7F2E9"/>
          </a:solidFill>
          <a:ln w="12700">
            <a:solidFill>
              <a:srgbClr val="C9AE82"/>
            </a:solidFill>
            <a:prstDash val="solid"/>
          </a:ln>
        </p:spPr>
      </p:sp>
      <p:pic>
        <p:nvPicPr>
          <p:cNvPr id="19" name="Image 2" descr="preencoded.png">    </p:cNvPr>
          <p:cNvPicPr>
            <a:picLocks noChangeAspect="1"/>
          </p:cNvPicPr>
          <p:nvPr/>
        </p:nvPicPr>
        <p:blipFill>
          <a:blip r:embed="rId3"/>
          <a:stretch>
            <a:fillRect/>
          </a:stretch>
        </p:blipFill>
        <p:spPr>
          <a:xfrm>
            <a:off x="6607912" y="2953512"/>
            <a:ext cx="292608" cy="292608"/>
          </a:xfrm>
          <a:prstGeom prst="rect">
            <a:avLst/>
          </a:prstGeom>
        </p:spPr>
      </p:pic>
      <p:sp>
        <p:nvSpPr>
          <p:cNvPr id="20" name="Text 15"/>
          <p:cNvSpPr/>
          <p:nvPr/>
        </p:nvSpPr>
        <p:spPr>
          <a:xfrm>
            <a:off x="6452464" y="3511296"/>
            <a:ext cx="2092376" cy="457200"/>
          </a:xfrm>
          <a:prstGeom prst="rect">
            <a:avLst/>
          </a:prstGeom>
          <a:noFill/>
          <a:ln/>
        </p:spPr>
        <p:txBody>
          <a:bodyPr wrap="square" lIns="0" tIns="0" rIns="0" bIns="0" rtlCol="0" anchor="ctr"/>
          <a:lstStyle/>
          <a:p>
            <a:pPr indent="0" marL="0">
              <a:lnSpc>
                <a:spcPct val="96000"/>
              </a:lnSpc>
              <a:buNone/>
            </a:pPr>
            <a:r>
              <a:rPr lang="en-US" sz="1350" b="1" dirty="0">
                <a:solidFill>
                  <a:srgbClr val="0B2545"/>
                </a:solidFill>
                <a:latin typeface="Calibri" pitchFamily="34" charset="0"/>
                <a:ea typeface="Calibri" pitchFamily="34" charset="-122"/>
                <a:cs typeface="Calibri" pitchFamily="34" charset="-120"/>
              </a:rPr>
              <a:t>Two targets to begin</a:t>
            </a:r>
            <a:endParaRPr lang="en-US" sz="1350" dirty="0"/>
          </a:p>
        </p:txBody>
      </p:sp>
      <p:sp>
        <p:nvSpPr>
          <p:cNvPr id="21" name="Text 16"/>
          <p:cNvSpPr/>
          <p:nvPr/>
        </p:nvSpPr>
        <p:spPr>
          <a:xfrm>
            <a:off x="6452464" y="3931920"/>
            <a:ext cx="2092376" cy="914400"/>
          </a:xfrm>
          <a:prstGeom prst="rect">
            <a:avLst/>
          </a:prstGeom>
          <a:noFill/>
          <a:ln/>
        </p:spPr>
        <p:txBody>
          <a:bodyPr wrap="square" lIns="0" tIns="0" rIns="0" bIns="0" rtlCol="0" anchor="t"/>
          <a:lstStyle/>
          <a:p>
            <a:pPr indent="0" marL="0">
              <a:lnSpc>
                <a:spcPct val="102000"/>
              </a:lnSpc>
              <a:buNone/>
            </a:pPr>
            <a:r>
              <a:rPr lang="en-US" sz="1050" dirty="0">
                <a:solidFill>
                  <a:srgbClr val="3D4A57"/>
                </a:solidFill>
                <a:latin typeface="Calibri" pitchFamily="34" charset="0"/>
                <a:ea typeface="Calibri" pitchFamily="34" charset="-122"/>
                <a:cs typeface="Calibri" pitchFamily="34" charset="-120"/>
              </a:rPr>
              <a:t>Blostem (savings and wealth distribution rail) and Riskcovry (embedded-insurance infrastructure), both stock-fundable bolt-ons.</a:t>
            </a:r>
            <a:endParaRPr lang="en-US" sz="1050" dirty="0"/>
          </a:p>
        </p:txBody>
      </p:sp>
      <p:sp>
        <p:nvSpPr>
          <p:cNvPr id="22" name="Shape 17"/>
          <p:cNvSpPr/>
          <p:nvPr/>
        </p:nvSpPr>
        <p:spPr>
          <a:xfrm>
            <a:off x="9002039" y="2542032"/>
            <a:ext cx="2549576" cy="2395728"/>
          </a:xfrm>
          <a:prstGeom prst="roundRect">
            <a:avLst>
              <a:gd name="adj" fmla="val 1908"/>
            </a:avLst>
          </a:prstGeom>
          <a:solidFill>
            <a:srgbClr val="F4F6F9"/>
          </a:solidFill>
          <a:ln w="12700">
            <a:solidFill>
              <a:srgbClr val="DCE3EB"/>
            </a:solidFill>
            <a:prstDash val="solid"/>
          </a:ln>
        </p:spPr>
      </p:sp>
      <p:sp>
        <p:nvSpPr>
          <p:cNvPr id="23" name="Shape 18"/>
          <p:cNvSpPr/>
          <p:nvPr/>
        </p:nvSpPr>
        <p:spPr>
          <a:xfrm>
            <a:off x="9239783" y="2798064"/>
            <a:ext cx="603504" cy="603504"/>
          </a:xfrm>
          <a:prstGeom prst="ellipse">
            <a:avLst/>
          </a:prstGeom>
          <a:solidFill>
            <a:srgbClr val="F7F2E9"/>
          </a:solidFill>
          <a:ln w="12700">
            <a:solidFill>
              <a:srgbClr val="C9AE82"/>
            </a:solidFill>
            <a:prstDash val="solid"/>
          </a:ln>
        </p:spPr>
      </p:sp>
      <p:pic>
        <p:nvPicPr>
          <p:cNvPr id="24" name="Image 3" descr="preencoded.png">    </p:cNvPr>
          <p:cNvPicPr>
            <a:picLocks noChangeAspect="1"/>
          </p:cNvPicPr>
          <p:nvPr/>
        </p:nvPicPr>
        <p:blipFill>
          <a:blip r:embed="rId4"/>
          <a:stretch>
            <a:fillRect/>
          </a:stretch>
        </p:blipFill>
        <p:spPr>
          <a:xfrm>
            <a:off x="9395231" y="2953512"/>
            <a:ext cx="292608" cy="292608"/>
          </a:xfrm>
          <a:prstGeom prst="rect">
            <a:avLst/>
          </a:prstGeom>
        </p:spPr>
      </p:pic>
      <p:sp>
        <p:nvSpPr>
          <p:cNvPr id="25" name="Text 19"/>
          <p:cNvSpPr/>
          <p:nvPr/>
        </p:nvSpPr>
        <p:spPr>
          <a:xfrm>
            <a:off x="9239783" y="3511296"/>
            <a:ext cx="2092376" cy="457200"/>
          </a:xfrm>
          <a:prstGeom prst="rect">
            <a:avLst/>
          </a:prstGeom>
          <a:noFill/>
          <a:ln/>
        </p:spPr>
        <p:txBody>
          <a:bodyPr wrap="square" lIns="0" tIns="0" rIns="0" bIns="0" rtlCol="0" anchor="ctr"/>
          <a:lstStyle/>
          <a:p>
            <a:pPr indent="0" marL="0">
              <a:lnSpc>
                <a:spcPct val="96000"/>
              </a:lnSpc>
              <a:buNone/>
            </a:pPr>
            <a:r>
              <a:rPr lang="en-US" sz="1350" b="1" dirty="0">
                <a:solidFill>
                  <a:srgbClr val="0B2545"/>
                </a:solidFill>
                <a:latin typeface="Calibri" pitchFamily="34" charset="0"/>
                <a:ea typeface="Calibri" pitchFamily="34" charset="-122"/>
                <a:cs typeface="Calibri" pitchFamily="34" charset="-120"/>
              </a:rPr>
              <a:t>Returns with discipline</a:t>
            </a:r>
            <a:endParaRPr lang="en-US" sz="1350" dirty="0"/>
          </a:p>
        </p:txBody>
      </p:sp>
      <p:sp>
        <p:nvSpPr>
          <p:cNvPr id="26" name="Text 20"/>
          <p:cNvSpPr/>
          <p:nvPr/>
        </p:nvSpPr>
        <p:spPr>
          <a:xfrm>
            <a:off x="9239783" y="3931920"/>
            <a:ext cx="2092376" cy="914400"/>
          </a:xfrm>
          <a:prstGeom prst="rect">
            <a:avLst/>
          </a:prstGeom>
          <a:noFill/>
          <a:ln/>
        </p:spPr>
        <p:txBody>
          <a:bodyPr wrap="square" lIns="0" tIns="0" rIns="0" bIns="0" rtlCol="0" anchor="t"/>
          <a:lstStyle/>
          <a:p>
            <a:pPr indent="0" marL="0">
              <a:lnSpc>
                <a:spcPct val="102000"/>
              </a:lnSpc>
              <a:buNone/>
            </a:pPr>
            <a:r>
              <a:rPr lang="en-US" sz="1050" dirty="0">
                <a:solidFill>
                  <a:srgbClr val="3D4A57"/>
                </a:solidFill>
                <a:latin typeface="Calibri" pitchFamily="34" charset="0"/>
                <a:ea typeface="Calibri" pitchFamily="34" charset="-122"/>
                <a:cs typeface="Calibri" pitchFamily="34" charset="-120"/>
              </a:rPr>
              <a:t>Mostly-stock consideration, an EBITDA-neutral guardrail and phased integration protect the balance sheet and the model.</a:t>
            </a:r>
            <a:endParaRPr lang="en-US" sz="1050" dirty="0"/>
          </a:p>
        </p:txBody>
      </p:sp>
      <p:sp>
        <p:nvSpPr>
          <p:cNvPr id="27" name="Shape 21"/>
          <p:cNvSpPr/>
          <p:nvPr/>
        </p:nvSpPr>
        <p:spPr>
          <a:xfrm>
            <a:off x="640080" y="5175504"/>
            <a:ext cx="10911535" cy="676656"/>
          </a:xfrm>
          <a:prstGeom prst="roundRect">
            <a:avLst>
              <a:gd name="adj" fmla="val 6757"/>
            </a:avLst>
          </a:prstGeom>
          <a:solidFill>
            <a:srgbClr val="F7F2E9"/>
          </a:solidFill>
          <a:ln/>
        </p:spPr>
      </p:sp>
      <p:sp>
        <p:nvSpPr>
          <p:cNvPr id="28" name="Text 22"/>
          <p:cNvSpPr/>
          <p:nvPr/>
        </p:nvSpPr>
        <p:spPr>
          <a:xfrm>
            <a:off x="914400" y="5175504"/>
            <a:ext cx="10362895" cy="676656"/>
          </a:xfrm>
          <a:prstGeom prst="rect">
            <a:avLst/>
          </a:prstGeom>
          <a:noFill/>
          <a:ln/>
        </p:spPr>
        <p:txBody>
          <a:bodyPr wrap="square" lIns="0" tIns="0" rIns="0" bIns="0" rtlCol="0" anchor="ctr"/>
          <a:lstStyle/>
          <a:p>
            <a:pPr indent="0" marL="0">
              <a:buNone/>
            </a:pPr>
            <a:r>
              <a:rPr lang="en-US" sz="1200" b="1" dirty="0">
                <a:solidFill>
                  <a:srgbClr val="8A6B3C"/>
                </a:solidFill>
                <a:latin typeface="Calibri" pitchFamily="34" charset="0"/>
                <a:ea typeface="Calibri" pitchFamily="34" charset="-122"/>
                <a:cs typeface="Calibri" pitchFamily="34" charset="-120"/>
              </a:rPr>
              <a:t>The ask.  </a:t>
            </a:r>
            <a:pPr indent="0" marL="0">
              <a:buNone/>
            </a:pPr>
            <a:r>
              <a:rPr lang="en-US" sz="1200" dirty="0">
                <a:solidFill>
                  <a:srgbClr val="33414F"/>
                </a:solidFill>
                <a:latin typeface="Calibri" pitchFamily="34" charset="0"/>
                <a:ea typeface="Calibri" pitchFamily="34" charset="-122"/>
                <a:cs typeface="Calibri" pitchFamily="34" charset="-120"/>
              </a:rPr>
              <a:t>A board mandate to stand up a lightweight corporate-development function and to open diligence on the two recommended targets.</a:t>
            </a:r>
            <a:endParaRPr lang="en-US" sz="1200" dirty="0"/>
          </a:p>
        </p:txBody>
      </p:sp>
      <p:sp>
        <p:nvSpPr>
          <p:cNvPr id="29" name="Text 23"/>
          <p:cNvSpPr/>
          <p:nvPr/>
        </p:nvSpPr>
        <p:spPr>
          <a:xfrm>
            <a:off x="640080" y="6492240"/>
            <a:ext cx="2743200" cy="237744"/>
          </a:xfrm>
          <a:prstGeom prst="rect">
            <a:avLst/>
          </a:prstGeom>
          <a:noFill/>
          <a:ln/>
        </p:spPr>
        <p:txBody>
          <a:bodyPr wrap="square" lIns="0" tIns="0" rIns="0" bIns="0" rtlCol="0" anchor="ctr"/>
          <a:lstStyle/>
          <a:p>
            <a:pPr indent="0" marL="0">
              <a:buNone/>
            </a:pPr>
            <a:r>
              <a:rPr lang="en-US" sz="750" b="1" spc="150" kern="0" dirty="0">
                <a:solidFill>
                  <a:srgbClr val="7A8794"/>
                </a:solidFill>
                <a:latin typeface="Calibri" pitchFamily="34" charset="0"/>
                <a:ea typeface="Calibri" pitchFamily="34" charset="-122"/>
                <a:cs typeface="Calibri" pitchFamily="34" charset="-120"/>
              </a:rPr>
              <a:t>PROJECT KEYSTONE</a:t>
            </a:r>
            <a:endParaRPr lang="en-US" sz="750" dirty="0"/>
          </a:p>
        </p:txBody>
      </p:sp>
      <p:sp>
        <p:nvSpPr>
          <p:cNvPr id="30" name="Text 24"/>
          <p:cNvSpPr/>
          <p:nvPr/>
        </p:nvSpPr>
        <p:spPr>
          <a:xfrm>
            <a:off x="3352648" y="6492240"/>
            <a:ext cx="5486400" cy="237744"/>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Strictly private and confidential  ·  Illustrative</a:t>
            </a:r>
            <a:endParaRPr lang="en-US" sz="750" dirty="0"/>
          </a:p>
        </p:txBody>
      </p:sp>
      <p:sp>
        <p:nvSpPr>
          <p:cNvPr id="31" name="Text 25"/>
          <p:cNvSpPr/>
          <p:nvPr/>
        </p:nvSpPr>
        <p:spPr>
          <a:xfrm>
            <a:off x="11094415" y="6492240"/>
            <a:ext cx="457200" cy="237744"/>
          </a:xfrm>
          <a:prstGeom prst="rect">
            <a:avLst/>
          </a:prstGeom>
          <a:noFill/>
          <a:ln/>
        </p:spPr>
        <p:txBody>
          <a:bodyPr wrap="square" lIns="0" tIns="0" rIns="0" bIns="0" rtlCol="0" anchor="ctr"/>
          <a:lstStyle/>
          <a:p>
            <a:pPr algn="r" indent="0" marL="0">
              <a:buNone/>
            </a:pPr>
            <a:r>
              <a:rPr lang="en-US" sz="850" dirty="0">
                <a:solidFill>
                  <a:srgbClr val="7A8794"/>
                </a:solidFill>
                <a:latin typeface="Calibri" pitchFamily="34" charset="0"/>
                <a:ea typeface="Calibri" pitchFamily="34" charset="-122"/>
                <a:cs typeface="Calibri"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A2E"/>
        </a:solidFill>
      </p:bgPr>
    </p:bg>
    <p:spTree>
      <p:nvGrpSpPr>
        <p:cNvPr id="1" name=""/>
        <p:cNvGrpSpPr/>
        <p:nvPr/>
      </p:nvGrpSpPr>
      <p:grpSpPr>
        <a:xfrm>
          <a:off x="0" y="0"/>
          <a:ext cx="0" cy="0"/>
          <a:chOff x="0" y="0"/>
          <a:chExt cx="0" cy="0"/>
        </a:xfrm>
      </p:grpSpPr>
      <p:sp>
        <p:nvSpPr>
          <p:cNvPr id="2" name="Shape 0"/>
          <p:cNvSpPr/>
          <p:nvPr/>
        </p:nvSpPr>
        <p:spPr>
          <a:xfrm>
            <a:off x="9418320" y="3474720"/>
            <a:ext cx="5120640" cy="5120640"/>
          </a:xfrm>
          <a:prstGeom prst="ellipse">
            <a:avLst/>
          </a:prstGeom>
          <a:solidFill>
            <a:srgbClr val="0D2138"/>
          </a:solidFill>
          <a:ln/>
        </p:spPr>
      </p:sp>
      <p:sp>
        <p:nvSpPr>
          <p:cNvPr id="3" name="Shape 1"/>
          <p:cNvSpPr/>
          <p:nvPr/>
        </p:nvSpPr>
        <p:spPr>
          <a:xfrm>
            <a:off x="10607040" y="4480560"/>
            <a:ext cx="3291840" cy="3291840"/>
          </a:xfrm>
          <a:prstGeom prst="ellipse">
            <a:avLst/>
          </a:prstGeom>
          <a:ln w="12700">
            <a:solidFill>
              <a:srgbClr val="8A6B3C"/>
            </a:solidFill>
            <a:prstDash val="solid"/>
          </a:ln>
        </p:spPr>
      </p:sp>
      <p:sp>
        <p:nvSpPr>
          <p:cNvPr id="4" name="Text 2"/>
          <p:cNvSpPr/>
          <p:nvPr/>
        </p:nvSpPr>
        <p:spPr>
          <a:xfrm>
            <a:off x="640080" y="2468880"/>
            <a:ext cx="8229600" cy="274320"/>
          </a:xfrm>
          <a:prstGeom prst="rect">
            <a:avLst/>
          </a:prstGeom>
          <a:noFill/>
          <a:ln/>
        </p:spPr>
        <p:txBody>
          <a:bodyPr wrap="square" lIns="0" tIns="0" rIns="0" bIns="0" rtlCol="0" anchor="ctr"/>
          <a:lstStyle/>
          <a:p>
            <a:pPr indent="0" marL="0">
              <a:buNone/>
            </a:pPr>
            <a:r>
              <a:rPr lang="en-US" sz="1200" b="1" spc="300" kern="0" dirty="0">
                <a:solidFill>
                  <a:srgbClr val="B08D57"/>
                </a:solidFill>
                <a:latin typeface="Calibri" pitchFamily="34" charset="0"/>
                <a:ea typeface="Calibri" pitchFamily="34" charset="-122"/>
                <a:cs typeface="Calibri" pitchFamily="34" charset="-120"/>
              </a:rPr>
              <a:t>SECTION I</a:t>
            </a:r>
            <a:endParaRPr lang="en-US" sz="1200" dirty="0"/>
          </a:p>
        </p:txBody>
      </p:sp>
      <p:sp>
        <p:nvSpPr>
          <p:cNvPr id="5" name="Text 3"/>
          <p:cNvSpPr/>
          <p:nvPr/>
        </p:nvSpPr>
        <p:spPr>
          <a:xfrm>
            <a:off x="640080" y="2834640"/>
            <a:ext cx="10241280" cy="1097280"/>
          </a:xfrm>
          <a:prstGeom prst="rect">
            <a:avLst/>
          </a:prstGeom>
          <a:noFill/>
          <a:ln/>
        </p:spPr>
        <p:txBody>
          <a:bodyPr wrap="square" lIns="0" tIns="0" rIns="0" bIns="0" rtlCol="0" anchor="ctr"/>
          <a:lstStyle/>
          <a:p>
            <a:pPr indent="0" marL="0">
              <a:lnSpc>
                <a:spcPct val="100000"/>
              </a:lnSpc>
              <a:buNone/>
            </a:pPr>
            <a:r>
              <a:rPr lang="en-US" sz="3400" b="1" dirty="0">
                <a:solidFill>
                  <a:srgbClr val="FFFFFF"/>
                </a:solidFill>
                <a:latin typeface="Cambria" pitchFamily="34" charset="0"/>
                <a:ea typeface="Cambria" pitchFamily="34" charset="-122"/>
                <a:cs typeface="Cambria" pitchFamily="34" charset="-120"/>
              </a:rPr>
              <a:t>I.  Situation and strategic rationale</a:t>
            </a:r>
            <a:endParaRPr lang="en-US" sz="3400" dirty="0"/>
          </a:p>
        </p:txBody>
      </p:sp>
      <p:sp>
        <p:nvSpPr>
          <p:cNvPr id="6" name="Text 4"/>
          <p:cNvSpPr/>
          <p:nvPr/>
        </p:nvSpPr>
        <p:spPr>
          <a:xfrm>
            <a:off x="640080" y="3977640"/>
            <a:ext cx="9326880" cy="548640"/>
          </a:xfrm>
          <a:prstGeom prst="rect">
            <a:avLst/>
          </a:prstGeom>
          <a:noFill/>
          <a:ln/>
        </p:spPr>
        <p:txBody>
          <a:bodyPr wrap="square" lIns="0" tIns="0" rIns="0" bIns="0" rtlCol="0" anchor="ctr"/>
          <a:lstStyle/>
          <a:p>
            <a:pPr indent="0" marL="0">
              <a:buNone/>
            </a:pPr>
            <a:r>
              <a:rPr lang="en-US" sz="1350" i="1" dirty="0">
                <a:solidFill>
                  <a:srgbClr val="AFC0D6"/>
                </a:solidFill>
                <a:latin typeface="Calibri" pitchFamily="34" charset="0"/>
                <a:ea typeface="Calibri" pitchFamily="34" charset="-122"/>
                <a:cs typeface="Calibri" pitchFamily="34" charset="-120"/>
              </a:rPr>
              <a:t>Where MobiKwik stands, and why inorganic growth now</a:t>
            </a:r>
            <a:endParaRPr lang="en-US" sz="1350" dirty="0"/>
          </a:p>
        </p:txBody>
      </p:sp>
      <p:sp>
        <p:nvSpPr>
          <p:cNvPr id="7" name="Text 5"/>
          <p:cNvSpPr/>
          <p:nvPr/>
        </p:nvSpPr>
        <p:spPr>
          <a:xfrm>
            <a:off x="640080" y="6492240"/>
            <a:ext cx="2743200" cy="237744"/>
          </a:xfrm>
          <a:prstGeom prst="rect">
            <a:avLst/>
          </a:prstGeom>
          <a:noFill/>
          <a:ln/>
        </p:spPr>
        <p:txBody>
          <a:bodyPr wrap="square" lIns="0" tIns="0" rIns="0" bIns="0" rtlCol="0" anchor="ctr"/>
          <a:lstStyle/>
          <a:p>
            <a:pPr indent="0" marL="0">
              <a:buNone/>
            </a:pPr>
            <a:r>
              <a:rPr lang="en-US" sz="750" b="1" spc="150" kern="0" dirty="0">
                <a:solidFill>
                  <a:srgbClr val="8895A6"/>
                </a:solidFill>
                <a:latin typeface="Calibri" pitchFamily="34" charset="0"/>
                <a:ea typeface="Calibri" pitchFamily="34" charset="-122"/>
                <a:cs typeface="Calibri" pitchFamily="34" charset="-120"/>
              </a:rPr>
              <a:t>PROJECT KEYSTONE</a:t>
            </a:r>
            <a:endParaRPr lang="en-US" sz="750" dirty="0"/>
          </a:p>
        </p:txBody>
      </p:sp>
      <p:sp>
        <p:nvSpPr>
          <p:cNvPr id="8" name="Text 6"/>
          <p:cNvSpPr/>
          <p:nvPr/>
        </p:nvSpPr>
        <p:spPr>
          <a:xfrm>
            <a:off x="3352648" y="6492240"/>
            <a:ext cx="5486400" cy="237744"/>
          </a:xfrm>
          <a:prstGeom prst="rect">
            <a:avLst/>
          </a:prstGeom>
          <a:noFill/>
          <a:ln/>
        </p:spPr>
        <p:txBody>
          <a:bodyPr wrap="square" lIns="0" tIns="0" rIns="0" bIns="0" rtlCol="0" anchor="ctr"/>
          <a:lstStyle/>
          <a:p>
            <a:pPr algn="ctr" indent="0" marL="0">
              <a:buNone/>
            </a:pPr>
            <a:r>
              <a:rPr lang="en-US" sz="750" dirty="0">
                <a:solidFill>
                  <a:srgbClr val="8895A6"/>
                </a:solidFill>
                <a:latin typeface="Calibri" pitchFamily="34" charset="0"/>
                <a:ea typeface="Calibri" pitchFamily="34" charset="-122"/>
                <a:cs typeface="Calibri" pitchFamily="34" charset="-120"/>
              </a:rPr>
              <a:t>Strictly private and confidential  ·  Illustrative</a:t>
            </a:r>
            <a:endParaRPr lang="en-US" sz="750" dirty="0"/>
          </a:p>
        </p:txBody>
      </p:sp>
      <p:sp>
        <p:nvSpPr>
          <p:cNvPr id="9" name="Text 7"/>
          <p:cNvSpPr/>
          <p:nvPr/>
        </p:nvSpPr>
        <p:spPr>
          <a:xfrm>
            <a:off x="11094415" y="6492240"/>
            <a:ext cx="457200" cy="237744"/>
          </a:xfrm>
          <a:prstGeom prst="rect">
            <a:avLst/>
          </a:prstGeom>
          <a:noFill/>
          <a:ln/>
        </p:spPr>
        <p:txBody>
          <a:bodyPr wrap="square" lIns="0" tIns="0" rIns="0" bIns="0" rtlCol="0" anchor="ctr"/>
          <a:lstStyle/>
          <a:p>
            <a:pPr algn="r" indent="0" marL="0">
              <a:buNone/>
            </a:pPr>
            <a:r>
              <a:rPr lang="en-US" sz="850" dirty="0">
                <a:solidFill>
                  <a:srgbClr val="8895A6"/>
                </a:solidFill>
                <a:latin typeface="Calibri" pitchFamily="34" charset="0"/>
                <a:ea typeface="Calibri" pitchFamily="34" charset="-122"/>
                <a:cs typeface="Calibri"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20" kern="0" dirty="0">
                <a:solidFill>
                  <a:srgbClr val="8A6B3C"/>
                </a:solidFill>
                <a:latin typeface="Calibri" pitchFamily="34" charset="0"/>
                <a:ea typeface="Calibri" pitchFamily="34" charset="-122"/>
                <a:cs typeface="Calibri" pitchFamily="34" charset="-120"/>
              </a:rPr>
              <a:t>SITUATION</a:t>
            </a:r>
            <a:endParaRPr lang="en-US" sz="1100" dirty="0"/>
          </a:p>
        </p:txBody>
      </p:sp>
      <p:sp>
        <p:nvSpPr>
          <p:cNvPr id="3" name="Text 1"/>
          <p:cNvSpPr/>
          <p:nvPr/>
        </p:nvSpPr>
        <p:spPr>
          <a:xfrm>
            <a:off x="8808415" y="402336"/>
            <a:ext cx="2743200" cy="237744"/>
          </a:xfrm>
          <a:prstGeom prst="rect">
            <a:avLst/>
          </a:prstGeom>
          <a:noFill/>
          <a:ln/>
        </p:spPr>
        <p:txBody>
          <a:bodyPr wrap="square" lIns="0" tIns="0" rIns="0" bIns="0" rtlCol="0" anchor="ctr"/>
          <a:lstStyle/>
          <a:p>
            <a:pPr algn="r" indent="0" marL="0">
              <a:buNone/>
            </a:pPr>
            <a:r>
              <a:rPr lang="en-US" sz="950" b="1" spc="100" kern="0" dirty="0">
                <a:solidFill>
                  <a:srgbClr val="8A6B3C"/>
                </a:solidFill>
                <a:latin typeface="Calibri" pitchFamily="34" charset="0"/>
                <a:ea typeface="Calibri" pitchFamily="34" charset="-122"/>
                <a:cs typeface="Calibri" pitchFamily="34" charset="-120"/>
              </a:rPr>
              <a:t>Exhibit 2</a:t>
            </a:r>
            <a:endParaRPr lang="en-US" sz="950" dirty="0"/>
          </a:p>
        </p:txBody>
      </p:sp>
      <p:sp>
        <p:nvSpPr>
          <p:cNvPr id="4" name="Text 2"/>
          <p:cNvSpPr/>
          <p:nvPr/>
        </p:nvSpPr>
        <p:spPr>
          <a:xfrm>
            <a:off x="640080" y="658368"/>
            <a:ext cx="10911535" cy="566928"/>
          </a:xfrm>
          <a:prstGeom prst="rect">
            <a:avLst/>
          </a:prstGeom>
          <a:noFill/>
          <a:ln/>
        </p:spPr>
        <p:txBody>
          <a:bodyPr wrap="square" lIns="0" tIns="0" rIns="0" bIns="0" rtlCol="0" anchor="t"/>
          <a:lstStyle/>
          <a:p>
            <a:pPr indent="0" marL="0">
              <a:lnSpc>
                <a:spcPct val="98000"/>
              </a:lnSpc>
              <a:buNone/>
            </a:pPr>
            <a:r>
              <a:rPr lang="en-US" sz="2500" b="1" dirty="0">
                <a:solidFill>
                  <a:srgbClr val="0B2545"/>
                </a:solidFill>
                <a:latin typeface="Cambria" pitchFamily="34" charset="0"/>
                <a:ea typeface="Cambria" pitchFamily="34" charset="-122"/>
                <a:cs typeface="Cambria" pitchFamily="34" charset="-120"/>
              </a:rPr>
              <a:t>MobiKwik today: a profitable, licensed platform at scale</a:t>
            </a:r>
            <a:endParaRPr lang="en-US" sz="2500" dirty="0"/>
          </a:p>
        </p:txBody>
      </p:sp>
      <p:sp>
        <p:nvSpPr>
          <p:cNvPr id="5" name="Shape 3"/>
          <p:cNvSpPr/>
          <p:nvPr/>
        </p:nvSpPr>
        <p:spPr>
          <a:xfrm>
            <a:off x="640080" y="1481328"/>
            <a:ext cx="3490874" cy="1078992"/>
          </a:xfrm>
          <a:prstGeom prst="roundRect">
            <a:avLst>
              <a:gd name="adj" fmla="val 4237"/>
            </a:avLst>
          </a:prstGeom>
          <a:solidFill>
            <a:srgbClr val="F4F6F9"/>
          </a:solidFill>
          <a:ln w="12700">
            <a:solidFill>
              <a:srgbClr val="DCE3EB"/>
            </a:solidFill>
            <a:prstDash val="solid"/>
          </a:ln>
        </p:spPr>
      </p:sp>
      <p:pic>
        <p:nvPicPr>
          <p:cNvPr id="6" name="Image 0" descr="preencoded.png">    </p:cNvPr>
          <p:cNvPicPr>
            <a:picLocks noChangeAspect="1"/>
          </p:cNvPicPr>
          <p:nvPr/>
        </p:nvPicPr>
        <p:blipFill>
          <a:blip r:embed="rId1"/>
          <a:stretch>
            <a:fillRect/>
          </a:stretch>
        </p:blipFill>
        <p:spPr>
          <a:xfrm>
            <a:off x="877824" y="1755648"/>
            <a:ext cx="457200" cy="457200"/>
          </a:xfrm>
          <a:prstGeom prst="rect">
            <a:avLst/>
          </a:prstGeom>
        </p:spPr>
      </p:pic>
      <p:sp>
        <p:nvSpPr>
          <p:cNvPr id="7" name="Text 4"/>
          <p:cNvSpPr/>
          <p:nvPr/>
        </p:nvSpPr>
        <p:spPr>
          <a:xfrm>
            <a:off x="1508760" y="1664208"/>
            <a:ext cx="2485034" cy="384048"/>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Rs 1,119 Cr</a:t>
            </a:r>
            <a:endParaRPr lang="en-US" sz="2200" dirty="0"/>
          </a:p>
        </p:txBody>
      </p:sp>
      <p:sp>
        <p:nvSpPr>
          <p:cNvPr id="8" name="Text 5"/>
          <p:cNvSpPr/>
          <p:nvPr/>
        </p:nvSpPr>
        <p:spPr>
          <a:xfrm>
            <a:off x="1508760" y="2066544"/>
            <a:ext cx="2485034" cy="365760"/>
          </a:xfrm>
          <a:prstGeom prst="rect">
            <a:avLst/>
          </a:prstGeom>
          <a:noFill/>
          <a:ln/>
        </p:spPr>
        <p:txBody>
          <a:bodyPr wrap="square" lIns="0" tIns="0" rIns="0" bIns="0" rtlCol="0" anchor="t"/>
          <a:lstStyle/>
          <a:p>
            <a:pPr indent="0" marL="0">
              <a:lnSpc>
                <a:spcPct val="100000"/>
              </a:lnSpc>
              <a:buNone/>
            </a:pPr>
            <a:r>
              <a:rPr lang="en-US" sz="1050" dirty="0">
                <a:solidFill>
                  <a:srgbClr val="7A8794"/>
                </a:solidFill>
                <a:latin typeface="Calibri" pitchFamily="34" charset="0"/>
                <a:ea typeface="Calibri" pitchFamily="34" charset="-122"/>
                <a:cs typeface="Calibri" pitchFamily="34" charset="-120"/>
              </a:rPr>
              <a:t>FY26 revenue from operations</a:t>
            </a:r>
            <a:endParaRPr lang="en-US" sz="1050" dirty="0"/>
          </a:p>
        </p:txBody>
      </p:sp>
      <p:sp>
        <p:nvSpPr>
          <p:cNvPr id="9" name="Shape 6"/>
          <p:cNvSpPr/>
          <p:nvPr/>
        </p:nvSpPr>
        <p:spPr>
          <a:xfrm>
            <a:off x="4350410" y="1481328"/>
            <a:ext cx="3490874" cy="1078992"/>
          </a:xfrm>
          <a:prstGeom prst="roundRect">
            <a:avLst>
              <a:gd name="adj" fmla="val 4237"/>
            </a:avLst>
          </a:prstGeom>
          <a:solidFill>
            <a:srgbClr val="F4F6F9"/>
          </a:solidFill>
          <a:ln w="12700">
            <a:solidFill>
              <a:srgbClr val="DCE3EB"/>
            </a:solidFill>
            <a:prstDash val="solid"/>
          </a:ln>
        </p:spPr>
      </p:sp>
      <p:pic>
        <p:nvPicPr>
          <p:cNvPr id="10" name="Image 1" descr="preencoded.png">    </p:cNvPr>
          <p:cNvPicPr>
            <a:picLocks noChangeAspect="1"/>
          </p:cNvPicPr>
          <p:nvPr/>
        </p:nvPicPr>
        <p:blipFill>
          <a:blip r:embed="rId2"/>
          <a:stretch>
            <a:fillRect/>
          </a:stretch>
        </p:blipFill>
        <p:spPr>
          <a:xfrm>
            <a:off x="4588154" y="1755648"/>
            <a:ext cx="457200" cy="457200"/>
          </a:xfrm>
          <a:prstGeom prst="rect">
            <a:avLst/>
          </a:prstGeom>
        </p:spPr>
      </p:pic>
      <p:sp>
        <p:nvSpPr>
          <p:cNvPr id="11" name="Text 7"/>
          <p:cNvSpPr/>
          <p:nvPr/>
        </p:nvSpPr>
        <p:spPr>
          <a:xfrm>
            <a:off x="5219090" y="1664208"/>
            <a:ext cx="2485034" cy="384048"/>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~Rs 74 Cr</a:t>
            </a:r>
            <a:endParaRPr lang="en-US" sz="2200" dirty="0"/>
          </a:p>
        </p:txBody>
      </p:sp>
      <p:sp>
        <p:nvSpPr>
          <p:cNvPr id="12" name="Text 8"/>
          <p:cNvSpPr/>
          <p:nvPr/>
        </p:nvSpPr>
        <p:spPr>
          <a:xfrm>
            <a:off x="5219090" y="2066544"/>
            <a:ext cx="2485034" cy="365760"/>
          </a:xfrm>
          <a:prstGeom prst="rect">
            <a:avLst/>
          </a:prstGeom>
          <a:noFill/>
          <a:ln/>
        </p:spPr>
        <p:txBody>
          <a:bodyPr wrap="square" lIns="0" tIns="0" rIns="0" bIns="0" rtlCol="0" anchor="t"/>
          <a:lstStyle/>
          <a:p>
            <a:pPr indent="0" marL="0">
              <a:lnSpc>
                <a:spcPct val="100000"/>
              </a:lnSpc>
              <a:buNone/>
            </a:pPr>
            <a:r>
              <a:rPr lang="en-US" sz="1050" dirty="0">
                <a:solidFill>
                  <a:srgbClr val="7A8794"/>
                </a:solidFill>
                <a:latin typeface="Calibri" pitchFamily="34" charset="0"/>
                <a:ea typeface="Calibri" pitchFamily="34" charset="-122"/>
                <a:cs typeface="Calibri" pitchFamily="34" charset="-120"/>
              </a:rPr>
              <a:t>FY25 to FY26 EBITDA swing</a:t>
            </a:r>
            <a:endParaRPr lang="en-US" sz="1050" dirty="0"/>
          </a:p>
        </p:txBody>
      </p:sp>
      <p:sp>
        <p:nvSpPr>
          <p:cNvPr id="13" name="Shape 9"/>
          <p:cNvSpPr/>
          <p:nvPr/>
        </p:nvSpPr>
        <p:spPr>
          <a:xfrm>
            <a:off x="8060741" y="1481328"/>
            <a:ext cx="3490874" cy="1078992"/>
          </a:xfrm>
          <a:prstGeom prst="roundRect">
            <a:avLst>
              <a:gd name="adj" fmla="val 4237"/>
            </a:avLst>
          </a:prstGeom>
          <a:solidFill>
            <a:srgbClr val="F4F6F9"/>
          </a:solidFill>
          <a:ln w="12700">
            <a:solidFill>
              <a:srgbClr val="DCE3EB"/>
            </a:solidFill>
            <a:prstDash val="solid"/>
          </a:ln>
        </p:spPr>
      </p:sp>
      <p:pic>
        <p:nvPicPr>
          <p:cNvPr id="14" name="Image 2" descr="preencoded.png">    </p:cNvPr>
          <p:cNvPicPr>
            <a:picLocks noChangeAspect="1"/>
          </p:cNvPicPr>
          <p:nvPr/>
        </p:nvPicPr>
        <p:blipFill>
          <a:blip r:embed="rId3"/>
          <a:stretch>
            <a:fillRect/>
          </a:stretch>
        </p:blipFill>
        <p:spPr>
          <a:xfrm>
            <a:off x="8298485" y="1755648"/>
            <a:ext cx="457200" cy="457200"/>
          </a:xfrm>
          <a:prstGeom prst="rect">
            <a:avLst/>
          </a:prstGeom>
        </p:spPr>
      </p:pic>
      <p:sp>
        <p:nvSpPr>
          <p:cNvPr id="15" name="Text 10"/>
          <p:cNvSpPr/>
          <p:nvPr/>
        </p:nvSpPr>
        <p:spPr>
          <a:xfrm>
            <a:off x="8929421" y="1664208"/>
            <a:ext cx="2485034" cy="384048"/>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186.6 M</a:t>
            </a:r>
            <a:endParaRPr lang="en-US" sz="2200" dirty="0"/>
          </a:p>
        </p:txBody>
      </p:sp>
      <p:sp>
        <p:nvSpPr>
          <p:cNvPr id="16" name="Text 11"/>
          <p:cNvSpPr/>
          <p:nvPr/>
        </p:nvSpPr>
        <p:spPr>
          <a:xfrm>
            <a:off x="8929421" y="2066544"/>
            <a:ext cx="2485034" cy="365760"/>
          </a:xfrm>
          <a:prstGeom prst="rect">
            <a:avLst/>
          </a:prstGeom>
          <a:noFill/>
          <a:ln/>
        </p:spPr>
        <p:txBody>
          <a:bodyPr wrap="square" lIns="0" tIns="0" rIns="0" bIns="0" rtlCol="0" anchor="t"/>
          <a:lstStyle/>
          <a:p>
            <a:pPr indent="0" marL="0">
              <a:lnSpc>
                <a:spcPct val="100000"/>
              </a:lnSpc>
              <a:buNone/>
            </a:pPr>
            <a:r>
              <a:rPr lang="en-US" sz="1050" dirty="0">
                <a:solidFill>
                  <a:srgbClr val="7A8794"/>
                </a:solidFill>
                <a:latin typeface="Calibri" pitchFamily="34" charset="0"/>
                <a:ea typeface="Calibri" pitchFamily="34" charset="-122"/>
                <a:cs typeface="Calibri" pitchFamily="34" charset="-120"/>
              </a:rPr>
              <a:t>Registered users</a:t>
            </a:r>
            <a:endParaRPr lang="en-US" sz="1050" dirty="0"/>
          </a:p>
        </p:txBody>
      </p:sp>
      <p:sp>
        <p:nvSpPr>
          <p:cNvPr id="17" name="Shape 12"/>
          <p:cNvSpPr/>
          <p:nvPr/>
        </p:nvSpPr>
        <p:spPr>
          <a:xfrm>
            <a:off x="640080" y="2688336"/>
            <a:ext cx="3490874" cy="1078992"/>
          </a:xfrm>
          <a:prstGeom prst="roundRect">
            <a:avLst>
              <a:gd name="adj" fmla="val 4237"/>
            </a:avLst>
          </a:prstGeom>
          <a:solidFill>
            <a:srgbClr val="F4F6F9"/>
          </a:solidFill>
          <a:ln w="12700">
            <a:solidFill>
              <a:srgbClr val="DCE3EB"/>
            </a:solidFill>
            <a:prstDash val="solid"/>
          </a:ln>
        </p:spPr>
      </p:sp>
      <p:pic>
        <p:nvPicPr>
          <p:cNvPr id="18" name="Image 3" descr="preencoded.png">    </p:cNvPr>
          <p:cNvPicPr>
            <a:picLocks noChangeAspect="1"/>
          </p:cNvPicPr>
          <p:nvPr/>
        </p:nvPicPr>
        <p:blipFill>
          <a:blip r:embed="rId4"/>
          <a:stretch>
            <a:fillRect/>
          </a:stretch>
        </p:blipFill>
        <p:spPr>
          <a:xfrm>
            <a:off x="877824" y="2962656"/>
            <a:ext cx="457200" cy="457200"/>
          </a:xfrm>
          <a:prstGeom prst="rect">
            <a:avLst/>
          </a:prstGeom>
        </p:spPr>
      </p:pic>
      <p:sp>
        <p:nvSpPr>
          <p:cNvPr id="19" name="Text 13"/>
          <p:cNvSpPr/>
          <p:nvPr/>
        </p:nvSpPr>
        <p:spPr>
          <a:xfrm>
            <a:off x="1508760" y="2871216"/>
            <a:ext cx="2485034" cy="384048"/>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4.79 M</a:t>
            </a:r>
            <a:endParaRPr lang="en-US" sz="2200" dirty="0"/>
          </a:p>
        </p:txBody>
      </p:sp>
      <p:sp>
        <p:nvSpPr>
          <p:cNvPr id="20" name="Text 14"/>
          <p:cNvSpPr/>
          <p:nvPr/>
        </p:nvSpPr>
        <p:spPr>
          <a:xfrm>
            <a:off x="1508760" y="3273552"/>
            <a:ext cx="2485034" cy="365760"/>
          </a:xfrm>
          <a:prstGeom prst="rect">
            <a:avLst/>
          </a:prstGeom>
          <a:noFill/>
          <a:ln/>
        </p:spPr>
        <p:txBody>
          <a:bodyPr wrap="square" lIns="0" tIns="0" rIns="0" bIns="0" rtlCol="0" anchor="t"/>
          <a:lstStyle/>
          <a:p>
            <a:pPr indent="0" marL="0">
              <a:lnSpc>
                <a:spcPct val="100000"/>
              </a:lnSpc>
              <a:buNone/>
            </a:pPr>
            <a:r>
              <a:rPr lang="en-US" sz="1050" dirty="0">
                <a:solidFill>
                  <a:srgbClr val="7A8794"/>
                </a:solidFill>
                <a:latin typeface="Calibri" pitchFamily="34" charset="0"/>
                <a:ea typeface="Calibri" pitchFamily="34" charset="-122"/>
                <a:cs typeface="Calibri" pitchFamily="34" charset="-120"/>
              </a:rPr>
              <a:t>Merchants on the network</a:t>
            </a:r>
            <a:endParaRPr lang="en-US" sz="1050" dirty="0"/>
          </a:p>
        </p:txBody>
      </p:sp>
      <p:sp>
        <p:nvSpPr>
          <p:cNvPr id="21" name="Shape 15"/>
          <p:cNvSpPr/>
          <p:nvPr/>
        </p:nvSpPr>
        <p:spPr>
          <a:xfrm>
            <a:off x="4350410" y="2688336"/>
            <a:ext cx="3490874" cy="1078992"/>
          </a:xfrm>
          <a:prstGeom prst="roundRect">
            <a:avLst>
              <a:gd name="adj" fmla="val 4237"/>
            </a:avLst>
          </a:prstGeom>
          <a:solidFill>
            <a:srgbClr val="F4F6F9"/>
          </a:solidFill>
          <a:ln w="12700">
            <a:solidFill>
              <a:srgbClr val="DCE3EB"/>
            </a:solidFill>
            <a:prstDash val="solid"/>
          </a:ln>
        </p:spPr>
      </p:sp>
      <p:pic>
        <p:nvPicPr>
          <p:cNvPr id="22" name="Image 4" descr="preencoded.png">    </p:cNvPr>
          <p:cNvPicPr>
            <a:picLocks noChangeAspect="1"/>
          </p:cNvPicPr>
          <p:nvPr/>
        </p:nvPicPr>
        <p:blipFill>
          <a:blip r:embed="rId5"/>
          <a:stretch>
            <a:fillRect/>
          </a:stretch>
        </p:blipFill>
        <p:spPr>
          <a:xfrm>
            <a:off x="4588154" y="2962656"/>
            <a:ext cx="457200" cy="457200"/>
          </a:xfrm>
          <a:prstGeom prst="rect">
            <a:avLst/>
          </a:prstGeom>
        </p:spPr>
      </p:pic>
      <p:sp>
        <p:nvSpPr>
          <p:cNvPr id="23" name="Text 16"/>
          <p:cNvSpPr/>
          <p:nvPr/>
        </p:nvSpPr>
        <p:spPr>
          <a:xfrm>
            <a:off x="5219090" y="2871216"/>
            <a:ext cx="2485034" cy="384048"/>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~Rs 424 Cr</a:t>
            </a:r>
            <a:endParaRPr lang="en-US" sz="2200" dirty="0"/>
          </a:p>
        </p:txBody>
      </p:sp>
      <p:sp>
        <p:nvSpPr>
          <p:cNvPr id="24" name="Text 17"/>
          <p:cNvSpPr/>
          <p:nvPr/>
        </p:nvSpPr>
        <p:spPr>
          <a:xfrm>
            <a:off x="5219090" y="3273552"/>
            <a:ext cx="2485034" cy="365760"/>
          </a:xfrm>
          <a:prstGeom prst="rect">
            <a:avLst/>
          </a:prstGeom>
          <a:noFill/>
          <a:ln/>
        </p:spPr>
        <p:txBody>
          <a:bodyPr wrap="square" lIns="0" tIns="0" rIns="0" bIns="0" rtlCol="0" anchor="t"/>
          <a:lstStyle/>
          <a:p>
            <a:pPr indent="0" marL="0">
              <a:lnSpc>
                <a:spcPct val="100000"/>
              </a:lnSpc>
              <a:buNone/>
            </a:pPr>
            <a:r>
              <a:rPr lang="en-US" sz="1050" dirty="0">
                <a:solidFill>
                  <a:srgbClr val="7A8794"/>
                </a:solidFill>
                <a:latin typeface="Calibri" pitchFamily="34" charset="0"/>
                <a:ea typeface="Calibri" pitchFamily="34" charset="-122"/>
                <a:cs typeface="Calibri" pitchFamily="34" charset="-120"/>
              </a:rPr>
              <a:t>Unencumbered cash</a:t>
            </a:r>
            <a:endParaRPr lang="en-US" sz="1050" dirty="0"/>
          </a:p>
        </p:txBody>
      </p:sp>
      <p:sp>
        <p:nvSpPr>
          <p:cNvPr id="25" name="Shape 18"/>
          <p:cNvSpPr/>
          <p:nvPr/>
        </p:nvSpPr>
        <p:spPr>
          <a:xfrm>
            <a:off x="8060741" y="2688336"/>
            <a:ext cx="3490874" cy="1078992"/>
          </a:xfrm>
          <a:prstGeom prst="roundRect">
            <a:avLst>
              <a:gd name="adj" fmla="val 4237"/>
            </a:avLst>
          </a:prstGeom>
          <a:solidFill>
            <a:srgbClr val="F4F6F9"/>
          </a:solidFill>
          <a:ln w="12700">
            <a:solidFill>
              <a:srgbClr val="DCE3EB"/>
            </a:solidFill>
            <a:prstDash val="solid"/>
          </a:ln>
        </p:spPr>
      </p:sp>
      <p:pic>
        <p:nvPicPr>
          <p:cNvPr id="26" name="Image 5" descr="preencoded.png">    </p:cNvPr>
          <p:cNvPicPr>
            <a:picLocks noChangeAspect="1"/>
          </p:cNvPicPr>
          <p:nvPr/>
        </p:nvPicPr>
        <p:blipFill>
          <a:blip r:embed="rId6"/>
          <a:stretch>
            <a:fillRect/>
          </a:stretch>
        </p:blipFill>
        <p:spPr>
          <a:xfrm>
            <a:off x="8298485" y="2962656"/>
            <a:ext cx="457200" cy="457200"/>
          </a:xfrm>
          <a:prstGeom prst="rect">
            <a:avLst/>
          </a:prstGeom>
        </p:spPr>
      </p:pic>
      <p:sp>
        <p:nvSpPr>
          <p:cNvPr id="27" name="Text 19"/>
          <p:cNvSpPr/>
          <p:nvPr/>
        </p:nvSpPr>
        <p:spPr>
          <a:xfrm>
            <a:off x="8929421" y="2871216"/>
            <a:ext cx="2485034" cy="384048"/>
          </a:xfrm>
          <a:prstGeom prst="rect">
            <a:avLst/>
          </a:prstGeom>
          <a:noFill/>
          <a:ln/>
        </p:spPr>
        <p:txBody>
          <a:bodyPr wrap="square" lIns="0" tIns="0" rIns="0" bIns="0" rtlCol="0" anchor="ctr"/>
          <a:lstStyle/>
          <a:p>
            <a:pPr indent="0" marL="0">
              <a:buNone/>
            </a:pPr>
            <a:r>
              <a:rPr lang="en-US" sz="2200" b="1" dirty="0">
                <a:solidFill>
                  <a:srgbClr val="0B2545"/>
                </a:solidFill>
                <a:latin typeface="Cambria" pitchFamily="34" charset="0"/>
                <a:ea typeface="Cambria" pitchFamily="34" charset="-122"/>
                <a:cs typeface="Cambria" pitchFamily="34" charset="-120"/>
              </a:rPr>
              <a:t>~Rs 2,000 Cr</a:t>
            </a:r>
            <a:endParaRPr lang="en-US" sz="2200" dirty="0"/>
          </a:p>
        </p:txBody>
      </p:sp>
      <p:sp>
        <p:nvSpPr>
          <p:cNvPr id="28" name="Text 20"/>
          <p:cNvSpPr/>
          <p:nvPr/>
        </p:nvSpPr>
        <p:spPr>
          <a:xfrm>
            <a:off x="8929421" y="3273552"/>
            <a:ext cx="2485034" cy="365760"/>
          </a:xfrm>
          <a:prstGeom prst="rect">
            <a:avLst/>
          </a:prstGeom>
          <a:noFill/>
          <a:ln/>
        </p:spPr>
        <p:txBody>
          <a:bodyPr wrap="square" lIns="0" tIns="0" rIns="0" bIns="0" rtlCol="0" anchor="t"/>
          <a:lstStyle/>
          <a:p>
            <a:pPr indent="0" marL="0">
              <a:lnSpc>
                <a:spcPct val="100000"/>
              </a:lnSpc>
              <a:buNone/>
            </a:pPr>
            <a:r>
              <a:rPr lang="en-US" sz="1050" dirty="0">
                <a:solidFill>
                  <a:srgbClr val="7A8794"/>
                </a:solidFill>
                <a:latin typeface="Calibri" pitchFamily="34" charset="0"/>
                <a:ea typeface="Calibri" pitchFamily="34" charset="-122"/>
                <a:cs typeface="Calibri" pitchFamily="34" charset="-120"/>
              </a:rPr>
              <a:t>Market capitalisation</a:t>
            </a:r>
            <a:endParaRPr lang="en-US" sz="1050" dirty="0"/>
          </a:p>
        </p:txBody>
      </p:sp>
      <p:sp>
        <p:nvSpPr>
          <p:cNvPr id="29" name="Shape 21"/>
          <p:cNvSpPr/>
          <p:nvPr/>
        </p:nvSpPr>
        <p:spPr>
          <a:xfrm>
            <a:off x="640080" y="4114800"/>
            <a:ext cx="10911535" cy="1554480"/>
          </a:xfrm>
          <a:prstGeom prst="roundRect">
            <a:avLst>
              <a:gd name="adj" fmla="val 3529"/>
            </a:avLst>
          </a:prstGeom>
          <a:solidFill>
            <a:srgbClr val="0B2545"/>
          </a:solidFill>
          <a:ln/>
          <a:effectLst>
            <a:outerShdw sx="100000" sy="100000" kx="0" ky="0" algn="bl" rotWithShape="0" blurRad="101600" dist="38100" dir="5400000">
              <a:srgbClr val="13243A">
                <a:alpha val="10000"/>
              </a:srgbClr>
            </a:outerShdw>
          </a:effectLst>
        </p:spPr>
      </p:sp>
      <p:sp>
        <p:nvSpPr>
          <p:cNvPr id="30" name="Text 22"/>
          <p:cNvSpPr/>
          <p:nvPr/>
        </p:nvSpPr>
        <p:spPr>
          <a:xfrm>
            <a:off x="950976" y="4261104"/>
            <a:ext cx="5486400" cy="329184"/>
          </a:xfrm>
          <a:prstGeom prst="rect">
            <a:avLst/>
          </a:prstGeom>
          <a:noFill/>
          <a:ln/>
        </p:spPr>
        <p:txBody>
          <a:bodyPr wrap="square" lIns="0" tIns="0" rIns="0" bIns="0" rtlCol="0" anchor="ctr"/>
          <a:lstStyle/>
          <a:p>
            <a:pPr indent="0" marL="0">
              <a:buNone/>
            </a:pPr>
            <a:r>
              <a:rPr lang="en-US" sz="1500" b="1" dirty="0">
                <a:solidFill>
                  <a:srgbClr val="C9AE82"/>
                </a:solidFill>
                <a:latin typeface="Cambria" pitchFamily="34" charset="0"/>
                <a:ea typeface="Cambria" pitchFamily="34" charset="-122"/>
                <a:cs typeface="Cambria" pitchFamily="34" charset="-120"/>
              </a:rPr>
              <a:t>Four New Moats now in build</a:t>
            </a:r>
            <a:endParaRPr lang="en-US" sz="1500" dirty="0"/>
          </a:p>
        </p:txBody>
      </p:sp>
      <p:sp>
        <p:nvSpPr>
          <p:cNvPr id="31" name="Shape 23"/>
          <p:cNvSpPr/>
          <p:nvPr/>
        </p:nvSpPr>
        <p:spPr>
          <a:xfrm>
            <a:off x="950976" y="4718304"/>
            <a:ext cx="2435276" cy="786384"/>
          </a:xfrm>
          <a:prstGeom prst="roundRect">
            <a:avLst>
              <a:gd name="adj" fmla="val 5814"/>
            </a:avLst>
          </a:prstGeom>
          <a:solidFill>
            <a:srgbClr val="12345B"/>
          </a:solidFill>
          <a:ln w="12700">
            <a:solidFill>
              <a:srgbClr val="1C4A73"/>
            </a:solidFill>
            <a:prstDash val="solid"/>
          </a:ln>
        </p:spPr>
      </p:sp>
      <p:sp>
        <p:nvSpPr>
          <p:cNvPr id="32" name="Text 24"/>
          <p:cNvSpPr/>
          <p:nvPr/>
        </p:nvSpPr>
        <p:spPr>
          <a:xfrm>
            <a:off x="1060704" y="4791456"/>
            <a:ext cx="365760" cy="274320"/>
          </a:xfrm>
          <a:prstGeom prst="rect">
            <a:avLst/>
          </a:prstGeom>
          <a:noFill/>
          <a:ln/>
        </p:spPr>
        <p:txBody>
          <a:bodyPr wrap="square" lIns="0" tIns="0" rIns="0" bIns="0" rtlCol="0" anchor="ctr"/>
          <a:lstStyle/>
          <a:p>
            <a:pPr indent="0" marL="0">
              <a:buNone/>
            </a:pPr>
            <a:r>
              <a:rPr lang="en-US" sz="1600" b="1" dirty="0">
                <a:solidFill>
                  <a:srgbClr val="B08D57"/>
                </a:solidFill>
                <a:latin typeface="Cambria" pitchFamily="34" charset="0"/>
                <a:ea typeface="Cambria" pitchFamily="34" charset="-122"/>
                <a:cs typeface="Cambria" pitchFamily="34" charset="-120"/>
              </a:rPr>
              <a:t>1</a:t>
            </a:r>
            <a:endParaRPr lang="en-US" sz="1600" dirty="0"/>
          </a:p>
        </p:txBody>
      </p:sp>
      <p:sp>
        <p:nvSpPr>
          <p:cNvPr id="33" name="Text 25"/>
          <p:cNvSpPr/>
          <p:nvPr/>
        </p:nvSpPr>
        <p:spPr>
          <a:xfrm>
            <a:off x="1060704" y="5029200"/>
            <a:ext cx="2215820" cy="420624"/>
          </a:xfrm>
          <a:prstGeom prst="rect">
            <a:avLst/>
          </a:prstGeom>
          <a:noFill/>
          <a:ln/>
        </p:spPr>
        <p:txBody>
          <a:bodyPr wrap="square" lIns="0" tIns="0" rIns="0" bIns="0" rtlCol="0" anchor="t"/>
          <a:lstStyle/>
          <a:p>
            <a:pPr indent="0" marL="0">
              <a:lnSpc>
                <a:spcPct val="96000"/>
              </a:lnSpc>
              <a:buNone/>
            </a:pPr>
            <a:r>
              <a:rPr lang="en-US" sz="1050" b="1" dirty="0">
                <a:solidFill>
                  <a:srgbClr val="E6EDF5"/>
                </a:solidFill>
                <a:latin typeface="Calibri" pitchFamily="34" charset="0"/>
                <a:ea typeface="Calibri" pitchFamily="34" charset="-122"/>
                <a:cs typeface="Calibri" pitchFamily="34" charset="-120"/>
              </a:rPr>
              <a:t>Offline merchant acquiring</a:t>
            </a:r>
            <a:endParaRPr lang="en-US" sz="1050" dirty="0"/>
          </a:p>
        </p:txBody>
      </p:sp>
      <p:sp>
        <p:nvSpPr>
          <p:cNvPr id="34" name="Shape 26"/>
          <p:cNvSpPr/>
          <p:nvPr/>
        </p:nvSpPr>
        <p:spPr>
          <a:xfrm>
            <a:off x="3569132" y="4718304"/>
            <a:ext cx="2435276" cy="786384"/>
          </a:xfrm>
          <a:prstGeom prst="roundRect">
            <a:avLst>
              <a:gd name="adj" fmla="val 5814"/>
            </a:avLst>
          </a:prstGeom>
          <a:solidFill>
            <a:srgbClr val="12345B"/>
          </a:solidFill>
          <a:ln w="12700">
            <a:solidFill>
              <a:srgbClr val="1C4A73"/>
            </a:solidFill>
            <a:prstDash val="solid"/>
          </a:ln>
        </p:spPr>
      </p:sp>
      <p:sp>
        <p:nvSpPr>
          <p:cNvPr id="35" name="Text 27"/>
          <p:cNvSpPr/>
          <p:nvPr/>
        </p:nvSpPr>
        <p:spPr>
          <a:xfrm>
            <a:off x="3678860" y="4791456"/>
            <a:ext cx="365760" cy="274320"/>
          </a:xfrm>
          <a:prstGeom prst="rect">
            <a:avLst/>
          </a:prstGeom>
          <a:noFill/>
          <a:ln/>
        </p:spPr>
        <p:txBody>
          <a:bodyPr wrap="square" lIns="0" tIns="0" rIns="0" bIns="0" rtlCol="0" anchor="ctr"/>
          <a:lstStyle/>
          <a:p>
            <a:pPr indent="0" marL="0">
              <a:buNone/>
            </a:pPr>
            <a:r>
              <a:rPr lang="en-US" sz="1600" b="1" dirty="0">
                <a:solidFill>
                  <a:srgbClr val="B08D57"/>
                </a:solidFill>
                <a:latin typeface="Cambria" pitchFamily="34" charset="0"/>
                <a:ea typeface="Cambria" pitchFamily="34" charset="-122"/>
                <a:cs typeface="Cambria" pitchFamily="34" charset="-120"/>
              </a:rPr>
              <a:t>2</a:t>
            </a:r>
            <a:endParaRPr lang="en-US" sz="1600" dirty="0"/>
          </a:p>
        </p:txBody>
      </p:sp>
      <p:sp>
        <p:nvSpPr>
          <p:cNvPr id="36" name="Text 28"/>
          <p:cNvSpPr/>
          <p:nvPr/>
        </p:nvSpPr>
        <p:spPr>
          <a:xfrm>
            <a:off x="3678860" y="5029200"/>
            <a:ext cx="2215820" cy="420624"/>
          </a:xfrm>
          <a:prstGeom prst="rect">
            <a:avLst/>
          </a:prstGeom>
          <a:noFill/>
          <a:ln/>
        </p:spPr>
        <p:txBody>
          <a:bodyPr wrap="square" lIns="0" tIns="0" rIns="0" bIns="0" rtlCol="0" anchor="t"/>
          <a:lstStyle/>
          <a:p>
            <a:pPr indent="0" marL="0">
              <a:lnSpc>
                <a:spcPct val="96000"/>
              </a:lnSpc>
              <a:buNone/>
            </a:pPr>
            <a:r>
              <a:rPr lang="en-US" sz="1050" b="1" dirty="0">
                <a:solidFill>
                  <a:srgbClr val="E6EDF5"/>
                </a:solidFill>
                <a:latin typeface="Calibri" pitchFamily="34" charset="0"/>
                <a:ea typeface="Calibri" pitchFamily="34" charset="-122"/>
                <a:cs typeface="Calibri" pitchFamily="34" charset="-120"/>
              </a:rPr>
              <a:t>Online merchant acquiring</a:t>
            </a:r>
            <a:endParaRPr lang="en-US" sz="1050" dirty="0"/>
          </a:p>
        </p:txBody>
      </p:sp>
      <p:sp>
        <p:nvSpPr>
          <p:cNvPr id="37" name="Shape 29"/>
          <p:cNvSpPr/>
          <p:nvPr/>
        </p:nvSpPr>
        <p:spPr>
          <a:xfrm>
            <a:off x="6187288" y="4718304"/>
            <a:ext cx="2435276" cy="786384"/>
          </a:xfrm>
          <a:prstGeom prst="roundRect">
            <a:avLst>
              <a:gd name="adj" fmla="val 5814"/>
            </a:avLst>
          </a:prstGeom>
          <a:solidFill>
            <a:srgbClr val="12345B"/>
          </a:solidFill>
          <a:ln w="12700">
            <a:solidFill>
              <a:srgbClr val="1C4A73"/>
            </a:solidFill>
            <a:prstDash val="solid"/>
          </a:ln>
        </p:spPr>
      </p:sp>
      <p:sp>
        <p:nvSpPr>
          <p:cNvPr id="38" name="Text 30"/>
          <p:cNvSpPr/>
          <p:nvPr/>
        </p:nvSpPr>
        <p:spPr>
          <a:xfrm>
            <a:off x="6297016" y="4791456"/>
            <a:ext cx="365760" cy="274320"/>
          </a:xfrm>
          <a:prstGeom prst="rect">
            <a:avLst/>
          </a:prstGeom>
          <a:noFill/>
          <a:ln/>
        </p:spPr>
        <p:txBody>
          <a:bodyPr wrap="square" lIns="0" tIns="0" rIns="0" bIns="0" rtlCol="0" anchor="ctr"/>
          <a:lstStyle/>
          <a:p>
            <a:pPr indent="0" marL="0">
              <a:buNone/>
            </a:pPr>
            <a:r>
              <a:rPr lang="en-US" sz="1600" b="1" dirty="0">
                <a:solidFill>
                  <a:srgbClr val="B08D57"/>
                </a:solidFill>
                <a:latin typeface="Cambria" pitchFamily="34" charset="0"/>
                <a:ea typeface="Cambria" pitchFamily="34" charset="-122"/>
                <a:cs typeface="Cambria" pitchFamily="34" charset="-120"/>
              </a:rPr>
              <a:t>3</a:t>
            </a:r>
            <a:endParaRPr lang="en-US" sz="1600" dirty="0"/>
          </a:p>
        </p:txBody>
      </p:sp>
      <p:sp>
        <p:nvSpPr>
          <p:cNvPr id="39" name="Text 31"/>
          <p:cNvSpPr/>
          <p:nvPr/>
        </p:nvSpPr>
        <p:spPr>
          <a:xfrm>
            <a:off x="6297016" y="5029200"/>
            <a:ext cx="2215820" cy="420624"/>
          </a:xfrm>
          <a:prstGeom prst="rect">
            <a:avLst/>
          </a:prstGeom>
          <a:noFill/>
          <a:ln/>
        </p:spPr>
        <p:txBody>
          <a:bodyPr wrap="square" lIns="0" tIns="0" rIns="0" bIns="0" rtlCol="0" anchor="t"/>
          <a:lstStyle/>
          <a:p>
            <a:pPr indent="0" marL="0">
              <a:lnSpc>
                <a:spcPct val="96000"/>
              </a:lnSpc>
              <a:buNone/>
            </a:pPr>
            <a:r>
              <a:rPr lang="en-US" sz="1050" b="1" dirty="0">
                <a:solidFill>
                  <a:srgbClr val="E6EDF5"/>
                </a:solidFill>
                <a:latin typeface="Calibri" pitchFamily="34" charset="0"/>
                <a:ea typeface="Calibri" pitchFamily="34" charset="-122"/>
                <a:cs typeface="Calibri" pitchFamily="34" charset="-120"/>
              </a:rPr>
              <a:t>In-house lending (new NBFC, MFSPL)</a:t>
            </a:r>
            <a:endParaRPr lang="en-US" sz="1050" dirty="0"/>
          </a:p>
        </p:txBody>
      </p:sp>
      <p:sp>
        <p:nvSpPr>
          <p:cNvPr id="40" name="Shape 32"/>
          <p:cNvSpPr/>
          <p:nvPr/>
        </p:nvSpPr>
        <p:spPr>
          <a:xfrm>
            <a:off x="8805443" y="4718304"/>
            <a:ext cx="2435276" cy="786384"/>
          </a:xfrm>
          <a:prstGeom prst="roundRect">
            <a:avLst>
              <a:gd name="adj" fmla="val 5814"/>
            </a:avLst>
          </a:prstGeom>
          <a:solidFill>
            <a:srgbClr val="12345B"/>
          </a:solidFill>
          <a:ln w="12700">
            <a:solidFill>
              <a:srgbClr val="1C4A73"/>
            </a:solidFill>
            <a:prstDash val="solid"/>
          </a:ln>
        </p:spPr>
      </p:sp>
      <p:sp>
        <p:nvSpPr>
          <p:cNvPr id="41" name="Text 33"/>
          <p:cNvSpPr/>
          <p:nvPr/>
        </p:nvSpPr>
        <p:spPr>
          <a:xfrm>
            <a:off x="8915171" y="4791456"/>
            <a:ext cx="365760" cy="274320"/>
          </a:xfrm>
          <a:prstGeom prst="rect">
            <a:avLst/>
          </a:prstGeom>
          <a:noFill/>
          <a:ln/>
        </p:spPr>
        <p:txBody>
          <a:bodyPr wrap="square" lIns="0" tIns="0" rIns="0" bIns="0" rtlCol="0" anchor="ctr"/>
          <a:lstStyle/>
          <a:p>
            <a:pPr indent="0" marL="0">
              <a:buNone/>
            </a:pPr>
            <a:r>
              <a:rPr lang="en-US" sz="1600" b="1" dirty="0">
                <a:solidFill>
                  <a:srgbClr val="B08D57"/>
                </a:solidFill>
                <a:latin typeface="Cambria" pitchFamily="34" charset="0"/>
                <a:ea typeface="Cambria" pitchFamily="34" charset="-122"/>
                <a:cs typeface="Cambria" pitchFamily="34" charset="-120"/>
              </a:rPr>
              <a:t>4</a:t>
            </a:r>
            <a:endParaRPr lang="en-US" sz="1600" dirty="0"/>
          </a:p>
        </p:txBody>
      </p:sp>
      <p:sp>
        <p:nvSpPr>
          <p:cNvPr id="42" name="Text 34"/>
          <p:cNvSpPr/>
          <p:nvPr/>
        </p:nvSpPr>
        <p:spPr>
          <a:xfrm>
            <a:off x="8915171" y="5029200"/>
            <a:ext cx="2215820" cy="420624"/>
          </a:xfrm>
          <a:prstGeom prst="rect">
            <a:avLst/>
          </a:prstGeom>
          <a:noFill/>
          <a:ln/>
        </p:spPr>
        <p:txBody>
          <a:bodyPr wrap="square" lIns="0" tIns="0" rIns="0" bIns="0" rtlCol="0" anchor="t"/>
          <a:lstStyle/>
          <a:p>
            <a:pPr indent="0" marL="0">
              <a:lnSpc>
                <a:spcPct val="96000"/>
              </a:lnSpc>
              <a:buNone/>
            </a:pPr>
            <a:r>
              <a:rPr lang="en-US" sz="1050" b="1" dirty="0">
                <a:solidFill>
                  <a:srgbClr val="E6EDF5"/>
                </a:solidFill>
                <a:latin typeface="Calibri" pitchFamily="34" charset="0"/>
                <a:ea typeface="Calibri" pitchFamily="34" charset="-122"/>
                <a:cs typeface="Calibri" pitchFamily="34" charset="-120"/>
              </a:rPr>
              <a:t>AI across the stack</a:t>
            </a:r>
            <a:endParaRPr lang="en-US" sz="1050" dirty="0"/>
          </a:p>
        </p:txBody>
      </p:sp>
      <p:sp>
        <p:nvSpPr>
          <p:cNvPr id="43" name="Text 35"/>
          <p:cNvSpPr/>
          <p:nvPr/>
        </p:nvSpPr>
        <p:spPr>
          <a:xfrm>
            <a:off x="640080" y="6254496"/>
            <a:ext cx="10911535" cy="219456"/>
          </a:xfrm>
          <a:prstGeom prst="rect">
            <a:avLst/>
          </a:prstGeom>
          <a:noFill/>
          <a:ln/>
        </p:spPr>
        <p:txBody>
          <a:bodyPr wrap="square" lIns="0" tIns="0" rIns="0" bIns="0" rtlCol="0" anchor="ctr"/>
          <a:lstStyle/>
          <a:p>
            <a:pPr indent="0" marL="0">
              <a:buNone/>
            </a:pPr>
            <a:r>
              <a:rPr lang="en-US" sz="800" i="1" dirty="0">
                <a:solidFill>
                  <a:srgbClr val="7A8794"/>
                </a:solidFill>
                <a:latin typeface="Calibri" pitchFamily="34" charset="0"/>
                <a:ea typeface="Calibri" pitchFamily="34" charset="-122"/>
                <a:cs typeface="Calibri" pitchFamily="34" charset="-120"/>
              </a:rPr>
              <a:t>Source: Company FY26 and quarterly results and exchange filings; market data as most recently reported. Figures approximate.</a:t>
            </a:r>
            <a:endParaRPr lang="en-US" sz="800" dirty="0"/>
          </a:p>
        </p:txBody>
      </p:sp>
      <p:sp>
        <p:nvSpPr>
          <p:cNvPr id="44" name="Text 36"/>
          <p:cNvSpPr/>
          <p:nvPr/>
        </p:nvSpPr>
        <p:spPr>
          <a:xfrm>
            <a:off x="640080" y="6492240"/>
            <a:ext cx="2743200" cy="237744"/>
          </a:xfrm>
          <a:prstGeom prst="rect">
            <a:avLst/>
          </a:prstGeom>
          <a:noFill/>
          <a:ln/>
        </p:spPr>
        <p:txBody>
          <a:bodyPr wrap="square" lIns="0" tIns="0" rIns="0" bIns="0" rtlCol="0" anchor="ctr"/>
          <a:lstStyle/>
          <a:p>
            <a:pPr indent="0" marL="0">
              <a:buNone/>
            </a:pPr>
            <a:r>
              <a:rPr lang="en-US" sz="750" b="1" spc="150" kern="0" dirty="0">
                <a:solidFill>
                  <a:srgbClr val="7A8794"/>
                </a:solidFill>
                <a:latin typeface="Calibri" pitchFamily="34" charset="0"/>
                <a:ea typeface="Calibri" pitchFamily="34" charset="-122"/>
                <a:cs typeface="Calibri" pitchFamily="34" charset="-120"/>
              </a:rPr>
              <a:t>PROJECT KEYSTONE</a:t>
            </a:r>
            <a:endParaRPr lang="en-US" sz="750" dirty="0"/>
          </a:p>
        </p:txBody>
      </p:sp>
      <p:sp>
        <p:nvSpPr>
          <p:cNvPr id="45" name="Text 37"/>
          <p:cNvSpPr/>
          <p:nvPr/>
        </p:nvSpPr>
        <p:spPr>
          <a:xfrm>
            <a:off x="3352648" y="6492240"/>
            <a:ext cx="5486400" cy="237744"/>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Strictly private and confidential  ·  Illustrative</a:t>
            </a:r>
            <a:endParaRPr lang="en-US" sz="750" dirty="0"/>
          </a:p>
        </p:txBody>
      </p:sp>
      <p:sp>
        <p:nvSpPr>
          <p:cNvPr id="46" name="Text 38"/>
          <p:cNvSpPr/>
          <p:nvPr/>
        </p:nvSpPr>
        <p:spPr>
          <a:xfrm>
            <a:off x="11094415" y="6492240"/>
            <a:ext cx="457200" cy="237744"/>
          </a:xfrm>
          <a:prstGeom prst="rect">
            <a:avLst/>
          </a:prstGeom>
          <a:noFill/>
          <a:ln/>
        </p:spPr>
        <p:txBody>
          <a:bodyPr wrap="square" lIns="0" tIns="0" rIns="0" bIns="0" rtlCol="0" anchor="ctr"/>
          <a:lstStyle/>
          <a:p>
            <a:pPr algn="r" indent="0" marL="0">
              <a:buNone/>
            </a:pPr>
            <a:r>
              <a:rPr lang="en-US" sz="850" dirty="0">
                <a:solidFill>
                  <a:srgbClr val="7A8794"/>
                </a:solidFill>
                <a:latin typeface="Calibri" pitchFamily="34" charset="0"/>
                <a:ea typeface="Calibri" pitchFamily="34" charset="-122"/>
                <a:cs typeface="Calibri"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20" kern="0" dirty="0">
                <a:solidFill>
                  <a:srgbClr val="8A6B3C"/>
                </a:solidFill>
                <a:latin typeface="Calibri" pitchFamily="34" charset="0"/>
                <a:ea typeface="Calibri" pitchFamily="34" charset="-122"/>
                <a:cs typeface="Calibri" pitchFamily="34" charset="-120"/>
              </a:rPr>
              <a:t>STRATEGIC RATIONALE</a:t>
            </a:r>
            <a:endParaRPr lang="en-US" sz="1100" dirty="0"/>
          </a:p>
        </p:txBody>
      </p:sp>
      <p:sp>
        <p:nvSpPr>
          <p:cNvPr id="3" name="Text 1"/>
          <p:cNvSpPr/>
          <p:nvPr/>
        </p:nvSpPr>
        <p:spPr>
          <a:xfrm>
            <a:off x="8808415" y="402336"/>
            <a:ext cx="2743200" cy="237744"/>
          </a:xfrm>
          <a:prstGeom prst="rect">
            <a:avLst/>
          </a:prstGeom>
          <a:noFill/>
          <a:ln/>
        </p:spPr>
        <p:txBody>
          <a:bodyPr wrap="square" lIns="0" tIns="0" rIns="0" bIns="0" rtlCol="0" anchor="ctr"/>
          <a:lstStyle/>
          <a:p>
            <a:pPr algn="r" indent="0" marL="0">
              <a:buNone/>
            </a:pPr>
            <a:r>
              <a:rPr lang="en-US" sz="950" b="1" spc="100" kern="0" dirty="0">
                <a:solidFill>
                  <a:srgbClr val="8A6B3C"/>
                </a:solidFill>
                <a:latin typeface="Calibri" pitchFamily="34" charset="0"/>
                <a:ea typeface="Calibri" pitchFamily="34" charset="-122"/>
                <a:cs typeface="Calibri" pitchFamily="34" charset="-120"/>
              </a:rPr>
              <a:t>Exhibit 3</a:t>
            </a:r>
            <a:endParaRPr lang="en-US" sz="950" dirty="0"/>
          </a:p>
        </p:txBody>
      </p:sp>
      <p:sp>
        <p:nvSpPr>
          <p:cNvPr id="4" name="Text 2"/>
          <p:cNvSpPr/>
          <p:nvPr/>
        </p:nvSpPr>
        <p:spPr>
          <a:xfrm>
            <a:off x="640080" y="658368"/>
            <a:ext cx="10911535" cy="566928"/>
          </a:xfrm>
          <a:prstGeom prst="rect">
            <a:avLst/>
          </a:prstGeom>
          <a:noFill/>
          <a:ln/>
        </p:spPr>
        <p:txBody>
          <a:bodyPr wrap="square" lIns="0" tIns="0" rIns="0" bIns="0" rtlCol="0" anchor="t"/>
          <a:lstStyle/>
          <a:p>
            <a:pPr indent="0" marL="0">
              <a:lnSpc>
                <a:spcPct val="98000"/>
              </a:lnSpc>
              <a:buNone/>
            </a:pPr>
            <a:r>
              <a:rPr lang="en-US" sz="2500" b="1" dirty="0">
                <a:solidFill>
                  <a:srgbClr val="0B2545"/>
                </a:solidFill>
                <a:latin typeface="Cambria" pitchFamily="34" charset="0"/>
                <a:ea typeface="Cambria" pitchFamily="34" charset="-122"/>
                <a:cs typeface="Cambria" pitchFamily="34" charset="-120"/>
              </a:rPr>
              <a:t>Why inorganic growth, and why now</a:t>
            </a:r>
            <a:endParaRPr lang="en-US" sz="2500" dirty="0"/>
          </a:p>
        </p:txBody>
      </p:sp>
      <p:sp>
        <p:nvSpPr>
          <p:cNvPr id="5" name="Shape 3"/>
          <p:cNvSpPr/>
          <p:nvPr/>
        </p:nvSpPr>
        <p:spPr>
          <a:xfrm>
            <a:off x="640080" y="1481328"/>
            <a:ext cx="3478682" cy="2286000"/>
          </a:xfrm>
          <a:prstGeom prst="roundRect">
            <a:avLst>
              <a:gd name="adj" fmla="val 2000"/>
            </a:avLst>
          </a:prstGeom>
          <a:solidFill>
            <a:srgbClr val="F4F6F9"/>
          </a:solidFill>
          <a:ln w="12700">
            <a:solidFill>
              <a:srgbClr val="DCE3EB"/>
            </a:solidFill>
            <a:prstDash val="solid"/>
          </a:ln>
          <a:effectLst>
            <a:outerShdw sx="100000" sy="100000" kx="0" ky="0" algn="bl" rotWithShape="0" blurRad="101600" dist="38100" dir="5400000">
              <a:srgbClr val="13243A">
                <a:alpha val="10000"/>
              </a:srgbClr>
            </a:outerShdw>
          </a:effectLst>
        </p:spPr>
      </p:sp>
      <p:sp>
        <p:nvSpPr>
          <p:cNvPr id="6" name="Shape 4"/>
          <p:cNvSpPr/>
          <p:nvPr/>
        </p:nvSpPr>
        <p:spPr>
          <a:xfrm>
            <a:off x="896112" y="1755648"/>
            <a:ext cx="603504" cy="603504"/>
          </a:xfrm>
          <a:prstGeom prst="ellipse">
            <a:avLst/>
          </a:prstGeom>
          <a:solidFill>
            <a:srgbClr val="0B2545"/>
          </a:solidFill>
          <a:ln/>
        </p:spPr>
      </p:sp>
      <p:pic>
        <p:nvPicPr>
          <p:cNvPr id="7" name="Image 0" descr="preencoded.png">    </p:cNvPr>
          <p:cNvPicPr>
            <a:picLocks noChangeAspect="1"/>
          </p:cNvPicPr>
          <p:nvPr/>
        </p:nvPicPr>
        <p:blipFill>
          <a:blip r:embed="rId1"/>
          <a:stretch>
            <a:fillRect/>
          </a:stretch>
        </p:blipFill>
        <p:spPr>
          <a:xfrm>
            <a:off x="1051560" y="1911096"/>
            <a:ext cx="292608" cy="292608"/>
          </a:xfrm>
          <a:prstGeom prst="rect">
            <a:avLst/>
          </a:prstGeom>
        </p:spPr>
      </p:pic>
      <p:sp>
        <p:nvSpPr>
          <p:cNvPr id="8" name="Text 5"/>
          <p:cNvSpPr/>
          <p:nvPr/>
        </p:nvSpPr>
        <p:spPr>
          <a:xfrm>
            <a:off x="896112" y="2487168"/>
            <a:ext cx="2966618" cy="329184"/>
          </a:xfrm>
          <a:prstGeom prst="rect">
            <a:avLst/>
          </a:prstGeom>
          <a:noFill/>
          <a:ln/>
        </p:spPr>
        <p:txBody>
          <a:bodyPr wrap="square" lIns="0" tIns="0" rIns="0" bIns="0" rtlCol="0" anchor="ctr"/>
          <a:lstStyle/>
          <a:p>
            <a:pPr indent="0" marL="0">
              <a:buNone/>
            </a:pPr>
            <a:r>
              <a:rPr lang="en-US" sz="1550" b="1" dirty="0">
                <a:solidFill>
                  <a:srgbClr val="0B2545"/>
                </a:solidFill>
                <a:latin typeface="Cambria" pitchFamily="34" charset="0"/>
                <a:ea typeface="Cambria" pitchFamily="34" charset="-122"/>
                <a:cs typeface="Cambria" pitchFamily="34" charset="-120"/>
              </a:rPr>
              <a:t>Organic is too slow</a:t>
            </a:r>
            <a:endParaRPr lang="en-US" sz="1550" dirty="0"/>
          </a:p>
        </p:txBody>
      </p:sp>
      <p:sp>
        <p:nvSpPr>
          <p:cNvPr id="9" name="Text 6"/>
          <p:cNvSpPr/>
          <p:nvPr/>
        </p:nvSpPr>
        <p:spPr>
          <a:xfrm>
            <a:off x="896112" y="2834640"/>
            <a:ext cx="2966618" cy="841248"/>
          </a:xfrm>
          <a:prstGeom prst="rect">
            <a:avLst/>
          </a:prstGeom>
          <a:noFill/>
          <a:ln/>
        </p:spPr>
        <p:txBody>
          <a:bodyPr wrap="square" lIns="0" tIns="0" rIns="0" bIns="0" rtlCol="0" anchor="t"/>
          <a:lstStyle/>
          <a:p>
            <a:pPr indent="0" marL="0">
              <a:lnSpc>
                <a:spcPct val="103000"/>
              </a:lnSpc>
              <a:buNone/>
            </a:pPr>
            <a:r>
              <a:rPr lang="en-US" sz="1100" dirty="0">
                <a:solidFill>
                  <a:srgbClr val="3D4A57"/>
                </a:solidFill>
                <a:latin typeface="Calibri" pitchFamily="34" charset="0"/>
                <a:ea typeface="Calibri" pitchFamily="34" charset="-122"/>
                <a:cs typeface="Calibri" pitchFamily="34" charset="-120"/>
              </a:rPr>
              <a:t>The New Moats need underwriting, collections, licences, devices and distribution that take years to build while scaled incumbents extend their lead daily.</a:t>
            </a:r>
            <a:endParaRPr lang="en-US" sz="1100" dirty="0"/>
          </a:p>
        </p:txBody>
      </p:sp>
      <p:sp>
        <p:nvSpPr>
          <p:cNvPr id="10" name="Shape 7"/>
          <p:cNvSpPr/>
          <p:nvPr/>
        </p:nvSpPr>
        <p:spPr>
          <a:xfrm>
            <a:off x="4356506" y="1481328"/>
            <a:ext cx="3478682" cy="2286000"/>
          </a:xfrm>
          <a:prstGeom prst="roundRect">
            <a:avLst>
              <a:gd name="adj" fmla="val 2000"/>
            </a:avLst>
          </a:prstGeom>
          <a:solidFill>
            <a:srgbClr val="F4F6F9"/>
          </a:solidFill>
          <a:ln w="12700">
            <a:solidFill>
              <a:srgbClr val="DCE3EB"/>
            </a:solidFill>
            <a:prstDash val="solid"/>
          </a:ln>
          <a:effectLst>
            <a:outerShdw sx="100000" sy="100000" kx="0" ky="0" algn="bl" rotWithShape="0" blurRad="101600" dist="38100" dir="5400000">
              <a:srgbClr val="13243A">
                <a:alpha val="10000"/>
              </a:srgbClr>
            </a:outerShdw>
          </a:effectLst>
        </p:spPr>
      </p:sp>
      <p:sp>
        <p:nvSpPr>
          <p:cNvPr id="11" name="Shape 8"/>
          <p:cNvSpPr/>
          <p:nvPr/>
        </p:nvSpPr>
        <p:spPr>
          <a:xfrm>
            <a:off x="4612538" y="1755648"/>
            <a:ext cx="603504" cy="603504"/>
          </a:xfrm>
          <a:prstGeom prst="ellipse">
            <a:avLst/>
          </a:prstGeom>
          <a:solidFill>
            <a:srgbClr val="0B2545"/>
          </a:solidFill>
          <a:ln/>
        </p:spPr>
      </p:sp>
      <p:pic>
        <p:nvPicPr>
          <p:cNvPr id="12" name="Image 1" descr="preencoded.png">    </p:cNvPr>
          <p:cNvPicPr>
            <a:picLocks noChangeAspect="1"/>
          </p:cNvPicPr>
          <p:nvPr/>
        </p:nvPicPr>
        <p:blipFill>
          <a:blip r:embed="rId2"/>
          <a:stretch>
            <a:fillRect/>
          </a:stretch>
        </p:blipFill>
        <p:spPr>
          <a:xfrm>
            <a:off x="4767986" y="1911096"/>
            <a:ext cx="292608" cy="292608"/>
          </a:xfrm>
          <a:prstGeom prst="rect">
            <a:avLst/>
          </a:prstGeom>
        </p:spPr>
      </p:pic>
      <p:sp>
        <p:nvSpPr>
          <p:cNvPr id="13" name="Text 9"/>
          <p:cNvSpPr/>
          <p:nvPr/>
        </p:nvSpPr>
        <p:spPr>
          <a:xfrm>
            <a:off x="4612538" y="2487168"/>
            <a:ext cx="2966618" cy="329184"/>
          </a:xfrm>
          <a:prstGeom prst="rect">
            <a:avLst/>
          </a:prstGeom>
          <a:noFill/>
          <a:ln/>
        </p:spPr>
        <p:txBody>
          <a:bodyPr wrap="square" lIns="0" tIns="0" rIns="0" bIns="0" rtlCol="0" anchor="ctr"/>
          <a:lstStyle/>
          <a:p>
            <a:pPr indent="0" marL="0">
              <a:buNone/>
            </a:pPr>
            <a:r>
              <a:rPr lang="en-US" sz="1550" b="1" dirty="0">
                <a:solidFill>
                  <a:srgbClr val="0B2545"/>
                </a:solidFill>
                <a:latin typeface="Cambria" pitchFamily="34" charset="0"/>
                <a:ea typeface="Cambria" pitchFamily="34" charset="-122"/>
                <a:cs typeface="Cambria" pitchFamily="34" charset="-120"/>
              </a:rPr>
              <a:t>A buyer's window is open</a:t>
            </a:r>
            <a:endParaRPr lang="en-US" sz="1550" dirty="0"/>
          </a:p>
        </p:txBody>
      </p:sp>
      <p:sp>
        <p:nvSpPr>
          <p:cNvPr id="14" name="Text 10"/>
          <p:cNvSpPr/>
          <p:nvPr/>
        </p:nvSpPr>
        <p:spPr>
          <a:xfrm>
            <a:off x="4612538" y="2834640"/>
            <a:ext cx="2966618" cy="841248"/>
          </a:xfrm>
          <a:prstGeom prst="rect">
            <a:avLst/>
          </a:prstGeom>
          <a:noFill/>
          <a:ln/>
        </p:spPr>
        <p:txBody>
          <a:bodyPr wrap="square" lIns="0" tIns="0" rIns="0" bIns="0" rtlCol="0" anchor="t"/>
          <a:lstStyle/>
          <a:p>
            <a:pPr indent="0" marL="0">
              <a:lnSpc>
                <a:spcPct val="103000"/>
              </a:lnSpc>
              <a:buNone/>
            </a:pPr>
            <a:r>
              <a:rPr lang="en-US" sz="1100" dirty="0">
                <a:solidFill>
                  <a:srgbClr val="3D4A57"/>
                </a:solidFill>
                <a:latin typeface="Calibri" pitchFamily="34" charset="0"/>
                <a:ea typeface="Calibri" pitchFamily="34" charset="-122"/>
                <a:cs typeface="Calibri" pitchFamily="34" charset="-120"/>
              </a:rPr>
              <a:t>India fintech funding rounds nearly halved year on year (about 45 in Q1 2026 against 99 a year earlier), resetting private valuations and surfacing willing sellers.</a:t>
            </a:r>
            <a:endParaRPr lang="en-US" sz="1100" dirty="0"/>
          </a:p>
        </p:txBody>
      </p:sp>
      <p:sp>
        <p:nvSpPr>
          <p:cNvPr id="15" name="Shape 11"/>
          <p:cNvSpPr/>
          <p:nvPr/>
        </p:nvSpPr>
        <p:spPr>
          <a:xfrm>
            <a:off x="8072933" y="1481328"/>
            <a:ext cx="3478682" cy="2286000"/>
          </a:xfrm>
          <a:prstGeom prst="roundRect">
            <a:avLst>
              <a:gd name="adj" fmla="val 2000"/>
            </a:avLst>
          </a:prstGeom>
          <a:solidFill>
            <a:srgbClr val="F4F6F9"/>
          </a:solidFill>
          <a:ln w="12700">
            <a:solidFill>
              <a:srgbClr val="DCE3EB"/>
            </a:solidFill>
            <a:prstDash val="solid"/>
          </a:ln>
          <a:effectLst>
            <a:outerShdw sx="100000" sy="100000" kx="0" ky="0" algn="bl" rotWithShape="0" blurRad="101600" dist="38100" dir="5400000">
              <a:srgbClr val="13243A">
                <a:alpha val="10000"/>
              </a:srgbClr>
            </a:outerShdw>
          </a:effectLst>
        </p:spPr>
      </p:sp>
      <p:sp>
        <p:nvSpPr>
          <p:cNvPr id="16" name="Shape 12"/>
          <p:cNvSpPr/>
          <p:nvPr/>
        </p:nvSpPr>
        <p:spPr>
          <a:xfrm>
            <a:off x="8328965" y="1755648"/>
            <a:ext cx="603504" cy="603504"/>
          </a:xfrm>
          <a:prstGeom prst="ellipse">
            <a:avLst/>
          </a:prstGeom>
          <a:solidFill>
            <a:srgbClr val="0B2545"/>
          </a:solidFill>
          <a:ln/>
        </p:spPr>
      </p:sp>
      <p:pic>
        <p:nvPicPr>
          <p:cNvPr id="17" name="Image 2" descr="preencoded.png">    </p:cNvPr>
          <p:cNvPicPr>
            <a:picLocks noChangeAspect="1"/>
          </p:cNvPicPr>
          <p:nvPr/>
        </p:nvPicPr>
        <p:blipFill>
          <a:blip r:embed="rId3"/>
          <a:stretch>
            <a:fillRect/>
          </a:stretch>
        </p:blipFill>
        <p:spPr>
          <a:xfrm>
            <a:off x="8484413" y="1911096"/>
            <a:ext cx="292608" cy="292608"/>
          </a:xfrm>
          <a:prstGeom prst="rect">
            <a:avLst/>
          </a:prstGeom>
        </p:spPr>
      </p:pic>
      <p:sp>
        <p:nvSpPr>
          <p:cNvPr id="18" name="Text 13"/>
          <p:cNvSpPr/>
          <p:nvPr/>
        </p:nvSpPr>
        <p:spPr>
          <a:xfrm>
            <a:off x="8328965" y="2487168"/>
            <a:ext cx="2966618" cy="329184"/>
          </a:xfrm>
          <a:prstGeom prst="rect">
            <a:avLst/>
          </a:prstGeom>
          <a:noFill/>
          <a:ln/>
        </p:spPr>
        <p:txBody>
          <a:bodyPr wrap="square" lIns="0" tIns="0" rIns="0" bIns="0" rtlCol="0" anchor="ctr"/>
          <a:lstStyle/>
          <a:p>
            <a:pPr indent="0" marL="0">
              <a:buNone/>
            </a:pPr>
            <a:r>
              <a:rPr lang="en-US" sz="1550" b="1" dirty="0">
                <a:solidFill>
                  <a:srgbClr val="0B2545"/>
                </a:solidFill>
                <a:latin typeface="Cambria" pitchFamily="34" charset="0"/>
                <a:ea typeface="Cambria" pitchFamily="34" charset="-122"/>
                <a:cs typeface="Cambria" pitchFamily="34" charset="-120"/>
              </a:rPr>
              <a:t>MobiKwik can pay in paper</a:t>
            </a:r>
            <a:endParaRPr lang="en-US" sz="1550" dirty="0"/>
          </a:p>
        </p:txBody>
      </p:sp>
      <p:sp>
        <p:nvSpPr>
          <p:cNvPr id="19" name="Text 14"/>
          <p:cNvSpPr/>
          <p:nvPr/>
        </p:nvSpPr>
        <p:spPr>
          <a:xfrm>
            <a:off x="8328965" y="2834640"/>
            <a:ext cx="2966618" cy="841248"/>
          </a:xfrm>
          <a:prstGeom prst="rect">
            <a:avLst/>
          </a:prstGeom>
          <a:noFill/>
          <a:ln/>
        </p:spPr>
        <p:txBody>
          <a:bodyPr wrap="square" lIns="0" tIns="0" rIns="0" bIns="0" rtlCol="0" anchor="t"/>
          <a:lstStyle/>
          <a:p>
            <a:pPr indent="0" marL="0">
              <a:lnSpc>
                <a:spcPct val="103000"/>
              </a:lnSpc>
              <a:buNone/>
            </a:pPr>
            <a:r>
              <a:rPr lang="en-US" sz="1100" dirty="0">
                <a:solidFill>
                  <a:srgbClr val="3D4A57"/>
                </a:solidFill>
                <a:latin typeface="Calibri" pitchFamily="34" charset="0"/>
                <a:ea typeface="Calibri" pitchFamily="34" charset="-122"/>
                <a:cs typeface="Calibri" pitchFamily="34" charset="-120"/>
              </a:rPr>
              <a:t>A listed stock plus restored profitability is acquisition currency the company did not have a year ago, allowing cash-light, stock-led deals.</a:t>
            </a:r>
            <a:endParaRPr lang="en-US" sz="1100" dirty="0"/>
          </a:p>
        </p:txBody>
      </p:sp>
      <p:sp>
        <p:nvSpPr>
          <p:cNvPr id="20" name="Shape 15"/>
          <p:cNvSpPr/>
          <p:nvPr/>
        </p:nvSpPr>
        <p:spPr>
          <a:xfrm>
            <a:off x="640080" y="3986784"/>
            <a:ext cx="10911535" cy="1755648"/>
          </a:xfrm>
          <a:prstGeom prst="roundRect">
            <a:avLst>
              <a:gd name="adj" fmla="val 3125"/>
            </a:avLst>
          </a:prstGeom>
          <a:solidFill>
            <a:srgbClr val="F7F2E9"/>
          </a:solidFill>
          <a:ln/>
        </p:spPr>
      </p:sp>
      <p:sp>
        <p:nvSpPr>
          <p:cNvPr id="21" name="Text 16"/>
          <p:cNvSpPr/>
          <p:nvPr/>
        </p:nvSpPr>
        <p:spPr>
          <a:xfrm>
            <a:off x="932688" y="4114800"/>
            <a:ext cx="10058400" cy="310896"/>
          </a:xfrm>
          <a:prstGeom prst="rect">
            <a:avLst/>
          </a:prstGeom>
          <a:noFill/>
          <a:ln/>
        </p:spPr>
        <p:txBody>
          <a:bodyPr wrap="square" lIns="0" tIns="0" rIns="0" bIns="0" rtlCol="0" anchor="ctr"/>
          <a:lstStyle/>
          <a:p>
            <a:pPr indent="0" marL="0">
              <a:buNone/>
            </a:pPr>
            <a:r>
              <a:rPr lang="en-US" sz="1450" b="1" dirty="0">
                <a:solidFill>
                  <a:srgbClr val="8A6B3C"/>
                </a:solidFill>
                <a:latin typeface="Cambria" pitchFamily="34" charset="0"/>
                <a:ea typeface="Cambria" pitchFamily="34" charset="-122"/>
                <a:cs typeface="Cambria" pitchFamily="34" charset="-120"/>
              </a:rPr>
              <a:t>The consolidation playbook is already proven in Indian fintech</a:t>
            </a:r>
            <a:endParaRPr lang="en-US" sz="1450" dirty="0"/>
          </a:p>
        </p:txBody>
      </p:sp>
      <p:sp>
        <p:nvSpPr>
          <p:cNvPr id="22" name="Shape 17"/>
          <p:cNvSpPr/>
          <p:nvPr/>
        </p:nvSpPr>
        <p:spPr>
          <a:xfrm>
            <a:off x="932688" y="4590288"/>
            <a:ext cx="1933590" cy="987552"/>
          </a:xfrm>
          <a:prstGeom prst="roundRect">
            <a:avLst>
              <a:gd name="adj" fmla="val 4630"/>
            </a:avLst>
          </a:prstGeom>
          <a:solidFill>
            <a:srgbClr val="FFFFFF"/>
          </a:solidFill>
          <a:ln w="12700">
            <a:solidFill>
              <a:srgbClr val="E4DBCB"/>
            </a:solidFill>
            <a:prstDash val="solid"/>
          </a:ln>
        </p:spPr>
      </p:sp>
      <p:sp>
        <p:nvSpPr>
          <p:cNvPr id="23" name="Text 18"/>
          <p:cNvSpPr/>
          <p:nvPr/>
        </p:nvSpPr>
        <p:spPr>
          <a:xfrm>
            <a:off x="1078992" y="4681728"/>
            <a:ext cx="1640982" cy="384048"/>
          </a:xfrm>
          <a:prstGeom prst="rect">
            <a:avLst/>
          </a:prstGeom>
          <a:noFill/>
          <a:ln/>
        </p:spPr>
        <p:txBody>
          <a:bodyPr wrap="square" lIns="0" tIns="0" rIns="0" bIns="0" rtlCol="0" anchor="t"/>
          <a:lstStyle/>
          <a:p>
            <a:pPr indent="0" marL="0">
              <a:lnSpc>
                <a:spcPct val="96000"/>
              </a:lnSpc>
              <a:buNone/>
            </a:pPr>
            <a:r>
              <a:rPr lang="en-US" sz="1050" b="1" dirty="0">
                <a:solidFill>
                  <a:srgbClr val="0B2545"/>
                </a:solidFill>
                <a:latin typeface="Calibri" pitchFamily="34" charset="0"/>
                <a:ea typeface="Calibri" pitchFamily="34" charset="-122"/>
                <a:cs typeface="Calibri" pitchFamily="34" charset="-120"/>
              </a:rPr>
              <a:t>Amazon / Axio</a:t>
            </a:r>
            <a:endParaRPr lang="en-US" sz="1050" dirty="0"/>
          </a:p>
        </p:txBody>
      </p:sp>
      <p:sp>
        <p:nvSpPr>
          <p:cNvPr id="24" name="Text 19"/>
          <p:cNvSpPr/>
          <p:nvPr/>
        </p:nvSpPr>
        <p:spPr>
          <a:xfrm>
            <a:off x="1078992" y="5065776"/>
            <a:ext cx="1640982" cy="329184"/>
          </a:xfrm>
          <a:prstGeom prst="rect">
            <a:avLst/>
          </a:prstGeom>
          <a:noFill/>
          <a:ln/>
        </p:spPr>
        <p:txBody>
          <a:bodyPr wrap="square" lIns="0" tIns="0" rIns="0" bIns="0" rtlCol="0" anchor="t"/>
          <a:lstStyle/>
          <a:p>
            <a:pPr indent="0" marL="0">
              <a:lnSpc>
                <a:spcPct val="96000"/>
              </a:lnSpc>
              <a:buNone/>
            </a:pPr>
            <a:r>
              <a:rPr lang="en-US" sz="880" dirty="0">
                <a:solidFill>
                  <a:srgbClr val="7A8794"/>
                </a:solidFill>
                <a:latin typeface="Calibri" pitchFamily="34" charset="0"/>
                <a:ea typeface="Calibri" pitchFamily="34" charset="-122"/>
                <a:cs typeface="Calibri" pitchFamily="34" charset="-120"/>
              </a:rPr>
              <a:t>Lending: NBFC licence and book</a:t>
            </a:r>
            <a:endParaRPr lang="en-US" sz="880" dirty="0"/>
          </a:p>
        </p:txBody>
      </p:sp>
      <p:sp>
        <p:nvSpPr>
          <p:cNvPr id="25" name="Text 20"/>
          <p:cNvSpPr/>
          <p:nvPr/>
        </p:nvSpPr>
        <p:spPr>
          <a:xfrm>
            <a:off x="1078992" y="5340096"/>
            <a:ext cx="1640982" cy="201168"/>
          </a:xfrm>
          <a:prstGeom prst="rect">
            <a:avLst/>
          </a:prstGeom>
          <a:noFill/>
          <a:ln/>
        </p:spPr>
        <p:txBody>
          <a:bodyPr wrap="square" lIns="0" tIns="0" rIns="0" bIns="0" rtlCol="0" anchor="ctr"/>
          <a:lstStyle/>
          <a:p>
            <a:pPr indent="0" marL="0">
              <a:buNone/>
            </a:pPr>
            <a:r>
              <a:rPr lang="en-US" sz="950" b="1" dirty="0">
                <a:solidFill>
                  <a:srgbClr val="8A6B3C"/>
                </a:solidFill>
                <a:latin typeface="Calibri" pitchFamily="34" charset="0"/>
                <a:ea typeface="Calibri" pitchFamily="34" charset="-122"/>
                <a:cs typeface="Calibri" pitchFamily="34" charset="-120"/>
              </a:rPr>
              <a:t>~$200M</a:t>
            </a:r>
            <a:endParaRPr lang="en-US" sz="950" dirty="0"/>
          </a:p>
        </p:txBody>
      </p:sp>
      <p:sp>
        <p:nvSpPr>
          <p:cNvPr id="26" name="Shape 21"/>
          <p:cNvSpPr/>
          <p:nvPr/>
        </p:nvSpPr>
        <p:spPr>
          <a:xfrm>
            <a:off x="3030870" y="4590288"/>
            <a:ext cx="1933590" cy="987552"/>
          </a:xfrm>
          <a:prstGeom prst="roundRect">
            <a:avLst>
              <a:gd name="adj" fmla="val 4630"/>
            </a:avLst>
          </a:prstGeom>
          <a:solidFill>
            <a:srgbClr val="FFFFFF"/>
          </a:solidFill>
          <a:ln w="12700">
            <a:solidFill>
              <a:srgbClr val="E4DBCB"/>
            </a:solidFill>
            <a:prstDash val="solid"/>
          </a:ln>
        </p:spPr>
      </p:sp>
      <p:sp>
        <p:nvSpPr>
          <p:cNvPr id="27" name="Text 22"/>
          <p:cNvSpPr/>
          <p:nvPr/>
        </p:nvSpPr>
        <p:spPr>
          <a:xfrm>
            <a:off x="3177174" y="4681728"/>
            <a:ext cx="1640982" cy="384048"/>
          </a:xfrm>
          <a:prstGeom prst="rect">
            <a:avLst/>
          </a:prstGeom>
          <a:noFill/>
          <a:ln/>
        </p:spPr>
        <p:txBody>
          <a:bodyPr wrap="square" lIns="0" tIns="0" rIns="0" bIns="0" rtlCol="0" anchor="t"/>
          <a:lstStyle/>
          <a:p>
            <a:pPr indent="0" marL="0">
              <a:lnSpc>
                <a:spcPct val="96000"/>
              </a:lnSpc>
              <a:buNone/>
            </a:pPr>
            <a:r>
              <a:rPr lang="en-US" sz="1050" b="1" dirty="0">
                <a:solidFill>
                  <a:srgbClr val="0B2545"/>
                </a:solidFill>
                <a:latin typeface="Calibri" pitchFamily="34" charset="0"/>
                <a:ea typeface="Calibri" pitchFamily="34" charset="-122"/>
                <a:cs typeface="Calibri" pitchFamily="34" charset="-120"/>
              </a:rPr>
              <a:t>Groww / Fisdom</a:t>
            </a:r>
            <a:endParaRPr lang="en-US" sz="1050" dirty="0"/>
          </a:p>
        </p:txBody>
      </p:sp>
      <p:sp>
        <p:nvSpPr>
          <p:cNvPr id="28" name="Text 23"/>
          <p:cNvSpPr/>
          <p:nvPr/>
        </p:nvSpPr>
        <p:spPr>
          <a:xfrm>
            <a:off x="3177174" y="5065776"/>
            <a:ext cx="1640982" cy="329184"/>
          </a:xfrm>
          <a:prstGeom prst="rect">
            <a:avLst/>
          </a:prstGeom>
          <a:noFill/>
          <a:ln/>
        </p:spPr>
        <p:txBody>
          <a:bodyPr wrap="square" lIns="0" tIns="0" rIns="0" bIns="0" rtlCol="0" anchor="t"/>
          <a:lstStyle/>
          <a:p>
            <a:pPr indent="0" marL="0">
              <a:lnSpc>
                <a:spcPct val="96000"/>
              </a:lnSpc>
              <a:buNone/>
            </a:pPr>
            <a:r>
              <a:rPr lang="en-US" sz="880" dirty="0">
                <a:solidFill>
                  <a:srgbClr val="7A8794"/>
                </a:solidFill>
                <a:latin typeface="Calibri" pitchFamily="34" charset="0"/>
                <a:ea typeface="Calibri" pitchFamily="34" charset="-122"/>
                <a:cs typeface="Calibri" pitchFamily="34" charset="-120"/>
              </a:rPr>
              <a:t>Wealthtech distribution</a:t>
            </a:r>
            <a:endParaRPr lang="en-US" sz="880" dirty="0"/>
          </a:p>
        </p:txBody>
      </p:sp>
      <p:sp>
        <p:nvSpPr>
          <p:cNvPr id="29" name="Text 24"/>
          <p:cNvSpPr/>
          <p:nvPr/>
        </p:nvSpPr>
        <p:spPr>
          <a:xfrm>
            <a:off x="3177174" y="5340096"/>
            <a:ext cx="1640982" cy="201168"/>
          </a:xfrm>
          <a:prstGeom prst="rect">
            <a:avLst/>
          </a:prstGeom>
          <a:noFill/>
          <a:ln/>
        </p:spPr>
        <p:txBody>
          <a:bodyPr wrap="square" lIns="0" tIns="0" rIns="0" bIns="0" rtlCol="0" anchor="ctr"/>
          <a:lstStyle/>
          <a:p>
            <a:pPr indent="0" marL="0">
              <a:buNone/>
            </a:pPr>
            <a:r>
              <a:rPr lang="en-US" sz="950" b="1" dirty="0">
                <a:solidFill>
                  <a:srgbClr val="8A6B3C"/>
                </a:solidFill>
                <a:latin typeface="Calibri" pitchFamily="34" charset="0"/>
                <a:ea typeface="Calibri" pitchFamily="34" charset="-122"/>
                <a:cs typeface="Calibri" pitchFamily="34" charset="-120"/>
              </a:rPr>
              <a:t>~$150M</a:t>
            </a:r>
            <a:endParaRPr lang="en-US" sz="950" dirty="0"/>
          </a:p>
        </p:txBody>
      </p:sp>
      <p:sp>
        <p:nvSpPr>
          <p:cNvPr id="30" name="Shape 25"/>
          <p:cNvSpPr/>
          <p:nvPr/>
        </p:nvSpPr>
        <p:spPr>
          <a:xfrm>
            <a:off x="5129052" y="4590288"/>
            <a:ext cx="1933590" cy="987552"/>
          </a:xfrm>
          <a:prstGeom prst="roundRect">
            <a:avLst>
              <a:gd name="adj" fmla="val 4630"/>
            </a:avLst>
          </a:prstGeom>
          <a:solidFill>
            <a:srgbClr val="FFFFFF"/>
          </a:solidFill>
          <a:ln w="12700">
            <a:solidFill>
              <a:srgbClr val="E4DBCB"/>
            </a:solidFill>
            <a:prstDash val="solid"/>
          </a:ln>
        </p:spPr>
      </p:sp>
      <p:sp>
        <p:nvSpPr>
          <p:cNvPr id="31" name="Text 26"/>
          <p:cNvSpPr/>
          <p:nvPr/>
        </p:nvSpPr>
        <p:spPr>
          <a:xfrm>
            <a:off x="5275356" y="4681728"/>
            <a:ext cx="1640982" cy="384048"/>
          </a:xfrm>
          <a:prstGeom prst="rect">
            <a:avLst/>
          </a:prstGeom>
          <a:noFill/>
          <a:ln/>
        </p:spPr>
        <p:txBody>
          <a:bodyPr wrap="square" lIns="0" tIns="0" rIns="0" bIns="0" rtlCol="0" anchor="t"/>
          <a:lstStyle/>
          <a:p>
            <a:pPr indent="0" marL="0">
              <a:lnSpc>
                <a:spcPct val="96000"/>
              </a:lnSpc>
              <a:buNone/>
            </a:pPr>
            <a:r>
              <a:rPr lang="en-US" sz="1050" b="1" dirty="0">
                <a:solidFill>
                  <a:srgbClr val="0B2545"/>
                </a:solidFill>
                <a:latin typeface="Calibri" pitchFamily="34" charset="0"/>
                <a:ea typeface="Calibri" pitchFamily="34" charset="-122"/>
                <a:cs typeface="Calibri" pitchFamily="34" charset="-120"/>
              </a:rPr>
              <a:t>PhonePe / Zopper</a:t>
            </a:r>
            <a:endParaRPr lang="en-US" sz="1050" dirty="0"/>
          </a:p>
        </p:txBody>
      </p:sp>
      <p:sp>
        <p:nvSpPr>
          <p:cNvPr id="32" name="Text 27"/>
          <p:cNvSpPr/>
          <p:nvPr/>
        </p:nvSpPr>
        <p:spPr>
          <a:xfrm>
            <a:off x="5275356" y="5065776"/>
            <a:ext cx="1640982" cy="329184"/>
          </a:xfrm>
          <a:prstGeom prst="rect">
            <a:avLst/>
          </a:prstGeom>
          <a:noFill/>
          <a:ln/>
        </p:spPr>
        <p:txBody>
          <a:bodyPr wrap="square" lIns="0" tIns="0" rIns="0" bIns="0" rtlCol="0" anchor="t"/>
          <a:lstStyle/>
          <a:p>
            <a:pPr indent="0" marL="0">
              <a:lnSpc>
                <a:spcPct val="96000"/>
              </a:lnSpc>
              <a:buNone/>
            </a:pPr>
            <a:r>
              <a:rPr lang="en-US" sz="880" dirty="0">
                <a:solidFill>
                  <a:srgbClr val="7A8794"/>
                </a:solidFill>
                <a:latin typeface="Calibri" pitchFamily="34" charset="0"/>
                <a:ea typeface="Calibri" pitchFamily="34" charset="-122"/>
                <a:cs typeface="Calibri" pitchFamily="34" charset="-120"/>
              </a:rPr>
              <a:t>Embedded insurance</a:t>
            </a:r>
            <a:endParaRPr lang="en-US" sz="880" dirty="0"/>
          </a:p>
        </p:txBody>
      </p:sp>
      <p:sp>
        <p:nvSpPr>
          <p:cNvPr id="33" name="Text 28"/>
          <p:cNvSpPr/>
          <p:nvPr/>
        </p:nvSpPr>
        <p:spPr>
          <a:xfrm>
            <a:off x="5275356" y="5340096"/>
            <a:ext cx="1640982" cy="201168"/>
          </a:xfrm>
          <a:prstGeom prst="rect">
            <a:avLst/>
          </a:prstGeom>
          <a:noFill/>
          <a:ln/>
        </p:spPr>
        <p:txBody>
          <a:bodyPr wrap="square" lIns="0" tIns="0" rIns="0" bIns="0" rtlCol="0" anchor="ctr"/>
          <a:lstStyle/>
          <a:p>
            <a:pPr indent="0" marL="0">
              <a:buNone/>
            </a:pPr>
            <a:r>
              <a:rPr lang="en-US" sz="950" b="1" dirty="0">
                <a:solidFill>
                  <a:srgbClr val="8A6B3C"/>
                </a:solidFill>
                <a:latin typeface="Calibri" pitchFamily="34" charset="0"/>
                <a:ea typeface="Calibri" pitchFamily="34" charset="-122"/>
                <a:cs typeface="Calibri" pitchFamily="34" charset="-120"/>
              </a:rPr>
              <a:t>n/d</a:t>
            </a:r>
            <a:endParaRPr lang="en-US" sz="950" dirty="0"/>
          </a:p>
        </p:txBody>
      </p:sp>
      <p:sp>
        <p:nvSpPr>
          <p:cNvPr id="34" name="Shape 29"/>
          <p:cNvSpPr/>
          <p:nvPr/>
        </p:nvSpPr>
        <p:spPr>
          <a:xfrm>
            <a:off x="7227235" y="4590288"/>
            <a:ext cx="1933590" cy="987552"/>
          </a:xfrm>
          <a:prstGeom prst="roundRect">
            <a:avLst>
              <a:gd name="adj" fmla="val 4630"/>
            </a:avLst>
          </a:prstGeom>
          <a:solidFill>
            <a:srgbClr val="FFFFFF"/>
          </a:solidFill>
          <a:ln w="12700">
            <a:solidFill>
              <a:srgbClr val="E4DBCB"/>
            </a:solidFill>
            <a:prstDash val="solid"/>
          </a:ln>
        </p:spPr>
      </p:sp>
      <p:sp>
        <p:nvSpPr>
          <p:cNvPr id="35" name="Text 30"/>
          <p:cNvSpPr/>
          <p:nvPr/>
        </p:nvSpPr>
        <p:spPr>
          <a:xfrm>
            <a:off x="7373539" y="4681728"/>
            <a:ext cx="1640982" cy="384048"/>
          </a:xfrm>
          <a:prstGeom prst="rect">
            <a:avLst/>
          </a:prstGeom>
          <a:noFill/>
          <a:ln/>
        </p:spPr>
        <p:txBody>
          <a:bodyPr wrap="square" lIns="0" tIns="0" rIns="0" bIns="0" rtlCol="0" anchor="t"/>
          <a:lstStyle/>
          <a:p>
            <a:pPr indent="0" marL="0">
              <a:lnSpc>
                <a:spcPct val="96000"/>
              </a:lnSpc>
              <a:buNone/>
            </a:pPr>
            <a:r>
              <a:rPr lang="en-US" sz="1050" b="1" dirty="0">
                <a:solidFill>
                  <a:srgbClr val="0B2545"/>
                </a:solidFill>
                <a:latin typeface="Calibri" pitchFamily="34" charset="0"/>
                <a:ea typeface="Calibri" pitchFamily="34" charset="-122"/>
                <a:cs typeface="Calibri" pitchFamily="34" charset="-120"/>
              </a:rPr>
              <a:t>Partners Group / Infinity</a:t>
            </a:r>
            <a:endParaRPr lang="en-US" sz="1050" dirty="0"/>
          </a:p>
        </p:txBody>
      </p:sp>
      <p:sp>
        <p:nvSpPr>
          <p:cNvPr id="36" name="Text 31"/>
          <p:cNvSpPr/>
          <p:nvPr/>
        </p:nvSpPr>
        <p:spPr>
          <a:xfrm>
            <a:off x="7373539" y="5065776"/>
            <a:ext cx="1640982" cy="329184"/>
          </a:xfrm>
          <a:prstGeom prst="rect">
            <a:avLst/>
          </a:prstGeom>
          <a:noFill/>
          <a:ln/>
        </p:spPr>
        <p:txBody>
          <a:bodyPr wrap="square" lIns="0" tIns="0" rIns="0" bIns="0" rtlCol="0" anchor="t"/>
          <a:lstStyle/>
          <a:p>
            <a:pPr indent="0" marL="0">
              <a:lnSpc>
                <a:spcPct val="96000"/>
              </a:lnSpc>
              <a:buNone/>
            </a:pPr>
            <a:r>
              <a:rPr lang="en-US" sz="880" dirty="0">
                <a:solidFill>
                  <a:srgbClr val="7A8794"/>
                </a:solidFill>
                <a:latin typeface="Calibri" pitchFamily="34" charset="0"/>
                <a:ea typeface="Calibri" pitchFamily="34" charset="-122"/>
                <a:cs typeface="Calibri" pitchFamily="34" charset="-120"/>
              </a:rPr>
              <a:t>MSME lending (75%)</a:t>
            </a:r>
            <a:endParaRPr lang="en-US" sz="880" dirty="0"/>
          </a:p>
        </p:txBody>
      </p:sp>
      <p:sp>
        <p:nvSpPr>
          <p:cNvPr id="37" name="Text 32"/>
          <p:cNvSpPr/>
          <p:nvPr/>
        </p:nvSpPr>
        <p:spPr>
          <a:xfrm>
            <a:off x="7373539" y="5340096"/>
            <a:ext cx="1640982" cy="201168"/>
          </a:xfrm>
          <a:prstGeom prst="rect">
            <a:avLst/>
          </a:prstGeom>
          <a:noFill/>
          <a:ln/>
        </p:spPr>
        <p:txBody>
          <a:bodyPr wrap="square" lIns="0" tIns="0" rIns="0" bIns="0" rtlCol="0" anchor="ctr"/>
          <a:lstStyle/>
          <a:p>
            <a:pPr indent="0" marL="0">
              <a:buNone/>
            </a:pPr>
            <a:r>
              <a:rPr lang="en-US" sz="950" b="1" dirty="0">
                <a:solidFill>
                  <a:srgbClr val="8A6B3C"/>
                </a:solidFill>
                <a:latin typeface="Calibri" pitchFamily="34" charset="0"/>
                <a:ea typeface="Calibri" pitchFamily="34" charset="-122"/>
                <a:cs typeface="Calibri" pitchFamily="34" charset="-120"/>
              </a:rPr>
              <a:t>~$230M</a:t>
            </a:r>
            <a:endParaRPr lang="en-US" sz="950" dirty="0"/>
          </a:p>
        </p:txBody>
      </p:sp>
      <p:sp>
        <p:nvSpPr>
          <p:cNvPr id="38" name="Shape 33"/>
          <p:cNvSpPr/>
          <p:nvPr/>
        </p:nvSpPr>
        <p:spPr>
          <a:xfrm>
            <a:off x="9325417" y="4590288"/>
            <a:ext cx="1933590" cy="987552"/>
          </a:xfrm>
          <a:prstGeom prst="roundRect">
            <a:avLst>
              <a:gd name="adj" fmla="val 4630"/>
            </a:avLst>
          </a:prstGeom>
          <a:solidFill>
            <a:srgbClr val="FFFFFF"/>
          </a:solidFill>
          <a:ln w="12700">
            <a:solidFill>
              <a:srgbClr val="E4DBCB"/>
            </a:solidFill>
            <a:prstDash val="solid"/>
          </a:ln>
        </p:spPr>
      </p:sp>
      <p:sp>
        <p:nvSpPr>
          <p:cNvPr id="39" name="Text 34"/>
          <p:cNvSpPr/>
          <p:nvPr/>
        </p:nvSpPr>
        <p:spPr>
          <a:xfrm>
            <a:off x="9471721" y="4681728"/>
            <a:ext cx="1640982" cy="384048"/>
          </a:xfrm>
          <a:prstGeom prst="rect">
            <a:avLst/>
          </a:prstGeom>
          <a:noFill/>
          <a:ln/>
        </p:spPr>
        <p:txBody>
          <a:bodyPr wrap="square" lIns="0" tIns="0" rIns="0" bIns="0" rtlCol="0" anchor="t"/>
          <a:lstStyle/>
          <a:p>
            <a:pPr indent="0" marL="0">
              <a:lnSpc>
                <a:spcPct val="96000"/>
              </a:lnSpc>
              <a:buNone/>
            </a:pPr>
            <a:r>
              <a:rPr lang="en-US" sz="1050" b="1" dirty="0">
                <a:solidFill>
                  <a:srgbClr val="0B2545"/>
                </a:solidFill>
                <a:latin typeface="Calibri" pitchFamily="34" charset="0"/>
                <a:ea typeface="Calibri" pitchFamily="34" charset="-122"/>
                <a:cs typeface="Calibri" pitchFamily="34" charset="-120"/>
              </a:rPr>
              <a:t>Razorpay / Ezetap</a:t>
            </a:r>
            <a:endParaRPr lang="en-US" sz="1050" dirty="0"/>
          </a:p>
        </p:txBody>
      </p:sp>
      <p:sp>
        <p:nvSpPr>
          <p:cNvPr id="40" name="Text 35"/>
          <p:cNvSpPr/>
          <p:nvPr/>
        </p:nvSpPr>
        <p:spPr>
          <a:xfrm>
            <a:off x="9471721" y="5065776"/>
            <a:ext cx="1640982" cy="329184"/>
          </a:xfrm>
          <a:prstGeom prst="rect">
            <a:avLst/>
          </a:prstGeom>
          <a:noFill/>
          <a:ln/>
        </p:spPr>
        <p:txBody>
          <a:bodyPr wrap="square" lIns="0" tIns="0" rIns="0" bIns="0" rtlCol="0" anchor="t"/>
          <a:lstStyle/>
          <a:p>
            <a:pPr indent="0" marL="0">
              <a:lnSpc>
                <a:spcPct val="96000"/>
              </a:lnSpc>
              <a:buNone/>
            </a:pPr>
            <a:r>
              <a:rPr lang="en-US" sz="880" dirty="0">
                <a:solidFill>
                  <a:srgbClr val="7A8794"/>
                </a:solidFill>
                <a:latin typeface="Calibri" pitchFamily="34" charset="0"/>
                <a:ea typeface="Calibri" pitchFamily="34" charset="-122"/>
                <a:cs typeface="Calibri" pitchFamily="34" charset="-120"/>
              </a:rPr>
              <a:t>Offline merchant POS</a:t>
            </a:r>
            <a:endParaRPr lang="en-US" sz="880" dirty="0"/>
          </a:p>
        </p:txBody>
      </p:sp>
      <p:sp>
        <p:nvSpPr>
          <p:cNvPr id="41" name="Text 36"/>
          <p:cNvSpPr/>
          <p:nvPr/>
        </p:nvSpPr>
        <p:spPr>
          <a:xfrm>
            <a:off x="9471721" y="5340096"/>
            <a:ext cx="1640982" cy="201168"/>
          </a:xfrm>
          <a:prstGeom prst="rect">
            <a:avLst/>
          </a:prstGeom>
          <a:noFill/>
          <a:ln/>
        </p:spPr>
        <p:txBody>
          <a:bodyPr wrap="square" lIns="0" tIns="0" rIns="0" bIns="0" rtlCol="0" anchor="ctr"/>
          <a:lstStyle/>
          <a:p>
            <a:pPr indent="0" marL="0">
              <a:buNone/>
            </a:pPr>
            <a:r>
              <a:rPr lang="en-US" sz="950" b="1" dirty="0">
                <a:solidFill>
                  <a:srgbClr val="8A6B3C"/>
                </a:solidFill>
                <a:latin typeface="Calibri" pitchFamily="34" charset="0"/>
                <a:ea typeface="Calibri" pitchFamily="34" charset="-122"/>
                <a:cs typeface="Calibri" pitchFamily="34" charset="-120"/>
              </a:rPr>
              <a:t>n/d</a:t>
            </a:r>
            <a:endParaRPr lang="en-US" sz="950" dirty="0"/>
          </a:p>
        </p:txBody>
      </p:sp>
      <p:sp>
        <p:nvSpPr>
          <p:cNvPr id="42" name="Text 37"/>
          <p:cNvSpPr/>
          <p:nvPr/>
        </p:nvSpPr>
        <p:spPr>
          <a:xfrm>
            <a:off x="640080" y="6254496"/>
            <a:ext cx="10911535" cy="219456"/>
          </a:xfrm>
          <a:prstGeom prst="rect">
            <a:avLst/>
          </a:prstGeom>
          <a:noFill/>
          <a:ln/>
        </p:spPr>
        <p:txBody>
          <a:bodyPr wrap="square" lIns="0" tIns="0" rIns="0" bIns="0" rtlCol="0" anchor="ctr"/>
          <a:lstStyle/>
          <a:p>
            <a:pPr indent="0" marL="0">
              <a:buNone/>
            </a:pPr>
            <a:r>
              <a:rPr lang="en-US" sz="800" i="1" dirty="0">
                <a:solidFill>
                  <a:srgbClr val="7A8794"/>
                </a:solidFill>
                <a:latin typeface="Calibri" pitchFamily="34" charset="0"/>
                <a:ea typeface="Calibri" pitchFamily="34" charset="-122"/>
                <a:cs typeface="Calibri" pitchFamily="34" charset="-120"/>
              </a:rPr>
              <a:t>Source: Public deal reporting (Tracxn, press). Deal values approximate and where disclosed.</a:t>
            </a:r>
            <a:endParaRPr lang="en-US" sz="800" dirty="0"/>
          </a:p>
        </p:txBody>
      </p:sp>
      <p:sp>
        <p:nvSpPr>
          <p:cNvPr id="43" name="Text 38"/>
          <p:cNvSpPr/>
          <p:nvPr/>
        </p:nvSpPr>
        <p:spPr>
          <a:xfrm>
            <a:off x="640080" y="6492240"/>
            <a:ext cx="2743200" cy="237744"/>
          </a:xfrm>
          <a:prstGeom prst="rect">
            <a:avLst/>
          </a:prstGeom>
          <a:noFill/>
          <a:ln/>
        </p:spPr>
        <p:txBody>
          <a:bodyPr wrap="square" lIns="0" tIns="0" rIns="0" bIns="0" rtlCol="0" anchor="ctr"/>
          <a:lstStyle/>
          <a:p>
            <a:pPr indent="0" marL="0">
              <a:buNone/>
            </a:pPr>
            <a:r>
              <a:rPr lang="en-US" sz="750" b="1" spc="150" kern="0" dirty="0">
                <a:solidFill>
                  <a:srgbClr val="7A8794"/>
                </a:solidFill>
                <a:latin typeface="Calibri" pitchFamily="34" charset="0"/>
                <a:ea typeface="Calibri" pitchFamily="34" charset="-122"/>
                <a:cs typeface="Calibri" pitchFamily="34" charset="-120"/>
              </a:rPr>
              <a:t>PROJECT KEYSTONE</a:t>
            </a:r>
            <a:endParaRPr lang="en-US" sz="750" dirty="0"/>
          </a:p>
        </p:txBody>
      </p:sp>
      <p:sp>
        <p:nvSpPr>
          <p:cNvPr id="44" name="Text 39"/>
          <p:cNvSpPr/>
          <p:nvPr/>
        </p:nvSpPr>
        <p:spPr>
          <a:xfrm>
            <a:off x="3352648" y="6492240"/>
            <a:ext cx="5486400" cy="237744"/>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Strictly private and confidential  ·  Illustrative</a:t>
            </a:r>
            <a:endParaRPr lang="en-US" sz="750" dirty="0"/>
          </a:p>
        </p:txBody>
      </p:sp>
      <p:sp>
        <p:nvSpPr>
          <p:cNvPr id="45" name="Text 40"/>
          <p:cNvSpPr/>
          <p:nvPr/>
        </p:nvSpPr>
        <p:spPr>
          <a:xfrm>
            <a:off x="11094415" y="6492240"/>
            <a:ext cx="457200" cy="237744"/>
          </a:xfrm>
          <a:prstGeom prst="rect">
            <a:avLst/>
          </a:prstGeom>
          <a:noFill/>
          <a:ln/>
        </p:spPr>
        <p:txBody>
          <a:bodyPr wrap="square" lIns="0" tIns="0" rIns="0" bIns="0" rtlCol="0" anchor="ctr"/>
          <a:lstStyle/>
          <a:p>
            <a:pPr algn="r" indent="0" marL="0">
              <a:buNone/>
            </a:pPr>
            <a:r>
              <a:rPr lang="en-US" sz="850" dirty="0">
                <a:solidFill>
                  <a:srgbClr val="7A8794"/>
                </a:solidFill>
                <a:latin typeface="Calibri" pitchFamily="34" charset="0"/>
                <a:ea typeface="Calibri" pitchFamily="34" charset="-122"/>
                <a:cs typeface="Calibri" pitchFamily="34" charset="-120"/>
              </a:rPr>
              <a:t>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20" kern="0" dirty="0">
                <a:solidFill>
                  <a:srgbClr val="8A6B3C"/>
                </a:solidFill>
                <a:latin typeface="Calibri" pitchFamily="34" charset="0"/>
                <a:ea typeface="Calibri" pitchFamily="34" charset="-122"/>
                <a:cs typeface="Calibri" pitchFamily="34" charset="-120"/>
              </a:rPr>
              <a:t>ACQUISITION FRAMEWORK</a:t>
            </a:r>
            <a:endParaRPr lang="en-US" sz="1100" dirty="0"/>
          </a:p>
        </p:txBody>
      </p:sp>
      <p:sp>
        <p:nvSpPr>
          <p:cNvPr id="3" name="Text 1"/>
          <p:cNvSpPr/>
          <p:nvPr/>
        </p:nvSpPr>
        <p:spPr>
          <a:xfrm>
            <a:off x="8808415" y="402336"/>
            <a:ext cx="2743200" cy="237744"/>
          </a:xfrm>
          <a:prstGeom prst="rect">
            <a:avLst/>
          </a:prstGeom>
          <a:noFill/>
          <a:ln/>
        </p:spPr>
        <p:txBody>
          <a:bodyPr wrap="square" lIns="0" tIns="0" rIns="0" bIns="0" rtlCol="0" anchor="ctr"/>
          <a:lstStyle/>
          <a:p>
            <a:pPr algn="r" indent="0" marL="0">
              <a:buNone/>
            </a:pPr>
            <a:r>
              <a:rPr lang="en-US" sz="950" b="1" spc="100" kern="0" dirty="0">
                <a:solidFill>
                  <a:srgbClr val="8A6B3C"/>
                </a:solidFill>
                <a:latin typeface="Calibri" pitchFamily="34" charset="0"/>
                <a:ea typeface="Calibri" pitchFamily="34" charset="-122"/>
                <a:cs typeface="Calibri" pitchFamily="34" charset="-120"/>
              </a:rPr>
              <a:t>Exhibit 4</a:t>
            </a:r>
            <a:endParaRPr lang="en-US" sz="950" dirty="0"/>
          </a:p>
        </p:txBody>
      </p:sp>
      <p:sp>
        <p:nvSpPr>
          <p:cNvPr id="4" name="Text 2"/>
          <p:cNvSpPr/>
          <p:nvPr/>
        </p:nvSpPr>
        <p:spPr>
          <a:xfrm>
            <a:off x="640080" y="658368"/>
            <a:ext cx="10911535" cy="566928"/>
          </a:xfrm>
          <a:prstGeom prst="rect">
            <a:avLst/>
          </a:prstGeom>
          <a:noFill/>
          <a:ln/>
        </p:spPr>
        <p:txBody>
          <a:bodyPr wrap="square" lIns="0" tIns="0" rIns="0" bIns="0" rtlCol="0" anchor="t"/>
          <a:lstStyle/>
          <a:p>
            <a:pPr indent="0" marL="0">
              <a:lnSpc>
                <a:spcPct val="98000"/>
              </a:lnSpc>
              <a:buNone/>
            </a:pPr>
            <a:r>
              <a:rPr lang="en-US" sz="2500" b="1" dirty="0">
                <a:solidFill>
                  <a:srgbClr val="0B2545"/>
                </a:solidFill>
                <a:latin typeface="Cambria" pitchFamily="34" charset="0"/>
                <a:ea typeface="Cambria" pitchFamily="34" charset="-122"/>
                <a:cs typeface="Cambria" pitchFamily="34" charset="-120"/>
              </a:rPr>
              <a:t>Six criteria govern every deal</a:t>
            </a:r>
            <a:endParaRPr lang="en-US" sz="2500" dirty="0"/>
          </a:p>
        </p:txBody>
      </p:sp>
      <p:sp>
        <p:nvSpPr>
          <p:cNvPr id="5" name="Shape 3"/>
          <p:cNvSpPr/>
          <p:nvPr/>
        </p:nvSpPr>
        <p:spPr>
          <a:xfrm>
            <a:off x="640080" y="1627632"/>
            <a:ext cx="3466490" cy="1810512"/>
          </a:xfrm>
          <a:prstGeom prst="roundRect">
            <a:avLst>
              <a:gd name="adj" fmla="val 2525"/>
            </a:avLst>
          </a:prstGeom>
          <a:solidFill>
            <a:srgbClr val="F4F6F9"/>
          </a:solidFill>
          <a:ln w="12700">
            <a:solidFill>
              <a:srgbClr val="DCE3EB"/>
            </a:solidFill>
            <a:prstDash val="solid"/>
          </a:ln>
          <a:effectLst>
            <a:outerShdw sx="100000" sy="100000" kx="0" ky="0" algn="bl" rotWithShape="0" blurRad="101600" dist="38100" dir="5400000">
              <a:srgbClr val="13243A">
                <a:alpha val="10000"/>
              </a:srgbClr>
            </a:outerShdw>
          </a:effectLst>
        </p:spPr>
      </p:sp>
      <p:sp>
        <p:nvSpPr>
          <p:cNvPr id="6" name="Shape 4"/>
          <p:cNvSpPr/>
          <p:nvPr/>
        </p:nvSpPr>
        <p:spPr>
          <a:xfrm>
            <a:off x="877824" y="1865376"/>
            <a:ext cx="512064" cy="512064"/>
          </a:xfrm>
          <a:prstGeom prst="ellipse">
            <a:avLst/>
          </a:prstGeom>
          <a:solidFill>
            <a:srgbClr val="F7F2E9"/>
          </a:solidFill>
          <a:ln w="12700">
            <a:solidFill>
              <a:srgbClr val="C9AE82"/>
            </a:solidFill>
            <a:prstDash val="solid"/>
          </a:ln>
        </p:spPr>
      </p:sp>
      <p:sp>
        <p:nvSpPr>
          <p:cNvPr id="7" name="Text 5"/>
          <p:cNvSpPr/>
          <p:nvPr/>
        </p:nvSpPr>
        <p:spPr>
          <a:xfrm>
            <a:off x="877824" y="1865376"/>
            <a:ext cx="512064" cy="512064"/>
          </a:xfrm>
          <a:prstGeom prst="rect">
            <a:avLst/>
          </a:prstGeom>
          <a:noFill/>
          <a:ln/>
        </p:spPr>
        <p:txBody>
          <a:bodyPr wrap="square" lIns="0" tIns="0" rIns="0" bIns="0" rtlCol="0" anchor="ctr"/>
          <a:lstStyle/>
          <a:p>
            <a:pPr algn="ctr" indent="0" marL="0">
              <a:buNone/>
            </a:pPr>
            <a:r>
              <a:rPr lang="en-US" sz="2000" b="1" dirty="0">
                <a:solidFill>
                  <a:srgbClr val="8A6B3C"/>
                </a:solidFill>
                <a:latin typeface="Cambria" pitchFamily="34" charset="0"/>
                <a:ea typeface="Cambria" pitchFamily="34" charset="-122"/>
                <a:cs typeface="Cambria" pitchFamily="34" charset="-120"/>
              </a:rPr>
              <a:t>1</a:t>
            </a:r>
            <a:endParaRPr lang="en-US" sz="2000" dirty="0"/>
          </a:p>
        </p:txBody>
      </p:sp>
      <p:sp>
        <p:nvSpPr>
          <p:cNvPr id="8" name="Text 6"/>
          <p:cNvSpPr/>
          <p:nvPr/>
        </p:nvSpPr>
        <p:spPr>
          <a:xfrm>
            <a:off x="1554480" y="1901952"/>
            <a:ext cx="2369210" cy="457200"/>
          </a:xfrm>
          <a:prstGeom prst="rect">
            <a:avLst/>
          </a:prstGeom>
          <a:noFill/>
          <a:ln/>
        </p:spPr>
        <p:txBody>
          <a:bodyPr wrap="square" lIns="0" tIns="0" rIns="0" bIns="0" rtlCol="0" anchor="ctr"/>
          <a:lstStyle/>
          <a:p>
            <a:pPr indent="0" marL="0">
              <a:lnSpc>
                <a:spcPct val="96000"/>
              </a:lnSpc>
              <a:buNone/>
            </a:pPr>
            <a:r>
              <a:rPr lang="en-US" sz="1400" b="1" dirty="0">
                <a:solidFill>
                  <a:srgbClr val="0B2545"/>
                </a:solidFill>
                <a:latin typeface="Cambria" pitchFamily="34" charset="0"/>
                <a:ea typeface="Cambria" pitchFamily="34" charset="-122"/>
                <a:cs typeface="Cambria" pitchFamily="34" charset="-120"/>
              </a:rPr>
              <a:t>Capability over scale</a:t>
            </a:r>
            <a:endParaRPr lang="en-US" sz="1400" dirty="0"/>
          </a:p>
        </p:txBody>
      </p:sp>
      <p:sp>
        <p:nvSpPr>
          <p:cNvPr id="9" name="Text 7"/>
          <p:cNvSpPr/>
          <p:nvPr/>
        </p:nvSpPr>
        <p:spPr>
          <a:xfrm>
            <a:off x="896112" y="2505456"/>
            <a:ext cx="2972714" cy="822960"/>
          </a:xfrm>
          <a:prstGeom prst="rect">
            <a:avLst/>
          </a:prstGeom>
          <a:noFill/>
          <a:ln/>
        </p:spPr>
        <p:txBody>
          <a:bodyPr wrap="square" lIns="0" tIns="0" rIns="0" bIns="0" rtlCol="0" anchor="t"/>
          <a:lstStyle/>
          <a:p>
            <a:pPr indent="0" marL="0">
              <a:lnSpc>
                <a:spcPct val="103000"/>
              </a:lnSpc>
              <a:buNone/>
            </a:pPr>
            <a:r>
              <a:rPr lang="en-US" sz="1050" dirty="0">
                <a:solidFill>
                  <a:srgbClr val="3D4A57"/>
                </a:solidFill>
                <a:latin typeface="Calibri" pitchFamily="34" charset="0"/>
                <a:ea typeface="Calibri" pitchFamily="34" charset="-122"/>
                <a:cs typeface="Calibri" pitchFamily="34" charset="-120"/>
              </a:rPr>
              <a:t>Acquire technology, licences, talent and distribution that compress years of build, not headline user counts.</a:t>
            </a:r>
            <a:endParaRPr lang="en-US" sz="1050" dirty="0"/>
          </a:p>
        </p:txBody>
      </p:sp>
      <p:sp>
        <p:nvSpPr>
          <p:cNvPr id="10" name="Shape 8"/>
          <p:cNvSpPr/>
          <p:nvPr/>
        </p:nvSpPr>
        <p:spPr>
          <a:xfrm>
            <a:off x="4362602" y="1627632"/>
            <a:ext cx="3466490" cy="1810512"/>
          </a:xfrm>
          <a:prstGeom prst="roundRect">
            <a:avLst>
              <a:gd name="adj" fmla="val 2525"/>
            </a:avLst>
          </a:prstGeom>
          <a:solidFill>
            <a:srgbClr val="F4F6F9"/>
          </a:solidFill>
          <a:ln w="12700">
            <a:solidFill>
              <a:srgbClr val="DCE3EB"/>
            </a:solidFill>
            <a:prstDash val="solid"/>
          </a:ln>
          <a:effectLst>
            <a:outerShdw sx="100000" sy="100000" kx="0" ky="0" algn="bl" rotWithShape="0" blurRad="101600" dist="38100" dir="5400000">
              <a:srgbClr val="13243A">
                <a:alpha val="10000"/>
              </a:srgbClr>
            </a:outerShdw>
          </a:effectLst>
        </p:spPr>
      </p:sp>
      <p:sp>
        <p:nvSpPr>
          <p:cNvPr id="11" name="Shape 9"/>
          <p:cNvSpPr/>
          <p:nvPr/>
        </p:nvSpPr>
        <p:spPr>
          <a:xfrm>
            <a:off x="4600346" y="1865376"/>
            <a:ext cx="512064" cy="512064"/>
          </a:xfrm>
          <a:prstGeom prst="ellipse">
            <a:avLst/>
          </a:prstGeom>
          <a:solidFill>
            <a:srgbClr val="F7F2E9"/>
          </a:solidFill>
          <a:ln w="12700">
            <a:solidFill>
              <a:srgbClr val="C9AE82"/>
            </a:solidFill>
            <a:prstDash val="solid"/>
          </a:ln>
        </p:spPr>
      </p:sp>
      <p:sp>
        <p:nvSpPr>
          <p:cNvPr id="12" name="Text 10"/>
          <p:cNvSpPr/>
          <p:nvPr/>
        </p:nvSpPr>
        <p:spPr>
          <a:xfrm>
            <a:off x="4600346" y="1865376"/>
            <a:ext cx="512064" cy="512064"/>
          </a:xfrm>
          <a:prstGeom prst="rect">
            <a:avLst/>
          </a:prstGeom>
          <a:noFill/>
          <a:ln/>
        </p:spPr>
        <p:txBody>
          <a:bodyPr wrap="square" lIns="0" tIns="0" rIns="0" bIns="0" rtlCol="0" anchor="ctr"/>
          <a:lstStyle/>
          <a:p>
            <a:pPr algn="ctr" indent="0" marL="0">
              <a:buNone/>
            </a:pPr>
            <a:r>
              <a:rPr lang="en-US" sz="2000" b="1" dirty="0">
                <a:solidFill>
                  <a:srgbClr val="8A6B3C"/>
                </a:solidFill>
                <a:latin typeface="Cambria" pitchFamily="34" charset="0"/>
                <a:ea typeface="Cambria" pitchFamily="34" charset="-122"/>
                <a:cs typeface="Cambria" pitchFamily="34" charset="-120"/>
              </a:rPr>
              <a:t>2</a:t>
            </a:r>
            <a:endParaRPr lang="en-US" sz="2000" dirty="0"/>
          </a:p>
        </p:txBody>
      </p:sp>
      <p:sp>
        <p:nvSpPr>
          <p:cNvPr id="13" name="Text 11"/>
          <p:cNvSpPr/>
          <p:nvPr/>
        </p:nvSpPr>
        <p:spPr>
          <a:xfrm>
            <a:off x="5277002" y="1901952"/>
            <a:ext cx="2369210" cy="457200"/>
          </a:xfrm>
          <a:prstGeom prst="rect">
            <a:avLst/>
          </a:prstGeom>
          <a:noFill/>
          <a:ln/>
        </p:spPr>
        <p:txBody>
          <a:bodyPr wrap="square" lIns="0" tIns="0" rIns="0" bIns="0" rtlCol="0" anchor="ctr"/>
          <a:lstStyle/>
          <a:p>
            <a:pPr indent="0" marL="0">
              <a:lnSpc>
                <a:spcPct val="96000"/>
              </a:lnSpc>
              <a:buNone/>
            </a:pPr>
            <a:r>
              <a:rPr lang="en-US" sz="1400" b="1" dirty="0">
                <a:solidFill>
                  <a:srgbClr val="0B2545"/>
                </a:solidFill>
                <a:latin typeface="Cambria" pitchFamily="34" charset="0"/>
                <a:ea typeface="Cambria" pitchFamily="34" charset="-122"/>
                <a:cs typeface="Cambria" pitchFamily="34" charset="-120"/>
              </a:rPr>
              <a:t>Bolt-on tickets only</a:t>
            </a:r>
            <a:endParaRPr lang="en-US" sz="1400" dirty="0"/>
          </a:p>
        </p:txBody>
      </p:sp>
      <p:sp>
        <p:nvSpPr>
          <p:cNvPr id="14" name="Text 12"/>
          <p:cNvSpPr/>
          <p:nvPr/>
        </p:nvSpPr>
        <p:spPr>
          <a:xfrm>
            <a:off x="4618634" y="2505456"/>
            <a:ext cx="2972714" cy="822960"/>
          </a:xfrm>
          <a:prstGeom prst="rect">
            <a:avLst/>
          </a:prstGeom>
          <a:noFill/>
          <a:ln/>
        </p:spPr>
        <p:txBody>
          <a:bodyPr wrap="square" lIns="0" tIns="0" rIns="0" bIns="0" rtlCol="0" anchor="t"/>
          <a:lstStyle/>
          <a:p>
            <a:pPr indent="0" marL="0">
              <a:lnSpc>
                <a:spcPct val="103000"/>
              </a:lnSpc>
              <a:buNone/>
            </a:pPr>
            <a:r>
              <a:rPr lang="en-US" sz="1050" dirty="0">
                <a:solidFill>
                  <a:srgbClr val="3D4A57"/>
                </a:solidFill>
                <a:latin typeface="Calibri" pitchFamily="34" charset="0"/>
                <a:ea typeface="Calibri" pitchFamily="34" charset="-122"/>
                <a:cs typeface="Calibri" pitchFamily="34" charset="-120"/>
              </a:rPr>
              <a:t>Target roughly Rs 50 Cr to Rs 300 Cr per deal. No transformational, balance-sheet-betting acquisitions.</a:t>
            </a:r>
            <a:endParaRPr lang="en-US" sz="1050" dirty="0"/>
          </a:p>
        </p:txBody>
      </p:sp>
      <p:sp>
        <p:nvSpPr>
          <p:cNvPr id="15" name="Shape 13"/>
          <p:cNvSpPr/>
          <p:nvPr/>
        </p:nvSpPr>
        <p:spPr>
          <a:xfrm>
            <a:off x="8085125" y="1627632"/>
            <a:ext cx="3466490" cy="1810512"/>
          </a:xfrm>
          <a:prstGeom prst="roundRect">
            <a:avLst>
              <a:gd name="adj" fmla="val 2525"/>
            </a:avLst>
          </a:prstGeom>
          <a:solidFill>
            <a:srgbClr val="F4F6F9"/>
          </a:solidFill>
          <a:ln w="12700">
            <a:solidFill>
              <a:srgbClr val="DCE3EB"/>
            </a:solidFill>
            <a:prstDash val="solid"/>
          </a:ln>
          <a:effectLst>
            <a:outerShdw sx="100000" sy="100000" kx="0" ky="0" algn="bl" rotWithShape="0" blurRad="101600" dist="38100" dir="5400000">
              <a:srgbClr val="13243A">
                <a:alpha val="10000"/>
              </a:srgbClr>
            </a:outerShdw>
          </a:effectLst>
        </p:spPr>
      </p:sp>
      <p:sp>
        <p:nvSpPr>
          <p:cNvPr id="16" name="Shape 14"/>
          <p:cNvSpPr/>
          <p:nvPr/>
        </p:nvSpPr>
        <p:spPr>
          <a:xfrm>
            <a:off x="8322869" y="1865376"/>
            <a:ext cx="512064" cy="512064"/>
          </a:xfrm>
          <a:prstGeom prst="ellipse">
            <a:avLst/>
          </a:prstGeom>
          <a:solidFill>
            <a:srgbClr val="F7F2E9"/>
          </a:solidFill>
          <a:ln w="12700">
            <a:solidFill>
              <a:srgbClr val="C9AE82"/>
            </a:solidFill>
            <a:prstDash val="solid"/>
          </a:ln>
        </p:spPr>
      </p:sp>
      <p:sp>
        <p:nvSpPr>
          <p:cNvPr id="17" name="Text 15"/>
          <p:cNvSpPr/>
          <p:nvPr/>
        </p:nvSpPr>
        <p:spPr>
          <a:xfrm>
            <a:off x="8322869" y="1865376"/>
            <a:ext cx="512064" cy="512064"/>
          </a:xfrm>
          <a:prstGeom prst="rect">
            <a:avLst/>
          </a:prstGeom>
          <a:noFill/>
          <a:ln/>
        </p:spPr>
        <p:txBody>
          <a:bodyPr wrap="square" lIns="0" tIns="0" rIns="0" bIns="0" rtlCol="0" anchor="ctr"/>
          <a:lstStyle/>
          <a:p>
            <a:pPr algn="ctr" indent="0" marL="0">
              <a:buNone/>
            </a:pPr>
            <a:r>
              <a:rPr lang="en-US" sz="2000" b="1" dirty="0">
                <a:solidFill>
                  <a:srgbClr val="8A6B3C"/>
                </a:solidFill>
                <a:latin typeface="Cambria" pitchFamily="34" charset="0"/>
                <a:ea typeface="Cambria" pitchFamily="34" charset="-122"/>
                <a:cs typeface="Cambria" pitchFamily="34" charset="-120"/>
              </a:rPr>
              <a:t>3</a:t>
            </a:r>
            <a:endParaRPr lang="en-US" sz="2000" dirty="0"/>
          </a:p>
        </p:txBody>
      </p:sp>
      <p:sp>
        <p:nvSpPr>
          <p:cNvPr id="18" name="Text 16"/>
          <p:cNvSpPr/>
          <p:nvPr/>
        </p:nvSpPr>
        <p:spPr>
          <a:xfrm>
            <a:off x="8999525" y="1901952"/>
            <a:ext cx="2369210" cy="457200"/>
          </a:xfrm>
          <a:prstGeom prst="rect">
            <a:avLst/>
          </a:prstGeom>
          <a:noFill/>
          <a:ln/>
        </p:spPr>
        <p:txBody>
          <a:bodyPr wrap="square" lIns="0" tIns="0" rIns="0" bIns="0" rtlCol="0" anchor="ctr"/>
          <a:lstStyle/>
          <a:p>
            <a:pPr indent="0" marL="0">
              <a:lnSpc>
                <a:spcPct val="96000"/>
              </a:lnSpc>
              <a:buNone/>
            </a:pPr>
            <a:r>
              <a:rPr lang="en-US" sz="1400" b="1" dirty="0">
                <a:solidFill>
                  <a:srgbClr val="0B2545"/>
                </a:solidFill>
                <a:latin typeface="Cambria" pitchFamily="34" charset="0"/>
                <a:ea typeface="Cambria" pitchFamily="34" charset="-122"/>
                <a:cs typeface="Cambria" pitchFamily="34" charset="-120"/>
              </a:rPr>
              <a:t>Stock-led consideration</a:t>
            </a:r>
            <a:endParaRPr lang="en-US" sz="1400" dirty="0"/>
          </a:p>
        </p:txBody>
      </p:sp>
      <p:sp>
        <p:nvSpPr>
          <p:cNvPr id="19" name="Text 17"/>
          <p:cNvSpPr/>
          <p:nvPr/>
        </p:nvSpPr>
        <p:spPr>
          <a:xfrm>
            <a:off x="8341157" y="2505456"/>
            <a:ext cx="2972714" cy="822960"/>
          </a:xfrm>
          <a:prstGeom prst="rect">
            <a:avLst/>
          </a:prstGeom>
          <a:noFill/>
          <a:ln/>
        </p:spPr>
        <p:txBody>
          <a:bodyPr wrap="square" lIns="0" tIns="0" rIns="0" bIns="0" rtlCol="0" anchor="t"/>
          <a:lstStyle/>
          <a:p>
            <a:pPr indent="0" marL="0">
              <a:lnSpc>
                <a:spcPct val="103000"/>
              </a:lnSpc>
              <a:buNone/>
            </a:pPr>
            <a:r>
              <a:rPr lang="en-US" sz="1050" dirty="0">
                <a:solidFill>
                  <a:srgbClr val="3D4A57"/>
                </a:solidFill>
                <a:latin typeface="Calibri" pitchFamily="34" charset="0"/>
                <a:ea typeface="Calibri" pitchFamily="34" charset="-122"/>
                <a:cs typeface="Calibri" pitchFamily="34" charset="-120"/>
              </a:rPr>
              <a:t>Lead with equity and earnouts to preserve the cash buffer and align sellers to future value.</a:t>
            </a:r>
            <a:endParaRPr lang="en-US" sz="1050" dirty="0"/>
          </a:p>
        </p:txBody>
      </p:sp>
      <p:sp>
        <p:nvSpPr>
          <p:cNvPr id="20" name="Shape 18"/>
          <p:cNvSpPr/>
          <p:nvPr/>
        </p:nvSpPr>
        <p:spPr>
          <a:xfrm>
            <a:off x="640080" y="3749040"/>
            <a:ext cx="3466490" cy="1810512"/>
          </a:xfrm>
          <a:prstGeom prst="roundRect">
            <a:avLst>
              <a:gd name="adj" fmla="val 2525"/>
            </a:avLst>
          </a:prstGeom>
          <a:solidFill>
            <a:srgbClr val="F4F6F9"/>
          </a:solidFill>
          <a:ln w="12700">
            <a:solidFill>
              <a:srgbClr val="DCE3EB"/>
            </a:solidFill>
            <a:prstDash val="solid"/>
          </a:ln>
          <a:effectLst>
            <a:outerShdw sx="100000" sy="100000" kx="0" ky="0" algn="bl" rotWithShape="0" blurRad="101600" dist="38100" dir="5400000">
              <a:srgbClr val="13243A">
                <a:alpha val="10000"/>
              </a:srgbClr>
            </a:outerShdw>
          </a:effectLst>
        </p:spPr>
      </p:sp>
      <p:sp>
        <p:nvSpPr>
          <p:cNvPr id="21" name="Shape 19"/>
          <p:cNvSpPr/>
          <p:nvPr/>
        </p:nvSpPr>
        <p:spPr>
          <a:xfrm>
            <a:off x="877824" y="3986784"/>
            <a:ext cx="512064" cy="512064"/>
          </a:xfrm>
          <a:prstGeom prst="ellipse">
            <a:avLst/>
          </a:prstGeom>
          <a:solidFill>
            <a:srgbClr val="F7F2E9"/>
          </a:solidFill>
          <a:ln w="12700">
            <a:solidFill>
              <a:srgbClr val="C9AE82"/>
            </a:solidFill>
            <a:prstDash val="solid"/>
          </a:ln>
        </p:spPr>
      </p:sp>
      <p:sp>
        <p:nvSpPr>
          <p:cNvPr id="22" name="Text 20"/>
          <p:cNvSpPr/>
          <p:nvPr/>
        </p:nvSpPr>
        <p:spPr>
          <a:xfrm>
            <a:off x="877824" y="3986784"/>
            <a:ext cx="512064" cy="512064"/>
          </a:xfrm>
          <a:prstGeom prst="rect">
            <a:avLst/>
          </a:prstGeom>
          <a:noFill/>
          <a:ln/>
        </p:spPr>
        <p:txBody>
          <a:bodyPr wrap="square" lIns="0" tIns="0" rIns="0" bIns="0" rtlCol="0" anchor="ctr"/>
          <a:lstStyle/>
          <a:p>
            <a:pPr algn="ctr" indent="0" marL="0">
              <a:buNone/>
            </a:pPr>
            <a:r>
              <a:rPr lang="en-US" sz="2000" b="1" dirty="0">
                <a:solidFill>
                  <a:srgbClr val="8A6B3C"/>
                </a:solidFill>
                <a:latin typeface="Cambria" pitchFamily="34" charset="0"/>
                <a:ea typeface="Cambria" pitchFamily="34" charset="-122"/>
                <a:cs typeface="Cambria" pitchFamily="34" charset="-120"/>
              </a:rPr>
              <a:t>4</a:t>
            </a:r>
            <a:endParaRPr lang="en-US" sz="2000" dirty="0"/>
          </a:p>
        </p:txBody>
      </p:sp>
      <p:sp>
        <p:nvSpPr>
          <p:cNvPr id="23" name="Text 21"/>
          <p:cNvSpPr/>
          <p:nvPr/>
        </p:nvSpPr>
        <p:spPr>
          <a:xfrm>
            <a:off x="1554480" y="4023360"/>
            <a:ext cx="2369210" cy="457200"/>
          </a:xfrm>
          <a:prstGeom prst="rect">
            <a:avLst/>
          </a:prstGeom>
          <a:noFill/>
          <a:ln/>
        </p:spPr>
        <p:txBody>
          <a:bodyPr wrap="square" lIns="0" tIns="0" rIns="0" bIns="0" rtlCol="0" anchor="ctr"/>
          <a:lstStyle/>
          <a:p>
            <a:pPr indent="0" marL="0">
              <a:lnSpc>
                <a:spcPct val="96000"/>
              </a:lnSpc>
              <a:buNone/>
            </a:pPr>
            <a:r>
              <a:rPr lang="en-US" sz="1400" b="1" dirty="0">
                <a:solidFill>
                  <a:srgbClr val="0B2545"/>
                </a:solidFill>
                <a:latin typeface="Cambria" pitchFamily="34" charset="0"/>
                <a:ea typeface="Cambria" pitchFamily="34" charset="-122"/>
                <a:cs typeface="Cambria" pitchFamily="34" charset="-120"/>
              </a:rPr>
              <a:t>Profitability is protected</a:t>
            </a:r>
            <a:endParaRPr lang="en-US" sz="1400" dirty="0"/>
          </a:p>
        </p:txBody>
      </p:sp>
      <p:sp>
        <p:nvSpPr>
          <p:cNvPr id="24" name="Text 22"/>
          <p:cNvSpPr/>
          <p:nvPr/>
        </p:nvSpPr>
        <p:spPr>
          <a:xfrm>
            <a:off x="896112" y="4626864"/>
            <a:ext cx="2972714" cy="822960"/>
          </a:xfrm>
          <a:prstGeom prst="rect">
            <a:avLst/>
          </a:prstGeom>
          <a:noFill/>
          <a:ln/>
        </p:spPr>
        <p:txBody>
          <a:bodyPr wrap="square" lIns="0" tIns="0" rIns="0" bIns="0" rtlCol="0" anchor="t"/>
          <a:lstStyle/>
          <a:p>
            <a:pPr indent="0" marL="0">
              <a:lnSpc>
                <a:spcPct val="103000"/>
              </a:lnSpc>
              <a:buNone/>
            </a:pPr>
            <a:r>
              <a:rPr lang="en-US" sz="1050" dirty="0">
                <a:solidFill>
                  <a:srgbClr val="3D4A57"/>
                </a:solidFill>
                <a:latin typeface="Calibri" pitchFamily="34" charset="0"/>
                <a:ea typeface="Calibri" pitchFamily="34" charset="-122"/>
                <a:cs typeface="Calibri" pitchFamily="34" charset="-120"/>
              </a:rPr>
              <a:t>Every deal must be EBITDA-neutral to the group within about four to six quarters.</a:t>
            </a:r>
            <a:endParaRPr lang="en-US" sz="1050" dirty="0"/>
          </a:p>
        </p:txBody>
      </p:sp>
      <p:sp>
        <p:nvSpPr>
          <p:cNvPr id="25" name="Shape 23"/>
          <p:cNvSpPr/>
          <p:nvPr/>
        </p:nvSpPr>
        <p:spPr>
          <a:xfrm>
            <a:off x="4362602" y="3749040"/>
            <a:ext cx="3466490" cy="1810512"/>
          </a:xfrm>
          <a:prstGeom prst="roundRect">
            <a:avLst>
              <a:gd name="adj" fmla="val 2525"/>
            </a:avLst>
          </a:prstGeom>
          <a:solidFill>
            <a:srgbClr val="F4F6F9"/>
          </a:solidFill>
          <a:ln w="12700">
            <a:solidFill>
              <a:srgbClr val="DCE3EB"/>
            </a:solidFill>
            <a:prstDash val="solid"/>
          </a:ln>
          <a:effectLst>
            <a:outerShdw sx="100000" sy="100000" kx="0" ky="0" algn="bl" rotWithShape="0" blurRad="101600" dist="38100" dir="5400000">
              <a:srgbClr val="13243A">
                <a:alpha val="10000"/>
              </a:srgbClr>
            </a:outerShdw>
          </a:effectLst>
        </p:spPr>
      </p:sp>
      <p:sp>
        <p:nvSpPr>
          <p:cNvPr id="26" name="Shape 24"/>
          <p:cNvSpPr/>
          <p:nvPr/>
        </p:nvSpPr>
        <p:spPr>
          <a:xfrm>
            <a:off x="4600346" y="3986784"/>
            <a:ext cx="512064" cy="512064"/>
          </a:xfrm>
          <a:prstGeom prst="ellipse">
            <a:avLst/>
          </a:prstGeom>
          <a:solidFill>
            <a:srgbClr val="F7F2E9"/>
          </a:solidFill>
          <a:ln w="12700">
            <a:solidFill>
              <a:srgbClr val="C9AE82"/>
            </a:solidFill>
            <a:prstDash val="solid"/>
          </a:ln>
        </p:spPr>
      </p:sp>
      <p:sp>
        <p:nvSpPr>
          <p:cNvPr id="27" name="Text 25"/>
          <p:cNvSpPr/>
          <p:nvPr/>
        </p:nvSpPr>
        <p:spPr>
          <a:xfrm>
            <a:off x="4600346" y="3986784"/>
            <a:ext cx="512064" cy="512064"/>
          </a:xfrm>
          <a:prstGeom prst="rect">
            <a:avLst/>
          </a:prstGeom>
          <a:noFill/>
          <a:ln/>
        </p:spPr>
        <p:txBody>
          <a:bodyPr wrap="square" lIns="0" tIns="0" rIns="0" bIns="0" rtlCol="0" anchor="ctr"/>
          <a:lstStyle/>
          <a:p>
            <a:pPr algn="ctr" indent="0" marL="0">
              <a:buNone/>
            </a:pPr>
            <a:r>
              <a:rPr lang="en-US" sz="2000" b="1" dirty="0">
                <a:solidFill>
                  <a:srgbClr val="8A6B3C"/>
                </a:solidFill>
                <a:latin typeface="Cambria" pitchFamily="34" charset="0"/>
                <a:ea typeface="Cambria" pitchFamily="34" charset="-122"/>
                <a:cs typeface="Cambria" pitchFamily="34" charset="-120"/>
              </a:rPr>
              <a:t>5</a:t>
            </a:r>
            <a:endParaRPr lang="en-US" sz="2000" dirty="0"/>
          </a:p>
        </p:txBody>
      </p:sp>
      <p:sp>
        <p:nvSpPr>
          <p:cNvPr id="28" name="Text 26"/>
          <p:cNvSpPr/>
          <p:nvPr/>
        </p:nvSpPr>
        <p:spPr>
          <a:xfrm>
            <a:off x="5277002" y="4023360"/>
            <a:ext cx="2369210" cy="457200"/>
          </a:xfrm>
          <a:prstGeom prst="rect">
            <a:avLst/>
          </a:prstGeom>
          <a:noFill/>
          <a:ln/>
        </p:spPr>
        <p:txBody>
          <a:bodyPr wrap="square" lIns="0" tIns="0" rIns="0" bIns="0" rtlCol="0" anchor="ctr"/>
          <a:lstStyle/>
          <a:p>
            <a:pPr indent="0" marL="0">
              <a:lnSpc>
                <a:spcPct val="96000"/>
              </a:lnSpc>
              <a:buNone/>
            </a:pPr>
            <a:r>
              <a:rPr lang="en-US" sz="1400" b="1" dirty="0">
                <a:solidFill>
                  <a:srgbClr val="0B2545"/>
                </a:solidFill>
                <a:latin typeface="Cambria" pitchFamily="34" charset="0"/>
                <a:ea typeface="Cambria" pitchFamily="34" charset="-122"/>
                <a:cs typeface="Cambria" pitchFamily="34" charset="-120"/>
              </a:rPr>
              <a:t>Regulatory fit first</a:t>
            </a:r>
            <a:endParaRPr lang="en-US" sz="1400" dirty="0"/>
          </a:p>
        </p:txBody>
      </p:sp>
      <p:sp>
        <p:nvSpPr>
          <p:cNvPr id="29" name="Text 27"/>
          <p:cNvSpPr/>
          <p:nvPr/>
        </p:nvSpPr>
        <p:spPr>
          <a:xfrm>
            <a:off x="4618634" y="4626864"/>
            <a:ext cx="2972714" cy="822960"/>
          </a:xfrm>
          <a:prstGeom prst="rect">
            <a:avLst/>
          </a:prstGeom>
          <a:noFill/>
          <a:ln/>
        </p:spPr>
        <p:txBody>
          <a:bodyPr wrap="square" lIns="0" tIns="0" rIns="0" bIns="0" rtlCol="0" anchor="t"/>
          <a:lstStyle/>
          <a:p>
            <a:pPr indent="0" marL="0">
              <a:lnSpc>
                <a:spcPct val="103000"/>
              </a:lnSpc>
              <a:buNone/>
            </a:pPr>
            <a:r>
              <a:rPr lang="en-US" sz="1050" dirty="0">
                <a:solidFill>
                  <a:srgbClr val="3D4A57"/>
                </a:solidFill>
                <a:latin typeface="Calibri" pitchFamily="34" charset="0"/>
                <a:ea typeface="Calibri" pitchFamily="34" charset="-122"/>
                <a:cs typeface="Calibri" pitchFamily="34" charset="-120"/>
              </a:rPr>
              <a:t>Clear licence transfer and compliance risk before price is negotiated, not after.</a:t>
            </a:r>
            <a:endParaRPr lang="en-US" sz="1050" dirty="0"/>
          </a:p>
        </p:txBody>
      </p:sp>
      <p:sp>
        <p:nvSpPr>
          <p:cNvPr id="30" name="Shape 28"/>
          <p:cNvSpPr/>
          <p:nvPr/>
        </p:nvSpPr>
        <p:spPr>
          <a:xfrm>
            <a:off x="8085125" y="3749040"/>
            <a:ext cx="3466490" cy="1810512"/>
          </a:xfrm>
          <a:prstGeom prst="roundRect">
            <a:avLst>
              <a:gd name="adj" fmla="val 2525"/>
            </a:avLst>
          </a:prstGeom>
          <a:solidFill>
            <a:srgbClr val="F4F6F9"/>
          </a:solidFill>
          <a:ln w="12700">
            <a:solidFill>
              <a:srgbClr val="DCE3EB"/>
            </a:solidFill>
            <a:prstDash val="solid"/>
          </a:ln>
          <a:effectLst>
            <a:outerShdw sx="100000" sy="100000" kx="0" ky="0" algn="bl" rotWithShape="0" blurRad="101600" dist="38100" dir="5400000">
              <a:srgbClr val="13243A">
                <a:alpha val="10000"/>
              </a:srgbClr>
            </a:outerShdw>
          </a:effectLst>
        </p:spPr>
      </p:sp>
      <p:sp>
        <p:nvSpPr>
          <p:cNvPr id="31" name="Shape 29"/>
          <p:cNvSpPr/>
          <p:nvPr/>
        </p:nvSpPr>
        <p:spPr>
          <a:xfrm>
            <a:off x="8322869" y="3986784"/>
            <a:ext cx="512064" cy="512064"/>
          </a:xfrm>
          <a:prstGeom prst="ellipse">
            <a:avLst/>
          </a:prstGeom>
          <a:solidFill>
            <a:srgbClr val="F7F2E9"/>
          </a:solidFill>
          <a:ln w="12700">
            <a:solidFill>
              <a:srgbClr val="C9AE82"/>
            </a:solidFill>
            <a:prstDash val="solid"/>
          </a:ln>
        </p:spPr>
      </p:sp>
      <p:sp>
        <p:nvSpPr>
          <p:cNvPr id="32" name="Text 30"/>
          <p:cNvSpPr/>
          <p:nvPr/>
        </p:nvSpPr>
        <p:spPr>
          <a:xfrm>
            <a:off x="8322869" y="3986784"/>
            <a:ext cx="512064" cy="512064"/>
          </a:xfrm>
          <a:prstGeom prst="rect">
            <a:avLst/>
          </a:prstGeom>
          <a:noFill/>
          <a:ln/>
        </p:spPr>
        <p:txBody>
          <a:bodyPr wrap="square" lIns="0" tIns="0" rIns="0" bIns="0" rtlCol="0" anchor="ctr"/>
          <a:lstStyle/>
          <a:p>
            <a:pPr algn="ctr" indent="0" marL="0">
              <a:buNone/>
            </a:pPr>
            <a:r>
              <a:rPr lang="en-US" sz="2000" b="1" dirty="0">
                <a:solidFill>
                  <a:srgbClr val="8A6B3C"/>
                </a:solidFill>
                <a:latin typeface="Cambria" pitchFamily="34" charset="0"/>
                <a:ea typeface="Cambria" pitchFamily="34" charset="-122"/>
                <a:cs typeface="Cambria" pitchFamily="34" charset="-120"/>
              </a:rPr>
              <a:t>6</a:t>
            </a:r>
            <a:endParaRPr lang="en-US" sz="2000" dirty="0"/>
          </a:p>
        </p:txBody>
      </p:sp>
      <p:sp>
        <p:nvSpPr>
          <p:cNvPr id="33" name="Text 31"/>
          <p:cNvSpPr/>
          <p:nvPr/>
        </p:nvSpPr>
        <p:spPr>
          <a:xfrm>
            <a:off x="8999525" y="4023360"/>
            <a:ext cx="2369210" cy="457200"/>
          </a:xfrm>
          <a:prstGeom prst="rect">
            <a:avLst/>
          </a:prstGeom>
          <a:noFill/>
          <a:ln/>
        </p:spPr>
        <p:txBody>
          <a:bodyPr wrap="square" lIns="0" tIns="0" rIns="0" bIns="0" rtlCol="0" anchor="ctr"/>
          <a:lstStyle/>
          <a:p>
            <a:pPr indent="0" marL="0">
              <a:lnSpc>
                <a:spcPct val="96000"/>
              </a:lnSpc>
              <a:buNone/>
            </a:pPr>
            <a:r>
              <a:rPr lang="en-US" sz="1400" b="1" dirty="0">
                <a:solidFill>
                  <a:srgbClr val="0B2545"/>
                </a:solidFill>
                <a:latin typeface="Cambria" pitchFamily="34" charset="0"/>
                <a:ea typeface="Cambria" pitchFamily="34" charset="-122"/>
                <a:cs typeface="Cambria" pitchFamily="34" charset="-120"/>
              </a:rPr>
              <a:t>Sequence, do not stack</a:t>
            </a:r>
            <a:endParaRPr lang="en-US" sz="1400" dirty="0"/>
          </a:p>
        </p:txBody>
      </p:sp>
      <p:sp>
        <p:nvSpPr>
          <p:cNvPr id="34" name="Text 32"/>
          <p:cNvSpPr/>
          <p:nvPr/>
        </p:nvSpPr>
        <p:spPr>
          <a:xfrm>
            <a:off x="8341157" y="4626864"/>
            <a:ext cx="2972714" cy="822960"/>
          </a:xfrm>
          <a:prstGeom prst="rect">
            <a:avLst/>
          </a:prstGeom>
          <a:noFill/>
          <a:ln/>
        </p:spPr>
        <p:txBody>
          <a:bodyPr wrap="square" lIns="0" tIns="0" rIns="0" bIns="0" rtlCol="0" anchor="t"/>
          <a:lstStyle/>
          <a:p>
            <a:pPr indent="0" marL="0">
              <a:lnSpc>
                <a:spcPct val="103000"/>
              </a:lnSpc>
              <a:buNone/>
            </a:pPr>
            <a:r>
              <a:rPr lang="en-US" sz="1050" dirty="0">
                <a:solidFill>
                  <a:srgbClr val="3D4A57"/>
                </a:solidFill>
                <a:latin typeface="Calibri" pitchFamily="34" charset="0"/>
                <a:ea typeface="Calibri" pitchFamily="34" charset="-122"/>
                <a:cs typeface="Calibri" pitchFamily="34" charset="-120"/>
              </a:rPr>
              <a:t>At most one to two active integrations at a time, matched to real integration capacity.</a:t>
            </a:r>
            <a:endParaRPr lang="en-US" sz="1050" dirty="0"/>
          </a:p>
        </p:txBody>
      </p:sp>
      <p:sp>
        <p:nvSpPr>
          <p:cNvPr id="35" name="Text 33"/>
          <p:cNvSpPr/>
          <p:nvPr/>
        </p:nvSpPr>
        <p:spPr>
          <a:xfrm>
            <a:off x="640080" y="6492240"/>
            <a:ext cx="2743200" cy="237744"/>
          </a:xfrm>
          <a:prstGeom prst="rect">
            <a:avLst/>
          </a:prstGeom>
          <a:noFill/>
          <a:ln/>
        </p:spPr>
        <p:txBody>
          <a:bodyPr wrap="square" lIns="0" tIns="0" rIns="0" bIns="0" rtlCol="0" anchor="ctr"/>
          <a:lstStyle/>
          <a:p>
            <a:pPr indent="0" marL="0">
              <a:buNone/>
            </a:pPr>
            <a:r>
              <a:rPr lang="en-US" sz="750" b="1" spc="150" kern="0" dirty="0">
                <a:solidFill>
                  <a:srgbClr val="7A8794"/>
                </a:solidFill>
                <a:latin typeface="Calibri" pitchFamily="34" charset="0"/>
                <a:ea typeface="Calibri" pitchFamily="34" charset="-122"/>
                <a:cs typeface="Calibri" pitchFamily="34" charset="-120"/>
              </a:rPr>
              <a:t>PROJECT KEYSTONE</a:t>
            </a:r>
            <a:endParaRPr lang="en-US" sz="750" dirty="0"/>
          </a:p>
        </p:txBody>
      </p:sp>
      <p:sp>
        <p:nvSpPr>
          <p:cNvPr id="36" name="Text 34"/>
          <p:cNvSpPr/>
          <p:nvPr/>
        </p:nvSpPr>
        <p:spPr>
          <a:xfrm>
            <a:off x="3352648" y="6492240"/>
            <a:ext cx="5486400" cy="237744"/>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Strictly private and confidential  ·  Illustrative</a:t>
            </a:r>
            <a:endParaRPr lang="en-US" sz="750" dirty="0"/>
          </a:p>
        </p:txBody>
      </p:sp>
      <p:sp>
        <p:nvSpPr>
          <p:cNvPr id="37" name="Text 35"/>
          <p:cNvSpPr/>
          <p:nvPr/>
        </p:nvSpPr>
        <p:spPr>
          <a:xfrm>
            <a:off x="11094415" y="6492240"/>
            <a:ext cx="457200" cy="237744"/>
          </a:xfrm>
          <a:prstGeom prst="rect">
            <a:avLst/>
          </a:prstGeom>
          <a:noFill/>
          <a:ln/>
        </p:spPr>
        <p:txBody>
          <a:bodyPr wrap="square" lIns="0" tIns="0" rIns="0" bIns="0" rtlCol="0" anchor="ctr"/>
          <a:lstStyle/>
          <a:p>
            <a:pPr algn="r" indent="0" marL="0">
              <a:buNone/>
            </a:pPr>
            <a:r>
              <a:rPr lang="en-US" sz="850" dirty="0">
                <a:solidFill>
                  <a:srgbClr val="7A8794"/>
                </a:solidFill>
                <a:latin typeface="Calibri" pitchFamily="34" charset="0"/>
                <a:ea typeface="Calibri" pitchFamily="34" charset="-122"/>
                <a:cs typeface="Calibri" pitchFamily="34" charset="-120"/>
              </a:rPr>
              <a:t>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A2E"/>
        </a:solidFill>
      </p:bgPr>
    </p:bg>
    <p:spTree>
      <p:nvGrpSpPr>
        <p:cNvPr id="1" name=""/>
        <p:cNvGrpSpPr/>
        <p:nvPr/>
      </p:nvGrpSpPr>
      <p:grpSpPr>
        <a:xfrm>
          <a:off x="0" y="0"/>
          <a:ext cx="0" cy="0"/>
          <a:chOff x="0" y="0"/>
          <a:chExt cx="0" cy="0"/>
        </a:xfrm>
      </p:grpSpPr>
      <p:sp>
        <p:nvSpPr>
          <p:cNvPr id="2" name="Shape 0"/>
          <p:cNvSpPr/>
          <p:nvPr/>
        </p:nvSpPr>
        <p:spPr>
          <a:xfrm>
            <a:off x="9418320" y="3474720"/>
            <a:ext cx="5120640" cy="5120640"/>
          </a:xfrm>
          <a:prstGeom prst="ellipse">
            <a:avLst/>
          </a:prstGeom>
          <a:solidFill>
            <a:srgbClr val="0D2138"/>
          </a:solidFill>
          <a:ln/>
        </p:spPr>
      </p:sp>
      <p:sp>
        <p:nvSpPr>
          <p:cNvPr id="3" name="Shape 1"/>
          <p:cNvSpPr/>
          <p:nvPr/>
        </p:nvSpPr>
        <p:spPr>
          <a:xfrm>
            <a:off x="10607040" y="4480560"/>
            <a:ext cx="3291840" cy="3291840"/>
          </a:xfrm>
          <a:prstGeom prst="ellipse">
            <a:avLst/>
          </a:prstGeom>
          <a:ln w="12700">
            <a:solidFill>
              <a:srgbClr val="8A6B3C"/>
            </a:solidFill>
            <a:prstDash val="solid"/>
          </a:ln>
        </p:spPr>
      </p:sp>
      <p:sp>
        <p:nvSpPr>
          <p:cNvPr id="4" name="Text 2"/>
          <p:cNvSpPr/>
          <p:nvPr/>
        </p:nvSpPr>
        <p:spPr>
          <a:xfrm>
            <a:off x="640080" y="2468880"/>
            <a:ext cx="8229600" cy="274320"/>
          </a:xfrm>
          <a:prstGeom prst="rect">
            <a:avLst/>
          </a:prstGeom>
          <a:noFill/>
          <a:ln/>
        </p:spPr>
        <p:txBody>
          <a:bodyPr wrap="square" lIns="0" tIns="0" rIns="0" bIns="0" rtlCol="0" anchor="ctr"/>
          <a:lstStyle/>
          <a:p>
            <a:pPr indent="0" marL="0">
              <a:buNone/>
            </a:pPr>
            <a:r>
              <a:rPr lang="en-US" sz="1200" b="1" spc="300" kern="0" dirty="0">
                <a:solidFill>
                  <a:srgbClr val="B08D57"/>
                </a:solidFill>
                <a:latin typeface="Calibri" pitchFamily="34" charset="0"/>
                <a:ea typeface="Calibri" pitchFamily="34" charset="-122"/>
                <a:cs typeface="Calibri" pitchFamily="34" charset="-120"/>
              </a:rPr>
              <a:t>SECTION II</a:t>
            </a:r>
            <a:endParaRPr lang="en-US" sz="1200" dirty="0"/>
          </a:p>
        </p:txBody>
      </p:sp>
      <p:sp>
        <p:nvSpPr>
          <p:cNvPr id="5" name="Text 3"/>
          <p:cNvSpPr/>
          <p:nvPr/>
        </p:nvSpPr>
        <p:spPr>
          <a:xfrm>
            <a:off x="640080" y="2834640"/>
            <a:ext cx="10241280" cy="1097280"/>
          </a:xfrm>
          <a:prstGeom prst="rect">
            <a:avLst/>
          </a:prstGeom>
          <a:noFill/>
          <a:ln/>
        </p:spPr>
        <p:txBody>
          <a:bodyPr wrap="square" lIns="0" tIns="0" rIns="0" bIns="0" rtlCol="0" anchor="ctr"/>
          <a:lstStyle/>
          <a:p>
            <a:pPr indent="0" marL="0">
              <a:lnSpc>
                <a:spcPct val="100000"/>
              </a:lnSpc>
              <a:buNone/>
            </a:pPr>
            <a:r>
              <a:rPr lang="en-US" sz="3400" b="1" dirty="0">
                <a:solidFill>
                  <a:srgbClr val="FFFFFF"/>
                </a:solidFill>
                <a:latin typeface="Cambria" pitchFamily="34" charset="0"/>
                <a:ea typeface="Cambria" pitchFamily="34" charset="-122"/>
                <a:cs typeface="Cambria" pitchFamily="34" charset="-120"/>
              </a:rPr>
              <a:t>II.  Target identification and screening</a:t>
            </a:r>
            <a:endParaRPr lang="en-US" sz="3400" dirty="0"/>
          </a:p>
        </p:txBody>
      </p:sp>
      <p:sp>
        <p:nvSpPr>
          <p:cNvPr id="6" name="Text 4"/>
          <p:cNvSpPr/>
          <p:nvPr/>
        </p:nvSpPr>
        <p:spPr>
          <a:xfrm>
            <a:off x="640080" y="3977640"/>
            <a:ext cx="9326880" cy="548640"/>
          </a:xfrm>
          <a:prstGeom prst="rect">
            <a:avLst/>
          </a:prstGeom>
          <a:noFill/>
          <a:ln/>
        </p:spPr>
        <p:txBody>
          <a:bodyPr wrap="square" lIns="0" tIns="0" rIns="0" bIns="0" rtlCol="0" anchor="ctr"/>
          <a:lstStyle/>
          <a:p>
            <a:pPr indent="0" marL="0">
              <a:buNone/>
            </a:pPr>
            <a:r>
              <a:rPr lang="en-US" sz="1350" i="1" dirty="0">
                <a:solidFill>
                  <a:srgbClr val="AFC0D6"/>
                </a:solidFill>
                <a:latin typeface="Calibri" pitchFamily="34" charset="0"/>
                <a:ea typeface="Calibri" pitchFamily="34" charset="-122"/>
                <a:cs typeface="Calibri" pitchFamily="34" charset="-120"/>
              </a:rPr>
              <a:t>From the universe to two recommended targets</a:t>
            </a:r>
            <a:endParaRPr lang="en-US" sz="1350" dirty="0"/>
          </a:p>
        </p:txBody>
      </p:sp>
      <p:sp>
        <p:nvSpPr>
          <p:cNvPr id="7" name="Text 5"/>
          <p:cNvSpPr/>
          <p:nvPr/>
        </p:nvSpPr>
        <p:spPr>
          <a:xfrm>
            <a:off x="640080" y="6492240"/>
            <a:ext cx="2743200" cy="237744"/>
          </a:xfrm>
          <a:prstGeom prst="rect">
            <a:avLst/>
          </a:prstGeom>
          <a:noFill/>
          <a:ln/>
        </p:spPr>
        <p:txBody>
          <a:bodyPr wrap="square" lIns="0" tIns="0" rIns="0" bIns="0" rtlCol="0" anchor="ctr"/>
          <a:lstStyle/>
          <a:p>
            <a:pPr indent="0" marL="0">
              <a:buNone/>
            </a:pPr>
            <a:r>
              <a:rPr lang="en-US" sz="750" b="1" spc="150" kern="0" dirty="0">
                <a:solidFill>
                  <a:srgbClr val="8895A6"/>
                </a:solidFill>
                <a:latin typeface="Calibri" pitchFamily="34" charset="0"/>
                <a:ea typeface="Calibri" pitchFamily="34" charset="-122"/>
                <a:cs typeface="Calibri" pitchFamily="34" charset="-120"/>
              </a:rPr>
              <a:t>PROJECT KEYSTONE</a:t>
            </a:r>
            <a:endParaRPr lang="en-US" sz="750" dirty="0"/>
          </a:p>
        </p:txBody>
      </p:sp>
      <p:sp>
        <p:nvSpPr>
          <p:cNvPr id="8" name="Text 6"/>
          <p:cNvSpPr/>
          <p:nvPr/>
        </p:nvSpPr>
        <p:spPr>
          <a:xfrm>
            <a:off x="3352648" y="6492240"/>
            <a:ext cx="5486400" cy="237744"/>
          </a:xfrm>
          <a:prstGeom prst="rect">
            <a:avLst/>
          </a:prstGeom>
          <a:noFill/>
          <a:ln/>
        </p:spPr>
        <p:txBody>
          <a:bodyPr wrap="square" lIns="0" tIns="0" rIns="0" bIns="0" rtlCol="0" anchor="ctr"/>
          <a:lstStyle/>
          <a:p>
            <a:pPr algn="ctr" indent="0" marL="0">
              <a:buNone/>
            </a:pPr>
            <a:r>
              <a:rPr lang="en-US" sz="750" dirty="0">
                <a:solidFill>
                  <a:srgbClr val="8895A6"/>
                </a:solidFill>
                <a:latin typeface="Calibri" pitchFamily="34" charset="0"/>
                <a:ea typeface="Calibri" pitchFamily="34" charset="-122"/>
                <a:cs typeface="Calibri" pitchFamily="34" charset="-120"/>
              </a:rPr>
              <a:t>Strictly private and confidential  ·  Illustrative</a:t>
            </a:r>
            <a:endParaRPr lang="en-US" sz="750" dirty="0"/>
          </a:p>
        </p:txBody>
      </p:sp>
      <p:sp>
        <p:nvSpPr>
          <p:cNvPr id="9" name="Text 7"/>
          <p:cNvSpPr/>
          <p:nvPr/>
        </p:nvSpPr>
        <p:spPr>
          <a:xfrm>
            <a:off x="11094415" y="6492240"/>
            <a:ext cx="457200" cy="237744"/>
          </a:xfrm>
          <a:prstGeom prst="rect">
            <a:avLst/>
          </a:prstGeom>
          <a:noFill/>
          <a:ln/>
        </p:spPr>
        <p:txBody>
          <a:bodyPr wrap="square" lIns="0" tIns="0" rIns="0" bIns="0" rtlCol="0" anchor="ctr"/>
          <a:lstStyle/>
          <a:p>
            <a:pPr algn="r" indent="0" marL="0">
              <a:buNone/>
            </a:pPr>
            <a:r>
              <a:rPr lang="en-US" sz="850" dirty="0">
                <a:solidFill>
                  <a:srgbClr val="8895A6"/>
                </a:solidFill>
                <a:latin typeface="Calibri" pitchFamily="34" charset="0"/>
                <a:ea typeface="Calibri" pitchFamily="34" charset="-122"/>
                <a:cs typeface="Calibri" pitchFamily="34" charset="-120"/>
              </a:rPr>
              <a:t>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20" kern="0" dirty="0">
                <a:solidFill>
                  <a:srgbClr val="8A6B3C"/>
                </a:solidFill>
                <a:latin typeface="Calibri" pitchFamily="34" charset="0"/>
                <a:ea typeface="Calibri" pitchFamily="34" charset="-122"/>
                <a:cs typeface="Calibri" pitchFamily="34" charset="-120"/>
              </a:rPr>
              <a:t>TARGET SCREENING</a:t>
            </a:r>
            <a:endParaRPr lang="en-US" sz="1100" dirty="0"/>
          </a:p>
        </p:txBody>
      </p:sp>
      <p:sp>
        <p:nvSpPr>
          <p:cNvPr id="3" name="Text 1"/>
          <p:cNvSpPr/>
          <p:nvPr/>
        </p:nvSpPr>
        <p:spPr>
          <a:xfrm>
            <a:off x="8808415" y="402336"/>
            <a:ext cx="2743200" cy="237744"/>
          </a:xfrm>
          <a:prstGeom prst="rect">
            <a:avLst/>
          </a:prstGeom>
          <a:noFill/>
          <a:ln/>
        </p:spPr>
        <p:txBody>
          <a:bodyPr wrap="square" lIns="0" tIns="0" rIns="0" bIns="0" rtlCol="0" anchor="ctr"/>
          <a:lstStyle/>
          <a:p>
            <a:pPr algn="r" indent="0" marL="0">
              <a:buNone/>
            </a:pPr>
            <a:r>
              <a:rPr lang="en-US" sz="950" b="1" spc="100" kern="0" dirty="0">
                <a:solidFill>
                  <a:srgbClr val="8A6B3C"/>
                </a:solidFill>
                <a:latin typeface="Calibri" pitchFamily="34" charset="0"/>
                <a:ea typeface="Calibri" pitchFamily="34" charset="-122"/>
                <a:cs typeface="Calibri" pitchFamily="34" charset="-120"/>
              </a:rPr>
              <a:t>Exhibit 5</a:t>
            </a:r>
            <a:endParaRPr lang="en-US" sz="950" dirty="0"/>
          </a:p>
        </p:txBody>
      </p:sp>
      <p:sp>
        <p:nvSpPr>
          <p:cNvPr id="4" name="Text 2"/>
          <p:cNvSpPr/>
          <p:nvPr/>
        </p:nvSpPr>
        <p:spPr>
          <a:xfrm>
            <a:off x="640080" y="658368"/>
            <a:ext cx="10911535" cy="566928"/>
          </a:xfrm>
          <a:prstGeom prst="rect">
            <a:avLst/>
          </a:prstGeom>
          <a:noFill/>
          <a:ln/>
        </p:spPr>
        <p:txBody>
          <a:bodyPr wrap="square" lIns="0" tIns="0" rIns="0" bIns="0" rtlCol="0" anchor="t"/>
          <a:lstStyle/>
          <a:p>
            <a:pPr indent="0" marL="0">
              <a:lnSpc>
                <a:spcPct val="98000"/>
              </a:lnSpc>
              <a:buNone/>
            </a:pPr>
            <a:r>
              <a:rPr lang="en-US" sz="2500" b="1" dirty="0">
                <a:solidFill>
                  <a:srgbClr val="0B2545"/>
                </a:solidFill>
                <a:latin typeface="Cambria" pitchFamily="34" charset="0"/>
                <a:ea typeface="Cambria" pitchFamily="34" charset="-122"/>
                <a:cs typeface="Cambria" pitchFamily="34" charset="-120"/>
              </a:rPr>
              <a:t>A structured screen narrows the universe to two</a:t>
            </a:r>
            <a:endParaRPr lang="en-US" sz="2500" dirty="0"/>
          </a:p>
        </p:txBody>
      </p:sp>
      <p:sp>
        <p:nvSpPr>
          <p:cNvPr id="5" name="Shape 3"/>
          <p:cNvSpPr/>
          <p:nvPr/>
        </p:nvSpPr>
        <p:spPr>
          <a:xfrm>
            <a:off x="640080" y="1572768"/>
            <a:ext cx="2788920" cy="603504"/>
          </a:xfrm>
          <a:prstGeom prst="rect">
            <a:avLst/>
          </a:prstGeom>
          <a:solidFill>
            <a:srgbClr val="0B2545"/>
          </a:solidFill>
          <a:ln/>
        </p:spPr>
      </p:sp>
      <p:sp>
        <p:nvSpPr>
          <p:cNvPr id="6" name="Text 4"/>
          <p:cNvSpPr/>
          <p:nvPr/>
        </p:nvSpPr>
        <p:spPr>
          <a:xfrm>
            <a:off x="786384" y="1572768"/>
            <a:ext cx="2514600" cy="603504"/>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Candidate</a:t>
            </a:r>
            <a:endParaRPr lang="en-US" sz="1100" dirty="0"/>
          </a:p>
        </p:txBody>
      </p:sp>
      <p:sp>
        <p:nvSpPr>
          <p:cNvPr id="7" name="Shape 5"/>
          <p:cNvSpPr/>
          <p:nvPr/>
        </p:nvSpPr>
        <p:spPr>
          <a:xfrm>
            <a:off x="3429000" y="1572768"/>
            <a:ext cx="1335024" cy="603504"/>
          </a:xfrm>
          <a:prstGeom prst="rect">
            <a:avLst/>
          </a:prstGeom>
          <a:solidFill>
            <a:srgbClr val="0B2545"/>
          </a:solidFill>
          <a:ln w="9525">
            <a:solidFill>
              <a:srgbClr val="1C3E63"/>
            </a:solidFill>
            <a:prstDash val="solid"/>
          </a:ln>
        </p:spPr>
      </p:sp>
      <p:sp>
        <p:nvSpPr>
          <p:cNvPr id="8" name="Text 6"/>
          <p:cNvSpPr/>
          <p:nvPr/>
        </p:nvSpPr>
        <p:spPr>
          <a:xfrm>
            <a:off x="3483864" y="1572768"/>
            <a:ext cx="1225296" cy="603504"/>
          </a:xfrm>
          <a:prstGeom prst="rect">
            <a:avLst/>
          </a:prstGeom>
          <a:noFill/>
          <a:ln/>
        </p:spPr>
        <p:txBody>
          <a:bodyPr wrap="square" lIns="0" tIns="0" rIns="0" bIns="0" rtlCol="0" anchor="ctr"/>
          <a:lstStyle/>
          <a:p>
            <a:pPr algn="ctr" indent="0" marL="0">
              <a:lnSpc>
                <a:spcPct val="92000"/>
              </a:lnSpc>
              <a:buNone/>
            </a:pPr>
            <a:r>
              <a:rPr lang="en-US" sz="880" b="1" dirty="0">
                <a:solidFill>
                  <a:srgbClr val="DCE6F1"/>
                </a:solidFill>
                <a:latin typeface="Calibri" pitchFamily="34" charset="0"/>
                <a:ea typeface="Calibri" pitchFamily="34" charset="-122"/>
                <a:cs typeface="Calibri" pitchFamily="34" charset="-120"/>
              </a:rPr>
              <a:t>Strategic</a:t>
            </a:r>
            <a:endParaRPr lang="en-US" sz="880" dirty="0"/>
          </a:p>
          <a:p>
            <a:pPr algn="ctr" indent="0" marL="0">
              <a:lnSpc>
                <a:spcPct val="92000"/>
              </a:lnSpc>
              <a:buNone/>
            </a:pPr>
            <a:r>
              <a:rPr lang="en-US" sz="880" b="1" dirty="0">
                <a:solidFill>
                  <a:srgbClr val="DCE6F1"/>
                </a:solidFill>
                <a:latin typeface="Calibri" pitchFamily="34" charset="0"/>
                <a:ea typeface="Calibri" pitchFamily="34" charset="-122"/>
                <a:cs typeface="Calibri" pitchFamily="34" charset="-120"/>
              </a:rPr>
              <a:t>fit</a:t>
            </a:r>
            <a:endParaRPr lang="en-US" sz="880" dirty="0"/>
          </a:p>
        </p:txBody>
      </p:sp>
      <p:sp>
        <p:nvSpPr>
          <p:cNvPr id="9" name="Shape 7"/>
          <p:cNvSpPr/>
          <p:nvPr/>
        </p:nvSpPr>
        <p:spPr>
          <a:xfrm>
            <a:off x="4764024" y="1572768"/>
            <a:ext cx="1335024" cy="603504"/>
          </a:xfrm>
          <a:prstGeom prst="rect">
            <a:avLst/>
          </a:prstGeom>
          <a:solidFill>
            <a:srgbClr val="0B2545"/>
          </a:solidFill>
          <a:ln w="9525">
            <a:solidFill>
              <a:srgbClr val="1C3E63"/>
            </a:solidFill>
            <a:prstDash val="solid"/>
          </a:ln>
        </p:spPr>
      </p:sp>
      <p:sp>
        <p:nvSpPr>
          <p:cNvPr id="10" name="Text 8"/>
          <p:cNvSpPr/>
          <p:nvPr/>
        </p:nvSpPr>
        <p:spPr>
          <a:xfrm>
            <a:off x="4818888" y="1572768"/>
            <a:ext cx="1225296" cy="603504"/>
          </a:xfrm>
          <a:prstGeom prst="rect">
            <a:avLst/>
          </a:prstGeom>
          <a:noFill/>
          <a:ln/>
        </p:spPr>
        <p:txBody>
          <a:bodyPr wrap="square" lIns="0" tIns="0" rIns="0" bIns="0" rtlCol="0" anchor="ctr"/>
          <a:lstStyle/>
          <a:p>
            <a:pPr algn="ctr" indent="0" marL="0">
              <a:lnSpc>
                <a:spcPct val="92000"/>
              </a:lnSpc>
              <a:buNone/>
            </a:pPr>
            <a:r>
              <a:rPr lang="en-US" sz="880" b="1" dirty="0">
                <a:solidFill>
                  <a:srgbClr val="DCE6F1"/>
                </a:solidFill>
                <a:latin typeface="Calibri" pitchFamily="34" charset="0"/>
                <a:ea typeface="Calibri" pitchFamily="34" charset="-122"/>
                <a:cs typeface="Calibri" pitchFamily="34" charset="-120"/>
              </a:rPr>
              <a:t>Capability /</a:t>
            </a:r>
            <a:endParaRPr lang="en-US" sz="880" dirty="0"/>
          </a:p>
          <a:p>
            <a:pPr algn="ctr" indent="0" marL="0">
              <a:lnSpc>
                <a:spcPct val="92000"/>
              </a:lnSpc>
              <a:buNone/>
            </a:pPr>
            <a:r>
              <a:rPr lang="en-US" sz="880" b="1" dirty="0">
                <a:solidFill>
                  <a:srgbClr val="DCE6F1"/>
                </a:solidFill>
                <a:latin typeface="Calibri" pitchFamily="34" charset="0"/>
                <a:ea typeface="Calibri" pitchFamily="34" charset="-122"/>
                <a:cs typeface="Calibri" pitchFamily="34" charset="-120"/>
              </a:rPr>
              <a:t>licence add</a:t>
            </a:r>
            <a:endParaRPr lang="en-US" sz="880" dirty="0"/>
          </a:p>
        </p:txBody>
      </p:sp>
      <p:sp>
        <p:nvSpPr>
          <p:cNvPr id="11" name="Shape 9"/>
          <p:cNvSpPr/>
          <p:nvPr/>
        </p:nvSpPr>
        <p:spPr>
          <a:xfrm>
            <a:off x="6099048" y="1572768"/>
            <a:ext cx="1335024" cy="603504"/>
          </a:xfrm>
          <a:prstGeom prst="rect">
            <a:avLst/>
          </a:prstGeom>
          <a:solidFill>
            <a:srgbClr val="0B2545"/>
          </a:solidFill>
          <a:ln w="9525">
            <a:solidFill>
              <a:srgbClr val="1C3E63"/>
            </a:solidFill>
            <a:prstDash val="solid"/>
          </a:ln>
        </p:spPr>
      </p:sp>
      <p:sp>
        <p:nvSpPr>
          <p:cNvPr id="12" name="Text 10"/>
          <p:cNvSpPr/>
          <p:nvPr/>
        </p:nvSpPr>
        <p:spPr>
          <a:xfrm>
            <a:off x="6153912" y="1572768"/>
            <a:ext cx="1225296" cy="603504"/>
          </a:xfrm>
          <a:prstGeom prst="rect">
            <a:avLst/>
          </a:prstGeom>
          <a:noFill/>
          <a:ln/>
        </p:spPr>
        <p:txBody>
          <a:bodyPr wrap="square" lIns="0" tIns="0" rIns="0" bIns="0" rtlCol="0" anchor="ctr"/>
          <a:lstStyle/>
          <a:p>
            <a:pPr algn="ctr" indent="0" marL="0">
              <a:lnSpc>
                <a:spcPct val="92000"/>
              </a:lnSpc>
              <a:buNone/>
            </a:pPr>
            <a:r>
              <a:rPr lang="en-US" sz="880" b="1" dirty="0">
                <a:solidFill>
                  <a:srgbClr val="DCE6F1"/>
                </a:solidFill>
                <a:latin typeface="Calibri" pitchFamily="34" charset="0"/>
                <a:ea typeface="Calibri" pitchFamily="34" charset="-122"/>
                <a:cs typeface="Calibri" pitchFamily="34" charset="-120"/>
              </a:rPr>
              <a:t>Affordability</a:t>
            </a:r>
            <a:endParaRPr lang="en-US" sz="880" dirty="0"/>
          </a:p>
        </p:txBody>
      </p:sp>
      <p:sp>
        <p:nvSpPr>
          <p:cNvPr id="13" name="Shape 11"/>
          <p:cNvSpPr/>
          <p:nvPr/>
        </p:nvSpPr>
        <p:spPr>
          <a:xfrm>
            <a:off x="7434072" y="1572768"/>
            <a:ext cx="1335024" cy="603504"/>
          </a:xfrm>
          <a:prstGeom prst="rect">
            <a:avLst/>
          </a:prstGeom>
          <a:solidFill>
            <a:srgbClr val="0B2545"/>
          </a:solidFill>
          <a:ln w="9525">
            <a:solidFill>
              <a:srgbClr val="1C3E63"/>
            </a:solidFill>
            <a:prstDash val="solid"/>
          </a:ln>
        </p:spPr>
      </p:sp>
      <p:sp>
        <p:nvSpPr>
          <p:cNvPr id="14" name="Text 12"/>
          <p:cNvSpPr/>
          <p:nvPr/>
        </p:nvSpPr>
        <p:spPr>
          <a:xfrm>
            <a:off x="7488936" y="1572768"/>
            <a:ext cx="1225296" cy="603504"/>
          </a:xfrm>
          <a:prstGeom prst="rect">
            <a:avLst/>
          </a:prstGeom>
          <a:noFill/>
          <a:ln/>
        </p:spPr>
        <p:txBody>
          <a:bodyPr wrap="square" lIns="0" tIns="0" rIns="0" bIns="0" rtlCol="0" anchor="ctr"/>
          <a:lstStyle/>
          <a:p>
            <a:pPr algn="ctr" indent="0" marL="0">
              <a:lnSpc>
                <a:spcPct val="92000"/>
              </a:lnSpc>
              <a:buNone/>
            </a:pPr>
            <a:r>
              <a:rPr lang="en-US" sz="880" b="1" dirty="0">
                <a:solidFill>
                  <a:srgbClr val="DCE6F1"/>
                </a:solidFill>
                <a:latin typeface="Calibri" pitchFamily="34" charset="0"/>
                <a:ea typeface="Calibri" pitchFamily="34" charset="-122"/>
                <a:cs typeface="Calibri" pitchFamily="34" charset="-120"/>
              </a:rPr>
              <a:t>Integration</a:t>
            </a:r>
            <a:endParaRPr lang="en-US" sz="880" dirty="0"/>
          </a:p>
          <a:p>
            <a:pPr algn="ctr" indent="0" marL="0">
              <a:lnSpc>
                <a:spcPct val="92000"/>
              </a:lnSpc>
              <a:buNone/>
            </a:pPr>
            <a:r>
              <a:rPr lang="en-US" sz="880" b="1" dirty="0">
                <a:solidFill>
                  <a:srgbClr val="DCE6F1"/>
                </a:solidFill>
                <a:latin typeface="Calibri" pitchFamily="34" charset="0"/>
                <a:ea typeface="Calibri" pitchFamily="34" charset="-122"/>
                <a:cs typeface="Calibri" pitchFamily="34" charset="-120"/>
              </a:rPr>
              <a:t>ease</a:t>
            </a:r>
            <a:endParaRPr lang="en-US" sz="880" dirty="0"/>
          </a:p>
        </p:txBody>
      </p:sp>
      <p:sp>
        <p:nvSpPr>
          <p:cNvPr id="15" name="Shape 13"/>
          <p:cNvSpPr/>
          <p:nvPr/>
        </p:nvSpPr>
        <p:spPr>
          <a:xfrm>
            <a:off x="8769096" y="1572768"/>
            <a:ext cx="1335024" cy="603504"/>
          </a:xfrm>
          <a:prstGeom prst="rect">
            <a:avLst/>
          </a:prstGeom>
          <a:solidFill>
            <a:srgbClr val="0B2545"/>
          </a:solidFill>
          <a:ln w="9525">
            <a:solidFill>
              <a:srgbClr val="1C3E63"/>
            </a:solidFill>
            <a:prstDash val="solid"/>
          </a:ln>
        </p:spPr>
      </p:sp>
      <p:sp>
        <p:nvSpPr>
          <p:cNvPr id="16" name="Text 14"/>
          <p:cNvSpPr/>
          <p:nvPr/>
        </p:nvSpPr>
        <p:spPr>
          <a:xfrm>
            <a:off x="8823960" y="1572768"/>
            <a:ext cx="1225296" cy="603504"/>
          </a:xfrm>
          <a:prstGeom prst="rect">
            <a:avLst/>
          </a:prstGeom>
          <a:noFill/>
          <a:ln/>
        </p:spPr>
        <p:txBody>
          <a:bodyPr wrap="square" lIns="0" tIns="0" rIns="0" bIns="0" rtlCol="0" anchor="ctr"/>
          <a:lstStyle/>
          <a:p>
            <a:pPr algn="ctr" indent="0" marL="0">
              <a:lnSpc>
                <a:spcPct val="92000"/>
              </a:lnSpc>
              <a:buNone/>
            </a:pPr>
            <a:r>
              <a:rPr lang="en-US" sz="880" b="1" dirty="0">
                <a:solidFill>
                  <a:srgbClr val="DCE6F1"/>
                </a:solidFill>
                <a:latin typeface="Calibri" pitchFamily="34" charset="0"/>
                <a:ea typeface="Calibri" pitchFamily="34" charset="-122"/>
                <a:cs typeface="Calibri" pitchFamily="34" charset="-120"/>
              </a:rPr>
              <a:t>Acquir-</a:t>
            </a:r>
            <a:endParaRPr lang="en-US" sz="880" dirty="0"/>
          </a:p>
          <a:p>
            <a:pPr algn="ctr" indent="0" marL="0">
              <a:lnSpc>
                <a:spcPct val="92000"/>
              </a:lnSpc>
              <a:buNone/>
            </a:pPr>
            <a:r>
              <a:rPr lang="en-US" sz="880" b="1" dirty="0">
                <a:solidFill>
                  <a:srgbClr val="DCE6F1"/>
                </a:solidFill>
                <a:latin typeface="Calibri" pitchFamily="34" charset="0"/>
                <a:ea typeface="Calibri" pitchFamily="34" charset="-122"/>
                <a:cs typeface="Calibri" pitchFamily="34" charset="-120"/>
              </a:rPr>
              <a:t>ability</a:t>
            </a:r>
            <a:endParaRPr lang="en-US" sz="880" dirty="0"/>
          </a:p>
        </p:txBody>
      </p:sp>
      <p:sp>
        <p:nvSpPr>
          <p:cNvPr id="17" name="Shape 15"/>
          <p:cNvSpPr/>
          <p:nvPr/>
        </p:nvSpPr>
        <p:spPr>
          <a:xfrm>
            <a:off x="10104120" y="1572768"/>
            <a:ext cx="1447495" cy="603504"/>
          </a:xfrm>
          <a:prstGeom prst="rect">
            <a:avLst/>
          </a:prstGeom>
          <a:solidFill>
            <a:srgbClr val="8A6B3C"/>
          </a:solidFill>
          <a:ln/>
        </p:spPr>
      </p:sp>
      <p:sp>
        <p:nvSpPr>
          <p:cNvPr id="18" name="Text 16"/>
          <p:cNvSpPr/>
          <p:nvPr/>
        </p:nvSpPr>
        <p:spPr>
          <a:xfrm>
            <a:off x="10104120" y="1572768"/>
            <a:ext cx="1447495"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Decision</a:t>
            </a:r>
            <a:endParaRPr lang="en-US" sz="1100" dirty="0"/>
          </a:p>
        </p:txBody>
      </p:sp>
      <p:sp>
        <p:nvSpPr>
          <p:cNvPr id="19" name="Shape 17"/>
          <p:cNvSpPr/>
          <p:nvPr/>
        </p:nvSpPr>
        <p:spPr>
          <a:xfrm>
            <a:off x="640080" y="2176272"/>
            <a:ext cx="2788920" cy="603504"/>
          </a:xfrm>
          <a:prstGeom prst="rect">
            <a:avLst/>
          </a:prstGeom>
          <a:solidFill>
            <a:srgbClr val="F7F2E9"/>
          </a:solidFill>
          <a:ln w="9525">
            <a:solidFill>
              <a:srgbClr val="DCE3EB"/>
            </a:solidFill>
            <a:prstDash val="solid"/>
          </a:ln>
        </p:spPr>
      </p:sp>
      <p:sp>
        <p:nvSpPr>
          <p:cNvPr id="20" name="Text 18"/>
          <p:cNvSpPr/>
          <p:nvPr/>
        </p:nvSpPr>
        <p:spPr>
          <a:xfrm>
            <a:off x="786384" y="2249424"/>
            <a:ext cx="2514600"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Blostem</a:t>
            </a:r>
            <a:endParaRPr lang="en-US" sz="1150" dirty="0"/>
          </a:p>
        </p:txBody>
      </p:sp>
      <p:sp>
        <p:nvSpPr>
          <p:cNvPr id="21" name="Text 19"/>
          <p:cNvSpPr/>
          <p:nvPr/>
        </p:nvSpPr>
        <p:spPr>
          <a:xfrm>
            <a:off x="786384" y="2505456"/>
            <a:ext cx="2514600" cy="237744"/>
          </a:xfrm>
          <a:prstGeom prst="rect">
            <a:avLst/>
          </a:prstGeom>
          <a:noFill/>
          <a:ln/>
        </p:spPr>
        <p:txBody>
          <a:bodyPr wrap="square" lIns="0" tIns="0" rIns="0" bIns="0" rtlCol="0" anchor="ctr"/>
          <a:lstStyle/>
          <a:p>
            <a:pPr indent="0" marL="0">
              <a:buNone/>
            </a:pPr>
            <a:r>
              <a:rPr lang="en-US" sz="880" i="1" dirty="0">
                <a:solidFill>
                  <a:srgbClr val="7A8794"/>
                </a:solidFill>
                <a:latin typeface="Calibri" pitchFamily="34" charset="0"/>
                <a:ea typeface="Calibri" pitchFamily="34" charset="-122"/>
                <a:cs typeface="Calibri" pitchFamily="34" charset="-120"/>
              </a:rPr>
              <a:t>Savings and wealth distribution rail</a:t>
            </a:r>
            <a:endParaRPr lang="en-US" sz="880" dirty="0"/>
          </a:p>
        </p:txBody>
      </p:sp>
      <p:sp>
        <p:nvSpPr>
          <p:cNvPr id="22" name="Shape 20"/>
          <p:cNvSpPr/>
          <p:nvPr/>
        </p:nvSpPr>
        <p:spPr>
          <a:xfrm>
            <a:off x="3429000" y="2176272"/>
            <a:ext cx="1335024" cy="603504"/>
          </a:xfrm>
          <a:prstGeom prst="rect">
            <a:avLst/>
          </a:prstGeom>
          <a:solidFill>
            <a:srgbClr val="F7F2E9"/>
          </a:solidFill>
          <a:ln w="9525">
            <a:solidFill>
              <a:srgbClr val="DCE3EB"/>
            </a:solidFill>
            <a:prstDash val="solid"/>
          </a:ln>
        </p:spPr>
      </p:sp>
      <p:sp>
        <p:nvSpPr>
          <p:cNvPr id="23" name="Shape 21"/>
          <p:cNvSpPr/>
          <p:nvPr/>
        </p:nvSpPr>
        <p:spPr>
          <a:xfrm>
            <a:off x="3650742" y="2416302"/>
            <a:ext cx="123444" cy="123444"/>
          </a:xfrm>
          <a:prstGeom prst="ellipse">
            <a:avLst/>
          </a:prstGeom>
          <a:solidFill>
            <a:srgbClr val="B08D57"/>
          </a:solidFill>
          <a:ln/>
        </p:spPr>
      </p:sp>
      <p:sp>
        <p:nvSpPr>
          <p:cNvPr id="24" name="Shape 22"/>
          <p:cNvSpPr/>
          <p:nvPr/>
        </p:nvSpPr>
        <p:spPr>
          <a:xfrm>
            <a:off x="3842766" y="2416302"/>
            <a:ext cx="123444" cy="123444"/>
          </a:xfrm>
          <a:prstGeom prst="ellipse">
            <a:avLst/>
          </a:prstGeom>
          <a:solidFill>
            <a:srgbClr val="B08D57"/>
          </a:solidFill>
          <a:ln/>
        </p:spPr>
      </p:sp>
      <p:sp>
        <p:nvSpPr>
          <p:cNvPr id="25" name="Shape 23"/>
          <p:cNvSpPr/>
          <p:nvPr/>
        </p:nvSpPr>
        <p:spPr>
          <a:xfrm>
            <a:off x="4034790" y="2416302"/>
            <a:ext cx="123444" cy="123444"/>
          </a:xfrm>
          <a:prstGeom prst="ellipse">
            <a:avLst/>
          </a:prstGeom>
          <a:solidFill>
            <a:srgbClr val="B08D57"/>
          </a:solidFill>
          <a:ln/>
        </p:spPr>
      </p:sp>
      <p:sp>
        <p:nvSpPr>
          <p:cNvPr id="26" name="Shape 24"/>
          <p:cNvSpPr/>
          <p:nvPr/>
        </p:nvSpPr>
        <p:spPr>
          <a:xfrm>
            <a:off x="4226814" y="2416302"/>
            <a:ext cx="123444" cy="123444"/>
          </a:xfrm>
          <a:prstGeom prst="ellipse">
            <a:avLst/>
          </a:prstGeom>
          <a:solidFill>
            <a:srgbClr val="B08D57"/>
          </a:solidFill>
          <a:ln/>
        </p:spPr>
      </p:sp>
      <p:sp>
        <p:nvSpPr>
          <p:cNvPr id="27" name="Shape 25"/>
          <p:cNvSpPr/>
          <p:nvPr/>
        </p:nvSpPr>
        <p:spPr>
          <a:xfrm>
            <a:off x="4418838" y="2416302"/>
            <a:ext cx="123444" cy="123444"/>
          </a:xfrm>
          <a:prstGeom prst="ellipse">
            <a:avLst/>
          </a:prstGeom>
          <a:solidFill>
            <a:srgbClr val="B08D57"/>
          </a:solidFill>
          <a:ln/>
        </p:spPr>
      </p:sp>
      <p:sp>
        <p:nvSpPr>
          <p:cNvPr id="28" name="Shape 26"/>
          <p:cNvSpPr/>
          <p:nvPr/>
        </p:nvSpPr>
        <p:spPr>
          <a:xfrm>
            <a:off x="4764024" y="2176272"/>
            <a:ext cx="1335024" cy="603504"/>
          </a:xfrm>
          <a:prstGeom prst="rect">
            <a:avLst/>
          </a:prstGeom>
          <a:solidFill>
            <a:srgbClr val="F7F2E9"/>
          </a:solidFill>
          <a:ln w="9525">
            <a:solidFill>
              <a:srgbClr val="DCE3EB"/>
            </a:solidFill>
            <a:prstDash val="solid"/>
          </a:ln>
        </p:spPr>
      </p:sp>
      <p:sp>
        <p:nvSpPr>
          <p:cNvPr id="29" name="Shape 27"/>
          <p:cNvSpPr/>
          <p:nvPr/>
        </p:nvSpPr>
        <p:spPr>
          <a:xfrm>
            <a:off x="4985766" y="2416302"/>
            <a:ext cx="123444" cy="123444"/>
          </a:xfrm>
          <a:prstGeom prst="ellipse">
            <a:avLst/>
          </a:prstGeom>
          <a:solidFill>
            <a:srgbClr val="B08D57"/>
          </a:solidFill>
          <a:ln/>
        </p:spPr>
      </p:sp>
      <p:sp>
        <p:nvSpPr>
          <p:cNvPr id="30" name="Shape 28"/>
          <p:cNvSpPr/>
          <p:nvPr/>
        </p:nvSpPr>
        <p:spPr>
          <a:xfrm>
            <a:off x="5177790" y="2416302"/>
            <a:ext cx="123444" cy="123444"/>
          </a:xfrm>
          <a:prstGeom prst="ellipse">
            <a:avLst/>
          </a:prstGeom>
          <a:solidFill>
            <a:srgbClr val="B08D57"/>
          </a:solidFill>
          <a:ln/>
        </p:spPr>
      </p:sp>
      <p:sp>
        <p:nvSpPr>
          <p:cNvPr id="31" name="Shape 29"/>
          <p:cNvSpPr/>
          <p:nvPr/>
        </p:nvSpPr>
        <p:spPr>
          <a:xfrm>
            <a:off x="5369814" y="2416302"/>
            <a:ext cx="123444" cy="123444"/>
          </a:xfrm>
          <a:prstGeom prst="ellipse">
            <a:avLst/>
          </a:prstGeom>
          <a:solidFill>
            <a:srgbClr val="B08D57"/>
          </a:solidFill>
          <a:ln/>
        </p:spPr>
      </p:sp>
      <p:sp>
        <p:nvSpPr>
          <p:cNvPr id="32" name="Shape 30"/>
          <p:cNvSpPr/>
          <p:nvPr/>
        </p:nvSpPr>
        <p:spPr>
          <a:xfrm>
            <a:off x="5561838" y="2416302"/>
            <a:ext cx="123444" cy="123444"/>
          </a:xfrm>
          <a:prstGeom prst="ellipse">
            <a:avLst/>
          </a:prstGeom>
          <a:solidFill>
            <a:srgbClr val="B08D57"/>
          </a:solidFill>
          <a:ln/>
        </p:spPr>
      </p:sp>
      <p:sp>
        <p:nvSpPr>
          <p:cNvPr id="33" name="Shape 31"/>
          <p:cNvSpPr/>
          <p:nvPr/>
        </p:nvSpPr>
        <p:spPr>
          <a:xfrm>
            <a:off x="5753862" y="2416302"/>
            <a:ext cx="123444" cy="123444"/>
          </a:xfrm>
          <a:prstGeom prst="ellipse">
            <a:avLst/>
          </a:prstGeom>
          <a:solidFill>
            <a:srgbClr val="D7DEE7"/>
          </a:solidFill>
          <a:ln/>
        </p:spPr>
      </p:sp>
      <p:sp>
        <p:nvSpPr>
          <p:cNvPr id="34" name="Shape 32"/>
          <p:cNvSpPr/>
          <p:nvPr/>
        </p:nvSpPr>
        <p:spPr>
          <a:xfrm>
            <a:off x="6099048" y="2176272"/>
            <a:ext cx="1335024" cy="603504"/>
          </a:xfrm>
          <a:prstGeom prst="rect">
            <a:avLst/>
          </a:prstGeom>
          <a:solidFill>
            <a:srgbClr val="F7F2E9"/>
          </a:solidFill>
          <a:ln w="9525">
            <a:solidFill>
              <a:srgbClr val="DCE3EB"/>
            </a:solidFill>
            <a:prstDash val="solid"/>
          </a:ln>
        </p:spPr>
      </p:sp>
      <p:sp>
        <p:nvSpPr>
          <p:cNvPr id="35" name="Shape 33"/>
          <p:cNvSpPr/>
          <p:nvPr/>
        </p:nvSpPr>
        <p:spPr>
          <a:xfrm>
            <a:off x="6320790" y="2416302"/>
            <a:ext cx="123444" cy="123444"/>
          </a:xfrm>
          <a:prstGeom prst="ellipse">
            <a:avLst/>
          </a:prstGeom>
          <a:solidFill>
            <a:srgbClr val="B08D57"/>
          </a:solidFill>
          <a:ln/>
        </p:spPr>
      </p:sp>
      <p:sp>
        <p:nvSpPr>
          <p:cNvPr id="36" name="Shape 34"/>
          <p:cNvSpPr/>
          <p:nvPr/>
        </p:nvSpPr>
        <p:spPr>
          <a:xfrm>
            <a:off x="6512814" y="2416302"/>
            <a:ext cx="123444" cy="123444"/>
          </a:xfrm>
          <a:prstGeom prst="ellipse">
            <a:avLst/>
          </a:prstGeom>
          <a:solidFill>
            <a:srgbClr val="B08D57"/>
          </a:solidFill>
          <a:ln/>
        </p:spPr>
      </p:sp>
      <p:sp>
        <p:nvSpPr>
          <p:cNvPr id="37" name="Shape 35"/>
          <p:cNvSpPr/>
          <p:nvPr/>
        </p:nvSpPr>
        <p:spPr>
          <a:xfrm>
            <a:off x="6704838" y="2416302"/>
            <a:ext cx="123444" cy="123444"/>
          </a:xfrm>
          <a:prstGeom prst="ellipse">
            <a:avLst/>
          </a:prstGeom>
          <a:solidFill>
            <a:srgbClr val="B08D57"/>
          </a:solidFill>
          <a:ln/>
        </p:spPr>
      </p:sp>
      <p:sp>
        <p:nvSpPr>
          <p:cNvPr id="38" name="Shape 36"/>
          <p:cNvSpPr/>
          <p:nvPr/>
        </p:nvSpPr>
        <p:spPr>
          <a:xfrm>
            <a:off x="6896862" y="2416302"/>
            <a:ext cx="123444" cy="123444"/>
          </a:xfrm>
          <a:prstGeom prst="ellipse">
            <a:avLst/>
          </a:prstGeom>
          <a:solidFill>
            <a:srgbClr val="B08D57"/>
          </a:solidFill>
          <a:ln/>
        </p:spPr>
      </p:sp>
      <p:sp>
        <p:nvSpPr>
          <p:cNvPr id="39" name="Shape 37"/>
          <p:cNvSpPr/>
          <p:nvPr/>
        </p:nvSpPr>
        <p:spPr>
          <a:xfrm>
            <a:off x="7088886" y="2416302"/>
            <a:ext cx="123444" cy="123444"/>
          </a:xfrm>
          <a:prstGeom prst="ellipse">
            <a:avLst/>
          </a:prstGeom>
          <a:solidFill>
            <a:srgbClr val="B08D57"/>
          </a:solidFill>
          <a:ln/>
        </p:spPr>
      </p:sp>
      <p:sp>
        <p:nvSpPr>
          <p:cNvPr id="40" name="Shape 38"/>
          <p:cNvSpPr/>
          <p:nvPr/>
        </p:nvSpPr>
        <p:spPr>
          <a:xfrm>
            <a:off x="7434072" y="2176272"/>
            <a:ext cx="1335024" cy="603504"/>
          </a:xfrm>
          <a:prstGeom prst="rect">
            <a:avLst/>
          </a:prstGeom>
          <a:solidFill>
            <a:srgbClr val="F7F2E9"/>
          </a:solidFill>
          <a:ln w="9525">
            <a:solidFill>
              <a:srgbClr val="DCE3EB"/>
            </a:solidFill>
            <a:prstDash val="solid"/>
          </a:ln>
        </p:spPr>
      </p:sp>
      <p:sp>
        <p:nvSpPr>
          <p:cNvPr id="41" name="Shape 39"/>
          <p:cNvSpPr/>
          <p:nvPr/>
        </p:nvSpPr>
        <p:spPr>
          <a:xfrm>
            <a:off x="7655814" y="2416302"/>
            <a:ext cx="123444" cy="123444"/>
          </a:xfrm>
          <a:prstGeom prst="ellipse">
            <a:avLst/>
          </a:prstGeom>
          <a:solidFill>
            <a:srgbClr val="B08D57"/>
          </a:solidFill>
          <a:ln/>
        </p:spPr>
      </p:sp>
      <p:sp>
        <p:nvSpPr>
          <p:cNvPr id="42" name="Shape 40"/>
          <p:cNvSpPr/>
          <p:nvPr/>
        </p:nvSpPr>
        <p:spPr>
          <a:xfrm>
            <a:off x="7847838" y="2416302"/>
            <a:ext cx="123444" cy="123444"/>
          </a:xfrm>
          <a:prstGeom prst="ellipse">
            <a:avLst/>
          </a:prstGeom>
          <a:solidFill>
            <a:srgbClr val="B08D57"/>
          </a:solidFill>
          <a:ln/>
        </p:spPr>
      </p:sp>
      <p:sp>
        <p:nvSpPr>
          <p:cNvPr id="43" name="Shape 41"/>
          <p:cNvSpPr/>
          <p:nvPr/>
        </p:nvSpPr>
        <p:spPr>
          <a:xfrm>
            <a:off x="8039862" y="2416302"/>
            <a:ext cx="123444" cy="123444"/>
          </a:xfrm>
          <a:prstGeom prst="ellipse">
            <a:avLst/>
          </a:prstGeom>
          <a:solidFill>
            <a:srgbClr val="B08D57"/>
          </a:solidFill>
          <a:ln/>
        </p:spPr>
      </p:sp>
      <p:sp>
        <p:nvSpPr>
          <p:cNvPr id="44" name="Shape 42"/>
          <p:cNvSpPr/>
          <p:nvPr/>
        </p:nvSpPr>
        <p:spPr>
          <a:xfrm>
            <a:off x="8231886" y="2416302"/>
            <a:ext cx="123444" cy="123444"/>
          </a:xfrm>
          <a:prstGeom prst="ellipse">
            <a:avLst/>
          </a:prstGeom>
          <a:solidFill>
            <a:srgbClr val="B08D57"/>
          </a:solidFill>
          <a:ln/>
        </p:spPr>
      </p:sp>
      <p:sp>
        <p:nvSpPr>
          <p:cNvPr id="45" name="Shape 43"/>
          <p:cNvSpPr/>
          <p:nvPr/>
        </p:nvSpPr>
        <p:spPr>
          <a:xfrm>
            <a:off x="8423910" y="2416302"/>
            <a:ext cx="123444" cy="123444"/>
          </a:xfrm>
          <a:prstGeom prst="ellipse">
            <a:avLst/>
          </a:prstGeom>
          <a:solidFill>
            <a:srgbClr val="D7DEE7"/>
          </a:solidFill>
          <a:ln/>
        </p:spPr>
      </p:sp>
      <p:sp>
        <p:nvSpPr>
          <p:cNvPr id="46" name="Shape 44"/>
          <p:cNvSpPr/>
          <p:nvPr/>
        </p:nvSpPr>
        <p:spPr>
          <a:xfrm>
            <a:off x="8769096" y="2176272"/>
            <a:ext cx="1335024" cy="603504"/>
          </a:xfrm>
          <a:prstGeom prst="rect">
            <a:avLst/>
          </a:prstGeom>
          <a:solidFill>
            <a:srgbClr val="F7F2E9"/>
          </a:solidFill>
          <a:ln w="9525">
            <a:solidFill>
              <a:srgbClr val="DCE3EB"/>
            </a:solidFill>
            <a:prstDash val="solid"/>
          </a:ln>
        </p:spPr>
      </p:sp>
      <p:sp>
        <p:nvSpPr>
          <p:cNvPr id="47" name="Shape 45"/>
          <p:cNvSpPr/>
          <p:nvPr/>
        </p:nvSpPr>
        <p:spPr>
          <a:xfrm>
            <a:off x="8990838" y="2416302"/>
            <a:ext cx="123444" cy="123444"/>
          </a:xfrm>
          <a:prstGeom prst="ellipse">
            <a:avLst/>
          </a:prstGeom>
          <a:solidFill>
            <a:srgbClr val="B08D57"/>
          </a:solidFill>
          <a:ln/>
        </p:spPr>
      </p:sp>
      <p:sp>
        <p:nvSpPr>
          <p:cNvPr id="48" name="Shape 46"/>
          <p:cNvSpPr/>
          <p:nvPr/>
        </p:nvSpPr>
        <p:spPr>
          <a:xfrm>
            <a:off x="9182862" y="2416302"/>
            <a:ext cx="123444" cy="123444"/>
          </a:xfrm>
          <a:prstGeom prst="ellipse">
            <a:avLst/>
          </a:prstGeom>
          <a:solidFill>
            <a:srgbClr val="B08D57"/>
          </a:solidFill>
          <a:ln/>
        </p:spPr>
      </p:sp>
      <p:sp>
        <p:nvSpPr>
          <p:cNvPr id="49" name="Shape 47"/>
          <p:cNvSpPr/>
          <p:nvPr/>
        </p:nvSpPr>
        <p:spPr>
          <a:xfrm>
            <a:off x="9374886" y="2416302"/>
            <a:ext cx="123444" cy="123444"/>
          </a:xfrm>
          <a:prstGeom prst="ellipse">
            <a:avLst/>
          </a:prstGeom>
          <a:solidFill>
            <a:srgbClr val="B08D57"/>
          </a:solidFill>
          <a:ln/>
        </p:spPr>
      </p:sp>
      <p:sp>
        <p:nvSpPr>
          <p:cNvPr id="50" name="Shape 48"/>
          <p:cNvSpPr/>
          <p:nvPr/>
        </p:nvSpPr>
        <p:spPr>
          <a:xfrm>
            <a:off x="9566910" y="2416302"/>
            <a:ext cx="123444" cy="123444"/>
          </a:xfrm>
          <a:prstGeom prst="ellipse">
            <a:avLst/>
          </a:prstGeom>
          <a:solidFill>
            <a:srgbClr val="B08D57"/>
          </a:solidFill>
          <a:ln/>
        </p:spPr>
      </p:sp>
      <p:sp>
        <p:nvSpPr>
          <p:cNvPr id="51" name="Shape 49"/>
          <p:cNvSpPr/>
          <p:nvPr/>
        </p:nvSpPr>
        <p:spPr>
          <a:xfrm>
            <a:off x="9758934" y="2416302"/>
            <a:ext cx="123444" cy="123444"/>
          </a:xfrm>
          <a:prstGeom prst="ellipse">
            <a:avLst/>
          </a:prstGeom>
          <a:solidFill>
            <a:srgbClr val="B08D57"/>
          </a:solidFill>
          <a:ln/>
        </p:spPr>
      </p:sp>
      <p:sp>
        <p:nvSpPr>
          <p:cNvPr id="52" name="Shape 50"/>
          <p:cNvSpPr/>
          <p:nvPr/>
        </p:nvSpPr>
        <p:spPr>
          <a:xfrm>
            <a:off x="10104120" y="2176272"/>
            <a:ext cx="1447495" cy="603504"/>
          </a:xfrm>
          <a:prstGeom prst="rect">
            <a:avLst/>
          </a:prstGeom>
          <a:solidFill>
            <a:srgbClr val="F4F6F9"/>
          </a:solidFill>
          <a:ln w="9525">
            <a:solidFill>
              <a:srgbClr val="DCE3EB"/>
            </a:solidFill>
            <a:prstDash val="solid"/>
          </a:ln>
        </p:spPr>
      </p:sp>
      <p:sp>
        <p:nvSpPr>
          <p:cNvPr id="53" name="Shape 51"/>
          <p:cNvSpPr/>
          <p:nvPr/>
        </p:nvSpPr>
        <p:spPr>
          <a:xfrm>
            <a:off x="10232136" y="2322576"/>
            <a:ext cx="1191463" cy="310896"/>
          </a:xfrm>
          <a:prstGeom prst="roundRect">
            <a:avLst>
              <a:gd name="adj" fmla="val 14706"/>
            </a:avLst>
          </a:prstGeom>
          <a:solidFill>
            <a:srgbClr val="0B2545"/>
          </a:solidFill>
          <a:ln/>
        </p:spPr>
      </p:sp>
      <p:sp>
        <p:nvSpPr>
          <p:cNvPr id="54" name="Text 52"/>
          <p:cNvSpPr/>
          <p:nvPr/>
        </p:nvSpPr>
        <p:spPr>
          <a:xfrm>
            <a:off x="10232136" y="2322576"/>
            <a:ext cx="1191463"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Shortlist</a:t>
            </a:r>
            <a:endParaRPr lang="en-US" sz="1000" dirty="0"/>
          </a:p>
        </p:txBody>
      </p:sp>
      <p:sp>
        <p:nvSpPr>
          <p:cNvPr id="55" name="Shape 53"/>
          <p:cNvSpPr/>
          <p:nvPr/>
        </p:nvSpPr>
        <p:spPr>
          <a:xfrm>
            <a:off x="640080" y="2779776"/>
            <a:ext cx="2788920" cy="603504"/>
          </a:xfrm>
          <a:prstGeom prst="rect">
            <a:avLst/>
          </a:prstGeom>
          <a:solidFill>
            <a:srgbClr val="F7F2E9"/>
          </a:solidFill>
          <a:ln w="9525">
            <a:solidFill>
              <a:srgbClr val="DCE3EB"/>
            </a:solidFill>
            <a:prstDash val="solid"/>
          </a:ln>
        </p:spPr>
      </p:sp>
      <p:sp>
        <p:nvSpPr>
          <p:cNvPr id="56" name="Text 54"/>
          <p:cNvSpPr/>
          <p:nvPr/>
        </p:nvSpPr>
        <p:spPr>
          <a:xfrm>
            <a:off x="786384" y="2852928"/>
            <a:ext cx="2514600"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Riskcovry</a:t>
            </a:r>
            <a:endParaRPr lang="en-US" sz="1150" dirty="0"/>
          </a:p>
        </p:txBody>
      </p:sp>
      <p:sp>
        <p:nvSpPr>
          <p:cNvPr id="57" name="Text 55"/>
          <p:cNvSpPr/>
          <p:nvPr/>
        </p:nvSpPr>
        <p:spPr>
          <a:xfrm>
            <a:off x="786384" y="3108960"/>
            <a:ext cx="2514600" cy="237744"/>
          </a:xfrm>
          <a:prstGeom prst="rect">
            <a:avLst/>
          </a:prstGeom>
          <a:noFill/>
          <a:ln/>
        </p:spPr>
        <p:txBody>
          <a:bodyPr wrap="square" lIns="0" tIns="0" rIns="0" bIns="0" rtlCol="0" anchor="ctr"/>
          <a:lstStyle/>
          <a:p>
            <a:pPr indent="0" marL="0">
              <a:buNone/>
            </a:pPr>
            <a:r>
              <a:rPr lang="en-US" sz="880" i="1" dirty="0">
                <a:solidFill>
                  <a:srgbClr val="7A8794"/>
                </a:solidFill>
                <a:latin typeface="Calibri" pitchFamily="34" charset="0"/>
                <a:ea typeface="Calibri" pitchFamily="34" charset="-122"/>
                <a:cs typeface="Calibri" pitchFamily="34" charset="-120"/>
              </a:rPr>
              <a:t>Embedded-insurance infrastructure</a:t>
            </a:r>
            <a:endParaRPr lang="en-US" sz="880" dirty="0"/>
          </a:p>
        </p:txBody>
      </p:sp>
      <p:sp>
        <p:nvSpPr>
          <p:cNvPr id="58" name="Shape 56"/>
          <p:cNvSpPr/>
          <p:nvPr/>
        </p:nvSpPr>
        <p:spPr>
          <a:xfrm>
            <a:off x="3429000" y="2779776"/>
            <a:ext cx="1335024" cy="603504"/>
          </a:xfrm>
          <a:prstGeom prst="rect">
            <a:avLst/>
          </a:prstGeom>
          <a:solidFill>
            <a:srgbClr val="F7F2E9"/>
          </a:solidFill>
          <a:ln w="9525">
            <a:solidFill>
              <a:srgbClr val="DCE3EB"/>
            </a:solidFill>
            <a:prstDash val="solid"/>
          </a:ln>
        </p:spPr>
      </p:sp>
      <p:sp>
        <p:nvSpPr>
          <p:cNvPr id="59" name="Shape 57"/>
          <p:cNvSpPr/>
          <p:nvPr/>
        </p:nvSpPr>
        <p:spPr>
          <a:xfrm>
            <a:off x="3650742" y="3019806"/>
            <a:ext cx="123444" cy="123444"/>
          </a:xfrm>
          <a:prstGeom prst="ellipse">
            <a:avLst/>
          </a:prstGeom>
          <a:solidFill>
            <a:srgbClr val="B08D57"/>
          </a:solidFill>
          <a:ln/>
        </p:spPr>
      </p:sp>
      <p:sp>
        <p:nvSpPr>
          <p:cNvPr id="60" name="Shape 58"/>
          <p:cNvSpPr/>
          <p:nvPr/>
        </p:nvSpPr>
        <p:spPr>
          <a:xfrm>
            <a:off x="3842766" y="3019806"/>
            <a:ext cx="123444" cy="123444"/>
          </a:xfrm>
          <a:prstGeom prst="ellipse">
            <a:avLst/>
          </a:prstGeom>
          <a:solidFill>
            <a:srgbClr val="B08D57"/>
          </a:solidFill>
          <a:ln/>
        </p:spPr>
      </p:sp>
      <p:sp>
        <p:nvSpPr>
          <p:cNvPr id="61" name="Shape 59"/>
          <p:cNvSpPr/>
          <p:nvPr/>
        </p:nvSpPr>
        <p:spPr>
          <a:xfrm>
            <a:off x="4034790" y="3019806"/>
            <a:ext cx="123444" cy="123444"/>
          </a:xfrm>
          <a:prstGeom prst="ellipse">
            <a:avLst/>
          </a:prstGeom>
          <a:solidFill>
            <a:srgbClr val="B08D57"/>
          </a:solidFill>
          <a:ln/>
        </p:spPr>
      </p:sp>
      <p:sp>
        <p:nvSpPr>
          <p:cNvPr id="62" name="Shape 60"/>
          <p:cNvSpPr/>
          <p:nvPr/>
        </p:nvSpPr>
        <p:spPr>
          <a:xfrm>
            <a:off x="4226814" y="3019806"/>
            <a:ext cx="123444" cy="123444"/>
          </a:xfrm>
          <a:prstGeom prst="ellipse">
            <a:avLst/>
          </a:prstGeom>
          <a:solidFill>
            <a:srgbClr val="B08D57"/>
          </a:solidFill>
          <a:ln/>
        </p:spPr>
      </p:sp>
      <p:sp>
        <p:nvSpPr>
          <p:cNvPr id="63" name="Shape 61"/>
          <p:cNvSpPr/>
          <p:nvPr/>
        </p:nvSpPr>
        <p:spPr>
          <a:xfrm>
            <a:off x="4418838" y="3019806"/>
            <a:ext cx="123444" cy="123444"/>
          </a:xfrm>
          <a:prstGeom prst="ellipse">
            <a:avLst/>
          </a:prstGeom>
          <a:solidFill>
            <a:srgbClr val="B08D57"/>
          </a:solidFill>
          <a:ln/>
        </p:spPr>
      </p:sp>
      <p:sp>
        <p:nvSpPr>
          <p:cNvPr id="64" name="Shape 62"/>
          <p:cNvSpPr/>
          <p:nvPr/>
        </p:nvSpPr>
        <p:spPr>
          <a:xfrm>
            <a:off x="4764024" y="2779776"/>
            <a:ext cx="1335024" cy="603504"/>
          </a:xfrm>
          <a:prstGeom prst="rect">
            <a:avLst/>
          </a:prstGeom>
          <a:solidFill>
            <a:srgbClr val="F7F2E9"/>
          </a:solidFill>
          <a:ln w="9525">
            <a:solidFill>
              <a:srgbClr val="DCE3EB"/>
            </a:solidFill>
            <a:prstDash val="solid"/>
          </a:ln>
        </p:spPr>
      </p:sp>
      <p:sp>
        <p:nvSpPr>
          <p:cNvPr id="65" name="Shape 63"/>
          <p:cNvSpPr/>
          <p:nvPr/>
        </p:nvSpPr>
        <p:spPr>
          <a:xfrm>
            <a:off x="4985766" y="3019806"/>
            <a:ext cx="123444" cy="123444"/>
          </a:xfrm>
          <a:prstGeom prst="ellipse">
            <a:avLst/>
          </a:prstGeom>
          <a:solidFill>
            <a:srgbClr val="B08D57"/>
          </a:solidFill>
          <a:ln/>
        </p:spPr>
      </p:sp>
      <p:sp>
        <p:nvSpPr>
          <p:cNvPr id="66" name="Shape 64"/>
          <p:cNvSpPr/>
          <p:nvPr/>
        </p:nvSpPr>
        <p:spPr>
          <a:xfrm>
            <a:off x="5177790" y="3019806"/>
            <a:ext cx="123444" cy="123444"/>
          </a:xfrm>
          <a:prstGeom prst="ellipse">
            <a:avLst/>
          </a:prstGeom>
          <a:solidFill>
            <a:srgbClr val="B08D57"/>
          </a:solidFill>
          <a:ln/>
        </p:spPr>
      </p:sp>
      <p:sp>
        <p:nvSpPr>
          <p:cNvPr id="67" name="Shape 65"/>
          <p:cNvSpPr/>
          <p:nvPr/>
        </p:nvSpPr>
        <p:spPr>
          <a:xfrm>
            <a:off x="5369814" y="3019806"/>
            <a:ext cx="123444" cy="123444"/>
          </a:xfrm>
          <a:prstGeom prst="ellipse">
            <a:avLst/>
          </a:prstGeom>
          <a:solidFill>
            <a:srgbClr val="B08D57"/>
          </a:solidFill>
          <a:ln/>
        </p:spPr>
      </p:sp>
      <p:sp>
        <p:nvSpPr>
          <p:cNvPr id="68" name="Shape 66"/>
          <p:cNvSpPr/>
          <p:nvPr/>
        </p:nvSpPr>
        <p:spPr>
          <a:xfrm>
            <a:off x="5561838" y="3019806"/>
            <a:ext cx="123444" cy="123444"/>
          </a:xfrm>
          <a:prstGeom prst="ellipse">
            <a:avLst/>
          </a:prstGeom>
          <a:solidFill>
            <a:srgbClr val="B08D57"/>
          </a:solidFill>
          <a:ln/>
        </p:spPr>
      </p:sp>
      <p:sp>
        <p:nvSpPr>
          <p:cNvPr id="69" name="Shape 67"/>
          <p:cNvSpPr/>
          <p:nvPr/>
        </p:nvSpPr>
        <p:spPr>
          <a:xfrm>
            <a:off x="5753862" y="3019806"/>
            <a:ext cx="123444" cy="123444"/>
          </a:xfrm>
          <a:prstGeom prst="ellipse">
            <a:avLst/>
          </a:prstGeom>
          <a:solidFill>
            <a:srgbClr val="B08D57"/>
          </a:solidFill>
          <a:ln/>
        </p:spPr>
      </p:sp>
      <p:sp>
        <p:nvSpPr>
          <p:cNvPr id="70" name="Shape 68"/>
          <p:cNvSpPr/>
          <p:nvPr/>
        </p:nvSpPr>
        <p:spPr>
          <a:xfrm>
            <a:off x="6099048" y="2779776"/>
            <a:ext cx="1335024" cy="603504"/>
          </a:xfrm>
          <a:prstGeom prst="rect">
            <a:avLst/>
          </a:prstGeom>
          <a:solidFill>
            <a:srgbClr val="F7F2E9"/>
          </a:solidFill>
          <a:ln w="9525">
            <a:solidFill>
              <a:srgbClr val="DCE3EB"/>
            </a:solidFill>
            <a:prstDash val="solid"/>
          </a:ln>
        </p:spPr>
      </p:sp>
      <p:sp>
        <p:nvSpPr>
          <p:cNvPr id="71" name="Shape 69"/>
          <p:cNvSpPr/>
          <p:nvPr/>
        </p:nvSpPr>
        <p:spPr>
          <a:xfrm>
            <a:off x="6320790" y="3019806"/>
            <a:ext cx="123444" cy="123444"/>
          </a:xfrm>
          <a:prstGeom prst="ellipse">
            <a:avLst/>
          </a:prstGeom>
          <a:solidFill>
            <a:srgbClr val="B08D57"/>
          </a:solidFill>
          <a:ln/>
        </p:spPr>
      </p:sp>
      <p:sp>
        <p:nvSpPr>
          <p:cNvPr id="72" name="Shape 70"/>
          <p:cNvSpPr/>
          <p:nvPr/>
        </p:nvSpPr>
        <p:spPr>
          <a:xfrm>
            <a:off x="6512814" y="3019806"/>
            <a:ext cx="123444" cy="123444"/>
          </a:xfrm>
          <a:prstGeom prst="ellipse">
            <a:avLst/>
          </a:prstGeom>
          <a:solidFill>
            <a:srgbClr val="B08D57"/>
          </a:solidFill>
          <a:ln/>
        </p:spPr>
      </p:sp>
      <p:sp>
        <p:nvSpPr>
          <p:cNvPr id="73" name="Shape 71"/>
          <p:cNvSpPr/>
          <p:nvPr/>
        </p:nvSpPr>
        <p:spPr>
          <a:xfrm>
            <a:off x="6704838" y="3019806"/>
            <a:ext cx="123444" cy="123444"/>
          </a:xfrm>
          <a:prstGeom prst="ellipse">
            <a:avLst/>
          </a:prstGeom>
          <a:solidFill>
            <a:srgbClr val="B08D57"/>
          </a:solidFill>
          <a:ln/>
        </p:spPr>
      </p:sp>
      <p:sp>
        <p:nvSpPr>
          <p:cNvPr id="74" name="Shape 72"/>
          <p:cNvSpPr/>
          <p:nvPr/>
        </p:nvSpPr>
        <p:spPr>
          <a:xfrm>
            <a:off x="6896862" y="3019806"/>
            <a:ext cx="123444" cy="123444"/>
          </a:xfrm>
          <a:prstGeom prst="ellipse">
            <a:avLst/>
          </a:prstGeom>
          <a:solidFill>
            <a:srgbClr val="B08D57"/>
          </a:solidFill>
          <a:ln/>
        </p:spPr>
      </p:sp>
      <p:sp>
        <p:nvSpPr>
          <p:cNvPr id="75" name="Shape 73"/>
          <p:cNvSpPr/>
          <p:nvPr/>
        </p:nvSpPr>
        <p:spPr>
          <a:xfrm>
            <a:off x="7088886" y="3019806"/>
            <a:ext cx="123444" cy="123444"/>
          </a:xfrm>
          <a:prstGeom prst="ellipse">
            <a:avLst/>
          </a:prstGeom>
          <a:solidFill>
            <a:srgbClr val="D7DEE7"/>
          </a:solidFill>
          <a:ln/>
        </p:spPr>
      </p:sp>
      <p:sp>
        <p:nvSpPr>
          <p:cNvPr id="76" name="Shape 74"/>
          <p:cNvSpPr/>
          <p:nvPr/>
        </p:nvSpPr>
        <p:spPr>
          <a:xfrm>
            <a:off x="7434072" y="2779776"/>
            <a:ext cx="1335024" cy="603504"/>
          </a:xfrm>
          <a:prstGeom prst="rect">
            <a:avLst/>
          </a:prstGeom>
          <a:solidFill>
            <a:srgbClr val="F7F2E9"/>
          </a:solidFill>
          <a:ln w="9525">
            <a:solidFill>
              <a:srgbClr val="DCE3EB"/>
            </a:solidFill>
            <a:prstDash val="solid"/>
          </a:ln>
        </p:spPr>
      </p:sp>
      <p:sp>
        <p:nvSpPr>
          <p:cNvPr id="77" name="Shape 75"/>
          <p:cNvSpPr/>
          <p:nvPr/>
        </p:nvSpPr>
        <p:spPr>
          <a:xfrm>
            <a:off x="7655814" y="3019806"/>
            <a:ext cx="123444" cy="123444"/>
          </a:xfrm>
          <a:prstGeom prst="ellipse">
            <a:avLst/>
          </a:prstGeom>
          <a:solidFill>
            <a:srgbClr val="B08D57"/>
          </a:solidFill>
          <a:ln/>
        </p:spPr>
      </p:sp>
      <p:sp>
        <p:nvSpPr>
          <p:cNvPr id="78" name="Shape 76"/>
          <p:cNvSpPr/>
          <p:nvPr/>
        </p:nvSpPr>
        <p:spPr>
          <a:xfrm>
            <a:off x="7847838" y="3019806"/>
            <a:ext cx="123444" cy="123444"/>
          </a:xfrm>
          <a:prstGeom prst="ellipse">
            <a:avLst/>
          </a:prstGeom>
          <a:solidFill>
            <a:srgbClr val="B08D57"/>
          </a:solidFill>
          <a:ln/>
        </p:spPr>
      </p:sp>
      <p:sp>
        <p:nvSpPr>
          <p:cNvPr id="79" name="Shape 77"/>
          <p:cNvSpPr/>
          <p:nvPr/>
        </p:nvSpPr>
        <p:spPr>
          <a:xfrm>
            <a:off x="8039862" y="3019806"/>
            <a:ext cx="123444" cy="123444"/>
          </a:xfrm>
          <a:prstGeom prst="ellipse">
            <a:avLst/>
          </a:prstGeom>
          <a:solidFill>
            <a:srgbClr val="B08D57"/>
          </a:solidFill>
          <a:ln/>
        </p:spPr>
      </p:sp>
      <p:sp>
        <p:nvSpPr>
          <p:cNvPr id="80" name="Shape 78"/>
          <p:cNvSpPr/>
          <p:nvPr/>
        </p:nvSpPr>
        <p:spPr>
          <a:xfrm>
            <a:off x="8231886" y="3019806"/>
            <a:ext cx="123444" cy="123444"/>
          </a:xfrm>
          <a:prstGeom prst="ellipse">
            <a:avLst/>
          </a:prstGeom>
          <a:solidFill>
            <a:srgbClr val="D7DEE7"/>
          </a:solidFill>
          <a:ln/>
        </p:spPr>
      </p:sp>
      <p:sp>
        <p:nvSpPr>
          <p:cNvPr id="81" name="Shape 79"/>
          <p:cNvSpPr/>
          <p:nvPr/>
        </p:nvSpPr>
        <p:spPr>
          <a:xfrm>
            <a:off x="8423910" y="3019806"/>
            <a:ext cx="123444" cy="123444"/>
          </a:xfrm>
          <a:prstGeom prst="ellipse">
            <a:avLst/>
          </a:prstGeom>
          <a:solidFill>
            <a:srgbClr val="D7DEE7"/>
          </a:solidFill>
          <a:ln/>
        </p:spPr>
      </p:sp>
      <p:sp>
        <p:nvSpPr>
          <p:cNvPr id="82" name="Shape 80"/>
          <p:cNvSpPr/>
          <p:nvPr/>
        </p:nvSpPr>
        <p:spPr>
          <a:xfrm>
            <a:off x="8769096" y="2779776"/>
            <a:ext cx="1335024" cy="603504"/>
          </a:xfrm>
          <a:prstGeom prst="rect">
            <a:avLst/>
          </a:prstGeom>
          <a:solidFill>
            <a:srgbClr val="F7F2E9"/>
          </a:solidFill>
          <a:ln w="9525">
            <a:solidFill>
              <a:srgbClr val="DCE3EB"/>
            </a:solidFill>
            <a:prstDash val="solid"/>
          </a:ln>
        </p:spPr>
      </p:sp>
      <p:sp>
        <p:nvSpPr>
          <p:cNvPr id="83" name="Shape 81"/>
          <p:cNvSpPr/>
          <p:nvPr/>
        </p:nvSpPr>
        <p:spPr>
          <a:xfrm>
            <a:off x="8990838" y="3019806"/>
            <a:ext cx="123444" cy="123444"/>
          </a:xfrm>
          <a:prstGeom prst="ellipse">
            <a:avLst/>
          </a:prstGeom>
          <a:solidFill>
            <a:srgbClr val="B08D57"/>
          </a:solidFill>
          <a:ln/>
        </p:spPr>
      </p:sp>
      <p:sp>
        <p:nvSpPr>
          <p:cNvPr id="84" name="Shape 82"/>
          <p:cNvSpPr/>
          <p:nvPr/>
        </p:nvSpPr>
        <p:spPr>
          <a:xfrm>
            <a:off x="9182862" y="3019806"/>
            <a:ext cx="123444" cy="123444"/>
          </a:xfrm>
          <a:prstGeom prst="ellipse">
            <a:avLst/>
          </a:prstGeom>
          <a:solidFill>
            <a:srgbClr val="B08D57"/>
          </a:solidFill>
          <a:ln/>
        </p:spPr>
      </p:sp>
      <p:sp>
        <p:nvSpPr>
          <p:cNvPr id="85" name="Shape 83"/>
          <p:cNvSpPr/>
          <p:nvPr/>
        </p:nvSpPr>
        <p:spPr>
          <a:xfrm>
            <a:off x="9374886" y="3019806"/>
            <a:ext cx="123444" cy="123444"/>
          </a:xfrm>
          <a:prstGeom prst="ellipse">
            <a:avLst/>
          </a:prstGeom>
          <a:solidFill>
            <a:srgbClr val="B08D57"/>
          </a:solidFill>
          <a:ln/>
        </p:spPr>
      </p:sp>
      <p:sp>
        <p:nvSpPr>
          <p:cNvPr id="86" name="Shape 84"/>
          <p:cNvSpPr/>
          <p:nvPr/>
        </p:nvSpPr>
        <p:spPr>
          <a:xfrm>
            <a:off x="9566910" y="3019806"/>
            <a:ext cx="123444" cy="123444"/>
          </a:xfrm>
          <a:prstGeom prst="ellipse">
            <a:avLst/>
          </a:prstGeom>
          <a:solidFill>
            <a:srgbClr val="B08D57"/>
          </a:solidFill>
          <a:ln/>
        </p:spPr>
      </p:sp>
      <p:sp>
        <p:nvSpPr>
          <p:cNvPr id="87" name="Shape 85"/>
          <p:cNvSpPr/>
          <p:nvPr/>
        </p:nvSpPr>
        <p:spPr>
          <a:xfrm>
            <a:off x="9758934" y="3019806"/>
            <a:ext cx="123444" cy="123444"/>
          </a:xfrm>
          <a:prstGeom prst="ellipse">
            <a:avLst/>
          </a:prstGeom>
          <a:solidFill>
            <a:srgbClr val="D7DEE7"/>
          </a:solidFill>
          <a:ln/>
        </p:spPr>
      </p:sp>
      <p:sp>
        <p:nvSpPr>
          <p:cNvPr id="88" name="Shape 86"/>
          <p:cNvSpPr/>
          <p:nvPr/>
        </p:nvSpPr>
        <p:spPr>
          <a:xfrm>
            <a:off x="10104120" y="2779776"/>
            <a:ext cx="1447495" cy="603504"/>
          </a:xfrm>
          <a:prstGeom prst="rect">
            <a:avLst/>
          </a:prstGeom>
          <a:solidFill>
            <a:srgbClr val="FFFFFF"/>
          </a:solidFill>
          <a:ln w="9525">
            <a:solidFill>
              <a:srgbClr val="DCE3EB"/>
            </a:solidFill>
            <a:prstDash val="solid"/>
          </a:ln>
        </p:spPr>
      </p:sp>
      <p:sp>
        <p:nvSpPr>
          <p:cNvPr id="89" name="Shape 87"/>
          <p:cNvSpPr/>
          <p:nvPr/>
        </p:nvSpPr>
        <p:spPr>
          <a:xfrm>
            <a:off x="10232136" y="2926080"/>
            <a:ext cx="1191463" cy="310896"/>
          </a:xfrm>
          <a:prstGeom prst="roundRect">
            <a:avLst>
              <a:gd name="adj" fmla="val 14706"/>
            </a:avLst>
          </a:prstGeom>
          <a:solidFill>
            <a:srgbClr val="0B2545"/>
          </a:solidFill>
          <a:ln/>
        </p:spPr>
      </p:sp>
      <p:sp>
        <p:nvSpPr>
          <p:cNvPr id="90" name="Text 88"/>
          <p:cNvSpPr/>
          <p:nvPr/>
        </p:nvSpPr>
        <p:spPr>
          <a:xfrm>
            <a:off x="10232136" y="2926080"/>
            <a:ext cx="1191463"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Shortlist</a:t>
            </a:r>
            <a:endParaRPr lang="en-US" sz="1000" dirty="0"/>
          </a:p>
        </p:txBody>
      </p:sp>
      <p:sp>
        <p:nvSpPr>
          <p:cNvPr id="91" name="Shape 89"/>
          <p:cNvSpPr/>
          <p:nvPr/>
        </p:nvSpPr>
        <p:spPr>
          <a:xfrm>
            <a:off x="640080" y="3383280"/>
            <a:ext cx="2788920" cy="603504"/>
          </a:xfrm>
          <a:prstGeom prst="rect">
            <a:avLst/>
          </a:prstGeom>
          <a:solidFill>
            <a:srgbClr val="F4F6F9"/>
          </a:solidFill>
          <a:ln w="9525">
            <a:solidFill>
              <a:srgbClr val="DCE3EB"/>
            </a:solidFill>
            <a:prstDash val="solid"/>
          </a:ln>
        </p:spPr>
      </p:sp>
      <p:sp>
        <p:nvSpPr>
          <p:cNvPr id="92" name="Text 90"/>
          <p:cNvSpPr/>
          <p:nvPr/>
        </p:nvSpPr>
        <p:spPr>
          <a:xfrm>
            <a:off x="786384" y="3456432"/>
            <a:ext cx="2514600"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Merchant billing SaaS</a:t>
            </a:r>
            <a:endParaRPr lang="en-US" sz="1150" dirty="0"/>
          </a:p>
        </p:txBody>
      </p:sp>
      <p:sp>
        <p:nvSpPr>
          <p:cNvPr id="93" name="Text 91"/>
          <p:cNvSpPr/>
          <p:nvPr/>
        </p:nvSpPr>
        <p:spPr>
          <a:xfrm>
            <a:off x="786384" y="3712464"/>
            <a:ext cx="2514600" cy="237744"/>
          </a:xfrm>
          <a:prstGeom prst="rect">
            <a:avLst/>
          </a:prstGeom>
          <a:noFill/>
          <a:ln/>
        </p:spPr>
        <p:txBody>
          <a:bodyPr wrap="square" lIns="0" tIns="0" rIns="0" bIns="0" rtlCol="0" anchor="ctr"/>
          <a:lstStyle/>
          <a:p>
            <a:pPr indent="0" marL="0">
              <a:buNone/>
            </a:pPr>
            <a:r>
              <a:rPr lang="en-US" sz="880" i="1" dirty="0">
                <a:solidFill>
                  <a:srgbClr val="7A8794"/>
                </a:solidFill>
                <a:latin typeface="Calibri" pitchFamily="34" charset="0"/>
                <a:ea typeface="Calibri" pitchFamily="34" charset="-122"/>
                <a:cs typeface="Calibri" pitchFamily="34" charset="-120"/>
              </a:rPr>
              <a:t>e.g. Vyapar, myBillBook</a:t>
            </a:r>
            <a:endParaRPr lang="en-US" sz="880" dirty="0"/>
          </a:p>
        </p:txBody>
      </p:sp>
      <p:sp>
        <p:nvSpPr>
          <p:cNvPr id="94" name="Shape 92"/>
          <p:cNvSpPr/>
          <p:nvPr/>
        </p:nvSpPr>
        <p:spPr>
          <a:xfrm>
            <a:off x="3429000" y="3383280"/>
            <a:ext cx="1335024" cy="603504"/>
          </a:xfrm>
          <a:prstGeom prst="rect">
            <a:avLst/>
          </a:prstGeom>
          <a:solidFill>
            <a:srgbClr val="F4F6F9"/>
          </a:solidFill>
          <a:ln w="9525">
            <a:solidFill>
              <a:srgbClr val="DCE3EB"/>
            </a:solidFill>
            <a:prstDash val="solid"/>
          </a:ln>
        </p:spPr>
      </p:sp>
      <p:sp>
        <p:nvSpPr>
          <p:cNvPr id="95" name="Shape 93"/>
          <p:cNvSpPr/>
          <p:nvPr/>
        </p:nvSpPr>
        <p:spPr>
          <a:xfrm>
            <a:off x="3650742" y="3623310"/>
            <a:ext cx="123444" cy="123444"/>
          </a:xfrm>
          <a:prstGeom prst="ellipse">
            <a:avLst/>
          </a:prstGeom>
          <a:solidFill>
            <a:srgbClr val="B08D57"/>
          </a:solidFill>
          <a:ln/>
        </p:spPr>
      </p:sp>
      <p:sp>
        <p:nvSpPr>
          <p:cNvPr id="96" name="Shape 94"/>
          <p:cNvSpPr/>
          <p:nvPr/>
        </p:nvSpPr>
        <p:spPr>
          <a:xfrm>
            <a:off x="3842766" y="3623310"/>
            <a:ext cx="123444" cy="123444"/>
          </a:xfrm>
          <a:prstGeom prst="ellipse">
            <a:avLst/>
          </a:prstGeom>
          <a:solidFill>
            <a:srgbClr val="B08D57"/>
          </a:solidFill>
          <a:ln/>
        </p:spPr>
      </p:sp>
      <p:sp>
        <p:nvSpPr>
          <p:cNvPr id="97" name="Shape 95"/>
          <p:cNvSpPr/>
          <p:nvPr/>
        </p:nvSpPr>
        <p:spPr>
          <a:xfrm>
            <a:off x="4034790" y="3623310"/>
            <a:ext cx="123444" cy="123444"/>
          </a:xfrm>
          <a:prstGeom prst="ellipse">
            <a:avLst/>
          </a:prstGeom>
          <a:solidFill>
            <a:srgbClr val="B08D57"/>
          </a:solidFill>
          <a:ln/>
        </p:spPr>
      </p:sp>
      <p:sp>
        <p:nvSpPr>
          <p:cNvPr id="98" name="Shape 96"/>
          <p:cNvSpPr/>
          <p:nvPr/>
        </p:nvSpPr>
        <p:spPr>
          <a:xfrm>
            <a:off x="4226814" y="3623310"/>
            <a:ext cx="123444" cy="123444"/>
          </a:xfrm>
          <a:prstGeom prst="ellipse">
            <a:avLst/>
          </a:prstGeom>
          <a:solidFill>
            <a:srgbClr val="B08D57"/>
          </a:solidFill>
          <a:ln/>
        </p:spPr>
      </p:sp>
      <p:sp>
        <p:nvSpPr>
          <p:cNvPr id="99" name="Shape 97"/>
          <p:cNvSpPr/>
          <p:nvPr/>
        </p:nvSpPr>
        <p:spPr>
          <a:xfrm>
            <a:off x="4418838" y="3623310"/>
            <a:ext cx="123444" cy="123444"/>
          </a:xfrm>
          <a:prstGeom prst="ellipse">
            <a:avLst/>
          </a:prstGeom>
          <a:solidFill>
            <a:srgbClr val="B08D57"/>
          </a:solidFill>
          <a:ln/>
        </p:spPr>
      </p:sp>
      <p:sp>
        <p:nvSpPr>
          <p:cNvPr id="100" name="Shape 98"/>
          <p:cNvSpPr/>
          <p:nvPr/>
        </p:nvSpPr>
        <p:spPr>
          <a:xfrm>
            <a:off x="4764024" y="3383280"/>
            <a:ext cx="1335024" cy="603504"/>
          </a:xfrm>
          <a:prstGeom prst="rect">
            <a:avLst/>
          </a:prstGeom>
          <a:solidFill>
            <a:srgbClr val="F4F6F9"/>
          </a:solidFill>
          <a:ln w="9525">
            <a:solidFill>
              <a:srgbClr val="DCE3EB"/>
            </a:solidFill>
            <a:prstDash val="solid"/>
          </a:ln>
        </p:spPr>
      </p:sp>
      <p:sp>
        <p:nvSpPr>
          <p:cNvPr id="101" name="Shape 99"/>
          <p:cNvSpPr/>
          <p:nvPr/>
        </p:nvSpPr>
        <p:spPr>
          <a:xfrm>
            <a:off x="4985766" y="3623310"/>
            <a:ext cx="123444" cy="123444"/>
          </a:xfrm>
          <a:prstGeom prst="ellipse">
            <a:avLst/>
          </a:prstGeom>
          <a:solidFill>
            <a:srgbClr val="B08D57"/>
          </a:solidFill>
          <a:ln/>
        </p:spPr>
      </p:sp>
      <p:sp>
        <p:nvSpPr>
          <p:cNvPr id="102" name="Shape 100"/>
          <p:cNvSpPr/>
          <p:nvPr/>
        </p:nvSpPr>
        <p:spPr>
          <a:xfrm>
            <a:off x="5177790" y="3623310"/>
            <a:ext cx="123444" cy="123444"/>
          </a:xfrm>
          <a:prstGeom prst="ellipse">
            <a:avLst/>
          </a:prstGeom>
          <a:solidFill>
            <a:srgbClr val="B08D57"/>
          </a:solidFill>
          <a:ln/>
        </p:spPr>
      </p:sp>
      <p:sp>
        <p:nvSpPr>
          <p:cNvPr id="103" name="Shape 101"/>
          <p:cNvSpPr/>
          <p:nvPr/>
        </p:nvSpPr>
        <p:spPr>
          <a:xfrm>
            <a:off x="5369814" y="3623310"/>
            <a:ext cx="123444" cy="123444"/>
          </a:xfrm>
          <a:prstGeom prst="ellipse">
            <a:avLst/>
          </a:prstGeom>
          <a:solidFill>
            <a:srgbClr val="B08D57"/>
          </a:solidFill>
          <a:ln/>
        </p:spPr>
      </p:sp>
      <p:sp>
        <p:nvSpPr>
          <p:cNvPr id="104" name="Shape 102"/>
          <p:cNvSpPr/>
          <p:nvPr/>
        </p:nvSpPr>
        <p:spPr>
          <a:xfrm>
            <a:off x="5561838" y="3623310"/>
            <a:ext cx="123444" cy="123444"/>
          </a:xfrm>
          <a:prstGeom prst="ellipse">
            <a:avLst/>
          </a:prstGeom>
          <a:solidFill>
            <a:srgbClr val="B08D57"/>
          </a:solidFill>
          <a:ln/>
        </p:spPr>
      </p:sp>
      <p:sp>
        <p:nvSpPr>
          <p:cNvPr id="105" name="Shape 103"/>
          <p:cNvSpPr/>
          <p:nvPr/>
        </p:nvSpPr>
        <p:spPr>
          <a:xfrm>
            <a:off x="5753862" y="3623310"/>
            <a:ext cx="123444" cy="123444"/>
          </a:xfrm>
          <a:prstGeom prst="ellipse">
            <a:avLst/>
          </a:prstGeom>
          <a:solidFill>
            <a:srgbClr val="D7DEE7"/>
          </a:solidFill>
          <a:ln/>
        </p:spPr>
      </p:sp>
      <p:sp>
        <p:nvSpPr>
          <p:cNvPr id="106" name="Shape 104"/>
          <p:cNvSpPr/>
          <p:nvPr/>
        </p:nvSpPr>
        <p:spPr>
          <a:xfrm>
            <a:off x="6099048" y="3383280"/>
            <a:ext cx="1335024" cy="603504"/>
          </a:xfrm>
          <a:prstGeom prst="rect">
            <a:avLst/>
          </a:prstGeom>
          <a:solidFill>
            <a:srgbClr val="F4F6F9"/>
          </a:solidFill>
          <a:ln w="9525">
            <a:solidFill>
              <a:srgbClr val="DCE3EB"/>
            </a:solidFill>
            <a:prstDash val="solid"/>
          </a:ln>
        </p:spPr>
      </p:sp>
      <p:sp>
        <p:nvSpPr>
          <p:cNvPr id="107" name="Shape 105"/>
          <p:cNvSpPr/>
          <p:nvPr/>
        </p:nvSpPr>
        <p:spPr>
          <a:xfrm>
            <a:off x="6320790" y="3623310"/>
            <a:ext cx="123444" cy="123444"/>
          </a:xfrm>
          <a:prstGeom prst="ellipse">
            <a:avLst/>
          </a:prstGeom>
          <a:solidFill>
            <a:srgbClr val="B08D57"/>
          </a:solidFill>
          <a:ln/>
        </p:spPr>
      </p:sp>
      <p:sp>
        <p:nvSpPr>
          <p:cNvPr id="108" name="Shape 106"/>
          <p:cNvSpPr/>
          <p:nvPr/>
        </p:nvSpPr>
        <p:spPr>
          <a:xfrm>
            <a:off x="6512814" y="3623310"/>
            <a:ext cx="123444" cy="123444"/>
          </a:xfrm>
          <a:prstGeom prst="ellipse">
            <a:avLst/>
          </a:prstGeom>
          <a:solidFill>
            <a:srgbClr val="B08D57"/>
          </a:solidFill>
          <a:ln/>
        </p:spPr>
      </p:sp>
      <p:sp>
        <p:nvSpPr>
          <p:cNvPr id="109" name="Shape 107"/>
          <p:cNvSpPr/>
          <p:nvPr/>
        </p:nvSpPr>
        <p:spPr>
          <a:xfrm>
            <a:off x="6704838" y="3623310"/>
            <a:ext cx="123444" cy="123444"/>
          </a:xfrm>
          <a:prstGeom prst="ellipse">
            <a:avLst/>
          </a:prstGeom>
          <a:solidFill>
            <a:srgbClr val="D7DEE7"/>
          </a:solidFill>
          <a:ln/>
        </p:spPr>
      </p:sp>
      <p:sp>
        <p:nvSpPr>
          <p:cNvPr id="110" name="Shape 108"/>
          <p:cNvSpPr/>
          <p:nvPr/>
        </p:nvSpPr>
        <p:spPr>
          <a:xfrm>
            <a:off x="6896862" y="3623310"/>
            <a:ext cx="123444" cy="123444"/>
          </a:xfrm>
          <a:prstGeom prst="ellipse">
            <a:avLst/>
          </a:prstGeom>
          <a:solidFill>
            <a:srgbClr val="D7DEE7"/>
          </a:solidFill>
          <a:ln/>
        </p:spPr>
      </p:sp>
      <p:sp>
        <p:nvSpPr>
          <p:cNvPr id="111" name="Shape 109"/>
          <p:cNvSpPr/>
          <p:nvPr/>
        </p:nvSpPr>
        <p:spPr>
          <a:xfrm>
            <a:off x="7088886" y="3623310"/>
            <a:ext cx="123444" cy="123444"/>
          </a:xfrm>
          <a:prstGeom prst="ellipse">
            <a:avLst/>
          </a:prstGeom>
          <a:solidFill>
            <a:srgbClr val="D7DEE7"/>
          </a:solidFill>
          <a:ln/>
        </p:spPr>
      </p:sp>
      <p:sp>
        <p:nvSpPr>
          <p:cNvPr id="112" name="Shape 110"/>
          <p:cNvSpPr/>
          <p:nvPr/>
        </p:nvSpPr>
        <p:spPr>
          <a:xfrm>
            <a:off x="7434072" y="3383280"/>
            <a:ext cx="1335024" cy="603504"/>
          </a:xfrm>
          <a:prstGeom prst="rect">
            <a:avLst/>
          </a:prstGeom>
          <a:solidFill>
            <a:srgbClr val="F4F6F9"/>
          </a:solidFill>
          <a:ln w="9525">
            <a:solidFill>
              <a:srgbClr val="DCE3EB"/>
            </a:solidFill>
            <a:prstDash val="solid"/>
          </a:ln>
        </p:spPr>
      </p:sp>
      <p:sp>
        <p:nvSpPr>
          <p:cNvPr id="113" name="Shape 111"/>
          <p:cNvSpPr/>
          <p:nvPr/>
        </p:nvSpPr>
        <p:spPr>
          <a:xfrm>
            <a:off x="7655814" y="3623310"/>
            <a:ext cx="123444" cy="123444"/>
          </a:xfrm>
          <a:prstGeom prst="ellipse">
            <a:avLst/>
          </a:prstGeom>
          <a:solidFill>
            <a:srgbClr val="B08D57"/>
          </a:solidFill>
          <a:ln/>
        </p:spPr>
      </p:sp>
      <p:sp>
        <p:nvSpPr>
          <p:cNvPr id="114" name="Shape 112"/>
          <p:cNvSpPr/>
          <p:nvPr/>
        </p:nvSpPr>
        <p:spPr>
          <a:xfrm>
            <a:off x="7847838" y="3623310"/>
            <a:ext cx="123444" cy="123444"/>
          </a:xfrm>
          <a:prstGeom prst="ellipse">
            <a:avLst/>
          </a:prstGeom>
          <a:solidFill>
            <a:srgbClr val="B08D57"/>
          </a:solidFill>
          <a:ln/>
        </p:spPr>
      </p:sp>
      <p:sp>
        <p:nvSpPr>
          <p:cNvPr id="115" name="Shape 113"/>
          <p:cNvSpPr/>
          <p:nvPr/>
        </p:nvSpPr>
        <p:spPr>
          <a:xfrm>
            <a:off x="8039862" y="3623310"/>
            <a:ext cx="123444" cy="123444"/>
          </a:xfrm>
          <a:prstGeom prst="ellipse">
            <a:avLst/>
          </a:prstGeom>
          <a:solidFill>
            <a:srgbClr val="B08D57"/>
          </a:solidFill>
          <a:ln/>
        </p:spPr>
      </p:sp>
      <p:sp>
        <p:nvSpPr>
          <p:cNvPr id="116" name="Shape 114"/>
          <p:cNvSpPr/>
          <p:nvPr/>
        </p:nvSpPr>
        <p:spPr>
          <a:xfrm>
            <a:off x="8231886" y="3623310"/>
            <a:ext cx="123444" cy="123444"/>
          </a:xfrm>
          <a:prstGeom prst="ellipse">
            <a:avLst/>
          </a:prstGeom>
          <a:solidFill>
            <a:srgbClr val="D7DEE7"/>
          </a:solidFill>
          <a:ln/>
        </p:spPr>
      </p:sp>
      <p:sp>
        <p:nvSpPr>
          <p:cNvPr id="117" name="Shape 115"/>
          <p:cNvSpPr/>
          <p:nvPr/>
        </p:nvSpPr>
        <p:spPr>
          <a:xfrm>
            <a:off x="8423910" y="3623310"/>
            <a:ext cx="123444" cy="123444"/>
          </a:xfrm>
          <a:prstGeom prst="ellipse">
            <a:avLst/>
          </a:prstGeom>
          <a:solidFill>
            <a:srgbClr val="D7DEE7"/>
          </a:solidFill>
          <a:ln/>
        </p:spPr>
      </p:sp>
      <p:sp>
        <p:nvSpPr>
          <p:cNvPr id="118" name="Shape 116"/>
          <p:cNvSpPr/>
          <p:nvPr/>
        </p:nvSpPr>
        <p:spPr>
          <a:xfrm>
            <a:off x="8769096" y="3383280"/>
            <a:ext cx="1335024" cy="603504"/>
          </a:xfrm>
          <a:prstGeom prst="rect">
            <a:avLst/>
          </a:prstGeom>
          <a:solidFill>
            <a:srgbClr val="F4F6F9"/>
          </a:solidFill>
          <a:ln w="9525">
            <a:solidFill>
              <a:srgbClr val="DCE3EB"/>
            </a:solidFill>
            <a:prstDash val="solid"/>
          </a:ln>
        </p:spPr>
      </p:sp>
      <p:sp>
        <p:nvSpPr>
          <p:cNvPr id="119" name="Shape 117"/>
          <p:cNvSpPr/>
          <p:nvPr/>
        </p:nvSpPr>
        <p:spPr>
          <a:xfrm>
            <a:off x="8990838" y="3623310"/>
            <a:ext cx="123444" cy="123444"/>
          </a:xfrm>
          <a:prstGeom prst="ellipse">
            <a:avLst/>
          </a:prstGeom>
          <a:solidFill>
            <a:srgbClr val="B08D57"/>
          </a:solidFill>
          <a:ln/>
        </p:spPr>
      </p:sp>
      <p:sp>
        <p:nvSpPr>
          <p:cNvPr id="120" name="Shape 118"/>
          <p:cNvSpPr/>
          <p:nvPr/>
        </p:nvSpPr>
        <p:spPr>
          <a:xfrm>
            <a:off x="9182862" y="3623310"/>
            <a:ext cx="123444" cy="123444"/>
          </a:xfrm>
          <a:prstGeom prst="ellipse">
            <a:avLst/>
          </a:prstGeom>
          <a:solidFill>
            <a:srgbClr val="B08D57"/>
          </a:solidFill>
          <a:ln/>
        </p:spPr>
      </p:sp>
      <p:sp>
        <p:nvSpPr>
          <p:cNvPr id="121" name="Shape 119"/>
          <p:cNvSpPr/>
          <p:nvPr/>
        </p:nvSpPr>
        <p:spPr>
          <a:xfrm>
            <a:off x="9374886" y="3623310"/>
            <a:ext cx="123444" cy="123444"/>
          </a:xfrm>
          <a:prstGeom prst="ellipse">
            <a:avLst/>
          </a:prstGeom>
          <a:solidFill>
            <a:srgbClr val="D7DEE7"/>
          </a:solidFill>
          <a:ln/>
        </p:spPr>
      </p:sp>
      <p:sp>
        <p:nvSpPr>
          <p:cNvPr id="122" name="Shape 120"/>
          <p:cNvSpPr/>
          <p:nvPr/>
        </p:nvSpPr>
        <p:spPr>
          <a:xfrm>
            <a:off x="9566910" y="3623310"/>
            <a:ext cx="123444" cy="123444"/>
          </a:xfrm>
          <a:prstGeom prst="ellipse">
            <a:avLst/>
          </a:prstGeom>
          <a:solidFill>
            <a:srgbClr val="D7DEE7"/>
          </a:solidFill>
          <a:ln/>
        </p:spPr>
      </p:sp>
      <p:sp>
        <p:nvSpPr>
          <p:cNvPr id="123" name="Shape 121"/>
          <p:cNvSpPr/>
          <p:nvPr/>
        </p:nvSpPr>
        <p:spPr>
          <a:xfrm>
            <a:off x="9758934" y="3623310"/>
            <a:ext cx="123444" cy="123444"/>
          </a:xfrm>
          <a:prstGeom prst="ellipse">
            <a:avLst/>
          </a:prstGeom>
          <a:solidFill>
            <a:srgbClr val="D7DEE7"/>
          </a:solidFill>
          <a:ln/>
        </p:spPr>
      </p:sp>
      <p:sp>
        <p:nvSpPr>
          <p:cNvPr id="124" name="Shape 122"/>
          <p:cNvSpPr/>
          <p:nvPr/>
        </p:nvSpPr>
        <p:spPr>
          <a:xfrm>
            <a:off x="10104120" y="3383280"/>
            <a:ext cx="1447495" cy="603504"/>
          </a:xfrm>
          <a:prstGeom prst="rect">
            <a:avLst/>
          </a:prstGeom>
          <a:solidFill>
            <a:srgbClr val="F4F6F9"/>
          </a:solidFill>
          <a:ln w="9525">
            <a:solidFill>
              <a:srgbClr val="DCE3EB"/>
            </a:solidFill>
            <a:prstDash val="solid"/>
          </a:ln>
        </p:spPr>
      </p:sp>
      <p:sp>
        <p:nvSpPr>
          <p:cNvPr id="125" name="Shape 123"/>
          <p:cNvSpPr/>
          <p:nvPr/>
        </p:nvSpPr>
        <p:spPr>
          <a:xfrm>
            <a:off x="10232136" y="3529584"/>
            <a:ext cx="1191463" cy="310896"/>
          </a:xfrm>
          <a:prstGeom prst="roundRect">
            <a:avLst>
              <a:gd name="adj" fmla="val 14706"/>
            </a:avLst>
          </a:prstGeom>
          <a:solidFill>
            <a:srgbClr val="EDF1F6"/>
          </a:solidFill>
          <a:ln/>
        </p:spPr>
      </p:sp>
      <p:sp>
        <p:nvSpPr>
          <p:cNvPr id="126" name="Text 124"/>
          <p:cNvSpPr/>
          <p:nvPr/>
        </p:nvSpPr>
        <p:spPr>
          <a:xfrm>
            <a:off x="10232136" y="3529584"/>
            <a:ext cx="1191463" cy="310896"/>
          </a:xfrm>
          <a:prstGeom prst="rect">
            <a:avLst/>
          </a:prstGeom>
          <a:noFill/>
          <a:ln/>
        </p:spPr>
        <p:txBody>
          <a:bodyPr wrap="square" lIns="0" tIns="0" rIns="0" bIns="0" rtlCol="0" anchor="ctr"/>
          <a:lstStyle/>
          <a:p>
            <a:pPr algn="ctr" indent="0" marL="0">
              <a:buNone/>
            </a:pPr>
            <a:r>
              <a:rPr lang="en-US" sz="1000" b="1" dirty="0">
                <a:solidFill>
                  <a:srgbClr val="7A8794"/>
                </a:solidFill>
                <a:latin typeface="Calibri" pitchFamily="34" charset="0"/>
                <a:ea typeface="Calibri" pitchFamily="34" charset="-122"/>
                <a:cs typeface="Calibri" pitchFamily="34" charset="-120"/>
              </a:rPr>
              <a:t>Pass</a:t>
            </a:r>
            <a:endParaRPr lang="en-US" sz="1000" dirty="0"/>
          </a:p>
        </p:txBody>
      </p:sp>
      <p:sp>
        <p:nvSpPr>
          <p:cNvPr id="127" name="Shape 125"/>
          <p:cNvSpPr/>
          <p:nvPr/>
        </p:nvSpPr>
        <p:spPr>
          <a:xfrm>
            <a:off x="640080" y="3986784"/>
            <a:ext cx="2788920" cy="603504"/>
          </a:xfrm>
          <a:prstGeom prst="rect">
            <a:avLst/>
          </a:prstGeom>
          <a:solidFill>
            <a:srgbClr val="FFFFFF"/>
          </a:solidFill>
          <a:ln w="9525">
            <a:solidFill>
              <a:srgbClr val="DCE3EB"/>
            </a:solidFill>
            <a:prstDash val="solid"/>
          </a:ln>
        </p:spPr>
      </p:sp>
      <p:sp>
        <p:nvSpPr>
          <p:cNvPr id="128" name="Text 126"/>
          <p:cNvSpPr/>
          <p:nvPr/>
        </p:nvSpPr>
        <p:spPr>
          <a:xfrm>
            <a:off x="786384" y="4059936"/>
            <a:ext cx="2514600"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Collections SaaS</a:t>
            </a:r>
            <a:endParaRPr lang="en-US" sz="1150" dirty="0"/>
          </a:p>
        </p:txBody>
      </p:sp>
      <p:sp>
        <p:nvSpPr>
          <p:cNvPr id="129" name="Text 127"/>
          <p:cNvSpPr/>
          <p:nvPr/>
        </p:nvSpPr>
        <p:spPr>
          <a:xfrm>
            <a:off x="786384" y="4315968"/>
            <a:ext cx="2514600" cy="237744"/>
          </a:xfrm>
          <a:prstGeom prst="rect">
            <a:avLst/>
          </a:prstGeom>
          <a:noFill/>
          <a:ln/>
        </p:spPr>
        <p:txBody>
          <a:bodyPr wrap="square" lIns="0" tIns="0" rIns="0" bIns="0" rtlCol="0" anchor="ctr"/>
          <a:lstStyle/>
          <a:p>
            <a:pPr indent="0" marL="0">
              <a:buNone/>
            </a:pPr>
            <a:r>
              <a:rPr lang="en-US" sz="880" i="1" dirty="0">
                <a:solidFill>
                  <a:srgbClr val="7A8794"/>
                </a:solidFill>
                <a:latin typeface="Calibri" pitchFamily="34" charset="0"/>
                <a:ea typeface="Calibri" pitchFamily="34" charset="-122"/>
                <a:cs typeface="Calibri" pitchFamily="34" charset="-120"/>
              </a:rPr>
              <a:t>e.g. Credgenics</a:t>
            </a:r>
            <a:endParaRPr lang="en-US" sz="880" dirty="0"/>
          </a:p>
        </p:txBody>
      </p:sp>
      <p:sp>
        <p:nvSpPr>
          <p:cNvPr id="130" name="Shape 128"/>
          <p:cNvSpPr/>
          <p:nvPr/>
        </p:nvSpPr>
        <p:spPr>
          <a:xfrm>
            <a:off x="3429000" y="3986784"/>
            <a:ext cx="1335024" cy="603504"/>
          </a:xfrm>
          <a:prstGeom prst="rect">
            <a:avLst/>
          </a:prstGeom>
          <a:solidFill>
            <a:srgbClr val="FFFFFF"/>
          </a:solidFill>
          <a:ln w="9525">
            <a:solidFill>
              <a:srgbClr val="DCE3EB"/>
            </a:solidFill>
            <a:prstDash val="solid"/>
          </a:ln>
        </p:spPr>
      </p:sp>
      <p:sp>
        <p:nvSpPr>
          <p:cNvPr id="131" name="Shape 129"/>
          <p:cNvSpPr/>
          <p:nvPr/>
        </p:nvSpPr>
        <p:spPr>
          <a:xfrm>
            <a:off x="3650742" y="4226814"/>
            <a:ext cx="123444" cy="123444"/>
          </a:xfrm>
          <a:prstGeom prst="ellipse">
            <a:avLst/>
          </a:prstGeom>
          <a:solidFill>
            <a:srgbClr val="B08D57"/>
          </a:solidFill>
          <a:ln/>
        </p:spPr>
      </p:sp>
      <p:sp>
        <p:nvSpPr>
          <p:cNvPr id="132" name="Shape 130"/>
          <p:cNvSpPr/>
          <p:nvPr/>
        </p:nvSpPr>
        <p:spPr>
          <a:xfrm>
            <a:off x="3842766" y="4226814"/>
            <a:ext cx="123444" cy="123444"/>
          </a:xfrm>
          <a:prstGeom prst="ellipse">
            <a:avLst/>
          </a:prstGeom>
          <a:solidFill>
            <a:srgbClr val="B08D57"/>
          </a:solidFill>
          <a:ln/>
        </p:spPr>
      </p:sp>
      <p:sp>
        <p:nvSpPr>
          <p:cNvPr id="133" name="Shape 131"/>
          <p:cNvSpPr/>
          <p:nvPr/>
        </p:nvSpPr>
        <p:spPr>
          <a:xfrm>
            <a:off x="4034790" y="4226814"/>
            <a:ext cx="123444" cy="123444"/>
          </a:xfrm>
          <a:prstGeom prst="ellipse">
            <a:avLst/>
          </a:prstGeom>
          <a:solidFill>
            <a:srgbClr val="B08D57"/>
          </a:solidFill>
          <a:ln/>
        </p:spPr>
      </p:sp>
      <p:sp>
        <p:nvSpPr>
          <p:cNvPr id="134" name="Shape 132"/>
          <p:cNvSpPr/>
          <p:nvPr/>
        </p:nvSpPr>
        <p:spPr>
          <a:xfrm>
            <a:off x="4226814" y="4226814"/>
            <a:ext cx="123444" cy="123444"/>
          </a:xfrm>
          <a:prstGeom prst="ellipse">
            <a:avLst/>
          </a:prstGeom>
          <a:solidFill>
            <a:srgbClr val="B08D57"/>
          </a:solidFill>
          <a:ln/>
        </p:spPr>
      </p:sp>
      <p:sp>
        <p:nvSpPr>
          <p:cNvPr id="135" name="Shape 133"/>
          <p:cNvSpPr/>
          <p:nvPr/>
        </p:nvSpPr>
        <p:spPr>
          <a:xfrm>
            <a:off x="4418838" y="4226814"/>
            <a:ext cx="123444" cy="123444"/>
          </a:xfrm>
          <a:prstGeom prst="ellipse">
            <a:avLst/>
          </a:prstGeom>
          <a:solidFill>
            <a:srgbClr val="D7DEE7"/>
          </a:solidFill>
          <a:ln/>
        </p:spPr>
      </p:sp>
      <p:sp>
        <p:nvSpPr>
          <p:cNvPr id="136" name="Shape 134"/>
          <p:cNvSpPr/>
          <p:nvPr/>
        </p:nvSpPr>
        <p:spPr>
          <a:xfrm>
            <a:off x="4764024" y="3986784"/>
            <a:ext cx="1335024" cy="603504"/>
          </a:xfrm>
          <a:prstGeom prst="rect">
            <a:avLst/>
          </a:prstGeom>
          <a:solidFill>
            <a:srgbClr val="FFFFFF"/>
          </a:solidFill>
          <a:ln w="9525">
            <a:solidFill>
              <a:srgbClr val="DCE3EB"/>
            </a:solidFill>
            <a:prstDash val="solid"/>
          </a:ln>
        </p:spPr>
      </p:sp>
      <p:sp>
        <p:nvSpPr>
          <p:cNvPr id="137" name="Shape 135"/>
          <p:cNvSpPr/>
          <p:nvPr/>
        </p:nvSpPr>
        <p:spPr>
          <a:xfrm>
            <a:off x="4985766" y="4226814"/>
            <a:ext cx="123444" cy="123444"/>
          </a:xfrm>
          <a:prstGeom prst="ellipse">
            <a:avLst/>
          </a:prstGeom>
          <a:solidFill>
            <a:srgbClr val="B08D57"/>
          </a:solidFill>
          <a:ln/>
        </p:spPr>
      </p:sp>
      <p:sp>
        <p:nvSpPr>
          <p:cNvPr id="138" name="Shape 136"/>
          <p:cNvSpPr/>
          <p:nvPr/>
        </p:nvSpPr>
        <p:spPr>
          <a:xfrm>
            <a:off x="5177790" y="4226814"/>
            <a:ext cx="123444" cy="123444"/>
          </a:xfrm>
          <a:prstGeom prst="ellipse">
            <a:avLst/>
          </a:prstGeom>
          <a:solidFill>
            <a:srgbClr val="B08D57"/>
          </a:solidFill>
          <a:ln/>
        </p:spPr>
      </p:sp>
      <p:sp>
        <p:nvSpPr>
          <p:cNvPr id="139" name="Shape 137"/>
          <p:cNvSpPr/>
          <p:nvPr/>
        </p:nvSpPr>
        <p:spPr>
          <a:xfrm>
            <a:off x="5369814" y="4226814"/>
            <a:ext cx="123444" cy="123444"/>
          </a:xfrm>
          <a:prstGeom prst="ellipse">
            <a:avLst/>
          </a:prstGeom>
          <a:solidFill>
            <a:srgbClr val="B08D57"/>
          </a:solidFill>
          <a:ln/>
        </p:spPr>
      </p:sp>
      <p:sp>
        <p:nvSpPr>
          <p:cNvPr id="140" name="Shape 138"/>
          <p:cNvSpPr/>
          <p:nvPr/>
        </p:nvSpPr>
        <p:spPr>
          <a:xfrm>
            <a:off x="5561838" y="4226814"/>
            <a:ext cx="123444" cy="123444"/>
          </a:xfrm>
          <a:prstGeom prst="ellipse">
            <a:avLst/>
          </a:prstGeom>
          <a:solidFill>
            <a:srgbClr val="B08D57"/>
          </a:solidFill>
          <a:ln/>
        </p:spPr>
      </p:sp>
      <p:sp>
        <p:nvSpPr>
          <p:cNvPr id="141" name="Shape 139"/>
          <p:cNvSpPr/>
          <p:nvPr/>
        </p:nvSpPr>
        <p:spPr>
          <a:xfrm>
            <a:off x="5753862" y="4226814"/>
            <a:ext cx="123444" cy="123444"/>
          </a:xfrm>
          <a:prstGeom prst="ellipse">
            <a:avLst/>
          </a:prstGeom>
          <a:solidFill>
            <a:srgbClr val="B08D57"/>
          </a:solidFill>
          <a:ln/>
        </p:spPr>
      </p:sp>
      <p:sp>
        <p:nvSpPr>
          <p:cNvPr id="142" name="Shape 140"/>
          <p:cNvSpPr/>
          <p:nvPr/>
        </p:nvSpPr>
        <p:spPr>
          <a:xfrm>
            <a:off x="6099048" y="3986784"/>
            <a:ext cx="1335024" cy="603504"/>
          </a:xfrm>
          <a:prstGeom prst="rect">
            <a:avLst/>
          </a:prstGeom>
          <a:solidFill>
            <a:srgbClr val="FFFFFF"/>
          </a:solidFill>
          <a:ln w="9525">
            <a:solidFill>
              <a:srgbClr val="DCE3EB"/>
            </a:solidFill>
            <a:prstDash val="solid"/>
          </a:ln>
        </p:spPr>
      </p:sp>
      <p:sp>
        <p:nvSpPr>
          <p:cNvPr id="143" name="Shape 141"/>
          <p:cNvSpPr/>
          <p:nvPr/>
        </p:nvSpPr>
        <p:spPr>
          <a:xfrm>
            <a:off x="6320790" y="4226814"/>
            <a:ext cx="123444" cy="123444"/>
          </a:xfrm>
          <a:prstGeom prst="ellipse">
            <a:avLst/>
          </a:prstGeom>
          <a:solidFill>
            <a:srgbClr val="B08D57"/>
          </a:solidFill>
          <a:ln/>
        </p:spPr>
      </p:sp>
      <p:sp>
        <p:nvSpPr>
          <p:cNvPr id="144" name="Shape 142"/>
          <p:cNvSpPr/>
          <p:nvPr/>
        </p:nvSpPr>
        <p:spPr>
          <a:xfrm>
            <a:off x="6512814" y="4226814"/>
            <a:ext cx="123444" cy="123444"/>
          </a:xfrm>
          <a:prstGeom prst="ellipse">
            <a:avLst/>
          </a:prstGeom>
          <a:solidFill>
            <a:srgbClr val="D7DEE7"/>
          </a:solidFill>
          <a:ln/>
        </p:spPr>
      </p:sp>
      <p:sp>
        <p:nvSpPr>
          <p:cNvPr id="145" name="Shape 143"/>
          <p:cNvSpPr/>
          <p:nvPr/>
        </p:nvSpPr>
        <p:spPr>
          <a:xfrm>
            <a:off x="6704838" y="4226814"/>
            <a:ext cx="123444" cy="123444"/>
          </a:xfrm>
          <a:prstGeom prst="ellipse">
            <a:avLst/>
          </a:prstGeom>
          <a:solidFill>
            <a:srgbClr val="D7DEE7"/>
          </a:solidFill>
          <a:ln/>
        </p:spPr>
      </p:sp>
      <p:sp>
        <p:nvSpPr>
          <p:cNvPr id="146" name="Shape 144"/>
          <p:cNvSpPr/>
          <p:nvPr/>
        </p:nvSpPr>
        <p:spPr>
          <a:xfrm>
            <a:off x="6896862" y="4226814"/>
            <a:ext cx="123444" cy="123444"/>
          </a:xfrm>
          <a:prstGeom prst="ellipse">
            <a:avLst/>
          </a:prstGeom>
          <a:solidFill>
            <a:srgbClr val="D7DEE7"/>
          </a:solidFill>
          <a:ln/>
        </p:spPr>
      </p:sp>
      <p:sp>
        <p:nvSpPr>
          <p:cNvPr id="147" name="Shape 145"/>
          <p:cNvSpPr/>
          <p:nvPr/>
        </p:nvSpPr>
        <p:spPr>
          <a:xfrm>
            <a:off x="7088886" y="4226814"/>
            <a:ext cx="123444" cy="123444"/>
          </a:xfrm>
          <a:prstGeom prst="ellipse">
            <a:avLst/>
          </a:prstGeom>
          <a:solidFill>
            <a:srgbClr val="D7DEE7"/>
          </a:solidFill>
          <a:ln/>
        </p:spPr>
      </p:sp>
      <p:sp>
        <p:nvSpPr>
          <p:cNvPr id="148" name="Shape 146"/>
          <p:cNvSpPr/>
          <p:nvPr/>
        </p:nvSpPr>
        <p:spPr>
          <a:xfrm>
            <a:off x="7434072" y="3986784"/>
            <a:ext cx="1335024" cy="603504"/>
          </a:xfrm>
          <a:prstGeom prst="rect">
            <a:avLst/>
          </a:prstGeom>
          <a:solidFill>
            <a:srgbClr val="FFFFFF"/>
          </a:solidFill>
          <a:ln w="9525">
            <a:solidFill>
              <a:srgbClr val="DCE3EB"/>
            </a:solidFill>
            <a:prstDash val="solid"/>
          </a:ln>
        </p:spPr>
      </p:sp>
      <p:sp>
        <p:nvSpPr>
          <p:cNvPr id="149" name="Shape 147"/>
          <p:cNvSpPr/>
          <p:nvPr/>
        </p:nvSpPr>
        <p:spPr>
          <a:xfrm>
            <a:off x="7655814" y="4226814"/>
            <a:ext cx="123444" cy="123444"/>
          </a:xfrm>
          <a:prstGeom prst="ellipse">
            <a:avLst/>
          </a:prstGeom>
          <a:solidFill>
            <a:srgbClr val="B08D57"/>
          </a:solidFill>
          <a:ln/>
        </p:spPr>
      </p:sp>
      <p:sp>
        <p:nvSpPr>
          <p:cNvPr id="150" name="Shape 148"/>
          <p:cNvSpPr/>
          <p:nvPr/>
        </p:nvSpPr>
        <p:spPr>
          <a:xfrm>
            <a:off x="7847838" y="4226814"/>
            <a:ext cx="123444" cy="123444"/>
          </a:xfrm>
          <a:prstGeom prst="ellipse">
            <a:avLst/>
          </a:prstGeom>
          <a:solidFill>
            <a:srgbClr val="B08D57"/>
          </a:solidFill>
          <a:ln/>
        </p:spPr>
      </p:sp>
      <p:sp>
        <p:nvSpPr>
          <p:cNvPr id="151" name="Shape 149"/>
          <p:cNvSpPr/>
          <p:nvPr/>
        </p:nvSpPr>
        <p:spPr>
          <a:xfrm>
            <a:off x="8039862" y="4226814"/>
            <a:ext cx="123444" cy="123444"/>
          </a:xfrm>
          <a:prstGeom prst="ellipse">
            <a:avLst/>
          </a:prstGeom>
          <a:solidFill>
            <a:srgbClr val="B08D57"/>
          </a:solidFill>
          <a:ln/>
        </p:spPr>
      </p:sp>
      <p:sp>
        <p:nvSpPr>
          <p:cNvPr id="152" name="Shape 150"/>
          <p:cNvSpPr/>
          <p:nvPr/>
        </p:nvSpPr>
        <p:spPr>
          <a:xfrm>
            <a:off x="8231886" y="4226814"/>
            <a:ext cx="123444" cy="123444"/>
          </a:xfrm>
          <a:prstGeom prst="ellipse">
            <a:avLst/>
          </a:prstGeom>
          <a:solidFill>
            <a:srgbClr val="D7DEE7"/>
          </a:solidFill>
          <a:ln/>
        </p:spPr>
      </p:sp>
      <p:sp>
        <p:nvSpPr>
          <p:cNvPr id="153" name="Shape 151"/>
          <p:cNvSpPr/>
          <p:nvPr/>
        </p:nvSpPr>
        <p:spPr>
          <a:xfrm>
            <a:off x="8423910" y="4226814"/>
            <a:ext cx="123444" cy="123444"/>
          </a:xfrm>
          <a:prstGeom prst="ellipse">
            <a:avLst/>
          </a:prstGeom>
          <a:solidFill>
            <a:srgbClr val="D7DEE7"/>
          </a:solidFill>
          <a:ln/>
        </p:spPr>
      </p:sp>
      <p:sp>
        <p:nvSpPr>
          <p:cNvPr id="154" name="Shape 152"/>
          <p:cNvSpPr/>
          <p:nvPr/>
        </p:nvSpPr>
        <p:spPr>
          <a:xfrm>
            <a:off x="8769096" y="3986784"/>
            <a:ext cx="1335024" cy="603504"/>
          </a:xfrm>
          <a:prstGeom prst="rect">
            <a:avLst/>
          </a:prstGeom>
          <a:solidFill>
            <a:srgbClr val="FFFFFF"/>
          </a:solidFill>
          <a:ln w="9525">
            <a:solidFill>
              <a:srgbClr val="DCE3EB"/>
            </a:solidFill>
            <a:prstDash val="solid"/>
          </a:ln>
        </p:spPr>
      </p:sp>
      <p:sp>
        <p:nvSpPr>
          <p:cNvPr id="155" name="Shape 153"/>
          <p:cNvSpPr/>
          <p:nvPr/>
        </p:nvSpPr>
        <p:spPr>
          <a:xfrm>
            <a:off x="8990838" y="4226814"/>
            <a:ext cx="123444" cy="123444"/>
          </a:xfrm>
          <a:prstGeom prst="ellipse">
            <a:avLst/>
          </a:prstGeom>
          <a:solidFill>
            <a:srgbClr val="B08D57"/>
          </a:solidFill>
          <a:ln/>
        </p:spPr>
      </p:sp>
      <p:sp>
        <p:nvSpPr>
          <p:cNvPr id="156" name="Shape 154"/>
          <p:cNvSpPr/>
          <p:nvPr/>
        </p:nvSpPr>
        <p:spPr>
          <a:xfrm>
            <a:off x="9182862" y="4226814"/>
            <a:ext cx="123444" cy="123444"/>
          </a:xfrm>
          <a:prstGeom prst="ellipse">
            <a:avLst/>
          </a:prstGeom>
          <a:solidFill>
            <a:srgbClr val="D7DEE7"/>
          </a:solidFill>
          <a:ln/>
        </p:spPr>
      </p:sp>
      <p:sp>
        <p:nvSpPr>
          <p:cNvPr id="157" name="Shape 155"/>
          <p:cNvSpPr/>
          <p:nvPr/>
        </p:nvSpPr>
        <p:spPr>
          <a:xfrm>
            <a:off x="9374886" y="4226814"/>
            <a:ext cx="123444" cy="123444"/>
          </a:xfrm>
          <a:prstGeom prst="ellipse">
            <a:avLst/>
          </a:prstGeom>
          <a:solidFill>
            <a:srgbClr val="D7DEE7"/>
          </a:solidFill>
          <a:ln/>
        </p:spPr>
      </p:sp>
      <p:sp>
        <p:nvSpPr>
          <p:cNvPr id="158" name="Shape 156"/>
          <p:cNvSpPr/>
          <p:nvPr/>
        </p:nvSpPr>
        <p:spPr>
          <a:xfrm>
            <a:off x="9566910" y="4226814"/>
            <a:ext cx="123444" cy="123444"/>
          </a:xfrm>
          <a:prstGeom prst="ellipse">
            <a:avLst/>
          </a:prstGeom>
          <a:solidFill>
            <a:srgbClr val="D7DEE7"/>
          </a:solidFill>
          <a:ln/>
        </p:spPr>
      </p:sp>
      <p:sp>
        <p:nvSpPr>
          <p:cNvPr id="159" name="Shape 157"/>
          <p:cNvSpPr/>
          <p:nvPr/>
        </p:nvSpPr>
        <p:spPr>
          <a:xfrm>
            <a:off x="9758934" y="4226814"/>
            <a:ext cx="123444" cy="123444"/>
          </a:xfrm>
          <a:prstGeom prst="ellipse">
            <a:avLst/>
          </a:prstGeom>
          <a:solidFill>
            <a:srgbClr val="D7DEE7"/>
          </a:solidFill>
          <a:ln/>
        </p:spPr>
      </p:sp>
      <p:sp>
        <p:nvSpPr>
          <p:cNvPr id="160" name="Shape 158"/>
          <p:cNvSpPr/>
          <p:nvPr/>
        </p:nvSpPr>
        <p:spPr>
          <a:xfrm>
            <a:off x="10104120" y="3986784"/>
            <a:ext cx="1447495" cy="603504"/>
          </a:xfrm>
          <a:prstGeom prst="rect">
            <a:avLst/>
          </a:prstGeom>
          <a:solidFill>
            <a:srgbClr val="FFFFFF"/>
          </a:solidFill>
          <a:ln w="9525">
            <a:solidFill>
              <a:srgbClr val="DCE3EB"/>
            </a:solidFill>
            <a:prstDash val="solid"/>
          </a:ln>
        </p:spPr>
      </p:sp>
      <p:sp>
        <p:nvSpPr>
          <p:cNvPr id="161" name="Shape 159"/>
          <p:cNvSpPr/>
          <p:nvPr/>
        </p:nvSpPr>
        <p:spPr>
          <a:xfrm>
            <a:off x="10232136" y="4133088"/>
            <a:ext cx="1191463" cy="310896"/>
          </a:xfrm>
          <a:prstGeom prst="roundRect">
            <a:avLst>
              <a:gd name="adj" fmla="val 14706"/>
            </a:avLst>
          </a:prstGeom>
          <a:solidFill>
            <a:srgbClr val="EDF1F6"/>
          </a:solidFill>
          <a:ln/>
        </p:spPr>
      </p:sp>
      <p:sp>
        <p:nvSpPr>
          <p:cNvPr id="162" name="Text 160"/>
          <p:cNvSpPr/>
          <p:nvPr/>
        </p:nvSpPr>
        <p:spPr>
          <a:xfrm>
            <a:off x="10232136" y="4133088"/>
            <a:ext cx="1191463" cy="310896"/>
          </a:xfrm>
          <a:prstGeom prst="rect">
            <a:avLst/>
          </a:prstGeom>
          <a:noFill/>
          <a:ln/>
        </p:spPr>
        <p:txBody>
          <a:bodyPr wrap="square" lIns="0" tIns="0" rIns="0" bIns="0" rtlCol="0" anchor="ctr"/>
          <a:lstStyle/>
          <a:p>
            <a:pPr algn="ctr" indent="0" marL="0">
              <a:buNone/>
            </a:pPr>
            <a:r>
              <a:rPr lang="en-US" sz="1000" b="1" dirty="0">
                <a:solidFill>
                  <a:srgbClr val="7A8794"/>
                </a:solidFill>
                <a:latin typeface="Calibri" pitchFamily="34" charset="0"/>
                <a:ea typeface="Calibri" pitchFamily="34" charset="-122"/>
                <a:cs typeface="Calibri" pitchFamily="34" charset="-120"/>
              </a:rPr>
              <a:t>Pass</a:t>
            </a:r>
            <a:endParaRPr lang="en-US" sz="1000" dirty="0"/>
          </a:p>
        </p:txBody>
      </p:sp>
      <p:sp>
        <p:nvSpPr>
          <p:cNvPr id="163" name="Shape 161"/>
          <p:cNvSpPr/>
          <p:nvPr/>
        </p:nvSpPr>
        <p:spPr>
          <a:xfrm>
            <a:off x="640080" y="4590288"/>
            <a:ext cx="2788920" cy="603504"/>
          </a:xfrm>
          <a:prstGeom prst="rect">
            <a:avLst/>
          </a:prstGeom>
          <a:solidFill>
            <a:srgbClr val="F4F6F9"/>
          </a:solidFill>
          <a:ln w="9525">
            <a:solidFill>
              <a:srgbClr val="DCE3EB"/>
            </a:solidFill>
            <a:prstDash val="solid"/>
          </a:ln>
        </p:spPr>
      </p:sp>
      <p:sp>
        <p:nvSpPr>
          <p:cNvPr id="164" name="Text 162"/>
          <p:cNvSpPr/>
          <p:nvPr/>
        </p:nvSpPr>
        <p:spPr>
          <a:xfrm>
            <a:off x="786384" y="4663440"/>
            <a:ext cx="2514600"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Soundbox / POS maker</a:t>
            </a:r>
            <a:endParaRPr lang="en-US" sz="1150" dirty="0"/>
          </a:p>
        </p:txBody>
      </p:sp>
      <p:sp>
        <p:nvSpPr>
          <p:cNvPr id="165" name="Text 163"/>
          <p:cNvSpPr/>
          <p:nvPr/>
        </p:nvSpPr>
        <p:spPr>
          <a:xfrm>
            <a:off x="786384" y="4919472"/>
            <a:ext cx="2514600" cy="237744"/>
          </a:xfrm>
          <a:prstGeom prst="rect">
            <a:avLst/>
          </a:prstGeom>
          <a:noFill/>
          <a:ln/>
        </p:spPr>
        <p:txBody>
          <a:bodyPr wrap="square" lIns="0" tIns="0" rIns="0" bIns="0" rtlCol="0" anchor="ctr"/>
          <a:lstStyle/>
          <a:p>
            <a:pPr indent="0" marL="0">
              <a:buNone/>
            </a:pPr>
            <a:r>
              <a:rPr lang="en-US" sz="880" i="1" dirty="0">
                <a:solidFill>
                  <a:srgbClr val="7A8794"/>
                </a:solidFill>
                <a:latin typeface="Calibri" pitchFamily="34" charset="0"/>
                <a:ea typeface="Calibri" pitchFamily="34" charset="-122"/>
                <a:cs typeface="Calibri" pitchFamily="34" charset="-120"/>
              </a:rPr>
              <a:t>Device and infrastructure</a:t>
            </a:r>
            <a:endParaRPr lang="en-US" sz="880" dirty="0"/>
          </a:p>
        </p:txBody>
      </p:sp>
      <p:sp>
        <p:nvSpPr>
          <p:cNvPr id="166" name="Shape 164"/>
          <p:cNvSpPr/>
          <p:nvPr/>
        </p:nvSpPr>
        <p:spPr>
          <a:xfrm>
            <a:off x="3429000" y="4590288"/>
            <a:ext cx="1335024" cy="603504"/>
          </a:xfrm>
          <a:prstGeom prst="rect">
            <a:avLst/>
          </a:prstGeom>
          <a:solidFill>
            <a:srgbClr val="F4F6F9"/>
          </a:solidFill>
          <a:ln w="9525">
            <a:solidFill>
              <a:srgbClr val="DCE3EB"/>
            </a:solidFill>
            <a:prstDash val="solid"/>
          </a:ln>
        </p:spPr>
      </p:sp>
      <p:sp>
        <p:nvSpPr>
          <p:cNvPr id="167" name="Shape 165"/>
          <p:cNvSpPr/>
          <p:nvPr/>
        </p:nvSpPr>
        <p:spPr>
          <a:xfrm>
            <a:off x="3650742" y="4830318"/>
            <a:ext cx="123444" cy="123444"/>
          </a:xfrm>
          <a:prstGeom prst="ellipse">
            <a:avLst/>
          </a:prstGeom>
          <a:solidFill>
            <a:srgbClr val="B08D57"/>
          </a:solidFill>
          <a:ln/>
        </p:spPr>
      </p:sp>
      <p:sp>
        <p:nvSpPr>
          <p:cNvPr id="168" name="Shape 166"/>
          <p:cNvSpPr/>
          <p:nvPr/>
        </p:nvSpPr>
        <p:spPr>
          <a:xfrm>
            <a:off x="3842766" y="4830318"/>
            <a:ext cx="123444" cy="123444"/>
          </a:xfrm>
          <a:prstGeom prst="ellipse">
            <a:avLst/>
          </a:prstGeom>
          <a:solidFill>
            <a:srgbClr val="B08D57"/>
          </a:solidFill>
          <a:ln/>
        </p:spPr>
      </p:sp>
      <p:sp>
        <p:nvSpPr>
          <p:cNvPr id="169" name="Shape 167"/>
          <p:cNvSpPr/>
          <p:nvPr/>
        </p:nvSpPr>
        <p:spPr>
          <a:xfrm>
            <a:off x="4034790" y="4830318"/>
            <a:ext cx="123444" cy="123444"/>
          </a:xfrm>
          <a:prstGeom prst="ellipse">
            <a:avLst/>
          </a:prstGeom>
          <a:solidFill>
            <a:srgbClr val="B08D57"/>
          </a:solidFill>
          <a:ln/>
        </p:spPr>
      </p:sp>
      <p:sp>
        <p:nvSpPr>
          <p:cNvPr id="170" name="Shape 168"/>
          <p:cNvSpPr/>
          <p:nvPr/>
        </p:nvSpPr>
        <p:spPr>
          <a:xfrm>
            <a:off x="4226814" y="4830318"/>
            <a:ext cx="123444" cy="123444"/>
          </a:xfrm>
          <a:prstGeom prst="ellipse">
            <a:avLst/>
          </a:prstGeom>
          <a:solidFill>
            <a:srgbClr val="B08D57"/>
          </a:solidFill>
          <a:ln/>
        </p:spPr>
      </p:sp>
      <p:sp>
        <p:nvSpPr>
          <p:cNvPr id="171" name="Shape 169"/>
          <p:cNvSpPr/>
          <p:nvPr/>
        </p:nvSpPr>
        <p:spPr>
          <a:xfrm>
            <a:off x="4418838" y="4830318"/>
            <a:ext cx="123444" cy="123444"/>
          </a:xfrm>
          <a:prstGeom prst="ellipse">
            <a:avLst/>
          </a:prstGeom>
          <a:solidFill>
            <a:srgbClr val="D7DEE7"/>
          </a:solidFill>
          <a:ln/>
        </p:spPr>
      </p:sp>
      <p:sp>
        <p:nvSpPr>
          <p:cNvPr id="172" name="Shape 170"/>
          <p:cNvSpPr/>
          <p:nvPr/>
        </p:nvSpPr>
        <p:spPr>
          <a:xfrm>
            <a:off x="4764024" y="4590288"/>
            <a:ext cx="1335024" cy="603504"/>
          </a:xfrm>
          <a:prstGeom prst="rect">
            <a:avLst/>
          </a:prstGeom>
          <a:solidFill>
            <a:srgbClr val="F4F6F9"/>
          </a:solidFill>
          <a:ln w="9525">
            <a:solidFill>
              <a:srgbClr val="DCE3EB"/>
            </a:solidFill>
            <a:prstDash val="solid"/>
          </a:ln>
        </p:spPr>
      </p:sp>
      <p:sp>
        <p:nvSpPr>
          <p:cNvPr id="173" name="Shape 171"/>
          <p:cNvSpPr/>
          <p:nvPr/>
        </p:nvSpPr>
        <p:spPr>
          <a:xfrm>
            <a:off x="4985766" y="4830318"/>
            <a:ext cx="123444" cy="123444"/>
          </a:xfrm>
          <a:prstGeom prst="ellipse">
            <a:avLst/>
          </a:prstGeom>
          <a:solidFill>
            <a:srgbClr val="B08D57"/>
          </a:solidFill>
          <a:ln/>
        </p:spPr>
      </p:sp>
      <p:sp>
        <p:nvSpPr>
          <p:cNvPr id="174" name="Shape 172"/>
          <p:cNvSpPr/>
          <p:nvPr/>
        </p:nvSpPr>
        <p:spPr>
          <a:xfrm>
            <a:off x="5177790" y="4830318"/>
            <a:ext cx="123444" cy="123444"/>
          </a:xfrm>
          <a:prstGeom prst="ellipse">
            <a:avLst/>
          </a:prstGeom>
          <a:solidFill>
            <a:srgbClr val="B08D57"/>
          </a:solidFill>
          <a:ln/>
        </p:spPr>
      </p:sp>
      <p:sp>
        <p:nvSpPr>
          <p:cNvPr id="175" name="Shape 173"/>
          <p:cNvSpPr/>
          <p:nvPr/>
        </p:nvSpPr>
        <p:spPr>
          <a:xfrm>
            <a:off x="5369814" y="4830318"/>
            <a:ext cx="123444" cy="123444"/>
          </a:xfrm>
          <a:prstGeom prst="ellipse">
            <a:avLst/>
          </a:prstGeom>
          <a:solidFill>
            <a:srgbClr val="B08D57"/>
          </a:solidFill>
          <a:ln/>
        </p:spPr>
      </p:sp>
      <p:sp>
        <p:nvSpPr>
          <p:cNvPr id="176" name="Shape 174"/>
          <p:cNvSpPr/>
          <p:nvPr/>
        </p:nvSpPr>
        <p:spPr>
          <a:xfrm>
            <a:off x="5561838" y="4830318"/>
            <a:ext cx="123444" cy="123444"/>
          </a:xfrm>
          <a:prstGeom prst="ellipse">
            <a:avLst/>
          </a:prstGeom>
          <a:solidFill>
            <a:srgbClr val="D7DEE7"/>
          </a:solidFill>
          <a:ln/>
        </p:spPr>
      </p:sp>
      <p:sp>
        <p:nvSpPr>
          <p:cNvPr id="177" name="Shape 175"/>
          <p:cNvSpPr/>
          <p:nvPr/>
        </p:nvSpPr>
        <p:spPr>
          <a:xfrm>
            <a:off x="5753862" y="4830318"/>
            <a:ext cx="123444" cy="123444"/>
          </a:xfrm>
          <a:prstGeom prst="ellipse">
            <a:avLst/>
          </a:prstGeom>
          <a:solidFill>
            <a:srgbClr val="D7DEE7"/>
          </a:solidFill>
          <a:ln/>
        </p:spPr>
      </p:sp>
      <p:sp>
        <p:nvSpPr>
          <p:cNvPr id="178" name="Shape 176"/>
          <p:cNvSpPr/>
          <p:nvPr/>
        </p:nvSpPr>
        <p:spPr>
          <a:xfrm>
            <a:off x="6099048" y="4590288"/>
            <a:ext cx="1335024" cy="603504"/>
          </a:xfrm>
          <a:prstGeom prst="rect">
            <a:avLst/>
          </a:prstGeom>
          <a:solidFill>
            <a:srgbClr val="F4F6F9"/>
          </a:solidFill>
          <a:ln w="9525">
            <a:solidFill>
              <a:srgbClr val="DCE3EB"/>
            </a:solidFill>
            <a:prstDash val="solid"/>
          </a:ln>
        </p:spPr>
      </p:sp>
      <p:sp>
        <p:nvSpPr>
          <p:cNvPr id="179" name="Shape 177"/>
          <p:cNvSpPr/>
          <p:nvPr/>
        </p:nvSpPr>
        <p:spPr>
          <a:xfrm>
            <a:off x="6320790" y="4830318"/>
            <a:ext cx="123444" cy="123444"/>
          </a:xfrm>
          <a:prstGeom prst="ellipse">
            <a:avLst/>
          </a:prstGeom>
          <a:solidFill>
            <a:srgbClr val="B08D57"/>
          </a:solidFill>
          <a:ln/>
        </p:spPr>
      </p:sp>
      <p:sp>
        <p:nvSpPr>
          <p:cNvPr id="180" name="Shape 178"/>
          <p:cNvSpPr/>
          <p:nvPr/>
        </p:nvSpPr>
        <p:spPr>
          <a:xfrm>
            <a:off x="6512814" y="4830318"/>
            <a:ext cx="123444" cy="123444"/>
          </a:xfrm>
          <a:prstGeom prst="ellipse">
            <a:avLst/>
          </a:prstGeom>
          <a:solidFill>
            <a:srgbClr val="B08D57"/>
          </a:solidFill>
          <a:ln/>
        </p:spPr>
      </p:sp>
      <p:sp>
        <p:nvSpPr>
          <p:cNvPr id="181" name="Shape 179"/>
          <p:cNvSpPr/>
          <p:nvPr/>
        </p:nvSpPr>
        <p:spPr>
          <a:xfrm>
            <a:off x="6704838" y="4830318"/>
            <a:ext cx="123444" cy="123444"/>
          </a:xfrm>
          <a:prstGeom prst="ellipse">
            <a:avLst/>
          </a:prstGeom>
          <a:solidFill>
            <a:srgbClr val="B08D57"/>
          </a:solidFill>
          <a:ln/>
        </p:spPr>
      </p:sp>
      <p:sp>
        <p:nvSpPr>
          <p:cNvPr id="182" name="Shape 180"/>
          <p:cNvSpPr/>
          <p:nvPr/>
        </p:nvSpPr>
        <p:spPr>
          <a:xfrm>
            <a:off x="6896862" y="4830318"/>
            <a:ext cx="123444" cy="123444"/>
          </a:xfrm>
          <a:prstGeom prst="ellipse">
            <a:avLst/>
          </a:prstGeom>
          <a:solidFill>
            <a:srgbClr val="D7DEE7"/>
          </a:solidFill>
          <a:ln/>
        </p:spPr>
      </p:sp>
      <p:sp>
        <p:nvSpPr>
          <p:cNvPr id="183" name="Shape 181"/>
          <p:cNvSpPr/>
          <p:nvPr/>
        </p:nvSpPr>
        <p:spPr>
          <a:xfrm>
            <a:off x="7088886" y="4830318"/>
            <a:ext cx="123444" cy="123444"/>
          </a:xfrm>
          <a:prstGeom prst="ellipse">
            <a:avLst/>
          </a:prstGeom>
          <a:solidFill>
            <a:srgbClr val="D7DEE7"/>
          </a:solidFill>
          <a:ln/>
        </p:spPr>
      </p:sp>
      <p:sp>
        <p:nvSpPr>
          <p:cNvPr id="184" name="Shape 182"/>
          <p:cNvSpPr/>
          <p:nvPr/>
        </p:nvSpPr>
        <p:spPr>
          <a:xfrm>
            <a:off x="7434072" y="4590288"/>
            <a:ext cx="1335024" cy="603504"/>
          </a:xfrm>
          <a:prstGeom prst="rect">
            <a:avLst/>
          </a:prstGeom>
          <a:solidFill>
            <a:srgbClr val="F4F6F9"/>
          </a:solidFill>
          <a:ln w="9525">
            <a:solidFill>
              <a:srgbClr val="DCE3EB"/>
            </a:solidFill>
            <a:prstDash val="solid"/>
          </a:ln>
        </p:spPr>
      </p:sp>
      <p:sp>
        <p:nvSpPr>
          <p:cNvPr id="185" name="Shape 183"/>
          <p:cNvSpPr/>
          <p:nvPr/>
        </p:nvSpPr>
        <p:spPr>
          <a:xfrm>
            <a:off x="7655814" y="4830318"/>
            <a:ext cx="123444" cy="123444"/>
          </a:xfrm>
          <a:prstGeom prst="ellipse">
            <a:avLst/>
          </a:prstGeom>
          <a:solidFill>
            <a:srgbClr val="B08D57"/>
          </a:solidFill>
          <a:ln/>
        </p:spPr>
      </p:sp>
      <p:sp>
        <p:nvSpPr>
          <p:cNvPr id="186" name="Shape 184"/>
          <p:cNvSpPr/>
          <p:nvPr/>
        </p:nvSpPr>
        <p:spPr>
          <a:xfrm>
            <a:off x="7847838" y="4830318"/>
            <a:ext cx="123444" cy="123444"/>
          </a:xfrm>
          <a:prstGeom prst="ellipse">
            <a:avLst/>
          </a:prstGeom>
          <a:solidFill>
            <a:srgbClr val="B08D57"/>
          </a:solidFill>
          <a:ln/>
        </p:spPr>
      </p:sp>
      <p:sp>
        <p:nvSpPr>
          <p:cNvPr id="187" name="Shape 185"/>
          <p:cNvSpPr/>
          <p:nvPr/>
        </p:nvSpPr>
        <p:spPr>
          <a:xfrm>
            <a:off x="8039862" y="4830318"/>
            <a:ext cx="123444" cy="123444"/>
          </a:xfrm>
          <a:prstGeom prst="ellipse">
            <a:avLst/>
          </a:prstGeom>
          <a:solidFill>
            <a:srgbClr val="B08D57"/>
          </a:solidFill>
          <a:ln/>
        </p:spPr>
      </p:sp>
      <p:sp>
        <p:nvSpPr>
          <p:cNvPr id="188" name="Shape 186"/>
          <p:cNvSpPr/>
          <p:nvPr/>
        </p:nvSpPr>
        <p:spPr>
          <a:xfrm>
            <a:off x="8231886" y="4830318"/>
            <a:ext cx="123444" cy="123444"/>
          </a:xfrm>
          <a:prstGeom prst="ellipse">
            <a:avLst/>
          </a:prstGeom>
          <a:solidFill>
            <a:srgbClr val="D7DEE7"/>
          </a:solidFill>
          <a:ln/>
        </p:spPr>
      </p:sp>
      <p:sp>
        <p:nvSpPr>
          <p:cNvPr id="189" name="Shape 187"/>
          <p:cNvSpPr/>
          <p:nvPr/>
        </p:nvSpPr>
        <p:spPr>
          <a:xfrm>
            <a:off x="8423910" y="4830318"/>
            <a:ext cx="123444" cy="123444"/>
          </a:xfrm>
          <a:prstGeom prst="ellipse">
            <a:avLst/>
          </a:prstGeom>
          <a:solidFill>
            <a:srgbClr val="D7DEE7"/>
          </a:solidFill>
          <a:ln/>
        </p:spPr>
      </p:sp>
      <p:sp>
        <p:nvSpPr>
          <p:cNvPr id="190" name="Shape 188"/>
          <p:cNvSpPr/>
          <p:nvPr/>
        </p:nvSpPr>
        <p:spPr>
          <a:xfrm>
            <a:off x="8769096" y="4590288"/>
            <a:ext cx="1335024" cy="603504"/>
          </a:xfrm>
          <a:prstGeom prst="rect">
            <a:avLst/>
          </a:prstGeom>
          <a:solidFill>
            <a:srgbClr val="F4F6F9"/>
          </a:solidFill>
          <a:ln w="9525">
            <a:solidFill>
              <a:srgbClr val="DCE3EB"/>
            </a:solidFill>
            <a:prstDash val="solid"/>
          </a:ln>
        </p:spPr>
      </p:sp>
      <p:sp>
        <p:nvSpPr>
          <p:cNvPr id="191" name="Shape 189"/>
          <p:cNvSpPr/>
          <p:nvPr/>
        </p:nvSpPr>
        <p:spPr>
          <a:xfrm>
            <a:off x="8990838" y="4830318"/>
            <a:ext cx="123444" cy="123444"/>
          </a:xfrm>
          <a:prstGeom prst="ellipse">
            <a:avLst/>
          </a:prstGeom>
          <a:solidFill>
            <a:srgbClr val="B08D57"/>
          </a:solidFill>
          <a:ln/>
        </p:spPr>
      </p:sp>
      <p:sp>
        <p:nvSpPr>
          <p:cNvPr id="192" name="Shape 190"/>
          <p:cNvSpPr/>
          <p:nvPr/>
        </p:nvSpPr>
        <p:spPr>
          <a:xfrm>
            <a:off x="9182862" y="4830318"/>
            <a:ext cx="123444" cy="123444"/>
          </a:xfrm>
          <a:prstGeom prst="ellipse">
            <a:avLst/>
          </a:prstGeom>
          <a:solidFill>
            <a:srgbClr val="B08D57"/>
          </a:solidFill>
          <a:ln/>
        </p:spPr>
      </p:sp>
      <p:sp>
        <p:nvSpPr>
          <p:cNvPr id="193" name="Shape 191"/>
          <p:cNvSpPr/>
          <p:nvPr/>
        </p:nvSpPr>
        <p:spPr>
          <a:xfrm>
            <a:off x="9374886" y="4830318"/>
            <a:ext cx="123444" cy="123444"/>
          </a:xfrm>
          <a:prstGeom prst="ellipse">
            <a:avLst/>
          </a:prstGeom>
          <a:solidFill>
            <a:srgbClr val="B08D57"/>
          </a:solidFill>
          <a:ln/>
        </p:spPr>
      </p:sp>
      <p:sp>
        <p:nvSpPr>
          <p:cNvPr id="194" name="Shape 192"/>
          <p:cNvSpPr/>
          <p:nvPr/>
        </p:nvSpPr>
        <p:spPr>
          <a:xfrm>
            <a:off x="9566910" y="4830318"/>
            <a:ext cx="123444" cy="123444"/>
          </a:xfrm>
          <a:prstGeom prst="ellipse">
            <a:avLst/>
          </a:prstGeom>
          <a:solidFill>
            <a:srgbClr val="D7DEE7"/>
          </a:solidFill>
          <a:ln/>
        </p:spPr>
      </p:sp>
      <p:sp>
        <p:nvSpPr>
          <p:cNvPr id="195" name="Shape 193"/>
          <p:cNvSpPr/>
          <p:nvPr/>
        </p:nvSpPr>
        <p:spPr>
          <a:xfrm>
            <a:off x="9758934" y="4830318"/>
            <a:ext cx="123444" cy="123444"/>
          </a:xfrm>
          <a:prstGeom prst="ellipse">
            <a:avLst/>
          </a:prstGeom>
          <a:solidFill>
            <a:srgbClr val="D7DEE7"/>
          </a:solidFill>
          <a:ln/>
        </p:spPr>
      </p:sp>
      <p:sp>
        <p:nvSpPr>
          <p:cNvPr id="196" name="Shape 194"/>
          <p:cNvSpPr/>
          <p:nvPr/>
        </p:nvSpPr>
        <p:spPr>
          <a:xfrm>
            <a:off x="10104120" y="4590288"/>
            <a:ext cx="1447495" cy="603504"/>
          </a:xfrm>
          <a:prstGeom prst="rect">
            <a:avLst/>
          </a:prstGeom>
          <a:solidFill>
            <a:srgbClr val="F4F6F9"/>
          </a:solidFill>
          <a:ln w="9525">
            <a:solidFill>
              <a:srgbClr val="DCE3EB"/>
            </a:solidFill>
            <a:prstDash val="solid"/>
          </a:ln>
        </p:spPr>
      </p:sp>
      <p:sp>
        <p:nvSpPr>
          <p:cNvPr id="197" name="Shape 195"/>
          <p:cNvSpPr/>
          <p:nvPr/>
        </p:nvSpPr>
        <p:spPr>
          <a:xfrm>
            <a:off x="10232136" y="4736592"/>
            <a:ext cx="1191463" cy="310896"/>
          </a:xfrm>
          <a:prstGeom prst="roundRect">
            <a:avLst>
              <a:gd name="adj" fmla="val 14706"/>
            </a:avLst>
          </a:prstGeom>
          <a:solidFill>
            <a:srgbClr val="F7F2E9"/>
          </a:solidFill>
          <a:ln w="12700">
            <a:solidFill>
              <a:srgbClr val="C9AE82"/>
            </a:solidFill>
            <a:prstDash val="solid"/>
          </a:ln>
        </p:spPr>
      </p:sp>
      <p:sp>
        <p:nvSpPr>
          <p:cNvPr id="198" name="Text 196"/>
          <p:cNvSpPr/>
          <p:nvPr/>
        </p:nvSpPr>
        <p:spPr>
          <a:xfrm>
            <a:off x="10232136" y="4736592"/>
            <a:ext cx="1191463" cy="310896"/>
          </a:xfrm>
          <a:prstGeom prst="rect">
            <a:avLst/>
          </a:prstGeom>
          <a:noFill/>
          <a:ln/>
        </p:spPr>
        <p:txBody>
          <a:bodyPr wrap="square" lIns="0" tIns="0" rIns="0" bIns="0" rtlCol="0" anchor="ctr"/>
          <a:lstStyle/>
          <a:p>
            <a:pPr algn="ctr" indent="0" marL="0">
              <a:buNone/>
            </a:pPr>
            <a:r>
              <a:rPr lang="en-US" sz="1000" b="1" dirty="0">
                <a:solidFill>
                  <a:srgbClr val="8A6B3C"/>
                </a:solidFill>
                <a:latin typeface="Calibri" pitchFamily="34" charset="0"/>
                <a:ea typeface="Calibri" pitchFamily="34" charset="-122"/>
                <a:cs typeface="Calibri" pitchFamily="34" charset="-120"/>
              </a:rPr>
              <a:t>Watch</a:t>
            </a:r>
            <a:endParaRPr lang="en-US" sz="1000" dirty="0"/>
          </a:p>
        </p:txBody>
      </p:sp>
      <p:sp>
        <p:nvSpPr>
          <p:cNvPr id="199" name="Shape 197"/>
          <p:cNvSpPr/>
          <p:nvPr/>
        </p:nvSpPr>
        <p:spPr>
          <a:xfrm>
            <a:off x="640080" y="5193792"/>
            <a:ext cx="2788920" cy="603504"/>
          </a:xfrm>
          <a:prstGeom prst="rect">
            <a:avLst/>
          </a:prstGeom>
          <a:solidFill>
            <a:srgbClr val="FFFFFF"/>
          </a:solidFill>
          <a:ln w="9525">
            <a:solidFill>
              <a:srgbClr val="DCE3EB"/>
            </a:solidFill>
            <a:prstDash val="solid"/>
          </a:ln>
        </p:spPr>
      </p:sp>
      <p:sp>
        <p:nvSpPr>
          <p:cNvPr id="200" name="Text 198"/>
          <p:cNvSpPr/>
          <p:nvPr/>
        </p:nvSpPr>
        <p:spPr>
          <a:xfrm>
            <a:off x="786384" y="5266944"/>
            <a:ext cx="2514600" cy="27432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SMB ledger app</a:t>
            </a:r>
            <a:endParaRPr lang="en-US" sz="1150" dirty="0"/>
          </a:p>
        </p:txBody>
      </p:sp>
      <p:sp>
        <p:nvSpPr>
          <p:cNvPr id="201" name="Text 199"/>
          <p:cNvSpPr/>
          <p:nvPr/>
        </p:nvSpPr>
        <p:spPr>
          <a:xfrm>
            <a:off x="786384" y="5522976"/>
            <a:ext cx="2514600" cy="237744"/>
          </a:xfrm>
          <a:prstGeom prst="rect">
            <a:avLst/>
          </a:prstGeom>
          <a:noFill/>
          <a:ln/>
        </p:spPr>
        <p:txBody>
          <a:bodyPr wrap="square" lIns="0" tIns="0" rIns="0" bIns="0" rtlCol="0" anchor="ctr"/>
          <a:lstStyle/>
          <a:p>
            <a:pPr indent="0" marL="0">
              <a:buNone/>
            </a:pPr>
            <a:r>
              <a:rPr lang="en-US" sz="880" i="1" dirty="0">
                <a:solidFill>
                  <a:srgbClr val="7A8794"/>
                </a:solidFill>
                <a:latin typeface="Calibri" pitchFamily="34" charset="0"/>
                <a:ea typeface="Calibri" pitchFamily="34" charset="-122"/>
                <a:cs typeface="Calibri" pitchFamily="34" charset="-120"/>
              </a:rPr>
              <a:t>e.g. Khatabook (distressed)</a:t>
            </a:r>
            <a:endParaRPr lang="en-US" sz="880" dirty="0"/>
          </a:p>
        </p:txBody>
      </p:sp>
      <p:sp>
        <p:nvSpPr>
          <p:cNvPr id="202" name="Shape 200"/>
          <p:cNvSpPr/>
          <p:nvPr/>
        </p:nvSpPr>
        <p:spPr>
          <a:xfrm>
            <a:off x="3429000" y="5193792"/>
            <a:ext cx="1335024" cy="603504"/>
          </a:xfrm>
          <a:prstGeom prst="rect">
            <a:avLst/>
          </a:prstGeom>
          <a:solidFill>
            <a:srgbClr val="FFFFFF"/>
          </a:solidFill>
          <a:ln w="9525">
            <a:solidFill>
              <a:srgbClr val="DCE3EB"/>
            </a:solidFill>
            <a:prstDash val="solid"/>
          </a:ln>
        </p:spPr>
      </p:sp>
      <p:sp>
        <p:nvSpPr>
          <p:cNvPr id="203" name="Shape 201"/>
          <p:cNvSpPr/>
          <p:nvPr/>
        </p:nvSpPr>
        <p:spPr>
          <a:xfrm>
            <a:off x="3650742" y="5433822"/>
            <a:ext cx="123444" cy="123444"/>
          </a:xfrm>
          <a:prstGeom prst="ellipse">
            <a:avLst/>
          </a:prstGeom>
          <a:solidFill>
            <a:srgbClr val="B08D57"/>
          </a:solidFill>
          <a:ln/>
        </p:spPr>
      </p:sp>
      <p:sp>
        <p:nvSpPr>
          <p:cNvPr id="204" name="Shape 202"/>
          <p:cNvSpPr/>
          <p:nvPr/>
        </p:nvSpPr>
        <p:spPr>
          <a:xfrm>
            <a:off x="3842766" y="5433822"/>
            <a:ext cx="123444" cy="123444"/>
          </a:xfrm>
          <a:prstGeom prst="ellipse">
            <a:avLst/>
          </a:prstGeom>
          <a:solidFill>
            <a:srgbClr val="B08D57"/>
          </a:solidFill>
          <a:ln/>
        </p:spPr>
      </p:sp>
      <p:sp>
        <p:nvSpPr>
          <p:cNvPr id="205" name="Shape 203"/>
          <p:cNvSpPr/>
          <p:nvPr/>
        </p:nvSpPr>
        <p:spPr>
          <a:xfrm>
            <a:off x="4034790" y="5433822"/>
            <a:ext cx="123444" cy="123444"/>
          </a:xfrm>
          <a:prstGeom prst="ellipse">
            <a:avLst/>
          </a:prstGeom>
          <a:solidFill>
            <a:srgbClr val="B08D57"/>
          </a:solidFill>
          <a:ln/>
        </p:spPr>
      </p:sp>
      <p:sp>
        <p:nvSpPr>
          <p:cNvPr id="206" name="Shape 204"/>
          <p:cNvSpPr/>
          <p:nvPr/>
        </p:nvSpPr>
        <p:spPr>
          <a:xfrm>
            <a:off x="4226814" y="5433822"/>
            <a:ext cx="123444" cy="123444"/>
          </a:xfrm>
          <a:prstGeom prst="ellipse">
            <a:avLst/>
          </a:prstGeom>
          <a:solidFill>
            <a:srgbClr val="D7DEE7"/>
          </a:solidFill>
          <a:ln/>
        </p:spPr>
      </p:sp>
      <p:sp>
        <p:nvSpPr>
          <p:cNvPr id="207" name="Shape 205"/>
          <p:cNvSpPr/>
          <p:nvPr/>
        </p:nvSpPr>
        <p:spPr>
          <a:xfrm>
            <a:off x="4418838" y="5433822"/>
            <a:ext cx="123444" cy="123444"/>
          </a:xfrm>
          <a:prstGeom prst="ellipse">
            <a:avLst/>
          </a:prstGeom>
          <a:solidFill>
            <a:srgbClr val="D7DEE7"/>
          </a:solidFill>
          <a:ln/>
        </p:spPr>
      </p:sp>
      <p:sp>
        <p:nvSpPr>
          <p:cNvPr id="208" name="Shape 206"/>
          <p:cNvSpPr/>
          <p:nvPr/>
        </p:nvSpPr>
        <p:spPr>
          <a:xfrm>
            <a:off x="4764024" y="5193792"/>
            <a:ext cx="1335024" cy="603504"/>
          </a:xfrm>
          <a:prstGeom prst="rect">
            <a:avLst/>
          </a:prstGeom>
          <a:solidFill>
            <a:srgbClr val="FFFFFF"/>
          </a:solidFill>
          <a:ln w="9525">
            <a:solidFill>
              <a:srgbClr val="DCE3EB"/>
            </a:solidFill>
            <a:prstDash val="solid"/>
          </a:ln>
        </p:spPr>
      </p:sp>
      <p:sp>
        <p:nvSpPr>
          <p:cNvPr id="209" name="Shape 207"/>
          <p:cNvSpPr/>
          <p:nvPr/>
        </p:nvSpPr>
        <p:spPr>
          <a:xfrm>
            <a:off x="4985766" y="5433822"/>
            <a:ext cx="123444" cy="123444"/>
          </a:xfrm>
          <a:prstGeom prst="ellipse">
            <a:avLst/>
          </a:prstGeom>
          <a:solidFill>
            <a:srgbClr val="B08D57"/>
          </a:solidFill>
          <a:ln/>
        </p:spPr>
      </p:sp>
      <p:sp>
        <p:nvSpPr>
          <p:cNvPr id="210" name="Shape 208"/>
          <p:cNvSpPr/>
          <p:nvPr/>
        </p:nvSpPr>
        <p:spPr>
          <a:xfrm>
            <a:off x="5177790" y="5433822"/>
            <a:ext cx="123444" cy="123444"/>
          </a:xfrm>
          <a:prstGeom prst="ellipse">
            <a:avLst/>
          </a:prstGeom>
          <a:solidFill>
            <a:srgbClr val="B08D57"/>
          </a:solidFill>
          <a:ln/>
        </p:spPr>
      </p:sp>
      <p:sp>
        <p:nvSpPr>
          <p:cNvPr id="211" name="Shape 209"/>
          <p:cNvSpPr/>
          <p:nvPr/>
        </p:nvSpPr>
        <p:spPr>
          <a:xfrm>
            <a:off x="5369814" y="5433822"/>
            <a:ext cx="123444" cy="123444"/>
          </a:xfrm>
          <a:prstGeom prst="ellipse">
            <a:avLst/>
          </a:prstGeom>
          <a:solidFill>
            <a:srgbClr val="B08D57"/>
          </a:solidFill>
          <a:ln/>
        </p:spPr>
      </p:sp>
      <p:sp>
        <p:nvSpPr>
          <p:cNvPr id="212" name="Shape 210"/>
          <p:cNvSpPr/>
          <p:nvPr/>
        </p:nvSpPr>
        <p:spPr>
          <a:xfrm>
            <a:off x="5561838" y="5433822"/>
            <a:ext cx="123444" cy="123444"/>
          </a:xfrm>
          <a:prstGeom prst="ellipse">
            <a:avLst/>
          </a:prstGeom>
          <a:solidFill>
            <a:srgbClr val="D7DEE7"/>
          </a:solidFill>
          <a:ln/>
        </p:spPr>
      </p:sp>
      <p:sp>
        <p:nvSpPr>
          <p:cNvPr id="213" name="Shape 211"/>
          <p:cNvSpPr/>
          <p:nvPr/>
        </p:nvSpPr>
        <p:spPr>
          <a:xfrm>
            <a:off x="5753862" y="5433822"/>
            <a:ext cx="123444" cy="123444"/>
          </a:xfrm>
          <a:prstGeom prst="ellipse">
            <a:avLst/>
          </a:prstGeom>
          <a:solidFill>
            <a:srgbClr val="D7DEE7"/>
          </a:solidFill>
          <a:ln/>
        </p:spPr>
      </p:sp>
      <p:sp>
        <p:nvSpPr>
          <p:cNvPr id="214" name="Shape 212"/>
          <p:cNvSpPr/>
          <p:nvPr/>
        </p:nvSpPr>
        <p:spPr>
          <a:xfrm>
            <a:off x="6099048" y="5193792"/>
            <a:ext cx="1335024" cy="603504"/>
          </a:xfrm>
          <a:prstGeom prst="rect">
            <a:avLst/>
          </a:prstGeom>
          <a:solidFill>
            <a:srgbClr val="FFFFFF"/>
          </a:solidFill>
          <a:ln w="9525">
            <a:solidFill>
              <a:srgbClr val="DCE3EB"/>
            </a:solidFill>
            <a:prstDash val="solid"/>
          </a:ln>
        </p:spPr>
      </p:sp>
      <p:sp>
        <p:nvSpPr>
          <p:cNvPr id="215" name="Shape 213"/>
          <p:cNvSpPr/>
          <p:nvPr/>
        </p:nvSpPr>
        <p:spPr>
          <a:xfrm>
            <a:off x="6320790" y="5433822"/>
            <a:ext cx="123444" cy="123444"/>
          </a:xfrm>
          <a:prstGeom prst="ellipse">
            <a:avLst/>
          </a:prstGeom>
          <a:solidFill>
            <a:srgbClr val="B08D57"/>
          </a:solidFill>
          <a:ln/>
        </p:spPr>
      </p:sp>
      <p:sp>
        <p:nvSpPr>
          <p:cNvPr id="216" name="Shape 214"/>
          <p:cNvSpPr/>
          <p:nvPr/>
        </p:nvSpPr>
        <p:spPr>
          <a:xfrm>
            <a:off x="6512814" y="5433822"/>
            <a:ext cx="123444" cy="123444"/>
          </a:xfrm>
          <a:prstGeom prst="ellipse">
            <a:avLst/>
          </a:prstGeom>
          <a:solidFill>
            <a:srgbClr val="B08D57"/>
          </a:solidFill>
          <a:ln/>
        </p:spPr>
      </p:sp>
      <p:sp>
        <p:nvSpPr>
          <p:cNvPr id="217" name="Shape 215"/>
          <p:cNvSpPr/>
          <p:nvPr/>
        </p:nvSpPr>
        <p:spPr>
          <a:xfrm>
            <a:off x="6704838" y="5433822"/>
            <a:ext cx="123444" cy="123444"/>
          </a:xfrm>
          <a:prstGeom prst="ellipse">
            <a:avLst/>
          </a:prstGeom>
          <a:solidFill>
            <a:srgbClr val="D7DEE7"/>
          </a:solidFill>
          <a:ln/>
        </p:spPr>
      </p:sp>
      <p:sp>
        <p:nvSpPr>
          <p:cNvPr id="218" name="Shape 216"/>
          <p:cNvSpPr/>
          <p:nvPr/>
        </p:nvSpPr>
        <p:spPr>
          <a:xfrm>
            <a:off x="6896862" y="5433822"/>
            <a:ext cx="123444" cy="123444"/>
          </a:xfrm>
          <a:prstGeom prst="ellipse">
            <a:avLst/>
          </a:prstGeom>
          <a:solidFill>
            <a:srgbClr val="D7DEE7"/>
          </a:solidFill>
          <a:ln/>
        </p:spPr>
      </p:sp>
      <p:sp>
        <p:nvSpPr>
          <p:cNvPr id="219" name="Shape 217"/>
          <p:cNvSpPr/>
          <p:nvPr/>
        </p:nvSpPr>
        <p:spPr>
          <a:xfrm>
            <a:off x="7088886" y="5433822"/>
            <a:ext cx="123444" cy="123444"/>
          </a:xfrm>
          <a:prstGeom prst="ellipse">
            <a:avLst/>
          </a:prstGeom>
          <a:solidFill>
            <a:srgbClr val="D7DEE7"/>
          </a:solidFill>
          <a:ln/>
        </p:spPr>
      </p:sp>
      <p:sp>
        <p:nvSpPr>
          <p:cNvPr id="220" name="Shape 218"/>
          <p:cNvSpPr/>
          <p:nvPr/>
        </p:nvSpPr>
        <p:spPr>
          <a:xfrm>
            <a:off x="7434072" y="5193792"/>
            <a:ext cx="1335024" cy="603504"/>
          </a:xfrm>
          <a:prstGeom prst="rect">
            <a:avLst/>
          </a:prstGeom>
          <a:solidFill>
            <a:srgbClr val="FFFFFF"/>
          </a:solidFill>
          <a:ln w="9525">
            <a:solidFill>
              <a:srgbClr val="DCE3EB"/>
            </a:solidFill>
            <a:prstDash val="solid"/>
          </a:ln>
        </p:spPr>
      </p:sp>
      <p:sp>
        <p:nvSpPr>
          <p:cNvPr id="221" name="Shape 219"/>
          <p:cNvSpPr/>
          <p:nvPr/>
        </p:nvSpPr>
        <p:spPr>
          <a:xfrm>
            <a:off x="7655814" y="5433822"/>
            <a:ext cx="123444" cy="123444"/>
          </a:xfrm>
          <a:prstGeom prst="ellipse">
            <a:avLst/>
          </a:prstGeom>
          <a:solidFill>
            <a:srgbClr val="B08D57"/>
          </a:solidFill>
          <a:ln/>
        </p:spPr>
      </p:sp>
      <p:sp>
        <p:nvSpPr>
          <p:cNvPr id="222" name="Shape 220"/>
          <p:cNvSpPr/>
          <p:nvPr/>
        </p:nvSpPr>
        <p:spPr>
          <a:xfrm>
            <a:off x="7847838" y="5433822"/>
            <a:ext cx="123444" cy="123444"/>
          </a:xfrm>
          <a:prstGeom prst="ellipse">
            <a:avLst/>
          </a:prstGeom>
          <a:solidFill>
            <a:srgbClr val="B08D57"/>
          </a:solidFill>
          <a:ln/>
        </p:spPr>
      </p:sp>
      <p:sp>
        <p:nvSpPr>
          <p:cNvPr id="223" name="Shape 221"/>
          <p:cNvSpPr/>
          <p:nvPr/>
        </p:nvSpPr>
        <p:spPr>
          <a:xfrm>
            <a:off x="8039862" y="5433822"/>
            <a:ext cx="123444" cy="123444"/>
          </a:xfrm>
          <a:prstGeom prst="ellipse">
            <a:avLst/>
          </a:prstGeom>
          <a:solidFill>
            <a:srgbClr val="D7DEE7"/>
          </a:solidFill>
          <a:ln/>
        </p:spPr>
      </p:sp>
      <p:sp>
        <p:nvSpPr>
          <p:cNvPr id="224" name="Shape 222"/>
          <p:cNvSpPr/>
          <p:nvPr/>
        </p:nvSpPr>
        <p:spPr>
          <a:xfrm>
            <a:off x="8231886" y="5433822"/>
            <a:ext cx="123444" cy="123444"/>
          </a:xfrm>
          <a:prstGeom prst="ellipse">
            <a:avLst/>
          </a:prstGeom>
          <a:solidFill>
            <a:srgbClr val="D7DEE7"/>
          </a:solidFill>
          <a:ln/>
        </p:spPr>
      </p:sp>
      <p:sp>
        <p:nvSpPr>
          <p:cNvPr id="225" name="Shape 223"/>
          <p:cNvSpPr/>
          <p:nvPr/>
        </p:nvSpPr>
        <p:spPr>
          <a:xfrm>
            <a:off x="8423910" y="5433822"/>
            <a:ext cx="123444" cy="123444"/>
          </a:xfrm>
          <a:prstGeom prst="ellipse">
            <a:avLst/>
          </a:prstGeom>
          <a:solidFill>
            <a:srgbClr val="D7DEE7"/>
          </a:solidFill>
          <a:ln/>
        </p:spPr>
      </p:sp>
      <p:sp>
        <p:nvSpPr>
          <p:cNvPr id="226" name="Shape 224"/>
          <p:cNvSpPr/>
          <p:nvPr/>
        </p:nvSpPr>
        <p:spPr>
          <a:xfrm>
            <a:off x="8769096" y="5193792"/>
            <a:ext cx="1335024" cy="603504"/>
          </a:xfrm>
          <a:prstGeom prst="rect">
            <a:avLst/>
          </a:prstGeom>
          <a:solidFill>
            <a:srgbClr val="FFFFFF"/>
          </a:solidFill>
          <a:ln w="9525">
            <a:solidFill>
              <a:srgbClr val="DCE3EB"/>
            </a:solidFill>
            <a:prstDash val="solid"/>
          </a:ln>
        </p:spPr>
      </p:sp>
      <p:sp>
        <p:nvSpPr>
          <p:cNvPr id="227" name="Shape 225"/>
          <p:cNvSpPr/>
          <p:nvPr/>
        </p:nvSpPr>
        <p:spPr>
          <a:xfrm>
            <a:off x="8990838" y="5433822"/>
            <a:ext cx="123444" cy="123444"/>
          </a:xfrm>
          <a:prstGeom prst="ellipse">
            <a:avLst/>
          </a:prstGeom>
          <a:solidFill>
            <a:srgbClr val="B08D57"/>
          </a:solidFill>
          <a:ln/>
        </p:spPr>
      </p:sp>
      <p:sp>
        <p:nvSpPr>
          <p:cNvPr id="228" name="Shape 226"/>
          <p:cNvSpPr/>
          <p:nvPr/>
        </p:nvSpPr>
        <p:spPr>
          <a:xfrm>
            <a:off x="9182862" y="5433822"/>
            <a:ext cx="123444" cy="123444"/>
          </a:xfrm>
          <a:prstGeom prst="ellipse">
            <a:avLst/>
          </a:prstGeom>
          <a:solidFill>
            <a:srgbClr val="B08D57"/>
          </a:solidFill>
          <a:ln/>
        </p:spPr>
      </p:sp>
      <p:sp>
        <p:nvSpPr>
          <p:cNvPr id="229" name="Shape 227"/>
          <p:cNvSpPr/>
          <p:nvPr/>
        </p:nvSpPr>
        <p:spPr>
          <a:xfrm>
            <a:off x="9374886" y="5433822"/>
            <a:ext cx="123444" cy="123444"/>
          </a:xfrm>
          <a:prstGeom prst="ellipse">
            <a:avLst/>
          </a:prstGeom>
          <a:solidFill>
            <a:srgbClr val="B08D57"/>
          </a:solidFill>
          <a:ln/>
        </p:spPr>
      </p:sp>
      <p:sp>
        <p:nvSpPr>
          <p:cNvPr id="230" name="Shape 228"/>
          <p:cNvSpPr/>
          <p:nvPr/>
        </p:nvSpPr>
        <p:spPr>
          <a:xfrm>
            <a:off x="9566910" y="5433822"/>
            <a:ext cx="123444" cy="123444"/>
          </a:xfrm>
          <a:prstGeom prst="ellipse">
            <a:avLst/>
          </a:prstGeom>
          <a:solidFill>
            <a:srgbClr val="D7DEE7"/>
          </a:solidFill>
          <a:ln/>
        </p:spPr>
      </p:sp>
      <p:sp>
        <p:nvSpPr>
          <p:cNvPr id="231" name="Shape 229"/>
          <p:cNvSpPr/>
          <p:nvPr/>
        </p:nvSpPr>
        <p:spPr>
          <a:xfrm>
            <a:off x="9758934" y="5433822"/>
            <a:ext cx="123444" cy="123444"/>
          </a:xfrm>
          <a:prstGeom prst="ellipse">
            <a:avLst/>
          </a:prstGeom>
          <a:solidFill>
            <a:srgbClr val="D7DEE7"/>
          </a:solidFill>
          <a:ln/>
        </p:spPr>
      </p:sp>
      <p:sp>
        <p:nvSpPr>
          <p:cNvPr id="232" name="Shape 230"/>
          <p:cNvSpPr/>
          <p:nvPr/>
        </p:nvSpPr>
        <p:spPr>
          <a:xfrm>
            <a:off x="10104120" y="5193792"/>
            <a:ext cx="1447495" cy="603504"/>
          </a:xfrm>
          <a:prstGeom prst="rect">
            <a:avLst/>
          </a:prstGeom>
          <a:solidFill>
            <a:srgbClr val="FFFFFF"/>
          </a:solidFill>
          <a:ln w="9525">
            <a:solidFill>
              <a:srgbClr val="DCE3EB"/>
            </a:solidFill>
            <a:prstDash val="solid"/>
          </a:ln>
        </p:spPr>
      </p:sp>
      <p:sp>
        <p:nvSpPr>
          <p:cNvPr id="233" name="Shape 231"/>
          <p:cNvSpPr/>
          <p:nvPr/>
        </p:nvSpPr>
        <p:spPr>
          <a:xfrm>
            <a:off x="10232136" y="5340096"/>
            <a:ext cx="1191463" cy="310896"/>
          </a:xfrm>
          <a:prstGeom prst="roundRect">
            <a:avLst>
              <a:gd name="adj" fmla="val 14706"/>
            </a:avLst>
          </a:prstGeom>
          <a:solidFill>
            <a:srgbClr val="F7F2E9"/>
          </a:solidFill>
          <a:ln w="12700">
            <a:solidFill>
              <a:srgbClr val="C9AE82"/>
            </a:solidFill>
            <a:prstDash val="solid"/>
          </a:ln>
        </p:spPr>
      </p:sp>
      <p:sp>
        <p:nvSpPr>
          <p:cNvPr id="234" name="Text 232"/>
          <p:cNvSpPr/>
          <p:nvPr/>
        </p:nvSpPr>
        <p:spPr>
          <a:xfrm>
            <a:off x="10232136" y="5340096"/>
            <a:ext cx="1191463" cy="310896"/>
          </a:xfrm>
          <a:prstGeom prst="rect">
            <a:avLst/>
          </a:prstGeom>
          <a:noFill/>
          <a:ln/>
        </p:spPr>
        <p:txBody>
          <a:bodyPr wrap="square" lIns="0" tIns="0" rIns="0" bIns="0" rtlCol="0" anchor="ctr"/>
          <a:lstStyle/>
          <a:p>
            <a:pPr algn="ctr" indent="0" marL="0">
              <a:buNone/>
            </a:pPr>
            <a:r>
              <a:rPr lang="en-US" sz="1000" b="1" dirty="0">
                <a:solidFill>
                  <a:srgbClr val="8A6B3C"/>
                </a:solidFill>
                <a:latin typeface="Calibri" pitchFamily="34" charset="0"/>
                <a:ea typeface="Calibri" pitchFamily="34" charset="-122"/>
                <a:cs typeface="Calibri" pitchFamily="34" charset="-120"/>
              </a:rPr>
              <a:t>Watch</a:t>
            </a:r>
            <a:endParaRPr lang="en-US" sz="1000" dirty="0"/>
          </a:p>
        </p:txBody>
      </p:sp>
      <p:sp>
        <p:nvSpPr>
          <p:cNvPr id="235" name="Text 233"/>
          <p:cNvSpPr/>
          <p:nvPr/>
        </p:nvSpPr>
        <p:spPr>
          <a:xfrm>
            <a:off x="640080" y="5925312"/>
            <a:ext cx="731520" cy="219456"/>
          </a:xfrm>
          <a:prstGeom prst="rect">
            <a:avLst/>
          </a:prstGeom>
          <a:noFill/>
          <a:ln/>
        </p:spPr>
        <p:txBody>
          <a:bodyPr wrap="square" lIns="0" tIns="0" rIns="0" bIns="0" rtlCol="0" anchor="ctr"/>
          <a:lstStyle/>
          <a:p>
            <a:pPr indent="0" marL="0">
              <a:buNone/>
            </a:pPr>
            <a:r>
              <a:rPr lang="en-US" sz="950" b="1" dirty="0">
                <a:solidFill>
                  <a:srgbClr val="33414F"/>
                </a:solidFill>
                <a:latin typeface="Calibri" pitchFamily="34" charset="0"/>
                <a:ea typeface="Calibri" pitchFamily="34" charset="-122"/>
                <a:cs typeface="Calibri" pitchFamily="34" charset="-120"/>
              </a:rPr>
              <a:t>Rating</a:t>
            </a:r>
            <a:endParaRPr lang="en-US" sz="950" dirty="0"/>
          </a:p>
        </p:txBody>
      </p:sp>
      <p:sp>
        <p:nvSpPr>
          <p:cNvPr id="236" name="Shape 234"/>
          <p:cNvSpPr/>
          <p:nvPr/>
        </p:nvSpPr>
        <p:spPr>
          <a:xfrm>
            <a:off x="1280160" y="5952744"/>
            <a:ext cx="123444" cy="123444"/>
          </a:xfrm>
          <a:prstGeom prst="ellipse">
            <a:avLst/>
          </a:prstGeom>
          <a:solidFill>
            <a:srgbClr val="B08D57"/>
          </a:solidFill>
          <a:ln/>
        </p:spPr>
      </p:sp>
      <p:sp>
        <p:nvSpPr>
          <p:cNvPr id="237" name="Shape 235"/>
          <p:cNvSpPr/>
          <p:nvPr/>
        </p:nvSpPr>
        <p:spPr>
          <a:xfrm>
            <a:off x="1472184" y="5952744"/>
            <a:ext cx="123444" cy="123444"/>
          </a:xfrm>
          <a:prstGeom prst="ellipse">
            <a:avLst/>
          </a:prstGeom>
          <a:solidFill>
            <a:srgbClr val="B08D57"/>
          </a:solidFill>
          <a:ln/>
        </p:spPr>
      </p:sp>
      <p:sp>
        <p:nvSpPr>
          <p:cNvPr id="238" name="Shape 236"/>
          <p:cNvSpPr/>
          <p:nvPr/>
        </p:nvSpPr>
        <p:spPr>
          <a:xfrm>
            <a:off x="1664208" y="5952744"/>
            <a:ext cx="123444" cy="123444"/>
          </a:xfrm>
          <a:prstGeom prst="ellipse">
            <a:avLst/>
          </a:prstGeom>
          <a:solidFill>
            <a:srgbClr val="B08D57"/>
          </a:solidFill>
          <a:ln/>
        </p:spPr>
      </p:sp>
      <p:sp>
        <p:nvSpPr>
          <p:cNvPr id="239" name="Shape 237"/>
          <p:cNvSpPr/>
          <p:nvPr/>
        </p:nvSpPr>
        <p:spPr>
          <a:xfrm>
            <a:off x="1856232" y="5952744"/>
            <a:ext cx="123444" cy="123444"/>
          </a:xfrm>
          <a:prstGeom prst="ellipse">
            <a:avLst/>
          </a:prstGeom>
          <a:solidFill>
            <a:srgbClr val="B08D57"/>
          </a:solidFill>
          <a:ln/>
        </p:spPr>
      </p:sp>
      <p:sp>
        <p:nvSpPr>
          <p:cNvPr id="240" name="Shape 238"/>
          <p:cNvSpPr/>
          <p:nvPr/>
        </p:nvSpPr>
        <p:spPr>
          <a:xfrm>
            <a:off x="2048256" y="5952744"/>
            <a:ext cx="123444" cy="123444"/>
          </a:xfrm>
          <a:prstGeom prst="ellipse">
            <a:avLst/>
          </a:prstGeom>
          <a:solidFill>
            <a:srgbClr val="B08D57"/>
          </a:solidFill>
          <a:ln/>
        </p:spPr>
      </p:sp>
      <p:sp>
        <p:nvSpPr>
          <p:cNvPr id="241" name="Text 239"/>
          <p:cNvSpPr/>
          <p:nvPr/>
        </p:nvSpPr>
        <p:spPr>
          <a:xfrm>
            <a:off x="2286000" y="5925312"/>
            <a:ext cx="1097280" cy="219456"/>
          </a:xfrm>
          <a:prstGeom prst="rect">
            <a:avLst/>
          </a:prstGeom>
          <a:noFill/>
          <a:ln/>
        </p:spPr>
        <p:txBody>
          <a:bodyPr wrap="square" lIns="0" tIns="0" rIns="0" bIns="0" rtlCol="0" anchor="ctr"/>
          <a:lstStyle/>
          <a:p>
            <a:pPr indent="0" marL="0">
              <a:buNone/>
            </a:pPr>
            <a:r>
              <a:rPr lang="en-US" sz="900" dirty="0">
                <a:solidFill>
                  <a:srgbClr val="7A8794"/>
                </a:solidFill>
                <a:latin typeface="Calibri" pitchFamily="34" charset="0"/>
                <a:ea typeface="Calibri" pitchFamily="34" charset="-122"/>
                <a:cs typeface="Calibri" pitchFamily="34" charset="-120"/>
              </a:rPr>
              <a:t>strong fit</a:t>
            </a:r>
            <a:endParaRPr lang="en-US" sz="900" dirty="0"/>
          </a:p>
        </p:txBody>
      </p:sp>
      <p:sp>
        <p:nvSpPr>
          <p:cNvPr id="242" name="Shape 240"/>
          <p:cNvSpPr/>
          <p:nvPr/>
        </p:nvSpPr>
        <p:spPr>
          <a:xfrm>
            <a:off x="3383280" y="5952744"/>
            <a:ext cx="123444" cy="123444"/>
          </a:xfrm>
          <a:prstGeom prst="ellipse">
            <a:avLst/>
          </a:prstGeom>
          <a:solidFill>
            <a:srgbClr val="B08D57"/>
          </a:solidFill>
          <a:ln/>
        </p:spPr>
      </p:sp>
      <p:sp>
        <p:nvSpPr>
          <p:cNvPr id="243" name="Shape 241"/>
          <p:cNvSpPr/>
          <p:nvPr/>
        </p:nvSpPr>
        <p:spPr>
          <a:xfrm>
            <a:off x="3575304" y="5952744"/>
            <a:ext cx="123444" cy="123444"/>
          </a:xfrm>
          <a:prstGeom prst="ellipse">
            <a:avLst/>
          </a:prstGeom>
          <a:solidFill>
            <a:srgbClr val="B08D57"/>
          </a:solidFill>
          <a:ln/>
        </p:spPr>
      </p:sp>
      <p:sp>
        <p:nvSpPr>
          <p:cNvPr id="244" name="Shape 242"/>
          <p:cNvSpPr/>
          <p:nvPr/>
        </p:nvSpPr>
        <p:spPr>
          <a:xfrm>
            <a:off x="3767328" y="5952744"/>
            <a:ext cx="123444" cy="123444"/>
          </a:xfrm>
          <a:prstGeom prst="ellipse">
            <a:avLst/>
          </a:prstGeom>
          <a:solidFill>
            <a:srgbClr val="D7DEE7"/>
          </a:solidFill>
          <a:ln/>
        </p:spPr>
      </p:sp>
      <p:sp>
        <p:nvSpPr>
          <p:cNvPr id="245" name="Shape 243"/>
          <p:cNvSpPr/>
          <p:nvPr/>
        </p:nvSpPr>
        <p:spPr>
          <a:xfrm>
            <a:off x="3959352" y="5952744"/>
            <a:ext cx="123444" cy="123444"/>
          </a:xfrm>
          <a:prstGeom prst="ellipse">
            <a:avLst/>
          </a:prstGeom>
          <a:solidFill>
            <a:srgbClr val="D7DEE7"/>
          </a:solidFill>
          <a:ln/>
        </p:spPr>
      </p:sp>
      <p:sp>
        <p:nvSpPr>
          <p:cNvPr id="246" name="Shape 244"/>
          <p:cNvSpPr/>
          <p:nvPr/>
        </p:nvSpPr>
        <p:spPr>
          <a:xfrm>
            <a:off x="4151376" y="5952744"/>
            <a:ext cx="123444" cy="123444"/>
          </a:xfrm>
          <a:prstGeom prst="ellipse">
            <a:avLst/>
          </a:prstGeom>
          <a:solidFill>
            <a:srgbClr val="D7DEE7"/>
          </a:solidFill>
          <a:ln/>
        </p:spPr>
      </p:sp>
      <p:sp>
        <p:nvSpPr>
          <p:cNvPr id="247" name="Text 245"/>
          <p:cNvSpPr/>
          <p:nvPr/>
        </p:nvSpPr>
        <p:spPr>
          <a:xfrm>
            <a:off x="4389120" y="5925312"/>
            <a:ext cx="1280160" cy="219456"/>
          </a:xfrm>
          <a:prstGeom prst="rect">
            <a:avLst/>
          </a:prstGeom>
          <a:noFill/>
          <a:ln/>
        </p:spPr>
        <p:txBody>
          <a:bodyPr wrap="square" lIns="0" tIns="0" rIns="0" bIns="0" rtlCol="0" anchor="ctr"/>
          <a:lstStyle/>
          <a:p>
            <a:pPr indent="0" marL="0">
              <a:buNone/>
            </a:pPr>
            <a:r>
              <a:rPr lang="en-US" sz="900" dirty="0">
                <a:solidFill>
                  <a:srgbClr val="7A8794"/>
                </a:solidFill>
                <a:latin typeface="Calibri" pitchFamily="34" charset="0"/>
                <a:ea typeface="Calibri" pitchFamily="34" charset="-122"/>
                <a:cs typeface="Calibri" pitchFamily="34" charset="-120"/>
              </a:rPr>
              <a:t>limited fit</a:t>
            </a:r>
            <a:endParaRPr lang="en-US" sz="900" dirty="0"/>
          </a:p>
        </p:txBody>
      </p:sp>
      <p:sp>
        <p:nvSpPr>
          <p:cNvPr id="248" name="Text 246"/>
          <p:cNvSpPr/>
          <p:nvPr/>
        </p:nvSpPr>
        <p:spPr>
          <a:xfrm>
            <a:off x="5760720" y="5925312"/>
            <a:ext cx="5790895" cy="237744"/>
          </a:xfrm>
          <a:prstGeom prst="rect">
            <a:avLst/>
          </a:prstGeom>
          <a:noFill/>
          <a:ln/>
        </p:spPr>
        <p:txBody>
          <a:bodyPr wrap="square" lIns="0" tIns="0" rIns="0" bIns="0" rtlCol="0" anchor="ctr"/>
          <a:lstStyle/>
          <a:p>
            <a:pPr algn="r" indent="0" marL="0">
              <a:buNone/>
            </a:pPr>
            <a:r>
              <a:rPr lang="en-US" sz="950" i="1" dirty="0">
                <a:solidFill>
                  <a:srgbClr val="8A6B3C"/>
                </a:solidFill>
                <a:latin typeface="Calibri" pitchFamily="34" charset="0"/>
                <a:ea typeface="Calibri" pitchFamily="34" charset="-122"/>
                <a:cs typeface="Calibri" pitchFamily="34" charset="-120"/>
              </a:rPr>
              <a:t>Most recognisable names screen out as acquirers or as too large for a small-cap balance sheet.</a:t>
            </a:r>
            <a:endParaRPr lang="en-US" sz="950" dirty="0"/>
          </a:p>
        </p:txBody>
      </p:sp>
      <p:sp>
        <p:nvSpPr>
          <p:cNvPr id="249" name="Text 247"/>
          <p:cNvSpPr/>
          <p:nvPr/>
        </p:nvSpPr>
        <p:spPr>
          <a:xfrm>
            <a:off x="640080" y="6254496"/>
            <a:ext cx="10911535" cy="219456"/>
          </a:xfrm>
          <a:prstGeom prst="rect">
            <a:avLst/>
          </a:prstGeom>
          <a:noFill/>
          <a:ln/>
        </p:spPr>
        <p:txBody>
          <a:bodyPr wrap="square" lIns="0" tIns="0" rIns="0" bIns="0" rtlCol="0" anchor="ctr"/>
          <a:lstStyle/>
          <a:p>
            <a:pPr indent="0" marL="0">
              <a:buNone/>
            </a:pPr>
            <a:r>
              <a:rPr lang="en-US" sz="800" i="1" dirty="0">
                <a:solidFill>
                  <a:srgbClr val="7A8794"/>
                </a:solidFill>
                <a:latin typeface="Calibri" pitchFamily="34" charset="0"/>
                <a:ea typeface="Calibri" pitchFamily="34" charset="-122"/>
                <a:cs typeface="Calibri" pitchFamily="34" charset="-120"/>
              </a:rPr>
              <a:t>Source: Public company profiles and funding data (Tracxn, press). Scores are the author's qualitative assessment for illustration.</a:t>
            </a:r>
            <a:endParaRPr lang="en-US" sz="800" dirty="0"/>
          </a:p>
        </p:txBody>
      </p:sp>
      <p:sp>
        <p:nvSpPr>
          <p:cNvPr id="250" name="Text 248"/>
          <p:cNvSpPr/>
          <p:nvPr/>
        </p:nvSpPr>
        <p:spPr>
          <a:xfrm>
            <a:off x="640080" y="6492240"/>
            <a:ext cx="2743200" cy="237744"/>
          </a:xfrm>
          <a:prstGeom prst="rect">
            <a:avLst/>
          </a:prstGeom>
          <a:noFill/>
          <a:ln/>
        </p:spPr>
        <p:txBody>
          <a:bodyPr wrap="square" lIns="0" tIns="0" rIns="0" bIns="0" rtlCol="0" anchor="ctr"/>
          <a:lstStyle/>
          <a:p>
            <a:pPr indent="0" marL="0">
              <a:buNone/>
            </a:pPr>
            <a:r>
              <a:rPr lang="en-US" sz="750" b="1" spc="150" kern="0" dirty="0">
                <a:solidFill>
                  <a:srgbClr val="7A8794"/>
                </a:solidFill>
                <a:latin typeface="Calibri" pitchFamily="34" charset="0"/>
                <a:ea typeface="Calibri" pitchFamily="34" charset="-122"/>
                <a:cs typeface="Calibri" pitchFamily="34" charset="-120"/>
              </a:rPr>
              <a:t>PROJECT KEYSTONE</a:t>
            </a:r>
            <a:endParaRPr lang="en-US" sz="750" dirty="0"/>
          </a:p>
        </p:txBody>
      </p:sp>
      <p:sp>
        <p:nvSpPr>
          <p:cNvPr id="251" name="Text 249"/>
          <p:cNvSpPr/>
          <p:nvPr/>
        </p:nvSpPr>
        <p:spPr>
          <a:xfrm>
            <a:off x="3352648" y="6492240"/>
            <a:ext cx="5486400" cy="237744"/>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Strictly private and confidential  ·  Illustrative</a:t>
            </a:r>
            <a:endParaRPr lang="en-US" sz="750" dirty="0"/>
          </a:p>
        </p:txBody>
      </p:sp>
      <p:sp>
        <p:nvSpPr>
          <p:cNvPr id="252" name="Text 250"/>
          <p:cNvSpPr/>
          <p:nvPr/>
        </p:nvSpPr>
        <p:spPr>
          <a:xfrm>
            <a:off x="11094415" y="6492240"/>
            <a:ext cx="457200" cy="237744"/>
          </a:xfrm>
          <a:prstGeom prst="rect">
            <a:avLst/>
          </a:prstGeom>
          <a:noFill/>
          <a:ln/>
        </p:spPr>
        <p:txBody>
          <a:bodyPr wrap="square" lIns="0" tIns="0" rIns="0" bIns="0" rtlCol="0" anchor="ctr"/>
          <a:lstStyle/>
          <a:p>
            <a:pPr algn="r" indent="0" marL="0">
              <a:buNone/>
            </a:pPr>
            <a:r>
              <a:rPr lang="en-US" sz="850" dirty="0">
                <a:solidFill>
                  <a:srgbClr val="7A8794"/>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20" kern="0" dirty="0">
                <a:solidFill>
                  <a:srgbClr val="8A6B3C"/>
                </a:solidFill>
                <a:latin typeface="Calibri" pitchFamily="34" charset="0"/>
                <a:ea typeface="Calibri" pitchFamily="34" charset="-122"/>
                <a:cs typeface="Calibri" pitchFamily="34" charset="-120"/>
              </a:rPr>
              <a:t>RECOMMENDED TARGETS</a:t>
            </a:r>
            <a:endParaRPr lang="en-US" sz="1100" dirty="0"/>
          </a:p>
        </p:txBody>
      </p:sp>
      <p:sp>
        <p:nvSpPr>
          <p:cNvPr id="3" name="Text 1"/>
          <p:cNvSpPr/>
          <p:nvPr/>
        </p:nvSpPr>
        <p:spPr>
          <a:xfrm>
            <a:off x="8808415" y="402336"/>
            <a:ext cx="2743200" cy="237744"/>
          </a:xfrm>
          <a:prstGeom prst="rect">
            <a:avLst/>
          </a:prstGeom>
          <a:noFill/>
          <a:ln/>
        </p:spPr>
        <p:txBody>
          <a:bodyPr wrap="square" lIns="0" tIns="0" rIns="0" bIns="0" rtlCol="0" anchor="ctr"/>
          <a:lstStyle/>
          <a:p>
            <a:pPr algn="r" indent="0" marL="0">
              <a:buNone/>
            </a:pPr>
            <a:r>
              <a:rPr lang="en-US" sz="950" b="1" spc="100" kern="0" dirty="0">
                <a:solidFill>
                  <a:srgbClr val="8A6B3C"/>
                </a:solidFill>
                <a:latin typeface="Calibri" pitchFamily="34" charset="0"/>
                <a:ea typeface="Calibri" pitchFamily="34" charset="-122"/>
                <a:cs typeface="Calibri" pitchFamily="34" charset="-120"/>
              </a:rPr>
              <a:t>Exhibit 6</a:t>
            </a:r>
            <a:endParaRPr lang="en-US" sz="950" dirty="0"/>
          </a:p>
        </p:txBody>
      </p:sp>
      <p:sp>
        <p:nvSpPr>
          <p:cNvPr id="4" name="Text 2"/>
          <p:cNvSpPr/>
          <p:nvPr/>
        </p:nvSpPr>
        <p:spPr>
          <a:xfrm>
            <a:off x="640080" y="658368"/>
            <a:ext cx="10911535" cy="566928"/>
          </a:xfrm>
          <a:prstGeom prst="rect">
            <a:avLst/>
          </a:prstGeom>
          <a:noFill/>
          <a:ln/>
        </p:spPr>
        <p:txBody>
          <a:bodyPr wrap="square" lIns="0" tIns="0" rIns="0" bIns="0" rtlCol="0" anchor="t"/>
          <a:lstStyle/>
          <a:p>
            <a:pPr indent="0" marL="0">
              <a:lnSpc>
                <a:spcPct val="98000"/>
              </a:lnSpc>
              <a:buNone/>
            </a:pPr>
            <a:r>
              <a:rPr lang="en-US" sz="2500" b="1" dirty="0">
                <a:solidFill>
                  <a:srgbClr val="0B2545"/>
                </a:solidFill>
                <a:latin typeface="Cambria" pitchFamily="34" charset="0"/>
                <a:ea typeface="Cambria" pitchFamily="34" charset="-122"/>
                <a:cs typeface="Cambria" pitchFamily="34" charset="-120"/>
              </a:rPr>
              <a:t>Two bolt-ons that fit the strategy and the balance sheet</a:t>
            </a:r>
            <a:endParaRPr lang="en-US" sz="2500" dirty="0"/>
          </a:p>
        </p:txBody>
      </p:sp>
      <p:sp>
        <p:nvSpPr>
          <p:cNvPr id="5" name="Shape 3"/>
          <p:cNvSpPr/>
          <p:nvPr/>
        </p:nvSpPr>
        <p:spPr>
          <a:xfrm>
            <a:off x="640080" y="1517904"/>
            <a:ext cx="5272888" cy="4114800"/>
          </a:xfrm>
          <a:prstGeom prst="roundRect">
            <a:avLst>
              <a:gd name="adj" fmla="val 1333"/>
            </a:avLst>
          </a:prstGeom>
          <a:solidFill>
            <a:srgbClr val="F4F6F9"/>
          </a:solidFill>
          <a:ln w="12700">
            <a:solidFill>
              <a:srgbClr val="DCE3EB"/>
            </a:solidFill>
            <a:prstDash val="solid"/>
          </a:ln>
          <a:effectLst>
            <a:outerShdw sx="100000" sy="100000" kx="0" ky="0" algn="bl" rotWithShape="0" blurRad="101600" dist="38100" dir="5400000">
              <a:srgbClr val="13243A">
                <a:alpha val="10000"/>
              </a:srgbClr>
            </a:outerShdw>
          </a:effectLst>
        </p:spPr>
      </p:sp>
      <p:sp>
        <p:nvSpPr>
          <p:cNvPr id="6" name="Shape 4"/>
          <p:cNvSpPr/>
          <p:nvPr/>
        </p:nvSpPr>
        <p:spPr>
          <a:xfrm>
            <a:off x="932688" y="1810512"/>
            <a:ext cx="658368" cy="658368"/>
          </a:xfrm>
          <a:prstGeom prst="ellipse">
            <a:avLst/>
          </a:prstGeom>
          <a:solidFill>
            <a:srgbClr val="0B2545"/>
          </a:solidFill>
          <a:ln/>
        </p:spPr>
      </p:sp>
      <p:pic>
        <p:nvPicPr>
          <p:cNvPr id="7" name="Image 0" descr="preencoded.png">    </p:cNvPr>
          <p:cNvPicPr>
            <a:picLocks noChangeAspect="1"/>
          </p:cNvPicPr>
          <p:nvPr/>
        </p:nvPicPr>
        <p:blipFill>
          <a:blip r:embed="rId1"/>
          <a:stretch>
            <a:fillRect/>
          </a:stretch>
        </p:blipFill>
        <p:spPr>
          <a:xfrm>
            <a:off x="1106424" y="1984248"/>
            <a:ext cx="310896" cy="310896"/>
          </a:xfrm>
          <a:prstGeom prst="rect">
            <a:avLst/>
          </a:prstGeom>
        </p:spPr>
      </p:pic>
      <p:sp>
        <p:nvSpPr>
          <p:cNvPr id="8" name="Text 5"/>
          <p:cNvSpPr/>
          <p:nvPr/>
        </p:nvSpPr>
        <p:spPr>
          <a:xfrm>
            <a:off x="1737360" y="1828800"/>
            <a:ext cx="3992728" cy="365760"/>
          </a:xfrm>
          <a:prstGeom prst="rect">
            <a:avLst/>
          </a:prstGeom>
          <a:noFill/>
          <a:ln/>
        </p:spPr>
        <p:txBody>
          <a:bodyPr wrap="square" lIns="0" tIns="0" rIns="0" bIns="0" rtlCol="0" anchor="ctr"/>
          <a:lstStyle/>
          <a:p>
            <a:pPr indent="0" marL="0">
              <a:buNone/>
            </a:pPr>
            <a:r>
              <a:rPr lang="en-US" sz="2200" b="1" spc="50" kern="0" dirty="0">
                <a:solidFill>
                  <a:srgbClr val="0B2545"/>
                </a:solidFill>
                <a:latin typeface="Cambria" pitchFamily="34" charset="0"/>
                <a:ea typeface="Cambria" pitchFamily="34" charset="-122"/>
                <a:cs typeface="Cambria" pitchFamily="34" charset="-120"/>
              </a:rPr>
              <a:t>BLOSTEM</a:t>
            </a:r>
            <a:endParaRPr lang="en-US" sz="2200" dirty="0"/>
          </a:p>
        </p:txBody>
      </p:sp>
      <p:sp>
        <p:nvSpPr>
          <p:cNvPr id="9" name="Text 6"/>
          <p:cNvSpPr/>
          <p:nvPr/>
        </p:nvSpPr>
        <p:spPr>
          <a:xfrm>
            <a:off x="1737360" y="2231136"/>
            <a:ext cx="3992728" cy="274320"/>
          </a:xfrm>
          <a:prstGeom prst="rect">
            <a:avLst/>
          </a:prstGeom>
          <a:noFill/>
          <a:ln/>
        </p:spPr>
        <p:txBody>
          <a:bodyPr wrap="square" lIns="0" tIns="0" rIns="0" bIns="0" rtlCol="0" anchor="ctr"/>
          <a:lstStyle/>
          <a:p>
            <a:pPr indent="0" marL="0">
              <a:buNone/>
            </a:pPr>
            <a:r>
              <a:rPr lang="en-US" sz="1150" i="1" dirty="0">
                <a:solidFill>
                  <a:srgbClr val="8A6B3C"/>
                </a:solidFill>
                <a:latin typeface="Calibri" pitchFamily="34" charset="0"/>
                <a:ea typeface="Calibri" pitchFamily="34" charset="-122"/>
                <a:cs typeface="Calibri" pitchFamily="34" charset="-120"/>
              </a:rPr>
              <a:t>Savings and wealth distribution rail</a:t>
            </a:r>
            <a:endParaRPr lang="en-US" sz="1150" dirty="0"/>
          </a:p>
        </p:txBody>
      </p:sp>
      <p:sp>
        <p:nvSpPr>
          <p:cNvPr id="10" name="Text 7"/>
          <p:cNvSpPr/>
          <p:nvPr/>
        </p:nvSpPr>
        <p:spPr>
          <a:xfrm>
            <a:off x="950976" y="2798064"/>
            <a:ext cx="4651096" cy="219456"/>
          </a:xfrm>
          <a:prstGeom prst="rect">
            <a:avLst/>
          </a:prstGeom>
          <a:noFill/>
          <a:ln/>
        </p:spPr>
        <p:txBody>
          <a:bodyPr wrap="square" lIns="0" tIns="0" rIns="0" bIns="0" rtlCol="0" anchor="ctr"/>
          <a:lstStyle/>
          <a:p>
            <a:pPr indent="0" marL="0">
              <a:buNone/>
            </a:pPr>
            <a:r>
              <a:rPr lang="en-US" sz="950" b="1" spc="100" kern="0" dirty="0">
                <a:solidFill>
                  <a:srgbClr val="8A6B3C"/>
                </a:solidFill>
                <a:latin typeface="Calibri" pitchFamily="34" charset="0"/>
                <a:ea typeface="Calibri" pitchFamily="34" charset="-122"/>
                <a:cs typeface="Calibri" pitchFamily="34" charset="-120"/>
              </a:rPr>
              <a:t>WHITE SPACE</a:t>
            </a:r>
            <a:endParaRPr lang="en-US" sz="950" dirty="0"/>
          </a:p>
        </p:txBody>
      </p:sp>
      <p:sp>
        <p:nvSpPr>
          <p:cNvPr id="11" name="Text 8"/>
          <p:cNvSpPr/>
          <p:nvPr/>
        </p:nvSpPr>
        <p:spPr>
          <a:xfrm>
            <a:off x="950976" y="3026664"/>
            <a:ext cx="4651096" cy="658368"/>
          </a:xfrm>
          <a:prstGeom prst="rect">
            <a:avLst/>
          </a:prstGeom>
          <a:noFill/>
          <a:ln/>
        </p:spPr>
        <p:txBody>
          <a:bodyPr wrap="square" lIns="0" tIns="0" rIns="0" bIns="0" rtlCol="0" anchor="t"/>
          <a:lstStyle/>
          <a:p>
            <a:pPr indent="0" marL="0">
              <a:lnSpc>
                <a:spcPct val="103000"/>
              </a:lnSpc>
              <a:buNone/>
            </a:pPr>
            <a:r>
              <a:rPr lang="en-US" sz="1100" dirty="0">
                <a:solidFill>
                  <a:srgbClr val="3D4A57"/>
                </a:solidFill>
                <a:latin typeface="Calibri" pitchFamily="34" charset="0"/>
                <a:ea typeface="Calibri" pitchFamily="34" charset="-122"/>
                <a:cs typeface="Calibri" pitchFamily="34" charset="-120"/>
              </a:rPr>
              <a:t>Owning the B2B rail that distributes bank deposits, and soon loans and bonds, which MobiKwik today only consumes.</a:t>
            </a:r>
            <a:endParaRPr lang="en-US" sz="1100" dirty="0"/>
          </a:p>
        </p:txBody>
      </p:sp>
      <p:sp>
        <p:nvSpPr>
          <p:cNvPr id="12" name="Text 9"/>
          <p:cNvSpPr/>
          <p:nvPr/>
        </p:nvSpPr>
        <p:spPr>
          <a:xfrm>
            <a:off x="950976" y="3730752"/>
            <a:ext cx="4651096" cy="219456"/>
          </a:xfrm>
          <a:prstGeom prst="rect">
            <a:avLst/>
          </a:prstGeom>
          <a:noFill/>
          <a:ln/>
        </p:spPr>
        <p:txBody>
          <a:bodyPr wrap="square" lIns="0" tIns="0" rIns="0" bIns="0" rtlCol="0" anchor="ctr"/>
          <a:lstStyle/>
          <a:p>
            <a:pPr indent="0" marL="0">
              <a:buNone/>
            </a:pPr>
            <a:r>
              <a:rPr lang="en-US" sz="950" b="1" spc="100" kern="0" dirty="0">
                <a:solidFill>
                  <a:srgbClr val="8A6B3C"/>
                </a:solidFill>
                <a:latin typeface="Calibri" pitchFamily="34" charset="0"/>
                <a:ea typeface="Calibri" pitchFamily="34" charset="-122"/>
                <a:cs typeface="Calibri" pitchFamily="34" charset="-120"/>
              </a:rPr>
              <a:t>MOBIKWIK'S EDGE</a:t>
            </a:r>
            <a:endParaRPr lang="en-US" sz="950" dirty="0"/>
          </a:p>
        </p:txBody>
      </p:sp>
      <p:sp>
        <p:nvSpPr>
          <p:cNvPr id="13" name="Text 10"/>
          <p:cNvSpPr/>
          <p:nvPr/>
        </p:nvSpPr>
        <p:spPr>
          <a:xfrm>
            <a:off x="950976" y="3959352"/>
            <a:ext cx="4651096" cy="658368"/>
          </a:xfrm>
          <a:prstGeom prst="rect">
            <a:avLst/>
          </a:prstGeom>
          <a:noFill/>
          <a:ln/>
        </p:spPr>
        <p:txBody>
          <a:bodyPr wrap="square" lIns="0" tIns="0" rIns="0" bIns="0" rtlCol="0" anchor="t"/>
          <a:lstStyle/>
          <a:p>
            <a:pPr indent="0" marL="0">
              <a:lnSpc>
                <a:spcPct val="103000"/>
              </a:lnSpc>
              <a:buNone/>
            </a:pPr>
            <a:r>
              <a:rPr lang="en-US" sz="1100" dirty="0">
                <a:solidFill>
                  <a:srgbClr val="3D4A57"/>
                </a:solidFill>
                <a:latin typeface="Calibri" pitchFamily="34" charset="0"/>
                <a:ea typeface="Calibri" pitchFamily="34" charset="-122"/>
                <a:cs typeface="Calibri" pitchFamily="34" charset="-120"/>
              </a:rPr>
              <a:t>Already an ~6.8% shareholder and a live distributor: a step from minority stake to control.</a:t>
            </a:r>
            <a:endParaRPr lang="en-US" sz="1100" dirty="0"/>
          </a:p>
        </p:txBody>
      </p:sp>
      <p:sp>
        <p:nvSpPr>
          <p:cNvPr id="14" name="Text 11"/>
          <p:cNvSpPr/>
          <p:nvPr/>
        </p:nvSpPr>
        <p:spPr>
          <a:xfrm>
            <a:off x="950976" y="4663440"/>
            <a:ext cx="4651096" cy="219456"/>
          </a:xfrm>
          <a:prstGeom prst="rect">
            <a:avLst/>
          </a:prstGeom>
          <a:noFill/>
          <a:ln/>
        </p:spPr>
        <p:txBody>
          <a:bodyPr wrap="square" lIns="0" tIns="0" rIns="0" bIns="0" rtlCol="0" anchor="ctr"/>
          <a:lstStyle/>
          <a:p>
            <a:pPr indent="0" marL="0">
              <a:buNone/>
            </a:pPr>
            <a:r>
              <a:rPr lang="en-US" sz="950" b="1" spc="100" kern="0" dirty="0">
                <a:solidFill>
                  <a:srgbClr val="8A6B3C"/>
                </a:solidFill>
                <a:latin typeface="Calibri" pitchFamily="34" charset="0"/>
                <a:ea typeface="Calibri" pitchFamily="34" charset="-122"/>
                <a:cs typeface="Calibri" pitchFamily="34" charset="-120"/>
              </a:rPr>
              <a:t>INDICATIVE TICKET</a:t>
            </a:r>
            <a:endParaRPr lang="en-US" sz="950" dirty="0"/>
          </a:p>
        </p:txBody>
      </p:sp>
      <p:sp>
        <p:nvSpPr>
          <p:cNvPr id="15" name="Text 12"/>
          <p:cNvSpPr/>
          <p:nvPr/>
        </p:nvSpPr>
        <p:spPr>
          <a:xfrm>
            <a:off x="950976" y="4892040"/>
            <a:ext cx="4651096" cy="658368"/>
          </a:xfrm>
          <a:prstGeom prst="rect">
            <a:avLst/>
          </a:prstGeom>
          <a:noFill/>
          <a:ln/>
        </p:spPr>
        <p:txBody>
          <a:bodyPr wrap="square" lIns="0" tIns="0" rIns="0" bIns="0" rtlCol="0" anchor="t"/>
          <a:lstStyle/>
          <a:p>
            <a:pPr indent="0" marL="0">
              <a:lnSpc>
                <a:spcPct val="103000"/>
              </a:lnSpc>
              <a:buNone/>
            </a:pPr>
            <a:r>
              <a:rPr lang="en-US" sz="1100" dirty="0">
                <a:solidFill>
                  <a:srgbClr val="3D4A57"/>
                </a:solidFill>
                <a:latin typeface="Calibri" pitchFamily="34" charset="0"/>
                <a:ea typeface="Calibri" pitchFamily="34" charset="-122"/>
                <a:cs typeface="Calibri" pitchFamily="34" charset="-120"/>
              </a:rPr>
              <a:t>~Rs 40 Cr to Rs 90 Cr for control, mostly stock. A genuine tuck-in.</a:t>
            </a:r>
            <a:endParaRPr lang="en-US" sz="1100" dirty="0"/>
          </a:p>
        </p:txBody>
      </p:sp>
      <p:sp>
        <p:nvSpPr>
          <p:cNvPr id="16" name="Shape 13"/>
          <p:cNvSpPr/>
          <p:nvPr/>
        </p:nvSpPr>
        <p:spPr>
          <a:xfrm>
            <a:off x="6278728" y="1517904"/>
            <a:ext cx="5272888" cy="4114800"/>
          </a:xfrm>
          <a:prstGeom prst="roundRect">
            <a:avLst>
              <a:gd name="adj" fmla="val 1333"/>
            </a:avLst>
          </a:prstGeom>
          <a:solidFill>
            <a:srgbClr val="F4F6F9"/>
          </a:solidFill>
          <a:ln w="12700">
            <a:solidFill>
              <a:srgbClr val="DCE3EB"/>
            </a:solidFill>
            <a:prstDash val="solid"/>
          </a:ln>
          <a:effectLst>
            <a:outerShdw sx="100000" sy="100000" kx="0" ky="0" algn="bl" rotWithShape="0" blurRad="101600" dist="38100" dir="5400000">
              <a:srgbClr val="13243A">
                <a:alpha val="10000"/>
              </a:srgbClr>
            </a:outerShdw>
          </a:effectLst>
        </p:spPr>
      </p:sp>
      <p:sp>
        <p:nvSpPr>
          <p:cNvPr id="17" name="Shape 14"/>
          <p:cNvSpPr/>
          <p:nvPr/>
        </p:nvSpPr>
        <p:spPr>
          <a:xfrm>
            <a:off x="6571336" y="1810512"/>
            <a:ext cx="658368" cy="658368"/>
          </a:xfrm>
          <a:prstGeom prst="ellipse">
            <a:avLst/>
          </a:prstGeom>
          <a:solidFill>
            <a:srgbClr val="0B2545"/>
          </a:solidFill>
          <a:ln/>
        </p:spPr>
      </p:sp>
      <p:pic>
        <p:nvPicPr>
          <p:cNvPr id="18" name="Image 1" descr="preencoded.png">    </p:cNvPr>
          <p:cNvPicPr>
            <a:picLocks noChangeAspect="1"/>
          </p:cNvPicPr>
          <p:nvPr/>
        </p:nvPicPr>
        <p:blipFill>
          <a:blip r:embed="rId2"/>
          <a:stretch>
            <a:fillRect/>
          </a:stretch>
        </p:blipFill>
        <p:spPr>
          <a:xfrm>
            <a:off x="6745072" y="1984248"/>
            <a:ext cx="310896" cy="310896"/>
          </a:xfrm>
          <a:prstGeom prst="rect">
            <a:avLst/>
          </a:prstGeom>
        </p:spPr>
      </p:pic>
      <p:sp>
        <p:nvSpPr>
          <p:cNvPr id="19" name="Text 15"/>
          <p:cNvSpPr/>
          <p:nvPr/>
        </p:nvSpPr>
        <p:spPr>
          <a:xfrm>
            <a:off x="7376008" y="1828800"/>
            <a:ext cx="3992728" cy="365760"/>
          </a:xfrm>
          <a:prstGeom prst="rect">
            <a:avLst/>
          </a:prstGeom>
          <a:noFill/>
          <a:ln/>
        </p:spPr>
        <p:txBody>
          <a:bodyPr wrap="square" lIns="0" tIns="0" rIns="0" bIns="0" rtlCol="0" anchor="ctr"/>
          <a:lstStyle/>
          <a:p>
            <a:pPr indent="0" marL="0">
              <a:buNone/>
            </a:pPr>
            <a:r>
              <a:rPr lang="en-US" sz="2200" b="1" spc="50" kern="0" dirty="0">
                <a:solidFill>
                  <a:srgbClr val="0B2545"/>
                </a:solidFill>
                <a:latin typeface="Cambria" pitchFamily="34" charset="0"/>
                <a:ea typeface="Cambria" pitchFamily="34" charset="-122"/>
                <a:cs typeface="Cambria" pitchFamily="34" charset="-120"/>
              </a:rPr>
              <a:t>RISKCOVRY</a:t>
            </a:r>
            <a:endParaRPr lang="en-US" sz="2200" dirty="0"/>
          </a:p>
        </p:txBody>
      </p:sp>
      <p:sp>
        <p:nvSpPr>
          <p:cNvPr id="20" name="Text 16"/>
          <p:cNvSpPr/>
          <p:nvPr/>
        </p:nvSpPr>
        <p:spPr>
          <a:xfrm>
            <a:off x="7376008" y="2231136"/>
            <a:ext cx="3992728" cy="274320"/>
          </a:xfrm>
          <a:prstGeom prst="rect">
            <a:avLst/>
          </a:prstGeom>
          <a:noFill/>
          <a:ln/>
        </p:spPr>
        <p:txBody>
          <a:bodyPr wrap="square" lIns="0" tIns="0" rIns="0" bIns="0" rtlCol="0" anchor="ctr"/>
          <a:lstStyle/>
          <a:p>
            <a:pPr indent="0" marL="0">
              <a:buNone/>
            </a:pPr>
            <a:r>
              <a:rPr lang="en-US" sz="1150" i="1" dirty="0">
                <a:solidFill>
                  <a:srgbClr val="8A6B3C"/>
                </a:solidFill>
                <a:latin typeface="Calibri" pitchFamily="34" charset="0"/>
                <a:ea typeface="Calibri" pitchFamily="34" charset="-122"/>
                <a:cs typeface="Calibri" pitchFamily="34" charset="-120"/>
              </a:rPr>
              <a:t>Embedded-insurance infrastructure</a:t>
            </a:r>
            <a:endParaRPr lang="en-US" sz="1150" dirty="0"/>
          </a:p>
        </p:txBody>
      </p:sp>
      <p:sp>
        <p:nvSpPr>
          <p:cNvPr id="21" name="Text 17"/>
          <p:cNvSpPr/>
          <p:nvPr/>
        </p:nvSpPr>
        <p:spPr>
          <a:xfrm>
            <a:off x="6589624" y="2798064"/>
            <a:ext cx="4651096" cy="219456"/>
          </a:xfrm>
          <a:prstGeom prst="rect">
            <a:avLst/>
          </a:prstGeom>
          <a:noFill/>
          <a:ln/>
        </p:spPr>
        <p:txBody>
          <a:bodyPr wrap="square" lIns="0" tIns="0" rIns="0" bIns="0" rtlCol="0" anchor="ctr"/>
          <a:lstStyle/>
          <a:p>
            <a:pPr indent="0" marL="0">
              <a:buNone/>
            </a:pPr>
            <a:r>
              <a:rPr lang="en-US" sz="950" b="1" spc="100" kern="0" dirty="0">
                <a:solidFill>
                  <a:srgbClr val="8A6B3C"/>
                </a:solidFill>
                <a:latin typeface="Calibri" pitchFamily="34" charset="0"/>
                <a:ea typeface="Calibri" pitchFamily="34" charset="-122"/>
                <a:cs typeface="Calibri" pitchFamily="34" charset="-120"/>
              </a:rPr>
              <a:t>WHITE SPACE</a:t>
            </a:r>
            <a:endParaRPr lang="en-US" sz="950" dirty="0"/>
          </a:p>
        </p:txBody>
      </p:sp>
      <p:sp>
        <p:nvSpPr>
          <p:cNvPr id="22" name="Text 18"/>
          <p:cNvSpPr/>
          <p:nvPr/>
        </p:nvSpPr>
        <p:spPr>
          <a:xfrm>
            <a:off x="6589624" y="3026664"/>
            <a:ext cx="4651096" cy="658368"/>
          </a:xfrm>
          <a:prstGeom prst="rect">
            <a:avLst/>
          </a:prstGeom>
          <a:noFill/>
          <a:ln/>
        </p:spPr>
        <p:txBody>
          <a:bodyPr wrap="square" lIns="0" tIns="0" rIns="0" bIns="0" rtlCol="0" anchor="t"/>
          <a:lstStyle/>
          <a:p>
            <a:pPr indent="0" marL="0">
              <a:lnSpc>
                <a:spcPct val="103000"/>
              </a:lnSpc>
              <a:buNone/>
            </a:pPr>
            <a:r>
              <a:rPr lang="en-US" sz="1100" dirty="0">
                <a:solidFill>
                  <a:srgbClr val="3D4A57"/>
                </a:solidFill>
                <a:latin typeface="Calibri" pitchFamily="34" charset="0"/>
                <a:ea typeface="Calibri" pitchFamily="34" charset="-122"/>
                <a:cs typeface="Calibri" pitchFamily="34" charset="-120"/>
              </a:rPr>
              <a:t>Insurance distribution, a category MobiKwik barely touches but just secured IRDAI approval to enter.</a:t>
            </a:r>
            <a:endParaRPr lang="en-US" sz="1100" dirty="0"/>
          </a:p>
        </p:txBody>
      </p:sp>
      <p:sp>
        <p:nvSpPr>
          <p:cNvPr id="23" name="Text 19"/>
          <p:cNvSpPr/>
          <p:nvPr/>
        </p:nvSpPr>
        <p:spPr>
          <a:xfrm>
            <a:off x="6589624" y="3730752"/>
            <a:ext cx="4651096" cy="219456"/>
          </a:xfrm>
          <a:prstGeom prst="rect">
            <a:avLst/>
          </a:prstGeom>
          <a:noFill/>
          <a:ln/>
        </p:spPr>
        <p:txBody>
          <a:bodyPr wrap="square" lIns="0" tIns="0" rIns="0" bIns="0" rtlCol="0" anchor="ctr"/>
          <a:lstStyle/>
          <a:p>
            <a:pPr indent="0" marL="0">
              <a:buNone/>
            </a:pPr>
            <a:r>
              <a:rPr lang="en-US" sz="950" b="1" spc="100" kern="0" dirty="0">
                <a:solidFill>
                  <a:srgbClr val="8A6B3C"/>
                </a:solidFill>
                <a:latin typeface="Calibri" pitchFamily="34" charset="0"/>
                <a:ea typeface="Calibri" pitchFamily="34" charset="-122"/>
                <a:cs typeface="Calibri" pitchFamily="34" charset="-120"/>
              </a:rPr>
              <a:t>MOBIKWIK'S EDGE</a:t>
            </a:r>
            <a:endParaRPr lang="en-US" sz="950" dirty="0"/>
          </a:p>
        </p:txBody>
      </p:sp>
      <p:sp>
        <p:nvSpPr>
          <p:cNvPr id="24" name="Text 20"/>
          <p:cNvSpPr/>
          <p:nvPr/>
        </p:nvSpPr>
        <p:spPr>
          <a:xfrm>
            <a:off x="6589624" y="3959352"/>
            <a:ext cx="4651096" cy="658368"/>
          </a:xfrm>
          <a:prstGeom prst="rect">
            <a:avLst/>
          </a:prstGeom>
          <a:noFill/>
          <a:ln/>
        </p:spPr>
        <p:txBody>
          <a:bodyPr wrap="square" lIns="0" tIns="0" rIns="0" bIns="0" rtlCol="0" anchor="t"/>
          <a:lstStyle/>
          <a:p>
            <a:pPr indent="0" marL="0">
              <a:lnSpc>
                <a:spcPct val="103000"/>
              </a:lnSpc>
              <a:buNone/>
            </a:pPr>
            <a:r>
              <a:rPr lang="en-US" sz="1100" dirty="0">
                <a:solidFill>
                  <a:srgbClr val="3D4A57"/>
                </a:solidFill>
                <a:latin typeface="Calibri" pitchFamily="34" charset="0"/>
                <a:ea typeface="Calibri" pitchFamily="34" charset="-122"/>
                <a:cs typeface="Calibri" pitchFamily="34" charset="-120"/>
              </a:rPr>
              <a:t>Buy the insurance-in-a-box engine and embed cover across 186M users. PhonePe did the same with Zopper.</a:t>
            </a:r>
            <a:endParaRPr lang="en-US" sz="1100" dirty="0"/>
          </a:p>
        </p:txBody>
      </p:sp>
      <p:sp>
        <p:nvSpPr>
          <p:cNvPr id="25" name="Text 21"/>
          <p:cNvSpPr/>
          <p:nvPr/>
        </p:nvSpPr>
        <p:spPr>
          <a:xfrm>
            <a:off x="6589624" y="4663440"/>
            <a:ext cx="4651096" cy="219456"/>
          </a:xfrm>
          <a:prstGeom prst="rect">
            <a:avLst/>
          </a:prstGeom>
          <a:noFill/>
          <a:ln/>
        </p:spPr>
        <p:txBody>
          <a:bodyPr wrap="square" lIns="0" tIns="0" rIns="0" bIns="0" rtlCol="0" anchor="ctr"/>
          <a:lstStyle/>
          <a:p>
            <a:pPr indent="0" marL="0">
              <a:buNone/>
            </a:pPr>
            <a:r>
              <a:rPr lang="en-US" sz="950" b="1" spc="100" kern="0" dirty="0">
                <a:solidFill>
                  <a:srgbClr val="8A6B3C"/>
                </a:solidFill>
                <a:latin typeface="Calibri" pitchFamily="34" charset="0"/>
                <a:ea typeface="Calibri" pitchFamily="34" charset="-122"/>
                <a:cs typeface="Calibri" pitchFamily="34" charset="-120"/>
              </a:rPr>
              <a:t>INDICATIVE TICKET</a:t>
            </a:r>
            <a:endParaRPr lang="en-US" sz="950" dirty="0"/>
          </a:p>
        </p:txBody>
      </p:sp>
      <p:sp>
        <p:nvSpPr>
          <p:cNvPr id="26" name="Text 22"/>
          <p:cNvSpPr/>
          <p:nvPr/>
        </p:nvSpPr>
        <p:spPr>
          <a:xfrm>
            <a:off x="6589624" y="4892040"/>
            <a:ext cx="4651096" cy="658368"/>
          </a:xfrm>
          <a:prstGeom prst="rect">
            <a:avLst/>
          </a:prstGeom>
          <a:noFill/>
          <a:ln/>
        </p:spPr>
        <p:txBody>
          <a:bodyPr wrap="square" lIns="0" tIns="0" rIns="0" bIns="0" rtlCol="0" anchor="t"/>
          <a:lstStyle/>
          <a:p>
            <a:pPr indent="0" marL="0">
              <a:lnSpc>
                <a:spcPct val="103000"/>
              </a:lnSpc>
              <a:buNone/>
            </a:pPr>
            <a:r>
              <a:rPr lang="en-US" sz="1100" dirty="0">
                <a:solidFill>
                  <a:srgbClr val="3D4A57"/>
                </a:solidFill>
                <a:latin typeface="Calibri" pitchFamily="34" charset="0"/>
                <a:ea typeface="Calibri" pitchFamily="34" charset="-122"/>
                <a:cs typeface="Calibri" pitchFamily="34" charset="-120"/>
              </a:rPr>
              <a:t>~Rs 150 Cr to Rs 300 Cr, stock-led with earnouts. The larger of the two.</a:t>
            </a:r>
            <a:endParaRPr lang="en-US" sz="1100" dirty="0"/>
          </a:p>
        </p:txBody>
      </p:sp>
      <p:sp>
        <p:nvSpPr>
          <p:cNvPr id="27" name="Text 23"/>
          <p:cNvSpPr/>
          <p:nvPr/>
        </p:nvSpPr>
        <p:spPr>
          <a:xfrm>
            <a:off x="640080" y="6254496"/>
            <a:ext cx="10911535" cy="219456"/>
          </a:xfrm>
          <a:prstGeom prst="rect">
            <a:avLst/>
          </a:prstGeom>
          <a:noFill/>
          <a:ln/>
        </p:spPr>
        <p:txBody>
          <a:bodyPr wrap="square" lIns="0" tIns="0" rIns="0" bIns="0" rtlCol="0" anchor="ctr"/>
          <a:lstStyle/>
          <a:p>
            <a:pPr indent="0" marL="0">
              <a:buNone/>
            </a:pPr>
            <a:r>
              <a:rPr lang="en-US" sz="800" i="1" dirty="0">
                <a:solidFill>
                  <a:srgbClr val="7A8794"/>
                </a:solidFill>
                <a:latin typeface="Calibri" pitchFamily="34" charset="0"/>
                <a:ea typeface="Calibri" pitchFamily="34" charset="-122"/>
                <a:cs typeface="Calibri" pitchFamily="34" charset="-120"/>
              </a:rPr>
              <a:t>Source: Public company profiles (Tracxn, press) and company exchange filings.</a:t>
            </a:r>
            <a:endParaRPr lang="en-US" sz="800" dirty="0"/>
          </a:p>
        </p:txBody>
      </p:sp>
      <p:sp>
        <p:nvSpPr>
          <p:cNvPr id="28" name="Text 24"/>
          <p:cNvSpPr/>
          <p:nvPr/>
        </p:nvSpPr>
        <p:spPr>
          <a:xfrm>
            <a:off x="640080" y="6492240"/>
            <a:ext cx="2743200" cy="237744"/>
          </a:xfrm>
          <a:prstGeom prst="rect">
            <a:avLst/>
          </a:prstGeom>
          <a:noFill/>
          <a:ln/>
        </p:spPr>
        <p:txBody>
          <a:bodyPr wrap="square" lIns="0" tIns="0" rIns="0" bIns="0" rtlCol="0" anchor="ctr"/>
          <a:lstStyle/>
          <a:p>
            <a:pPr indent="0" marL="0">
              <a:buNone/>
            </a:pPr>
            <a:r>
              <a:rPr lang="en-US" sz="750" b="1" spc="150" kern="0" dirty="0">
                <a:solidFill>
                  <a:srgbClr val="7A8794"/>
                </a:solidFill>
                <a:latin typeface="Calibri" pitchFamily="34" charset="0"/>
                <a:ea typeface="Calibri" pitchFamily="34" charset="-122"/>
                <a:cs typeface="Calibri" pitchFamily="34" charset="-120"/>
              </a:rPr>
              <a:t>PROJECT KEYSTONE</a:t>
            </a:r>
            <a:endParaRPr lang="en-US" sz="750" dirty="0"/>
          </a:p>
        </p:txBody>
      </p:sp>
      <p:sp>
        <p:nvSpPr>
          <p:cNvPr id="29" name="Text 25"/>
          <p:cNvSpPr/>
          <p:nvPr/>
        </p:nvSpPr>
        <p:spPr>
          <a:xfrm>
            <a:off x="3352648" y="6492240"/>
            <a:ext cx="5486400" cy="237744"/>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Strictly private and confidential  ·  Illustrative</a:t>
            </a:r>
            <a:endParaRPr lang="en-US" sz="750" dirty="0"/>
          </a:p>
        </p:txBody>
      </p:sp>
      <p:sp>
        <p:nvSpPr>
          <p:cNvPr id="30" name="Text 26"/>
          <p:cNvSpPr/>
          <p:nvPr/>
        </p:nvSpPr>
        <p:spPr>
          <a:xfrm>
            <a:off x="11094415" y="6492240"/>
            <a:ext cx="457200" cy="237744"/>
          </a:xfrm>
          <a:prstGeom prst="rect">
            <a:avLst/>
          </a:prstGeom>
          <a:noFill/>
          <a:ln/>
        </p:spPr>
        <p:txBody>
          <a:bodyPr wrap="square" lIns="0" tIns="0" rIns="0" bIns="0" rtlCol="0" anchor="ctr"/>
          <a:lstStyle/>
          <a:p>
            <a:pPr algn="r" indent="0" marL="0">
              <a:buNone/>
            </a:pPr>
            <a:r>
              <a:rPr lang="en-US" sz="850" dirty="0">
                <a:solidFill>
                  <a:srgbClr val="7A8794"/>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20" kern="0" dirty="0">
                <a:solidFill>
                  <a:srgbClr val="8A6B3C"/>
                </a:solidFill>
                <a:latin typeface="Calibri" pitchFamily="34" charset="0"/>
                <a:ea typeface="Calibri" pitchFamily="34" charset="-122"/>
                <a:cs typeface="Calibri" pitchFamily="34" charset="-120"/>
              </a:rPr>
              <a:t>TARGET I  ·  WEALTH AND LENDING DISTRIBUTION</a:t>
            </a:r>
            <a:endParaRPr lang="en-US" sz="1100" dirty="0"/>
          </a:p>
        </p:txBody>
      </p:sp>
      <p:sp>
        <p:nvSpPr>
          <p:cNvPr id="3" name="Text 1"/>
          <p:cNvSpPr/>
          <p:nvPr/>
        </p:nvSpPr>
        <p:spPr>
          <a:xfrm>
            <a:off x="8808415" y="402336"/>
            <a:ext cx="2743200" cy="237744"/>
          </a:xfrm>
          <a:prstGeom prst="rect">
            <a:avLst/>
          </a:prstGeom>
          <a:noFill/>
          <a:ln/>
        </p:spPr>
        <p:txBody>
          <a:bodyPr wrap="square" lIns="0" tIns="0" rIns="0" bIns="0" rtlCol="0" anchor="ctr"/>
          <a:lstStyle/>
          <a:p>
            <a:pPr algn="r" indent="0" marL="0">
              <a:buNone/>
            </a:pPr>
            <a:r>
              <a:rPr lang="en-US" sz="950" b="1" spc="100" kern="0" dirty="0">
                <a:solidFill>
                  <a:srgbClr val="8A6B3C"/>
                </a:solidFill>
                <a:latin typeface="Calibri" pitchFamily="34" charset="0"/>
                <a:ea typeface="Calibri" pitchFamily="34" charset="-122"/>
                <a:cs typeface="Calibri" pitchFamily="34" charset="-120"/>
              </a:rPr>
              <a:t>Exhibit 7a</a:t>
            </a:r>
            <a:endParaRPr lang="en-US" sz="950" dirty="0"/>
          </a:p>
        </p:txBody>
      </p:sp>
      <p:sp>
        <p:nvSpPr>
          <p:cNvPr id="4" name="Text 2"/>
          <p:cNvSpPr/>
          <p:nvPr/>
        </p:nvSpPr>
        <p:spPr>
          <a:xfrm>
            <a:off x="640080" y="658368"/>
            <a:ext cx="10911535" cy="566928"/>
          </a:xfrm>
          <a:prstGeom prst="rect">
            <a:avLst/>
          </a:prstGeom>
          <a:noFill/>
          <a:ln/>
        </p:spPr>
        <p:txBody>
          <a:bodyPr wrap="square" lIns="0" tIns="0" rIns="0" bIns="0" rtlCol="0" anchor="t"/>
          <a:lstStyle/>
          <a:p>
            <a:pPr indent="0" marL="0">
              <a:lnSpc>
                <a:spcPct val="98000"/>
              </a:lnSpc>
              <a:buNone/>
            </a:pPr>
            <a:r>
              <a:rPr lang="en-US" sz="2500" b="1" dirty="0">
                <a:solidFill>
                  <a:srgbClr val="0B2545"/>
                </a:solidFill>
                <a:latin typeface="Cambria" pitchFamily="34" charset="0"/>
                <a:ea typeface="Cambria" pitchFamily="34" charset="-122"/>
                <a:cs typeface="Cambria" pitchFamily="34" charset="-120"/>
              </a:rPr>
              <a:t>Blostem: own the savings and wealth distribution rail</a:t>
            </a:r>
            <a:endParaRPr lang="en-US" sz="2500" dirty="0"/>
          </a:p>
        </p:txBody>
      </p:sp>
      <p:sp>
        <p:nvSpPr>
          <p:cNvPr id="5" name="Shape 3"/>
          <p:cNvSpPr/>
          <p:nvPr/>
        </p:nvSpPr>
        <p:spPr>
          <a:xfrm>
            <a:off x="640080" y="1417320"/>
            <a:ext cx="2590724" cy="987552"/>
          </a:xfrm>
          <a:prstGeom prst="roundRect">
            <a:avLst>
              <a:gd name="adj" fmla="val 4630"/>
            </a:avLst>
          </a:prstGeom>
          <a:solidFill>
            <a:srgbClr val="F4F6F9"/>
          </a:solidFill>
          <a:ln w="12700">
            <a:solidFill>
              <a:srgbClr val="DCE3EB"/>
            </a:solidFill>
            <a:prstDash val="solid"/>
          </a:ln>
        </p:spPr>
      </p:sp>
      <p:sp>
        <p:nvSpPr>
          <p:cNvPr id="6" name="Text 4"/>
          <p:cNvSpPr/>
          <p:nvPr/>
        </p:nvSpPr>
        <p:spPr>
          <a:xfrm>
            <a:off x="804672" y="1536192"/>
            <a:ext cx="2261540" cy="201168"/>
          </a:xfrm>
          <a:prstGeom prst="rect">
            <a:avLst/>
          </a:prstGeom>
          <a:noFill/>
          <a:ln/>
        </p:spPr>
        <p:txBody>
          <a:bodyPr wrap="square" lIns="0" tIns="0" rIns="0" bIns="0" rtlCol="0" anchor="ctr"/>
          <a:lstStyle/>
          <a:p>
            <a:pPr indent="0" marL="0">
              <a:buNone/>
            </a:pPr>
            <a:r>
              <a:rPr lang="en-US" sz="900" b="1" spc="120" kern="0" dirty="0">
                <a:solidFill>
                  <a:srgbClr val="8A6B3C"/>
                </a:solidFill>
                <a:latin typeface="Calibri" pitchFamily="34" charset="0"/>
                <a:ea typeface="Calibri" pitchFamily="34" charset="-122"/>
                <a:cs typeface="Calibri" pitchFamily="34" charset="-120"/>
              </a:rPr>
              <a:t>FOUNDED</a:t>
            </a:r>
            <a:endParaRPr lang="en-US" sz="900" dirty="0"/>
          </a:p>
        </p:txBody>
      </p:sp>
      <p:sp>
        <p:nvSpPr>
          <p:cNvPr id="7" name="Text 5"/>
          <p:cNvSpPr/>
          <p:nvPr/>
        </p:nvSpPr>
        <p:spPr>
          <a:xfrm>
            <a:off x="804672" y="1746504"/>
            <a:ext cx="2261540" cy="603504"/>
          </a:xfrm>
          <a:prstGeom prst="rect">
            <a:avLst/>
          </a:prstGeom>
          <a:noFill/>
          <a:ln/>
        </p:spPr>
        <p:txBody>
          <a:bodyPr wrap="square" lIns="0" tIns="0" rIns="0" bIns="0" rtlCol="0" anchor="t"/>
          <a:lstStyle/>
          <a:p>
            <a:pPr indent="0" marL="0">
              <a:lnSpc>
                <a:spcPct val="100000"/>
              </a:lnSpc>
              <a:buNone/>
            </a:pPr>
            <a:r>
              <a:rPr lang="en-US" sz="1000" b="1" dirty="0">
                <a:solidFill>
                  <a:srgbClr val="0B2545"/>
                </a:solidFill>
                <a:latin typeface="Calibri" pitchFamily="34" charset="0"/>
                <a:ea typeface="Calibri" pitchFamily="34" charset="-122"/>
                <a:cs typeface="Calibri" pitchFamily="34" charset="-120"/>
              </a:rPr>
              <a:t>2021 · Delhi NCR</a:t>
            </a:r>
            <a:endParaRPr lang="en-US" sz="1000" dirty="0"/>
          </a:p>
        </p:txBody>
      </p:sp>
      <p:sp>
        <p:nvSpPr>
          <p:cNvPr id="8" name="Shape 6"/>
          <p:cNvSpPr/>
          <p:nvPr/>
        </p:nvSpPr>
        <p:spPr>
          <a:xfrm>
            <a:off x="3413684" y="1417320"/>
            <a:ext cx="2590724" cy="987552"/>
          </a:xfrm>
          <a:prstGeom prst="roundRect">
            <a:avLst>
              <a:gd name="adj" fmla="val 4630"/>
            </a:avLst>
          </a:prstGeom>
          <a:solidFill>
            <a:srgbClr val="F4F6F9"/>
          </a:solidFill>
          <a:ln w="12700">
            <a:solidFill>
              <a:srgbClr val="DCE3EB"/>
            </a:solidFill>
            <a:prstDash val="solid"/>
          </a:ln>
        </p:spPr>
      </p:sp>
      <p:sp>
        <p:nvSpPr>
          <p:cNvPr id="9" name="Text 7"/>
          <p:cNvSpPr/>
          <p:nvPr/>
        </p:nvSpPr>
        <p:spPr>
          <a:xfrm>
            <a:off x="3578276" y="1536192"/>
            <a:ext cx="2261540" cy="201168"/>
          </a:xfrm>
          <a:prstGeom prst="rect">
            <a:avLst/>
          </a:prstGeom>
          <a:noFill/>
          <a:ln/>
        </p:spPr>
        <p:txBody>
          <a:bodyPr wrap="square" lIns="0" tIns="0" rIns="0" bIns="0" rtlCol="0" anchor="ctr"/>
          <a:lstStyle/>
          <a:p>
            <a:pPr indent="0" marL="0">
              <a:buNone/>
            </a:pPr>
            <a:r>
              <a:rPr lang="en-US" sz="900" b="1" spc="120" kern="0" dirty="0">
                <a:solidFill>
                  <a:srgbClr val="8A6B3C"/>
                </a:solidFill>
                <a:latin typeface="Calibri" pitchFamily="34" charset="0"/>
                <a:ea typeface="Calibri" pitchFamily="34" charset="-122"/>
                <a:cs typeface="Calibri" pitchFamily="34" charset="-120"/>
              </a:rPr>
              <a:t>WHAT IT IS</a:t>
            </a:r>
            <a:endParaRPr lang="en-US" sz="900" dirty="0"/>
          </a:p>
        </p:txBody>
      </p:sp>
      <p:sp>
        <p:nvSpPr>
          <p:cNvPr id="10" name="Text 8"/>
          <p:cNvSpPr/>
          <p:nvPr/>
        </p:nvSpPr>
        <p:spPr>
          <a:xfrm>
            <a:off x="3578276" y="1746504"/>
            <a:ext cx="2261540" cy="603504"/>
          </a:xfrm>
          <a:prstGeom prst="rect">
            <a:avLst/>
          </a:prstGeom>
          <a:noFill/>
          <a:ln/>
        </p:spPr>
        <p:txBody>
          <a:bodyPr wrap="square" lIns="0" tIns="0" rIns="0" bIns="0" rtlCol="0" anchor="t"/>
          <a:lstStyle/>
          <a:p>
            <a:pPr indent="0" marL="0">
              <a:lnSpc>
                <a:spcPct val="100000"/>
              </a:lnSpc>
              <a:buNone/>
            </a:pPr>
            <a:r>
              <a:rPr lang="en-US" sz="1000" b="1" dirty="0">
                <a:solidFill>
                  <a:srgbClr val="0B2545"/>
                </a:solidFill>
                <a:latin typeface="Calibri" pitchFamily="34" charset="0"/>
                <a:ea typeface="Calibri" pitchFamily="34" charset="-122"/>
                <a:cs typeface="Calibri" pitchFamily="34" charset="-120"/>
              </a:rPr>
              <a:t>One-API rail for bank FDs and RDs, expanding to loans and bonds</a:t>
            </a:r>
            <a:endParaRPr lang="en-US" sz="1000" dirty="0"/>
          </a:p>
        </p:txBody>
      </p:sp>
      <p:sp>
        <p:nvSpPr>
          <p:cNvPr id="11" name="Shape 9"/>
          <p:cNvSpPr/>
          <p:nvPr/>
        </p:nvSpPr>
        <p:spPr>
          <a:xfrm>
            <a:off x="6187288" y="1417320"/>
            <a:ext cx="2590724" cy="987552"/>
          </a:xfrm>
          <a:prstGeom prst="roundRect">
            <a:avLst>
              <a:gd name="adj" fmla="val 4630"/>
            </a:avLst>
          </a:prstGeom>
          <a:solidFill>
            <a:srgbClr val="F4F6F9"/>
          </a:solidFill>
          <a:ln w="12700">
            <a:solidFill>
              <a:srgbClr val="DCE3EB"/>
            </a:solidFill>
            <a:prstDash val="solid"/>
          </a:ln>
        </p:spPr>
      </p:sp>
      <p:sp>
        <p:nvSpPr>
          <p:cNvPr id="12" name="Text 10"/>
          <p:cNvSpPr/>
          <p:nvPr/>
        </p:nvSpPr>
        <p:spPr>
          <a:xfrm>
            <a:off x="6351880" y="1536192"/>
            <a:ext cx="2261540" cy="201168"/>
          </a:xfrm>
          <a:prstGeom prst="rect">
            <a:avLst/>
          </a:prstGeom>
          <a:noFill/>
          <a:ln/>
        </p:spPr>
        <p:txBody>
          <a:bodyPr wrap="square" lIns="0" tIns="0" rIns="0" bIns="0" rtlCol="0" anchor="ctr"/>
          <a:lstStyle/>
          <a:p>
            <a:pPr indent="0" marL="0">
              <a:buNone/>
            </a:pPr>
            <a:r>
              <a:rPr lang="en-US" sz="900" b="1" spc="120" kern="0" dirty="0">
                <a:solidFill>
                  <a:srgbClr val="8A6B3C"/>
                </a:solidFill>
                <a:latin typeface="Calibri" pitchFamily="34" charset="0"/>
                <a:ea typeface="Calibri" pitchFamily="34" charset="-122"/>
                <a:cs typeface="Calibri" pitchFamily="34" charset="-120"/>
              </a:rPr>
              <a:t>TRACTION</a:t>
            </a:r>
            <a:endParaRPr lang="en-US" sz="900" dirty="0"/>
          </a:p>
        </p:txBody>
      </p:sp>
      <p:sp>
        <p:nvSpPr>
          <p:cNvPr id="13" name="Text 11"/>
          <p:cNvSpPr/>
          <p:nvPr/>
        </p:nvSpPr>
        <p:spPr>
          <a:xfrm>
            <a:off x="6351880" y="1746504"/>
            <a:ext cx="2261540" cy="603504"/>
          </a:xfrm>
          <a:prstGeom prst="rect">
            <a:avLst/>
          </a:prstGeom>
          <a:noFill/>
          <a:ln/>
        </p:spPr>
        <p:txBody>
          <a:bodyPr wrap="square" lIns="0" tIns="0" rIns="0" bIns="0" rtlCol="0" anchor="t"/>
          <a:lstStyle/>
          <a:p>
            <a:pPr indent="0" marL="0">
              <a:lnSpc>
                <a:spcPct val="100000"/>
              </a:lnSpc>
              <a:buNone/>
            </a:pPr>
            <a:r>
              <a:rPr lang="en-US" sz="1000" b="1" dirty="0">
                <a:solidFill>
                  <a:srgbClr val="0B2545"/>
                </a:solidFill>
                <a:latin typeface="Calibri" pitchFamily="34" charset="0"/>
                <a:ea typeface="Calibri" pitchFamily="34" charset="-122"/>
                <a:cs typeface="Calibri" pitchFamily="34" charset="-120"/>
              </a:rPr>
              <a:t>Live on MobiKwik, Upstox, Jupiter, Tide and 27+ platforms</a:t>
            </a:r>
            <a:endParaRPr lang="en-US" sz="1000" dirty="0"/>
          </a:p>
        </p:txBody>
      </p:sp>
      <p:sp>
        <p:nvSpPr>
          <p:cNvPr id="14" name="Shape 12"/>
          <p:cNvSpPr/>
          <p:nvPr/>
        </p:nvSpPr>
        <p:spPr>
          <a:xfrm>
            <a:off x="8960891" y="1417320"/>
            <a:ext cx="2590724" cy="987552"/>
          </a:xfrm>
          <a:prstGeom prst="roundRect">
            <a:avLst>
              <a:gd name="adj" fmla="val 4630"/>
            </a:avLst>
          </a:prstGeom>
          <a:solidFill>
            <a:srgbClr val="F4F6F9"/>
          </a:solidFill>
          <a:ln w="12700">
            <a:solidFill>
              <a:srgbClr val="DCE3EB"/>
            </a:solidFill>
            <a:prstDash val="solid"/>
          </a:ln>
        </p:spPr>
      </p:sp>
      <p:sp>
        <p:nvSpPr>
          <p:cNvPr id="15" name="Text 13"/>
          <p:cNvSpPr/>
          <p:nvPr/>
        </p:nvSpPr>
        <p:spPr>
          <a:xfrm>
            <a:off x="9125483" y="1536192"/>
            <a:ext cx="2261540" cy="201168"/>
          </a:xfrm>
          <a:prstGeom prst="rect">
            <a:avLst/>
          </a:prstGeom>
          <a:noFill/>
          <a:ln/>
        </p:spPr>
        <p:txBody>
          <a:bodyPr wrap="square" lIns="0" tIns="0" rIns="0" bIns="0" rtlCol="0" anchor="ctr"/>
          <a:lstStyle/>
          <a:p>
            <a:pPr indent="0" marL="0">
              <a:buNone/>
            </a:pPr>
            <a:r>
              <a:rPr lang="en-US" sz="900" b="1" spc="120" kern="0" dirty="0">
                <a:solidFill>
                  <a:srgbClr val="8A6B3C"/>
                </a:solidFill>
                <a:latin typeface="Calibri" pitchFamily="34" charset="0"/>
                <a:ea typeface="Calibri" pitchFamily="34" charset="-122"/>
                <a:cs typeface="Calibri" pitchFamily="34" charset="-120"/>
              </a:rPr>
              <a:t>FUNDING</a:t>
            </a:r>
            <a:endParaRPr lang="en-US" sz="900" dirty="0"/>
          </a:p>
        </p:txBody>
      </p:sp>
      <p:sp>
        <p:nvSpPr>
          <p:cNvPr id="16" name="Text 14"/>
          <p:cNvSpPr/>
          <p:nvPr/>
        </p:nvSpPr>
        <p:spPr>
          <a:xfrm>
            <a:off x="9125483" y="1746504"/>
            <a:ext cx="2261540" cy="603504"/>
          </a:xfrm>
          <a:prstGeom prst="rect">
            <a:avLst/>
          </a:prstGeom>
          <a:noFill/>
          <a:ln/>
        </p:spPr>
        <p:txBody>
          <a:bodyPr wrap="square" lIns="0" tIns="0" rIns="0" bIns="0" rtlCol="0" anchor="t"/>
          <a:lstStyle/>
          <a:p>
            <a:pPr indent="0" marL="0">
              <a:lnSpc>
                <a:spcPct val="100000"/>
              </a:lnSpc>
              <a:buNone/>
            </a:pPr>
            <a:r>
              <a:rPr lang="en-US" sz="1000" b="1" dirty="0">
                <a:solidFill>
                  <a:srgbClr val="0B2545"/>
                </a:solidFill>
                <a:latin typeface="Calibri" pitchFamily="34" charset="0"/>
                <a:ea typeface="Calibri" pitchFamily="34" charset="-122"/>
                <a:cs typeface="Calibri" pitchFamily="34" charset="-120"/>
              </a:rPr>
              <a:t>Seed · ~Rs 4 Cr raised · ~Rs 45 Cr last valuation</a:t>
            </a:r>
            <a:endParaRPr lang="en-US" sz="1000" dirty="0"/>
          </a:p>
        </p:txBody>
      </p:sp>
      <p:sp>
        <p:nvSpPr>
          <p:cNvPr id="17" name="Shape 15"/>
          <p:cNvSpPr/>
          <p:nvPr/>
        </p:nvSpPr>
        <p:spPr>
          <a:xfrm>
            <a:off x="640080" y="2651760"/>
            <a:ext cx="6446520" cy="2578608"/>
          </a:xfrm>
          <a:prstGeom prst="roundRect">
            <a:avLst>
              <a:gd name="adj" fmla="val 2128"/>
            </a:avLst>
          </a:prstGeom>
          <a:solidFill>
            <a:srgbClr val="F7F2E9"/>
          </a:solidFill>
          <a:ln/>
        </p:spPr>
      </p:sp>
      <p:sp>
        <p:nvSpPr>
          <p:cNvPr id="18" name="Text 16"/>
          <p:cNvSpPr/>
          <p:nvPr/>
        </p:nvSpPr>
        <p:spPr>
          <a:xfrm>
            <a:off x="914400" y="2852928"/>
            <a:ext cx="5897880" cy="292608"/>
          </a:xfrm>
          <a:prstGeom prst="rect">
            <a:avLst/>
          </a:prstGeom>
          <a:noFill/>
          <a:ln/>
        </p:spPr>
        <p:txBody>
          <a:bodyPr wrap="square" lIns="0" tIns="0" rIns="0" bIns="0" rtlCol="0" anchor="ctr"/>
          <a:lstStyle/>
          <a:p>
            <a:pPr indent="0" marL="0">
              <a:buNone/>
            </a:pPr>
            <a:r>
              <a:rPr lang="en-US" sz="1500" b="1" dirty="0">
                <a:solidFill>
                  <a:srgbClr val="8A6B3C"/>
                </a:solidFill>
                <a:latin typeface="Cambria" pitchFamily="34" charset="0"/>
                <a:ea typeface="Cambria" pitchFamily="34" charset="-122"/>
                <a:cs typeface="Cambria" pitchFamily="34" charset="-120"/>
              </a:rPr>
              <a:t>Why this is the cleanest deal MobiKwik can do</a:t>
            </a:r>
            <a:endParaRPr lang="en-US" sz="1500" dirty="0"/>
          </a:p>
        </p:txBody>
      </p:sp>
      <p:sp>
        <p:nvSpPr>
          <p:cNvPr id="19" name="Text 17"/>
          <p:cNvSpPr/>
          <p:nvPr/>
        </p:nvSpPr>
        <p:spPr>
          <a:xfrm>
            <a:off x="932688" y="3255264"/>
            <a:ext cx="5879592" cy="1828800"/>
          </a:xfrm>
          <a:prstGeom prst="rect">
            <a:avLst/>
          </a:prstGeom>
          <a:noFill/>
          <a:ln/>
        </p:spPr>
        <p:txBody>
          <a:bodyPr wrap="square" lIns="0" tIns="0" rIns="0" bIns="0" rtlCol="0" anchor="t"/>
          <a:lstStyle/>
          <a:p>
            <a:pPr marL="203200" indent="-203200">
              <a:lnSpc>
                <a:spcPct val="103000"/>
              </a:lnSpc>
              <a:spcAft>
                <a:spcPts val="700"/>
              </a:spcAft>
              <a:buSzPct val="100000"/>
              <a:buChar char="▪"/>
            </a:pPr>
            <a:r>
              <a:rPr lang="en-US" sz="1130" b="1" dirty="0">
                <a:solidFill>
                  <a:srgbClr val="0B2545"/>
                </a:solidFill>
                <a:latin typeface="Calibri" pitchFamily="34" charset="0"/>
                <a:ea typeface="Calibri" pitchFamily="34" charset="-122"/>
                <a:cs typeface="Calibri" pitchFamily="34" charset="-120"/>
              </a:rPr>
              <a:t>MobiKwik already owns about 6.8%: this is a move from minority stake to control, not a cold approach.</a:t>
            </a:r>
            <a:endParaRPr lang="en-US" sz="1130" dirty="0"/>
          </a:p>
          <a:p>
            <a:pPr marL="203200" indent="-203200">
              <a:lnSpc>
                <a:spcPct val="103000"/>
              </a:lnSpc>
              <a:spcAft>
                <a:spcPts val="700"/>
              </a:spcAft>
              <a:buSzPct val="100000"/>
              <a:buChar char="▪"/>
            </a:pPr>
            <a:r>
              <a:rPr lang="en-US" sz="1130" dirty="0">
                <a:solidFill>
                  <a:srgbClr val="3D4A57"/>
                </a:solidFill>
                <a:latin typeface="Calibri" pitchFamily="34" charset="0"/>
                <a:ea typeface="Calibri" pitchFamily="34" charset="-122"/>
                <a:cs typeface="Calibri" pitchFamily="34" charset="-120"/>
              </a:rPr>
              <a:t>Tiny cheque: majority control likely well under Rs 100 Cr, fundable almost entirely in stock.</a:t>
            </a:r>
            <a:endParaRPr lang="en-US" sz="1130" dirty="0"/>
          </a:p>
          <a:p>
            <a:pPr marL="203200" indent="-203200">
              <a:lnSpc>
                <a:spcPct val="103000"/>
              </a:lnSpc>
              <a:spcAft>
                <a:spcPts val="700"/>
              </a:spcAft>
              <a:buSzPct val="100000"/>
              <a:buChar char="▪"/>
            </a:pPr>
            <a:r>
              <a:rPr lang="en-US" sz="1130" dirty="0">
                <a:solidFill>
                  <a:srgbClr val="3D4A57"/>
                </a:solidFill>
                <a:latin typeface="Calibri" pitchFamily="34" charset="0"/>
                <a:ea typeface="Calibri" pitchFamily="34" charset="-122"/>
                <a:cs typeface="Calibri" pitchFamily="34" charset="-120"/>
              </a:rPr>
              <a:t>Verticalises MobiKwik's own savings and wealth stack, with control of the roadmap and better unit economics.</a:t>
            </a:r>
            <a:endParaRPr lang="en-US" sz="1130" dirty="0"/>
          </a:p>
          <a:p>
            <a:pPr marL="203200" indent="-203200">
              <a:lnSpc>
                <a:spcPct val="103000"/>
              </a:lnSpc>
              <a:spcAft>
                <a:spcPts val="700"/>
              </a:spcAft>
              <a:buSzPct val="100000"/>
              <a:buChar char="▪"/>
            </a:pPr>
            <a:r>
              <a:rPr lang="en-US" sz="1130" dirty="0">
                <a:solidFill>
                  <a:srgbClr val="3D4A57"/>
                </a:solidFill>
                <a:latin typeface="Calibri" pitchFamily="34" charset="0"/>
                <a:ea typeface="Calibri" pitchFamily="34" charset="-122"/>
                <a:cs typeface="Calibri" pitchFamily="34" charset="-120"/>
              </a:rPr>
              <a:t>Adds a B2B SaaS revenue line: 27+ platforms (Upstox, Jupiter, Tide) already pay to use the rail.</a:t>
            </a:r>
            <a:endParaRPr lang="en-US" sz="1130" dirty="0"/>
          </a:p>
          <a:p>
            <a:pPr marL="203200" indent="-203200">
              <a:lnSpc>
                <a:spcPct val="103000"/>
              </a:lnSpc>
              <a:spcAft>
                <a:spcPts val="700"/>
              </a:spcAft>
              <a:buSzPct val="100000"/>
              <a:buChar char="▪"/>
            </a:pPr>
            <a:r>
              <a:rPr lang="en-US" sz="1130" dirty="0">
                <a:solidFill>
                  <a:srgbClr val="3D4A57"/>
                </a:solidFill>
                <a:latin typeface="Calibri" pitchFamily="34" charset="0"/>
                <a:ea typeface="Calibri" pitchFamily="34" charset="-122"/>
                <a:cs typeface="Calibri" pitchFamily="34" charset="-120"/>
              </a:rPr>
              <a:t>Becomes a distribution pipe for the new NBFC's loans and bonds and the broking products.</a:t>
            </a:r>
            <a:endParaRPr lang="en-US" sz="1130" dirty="0"/>
          </a:p>
        </p:txBody>
      </p:sp>
      <p:sp>
        <p:nvSpPr>
          <p:cNvPr id="20" name="Shape 18"/>
          <p:cNvSpPr/>
          <p:nvPr/>
        </p:nvSpPr>
        <p:spPr>
          <a:xfrm>
            <a:off x="7452360" y="2651760"/>
            <a:ext cx="4099255" cy="2578608"/>
          </a:xfrm>
          <a:prstGeom prst="roundRect">
            <a:avLst>
              <a:gd name="adj" fmla="val 2128"/>
            </a:avLst>
          </a:prstGeom>
          <a:solidFill>
            <a:srgbClr val="F4F6F9"/>
          </a:solidFill>
          <a:ln w="12700">
            <a:solidFill>
              <a:srgbClr val="DCE3EB"/>
            </a:solidFill>
            <a:prstDash val="solid"/>
          </a:ln>
        </p:spPr>
      </p:sp>
      <p:sp>
        <p:nvSpPr>
          <p:cNvPr id="21" name="Text 19"/>
          <p:cNvSpPr/>
          <p:nvPr/>
        </p:nvSpPr>
        <p:spPr>
          <a:xfrm>
            <a:off x="7708392" y="2852928"/>
            <a:ext cx="3587191" cy="292608"/>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Watch-outs</a:t>
            </a:r>
            <a:endParaRPr lang="en-US" sz="1500" dirty="0"/>
          </a:p>
        </p:txBody>
      </p:sp>
      <p:sp>
        <p:nvSpPr>
          <p:cNvPr id="22" name="Text 20"/>
          <p:cNvSpPr/>
          <p:nvPr/>
        </p:nvSpPr>
        <p:spPr>
          <a:xfrm>
            <a:off x="7726680" y="3255264"/>
            <a:ext cx="3568903" cy="1828800"/>
          </a:xfrm>
          <a:prstGeom prst="rect">
            <a:avLst/>
          </a:prstGeom>
          <a:noFill/>
          <a:ln/>
        </p:spPr>
        <p:txBody>
          <a:bodyPr wrap="square" lIns="0" tIns="0" rIns="0" bIns="0" rtlCol="0" anchor="t"/>
          <a:lstStyle/>
          <a:p>
            <a:pPr marL="203200" indent="-203200">
              <a:lnSpc>
                <a:spcPct val="103000"/>
              </a:lnSpc>
              <a:spcAft>
                <a:spcPts val="800"/>
              </a:spcAft>
              <a:buSzPct val="100000"/>
              <a:buChar char="▪"/>
            </a:pPr>
            <a:r>
              <a:rPr lang="en-US" sz="1050" dirty="0">
                <a:solidFill>
                  <a:srgbClr val="3D4A57"/>
                </a:solidFill>
                <a:latin typeface="Calibri" pitchFamily="34" charset="0"/>
                <a:ea typeface="Calibri" pitchFamily="34" charset="-122"/>
                <a:cs typeface="Calibri" pitchFamily="34" charset="-120"/>
              </a:rPr>
              <a:t>Channel conflict: Zerodha's Rainmatter backs Blostem and rivals are customers. Keep governance arm's-length, or accept a verticalisation tradeoff.</a:t>
            </a:r>
            <a:endParaRPr lang="en-US" sz="1050" dirty="0"/>
          </a:p>
          <a:p>
            <a:pPr marL="203200" indent="-203200">
              <a:lnSpc>
                <a:spcPct val="103000"/>
              </a:lnSpc>
              <a:spcAft>
                <a:spcPts val="800"/>
              </a:spcAft>
              <a:buSzPct val="100000"/>
              <a:buChar char="▪"/>
            </a:pPr>
            <a:r>
              <a:rPr lang="en-US" sz="1050" dirty="0">
                <a:solidFill>
                  <a:srgbClr val="3D4A57"/>
                </a:solidFill>
                <a:latin typeface="Calibri" pitchFamily="34" charset="0"/>
                <a:ea typeface="Calibri" pitchFamily="34" charset="-122"/>
                <a:cs typeface="Calibri" pitchFamily="34" charset="-120"/>
              </a:rPr>
              <a:t>Negligible revenue today: this buys the rail and the category position, not current profit.</a:t>
            </a:r>
            <a:endParaRPr lang="en-US" sz="1050" dirty="0"/>
          </a:p>
          <a:p>
            <a:pPr marL="203200" indent="-203200">
              <a:lnSpc>
                <a:spcPct val="103000"/>
              </a:lnSpc>
              <a:spcAft>
                <a:spcPts val="800"/>
              </a:spcAft>
              <a:buSzPct val="100000"/>
              <a:buChar char="▪"/>
            </a:pPr>
            <a:r>
              <a:rPr lang="en-US" sz="1050" dirty="0">
                <a:solidFill>
                  <a:srgbClr val="3D4A57"/>
                </a:solidFill>
                <a:latin typeface="Calibri" pitchFamily="34" charset="0"/>
                <a:ea typeface="Calibri" pitchFamily="34" charset="-122"/>
                <a:cs typeface="Calibri" pitchFamily="34" charset="-120"/>
              </a:rPr>
              <a:t>Lock in the four founders with retention and earnouts.</a:t>
            </a:r>
            <a:endParaRPr lang="en-US" sz="1050" dirty="0"/>
          </a:p>
        </p:txBody>
      </p:sp>
      <p:sp>
        <p:nvSpPr>
          <p:cNvPr id="23" name="Shape 21"/>
          <p:cNvSpPr/>
          <p:nvPr/>
        </p:nvSpPr>
        <p:spPr>
          <a:xfrm>
            <a:off x="640080" y="5358384"/>
            <a:ext cx="10911535" cy="566928"/>
          </a:xfrm>
          <a:prstGeom prst="roundRect">
            <a:avLst>
              <a:gd name="adj" fmla="val 8065"/>
            </a:avLst>
          </a:prstGeom>
          <a:solidFill>
            <a:srgbClr val="0B2545"/>
          </a:solidFill>
          <a:ln/>
          <a:effectLst>
            <a:outerShdw sx="100000" sy="100000" kx="0" ky="0" algn="bl" rotWithShape="0" blurRad="101600" dist="38100" dir="5400000">
              <a:srgbClr val="13243A">
                <a:alpha val="10000"/>
              </a:srgbClr>
            </a:outerShdw>
          </a:effectLst>
        </p:spPr>
      </p:sp>
      <p:sp>
        <p:nvSpPr>
          <p:cNvPr id="24" name="Text 22"/>
          <p:cNvSpPr/>
          <p:nvPr/>
        </p:nvSpPr>
        <p:spPr>
          <a:xfrm>
            <a:off x="914400" y="5358384"/>
            <a:ext cx="10362895" cy="566928"/>
          </a:xfrm>
          <a:prstGeom prst="rect">
            <a:avLst/>
          </a:prstGeom>
          <a:noFill/>
          <a:ln/>
        </p:spPr>
        <p:txBody>
          <a:bodyPr wrap="square" lIns="0" tIns="0" rIns="0" bIns="0" rtlCol="0" anchor="ctr"/>
          <a:lstStyle/>
          <a:p>
            <a:pPr indent="0" marL="0">
              <a:buNone/>
            </a:pPr>
            <a:r>
              <a:rPr lang="en-US" sz="1100" b="1" dirty="0">
                <a:solidFill>
                  <a:srgbClr val="C9AE82"/>
                </a:solidFill>
                <a:latin typeface="Calibri" pitchFamily="34" charset="0"/>
                <a:ea typeface="Calibri" pitchFamily="34" charset="-122"/>
                <a:cs typeface="Calibri" pitchFamily="34" charset="-120"/>
              </a:rPr>
              <a:t>Indicative deal (illustrative):  </a:t>
            </a:r>
            <a:pPr indent="0" marL="0">
              <a:buNone/>
            </a:pPr>
            <a:r>
              <a:rPr lang="en-US" sz="1100" dirty="0">
                <a:solidFill>
                  <a:srgbClr val="E8EEF6"/>
                </a:solidFill>
                <a:latin typeface="Calibri" pitchFamily="34" charset="0"/>
                <a:ea typeface="Calibri" pitchFamily="34" charset="-122"/>
                <a:cs typeface="Calibri" pitchFamily="34" charset="-120"/>
              </a:rPr>
              <a:t>Move from ~6.8% to 51%+ control · indicative ticket ~Rs 40 Cr to Rs 90 Cr · mostly stock plus founder lock-ins.</a:t>
            </a:r>
            <a:endParaRPr lang="en-US" sz="1100" dirty="0"/>
          </a:p>
        </p:txBody>
      </p:sp>
      <p:sp>
        <p:nvSpPr>
          <p:cNvPr id="25" name="Text 23"/>
          <p:cNvSpPr/>
          <p:nvPr/>
        </p:nvSpPr>
        <p:spPr>
          <a:xfrm>
            <a:off x="640080" y="6254496"/>
            <a:ext cx="10911535" cy="219456"/>
          </a:xfrm>
          <a:prstGeom prst="rect">
            <a:avLst/>
          </a:prstGeom>
          <a:noFill/>
          <a:ln/>
        </p:spPr>
        <p:txBody>
          <a:bodyPr wrap="square" lIns="0" tIns="0" rIns="0" bIns="0" rtlCol="0" anchor="ctr"/>
          <a:lstStyle/>
          <a:p>
            <a:pPr indent="0" marL="0">
              <a:buNone/>
            </a:pPr>
            <a:r>
              <a:rPr lang="en-US" sz="800" i="1" dirty="0">
                <a:solidFill>
                  <a:srgbClr val="7A8794"/>
                </a:solidFill>
                <a:latin typeface="Calibri" pitchFamily="34" charset="0"/>
                <a:ea typeface="Calibri" pitchFamily="34" charset="-122"/>
                <a:cs typeface="Calibri" pitchFamily="34" charset="-120"/>
              </a:rPr>
              <a:t>Source: Company exchange filings (MobiKwik), Blostem public profile and press (Tracxn, company site).</a:t>
            </a:r>
            <a:endParaRPr lang="en-US" sz="800" dirty="0"/>
          </a:p>
        </p:txBody>
      </p:sp>
      <p:sp>
        <p:nvSpPr>
          <p:cNvPr id="26" name="Text 24"/>
          <p:cNvSpPr/>
          <p:nvPr/>
        </p:nvSpPr>
        <p:spPr>
          <a:xfrm>
            <a:off x="640080" y="6492240"/>
            <a:ext cx="2743200" cy="237744"/>
          </a:xfrm>
          <a:prstGeom prst="rect">
            <a:avLst/>
          </a:prstGeom>
          <a:noFill/>
          <a:ln/>
        </p:spPr>
        <p:txBody>
          <a:bodyPr wrap="square" lIns="0" tIns="0" rIns="0" bIns="0" rtlCol="0" anchor="ctr"/>
          <a:lstStyle/>
          <a:p>
            <a:pPr indent="0" marL="0">
              <a:buNone/>
            </a:pPr>
            <a:r>
              <a:rPr lang="en-US" sz="750" b="1" spc="150" kern="0" dirty="0">
                <a:solidFill>
                  <a:srgbClr val="7A8794"/>
                </a:solidFill>
                <a:latin typeface="Calibri" pitchFamily="34" charset="0"/>
                <a:ea typeface="Calibri" pitchFamily="34" charset="-122"/>
                <a:cs typeface="Calibri" pitchFamily="34" charset="-120"/>
              </a:rPr>
              <a:t>PROJECT KEYSTONE</a:t>
            </a:r>
            <a:endParaRPr lang="en-US" sz="750" dirty="0"/>
          </a:p>
        </p:txBody>
      </p:sp>
      <p:sp>
        <p:nvSpPr>
          <p:cNvPr id="27" name="Text 25"/>
          <p:cNvSpPr/>
          <p:nvPr/>
        </p:nvSpPr>
        <p:spPr>
          <a:xfrm>
            <a:off x="3352648" y="6492240"/>
            <a:ext cx="5486400" cy="237744"/>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Strictly private and confidential  ·  Illustrative</a:t>
            </a:r>
            <a:endParaRPr lang="en-US" sz="750" dirty="0"/>
          </a:p>
        </p:txBody>
      </p:sp>
      <p:sp>
        <p:nvSpPr>
          <p:cNvPr id="28" name="Text 26"/>
          <p:cNvSpPr/>
          <p:nvPr/>
        </p:nvSpPr>
        <p:spPr>
          <a:xfrm>
            <a:off x="11094415" y="6492240"/>
            <a:ext cx="457200" cy="237744"/>
          </a:xfrm>
          <a:prstGeom prst="rect">
            <a:avLst/>
          </a:prstGeom>
          <a:noFill/>
          <a:ln/>
        </p:spPr>
        <p:txBody>
          <a:bodyPr wrap="square" lIns="0" tIns="0" rIns="0" bIns="0" rtlCol="0" anchor="ctr"/>
          <a:lstStyle/>
          <a:p>
            <a:pPr algn="r" indent="0" marL="0">
              <a:buNone/>
            </a:pPr>
            <a:r>
              <a:rPr lang="en-US" sz="850" dirty="0">
                <a:solidFill>
                  <a:srgbClr val="7A8794"/>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20" kern="0" dirty="0">
                <a:solidFill>
                  <a:srgbClr val="8A6B3C"/>
                </a:solidFill>
                <a:latin typeface="Calibri" pitchFamily="34" charset="0"/>
                <a:ea typeface="Calibri" pitchFamily="34" charset="-122"/>
                <a:cs typeface="Calibri" pitchFamily="34" charset="-120"/>
              </a:rPr>
              <a:t>TARGET II  ·  INSURANCE DISTRIBUTION</a:t>
            </a:r>
            <a:endParaRPr lang="en-US" sz="1100" dirty="0"/>
          </a:p>
        </p:txBody>
      </p:sp>
      <p:sp>
        <p:nvSpPr>
          <p:cNvPr id="3" name="Text 1"/>
          <p:cNvSpPr/>
          <p:nvPr/>
        </p:nvSpPr>
        <p:spPr>
          <a:xfrm>
            <a:off x="8808415" y="402336"/>
            <a:ext cx="2743200" cy="237744"/>
          </a:xfrm>
          <a:prstGeom prst="rect">
            <a:avLst/>
          </a:prstGeom>
          <a:noFill/>
          <a:ln/>
        </p:spPr>
        <p:txBody>
          <a:bodyPr wrap="square" lIns="0" tIns="0" rIns="0" bIns="0" rtlCol="0" anchor="ctr"/>
          <a:lstStyle/>
          <a:p>
            <a:pPr algn="r" indent="0" marL="0">
              <a:buNone/>
            </a:pPr>
            <a:r>
              <a:rPr lang="en-US" sz="950" b="1" spc="100" kern="0" dirty="0">
                <a:solidFill>
                  <a:srgbClr val="8A6B3C"/>
                </a:solidFill>
                <a:latin typeface="Calibri" pitchFamily="34" charset="0"/>
                <a:ea typeface="Calibri" pitchFamily="34" charset="-122"/>
                <a:cs typeface="Calibri" pitchFamily="34" charset="-120"/>
              </a:rPr>
              <a:t>Exhibit 7b</a:t>
            </a:r>
            <a:endParaRPr lang="en-US" sz="950" dirty="0"/>
          </a:p>
        </p:txBody>
      </p:sp>
      <p:sp>
        <p:nvSpPr>
          <p:cNvPr id="4" name="Text 2"/>
          <p:cNvSpPr/>
          <p:nvPr/>
        </p:nvSpPr>
        <p:spPr>
          <a:xfrm>
            <a:off x="640080" y="658368"/>
            <a:ext cx="10911535" cy="566928"/>
          </a:xfrm>
          <a:prstGeom prst="rect">
            <a:avLst/>
          </a:prstGeom>
          <a:noFill/>
          <a:ln/>
        </p:spPr>
        <p:txBody>
          <a:bodyPr wrap="square" lIns="0" tIns="0" rIns="0" bIns="0" rtlCol="0" anchor="t"/>
          <a:lstStyle/>
          <a:p>
            <a:pPr indent="0" marL="0">
              <a:lnSpc>
                <a:spcPct val="98000"/>
              </a:lnSpc>
              <a:buNone/>
            </a:pPr>
            <a:r>
              <a:rPr lang="en-US" sz="2500" b="1" dirty="0">
                <a:solidFill>
                  <a:srgbClr val="0B2545"/>
                </a:solidFill>
                <a:latin typeface="Cambria" pitchFamily="34" charset="0"/>
                <a:ea typeface="Cambria" pitchFamily="34" charset="-122"/>
                <a:cs typeface="Cambria" pitchFamily="34" charset="-120"/>
              </a:rPr>
              <a:t>Riskcovry: embed insurance across 186M users</a:t>
            </a:r>
            <a:endParaRPr lang="en-US" sz="2500" dirty="0"/>
          </a:p>
        </p:txBody>
      </p:sp>
      <p:sp>
        <p:nvSpPr>
          <p:cNvPr id="5" name="Shape 3"/>
          <p:cNvSpPr/>
          <p:nvPr/>
        </p:nvSpPr>
        <p:spPr>
          <a:xfrm>
            <a:off x="640080" y="1417320"/>
            <a:ext cx="2590724" cy="987552"/>
          </a:xfrm>
          <a:prstGeom prst="roundRect">
            <a:avLst>
              <a:gd name="adj" fmla="val 4630"/>
            </a:avLst>
          </a:prstGeom>
          <a:solidFill>
            <a:srgbClr val="F4F6F9"/>
          </a:solidFill>
          <a:ln w="12700">
            <a:solidFill>
              <a:srgbClr val="DCE3EB"/>
            </a:solidFill>
            <a:prstDash val="solid"/>
          </a:ln>
        </p:spPr>
      </p:sp>
      <p:sp>
        <p:nvSpPr>
          <p:cNvPr id="6" name="Text 4"/>
          <p:cNvSpPr/>
          <p:nvPr/>
        </p:nvSpPr>
        <p:spPr>
          <a:xfrm>
            <a:off x="804672" y="1536192"/>
            <a:ext cx="2261540" cy="201168"/>
          </a:xfrm>
          <a:prstGeom prst="rect">
            <a:avLst/>
          </a:prstGeom>
          <a:noFill/>
          <a:ln/>
        </p:spPr>
        <p:txBody>
          <a:bodyPr wrap="square" lIns="0" tIns="0" rIns="0" bIns="0" rtlCol="0" anchor="ctr"/>
          <a:lstStyle/>
          <a:p>
            <a:pPr indent="0" marL="0">
              <a:buNone/>
            </a:pPr>
            <a:r>
              <a:rPr lang="en-US" sz="900" b="1" spc="120" kern="0" dirty="0">
                <a:solidFill>
                  <a:srgbClr val="8A6B3C"/>
                </a:solidFill>
                <a:latin typeface="Calibri" pitchFamily="34" charset="0"/>
                <a:ea typeface="Calibri" pitchFamily="34" charset="-122"/>
                <a:cs typeface="Calibri" pitchFamily="34" charset="-120"/>
              </a:rPr>
              <a:t>FOUNDED</a:t>
            </a:r>
            <a:endParaRPr lang="en-US" sz="900" dirty="0"/>
          </a:p>
        </p:txBody>
      </p:sp>
      <p:sp>
        <p:nvSpPr>
          <p:cNvPr id="7" name="Text 5"/>
          <p:cNvSpPr/>
          <p:nvPr/>
        </p:nvSpPr>
        <p:spPr>
          <a:xfrm>
            <a:off x="804672" y="1746504"/>
            <a:ext cx="2261540" cy="603504"/>
          </a:xfrm>
          <a:prstGeom prst="rect">
            <a:avLst/>
          </a:prstGeom>
          <a:noFill/>
          <a:ln/>
        </p:spPr>
        <p:txBody>
          <a:bodyPr wrap="square" lIns="0" tIns="0" rIns="0" bIns="0" rtlCol="0" anchor="t"/>
          <a:lstStyle/>
          <a:p>
            <a:pPr indent="0" marL="0">
              <a:lnSpc>
                <a:spcPct val="100000"/>
              </a:lnSpc>
              <a:buNone/>
            </a:pPr>
            <a:r>
              <a:rPr lang="en-US" sz="1000" b="1" dirty="0">
                <a:solidFill>
                  <a:srgbClr val="0B2545"/>
                </a:solidFill>
                <a:latin typeface="Calibri" pitchFamily="34" charset="0"/>
                <a:ea typeface="Calibri" pitchFamily="34" charset="-122"/>
                <a:cs typeface="Calibri" pitchFamily="34" charset="-120"/>
              </a:rPr>
              <a:t>2018 · Mumbai</a:t>
            </a:r>
            <a:endParaRPr lang="en-US" sz="1000" dirty="0"/>
          </a:p>
        </p:txBody>
      </p:sp>
      <p:sp>
        <p:nvSpPr>
          <p:cNvPr id="8" name="Shape 6"/>
          <p:cNvSpPr/>
          <p:nvPr/>
        </p:nvSpPr>
        <p:spPr>
          <a:xfrm>
            <a:off x="3413684" y="1417320"/>
            <a:ext cx="2590724" cy="987552"/>
          </a:xfrm>
          <a:prstGeom prst="roundRect">
            <a:avLst>
              <a:gd name="adj" fmla="val 4630"/>
            </a:avLst>
          </a:prstGeom>
          <a:solidFill>
            <a:srgbClr val="F4F6F9"/>
          </a:solidFill>
          <a:ln w="12700">
            <a:solidFill>
              <a:srgbClr val="DCE3EB"/>
            </a:solidFill>
            <a:prstDash val="solid"/>
          </a:ln>
        </p:spPr>
      </p:sp>
      <p:sp>
        <p:nvSpPr>
          <p:cNvPr id="9" name="Text 7"/>
          <p:cNvSpPr/>
          <p:nvPr/>
        </p:nvSpPr>
        <p:spPr>
          <a:xfrm>
            <a:off x="3578276" y="1536192"/>
            <a:ext cx="2261540" cy="201168"/>
          </a:xfrm>
          <a:prstGeom prst="rect">
            <a:avLst/>
          </a:prstGeom>
          <a:noFill/>
          <a:ln/>
        </p:spPr>
        <p:txBody>
          <a:bodyPr wrap="square" lIns="0" tIns="0" rIns="0" bIns="0" rtlCol="0" anchor="ctr"/>
          <a:lstStyle/>
          <a:p>
            <a:pPr indent="0" marL="0">
              <a:buNone/>
            </a:pPr>
            <a:r>
              <a:rPr lang="en-US" sz="900" b="1" spc="120" kern="0" dirty="0">
                <a:solidFill>
                  <a:srgbClr val="8A6B3C"/>
                </a:solidFill>
                <a:latin typeface="Calibri" pitchFamily="34" charset="0"/>
                <a:ea typeface="Calibri" pitchFamily="34" charset="-122"/>
                <a:cs typeface="Calibri" pitchFamily="34" charset="-120"/>
              </a:rPr>
              <a:t>WHAT IT IS</a:t>
            </a:r>
            <a:endParaRPr lang="en-US" sz="900" dirty="0"/>
          </a:p>
        </p:txBody>
      </p:sp>
      <p:sp>
        <p:nvSpPr>
          <p:cNvPr id="10" name="Text 8"/>
          <p:cNvSpPr/>
          <p:nvPr/>
        </p:nvSpPr>
        <p:spPr>
          <a:xfrm>
            <a:off x="3578276" y="1746504"/>
            <a:ext cx="2261540" cy="603504"/>
          </a:xfrm>
          <a:prstGeom prst="rect">
            <a:avLst/>
          </a:prstGeom>
          <a:noFill/>
          <a:ln/>
        </p:spPr>
        <p:txBody>
          <a:bodyPr wrap="square" lIns="0" tIns="0" rIns="0" bIns="0" rtlCol="0" anchor="t"/>
          <a:lstStyle/>
          <a:p>
            <a:pPr indent="0" marL="0">
              <a:lnSpc>
                <a:spcPct val="100000"/>
              </a:lnSpc>
              <a:buNone/>
            </a:pPr>
            <a:r>
              <a:rPr lang="en-US" sz="1000" b="1" dirty="0">
                <a:solidFill>
                  <a:srgbClr val="0B2545"/>
                </a:solidFill>
                <a:latin typeface="Calibri" pitchFamily="34" charset="0"/>
                <a:ea typeface="Calibri" pitchFamily="34" charset="-122"/>
                <a:cs typeface="Calibri" pitchFamily="34" charset="-120"/>
              </a:rPr>
              <a:t>Insurance-in-a-box: one API to embed any insurer's products</a:t>
            </a:r>
            <a:endParaRPr lang="en-US" sz="1000" dirty="0"/>
          </a:p>
        </p:txBody>
      </p:sp>
      <p:sp>
        <p:nvSpPr>
          <p:cNvPr id="11" name="Shape 9"/>
          <p:cNvSpPr/>
          <p:nvPr/>
        </p:nvSpPr>
        <p:spPr>
          <a:xfrm>
            <a:off x="6187288" y="1417320"/>
            <a:ext cx="2590724" cy="987552"/>
          </a:xfrm>
          <a:prstGeom prst="roundRect">
            <a:avLst>
              <a:gd name="adj" fmla="val 4630"/>
            </a:avLst>
          </a:prstGeom>
          <a:solidFill>
            <a:srgbClr val="F4F6F9"/>
          </a:solidFill>
          <a:ln w="12700">
            <a:solidFill>
              <a:srgbClr val="DCE3EB"/>
            </a:solidFill>
            <a:prstDash val="solid"/>
          </a:ln>
        </p:spPr>
      </p:sp>
      <p:sp>
        <p:nvSpPr>
          <p:cNvPr id="12" name="Text 10"/>
          <p:cNvSpPr/>
          <p:nvPr/>
        </p:nvSpPr>
        <p:spPr>
          <a:xfrm>
            <a:off x="6351880" y="1536192"/>
            <a:ext cx="2261540" cy="201168"/>
          </a:xfrm>
          <a:prstGeom prst="rect">
            <a:avLst/>
          </a:prstGeom>
          <a:noFill/>
          <a:ln/>
        </p:spPr>
        <p:txBody>
          <a:bodyPr wrap="square" lIns="0" tIns="0" rIns="0" bIns="0" rtlCol="0" anchor="ctr"/>
          <a:lstStyle/>
          <a:p>
            <a:pPr indent="0" marL="0">
              <a:buNone/>
            </a:pPr>
            <a:r>
              <a:rPr lang="en-US" sz="900" b="1" spc="120" kern="0" dirty="0">
                <a:solidFill>
                  <a:srgbClr val="8A6B3C"/>
                </a:solidFill>
                <a:latin typeface="Calibri" pitchFamily="34" charset="0"/>
                <a:ea typeface="Calibri" pitchFamily="34" charset="-122"/>
                <a:cs typeface="Calibri" pitchFamily="34" charset="-120"/>
              </a:rPr>
              <a:t>TRACTION</a:t>
            </a:r>
            <a:endParaRPr lang="en-US" sz="900" dirty="0"/>
          </a:p>
        </p:txBody>
      </p:sp>
      <p:sp>
        <p:nvSpPr>
          <p:cNvPr id="13" name="Text 11"/>
          <p:cNvSpPr/>
          <p:nvPr/>
        </p:nvSpPr>
        <p:spPr>
          <a:xfrm>
            <a:off x="6351880" y="1746504"/>
            <a:ext cx="2261540" cy="603504"/>
          </a:xfrm>
          <a:prstGeom prst="rect">
            <a:avLst/>
          </a:prstGeom>
          <a:noFill/>
          <a:ln/>
        </p:spPr>
        <p:txBody>
          <a:bodyPr wrap="square" lIns="0" tIns="0" rIns="0" bIns="0" rtlCol="0" anchor="t"/>
          <a:lstStyle/>
          <a:p>
            <a:pPr indent="0" marL="0">
              <a:lnSpc>
                <a:spcPct val="100000"/>
              </a:lnSpc>
              <a:buNone/>
            </a:pPr>
            <a:r>
              <a:rPr lang="en-US" sz="1000" b="1" dirty="0">
                <a:solidFill>
                  <a:srgbClr val="0B2545"/>
                </a:solidFill>
                <a:latin typeface="Calibri" pitchFamily="34" charset="0"/>
                <a:ea typeface="Calibri" pitchFamily="34" charset="-122"/>
                <a:cs typeface="Calibri" pitchFamily="34" charset="-120"/>
              </a:rPr>
              <a:t>40+ partners · 100k+ policies · ~Rs 46 Cr FY25 revenue</a:t>
            </a:r>
            <a:endParaRPr lang="en-US" sz="1000" dirty="0"/>
          </a:p>
        </p:txBody>
      </p:sp>
      <p:sp>
        <p:nvSpPr>
          <p:cNvPr id="14" name="Shape 12"/>
          <p:cNvSpPr/>
          <p:nvPr/>
        </p:nvSpPr>
        <p:spPr>
          <a:xfrm>
            <a:off x="8960891" y="1417320"/>
            <a:ext cx="2590724" cy="987552"/>
          </a:xfrm>
          <a:prstGeom prst="roundRect">
            <a:avLst>
              <a:gd name="adj" fmla="val 4630"/>
            </a:avLst>
          </a:prstGeom>
          <a:solidFill>
            <a:srgbClr val="F4F6F9"/>
          </a:solidFill>
          <a:ln w="12700">
            <a:solidFill>
              <a:srgbClr val="DCE3EB"/>
            </a:solidFill>
            <a:prstDash val="solid"/>
          </a:ln>
        </p:spPr>
      </p:sp>
      <p:sp>
        <p:nvSpPr>
          <p:cNvPr id="15" name="Text 13"/>
          <p:cNvSpPr/>
          <p:nvPr/>
        </p:nvSpPr>
        <p:spPr>
          <a:xfrm>
            <a:off x="9125483" y="1536192"/>
            <a:ext cx="2261540" cy="201168"/>
          </a:xfrm>
          <a:prstGeom prst="rect">
            <a:avLst/>
          </a:prstGeom>
          <a:noFill/>
          <a:ln/>
        </p:spPr>
        <p:txBody>
          <a:bodyPr wrap="square" lIns="0" tIns="0" rIns="0" bIns="0" rtlCol="0" anchor="ctr"/>
          <a:lstStyle/>
          <a:p>
            <a:pPr indent="0" marL="0">
              <a:buNone/>
            </a:pPr>
            <a:r>
              <a:rPr lang="en-US" sz="900" b="1" spc="120" kern="0" dirty="0">
                <a:solidFill>
                  <a:srgbClr val="8A6B3C"/>
                </a:solidFill>
                <a:latin typeface="Calibri" pitchFamily="34" charset="0"/>
                <a:ea typeface="Calibri" pitchFamily="34" charset="-122"/>
                <a:cs typeface="Calibri" pitchFamily="34" charset="-120"/>
              </a:rPr>
              <a:t>FUNDING</a:t>
            </a:r>
            <a:endParaRPr lang="en-US" sz="900" dirty="0"/>
          </a:p>
        </p:txBody>
      </p:sp>
      <p:sp>
        <p:nvSpPr>
          <p:cNvPr id="16" name="Text 14"/>
          <p:cNvSpPr/>
          <p:nvPr/>
        </p:nvSpPr>
        <p:spPr>
          <a:xfrm>
            <a:off x="9125483" y="1746504"/>
            <a:ext cx="2261540" cy="603504"/>
          </a:xfrm>
          <a:prstGeom prst="rect">
            <a:avLst/>
          </a:prstGeom>
          <a:noFill/>
          <a:ln/>
        </p:spPr>
        <p:txBody>
          <a:bodyPr wrap="square" lIns="0" tIns="0" rIns="0" bIns="0" rtlCol="0" anchor="t"/>
          <a:lstStyle/>
          <a:p>
            <a:pPr indent="0" marL="0">
              <a:lnSpc>
                <a:spcPct val="100000"/>
              </a:lnSpc>
              <a:buNone/>
            </a:pPr>
            <a:r>
              <a:rPr lang="en-US" sz="1000" b="1" dirty="0">
                <a:solidFill>
                  <a:srgbClr val="0B2545"/>
                </a:solidFill>
                <a:latin typeface="Calibri" pitchFamily="34" charset="0"/>
                <a:ea typeface="Calibri" pitchFamily="34" charset="-122"/>
                <a:cs typeface="Calibri" pitchFamily="34" charset="-120"/>
              </a:rPr>
              <a:t>Series A · ~$14M raised to date</a:t>
            </a:r>
            <a:endParaRPr lang="en-US" sz="1000" dirty="0"/>
          </a:p>
        </p:txBody>
      </p:sp>
      <p:sp>
        <p:nvSpPr>
          <p:cNvPr id="17" name="Shape 15"/>
          <p:cNvSpPr/>
          <p:nvPr/>
        </p:nvSpPr>
        <p:spPr>
          <a:xfrm>
            <a:off x="640080" y="2651760"/>
            <a:ext cx="6446520" cy="2578608"/>
          </a:xfrm>
          <a:prstGeom prst="roundRect">
            <a:avLst>
              <a:gd name="adj" fmla="val 2128"/>
            </a:avLst>
          </a:prstGeom>
          <a:solidFill>
            <a:srgbClr val="F7F2E9"/>
          </a:solidFill>
          <a:ln/>
        </p:spPr>
      </p:sp>
      <p:sp>
        <p:nvSpPr>
          <p:cNvPr id="18" name="Text 16"/>
          <p:cNvSpPr/>
          <p:nvPr/>
        </p:nvSpPr>
        <p:spPr>
          <a:xfrm>
            <a:off x="914400" y="2852928"/>
            <a:ext cx="5897880" cy="292608"/>
          </a:xfrm>
          <a:prstGeom prst="rect">
            <a:avLst/>
          </a:prstGeom>
          <a:noFill/>
          <a:ln/>
        </p:spPr>
        <p:txBody>
          <a:bodyPr wrap="square" lIns="0" tIns="0" rIns="0" bIns="0" rtlCol="0" anchor="ctr"/>
          <a:lstStyle/>
          <a:p>
            <a:pPr indent="0" marL="0">
              <a:buNone/>
            </a:pPr>
            <a:r>
              <a:rPr lang="en-US" sz="1500" b="1" dirty="0">
                <a:solidFill>
                  <a:srgbClr val="8A6B3C"/>
                </a:solidFill>
                <a:latin typeface="Cambria" pitchFamily="34" charset="0"/>
                <a:ea typeface="Cambria" pitchFamily="34" charset="-122"/>
                <a:cs typeface="Cambria" pitchFamily="34" charset="-120"/>
              </a:rPr>
              <a:t>Why now, and why MobiKwik</a:t>
            </a:r>
            <a:endParaRPr lang="en-US" sz="1500" dirty="0"/>
          </a:p>
        </p:txBody>
      </p:sp>
      <p:sp>
        <p:nvSpPr>
          <p:cNvPr id="19" name="Text 17"/>
          <p:cNvSpPr/>
          <p:nvPr/>
        </p:nvSpPr>
        <p:spPr>
          <a:xfrm>
            <a:off x="932688" y="3255264"/>
            <a:ext cx="5879592" cy="1828800"/>
          </a:xfrm>
          <a:prstGeom prst="rect">
            <a:avLst/>
          </a:prstGeom>
          <a:noFill/>
          <a:ln/>
        </p:spPr>
        <p:txBody>
          <a:bodyPr wrap="square" lIns="0" tIns="0" rIns="0" bIns="0" rtlCol="0" anchor="t"/>
          <a:lstStyle/>
          <a:p>
            <a:pPr marL="203200" indent="-203200">
              <a:lnSpc>
                <a:spcPct val="103000"/>
              </a:lnSpc>
              <a:spcAft>
                <a:spcPts val="700"/>
              </a:spcAft>
              <a:buSzPct val="100000"/>
              <a:buChar char="▪"/>
            </a:pPr>
            <a:r>
              <a:rPr lang="en-US" sz="1130" b="1" dirty="0">
                <a:solidFill>
                  <a:srgbClr val="0B2545"/>
                </a:solidFill>
                <a:latin typeface="Calibri" pitchFamily="34" charset="0"/>
                <a:ea typeface="Calibri" pitchFamily="34" charset="-122"/>
                <a:cs typeface="Calibri" pitchFamily="34" charset="-120"/>
              </a:rPr>
              <a:t>MobiKwik just secured IRDAI approval to distribute insurance: buy the engine instead of building it from zero.</a:t>
            </a:r>
            <a:endParaRPr lang="en-US" sz="1130" dirty="0"/>
          </a:p>
          <a:p>
            <a:pPr marL="203200" indent="-203200">
              <a:lnSpc>
                <a:spcPct val="103000"/>
              </a:lnSpc>
              <a:spcAft>
                <a:spcPts val="700"/>
              </a:spcAft>
              <a:buSzPct val="100000"/>
              <a:buChar char="▪"/>
            </a:pPr>
            <a:r>
              <a:rPr lang="en-US" sz="1130" dirty="0">
                <a:solidFill>
                  <a:srgbClr val="3D4A57"/>
                </a:solidFill>
                <a:latin typeface="Calibri" pitchFamily="34" charset="0"/>
                <a:ea typeface="Calibri" pitchFamily="34" charset="-122"/>
                <a:cs typeface="Calibri" pitchFamily="34" charset="-120"/>
              </a:rPr>
              <a:t>Right-sized for a bolt-on (Series A, modest funding), so it can be funded largely in stock.</a:t>
            </a:r>
            <a:endParaRPr lang="en-US" sz="1130" dirty="0"/>
          </a:p>
          <a:p>
            <a:pPr marL="203200" indent="-203200">
              <a:lnSpc>
                <a:spcPct val="103000"/>
              </a:lnSpc>
              <a:spcAft>
                <a:spcPts val="700"/>
              </a:spcAft>
              <a:buSzPct val="100000"/>
              <a:buChar char="▪"/>
            </a:pPr>
            <a:r>
              <a:rPr lang="en-US" sz="1130" dirty="0">
                <a:solidFill>
                  <a:srgbClr val="3D4A57"/>
                </a:solidFill>
                <a:latin typeface="Calibri" pitchFamily="34" charset="0"/>
                <a:ea typeface="Calibri" pitchFamily="34" charset="-122"/>
                <a:cs typeface="Calibri" pitchFamily="34" charset="-120"/>
              </a:rPr>
              <a:t>Instantly embeds insurance (device, health, motor, life, travel and micro-covers) across 186M users and 4.79M merchants.</a:t>
            </a:r>
            <a:endParaRPr lang="en-US" sz="1130" dirty="0"/>
          </a:p>
          <a:p>
            <a:pPr marL="203200" indent="-203200">
              <a:lnSpc>
                <a:spcPct val="103000"/>
              </a:lnSpc>
              <a:spcAft>
                <a:spcPts val="700"/>
              </a:spcAft>
              <a:buSzPct val="100000"/>
              <a:buChar char="▪"/>
            </a:pPr>
            <a:r>
              <a:rPr lang="en-US" sz="1130" dirty="0">
                <a:solidFill>
                  <a:srgbClr val="3D4A57"/>
                </a:solidFill>
                <a:latin typeface="Calibri" pitchFamily="34" charset="0"/>
                <a:ea typeface="Calibri" pitchFamily="34" charset="-122"/>
                <a:cs typeface="Calibri" pitchFamily="34" charset="-120"/>
              </a:rPr>
              <a:t>High-margin, capital-light revenue that fits the profitability mandate.</a:t>
            </a:r>
            <a:endParaRPr lang="en-US" sz="1130" dirty="0"/>
          </a:p>
          <a:p>
            <a:pPr marL="203200" indent="-203200">
              <a:lnSpc>
                <a:spcPct val="103000"/>
              </a:lnSpc>
              <a:spcAft>
                <a:spcPts val="700"/>
              </a:spcAft>
              <a:buSzPct val="100000"/>
              <a:buChar char="▪"/>
            </a:pPr>
            <a:r>
              <a:rPr lang="en-US" sz="1130" dirty="0">
                <a:solidFill>
                  <a:srgbClr val="3D4A57"/>
                </a:solidFill>
                <a:latin typeface="Calibri" pitchFamily="34" charset="0"/>
                <a:ea typeface="Calibri" pitchFamily="34" charset="-122"/>
                <a:cs typeface="Calibri" pitchFamily="34" charset="-120"/>
              </a:rPr>
              <a:t>Direct precedent: PhonePe acquired Zopper, the same embedded-insurance playbook, at its scale.</a:t>
            </a:r>
            <a:endParaRPr lang="en-US" sz="1130" dirty="0"/>
          </a:p>
        </p:txBody>
      </p:sp>
      <p:sp>
        <p:nvSpPr>
          <p:cNvPr id="20" name="Shape 18"/>
          <p:cNvSpPr/>
          <p:nvPr/>
        </p:nvSpPr>
        <p:spPr>
          <a:xfrm>
            <a:off x="7452360" y="2651760"/>
            <a:ext cx="4099255" cy="2578608"/>
          </a:xfrm>
          <a:prstGeom prst="roundRect">
            <a:avLst>
              <a:gd name="adj" fmla="val 2128"/>
            </a:avLst>
          </a:prstGeom>
          <a:solidFill>
            <a:srgbClr val="F4F6F9"/>
          </a:solidFill>
          <a:ln w="12700">
            <a:solidFill>
              <a:srgbClr val="DCE3EB"/>
            </a:solidFill>
            <a:prstDash val="solid"/>
          </a:ln>
        </p:spPr>
      </p:sp>
      <p:sp>
        <p:nvSpPr>
          <p:cNvPr id="21" name="Text 19"/>
          <p:cNvSpPr/>
          <p:nvPr/>
        </p:nvSpPr>
        <p:spPr>
          <a:xfrm>
            <a:off x="7708392" y="2852928"/>
            <a:ext cx="3587191" cy="292608"/>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Watch-outs</a:t>
            </a:r>
            <a:endParaRPr lang="en-US" sz="1500" dirty="0"/>
          </a:p>
        </p:txBody>
      </p:sp>
      <p:sp>
        <p:nvSpPr>
          <p:cNvPr id="22" name="Text 20"/>
          <p:cNvSpPr/>
          <p:nvPr/>
        </p:nvSpPr>
        <p:spPr>
          <a:xfrm>
            <a:off x="7726680" y="3255264"/>
            <a:ext cx="3568903" cy="1828800"/>
          </a:xfrm>
          <a:prstGeom prst="rect">
            <a:avLst/>
          </a:prstGeom>
          <a:noFill/>
          <a:ln/>
        </p:spPr>
        <p:txBody>
          <a:bodyPr wrap="square" lIns="0" tIns="0" rIns="0" bIns="0" rtlCol="0" anchor="t"/>
          <a:lstStyle/>
          <a:p>
            <a:pPr marL="203200" indent="-203200">
              <a:lnSpc>
                <a:spcPct val="103000"/>
              </a:lnSpc>
              <a:spcAft>
                <a:spcPts val="800"/>
              </a:spcAft>
              <a:buSzPct val="100000"/>
              <a:buChar char="▪"/>
            </a:pPr>
            <a:r>
              <a:rPr lang="en-US" sz="1050" dirty="0">
                <a:solidFill>
                  <a:srgbClr val="3D4A57"/>
                </a:solidFill>
                <a:latin typeface="Calibri" pitchFamily="34" charset="0"/>
                <a:ea typeface="Calibri" pitchFamily="34" charset="-122"/>
                <a:cs typeface="Calibri" pitchFamily="34" charset="-120"/>
              </a:rPr>
              <a:t>Insurer relationships and IRDAI compliance must transfer cleanly: lead with regulatory diligence.</a:t>
            </a:r>
            <a:endParaRPr lang="en-US" sz="1050" dirty="0"/>
          </a:p>
          <a:p>
            <a:pPr marL="203200" indent="-203200">
              <a:lnSpc>
                <a:spcPct val="103000"/>
              </a:lnSpc>
              <a:spcAft>
                <a:spcPts val="800"/>
              </a:spcAft>
              <a:buSzPct val="100000"/>
              <a:buChar char="▪"/>
            </a:pPr>
            <a:r>
              <a:rPr lang="en-US" sz="1050" dirty="0">
                <a:solidFill>
                  <a:srgbClr val="3D4A57"/>
                </a:solidFill>
                <a:latin typeface="Calibri" pitchFamily="34" charset="0"/>
                <a:ea typeface="Calibri" pitchFamily="34" charset="-122"/>
                <a:cs typeface="Calibri" pitchFamily="34" charset="-120"/>
              </a:rPr>
              <a:t>Integrating a B2B infrastructure team into a B2C app: protect the product roadmap and partner trust.</a:t>
            </a:r>
            <a:endParaRPr lang="en-US" sz="1050" dirty="0"/>
          </a:p>
          <a:p>
            <a:pPr marL="203200" indent="-203200">
              <a:lnSpc>
                <a:spcPct val="103000"/>
              </a:lnSpc>
              <a:spcAft>
                <a:spcPts val="800"/>
              </a:spcAft>
              <a:buSzPct val="100000"/>
              <a:buChar char="▪"/>
            </a:pPr>
            <a:r>
              <a:rPr lang="en-US" sz="1050" dirty="0">
                <a:solidFill>
                  <a:srgbClr val="3D4A57"/>
                </a:solidFill>
                <a:latin typeface="Calibri" pitchFamily="34" charset="0"/>
                <a:ea typeface="Calibri" pitchFamily="34" charset="-122"/>
                <a:cs typeface="Calibri" pitchFamily="34" charset="-120"/>
              </a:rPr>
              <a:t>Retain the technology and partnerships team through earnouts.</a:t>
            </a:r>
            <a:endParaRPr lang="en-US" sz="1050" dirty="0"/>
          </a:p>
        </p:txBody>
      </p:sp>
      <p:sp>
        <p:nvSpPr>
          <p:cNvPr id="23" name="Shape 21"/>
          <p:cNvSpPr/>
          <p:nvPr/>
        </p:nvSpPr>
        <p:spPr>
          <a:xfrm>
            <a:off x="640080" y="5358384"/>
            <a:ext cx="10911535" cy="566928"/>
          </a:xfrm>
          <a:prstGeom prst="roundRect">
            <a:avLst>
              <a:gd name="adj" fmla="val 8065"/>
            </a:avLst>
          </a:prstGeom>
          <a:solidFill>
            <a:srgbClr val="0B2545"/>
          </a:solidFill>
          <a:ln/>
          <a:effectLst>
            <a:outerShdw sx="100000" sy="100000" kx="0" ky="0" algn="bl" rotWithShape="0" blurRad="101600" dist="38100" dir="5400000">
              <a:srgbClr val="13243A">
                <a:alpha val="10000"/>
              </a:srgbClr>
            </a:outerShdw>
          </a:effectLst>
        </p:spPr>
      </p:sp>
      <p:sp>
        <p:nvSpPr>
          <p:cNvPr id="24" name="Text 22"/>
          <p:cNvSpPr/>
          <p:nvPr/>
        </p:nvSpPr>
        <p:spPr>
          <a:xfrm>
            <a:off x="914400" y="5358384"/>
            <a:ext cx="10362895" cy="566928"/>
          </a:xfrm>
          <a:prstGeom prst="rect">
            <a:avLst/>
          </a:prstGeom>
          <a:noFill/>
          <a:ln/>
        </p:spPr>
        <p:txBody>
          <a:bodyPr wrap="square" lIns="0" tIns="0" rIns="0" bIns="0" rtlCol="0" anchor="ctr"/>
          <a:lstStyle/>
          <a:p>
            <a:pPr indent="0" marL="0">
              <a:buNone/>
            </a:pPr>
            <a:r>
              <a:rPr lang="en-US" sz="1100" b="1" dirty="0">
                <a:solidFill>
                  <a:srgbClr val="C9AE82"/>
                </a:solidFill>
                <a:latin typeface="Calibri" pitchFamily="34" charset="0"/>
                <a:ea typeface="Calibri" pitchFamily="34" charset="-122"/>
                <a:cs typeface="Calibri" pitchFamily="34" charset="-120"/>
              </a:rPr>
              <a:t>Indicative deal (illustrative):  </a:t>
            </a:r>
            <a:pPr indent="0" marL="0">
              <a:buNone/>
            </a:pPr>
            <a:r>
              <a:rPr lang="en-US" sz="1100" dirty="0">
                <a:solidFill>
                  <a:srgbClr val="E8EEF6"/>
                </a:solidFill>
                <a:latin typeface="Calibri" pitchFamily="34" charset="0"/>
                <a:ea typeface="Calibri" pitchFamily="34" charset="-122"/>
                <a:cs typeface="Calibri" pitchFamily="34" charset="-120"/>
              </a:rPr>
              <a:t>Acquire control or 100% · indicative ticket ~Rs 150 Cr to Rs 300 Cr (the larger of the two) · stock-led with earnouts.</a:t>
            </a:r>
            <a:endParaRPr lang="en-US" sz="1100" dirty="0"/>
          </a:p>
        </p:txBody>
      </p:sp>
      <p:sp>
        <p:nvSpPr>
          <p:cNvPr id="25" name="Text 23"/>
          <p:cNvSpPr/>
          <p:nvPr/>
        </p:nvSpPr>
        <p:spPr>
          <a:xfrm>
            <a:off x="640080" y="6254496"/>
            <a:ext cx="10911535" cy="219456"/>
          </a:xfrm>
          <a:prstGeom prst="rect">
            <a:avLst/>
          </a:prstGeom>
          <a:noFill/>
          <a:ln/>
        </p:spPr>
        <p:txBody>
          <a:bodyPr wrap="square" lIns="0" tIns="0" rIns="0" bIns="0" rtlCol="0" anchor="ctr"/>
          <a:lstStyle/>
          <a:p>
            <a:pPr indent="0" marL="0">
              <a:buNone/>
            </a:pPr>
            <a:r>
              <a:rPr lang="en-US" sz="800" i="1" dirty="0">
                <a:solidFill>
                  <a:srgbClr val="7A8794"/>
                </a:solidFill>
                <a:latin typeface="Calibri" pitchFamily="34" charset="0"/>
                <a:ea typeface="Calibri" pitchFamily="34" charset="-122"/>
                <a:cs typeface="Calibri" pitchFamily="34" charset="-120"/>
              </a:rPr>
              <a:t>Source: Riskcovry public profile and press (Tracxn, company site); PhonePe and Zopper deal reporting.</a:t>
            </a:r>
            <a:endParaRPr lang="en-US" sz="800" dirty="0"/>
          </a:p>
        </p:txBody>
      </p:sp>
      <p:sp>
        <p:nvSpPr>
          <p:cNvPr id="26" name="Text 24"/>
          <p:cNvSpPr/>
          <p:nvPr/>
        </p:nvSpPr>
        <p:spPr>
          <a:xfrm>
            <a:off x="640080" y="6492240"/>
            <a:ext cx="2743200" cy="237744"/>
          </a:xfrm>
          <a:prstGeom prst="rect">
            <a:avLst/>
          </a:prstGeom>
          <a:noFill/>
          <a:ln/>
        </p:spPr>
        <p:txBody>
          <a:bodyPr wrap="square" lIns="0" tIns="0" rIns="0" bIns="0" rtlCol="0" anchor="ctr"/>
          <a:lstStyle/>
          <a:p>
            <a:pPr indent="0" marL="0">
              <a:buNone/>
            </a:pPr>
            <a:r>
              <a:rPr lang="en-US" sz="750" b="1" spc="150" kern="0" dirty="0">
                <a:solidFill>
                  <a:srgbClr val="7A8794"/>
                </a:solidFill>
                <a:latin typeface="Calibri" pitchFamily="34" charset="0"/>
                <a:ea typeface="Calibri" pitchFamily="34" charset="-122"/>
                <a:cs typeface="Calibri" pitchFamily="34" charset="-120"/>
              </a:rPr>
              <a:t>PROJECT KEYSTONE</a:t>
            </a:r>
            <a:endParaRPr lang="en-US" sz="750" dirty="0"/>
          </a:p>
        </p:txBody>
      </p:sp>
      <p:sp>
        <p:nvSpPr>
          <p:cNvPr id="27" name="Text 25"/>
          <p:cNvSpPr/>
          <p:nvPr/>
        </p:nvSpPr>
        <p:spPr>
          <a:xfrm>
            <a:off x="3352648" y="6492240"/>
            <a:ext cx="5486400" cy="237744"/>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Strictly private and confidential  ·  Illustrative</a:t>
            </a:r>
            <a:endParaRPr lang="en-US" sz="750" dirty="0"/>
          </a:p>
        </p:txBody>
      </p:sp>
      <p:sp>
        <p:nvSpPr>
          <p:cNvPr id="28" name="Text 26"/>
          <p:cNvSpPr/>
          <p:nvPr/>
        </p:nvSpPr>
        <p:spPr>
          <a:xfrm>
            <a:off x="11094415" y="6492240"/>
            <a:ext cx="457200" cy="237744"/>
          </a:xfrm>
          <a:prstGeom prst="rect">
            <a:avLst/>
          </a:prstGeom>
          <a:noFill/>
          <a:ln/>
        </p:spPr>
        <p:txBody>
          <a:bodyPr wrap="square" lIns="0" tIns="0" rIns="0" bIns="0" rtlCol="0" anchor="ctr"/>
          <a:lstStyle/>
          <a:p>
            <a:pPr algn="r" indent="0" marL="0">
              <a:buNone/>
            </a:pPr>
            <a:r>
              <a:rPr lang="en-US" sz="850" dirty="0">
                <a:solidFill>
                  <a:srgbClr val="7A8794"/>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A2E"/>
        </a:solidFill>
      </p:bgPr>
    </p:bg>
    <p:spTree>
      <p:nvGrpSpPr>
        <p:cNvPr id="1" name=""/>
        <p:cNvGrpSpPr/>
        <p:nvPr/>
      </p:nvGrpSpPr>
      <p:grpSpPr>
        <a:xfrm>
          <a:off x="0" y="0"/>
          <a:ext cx="0" cy="0"/>
          <a:chOff x="0" y="0"/>
          <a:chExt cx="0" cy="0"/>
        </a:xfrm>
      </p:grpSpPr>
      <p:sp>
        <p:nvSpPr>
          <p:cNvPr id="2" name="Shape 0"/>
          <p:cNvSpPr/>
          <p:nvPr/>
        </p:nvSpPr>
        <p:spPr>
          <a:xfrm>
            <a:off x="9418320" y="3474720"/>
            <a:ext cx="5120640" cy="5120640"/>
          </a:xfrm>
          <a:prstGeom prst="ellipse">
            <a:avLst/>
          </a:prstGeom>
          <a:solidFill>
            <a:srgbClr val="0D2138"/>
          </a:solidFill>
          <a:ln/>
        </p:spPr>
      </p:sp>
      <p:sp>
        <p:nvSpPr>
          <p:cNvPr id="3" name="Shape 1"/>
          <p:cNvSpPr/>
          <p:nvPr/>
        </p:nvSpPr>
        <p:spPr>
          <a:xfrm>
            <a:off x="10607040" y="4480560"/>
            <a:ext cx="3291840" cy="3291840"/>
          </a:xfrm>
          <a:prstGeom prst="ellipse">
            <a:avLst/>
          </a:prstGeom>
          <a:ln w="12700">
            <a:solidFill>
              <a:srgbClr val="8A6B3C"/>
            </a:solidFill>
            <a:prstDash val="solid"/>
          </a:ln>
        </p:spPr>
      </p:sp>
      <p:sp>
        <p:nvSpPr>
          <p:cNvPr id="4" name="Text 2"/>
          <p:cNvSpPr/>
          <p:nvPr/>
        </p:nvSpPr>
        <p:spPr>
          <a:xfrm>
            <a:off x="640080" y="2468880"/>
            <a:ext cx="8229600" cy="274320"/>
          </a:xfrm>
          <a:prstGeom prst="rect">
            <a:avLst/>
          </a:prstGeom>
          <a:noFill/>
          <a:ln/>
        </p:spPr>
        <p:txBody>
          <a:bodyPr wrap="square" lIns="0" tIns="0" rIns="0" bIns="0" rtlCol="0" anchor="ctr"/>
          <a:lstStyle/>
          <a:p>
            <a:pPr indent="0" marL="0">
              <a:buNone/>
            </a:pPr>
            <a:r>
              <a:rPr lang="en-US" sz="1200" b="1" spc="300" kern="0" dirty="0">
                <a:solidFill>
                  <a:srgbClr val="B08D57"/>
                </a:solidFill>
                <a:latin typeface="Calibri" pitchFamily="34" charset="0"/>
                <a:ea typeface="Calibri" pitchFamily="34" charset="-122"/>
                <a:cs typeface="Calibri" pitchFamily="34" charset="-120"/>
              </a:rPr>
              <a:t>SECTION III</a:t>
            </a:r>
            <a:endParaRPr lang="en-US" sz="1200" dirty="0"/>
          </a:p>
        </p:txBody>
      </p:sp>
      <p:sp>
        <p:nvSpPr>
          <p:cNvPr id="5" name="Text 3"/>
          <p:cNvSpPr/>
          <p:nvPr/>
        </p:nvSpPr>
        <p:spPr>
          <a:xfrm>
            <a:off x="640080" y="2834640"/>
            <a:ext cx="10241280" cy="1097280"/>
          </a:xfrm>
          <a:prstGeom prst="rect">
            <a:avLst/>
          </a:prstGeom>
          <a:noFill/>
          <a:ln/>
        </p:spPr>
        <p:txBody>
          <a:bodyPr wrap="square" lIns="0" tIns="0" rIns="0" bIns="0" rtlCol="0" anchor="ctr"/>
          <a:lstStyle/>
          <a:p>
            <a:pPr indent="0" marL="0">
              <a:lnSpc>
                <a:spcPct val="100000"/>
              </a:lnSpc>
              <a:buNone/>
            </a:pPr>
            <a:r>
              <a:rPr lang="en-US" sz="3400" b="1" dirty="0">
                <a:solidFill>
                  <a:srgbClr val="FFFFFF"/>
                </a:solidFill>
                <a:latin typeface="Cambria" pitchFamily="34" charset="0"/>
                <a:ea typeface="Cambria" pitchFamily="34" charset="-122"/>
                <a:cs typeface="Cambria" pitchFamily="34" charset="-120"/>
              </a:rPr>
              <a:t>III.  Valuation, structure and execution</a:t>
            </a:r>
            <a:endParaRPr lang="en-US" sz="3400" dirty="0"/>
          </a:p>
        </p:txBody>
      </p:sp>
      <p:sp>
        <p:nvSpPr>
          <p:cNvPr id="6" name="Text 4"/>
          <p:cNvSpPr/>
          <p:nvPr/>
        </p:nvSpPr>
        <p:spPr>
          <a:xfrm>
            <a:off x="640080" y="3977640"/>
            <a:ext cx="9326880" cy="548640"/>
          </a:xfrm>
          <a:prstGeom prst="rect">
            <a:avLst/>
          </a:prstGeom>
          <a:noFill/>
          <a:ln/>
        </p:spPr>
        <p:txBody>
          <a:bodyPr wrap="square" lIns="0" tIns="0" rIns="0" bIns="0" rtlCol="0" anchor="ctr"/>
          <a:lstStyle/>
          <a:p>
            <a:pPr indent="0" marL="0">
              <a:buNone/>
            </a:pPr>
            <a:r>
              <a:rPr lang="en-US" sz="1350" i="1" dirty="0">
                <a:solidFill>
                  <a:srgbClr val="AFC0D6"/>
                </a:solidFill>
                <a:latin typeface="Calibri" pitchFamily="34" charset="0"/>
                <a:ea typeface="Calibri" pitchFamily="34" charset="-122"/>
                <a:cs typeface="Calibri" pitchFamily="34" charset="-120"/>
              </a:rPr>
              <a:t>Indicative economics and the recommended path</a:t>
            </a:r>
            <a:endParaRPr lang="en-US" sz="1350" dirty="0"/>
          </a:p>
        </p:txBody>
      </p:sp>
      <p:sp>
        <p:nvSpPr>
          <p:cNvPr id="7" name="Text 5"/>
          <p:cNvSpPr/>
          <p:nvPr/>
        </p:nvSpPr>
        <p:spPr>
          <a:xfrm>
            <a:off x="640080" y="6492240"/>
            <a:ext cx="2743200" cy="237744"/>
          </a:xfrm>
          <a:prstGeom prst="rect">
            <a:avLst/>
          </a:prstGeom>
          <a:noFill/>
          <a:ln/>
        </p:spPr>
        <p:txBody>
          <a:bodyPr wrap="square" lIns="0" tIns="0" rIns="0" bIns="0" rtlCol="0" anchor="ctr"/>
          <a:lstStyle/>
          <a:p>
            <a:pPr indent="0" marL="0">
              <a:buNone/>
            </a:pPr>
            <a:r>
              <a:rPr lang="en-US" sz="750" b="1" spc="150" kern="0" dirty="0">
                <a:solidFill>
                  <a:srgbClr val="8895A6"/>
                </a:solidFill>
                <a:latin typeface="Calibri" pitchFamily="34" charset="0"/>
                <a:ea typeface="Calibri" pitchFamily="34" charset="-122"/>
                <a:cs typeface="Calibri" pitchFamily="34" charset="-120"/>
              </a:rPr>
              <a:t>PROJECT KEYSTONE</a:t>
            </a:r>
            <a:endParaRPr lang="en-US" sz="750" dirty="0"/>
          </a:p>
        </p:txBody>
      </p:sp>
      <p:sp>
        <p:nvSpPr>
          <p:cNvPr id="8" name="Text 6"/>
          <p:cNvSpPr/>
          <p:nvPr/>
        </p:nvSpPr>
        <p:spPr>
          <a:xfrm>
            <a:off x="3352648" y="6492240"/>
            <a:ext cx="5486400" cy="237744"/>
          </a:xfrm>
          <a:prstGeom prst="rect">
            <a:avLst/>
          </a:prstGeom>
          <a:noFill/>
          <a:ln/>
        </p:spPr>
        <p:txBody>
          <a:bodyPr wrap="square" lIns="0" tIns="0" rIns="0" bIns="0" rtlCol="0" anchor="ctr"/>
          <a:lstStyle/>
          <a:p>
            <a:pPr algn="ctr" indent="0" marL="0">
              <a:buNone/>
            </a:pPr>
            <a:r>
              <a:rPr lang="en-US" sz="750" dirty="0">
                <a:solidFill>
                  <a:srgbClr val="8895A6"/>
                </a:solidFill>
                <a:latin typeface="Calibri" pitchFamily="34" charset="0"/>
                <a:ea typeface="Calibri" pitchFamily="34" charset="-122"/>
                <a:cs typeface="Calibri" pitchFamily="34" charset="-120"/>
              </a:rPr>
              <a:t>Strictly private and confidential  ·  Illustrative</a:t>
            </a:r>
            <a:endParaRPr lang="en-US" sz="750" dirty="0"/>
          </a:p>
        </p:txBody>
      </p:sp>
      <p:sp>
        <p:nvSpPr>
          <p:cNvPr id="9" name="Text 7"/>
          <p:cNvSpPr/>
          <p:nvPr/>
        </p:nvSpPr>
        <p:spPr>
          <a:xfrm>
            <a:off x="11094415" y="6492240"/>
            <a:ext cx="457200" cy="237744"/>
          </a:xfrm>
          <a:prstGeom prst="rect">
            <a:avLst/>
          </a:prstGeom>
          <a:noFill/>
          <a:ln/>
        </p:spPr>
        <p:txBody>
          <a:bodyPr wrap="square" lIns="0" tIns="0" rIns="0" bIns="0" rtlCol="0" anchor="ctr"/>
          <a:lstStyle/>
          <a:p>
            <a:pPr algn="r" indent="0" marL="0">
              <a:buNone/>
            </a:pPr>
            <a:r>
              <a:rPr lang="en-US" sz="850" dirty="0">
                <a:solidFill>
                  <a:srgbClr val="8895A6"/>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20" kern="0" dirty="0">
                <a:solidFill>
                  <a:srgbClr val="8A6B3C"/>
                </a:solidFill>
                <a:latin typeface="Calibri" pitchFamily="34" charset="0"/>
                <a:ea typeface="Calibri" pitchFamily="34" charset="-122"/>
                <a:cs typeface="Calibri" pitchFamily="34" charset="-120"/>
              </a:rPr>
              <a:t>ILLUSTRATIVE VALUATION</a:t>
            </a:r>
            <a:endParaRPr lang="en-US" sz="1100" dirty="0"/>
          </a:p>
        </p:txBody>
      </p:sp>
      <p:sp>
        <p:nvSpPr>
          <p:cNvPr id="3" name="Text 1"/>
          <p:cNvSpPr/>
          <p:nvPr/>
        </p:nvSpPr>
        <p:spPr>
          <a:xfrm>
            <a:off x="8808415" y="402336"/>
            <a:ext cx="2743200" cy="237744"/>
          </a:xfrm>
          <a:prstGeom prst="rect">
            <a:avLst/>
          </a:prstGeom>
          <a:noFill/>
          <a:ln/>
        </p:spPr>
        <p:txBody>
          <a:bodyPr wrap="square" lIns="0" tIns="0" rIns="0" bIns="0" rtlCol="0" anchor="ctr"/>
          <a:lstStyle/>
          <a:p>
            <a:pPr algn="r" indent="0" marL="0">
              <a:buNone/>
            </a:pPr>
            <a:r>
              <a:rPr lang="en-US" sz="950" b="1" spc="100" kern="0" dirty="0">
                <a:solidFill>
                  <a:srgbClr val="8A6B3C"/>
                </a:solidFill>
                <a:latin typeface="Calibri" pitchFamily="34" charset="0"/>
                <a:ea typeface="Calibri" pitchFamily="34" charset="-122"/>
                <a:cs typeface="Calibri" pitchFamily="34" charset="-120"/>
              </a:rPr>
              <a:t>Exhibit 8</a:t>
            </a:r>
            <a:endParaRPr lang="en-US" sz="950" dirty="0"/>
          </a:p>
        </p:txBody>
      </p:sp>
      <p:sp>
        <p:nvSpPr>
          <p:cNvPr id="4" name="Text 2"/>
          <p:cNvSpPr/>
          <p:nvPr/>
        </p:nvSpPr>
        <p:spPr>
          <a:xfrm>
            <a:off x="640080" y="658368"/>
            <a:ext cx="10911535" cy="566928"/>
          </a:xfrm>
          <a:prstGeom prst="rect">
            <a:avLst/>
          </a:prstGeom>
          <a:noFill/>
          <a:ln/>
        </p:spPr>
        <p:txBody>
          <a:bodyPr wrap="square" lIns="0" tIns="0" rIns="0" bIns="0" rtlCol="0" anchor="t"/>
          <a:lstStyle/>
          <a:p>
            <a:pPr indent="0" marL="0">
              <a:lnSpc>
                <a:spcPct val="98000"/>
              </a:lnSpc>
              <a:buNone/>
            </a:pPr>
            <a:r>
              <a:rPr lang="en-US" sz="2500" b="1" dirty="0">
                <a:solidFill>
                  <a:srgbClr val="0B2545"/>
                </a:solidFill>
                <a:latin typeface="Cambria" pitchFamily="34" charset="0"/>
                <a:ea typeface="Cambria" pitchFamily="34" charset="-122"/>
                <a:cs typeface="Cambria" pitchFamily="34" charset="-120"/>
              </a:rPr>
              <a:t>Indicative value ranges, triangulated across methods</a:t>
            </a:r>
            <a:endParaRPr lang="en-US" sz="2500" dirty="0"/>
          </a:p>
        </p:txBody>
      </p:sp>
      <p:sp>
        <p:nvSpPr>
          <p:cNvPr id="5" name="Text 3"/>
          <p:cNvSpPr/>
          <p:nvPr/>
        </p:nvSpPr>
        <p:spPr>
          <a:xfrm>
            <a:off x="640080" y="1517904"/>
            <a:ext cx="4114800" cy="274320"/>
          </a:xfrm>
          <a:prstGeom prst="rect">
            <a:avLst/>
          </a:prstGeom>
          <a:noFill/>
          <a:ln/>
        </p:spPr>
        <p:txBody>
          <a:bodyPr wrap="square" lIns="0" tIns="0" rIns="0" bIns="0" rtlCol="0" anchor="ctr"/>
          <a:lstStyle/>
          <a:p>
            <a:pPr indent="0" marL="0">
              <a:buNone/>
            </a:pPr>
            <a:r>
              <a:rPr lang="en-US" sz="1350" b="1" dirty="0">
                <a:solidFill>
                  <a:srgbClr val="0B2545"/>
                </a:solidFill>
                <a:latin typeface="Cambria" pitchFamily="34" charset="0"/>
                <a:ea typeface="Cambria" pitchFamily="34" charset="-122"/>
                <a:cs typeface="Cambria" pitchFamily="34" charset="-120"/>
              </a:rPr>
              <a:t>Selected precedent transactions</a:t>
            </a:r>
            <a:endParaRPr lang="en-US" sz="1350" dirty="0"/>
          </a:p>
        </p:txBody>
      </p:sp>
      <p:sp>
        <p:nvSpPr>
          <p:cNvPr id="6" name="Shape 4"/>
          <p:cNvSpPr/>
          <p:nvPr/>
        </p:nvSpPr>
        <p:spPr>
          <a:xfrm>
            <a:off x="640080" y="1920240"/>
            <a:ext cx="4114800" cy="365760"/>
          </a:xfrm>
          <a:prstGeom prst="rect">
            <a:avLst/>
          </a:prstGeom>
          <a:solidFill>
            <a:srgbClr val="0B2545"/>
          </a:solidFill>
          <a:ln/>
        </p:spPr>
      </p:sp>
      <p:sp>
        <p:nvSpPr>
          <p:cNvPr id="7" name="Text 5"/>
          <p:cNvSpPr/>
          <p:nvPr/>
        </p:nvSpPr>
        <p:spPr>
          <a:xfrm>
            <a:off x="768096" y="1920240"/>
            <a:ext cx="228600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Acquirer / target</a:t>
            </a:r>
            <a:endParaRPr lang="en-US" sz="950" dirty="0"/>
          </a:p>
        </p:txBody>
      </p:sp>
      <p:sp>
        <p:nvSpPr>
          <p:cNvPr id="8" name="Text 6"/>
          <p:cNvSpPr/>
          <p:nvPr/>
        </p:nvSpPr>
        <p:spPr>
          <a:xfrm>
            <a:off x="3749040" y="1920240"/>
            <a:ext cx="877824" cy="365760"/>
          </a:xfrm>
          <a:prstGeom prst="rect">
            <a:avLst/>
          </a:prstGeom>
          <a:noFill/>
          <a:ln/>
        </p:spPr>
        <p:txBody>
          <a:bodyPr wrap="square" lIns="0" tIns="0" rIns="0" bIns="0" rtlCol="0" anchor="ctr"/>
          <a:lstStyle/>
          <a:p>
            <a:pPr algn="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p>
        </p:txBody>
      </p:sp>
      <p:sp>
        <p:nvSpPr>
          <p:cNvPr id="9" name="Shape 7"/>
          <p:cNvSpPr/>
          <p:nvPr/>
        </p:nvSpPr>
        <p:spPr>
          <a:xfrm>
            <a:off x="640080" y="2286000"/>
            <a:ext cx="4114800" cy="457200"/>
          </a:xfrm>
          <a:prstGeom prst="rect">
            <a:avLst/>
          </a:prstGeom>
          <a:solidFill>
            <a:srgbClr val="F4F6F9"/>
          </a:solidFill>
          <a:ln w="9525">
            <a:solidFill>
              <a:srgbClr val="DCE3EB"/>
            </a:solidFill>
            <a:prstDash val="solid"/>
          </a:ln>
        </p:spPr>
      </p:sp>
      <p:sp>
        <p:nvSpPr>
          <p:cNvPr id="10" name="Text 8"/>
          <p:cNvSpPr/>
          <p:nvPr/>
        </p:nvSpPr>
        <p:spPr>
          <a:xfrm>
            <a:off x="768096" y="2286000"/>
            <a:ext cx="3017520" cy="457200"/>
          </a:xfrm>
          <a:prstGeom prst="rect">
            <a:avLst/>
          </a:prstGeom>
          <a:noFill/>
          <a:ln/>
        </p:spPr>
        <p:txBody>
          <a:bodyPr wrap="square" lIns="0" tIns="0" rIns="0" bIns="0" rtlCol="0" anchor="ctr"/>
          <a:lstStyle/>
          <a:p>
            <a:pPr indent="0" marL="0">
              <a:lnSpc>
                <a:spcPct val="92000"/>
              </a:lnSpc>
              <a:buNone/>
            </a:pPr>
            <a:r>
              <a:rPr lang="en-US" sz="980" b="1" dirty="0">
                <a:solidFill>
                  <a:srgbClr val="0B2545"/>
                </a:solidFill>
                <a:latin typeface="Calibri" pitchFamily="34" charset="0"/>
                <a:ea typeface="Calibri" pitchFamily="34" charset="-122"/>
                <a:cs typeface="Calibri" pitchFamily="34" charset="-120"/>
              </a:rPr>
              <a:t>Amazon / Axio</a:t>
            </a:r>
            <a:endParaRPr lang="en-US" sz="980" dirty="0"/>
          </a:p>
          <a:p>
            <a:pPr indent="0" marL="0">
              <a:lnSpc>
                <a:spcPct val="92000"/>
              </a:lnSpc>
              <a:buNone/>
            </a:pPr>
            <a:r>
              <a:rPr lang="en-US" sz="850" dirty="0">
                <a:solidFill>
                  <a:srgbClr val="7A8794"/>
                </a:solidFill>
                <a:latin typeface="Calibri" pitchFamily="34" charset="0"/>
                <a:ea typeface="Calibri" pitchFamily="34" charset="-122"/>
                <a:cs typeface="Calibri" pitchFamily="34" charset="-120"/>
              </a:rPr>
              <a:t>NBFC + book</a:t>
            </a:r>
            <a:endParaRPr lang="en-US" sz="980" dirty="0"/>
          </a:p>
        </p:txBody>
      </p:sp>
      <p:sp>
        <p:nvSpPr>
          <p:cNvPr id="11" name="Text 9"/>
          <p:cNvSpPr/>
          <p:nvPr/>
        </p:nvSpPr>
        <p:spPr>
          <a:xfrm>
            <a:off x="3730752" y="2286000"/>
            <a:ext cx="896112" cy="457200"/>
          </a:xfrm>
          <a:prstGeom prst="rect">
            <a:avLst/>
          </a:prstGeom>
          <a:noFill/>
          <a:ln/>
        </p:spPr>
        <p:txBody>
          <a:bodyPr wrap="square" lIns="0" tIns="0" rIns="0" bIns="0" rtlCol="0" anchor="ctr"/>
          <a:lstStyle/>
          <a:p>
            <a:pPr algn="r" indent="0" marL="0">
              <a:buNone/>
            </a:pPr>
            <a:r>
              <a:rPr lang="en-US" sz="1000" b="1" dirty="0">
                <a:solidFill>
                  <a:srgbClr val="8A6B3C"/>
                </a:solidFill>
                <a:latin typeface="Calibri" pitchFamily="34" charset="0"/>
                <a:ea typeface="Calibri" pitchFamily="34" charset="-122"/>
                <a:cs typeface="Calibri" pitchFamily="34" charset="-120"/>
              </a:rPr>
              <a:t>~$200M</a:t>
            </a:r>
            <a:endParaRPr lang="en-US" sz="1000" dirty="0"/>
          </a:p>
        </p:txBody>
      </p:sp>
      <p:sp>
        <p:nvSpPr>
          <p:cNvPr id="12" name="Shape 10"/>
          <p:cNvSpPr/>
          <p:nvPr/>
        </p:nvSpPr>
        <p:spPr>
          <a:xfrm>
            <a:off x="640080" y="2743200"/>
            <a:ext cx="4114800" cy="457200"/>
          </a:xfrm>
          <a:prstGeom prst="rect">
            <a:avLst/>
          </a:prstGeom>
          <a:solidFill>
            <a:srgbClr val="FFFFFF"/>
          </a:solidFill>
          <a:ln w="9525">
            <a:solidFill>
              <a:srgbClr val="DCE3EB"/>
            </a:solidFill>
            <a:prstDash val="solid"/>
          </a:ln>
        </p:spPr>
      </p:sp>
      <p:sp>
        <p:nvSpPr>
          <p:cNvPr id="13" name="Text 11"/>
          <p:cNvSpPr/>
          <p:nvPr/>
        </p:nvSpPr>
        <p:spPr>
          <a:xfrm>
            <a:off x="768096" y="2743200"/>
            <a:ext cx="3017520" cy="457200"/>
          </a:xfrm>
          <a:prstGeom prst="rect">
            <a:avLst/>
          </a:prstGeom>
          <a:noFill/>
          <a:ln/>
        </p:spPr>
        <p:txBody>
          <a:bodyPr wrap="square" lIns="0" tIns="0" rIns="0" bIns="0" rtlCol="0" anchor="ctr"/>
          <a:lstStyle/>
          <a:p>
            <a:pPr indent="0" marL="0">
              <a:lnSpc>
                <a:spcPct val="92000"/>
              </a:lnSpc>
              <a:buNone/>
            </a:pPr>
            <a:r>
              <a:rPr lang="en-US" sz="980" b="1" dirty="0">
                <a:solidFill>
                  <a:srgbClr val="0B2545"/>
                </a:solidFill>
                <a:latin typeface="Calibri" pitchFamily="34" charset="0"/>
                <a:ea typeface="Calibri" pitchFamily="34" charset="-122"/>
                <a:cs typeface="Calibri" pitchFamily="34" charset="-120"/>
              </a:rPr>
              <a:t>Groww / Fisdom</a:t>
            </a:r>
            <a:endParaRPr lang="en-US" sz="980" dirty="0"/>
          </a:p>
          <a:p>
            <a:pPr indent="0" marL="0">
              <a:lnSpc>
                <a:spcPct val="92000"/>
              </a:lnSpc>
              <a:buNone/>
            </a:pPr>
            <a:r>
              <a:rPr lang="en-US" sz="850" dirty="0">
                <a:solidFill>
                  <a:srgbClr val="7A8794"/>
                </a:solidFill>
                <a:latin typeface="Calibri" pitchFamily="34" charset="0"/>
                <a:ea typeface="Calibri" pitchFamily="34" charset="-122"/>
                <a:cs typeface="Calibri" pitchFamily="34" charset="-120"/>
              </a:rPr>
              <a:t>Wealthtech</a:t>
            </a:r>
            <a:endParaRPr lang="en-US" sz="980" dirty="0"/>
          </a:p>
        </p:txBody>
      </p:sp>
      <p:sp>
        <p:nvSpPr>
          <p:cNvPr id="14" name="Text 12"/>
          <p:cNvSpPr/>
          <p:nvPr/>
        </p:nvSpPr>
        <p:spPr>
          <a:xfrm>
            <a:off x="3730752" y="2743200"/>
            <a:ext cx="896112" cy="457200"/>
          </a:xfrm>
          <a:prstGeom prst="rect">
            <a:avLst/>
          </a:prstGeom>
          <a:noFill/>
          <a:ln/>
        </p:spPr>
        <p:txBody>
          <a:bodyPr wrap="square" lIns="0" tIns="0" rIns="0" bIns="0" rtlCol="0" anchor="ctr"/>
          <a:lstStyle/>
          <a:p>
            <a:pPr algn="r" indent="0" marL="0">
              <a:buNone/>
            </a:pPr>
            <a:r>
              <a:rPr lang="en-US" sz="1000" b="1" dirty="0">
                <a:solidFill>
                  <a:srgbClr val="8A6B3C"/>
                </a:solidFill>
                <a:latin typeface="Calibri" pitchFamily="34" charset="0"/>
                <a:ea typeface="Calibri" pitchFamily="34" charset="-122"/>
                <a:cs typeface="Calibri" pitchFamily="34" charset="-120"/>
              </a:rPr>
              <a:t>~$150M</a:t>
            </a:r>
            <a:endParaRPr lang="en-US" sz="1000" dirty="0"/>
          </a:p>
        </p:txBody>
      </p:sp>
      <p:sp>
        <p:nvSpPr>
          <p:cNvPr id="15" name="Shape 13"/>
          <p:cNvSpPr/>
          <p:nvPr/>
        </p:nvSpPr>
        <p:spPr>
          <a:xfrm>
            <a:off x="640080" y="3200400"/>
            <a:ext cx="4114800" cy="457200"/>
          </a:xfrm>
          <a:prstGeom prst="rect">
            <a:avLst/>
          </a:prstGeom>
          <a:solidFill>
            <a:srgbClr val="F4F6F9"/>
          </a:solidFill>
          <a:ln w="9525">
            <a:solidFill>
              <a:srgbClr val="DCE3EB"/>
            </a:solidFill>
            <a:prstDash val="solid"/>
          </a:ln>
        </p:spPr>
      </p:sp>
      <p:sp>
        <p:nvSpPr>
          <p:cNvPr id="16" name="Text 14"/>
          <p:cNvSpPr/>
          <p:nvPr/>
        </p:nvSpPr>
        <p:spPr>
          <a:xfrm>
            <a:off x="768096" y="3200400"/>
            <a:ext cx="3017520" cy="457200"/>
          </a:xfrm>
          <a:prstGeom prst="rect">
            <a:avLst/>
          </a:prstGeom>
          <a:noFill/>
          <a:ln/>
        </p:spPr>
        <p:txBody>
          <a:bodyPr wrap="square" lIns="0" tIns="0" rIns="0" bIns="0" rtlCol="0" anchor="ctr"/>
          <a:lstStyle/>
          <a:p>
            <a:pPr indent="0" marL="0">
              <a:lnSpc>
                <a:spcPct val="92000"/>
              </a:lnSpc>
              <a:buNone/>
            </a:pPr>
            <a:r>
              <a:rPr lang="en-US" sz="980" b="1" dirty="0">
                <a:solidFill>
                  <a:srgbClr val="0B2545"/>
                </a:solidFill>
                <a:latin typeface="Calibri" pitchFamily="34" charset="0"/>
                <a:ea typeface="Calibri" pitchFamily="34" charset="-122"/>
                <a:cs typeface="Calibri" pitchFamily="34" charset="-120"/>
              </a:rPr>
              <a:t>Partners Gp / Infinity</a:t>
            </a:r>
            <a:endParaRPr lang="en-US" sz="980" dirty="0"/>
          </a:p>
          <a:p>
            <a:pPr indent="0" marL="0">
              <a:lnSpc>
                <a:spcPct val="92000"/>
              </a:lnSpc>
              <a:buNone/>
            </a:pPr>
            <a:r>
              <a:rPr lang="en-US" sz="850" dirty="0">
                <a:solidFill>
                  <a:srgbClr val="7A8794"/>
                </a:solidFill>
                <a:latin typeface="Calibri" pitchFamily="34" charset="0"/>
                <a:ea typeface="Calibri" pitchFamily="34" charset="-122"/>
                <a:cs typeface="Calibri" pitchFamily="34" charset="-120"/>
              </a:rPr>
              <a:t>MSME lending</a:t>
            </a:r>
            <a:endParaRPr lang="en-US" sz="980" dirty="0"/>
          </a:p>
        </p:txBody>
      </p:sp>
      <p:sp>
        <p:nvSpPr>
          <p:cNvPr id="17" name="Text 15"/>
          <p:cNvSpPr/>
          <p:nvPr/>
        </p:nvSpPr>
        <p:spPr>
          <a:xfrm>
            <a:off x="3730752" y="3200400"/>
            <a:ext cx="896112" cy="457200"/>
          </a:xfrm>
          <a:prstGeom prst="rect">
            <a:avLst/>
          </a:prstGeom>
          <a:noFill/>
          <a:ln/>
        </p:spPr>
        <p:txBody>
          <a:bodyPr wrap="square" lIns="0" tIns="0" rIns="0" bIns="0" rtlCol="0" anchor="ctr"/>
          <a:lstStyle/>
          <a:p>
            <a:pPr algn="r" indent="0" marL="0">
              <a:buNone/>
            </a:pPr>
            <a:r>
              <a:rPr lang="en-US" sz="1000" b="1" dirty="0">
                <a:solidFill>
                  <a:srgbClr val="8A6B3C"/>
                </a:solidFill>
                <a:latin typeface="Calibri" pitchFamily="34" charset="0"/>
                <a:ea typeface="Calibri" pitchFamily="34" charset="-122"/>
                <a:cs typeface="Calibri" pitchFamily="34" charset="-120"/>
              </a:rPr>
              <a:t>~$230M</a:t>
            </a:r>
            <a:endParaRPr lang="en-US" sz="1000" dirty="0"/>
          </a:p>
        </p:txBody>
      </p:sp>
      <p:sp>
        <p:nvSpPr>
          <p:cNvPr id="18" name="Shape 16"/>
          <p:cNvSpPr/>
          <p:nvPr/>
        </p:nvSpPr>
        <p:spPr>
          <a:xfrm>
            <a:off x="640080" y="3657600"/>
            <a:ext cx="4114800" cy="457200"/>
          </a:xfrm>
          <a:prstGeom prst="rect">
            <a:avLst/>
          </a:prstGeom>
          <a:solidFill>
            <a:srgbClr val="FFFFFF"/>
          </a:solidFill>
          <a:ln w="9525">
            <a:solidFill>
              <a:srgbClr val="DCE3EB"/>
            </a:solidFill>
            <a:prstDash val="solid"/>
          </a:ln>
        </p:spPr>
      </p:sp>
      <p:sp>
        <p:nvSpPr>
          <p:cNvPr id="19" name="Text 17"/>
          <p:cNvSpPr/>
          <p:nvPr/>
        </p:nvSpPr>
        <p:spPr>
          <a:xfrm>
            <a:off x="768096" y="3657600"/>
            <a:ext cx="3017520" cy="457200"/>
          </a:xfrm>
          <a:prstGeom prst="rect">
            <a:avLst/>
          </a:prstGeom>
          <a:noFill/>
          <a:ln/>
        </p:spPr>
        <p:txBody>
          <a:bodyPr wrap="square" lIns="0" tIns="0" rIns="0" bIns="0" rtlCol="0" anchor="ctr"/>
          <a:lstStyle/>
          <a:p>
            <a:pPr indent="0" marL="0">
              <a:lnSpc>
                <a:spcPct val="92000"/>
              </a:lnSpc>
              <a:buNone/>
            </a:pPr>
            <a:r>
              <a:rPr lang="en-US" sz="980" b="1" dirty="0">
                <a:solidFill>
                  <a:srgbClr val="0B2545"/>
                </a:solidFill>
                <a:latin typeface="Calibri" pitchFamily="34" charset="0"/>
                <a:ea typeface="Calibri" pitchFamily="34" charset="-122"/>
                <a:cs typeface="Calibri" pitchFamily="34" charset="-120"/>
              </a:rPr>
              <a:t>PhonePe / Zopper</a:t>
            </a:r>
            <a:endParaRPr lang="en-US" sz="980" dirty="0"/>
          </a:p>
          <a:p>
            <a:pPr indent="0" marL="0">
              <a:lnSpc>
                <a:spcPct val="92000"/>
              </a:lnSpc>
              <a:buNone/>
            </a:pPr>
            <a:r>
              <a:rPr lang="en-US" sz="850" dirty="0">
                <a:solidFill>
                  <a:srgbClr val="7A8794"/>
                </a:solidFill>
                <a:latin typeface="Calibri" pitchFamily="34" charset="0"/>
                <a:ea typeface="Calibri" pitchFamily="34" charset="-122"/>
                <a:cs typeface="Calibri" pitchFamily="34" charset="-120"/>
              </a:rPr>
              <a:t>Embedded insurance</a:t>
            </a:r>
            <a:endParaRPr lang="en-US" sz="980" dirty="0"/>
          </a:p>
        </p:txBody>
      </p:sp>
      <p:sp>
        <p:nvSpPr>
          <p:cNvPr id="20" name="Text 18"/>
          <p:cNvSpPr/>
          <p:nvPr/>
        </p:nvSpPr>
        <p:spPr>
          <a:xfrm>
            <a:off x="3730752" y="3657600"/>
            <a:ext cx="896112" cy="457200"/>
          </a:xfrm>
          <a:prstGeom prst="rect">
            <a:avLst/>
          </a:prstGeom>
          <a:noFill/>
          <a:ln/>
        </p:spPr>
        <p:txBody>
          <a:bodyPr wrap="square" lIns="0" tIns="0" rIns="0" bIns="0" rtlCol="0" anchor="ctr"/>
          <a:lstStyle/>
          <a:p>
            <a:pPr algn="r" indent="0" marL="0">
              <a:buNone/>
            </a:pPr>
            <a:r>
              <a:rPr lang="en-US" sz="1000" b="1" dirty="0">
                <a:solidFill>
                  <a:srgbClr val="8A6B3C"/>
                </a:solidFill>
                <a:latin typeface="Calibri" pitchFamily="34" charset="0"/>
                <a:ea typeface="Calibri" pitchFamily="34" charset="-122"/>
                <a:cs typeface="Calibri" pitchFamily="34" charset="-120"/>
              </a:rPr>
              <a:t>n/d</a:t>
            </a:r>
            <a:endParaRPr lang="en-US" sz="1000" dirty="0"/>
          </a:p>
        </p:txBody>
      </p:sp>
      <p:sp>
        <p:nvSpPr>
          <p:cNvPr id="21" name="Shape 19"/>
          <p:cNvSpPr/>
          <p:nvPr/>
        </p:nvSpPr>
        <p:spPr>
          <a:xfrm>
            <a:off x="640080" y="4114800"/>
            <a:ext cx="4114800" cy="457200"/>
          </a:xfrm>
          <a:prstGeom prst="rect">
            <a:avLst/>
          </a:prstGeom>
          <a:solidFill>
            <a:srgbClr val="F4F6F9"/>
          </a:solidFill>
          <a:ln w="9525">
            <a:solidFill>
              <a:srgbClr val="DCE3EB"/>
            </a:solidFill>
            <a:prstDash val="solid"/>
          </a:ln>
        </p:spPr>
      </p:sp>
      <p:sp>
        <p:nvSpPr>
          <p:cNvPr id="22" name="Text 20"/>
          <p:cNvSpPr/>
          <p:nvPr/>
        </p:nvSpPr>
        <p:spPr>
          <a:xfrm>
            <a:off x="768096" y="4114800"/>
            <a:ext cx="3017520" cy="457200"/>
          </a:xfrm>
          <a:prstGeom prst="rect">
            <a:avLst/>
          </a:prstGeom>
          <a:noFill/>
          <a:ln/>
        </p:spPr>
        <p:txBody>
          <a:bodyPr wrap="square" lIns="0" tIns="0" rIns="0" bIns="0" rtlCol="0" anchor="ctr"/>
          <a:lstStyle/>
          <a:p>
            <a:pPr indent="0" marL="0">
              <a:lnSpc>
                <a:spcPct val="92000"/>
              </a:lnSpc>
              <a:buNone/>
            </a:pPr>
            <a:r>
              <a:rPr lang="en-US" sz="980" b="1" dirty="0">
                <a:solidFill>
                  <a:srgbClr val="0B2545"/>
                </a:solidFill>
                <a:latin typeface="Calibri" pitchFamily="34" charset="0"/>
                <a:ea typeface="Calibri" pitchFamily="34" charset="-122"/>
                <a:cs typeface="Calibri" pitchFamily="34" charset="-120"/>
              </a:rPr>
              <a:t>Slice / NESFB</a:t>
            </a:r>
            <a:endParaRPr lang="en-US" sz="980" dirty="0"/>
          </a:p>
          <a:p>
            <a:pPr indent="0" marL="0">
              <a:lnSpc>
                <a:spcPct val="92000"/>
              </a:lnSpc>
              <a:buNone/>
            </a:pPr>
            <a:r>
              <a:rPr lang="en-US" sz="850" dirty="0">
                <a:solidFill>
                  <a:srgbClr val="7A8794"/>
                </a:solidFill>
                <a:latin typeface="Calibri" pitchFamily="34" charset="0"/>
                <a:ea typeface="Calibri" pitchFamily="34" charset="-122"/>
                <a:cs typeface="Calibri" pitchFamily="34" charset="-120"/>
              </a:rPr>
              <a:t>Bank licence</a:t>
            </a:r>
            <a:endParaRPr lang="en-US" sz="980" dirty="0"/>
          </a:p>
        </p:txBody>
      </p:sp>
      <p:sp>
        <p:nvSpPr>
          <p:cNvPr id="23" name="Text 21"/>
          <p:cNvSpPr/>
          <p:nvPr/>
        </p:nvSpPr>
        <p:spPr>
          <a:xfrm>
            <a:off x="3730752" y="4114800"/>
            <a:ext cx="896112" cy="457200"/>
          </a:xfrm>
          <a:prstGeom prst="rect">
            <a:avLst/>
          </a:prstGeom>
          <a:noFill/>
          <a:ln/>
        </p:spPr>
        <p:txBody>
          <a:bodyPr wrap="square" lIns="0" tIns="0" rIns="0" bIns="0" rtlCol="0" anchor="ctr"/>
          <a:lstStyle/>
          <a:p>
            <a:pPr algn="r" indent="0" marL="0">
              <a:buNone/>
            </a:pPr>
            <a:r>
              <a:rPr lang="en-US" sz="1000" b="1" dirty="0">
                <a:solidFill>
                  <a:srgbClr val="8A6B3C"/>
                </a:solidFill>
                <a:latin typeface="Calibri" pitchFamily="34" charset="0"/>
                <a:ea typeface="Calibri" pitchFamily="34" charset="-122"/>
                <a:cs typeface="Calibri" pitchFamily="34" charset="-120"/>
              </a:rPr>
              <a:t>n/d</a:t>
            </a:r>
            <a:endParaRPr lang="en-US" sz="1000" dirty="0"/>
          </a:p>
        </p:txBody>
      </p:sp>
      <p:sp>
        <p:nvSpPr>
          <p:cNvPr id="24" name="Shape 22"/>
          <p:cNvSpPr/>
          <p:nvPr/>
        </p:nvSpPr>
        <p:spPr>
          <a:xfrm>
            <a:off x="640080" y="4572000"/>
            <a:ext cx="4114800" cy="457200"/>
          </a:xfrm>
          <a:prstGeom prst="rect">
            <a:avLst/>
          </a:prstGeom>
          <a:solidFill>
            <a:srgbClr val="FFFFFF"/>
          </a:solidFill>
          <a:ln w="9525">
            <a:solidFill>
              <a:srgbClr val="DCE3EB"/>
            </a:solidFill>
            <a:prstDash val="solid"/>
          </a:ln>
        </p:spPr>
      </p:sp>
      <p:sp>
        <p:nvSpPr>
          <p:cNvPr id="25" name="Text 23"/>
          <p:cNvSpPr/>
          <p:nvPr/>
        </p:nvSpPr>
        <p:spPr>
          <a:xfrm>
            <a:off x="768096" y="4572000"/>
            <a:ext cx="3017520" cy="457200"/>
          </a:xfrm>
          <a:prstGeom prst="rect">
            <a:avLst/>
          </a:prstGeom>
          <a:noFill/>
          <a:ln/>
        </p:spPr>
        <p:txBody>
          <a:bodyPr wrap="square" lIns="0" tIns="0" rIns="0" bIns="0" rtlCol="0" anchor="ctr"/>
          <a:lstStyle/>
          <a:p>
            <a:pPr indent="0" marL="0">
              <a:lnSpc>
                <a:spcPct val="92000"/>
              </a:lnSpc>
              <a:buNone/>
            </a:pPr>
            <a:r>
              <a:rPr lang="en-US" sz="980" b="1" dirty="0">
                <a:solidFill>
                  <a:srgbClr val="0B2545"/>
                </a:solidFill>
                <a:latin typeface="Calibri" pitchFamily="34" charset="0"/>
                <a:ea typeface="Calibri" pitchFamily="34" charset="-122"/>
                <a:cs typeface="Calibri" pitchFamily="34" charset="-120"/>
              </a:rPr>
              <a:t>Razorpay / Ezetap</a:t>
            </a:r>
            <a:endParaRPr lang="en-US" sz="980" dirty="0"/>
          </a:p>
          <a:p>
            <a:pPr indent="0" marL="0">
              <a:lnSpc>
                <a:spcPct val="92000"/>
              </a:lnSpc>
              <a:buNone/>
            </a:pPr>
            <a:r>
              <a:rPr lang="en-US" sz="850" dirty="0">
                <a:solidFill>
                  <a:srgbClr val="7A8794"/>
                </a:solidFill>
                <a:latin typeface="Calibri" pitchFamily="34" charset="0"/>
                <a:ea typeface="Calibri" pitchFamily="34" charset="-122"/>
                <a:cs typeface="Calibri" pitchFamily="34" charset="-120"/>
              </a:rPr>
              <a:t>Merchant POS</a:t>
            </a:r>
            <a:endParaRPr lang="en-US" sz="980" dirty="0"/>
          </a:p>
        </p:txBody>
      </p:sp>
      <p:sp>
        <p:nvSpPr>
          <p:cNvPr id="26" name="Text 24"/>
          <p:cNvSpPr/>
          <p:nvPr/>
        </p:nvSpPr>
        <p:spPr>
          <a:xfrm>
            <a:off x="3730752" y="4572000"/>
            <a:ext cx="896112" cy="457200"/>
          </a:xfrm>
          <a:prstGeom prst="rect">
            <a:avLst/>
          </a:prstGeom>
          <a:noFill/>
          <a:ln/>
        </p:spPr>
        <p:txBody>
          <a:bodyPr wrap="square" lIns="0" tIns="0" rIns="0" bIns="0" rtlCol="0" anchor="ctr"/>
          <a:lstStyle/>
          <a:p>
            <a:pPr algn="r" indent="0" marL="0">
              <a:buNone/>
            </a:pPr>
            <a:r>
              <a:rPr lang="en-US" sz="1000" b="1" dirty="0">
                <a:solidFill>
                  <a:srgbClr val="8A6B3C"/>
                </a:solidFill>
                <a:latin typeface="Calibri" pitchFamily="34" charset="0"/>
                <a:ea typeface="Calibri" pitchFamily="34" charset="-122"/>
                <a:cs typeface="Calibri" pitchFamily="34" charset="-120"/>
              </a:rPr>
              <a:t>n/d</a:t>
            </a:r>
            <a:endParaRPr lang="en-US" sz="1000" dirty="0"/>
          </a:p>
        </p:txBody>
      </p:sp>
      <p:sp>
        <p:nvSpPr>
          <p:cNvPr id="27" name="Text 25"/>
          <p:cNvSpPr/>
          <p:nvPr/>
        </p:nvSpPr>
        <p:spPr>
          <a:xfrm>
            <a:off x="640080" y="5102352"/>
            <a:ext cx="4114800" cy="365760"/>
          </a:xfrm>
          <a:prstGeom prst="rect">
            <a:avLst/>
          </a:prstGeom>
          <a:noFill/>
          <a:ln/>
        </p:spPr>
        <p:txBody>
          <a:bodyPr wrap="square" lIns="0" tIns="0" rIns="0" bIns="0" rtlCol="0" anchor="t"/>
          <a:lstStyle/>
          <a:p>
            <a:pPr indent="0" marL="0">
              <a:lnSpc>
                <a:spcPct val="100000"/>
              </a:lnSpc>
              <a:buNone/>
            </a:pPr>
            <a:r>
              <a:rPr lang="en-US" sz="950" i="1" dirty="0">
                <a:solidFill>
                  <a:srgbClr val="7A8794"/>
                </a:solidFill>
                <a:latin typeface="Calibri" pitchFamily="34" charset="0"/>
                <a:ea typeface="Calibri" pitchFamily="34" charset="-122"/>
                <a:cs typeface="Calibri" pitchFamily="34" charset="-120"/>
              </a:rPr>
              <a:t>Buyers are paying for licences, books and capability.</a:t>
            </a:r>
            <a:endParaRPr lang="en-US" sz="950" dirty="0"/>
          </a:p>
        </p:txBody>
      </p:sp>
      <p:sp>
        <p:nvSpPr>
          <p:cNvPr id="28" name="Text 26"/>
          <p:cNvSpPr/>
          <p:nvPr/>
        </p:nvSpPr>
        <p:spPr>
          <a:xfrm>
            <a:off x="5120640" y="1517904"/>
            <a:ext cx="6430975" cy="274320"/>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Blostem  (control stake, Rs Cr)</a:t>
            </a:r>
            <a:endParaRPr lang="en-US" sz="1300" dirty="0"/>
          </a:p>
        </p:txBody>
      </p:sp>
      <p:sp>
        <p:nvSpPr>
          <p:cNvPr id="29" name="Shape 27"/>
          <p:cNvSpPr/>
          <p:nvPr/>
        </p:nvSpPr>
        <p:spPr>
          <a:xfrm>
            <a:off x="8675256" y="1865376"/>
            <a:ext cx="1725816" cy="841248"/>
          </a:xfrm>
          <a:prstGeom prst="rect">
            <a:avLst/>
          </a:prstGeom>
          <a:solidFill>
            <a:srgbClr val="F7F2E9"/>
          </a:solidFill>
          <a:ln/>
        </p:spPr>
      </p:sp>
      <p:sp>
        <p:nvSpPr>
          <p:cNvPr id="30" name="Text 28"/>
          <p:cNvSpPr/>
          <p:nvPr/>
        </p:nvSpPr>
        <p:spPr>
          <a:xfrm>
            <a:off x="5120640" y="1901952"/>
            <a:ext cx="1755648" cy="384048"/>
          </a:xfrm>
          <a:prstGeom prst="rect">
            <a:avLst/>
          </a:prstGeom>
          <a:noFill/>
          <a:ln/>
        </p:spPr>
        <p:txBody>
          <a:bodyPr wrap="square" lIns="0" tIns="0" rIns="0" bIns="0" rtlCol="0" anchor="ctr"/>
          <a:lstStyle/>
          <a:p>
            <a:pPr indent="0" marL="0">
              <a:lnSpc>
                <a:spcPct val="92000"/>
              </a:lnSpc>
              <a:buNone/>
            </a:pPr>
            <a:r>
              <a:rPr lang="en-US" sz="930" dirty="0">
                <a:solidFill>
                  <a:srgbClr val="33414F"/>
                </a:solidFill>
                <a:latin typeface="Calibri" pitchFamily="34" charset="0"/>
                <a:ea typeface="Calibri" pitchFamily="34" charset="-122"/>
                <a:cs typeface="Calibri" pitchFamily="34" charset="-120"/>
              </a:rPr>
              <a:t>Last round reference</a:t>
            </a:r>
            <a:endParaRPr lang="en-US" sz="930" dirty="0"/>
          </a:p>
        </p:txBody>
      </p:sp>
      <p:sp>
        <p:nvSpPr>
          <p:cNvPr id="31" name="Shape 29"/>
          <p:cNvSpPr/>
          <p:nvPr/>
        </p:nvSpPr>
        <p:spPr>
          <a:xfrm>
            <a:off x="6949440" y="2093976"/>
            <a:ext cx="4602175" cy="0"/>
          </a:xfrm>
          <a:prstGeom prst="line">
            <a:avLst/>
          </a:prstGeom>
          <a:noFill/>
          <a:ln w="12700">
            <a:solidFill>
              <a:srgbClr val="E3E8EF"/>
            </a:solidFill>
            <a:prstDash val="solid"/>
          </a:ln>
        </p:spPr>
      </p:sp>
      <p:sp>
        <p:nvSpPr>
          <p:cNvPr id="32" name="Shape 30"/>
          <p:cNvSpPr/>
          <p:nvPr/>
        </p:nvSpPr>
        <p:spPr>
          <a:xfrm>
            <a:off x="8483498" y="1975104"/>
            <a:ext cx="383515" cy="237744"/>
          </a:xfrm>
          <a:prstGeom prst="roundRect">
            <a:avLst>
              <a:gd name="adj" fmla="val 15385"/>
            </a:avLst>
          </a:prstGeom>
          <a:solidFill>
            <a:srgbClr val="0B2545"/>
          </a:solidFill>
          <a:ln/>
        </p:spPr>
      </p:sp>
      <p:sp>
        <p:nvSpPr>
          <p:cNvPr id="33" name="Text 31"/>
          <p:cNvSpPr/>
          <p:nvPr/>
        </p:nvSpPr>
        <p:spPr>
          <a:xfrm>
            <a:off x="6949440" y="1901952"/>
            <a:ext cx="4602175" cy="384048"/>
          </a:xfrm>
          <a:prstGeom prst="rect">
            <a:avLst/>
          </a:prstGeom>
          <a:noFill/>
          <a:ln/>
        </p:spPr>
        <p:txBody>
          <a:bodyPr wrap="square" lIns="0" tIns="0" rIns="0" bIns="0" rtlCol="0" anchor="ctr"/>
          <a:lstStyle/>
          <a:p>
            <a:pPr algn="r" indent="0" marL="0">
              <a:buNone/>
            </a:pPr>
            <a:r>
              <a:rPr lang="en-US" sz="850" b="1" dirty="0">
                <a:solidFill>
                  <a:srgbClr val="8A6B3C"/>
                </a:solidFill>
                <a:latin typeface="Calibri" pitchFamily="34" charset="0"/>
                <a:ea typeface="Calibri" pitchFamily="34" charset="-122"/>
                <a:cs typeface="Calibri" pitchFamily="34" charset="-120"/>
              </a:rPr>
              <a:t>Rs 40 to 50 Cr</a:t>
            </a:r>
            <a:endParaRPr lang="en-US" sz="850" dirty="0"/>
          </a:p>
        </p:txBody>
      </p:sp>
      <p:sp>
        <p:nvSpPr>
          <p:cNvPr id="34" name="Text 32"/>
          <p:cNvSpPr/>
          <p:nvPr/>
        </p:nvSpPr>
        <p:spPr>
          <a:xfrm>
            <a:off x="5120640" y="2286000"/>
            <a:ext cx="1755648" cy="384048"/>
          </a:xfrm>
          <a:prstGeom prst="rect">
            <a:avLst/>
          </a:prstGeom>
          <a:noFill/>
          <a:ln/>
        </p:spPr>
        <p:txBody>
          <a:bodyPr wrap="square" lIns="0" tIns="0" rIns="0" bIns="0" rtlCol="0" anchor="ctr"/>
          <a:lstStyle/>
          <a:p>
            <a:pPr indent="0" marL="0">
              <a:lnSpc>
                <a:spcPct val="92000"/>
              </a:lnSpc>
              <a:buNone/>
            </a:pPr>
            <a:r>
              <a:rPr lang="en-US" sz="930" dirty="0">
                <a:solidFill>
                  <a:srgbClr val="33414F"/>
                </a:solidFill>
                <a:latin typeface="Calibri" pitchFamily="34" charset="0"/>
                <a:ea typeface="Calibri" pitchFamily="34" charset="-122"/>
                <a:cs typeface="Calibri" pitchFamily="34" charset="-120"/>
              </a:rPr>
              <a:t>Control and strategic premium</a:t>
            </a:r>
            <a:endParaRPr lang="en-US" sz="930" dirty="0"/>
          </a:p>
        </p:txBody>
      </p:sp>
      <p:sp>
        <p:nvSpPr>
          <p:cNvPr id="35" name="Shape 33"/>
          <p:cNvSpPr/>
          <p:nvPr/>
        </p:nvSpPr>
        <p:spPr>
          <a:xfrm>
            <a:off x="6949440" y="2478024"/>
            <a:ext cx="4602175" cy="0"/>
          </a:xfrm>
          <a:prstGeom prst="line">
            <a:avLst/>
          </a:prstGeom>
          <a:noFill/>
          <a:ln w="12700">
            <a:solidFill>
              <a:srgbClr val="E3E8EF"/>
            </a:solidFill>
            <a:prstDash val="solid"/>
          </a:ln>
        </p:spPr>
      </p:sp>
      <p:sp>
        <p:nvSpPr>
          <p:cNvPr id="36" name="Shape 34"/>
          <p:cNvSpPr/>
          <p:nvPr/>
        </p:nvSpPr>
        <p:spPr>
          <a:xfrm>
            <a:off x="8867013" y="2359152"/>
            <a:ext cx="1534058" cy="237744"/>
          </a:xfrm>
          <a:prstGeom prst="roundRect">
            <a:avLst>
              <a:gd name="adj" fmla="val 15385"/>
            </a:avLst>
          </a:prstGeom>
          <a:solidFill>
            <a:srgbClr val="0B2545"/>
          </a:solidFill>
          <a:ln/>
        </p:spPr>
      </p:sp>
      <p:sp>
        <p:nvSpPr>
          <p:cNvPr id="37" name="Text 35"/>
          <p:cNvSpPr/>
          <p:nvPr/>
        </p:nvSpPr>
        <p:spPr>
          <a:xfrm>
            <a:off x="6949440" y="2286000"/>
            <a:ext cx="4602175" cy="384048"/>
          </a:xfrm>
          <a:prstGeom prst="rect">
            <a:avLst/>
          </a:prstGeom>
          <a:noFill/>
          <a:ln/>
        </p:spPr>
        <p:txBody>
          <a:bodyPr wrap="square" lIns="0" tIns="0" rIns="0" bIns="0" rtlCol="0" anchor="ctr"/>
          <a:lstStyle/>
          <a:p>
            <a:pPr algn="r" indent="0" marL="0">
              <a:buNone/>
            </a:pPr>
            <a:r>
              <a:rPr lang="en-US" sz="850" b="1" dirty="0">
                <a:solidFill>
                  <a:srgbClr val="8A6B3C"/>
                </a:solidFill>
                <a:latin typeface="Calibri" pitchFamily="34" charset="0"/>
                <a:ea typeface="Calibri" pitchFamily="34" charset="-122"/>
                <a:cs typeface="Calibri" pitchFamily="34" charset="-120"/>
              </a:rPr>
              <a:t>Rs 50 to 90 Cr</a:t>
            </a:r>
            <a:endParaRPr lang="en-US" sz="850" dirty="0"/>
          </a:p>
        </p:txBody>
      </p:sp>
      <p:sp>
        <p:nvSpPr>
          <p:cNvPr id="38" name="Text 36"/>
          <p:cNvSpPr/>
          <p:nvPr/>
        </p:nvSpPr>
        <p:spPr>
          <a:xfrm>
            <a:off x="6675120" y="2715768"/>
            <a:ext cx="548640" cy="182880"/>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0</a:t>
            </a:r>
            <a:endParaRPr lang="en-US" sz="750" dirty="0"/>
          </a:p>
        </p:txBody>
      </p:sp>
      <p:sp>
        <p:nvSpPr>
          <p:cNvPr id="39" name="Text 37"/>
          <p:cNvSpPr/>
          <p:nvPr/>
        </p:nvSpPr>
        <p:spPr>
          <a:xfrm>
            <a:off x="7825664" y="2715768"/>
            <a:ext cx="548640" cy="182880"/>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30</a:t>
            </a:r>
            <a:endParaRPr lang="en-US" sz="750" dirty="0"/>
          </a:p>
        </p:txBody>
      </p:sp>
      <p:sp>
        <p:nvSpPr>
          <p:cNvPr id="40" name="Text 38"/>
          <p:cNvSpPr/>
          <p:nvPr/>
        </p:nvSpPr>
        <p:spPr>
          <a:xfrm>
            <a:off x="8976208" y="2715768"/>
            <a:ext cx="548640" cy="182880"/>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60</a:t>
            </a:r>
            <a:endParaRPr lang="en-US" sz="750" dirty="0"/>
          </a:p>
        </p:txBody>
      </p:sp>
      <p:sp>
        <p:nvSpPr>
          <p:cNvPr id="41" name="Text 39"/>
          <p:cNvSpPr/>
          <p:nvPr/>
        </p:nvSpPr>
        <p:spPr>
          <a:xfrm>
            <a:off x="10126751" y="2715768"/>
            <a:ext cx="548640" cy="182880"/>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90</a:t>
            </a:r>
            <a:endParaRPr lang="en-US" sz="750" dirty="0"/>
          </a:p>
        </p:txBody>
      </p:sp>
      <p:sp>
        <p:nvSpPr>
          <p:cNvPr id="42" name="Text 40"/>
          <p:cNvSpPr/>
          <p:nvPr/>
        </p:nvSpPr>
        <p:spPr>
          <a:xfrm>
            <a:off x="11277295" y="2715768"/>
            <a:ext cx="548640" cy="182880"/>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120</a:t>
            </a:r>
            <a:endParaRPr lang="en-US" sz="750" dirty="0"/>
          </a:p>
        </p:txBody>
      </p:sp>
      <p:sp>
        <p:nvSpPr>
          <p:cNvPr id="43" name="Text 41"/>
          <p:cNvSpPr/>
          <p:nvPr/>
        </p:nvSpPr>
        <p:spPr>
          <a:xfrm>
            <a:off x="8492376" y="2898648"/>
            <a:ext cx="2091576" cy="182880"/>
          </a:xfrm>
          <a:prstGeom prst="rect">
            <a:avLst/>
          </a:prstGeom>
          <a:noFill/>
          <a:ln/>
        </p:spPr>
        <p:txBody>
          <a:bodyPr wrap="square" lIns="0" tIns="0" rIns="0" bIns="0" rtlCol="0" anchor="ctr"/>
          <a:lstStyle/>
          <a:p>
            <a:pPr algn="ctr" indent="0" marL="0">
              <a:buNone/>
            </a:pPr>
            <a:r>
              <a:rPr lang="en-US" sz="750" b="1" dirty="0">
                <a:solidFill>
                  <a:srgbClr val="8A6B3C"/>
                </a:solidFill>
                <a:latin typeface="Calibri" pitchFamily="34" charset="0"/>
                <a:ea typeface="Calibri" pitchFamily="34" charset="-122"/>
                <a:cs typeface="Calibri" pitchFamily="34" charset="-120"/>
              </a:rPr>
              <a:t>Recommended</a:t>
            </a:r>
            <a:endParaRPr lang="en-US" sz="750" dirty="0"/>
          </a:p>
        </p:txBody>
      </p:sp>
      <p:sp>
        <p:nvSpPr>
          <p:cNvPr id="44" name="Text 42"/>
          <p:cNvSpPr/>
          <p:nvPr/>
        </p:nvSpPr>
        <p:spPr>
          <a:xfrm>
            <a:off x="5120640" y="3611880"/>
            <a:ext cx="6430975" cy="274320"/>
          </a:xfrm>
          <a:prstGeom prst="rect">
            <a:avLst/>
          </a:prstGeom>
          <a:noFill/>
          <a:ln/>
        </p:spPr>
        <p:txBody>
          <a:bodyPr wrap="square" lIns="0" tIns="0" rIns="0" bIns="0" rtlCol="0" anchor="ctr"/>
          <a:lstStyle/>
          <a:p>
            <a:pPr indent="0" marL="0">
              <a:buNone/>
            </a:pPr>
            <a:r>
              <a:rPr lang="en-US" sz="1300" b="1" dirty="0">
                <a:solidFill>
                  <a:srgbClr val="0B2545"/>
                </a:solidFill>
                <a:latin typeface="Cambria" pitchFamily="34" charset="0"/>
                <a:ea typeface="Cambria" pitchFamily="34" charset="-122"/>
                <a:cs typeface="Cambria" pitchFamily="34" charset="-120"/>
              </a:rPr>
              <a:t>Riskcovry  (enterprise value, Rs Cr)</a:t>
            </a:r>
            <a:endParaRPr lang="en-US" sz="1300" dirty="0"/>
          </a:p>
        </p:txBody>
      </p:sp>
      <p:sp>
        <p:nvSpPr>
          <p:cNvPr id="45" name="Shape 43"/>
          <p:cNvSpPr/>
          <p:nvPr/>
        </p:nvSpPr>
        <p:spPr>
          <a:xfrm>
            <a:off x="8675256" y="3959352"/>
            <a:ext cx="1725816" cy="1225296"/>
          </a:xfrm>
          <a:prstGeom prst="rect">
            <a:avLst/>
          </a:prstGeom>
          <a:solidFill>
            <a:srgbClr val="F7F2E9"/>
          </a:solidFill>
          <a:ln/>
        </p:spPr>
      </p:sp>
      <p:sp>
        <p:nvSpPr>
          <p:cNvPr id="46" name="Text 44"/>
          <p:cNvSpPr/>
          <p:nvPr/>
        </p:nvSpPr>
        <p:spPr>
          <a:xfrm>
            <a:off x="5120640" y="3995928"/>
            <a:ext cx="1755648" cy="384048"/>
          </a:xfrm>
          <a:prstGeom prst="rect">
            <a:avLst/>
          </a:prstGeom>
          <a:noFill/>
          <a:ln/>
        </p:spPr>
        <p:txBody>
          <a:bodyPr wrap="square" lIns="0" tIns="0" rIns="0" bIns="0" rtlCol="0" anchor="ctr"/>
          <a:lstStyle/>
          <a:p>
            <a:pPr indent="0" marL="0">
              <a:lnSpc>
                <a:spcPct val="92000"/>
              </a:lnSpc>
              <a:buNone/>
            </a:pPr>
            <a:r>
              <a:rPr lang="en-US" sz="930" dirty="0">
                <a:solidFill>
                  <a:srgbClr val="33414F"/>
                </a:solidFill>
                <a:latin typeface="Calibri" pitchFamily="34" charset="0"/>
                <a:ea typeface="Calibri" pitchFamily="34" charset="-122"/>
                <a:cs typeface="Calibri" pitchFamily="34" charset="-120"/>
              </a:rPr>
              <a:t>Revenue multiple, 3x to 6x FY25</a:t>
            </a:r>
            <a:endParaRPr lang="en-US" sz="930" dirty="0"/>
          </a:p>
        </p:txBody>
      </p:sp>
      <p:sp>
        <p:nvSpPr>
          <p:cNvPr id="47" name="Shape 45"/>
          <p:cNvSpPr/>
          <p:nvPr/>
        </p:nvSpPr>
        <p:spPr>
          <a:xfrm>
            <a:off x="6949440" y="4187952"/>
            <a:ext cx="4602175" cy="0"/>
          </a:xfrm>
          <a:prstGeom prst="line">
            <a:avLst/>
          </a:prstGeom>
          <a:noFill/>
          <a:ln w="12700">
            <a:solidFill>
              <a:srgbClr val="E3E8EF"/>
            </a:solidFill>
            <a:prstDash val="solid"/>
          </a:ln>
        </p:spPr>
      </p:sp>
      <p:sp>
        <p:nvSpPr>
          <p:cNvPr id="48" name="Shape 46"/>
          <p:cNvSpPr/>
          <p:nvPr/>
        </p:nvSpPr>
        <p:spPr>
          <a:xfrm>
            <a:off x="8560201" y="4069080"/>
            <a:ext cx="1610761" cy="237744"/>
          </a:xfrm>
          <a:prstGeom prst="roundRect">
            <a:avLst>
              <a:gd name="adj" fmla="val 15385"/>
            </a:avLst>
          </a:prstGeom>
          <a:solidFill>
            <a:srgbClr val="0B2545"/>
          </a:solidFill>
          <a:ln/>
        </p:spPr>
      </p:sp>
      <p:sp>
        <p:nvSpPr>
          <p:cNvPr id="49" name="Text 47"/>
          <p:cNvSpPr/>
          <p:nvPr/>
        </p:nvSpPr>
        <p:spPr>
          <a:xfrm>
            <a:off x="6949440" y="3995928"/>
            <a:ext cx="4602175" cy="384048"/>
          </a:xfrm>
          <a:prstGeom prst="rect">
            <a:avLst/>
          </a:prstGeom>
          <a:noFill/>
          <a:ln/>
        </p:spPr>
        <p:txBody>
          <a:bodyPr wrap="square" lIns="0" tIns="0" rIns="0" bIns="0" rtlCol="0" anchor="ctr"/>
          <a:lstStyle/>
          <a:p>
            <a:pPr algn="r" indent="0" marL="0">
              <a:buNone/>
            </a:pPr>
            <a:r>
              <a:rPr lang="en-US" sz="850" b="1" dirty="0">
                <a:solidFill>
                  <a:srgbClr val="8A6B3C"/>
                </a:solidFill>
                <a:latin typeface="Calibri" pitchFamily="34" charset="0"/>
                <a:ea typeface="Calibri" pitchFamily="34" charset="-122"/>
                <a:cs typeface="Calibri" pitchFamily="34" charset="-120"/>
              </a:rPr>
              <a:t>Rs 140 to 280 Cr</a:t>
            </a:r>
            <a:endParaRPr lang="en-US" sz="850" dirty="0"/>
          </a:p>
        </p:txBody>
      </p:sp>
      <p:sp>
        <p:nvSpPr>
          <p:cNvPr id="50" name="Text 48"/>
          <p:cNvSpPr/>
          <p:nvPr/>
        </p:nvSpPr>
        <p:spPr>
          <a:xfrm>
            <a:off x="5120640" y="4379976"/>
            <a:ext cx="1755648" cy="384048"/>
          </a:xfrm>
          <a:prstGeom prst="rect">
            <a:avLst/>
          </a:prstGeom>
          <a:noFill/>
          <a:ln/>
        </p:spPr>
        <p:txBody>
          <a:bodyPr wrap="square" lIns="0" tIns="0" rIns="0" bIns="0" rtlCol="0" anchor="ctr"/>
          <a:lstStyle/>
          <a:p>
            <a:pPr indent="0" marL="0">
              <a:lnSpc>
                <a:spcPct val="92000"/>
              </a:lnSpc>
              <a:buNone/>
            </a:pPr>
            <a:r>
              <a:rPr lang="en-US" sz="930" dirty="0">
                <a:solidFill>
                  <a:srgbClr val="33414F"/>
                </a:solidFill>
                <a:latin typeface="Calibri" pitchFamily="34" charset="0"/>
                <a:ea typeface="Calibri" pitchFamily="34" charset="-122"/>
                <a:cs typeface="Calibri" pitchFamily="34" charset="-120"/>
              </a:rPr>
              <a:t>Embedded-insurance precedent</a:t>
            </a:r>
            <a:endParaRPr lang="en-US" sz="930" dirty="0"/>
          </a:p>
        </p:txBody>
      </p:sp>
      <p:sp>
        <p:nvSpPr>
          <p:cNvPr id="51" name="Shape 49"/>
          <p:cNvSpPr/>
          <p:nvPr/>
        </p:nvSpPr>
        <p:spPr>
          <a:xfrm>
            <a:off x="6949440" y="4572000"/>
            <a:ext cx="4602175" cy="0"/>
          </a:xfrm>
          <a:prstGeom prst="line">
            <a:avLst/>
          </a:prstGeom>
          <a:noFill/>
          <a:ln w="12700">
            <a:solidFill>
              <a:srgbClr val="E3E8EF"/>
            </a:solidFill>
            <a:prstDash val="solid"/>
          </a:ln>
        </p:spPr>
      </p:sp>
      <p:sp>
        <p:nvSpPr>
          <p:cNvPr id="52" name="Shape 50"/>
          <p:cNvSpPr/>
          <p:nvPr/>
        </p:nvSpPr>
        <p:spPr>
          <a:xfrm>
            <a:off x="9020419" y="4453128"/>
            <a:ext cx="1725816" cy="237744"/>
          </a:xfrm>
          <a:prstGeom prst="roundRect">
            <a:avLst>
              <a:gd name="adj" fmla="val 15385"/>
            </a:avLst>
          </a:prstGeom>
          <a:solidFill>
            <a:srgbClr val="0B2545"/>
          </a:solidFill>
          <a:ln/>
        </p:spPr>
      </p:sp>
      <p:sp>
        <p:nvSpPr>
          <p:cNvPr id="53" name="Text 51"/>
          <p:cNvSpPr/>
          <p:nvPr/>
        </p:nvSpPr>
        <p:spPr>
          <a:xfrm>
            <a:off x="6949440" y="4379976"/>
            <a:ext cx="4602175" cy="384048"/>
          </a:xfrm>
          <a:prstGeom prst="rect">
            <a:avLst/>
          </a:prstGeom>
          <a:noFill/>
          <a:ln/>
        </p:spPr>
        <p:txBody>
          <a:bodyPr wrap="square" lIns="0" tIns="0" rIns="0" bIns="0" rtlCol="0" anchor="ctr"/>
          <a:lstStyle/>
          <a:p>
            <a:pPr algn="r" indent="0" marL="0">
              <a:buNone/>
            </a:pPr>
            <a:r>
              <a:rPr lang="en-US" sz="850" b="1" dirty="0">
                <a:solidFill>
                  <a:srgbClr val="8A6B3C"/>
                </a:solidFill>
                <a:latin typeface="Calibri" pitchFamily="34" charset="0"/>
                <a:ea typeface="Calibri" pitchFamily="34" charset="-122"/>
                <a:cs typeface="Calibri" pitchFamily="34" charset="-120"/>
              </a:rPr>
              <a:t>Rs 180 to 330 Cr</a:t>
            </a:r>
            <a:endParaRPr lang="en-US" sz="850" dirty="0"/>
          </a:p>
        </p:txBody>
      </p:sp>
      <p:sp>
        <p:nvSpPr>
          <p:cNvPr id="54" name="Text 52"/>
          <p:cNvSpPr/>
          <p:nvPr/>
        </p:nvSpPr>
        <p:spPr>
          <a:xfrm>
            <a:off x="5120640" y="4764024"/>
            <a:ext cx="1755648" cy="384048"/>
          </a:xfrm>
          <a:prstGeom prst="rect">
            <a:avLst/>
          </a:prstGeom>
          <a:noFill/>
          <a:ln/>
        </p:spPr>
        <p:txBody>
          <a:bodyPr wrap="square" lIns="0" tIns="0" rIns="0" bIns="0" rtlCol="0" anchor="ctr"/>
          <a:lstStyle/>
          <a:p>
            <a:pPr indent="0" marL="0">
              <a:lnSpc>
                <a:spcPct val="92000"/>
              </a:lnSpc>
              <a:buNone/>
            </a:pPr>
            <a:r>
              <a:rPr lang="en-US" sz="930" dirty="0">
                <a:solidFill>
                  <a:srgbClr val="33414F"/>
                </a:solidFill>
                <a:latin typeface="Calibri" pitchFamily="34" charset="0"/>
                <a:ea typeface="Calibri" pitchFamily="34" charset="-122"/>
                <a:cs typeface="Calibri" pitchFamily="34" charset="-120"/>
              </a:rPr>
              <a:t>Venture step-up</a:t>
            </a:r>
            <a:endParaRPr lang="en-US" sz="930" dirty="0"/>
          </a:p>
        </p:txBody>
      </p:sp>
      <p:sp>
        <p:nvSpPr>
          <p:cNvPr id="55" name="Shape 53"/>
          <p:cNvSpPr/>
          <p:nvPr/>
        </p:nvSpPr>
        <p:spPr>
          <a:xfrm>
            <a:off x="6949440" y="4956048"/>
            <a:ext cx="4602175" cy="0"/>
          </a:xfrm>
          <a:prstGeom prst="line">
            <a:avLst/>
          </a:prstGeom>
          <a:noFill/>
          <a:ln w="12700">
            <a:solidFill>
              <a:srgbClr val="E3E8EF"/>
            </a:solidFill>
            <a:prstDash val="solid"/>
          </a:ln>
        </p:spPr>
      </p:sp>
      <p:sp>
        <p:nvSpPr>
          <p:cNvPr id="56" name="Shape 54"/>
          <p:cNvSpPr/>
          <p:nvPr/>
        </p:nvSpPr>
        <p:spPr>
          <a:xfrm>
            <a:off x="8790310" y="4837176"/>
            <a:ext cx="1150544" cy="237744"/>
          </a:xfrm>
          <a:prstGeom prst="roundRect">
            <a:avLst>
              <a:gd name="adj" fmla="val 15385"/>
            </a:avLst>
          </a:prstGeom>
          <a:solidFill>
            <a:srgbClr val="0B2545"/>
          </a:solidFill>
          <a:ln/>
        </p:spPr>
      </p:sp>
      <p:sp>
        <p:nvSpPr>
          <p:cNvPr id="57" name="Text 55"/>
          <p:cNvSpPr/>
          <p:nvPr/>
        </p:nvSpPr>
        <p:spPr>
          <a:xfrm>
            <a:off x="6949440" y="4764024"/>
            <a:ext cx="4602175" cy="384048"/>
          </a:xfrm>
          <a:prstGeom prst="rect">
            <a:avLst/>
          </a:prstGeom>
          <a:noFill/>
          <a:ln/>
        </p:spPr>
        <p:txBody>
          <a:bodyPr wrap="square" lIns="0" tIns="0" rIns="0" bIns="0" rtlCol="0" anchor="ctr"/>
          <a:lstStyle/>
          <a:p>
            <a:pPr algn="r" indent="0" marL="0">
              <a:buNone/>
            </a:pPr>
            <a:r>
              <a:rPr lang="en-US" sz="850" b="1" dirty="0">
                <a:solidFill>
                  <a:srgbClr val="8A6B3C"/>
                </a:solidFill>
                <a:latin typeface="Calibri" pitchFamily="34" charset="0"/>
                <a:ea typeface="Calibri" pitchFamily="34" charset="-122"/>
                <a:cs typeface="Calibri" pitchFamily="34" charset="-120"/>
              </a:rPr>
              <a:t>Rs 160 to 260 Cr</a:t>
            </a:r>
            <a:endParaRPr lang="en-US" sz="850" dirty="0"/>
          </a:p>
        </p:txBody>
      </p:sp>
      <p:sp>
        <p:nvSpPr>
          <p:cNvPr id="58" name="Text 56"/>
          <p:cNvSpPr/>
          <p:nvPr/>
        </p:nvSpPr>
        <p:spPr>
          <a:xfrm>
            <a:off x="6675120" y="5193792"/>
            <a:ext cx="548640" cy="182880"/>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0</a:t>
            </a:r>
            <a:endParaRPr lang="en-US" sz="750" dirty="0"/>
          </a:p>
        </p:txBody>
      </p:sp>
      <p:sp>
        <p:nvSpPr>
          <p:cNvPr id="59" name="Text 57"/>
          <p:cNvSpPr/>
          <p:nvPr/>
        </p:nvSpPr>
        <p:spPr>
          <a:xfrm>
            <a:off x="7825664" y="5193792"/>
            <a:ext cx="548640" cy="182880"/>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100</a:t>
            </a:r>
            <a:endParaRPr lang="en-US" sz="750" dirty="0"/>
          </a:p>
        </p:txBody>
      </p:sp>
      <p:sp>
        <p:nvSpPr>
          <p:cNvPr id="60" name="Text 58"/>
          <p:cNvSpPr/>
          <p:nvPr/>
        </p:nvSpPr>
        <p:spPr>
          <a:xfrm>
            <a:off x="8976208" y="5193792"/>
            <a:ext cx="548640" cy="182880"/>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200</a:t>
            </a:r>
            <a:endParaRPr lang="en-US" sz="750" dirty="0"/>
          </a:p>
        </p:txBody>
      </p:sp>
      <p:sp>
        <p:nvSpPr>
          <p:cNvPr id="61" name="Text 59"/>
          <p:cNvSpPr/>
          <p:nvPr/>
        </p:nvSpPr>
        <p:spPr>
          <a:xfrm>
            <a:off x="10126751" y="5193792"/>
            <a:ext cx="548640" cy="182880"/>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300</a:t>
            </a:r>
            <a:endParaRPr lang="en-US" sz="750" dirty="0"/>
          </a:p>
        </p:txBody>
      </p:sp>
      <p:sp>
        <p:nvSpPr>
          <p:cNvPr id="62" name="Text 60"/>
          <p:cNvSpPr/>
          <p:nvPr/>
        </p:nvSpPr>
        <p:spPr>
          <a:xfrm>
            <a:off x="11277295" y="5193792"/>
            <a:ext cx="548640" cy="182880"/>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400</a:t>
            </a:r>
            <a:endParaRPr lang="en-US" sz="750" dirty="0"/>
          </a:p>
        </p:txBody>
      </p:sp>
      <p:sp>
        <p:nvSpPr>
          <p:cNvPr id="63" name="Text 61"/>
          <p:cNvSpPr/>
          <p:nvPr/>
        </p:nvSpPr>
        <p:spPr>
          <a:xfrm>
            <a:off x="8492376" y="5376672"/>
            <a:ext cx="2091576" cy="182880"/>
          </a:xfrm>
          <a:prstGeom prst="rect">
            <a:avLst/>
          </a:prstGeom>
          <a:noFill/>
          <a:ln/>
        </p:spPr>
        <p:txBody>
          <a:bodyPr wrap="square" lIns="0" tIns="0" rIns="0" bIns="0" rtlCol="0" anchor="ctr"/>
          <a:lstStyle/>
          <a:p>
            <a:pPr algn="ctr" indent="0" marL="0">
              <a:buNone/>
            </a:pPr>
            <a:r>
              <a:rPr lang="en-US" sz="750" b="1" dirty="0">
                <a:solidFill>
                  <a:srgbClr val="8A6B3C"/>
                </a:solidFill>
                <a:latin typeface="Calibri" pitchFamily="34" charset="0"/>
                <a:ea typeface="Calibri" pitchFamily="34" charset="-122"/>
                <a:cs typeface="Calibri" pitchFamily="34" charset="-120"/>
              </a:rPr>
              <a:t>Recommended</a:t>
            </a:r>
            <a:endParaRPr lang="en-US" sz="750" dirty="0"/>
          </a:p>
        </p:txBody>
      </p:sp>
      <p:sp>
        <p:nvSpPr>
          <p:cNvPr id="64" name="Text 62"/>
          <p:cNvSpPr/>
          <p:nvPr/>
        </p:nvSpPr>
        <p:spPr>
          <a:xfrm>
            <a:off x="640080" y="6254496"/>
            <a:ext cx="10911535" cy="219456"/>
          </a:xfrm>
          <a:prstGeom prst="rect">
            <a:avLst/>
          </a:prstGeom>
          <a:noFill/>
          <a:ln/>
        </p:spPr>
        <p:txBody>
          <a:bodyPr wrap="square" lIns="0" tIns="0" rIns="0" bIns="0" rtlCol="0" anchor="ctr"/>
          <a:lstStyle/>
          <a:p>
            <a:pPr indent="0" marL="0">
              <a:buNone/>
            </a:pPr>
            <a:r>
              <a:rPr lang="en-US" sz="800" i="1" dirty="0">
                <a:solidFill>
                  <a:srgbClr val="7A8794"/>
                </a:solidFill>
                <a:latin typeface="Calibri" pitchFamily="34" charset="0"/>
                <a:ea typeface="Calibri" pitchFamily="34" charset="-122"/>
                <a:cs typeface="Calibri" pitchFamily="34" charset="-120"/>
              </a:rPr>
              <a:t>Source: Public funding data and precedent reporting. Ranges are illustrative and for framework purposes only; not a valuation opinion.</a:t>
            </a:r>
            <a:endParaRPr lang="en-US" sz="800" dirty="0"/>
          </a:p>
        </p:txBody>
      </p:sp>
      <p:sp>
        <p:nvSpPr>
          <p:cNvPr id="65" name="Text 63"/>
          <p:cNvSpPr/>
          <p:nvPr/>
        </p:nvSpPr>
        <p:spPr>
          <a:xfrm>
            <a:off x="640080" y="6492240"/>
            <a:ext cx="2743200" cy="237744"/>
          </a:xfrm>
          <a:prstGeom prst="rect">
            <a:avLst/>
          </a:prstGeom>
          <a:noFill/>
          <a:ln/>
        </p:spPr>
        <p:txBody>
          <a:bodyPr wrap="square" lIns="0" tIns="0" rIns="0" bIns="0" rtlCol="0" anchor="ctr"/>
          <a:lstStyle/>
          <a:p>
            <a:pPr indent="0" marL="0">
              <a:buNone/>
            </a:pPr>
            <a:r>
              <a:rPr lang="en-US" sz="750" b="1" spc="150" kern="0" dirty="0">
                <a:solidFill>
                  <a:srgbClr val="7A8794"/>
                </a:solidFill>
                <a:latin typeface="Calibri" pitchFamily="34" charset="0"/>
                <a:ea typeface="Calibri" pitchFamily="34" charset="-122"/>
                <a:cs typeface="Calibri" pitchFamily="34" charset="-120"/>
              </a:rPr>
              <a:t>PROJECT KEYSTONE</a:t>
            </a:r>
            <a:endParaRPr lang="en-US" sz="750" dirty="0"/>
          </a:p>
        </p:txBody>
      </p:sp>
      <p:sp>
        <p:nvSpPr>
          <p:cNvPr id="66" name="Text 64"/>
          <p:cNvSpPr/>
          <p:nvPr/>
        </p:nvSpPr>
        <p:spPr>
          <a:xfrm>
            <a:off x="3352648" y="6492240"/>
            <a:ext cx="5486400" cy="237744"/>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Strictly private and confidential  ·  Illustrative</a:t>
            </a:r>
            <a:endParaRPr lang="en-US" sz="750" dirty="0"/>
          </a:p>
        </p:txBody>
      </p:sp>
      <p:sp>
        <p:nvSpPr>
          <p:cNvPr id="67" name="Text 65"/>
          <p:cNvSpPr/>
          <p:nvPr/>
        </p:nvSpPr>
        <p:spPr>
          <a:xfrm>
            <a:off x="11094415" y="6492240"/>
            <a:ext cx="457200" cy="237744"/>
          </a:xfrm>
          <a:prstGeom prst="rect">
            <a:avLst/>
          </a:prstGeom>
          <a:noFill/>
          <a:ln/>
        </p:spPr>
        <p:txBody>
          <a:bodyPr wrap="square" lIns="0" tIns="0" rIns="0" bIns="0" rtlCol="0" anchor="ctr"/>
          <a:lstStyle/>
          <a:p>
            <a:pPr algn="r" indent="0" marL="0">
              <a:buNone/>
            </a:pPr>
            <a:r>
              <a:rPr lang="en-US" sz="850" dirty="0">
                <a:solidFill>
                  <a:srgbClr val="7A8794"/>
                </a:solidFill>
                <a:latin typeface="Calibri" pitchFamily="34" charset="0"/>
                <a:ea typeface="Calibri" pitchFamily="34" charset="-122"/>
                <a:cs typeface="Calibri" pitchFamily="34" charset="-120"/>
              </a:rPr>
              <a:t>15</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20" kern="0" dirty="0">
                <a:solidFill>
                  <a:srgbClr val="8A6B3C"/>
                </a:solidFill>
                <a:latin typeface="Calibri" pitchFamily="34" charset="0"/>
                <a:ea typeface="Calibri" pitchFamily="34" charset="-122"/>
                <a:cs typeface="Calibri" pitchFamily="34" charset="-120"/>
              </a:rPr>
              <a:t>DEAL STRUCTURE</a:t>
            </a:r>
            <a:endParaRPr lang="en-US" sz="1100" dirty="0"/>
          </a:p>
        </p:txBody>
      </p:sp>
      <p:sp>
        <p:nvSpPr>
          <p:cNvPr id="3" name="Text 1"/>
          <p:cNvSpPr/>
          <p:nvPr/>
        </p:nvSpPr>
        <p:spPr>
          <a:xfrm>
            <a:off x="8808415" y="402336"/>
            <a:ext cx="2743200" cy="237744"/>
          </a:xfrm>
          <a:prstGeom prst="rect">
            <a:avLst/>
          </a:prstGeom>
          <a:noFill/>
          <a:ln/>
        </p:spPr>
        <p:txBody>
          <a:bodyPr wrap="square" lIns="0" tIns="0" rIns="0" bIns="0" rtlCol="0" anchor="ctr"/>
          <a:lstStyle/>
          <a:p>
            <a:pPr algn="r" indent="0" marL="0">
              <a:buNone/>
            </a:pPr>
            <a:r>
              <a:rPr lang="en-US" sz="950" b="1" spc="100" kern="0" dirty="0">
                <a:solidFill>
                  <a:srgbClr val="8A6B3C"/>
                </a:solidFill>
                <a:latin typeface="Calibri" pitchFamily="34" charset="0"/>
                <a:ea typeface="Calibri" pitchFamily="34" charset="-122"/>
                <a:cs typeface="Calibri" pitchFamily="34" charset="-120"/>
              </a:rPr>
              <a:t>Exhibit 9</a:t>
            </a:r>
            <a:endParaRPr lang="en-US" sz="950" dirty="0"/>
          </a:p>
        </p:txBody>
      </p:sp>
      <p:sp>
        <p:nvSpPr>
          <p:cNvPr id="4" name="Text 2"/>
          <p:cNvSpPr/>
          <p:nvPr/>
        </p:nvSpPr>
        <p:spPr>
          <a:xfrm>
            <a:off x="640080" y="658368"/>
            <a:ext cx="10911535" cy="566928"/>
          </a:xfrm>
          <a:prstGeom prst="rect">
            <a:avLst/>
          </a:prstGeom>
          <a:noFill/>
          <a:ln/>
        </p:spPr>
        <p:txBody>
          <a:bodyPr wrap="square" lIns="0" tIns="0" rIns="0" bIns="0" rtlCol="0" anchor="t"/>
          <a:lstStyle/>
          <a:p>
            <a:pPr indent="0" marL="0">
              <a:lnSpc>
                <a:spcPct val="98000"/>
              </a:lnSpc>
              <a:buNone/>
            </a:pPr>
            <a:r>
              <a:rPr lang="en-US" sz="2500" b="1" dirty="0">
                <a:solidFill>
                  <a:srgbClr val="0B2545"/>
                </a:solidFill>
                <a:latin typeface="Cambria" pitchFamily="34" charset="0"/>
                <a:ea typeface="Cambria" pitchFamily="34" charset="-122"/>
                <a:cs typeface="Cambria" pitchFamily="34" charset="-120"/>
              </a:rPr>
              <a:t>An illustrative, stock-led structure protects the balance sheet</a:t>
            </a:r>
            <a:endParaRPr lang="en-US" sz="2500" dirty="0"/>
          </a:p>
        </p:txBody>
      </p:sp>
      <p:sp>
        <p:nvSpPr>
          <p:cNvPr id="5" name="Text 3"/>
          <p:cNvSpPr/>
          <p:nvPr/>
        </p:nvSpPr>
        <p:spPr>
          <a:xfrm>
            <a:off x="640080" y="1481328"/>
            <a:ext cx="3657600" cy="274320"/>
          </a:xfrm>
          <a:prstGeom prst="rect">
            <a:avLst/>
          </a:prstGeom>
          <a:noFill/>
          <a:ln/>
        </p:spPr>
        <p:txBody>
          <a:bodyPr wrap="square" lIns="0" tIns="0" rIns="0" bIns="0" rtlCol="0" anchor="ctr"/>
          <a:lstStyle/>
          <a:p>
            <a:pPr indent="0" marL="0">
              <a:buNone/>
            </a:pPr>
            <a:r>
              <a:rPr lang="en-US" sz="1350" b="1" dirty="0">
                <a:solidFill>
                  <a:srgbClr val="0B2545"/>
                </a:solidFill>
                <a:latin typeface="Cambria" pitchFamily="34" charset="0"/>
                <a:ea typeface="Cambria" pitchFamily="34" charset="-122"/>
                <a:cs typeface="Cambria" pitchFamily="34" charset="-120"/>
              </a:rPr>
              <a:t>Illustrative funding mix</a:t>
            </a:r>
            <a:endParaRPr lang="en-US" sz="1350" dirty="0"/>
          </a:p>
        </p:txBody>
      </p:sp>
      <p:graphicFrame>
        <p:nvGraphicFramePr>
          <p:cNvPr id="6" name="Chart 0" descr=""/>
          <p:cNvGraphicFramePr/>
          <p:nvPr/>
        </p:nvGraphicFramePr>
        <p:xfrm>
          <a:off x="548640" y="1828800"/>
          <a:ext cx="3657600" cy="24688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640080" y="4334256"/>
            <a:ext cx="3657600" cy="365760"/>
          </a:xfrm>
          <a:prstGeom prst="rect">
            <a:avLst/>
          </a:prstGeom>
          <a:noFill/>
          <a:ln/>
        </p:spPr>
        <p:txBody>
          <a:bodyPr wrap="square" lIns="0" tIns="0" rIns="0" bIns="0" rtlCol="0" anchor="t"/>
          <a:lstStyle/>
          <a:p>
            <a:pPr algn="ctr" indent="0" marL="0">
              <a:lnSpc>
                <a:spcPct val="100000"/>
              </a:lnSpc>
              <a:buNone/>
            </a:pPr>
            <a:r>
              <a:rPr lang="en-US" sz="950" i="1" dirty="0">
                <a:solidFill>
                  <a:srgbClr val="7A8794"/>
                </a:solidFill>
                <a:latin typeface="Calibri" pitchFamily="34" charset="0"/>
                <a:ea typeface="Calibri" pitchFamily="34" charset="-122"/>
                <a:cs typeface="Calibri" pitchFamily="34" charset="-120"/>
              </a:rPr>
              <a:t>Cash-light to hold the buffer above a defined floor.</a:t>
            </a:r>
            <a:endParaRPr lang="en-US" sz="950" dirty="0"/>
          </a:p>
        </p:txBody>
      </p:sp>
      <p:sp>
        <p:nvSpPr>
          <p:cNvPr id="8" name="Text 5"/>
          <p:cNvSpPr/>
          <p:nvPr/>
        </p:nvSpPr>
        <p:spPr>
          <a:xfrm>
            <a:off x="4754880" y="1481328"/>
            <a:ext cx="6796735" cy="274320"/>
          </a:xfrm>
          <a:prstGeom prst="rect">
            <a:avLst/>
          </a:prstGeom>
          <a:noFill/>
          <a:ln/>
        </p:spPr>
        <p:txBody>
          <a:bodyPr wrap="square" lIns="0" tIns="0" rIns="0" bIns="0" rtlCol="0" anchor="ctr"/>
          <a:lstStyle/>
          <a:p>
            <a:pPr indent="0" marL="0">
              <a:buNone/>
            </a:pPr>
            <a:r>
              <a:rPr lang="en-US" sz="1350" b="1" dirty="0">
                <a:solidFill>
                  <a:srgbClr val="0B2545"/>
                </a:solidFill>
                <a:latin typeface="Cambria" pitchFamily="34" charset="0"/>
                <a:ea typeface="Cambria" pitchFamily="34" charset="-122"/>
                <a:cs typeface="Cambria" pitchFamily="34" charset="-120"/>
              </a:rPr>
              <a:t>Illustrative sources and uses, combined programme (Rs Cr)</a:t>
            </a:r>
            <a:endParaRPr lang="en-US" sz="1350" dirty="0"/>
          </a:p>
        </p:txBody>
      </p:sp>
      <p:sp>
        <p:nvSpPr>
          <p:cNvPr id="9" name="Shape 6"/>
          <p:cNvSpPr/>
          <p:nvPr/>
        </p:nvSpPr>
        <p:spPr>
          <a:xfrm>
            <a:off x="4754880" y="1901952"/>
            <a:ext cx="3261208" cy="384048"/>
          </a:xfrm>
          <a:prstGeom prst="rect">
            <a:avLst/>
          </a:prstGeom>
          <a:solidFill>
            <a:srgbClr val="0B2545"/>
          </a:solidFill>
          <a:ln/>
        </p:spPr>
      </p:sp>
      <p:sp>
        <p:nvSpPr>
          <p:cNvPr id="10" name="Text 7"/>
          <p:cNvSpPr/>
          <p:nvPr/>
        </p:nvSpPr>
        <p:spPr>
          <a:xfrm>
            <a:off x="4901184" y="1901952"/>
            <a:ext cx="2986888"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Uses</a:t>
            </a:r>
            <a:endParaRPr lang="en-US" sz="1100" dirty="0"/>
          </a:p>
        </p:txBody>
      </p:sp>
      <p:sp>
        <p:nvSpPr>
          <p:cNvPr id="11" name="Shape 8"/>
          <p:cNvSpPr/>
          <p:nvPr/>
        </p:nvSpPr>
        <p:spPr>
          <a:xfrm>
            <a:off x="4754880" y="2286000"/>
            <a:ext cx="3261208" cy="457200"/>
          </a:xfrm>
          <a:prstGeom prst="rect">
            <a:avLst/>
          </a:prstGeom>
          <a:solidFill>
            <a:srgbClr val="F4F6F9"/>
          </a:solidFill>
          <a:ln w="9525">
            <a:solidFill>
              <a:srgbClr val="DCE3EB"/>
            </a:solidFill>
            <a:prstDash val="solid"/>
          </a:ln>
        </p:spPr>
      </p:sp>
      <p:sp>
        <p:nvSpPr>
          <p:cNvPr id="12" name="Text 9"/>
          <p:cNvSpPr/>
          <p:nvPr/>
        </p:nvSpPr>
        <p:spPr>
          <a:xfrm>
            <a:off x="4901184" y="2286000"/>
            <a:ext cx="2346808" cy="457200"/>
          </a:xfrm>
          <a:prstGeom prst="rect">
            <a:avLst/>
          </a:prstGeom>
          <a:noFill/>
          <a:ln/>
        </p:spPr>
        <p:txBody>
          <a:bodyPr wrap="square" lIns="0" tIns="0" rIns="0" bIns="0" rtlCol="0" anchor="ctr"/>
          <a:lstStyle/>
          <a:p>
            <a:pPr indent="0" marL="0">
              <a:lnSpc>
                <a:spcPct val="95000"/>
              </a:lnSpc>
              <a:buNone/>
            </a:pPr>
            <a:r>
              <a:rPr lang="en-US" sz="1030" dirty="0">
                <a:solidFill>
                  <a:srgbClr val="3D4A57"/>
                </a:solidFill>
                <a:latin typeface="Calibri" pitchFamily="34" charset="0"/>
                <a:ea typeface="Calibri" pitchFamily="34" charset="-122"/>
                <a:cs typeface="Calibri" pitchFamily="34" charset="-120"/>
              </a:rPr>
              <a:t>Blostem, control stake</a:t>
            </a:r>
            <a:endParaRPr lang="en-US" sz="1030" dirty="0"/>
          </a:p>
        </p:txBody>
      </p:sp>
      <p:sp>
        <p:nvSpPr>
          <p:cNvPr id="13" name="Text 10"/>
          <p:cNvSpPr/>
          <p:nvPr/>
        </p:nvSpPr>
        <p:spPr>
          <a:xfrm>
            <a:off x="7156552" y="2286000"/>
            <a:ext cx="731520" cy="457200"/>
          </a:xfrm>
          <a:prstGeom prst="rect">
            <a:avLst/>
          </a:prstGeom>
          <a:noFill/>
          <a:ln/>
        </p:spPr>
        <p:txBody>
          <a:bodyPr wrap="square" lIns="0" tIns="0" rIns="0" bIns="0" rtlCol="0" anchor="ctr"/>
          <a:lstStyle/>
          <a:p>
            <a:pPr algn="r" indent="0" marL="0">
              <a:buNone/>
            </a:pPr>
            <a:r>
              <a:rPr lang="en-US" sz="1050" b="1" dirty="0">
                <a:solidFill>
                  <a:srgbClr val="0B2545"/>
                </a:solidFill>
                <a:latin typeface="Calibri" pitchFamily="34" charset="0"/>
                <a:ea typeface="Calibri" pitchFamily="34" charset="-122"/>
                <a:cs typeface="Calibri" pitchFamily="34" charset="-120"/>
              </a:rPr>
              <a:t>70</a:t>
            </a:r>
            <a:endParaRPr lang="en-US" sz="1050" dirty="0"/>
          </a:p>
        </p:txBody>
      </p:sp>
      <p:sp>
        <p:nvSpPr>
          <p:cNvPr id="14" name="Shape 11"/>
          <p:cNvSpPr/>
          <p:nvPr/>
        </p:nvSpPr>
        <p:spPr>
          <a:xfrm>
            <a:off x="4754880" y="2743200"/>
            <a:ext cx="3261208" cy="457200"/>
          </a:xfrm>
          <a:prstGeom prst="rect">
            <a:avLst/>
          </a:prstGeom>
          <a:solidFill>
            <a:srgbClr val="FFFFFF"/>
          </a:solidFill>
          <a:ln w="9525">
            <a:solidFill>
              <a:srgbClr val="DCE3EB"/>
            </a:solidFill>
            <a:prstDash val="solid"/>
          </a:ln>
        </p:spPr>
      </p:sp>
      <p:sp>
        <p:nvSpPr>
          <p:cNvPr id="15" name="Text 12"/>
          <p:cNvSpPr/>
          <p:nvPr/>
        </p:nvSpPr>
        <p:spPr>
          <a:xfrm>
            <a:off x="4901184" y="2743200"/>
            <a:ext cx="2346808" cy="457200"/>
          </a:xfrm>
          <a:prstGeom prst="rect">
            <a:avLst/>
          </a:prstGeom>
          <a:noFill/>
          <a:ln/>
        </p:spPr>
        <p:txBody>
          <a:bodyPr wrap="square" lIns="0" tIns="0" rIns="0" bIns="0" rtlCol="0" anchor="ctr"/>
          <a:lstStyle/>
          <a:p>
            <a:pPr indent="0" marL="0">
              <a:lnSpc>
                <a:spcPct val="95000"/>
              </a:lnSpc>
              <a:buNone/>
            </a:pPr>
            <a:r>
              <a:rPr lang="en-US" sz="1030" dirty="0">
                <a:solidFill>
                  <a:srgbClr val="3D4A57"/>
                </a:solidFill>
                <a:latin typeface="Calibri" pitchFamily="34" charset="0"/>
                <a:ea typeface="Calibri" pitchFamily="34" charset="-122"/>
                <a:cs typeface="Calibri" pitchFamily="34" charset="-120"/>
              </a:rPr>
              <a:t>Riskcovry, control</a:t>
            </a:r>
            <a:endParaRPr lang="en-US" sz="1030" dirty="0"/>
          </a:p>
        </p:txBody>
      </p:sp>
      <p:sp>
        <p:nvSpPr>
          <p:cNvPr id="16" name="Text 13"/>
          <p:cNvSpPr/>
          <p:nvPr/>
        </p:nvSpPr>
        <p:spPr>
          <a:xfrm>
            <a:off x="7156552" y="2743200"/>
            <a:ext cx="731520" cy="457200"/>
          </a:xfrm>
          <a:prstGeom prst="rect">
            <a:avLst/>
          </a:prstGeom>
          <a:noFill/>
          <a:ln/>
        </p:spPr>
        <p:txBody>
          <a:bodyPr wrap="square" lIns="0" tIns="0" rIns="0" bIns="0" rtlCol="0" anchor="ctr"/>
          <a:lstStyle/>
          <a:p>
            <a:pPr algn="r" indent="0" marL="0">
              <a:buNone/>
            </a:pPr>
            <a:r>
              <a:rPr lang="en-US" sz="1050" b="1" dirty="0">
                <a:solidFill>
                  <a:srgbClr val="0B2545"/>
                </a:solidFill>
                <a:latin typeface="Calibri" pitchFamily="34" charset="0"/>
                <a:ea typeface="Calibri" pitchFamily="34" charset="-122"/>
                <a:cs typeface="Calibri" pitchFamily="34" charset="-120"/>
              </a:rPr>
              <a:t>230</a:t>
            </a:r>
            <a:endParaRPr lang="en-US" sz="1050" dirty="0"/>
          </a:p>
        </p:txBody>
      </p:sp>
      <p:sp>
        <p:nvSpPr>
          <p:cNvPr id="17" name="Shape 14"/>
          <p:cNvSpPr/>
          <p:nvPr/>
        </p:nvSpPr>
        <p:spPr>
          <a:xfrm>
            <a:off x="4754880" y="3200400"/>
            <a:ext cx="3261208" cy="457200"/>
          </a:xfrm>
          <a:prstGeom prst="rect">
            <a:avLst/>
          </a:prstGeom>
          <a:solidFill>
            <a:srgbClr val="F4F6F9"/>
          </a:solidFill>
          <a:ln w="9525">
            <a:solidFill>
              <a:srgbClr val="DCE3EB"/>
            </a:solidFill>
            <a:prstDash val="solid"/>
          </a:ln>
        </p:spPr>
      </p:sp>
      <p:sp>
        <p:nvSpPr>
          <p:cNvPr id="18" name="Text 15"/>
          <p:cNvSpPr/>
          <p:nvPr/>
        </p:nvSpPr>
        <p:spPr>
          <a:xfrm>
            <a:off x="4901184" y="3200400"/>
            <a:ext cx="2346808" cy="457200"/>
          </a:xfrm>
          <a:prstGeom prst="rect">
            <a:avLst/>
          </a:prstGeom>
          <a:noFill/>
          <a:ln/>
        </p:spPr>
        <p:txBody>
          <a:bodyPr wrap="square" lIns="0" tIns="0" rIns="0" bIns="0" rtlCol="0" anchor="ctr"/>
          <a:lstStyle/>
          <a:p>
            <a:pPr indent="0" marL="0">
              <a:lnSpc>
                <a:spcPct val="95000"/>
              </a:lnSpc>
              <a:buNone/>
            </a:pPr>
            <a:r>
              <a:rPr lang="en-US" sz="1030" dirty="0">
                <a:solidFill>
                  <a:srgbClr val="3D4A57"/>
                </a:solidFill>
                <a:latin typeface="Calibri" pitchFamily="34" charset="0"/>
                <a:ea typeface="Calibri" pitchFamily="34" charset="-122"/>
                <a:cs typeface="Calibri" pitchFamily="34" charset="-120"/>
              </a:rPr>
              <a:t>Transaction and integration</a:t>
            </a:r>
            <a:endParaRPr lang="en-US" sz="1030" dirty="0"/>
          </a:p>
        </p:txBody>
      </p:sp>
      <p:sp>
        <p:nvSpPr>
          <p:cNvPr id="19" name="Text 16"/>
          <p:cNvSpPr/>
          <p:nvPr/>
        </p:nvSpPr>
        <p:spPr>
          <a:xfrm>
            <a:off x="7156552" y="3200400"/>
            <a:ext cx="731520" cy="457200"/>
          </a:xfrm>
          <a:prstGeom prst="rect">
            <a:avLst/>
          </a:prstGeom>
          <a:noFill/>
          <a:ln/>
        </p:spPr>
        <p:txBody>
          <a:bodyPr wrap="square" lIns="0" tIns="0" rIns="0" bIns="0" rtlCol="0" anchor="ctr"/>
          <a:lstStyle/>
          <a:p>
            <a:pPr algn="r" indent="0" marL="0">
              <a:buNone/>
            </a:pPr>
            <a:r>
              <a:rPr lang="en-US" sz="1050" b="1" dirty="0">
                <a:solidFill>
                  <a:srgbClr val="0B2545"/>
                </a:solidFill>
                <a:latin typeface="Calibri" pitchFamily="34" charset="0"/>
                <a:ea typeface="Calibri" pitchFamily="34" charset="-122"/>
                <a:cs typeface="Calibri" pitchFamily="34" charset="-120"/>
              </a:rPr>
              <a:t>20</a:t>
            </a:r>
            <a:endParaRPr lang="en-US" sz="1050" dirty="0"/>
          </a:p>
        </p:txBody>
      </p:sp>
      <p:sp>
        <p:nvSpPr>
          <p:cNvPr id="20" name="Shape 17"/>
          <p:cNvSpPr/>
          <p:nvPr/>
        </p:nvSpPr>
        <p:spPr>
          <a:xfrm>
            <a:off x="4754880" y="3657600"/>
            <a:ext cx="3261208" cy="420624"/>
          </a:xfrm>
          <a:prstGeom prst="rect">
            <a:avLst/>
          </a:prstGeom>
          <a:solidFill>
            <a:srgbClr val="F7F2E9"/>
          </a:solidFill>
          <a:ln/>
        </p:spPr>
      </p:sp>
      <p:sp>
        <p:nvSpPr>
          <p:cNvPr id="21" name="Text 18"/>
          <p:cNvSpPr/>
          <p:nvPr/>
        </p:nvSpPr>
        <p:spPr>
          <a:xfrm>
            <a:off x="4901184" y="3657600"/>
            <a:ext cx="2346808" cy="420624"/>
          </a:xfrm>
          <a:prstGeom prst="rect">
            <a:avLst/>
          </a:prstGeom>
          <a:noFill/>
          <a:ln/>
        </p:spPr>
        <p:txBody>
          <a:bodyPr wrap="square" lIns="0" tIns="0" rIns="0" bIns="0" rtlCol="0" anchor="ctr"/>
          <a:lstStyle/>
          <a:p>
            <a:pPr indent="0" marL="0">
              <a:buNone/>
            </a:pPr>
            <a:r>
              <a:rPr lang="en-US" sz="1050" b="1" dirty="0">
                <a:solidFill>
                  <a:srgbClr val="8A6B3C"/>
                </a:solidFill>
                <a:latin typeface="Calibri" pitchFamily="34" charset="0"/>
                <a:ea typeface="Calibri" pitchFamily="34" charset="-122"/>
                <a:cs typeface="Calibri" pitchFamily="34" charset="-120"/>
              </a:rPr>
              <a:t>Total</a:t>
            </a:r>
            <a:endParaRPr lang="en-US" sz="1050" dirty="0"/>
          </a:p>
        </p:txBody>
      </p:sp>
      <p:sp>
        <p:nvSpPr>
          <p:cNvPr id="22" name="Text 19"/>
          <p:cNvSpPr/>
          <p:nvPr/>
        </p:nvSpPr>
        <p:spPr>
          <a:xfrm>
            <a:off x="7156552" y="3657600"/>
            <a:ext cx="731520" cy="420624"/>
          </a:xfrm>
          <a:prstGeom prst="rect">
            <a:avLst/>
          </a:prstGeom>
          <a:noFill/>
          <a:ln/>
        </p:spPr>
        <p:txBody>
          <a:bodyPr wrap="square" lIns="0" tIns="0" rIns="0" bIns="0" rtlCol="0" anchor="ctr"/>
          <a:lstStyle/>
          <a:p>
            <a:pPr algn="r" indent="0" marL="0">
              <a:buNone/>
            </a:pPr>
            <a:r>
              <a:rPr lang="en-US" sz="1100" b="1" dirty="0">
                <a:solidFill>
                  <a:srgbClr val="8A6B3C"/>
                </a:solidFill>
                <a:latin typeface="Calibri" pitchFamily="34" charset="0"/>
                <a:ea typeface="Calibri" pitchFamily="34" charset="-122"/>
                <a:cs typeface="Calibri" pitchFamily="34" charset="-120"/>
              </a:rPr>
              <a:t>320</a:t>
            </a:r>
            <a:endParaRPr lang="en-US" sz="1100" dirty="0"/>
          </a:p>
        </p:txBody>
      </p:sp>
      <p:sp>
        <p:nvSpPr>
          <p:cNvPr id="23" name="Shape 20"/>
          <p:cNvSpPr/>
          <p:nvPr/>
        </p:nvSpPr>
        <p:spPr>
          <a:xfrm>
            <a:off x="8290408" y="1901952"/>
            <a:ext cx="3261208" cy="384048"/>
          </a:xfrm>
          <a:prstGeom prst="rect">
            <a:avLst/>
          </a:prstGeom>
          <a:solidFill>
            <a:srgbClr val="0B2545"/>
          </a:solidFill>
          <a:ln/>
        </p:spPr>
      </p:sp>
      <p:sp>
        <p:nvSpPr>
          <p:cNvPr id="24" name="Text 21"/>
          <p:cNvSpPr/>
          <p:nvPr/>
        </p:nvSpPr>
        <p:spPr>
          <a:xfrm>
            <a:off x="8436712" y="1901952"/>
            <a:ext cx="2986888"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Sources</a:t>
            </a:r>
            <a:endParaRPr lang="en-US" sz="1100" dirty="0"/>
          </a:p>
        </p:txBody>
      </p:sp>
      <p:sp>
        <p:nvSpPr>
          <p:cNvPr id="25" name="Shape 22"/>
          <p:cNvSpPr/>
          <p:nvPr/>
        </p:nvSpPr>
        <p:spPr>
          <a:xfrm>
            <a:off x="8290408" y="2286000"/>
            <a:ext cx="3261208" cy="457200"/>
          </a:xfrm>
          <a:prstGeom prst="rect">
            <a:avLst/>
          </a:prstGeom>
          <a:solidFill>
            <a:srgbClr val="F4F6F9"/>
          </a:solidFill>
          <a:ln w="9525">
            <a:solidFill>
              <a:srgbClr val="DCE3EB"/>
            </a:solidFill>
            <a:prstDash val="solid"/>
          </a:ln>
        </p:spPr>
      </p:sp>
      <p:sp>
        <p:nvSpPr>
          <p:cNvPr id="26" name="Text 23"/>
          <p:cNvSpPr/>
          <p:nvPr/>
        </p:nvSpPr>
        <p:spPr>
          <a:xfrm>
            <a:off x="8436712" y="2286000"/>
            <a:ext cx="2346808" cy="457200"/>
          </a:xfrm>
          <a:prstGeom prst="rect">
            <a:avLst/>
          </a:prstGeom>
          <a:noFill/>
          <a:ln/>
        </p:spPr>
        <p:txBody>
          <a:bodyPr wrap="square" lIns="0" tIns="0" rIns="0" bIns="0" rtlCol="0" anchor="ctr"/>
          <a:lstStyle/>
          <a:p>
            <a:pPr indent="0" marL="0">
              <a:lnSpc>
                <a:spcPct val="95000"/>
              </a:lnSpc>
              <a:buNone/>
            </a:pPr>
            <a:r>
              <a:rPr lang="en-US" sz="1030" dirty="0">
                <a:solidFill>
                  <a:srgbClr val="3D4A57"/>
                </a:solidFill>
                <a:latin typeface="Calibri" pitchFamily="34" charset="0"/>
                <a:ea typeface="Calibri" pitchFamily="34" charset="-122"/>
                <a:cs typeface="Calibri" pitchFamily="34" charset="-120"/>
              </a:rPr>
              <a:t>New equity (stock)</a:t>
            </a:r>
            <a:endParaRPr lang="en-US" sz="1030" dirty="0"/>
          </a:p>
        </p:txBody>
      </p:sp>
      <p:sp>
        <p:nvSpPr>
          <p:cNvPr id="27" name="Text 24"/>
          <p:cNvSpPr/>
          <p:nvPr/>
        </p:nvSpPr>
        <p:spPr>
          <a:xfrm>
            <a:off x="10692079" y="2286000"/>
            <a:ext cx="731520" cy="457200"/>
          </a:xfrm>
          <a:prstGeom prst="rect">
            <a:avLst/>
          </a:prstGeom>
          <a:noFill/>
          <a:ln/>
        </p:spPr>
        <p:txBody>
          <a:bodyPr wrap="square" lIns="0" tIns="0" rIns="0" bIns="0" rtlCol="0" anchor="ctr"/>
          <a:lstStyle/>
          <a:p>
            <a:pPr algn="r" indent="0" marL="0">
              <a:buNone/>
            </a:pPr>
            <a:r>
              <a:rPr lang="en-US" sz="1050" b="1" dirty="0">
                <a:solidFill>
                  <a:srgbClr val="0B2545"/>
                </a:solidFill>
                <a:latin typeface="Calibri" pitchFamily="34" charset="0"/>
                <a:ea typeface="Calibri" pitchFamily="34" charset="-122"/>
                <a:cs typeface="Calibri" pitchFamily="34" charset="-120"/>
              </a:rPr>
              <a:t>224</a:t>
            </a:r>
            <a:endParaRPr lang="en-US" sz="1050" dirty="0"/>
          </a:p>
        </p:txBody>
      </p:sp>
      <p:sp>
        <p:nvSpPr>
          <p:cNvPr id="28" name="Shape 25"/>
          <p:cNvSpPr/>
          <p:nvPr/>
        </p:nvSpPr>
        <p:spPr>
          <a:xfrm>
            <a:off x="8290408" y="2743200"/>
            <a:ext cx="3261208" cy="457200"/>
          </a:xfrm>
          <a:prstGeom prst="rect">
            <a:avLst/>
          </a:prstGeom>
          <a:solidFill>
            <a:srgbClr val="FFFFFF"/>
          </a:solidFill>
          <a:ln w="9525">
            <a:solidFill>
              <a:srgbClr val="DCE3EB"/>
            </a:solidFill>
            <a:prstDash val="solid"/>
          </a:ln>
        </p:spPr>
      </p:sp>
      <p:sp>
        <p:nvSpPr>
          <p:cNvPr id="29" name="Text 26"/>
          <p:cNvSpPr/>
          <p:nvPr/>
        </p:nvSpPr>
        <p:spPr>
          <a:xfrm>
            <a:off x="8436712" y="2743200"/>
            <a:ext cx="2346808" cy="457200"/>
          </a:xfrm>
          <a:prstGeom prst="rect">
            <a:avLst/>
          </a:prstGeom>
          <a:noFill/>
          <a:ln/>
        </p:spPr>
        <p:txBody>
          <a:bodyPr wrap="square" lIns="0" tIns="0" rIns="0" bIns="0" rtlCol="0" anchor="ctr"/>
          <a:lstStyle/>
          <a:p>
            <a:pPr indent="0" marL="0">
              <a:lnSpc>
                <a:spcPct val="95000"/>
              </a:lnSpc>
              <a:buNone/>
            </a:pPr>
            <a:r>
              <a:rPr lang="en-US" sz="1030" dirty="0">
                <a:solidFill>
                  <a:srgbClr val="3D4A57"/>
                </a:solidFill>
                <a:latin typeface="Calibri" pitchFamily="34" charset="0"/>
                <a:ea typeface="Calibri" pitchFamily="34" charset="-122"/>
                <a:cs typeface="Calibri" pitchFamily="34" charset="-120"/>
              </a:rPr>
              <a:t>Cash on balance sheet</a:t>
            </a:r>
            <a:endParaRPr lang="en-US" sz="1030" dirty="0"/>
          </a:p>
        </p:txBody>
      </p:sp>
      <p:sp>
        <p:nvSpPr>
          <p:cNvPr id="30" name="Text 27"/>
          <p:cNvSpPr/>
          <p:nvPr/>
        </p:nvSpPr>
        <p:spPr>
          <a:xfrm>
            <a:off x="10692079" y="2743200"/>
            <a:ext cx="731520" cy="457200"/>
          </a:xfrm>
          <a:prstGeom prst="rect">
            <a:avLst/>
          </a:prstGeom>
          <a:noFill/>
          <a:ln/>
        </p:spPr>
        <p:txBody>
          <a:bodyPr wrap="square" lIns="0" tIns="0" rIns="0" bIns="0" rtlCol="0" anchor="ctr"/>
          <a:lstStyle/>
          <a:p>
            <a:pPr algn="r" indent="0" marL="0">
              <a:buNone/>
            </a:pPr>
            <a:r>
              <a:rPr lang="en-US" sz="1050" b="1" dirty="0">
                <a:solidFill>
                  <a:srgbClr val="0B2545"/>
                </a:solidFill>
                <a:latin typeface="Calibri" pitchFamily="34" charset="0"/>
                <a:ea typeface="Calibri" pitchFamily="34" charset="-122"/>
                <a:cs typeface="Calibri" pitchFamily="34" charset="-120"/>
              </a:rPr>
              <a:t>58</a:t>
            </a:r>
            <a:endParaRPr lang="en-US" sz="1050" dirty="0"/>
          </a:p>
        </p:txBody>
      </p:sp>
      <p:sp>
        <p:nvSpPr>
          <p:cNvPr id="31" name="Shape 28"/>
          <p:cNvSpPr/>
          <p:nvPr/>
        </p:nvSpPr>
        <p:spPr>
          <a:xfrm>
            <a:off x="8290408" y="3200400"/>
            <a:ext cx="3261208" cy="457200"/>
          </a:xfrm>
          <a:prstGeom prst="rect">
            <a:avLst/>
          </a:prstGeom>
          <a:solidFill>
            <a:srgbClr val="F4F6F9"/>
          </a:solidFill>
          <a:ln w="9525">
            <a:solidFill>
              <a:srgbClr val="DCE3EB"/>
            </a:solidFill>
            <a:prstDash val="solid"/>
          </a:ln>
        </p:spPr>
      </p:sp>
      <p:sp>
        <p:nvSpPr>
          <p:cNvPr id="32" name="Text 29"/>
          <p:cNvSpPr/>
          <p:nvPr/>
        </p:nvSpPr>
        <p:spPr>
          <a:xfrm>
            <a:off x="8436712" y="3200400"/>
            <a:ext cx="2346808" cy="457200"/>
          </a:xfrm>
          <a:prstGeom prst="rect">
            <a:avLst/>
          </a:prstGeom>
          <a:noFill/>
          <a:ln/>
        </p:spPr>
        <p:txBody>
          <a:bodyPr wrap="square" lIns="0" tIns="0" rIns="0" bIns="0" rtlCol="0" anchor="ctr"/>
          <a:lstStyle/>
          <a:p>
            <a:pPr indent="0" marL="0">
              <a:lnSpc>
                <a:spcPct val="95000"/>
              </a:lnSpc>
              <a:buNone/>
            </a:pPr>
            <a:r>
              <a:rPr lang="en-US" sz="1030" dirty="0">
                <a:solidFill>
                  <a:srgbClr val="3D4A57"/>
                </a:solidFill>
                <a:latin typeface="Calibri" pitchFamily="34" charset="0"/>
                <a:ea typeface="Calibri" pitchFamily="34" charset="-122"/>
                <a:cs typeface="Calibri" pitchFamily="34" charset="-120"/>
              </a:rPr>
              <a:t>Earnout / deferred</a:t>
            </a:r>
            <a:endParaRPr lang="en-US" sz="1030" dirty="0"/>
          </a:p>
        </p:txBody>
      </p:sp>
      <p:sp>
        <p:nvSpPr>
          <p:cNvPr id="33" name="Text 30"/>
          <p:cNvSpPr/>
          <p:nvPr/>
        </p:nvSpPr>
        <p:spPr>
          <a:xfrm>
            <a:off x="10692079" y="3200400"/>
            <a:ext cx="731520" cy="457200"/>
          </a:xfrm>
          <a:prstGeom prst="rect">
            <a:avLst/>
          </a:prstGeom>
          <a:noFill/>
          <a:ln/>
        </p:spPr>
        <p:txBody>
          <a:bodyPr wrap="square" lIns="0" tIns="0" rIns="0" bIns="0" rtlCol="0" anchor="ctr"/>
          <a:lstStyle/>
          <a:p>
            <a:pPr algn="r" indent="0" marL="0">
              <a:buNone/>
            </a:pPr>
            <a:r>
              <a:rPr lang="en-US" sz="1050" b="1" dirty="0">
                <a:solidFill>
                  <a:srgbClr val="0B2545"/>
                </a:solidFill>
                <a:latin typeface="Calibri" pitchFamily="34" charset="0"/>
                <a:ea typeface="Calibri" pitchFamily="34" charset="-122"/>
                <a:cs typeface="Calibri" pitchFamily="34" charset="-120"/>
              </a:rPr>
              <a:t>38</a:t>
            </a:r>
            <a:endParaRPr lang="en-US" sz="1050" dirty="0"/>
          </a:p>
        </p:txBody>
      </p:sp>
      <p:sp>
        <p:nvSpPr>
          <p:cNvPr id="34" name="Shape 31"/>
          <p:cNvSpPr/>
          <p:nvPr/>
        </p:nvSpPr>
        <p:spPr>
          <a:xfrm>
            <a:off x="8290408" y="3657600"/>
            <a:ext cx="3261208" cy="420624"/>
          </a:xfrm>
          <a:prstGeom prst="rect">
            <a:avLst/>
          </a:prstGeom>
          <a:solidFill>
            <a:srgbClr val="F7F2E9"/>
          </a:solidFill>
          <a:ln/>
        </p:spPr>
      </p:sp>
      <p:sp>
        <p:nvSpPr>
          <p:cNvPr id="35" name="Text 32"/>
          <p:cNvSpPr/>
          <p:nvPr/>
        </p:nvSpPr>
        <p:spPr>
          <a:xfrm>
            <a:off x="8436712" y="3657600"/>
            <a:ext cx="2346808" cy="420624"/>
          </a:xfrm>
          <a:prstGeom prst="rect">
            <a:avLst/>
          </a:prstGeom>
          <a:noFill/>
          <a:ln/>
        </p:spPr>
        <p:txBody>
          <a:bodyPr wrap="square" lIns="0" tIns="0" rIns="0" bIns="0" rtlCol="0" anchor="ctr"/>
          <a:lstStyle/>
          <a:p>
            <a:pPr indent="0" marL="0">
              <a:buNone/>
            </a:pPr>
            <a:r>
              <a:rPr lang="en-US" sz="1050" b="1" dirty="0">
                <a:solidFill>
                  <a:srgbClr val="8A6B3C"/>
                </a:solidFill>
                <a:latin typeface="Calibri" pitchFamily="34" charset="0"/>
                <a:ea typeface="Calibri" pitchFamily="34" charset="-122"/>
                <a:cs typeface="Calibri" pitchFamily="34" charset="-120"/>
              </a:rPr>
              <a:t>Total</a:t>
            </a:r>
            <a:endParaRPr lang="en-US" sz="1050" dirty="0"/>
          </a:p>
        </p:txBody>
      </p:sp>
      <p:sp>
        <p:nvSpPr>
          <p:cNvPr id="36" name="Text 33"/>
          <p:cNvSpPr/>
          <p:nvPr/>
        </p:nvSpPr>
        <p:spPr>
          <a:xfrm>
            <a:off x="10692079" y="3657600"/>
            <a:ext cx="731520" cy="420624"/>
          </a:xfrm>
          <a:prstGeom prst="rect">
            <a:avLst/>
          </a:prstGeom>
          <a:noFill/>
          <a:ln/>
        </p:spPr>
        <p:txBody>
          <a:bodyPr wrap="square" lIns="0" tIns="0" rIns="0" bIns="0" rtlCol="0" anchor="ctr"/>
          <a:lstStyle/>
          <a:p>
            <a:pPr algn="r" indent="0" marL="0">
              <a:buNone/>
            </a:pPr>
            <a:r>
              <a:rPr lang="en-US" sz="1100" b="1" dirty="0">
                <a:solidFill>
                  <a:srgbClr val="8A6B3C"/>
                </a:solidFill>
                <a:latin typeface="Calibri" pitchFamily="34" charset="0"/>
                <a:ea typeface="Calibri" pitchFamily="34" charset="-122"/>
                <a:cs typeface="Calibri" pitchFamily="34" charset="-120"/>
              </a:rPr>
              <a:t>320</a:t>
            </a:r>
            <a:endParaRPr lang="en-US" sz="1100" dirty="0"/>
          </a:p>
        </p:txBody>
      </p:sp>
      <p:sp>
        <p:nvSpPr>
          <p:cNvPr id="37" name="Shape 34"/>
          <p:cNvSpPr/>
          <p:nvPr/>
        </p:nvSpPr>
        <p:spPr>
          <a:xfrm>
            <a:off x="4754880" y="4443984"/>
            <a:ext cx="6796735" cy="1280160"/>
          </a:xfrm>
          <a:prstGeom prst="roundRect">
            <a:avLst>
              <a:gd name="adj" fmla="val 4286"/>
            </a:avLst>
          </a:prstGeom>
          <a:solidFill>
            <a:srgbClr val="F4F6F9"/>
          </a:solidFill>
          <a:ln w="12700">
            <a:solidFill>
              <a:srgbClr val="DCE3EB"/>
            </a:solidFill>
            <a:prstDash val="solid"/>
          </a:ln>
        </p:spPr>
      </p:sp>
      <p:sp>
        <p:nvSpPr>
          <p:cNvPr id="38" name="Text 35"/>
          <p:cNvSpPr/>
          <p:nvPr/>
        </p:nvSpPr>
        <p:spPr>
          <a:xfrm>
            <a:off x="4992624" y="4553712"/>
            <a:ext cx="6339535" cy="274320"/>
          </a:xfrm>
          <a:prstGeom prst="rect">
            <a:avLst/>
          </a:prstGeom>
          <a:noFill/>
          <a:ln/>
        </p:spPr>
        <p:txBody>
          <a:bodyPr wrap="square" lIns="0" tIns="0" rIns="0" bIns="0"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Illustrative pro forma impact</a:t>
            </a:r>
            <a:endParaRPr lang="en-US" sz="1250" dirty="0"/>
          </a:p>
        </p:txBody>
      </p:sp>
      <p:sp>
        <p:nvSpPr>
          <p:cNvPr id="39" name="Text 36"/>
          <p:cNvSpPr/>
          <p:nvPr/>
        </p:nvSpPr>
        <p:spPr>
          <a:xfrm>
            <a:off x="5010912" y="4864608"/>
            <a:ext cx="6284671" cy="822960"/>
          </a:xfrm>
          <a:prstGeom prst="rect">
            <a:avLst/>
          </a:prstGeom>
          <a:noFill/>
          <a:ln/>
        </p:spPr>
        <p:txBody>
          <a:bodyPr wrap="square" lIns="0" tIns="0" rIns="0" bIns="0" rtlCol="0" anchor="t"/>
          <a:lstStyle/>
          <a:p>
            <a:pPr marL="203200" indent="-203200">
              <a:lnSpc>
                <a:spcPct val="103000"/>
              </a:lnSpc>
              <a:spcAft>
                <a:spcPts val="400"/>
              </a:spcAft>
              <a:buSzPct val="100000"/>
              <a:buChar char="▪"/>
            </a:pPr>
            <a:r>
              <a:rPr lang="en-US" sz="1000" dirty="0">
                <a:solidFill>
                  <a:srgbClr val="3D4A57"/>
                </a:solidFill>
                <a:latin typeface="Calibri" pitchFamily="34" charset="0"/>
                <a:ea typeface="Calibri" pitchFamily="34" charset="-122"/>
                <a:cs typeface="Calibri" pitchFamily="34" charset="-120"/>
              </a:rPr>
              <a:t>About 5% to 7% new equity issued, with the cash buffer held above a Rs 300 Cr floor.</a:t>
            </a:r>
            <a:endParaRPr lang="en-US" sz="1000" dirty="0"/>
          </a:p>
          <a:p>
            <a:pPr marL="203200" indent="-203200">
              <a:lnSpc>
                <a:spcPct val="103000"/>
              </a:lnSpc>
              <a:spcAft>
                <a:spcPts val="400"/>
              </a:spcAft>
              <a:buSzPct val="100000"/>
              <a:buChar char="▪"/>
            </a:pPr>
            <a:r>
              <a:rPr lang="en-US" sz="1000" dirty="0">
                <a:solidFill>
                  <a:srgbClr val="3D4A57"/>
                </a:solidFill>
                <a:latin typeface="Calibri" pitchFamily="34" charset="0"/>
                <a:ea typeface="Calibri" pitchFamily="34" charset="-122"/>
                <a:cs typeface="Calibri" pitchFamily="34" charset="-120"/>
              </a:rPr>
              <a:t>Structured to keep the group EBITDA-positive, with each deal EBITDA-neutral within about four to six quarters.</a:t>
            </a:r>
            <a:endParaRPr lang="en-US" sz="1000" dirty="0"/>
          </a:p>
          <a:p>
            <a:pPr marL="203200" indent="-203200">
              <a:lnSpc>
                <a:spcPct val="103000"/>
              </a:lnSpc>
              <a:spcAft>
                <a:spcPts val="400"/>
              </a:spcAft>
              <a:buSzPct val="100000"/>
              <a:buChar char="▪"/>
            </a:pPr>
            <a:r>
              <a:rPr lang="en-US" sz="1000" dirty="0">
                <a:solidFill>
                  <a:srgbClr val="3D4A57"/>
                </a:solidFill>
                <a:latin typeface="Calibri" pitchFamily="34" charset="0"/>
                <a:ea typeface="Calibri" pitchFamily="34" charset="-122"/>
                <a:cs typeface="Calibri" pitchFamily="34" charset="-120"/>
              </a:rPr>
              <a:t>Low-teens percentage uplift to group revenue by FY28 as cross-sell builds.</a:t>
            </a:r>
            <a:endParaRPr lang="en-US" sz="1000" dirty="0"/>
          </a:p>
        </p:txBody>
      </p:sp>
      <p:sp>
        <p:nvSpPr>
          <p:cNvPr id="40" name="Text 37"/>
          <p:cNvSpPr/>
          <p:nvPr/>
        </p:nvSpPr>
        <p:spPr>
          <a:xfrm>
            <a:off x="640080" y="6254496"/>
            <a:ext cx="10911535" cy="219456"/>
          </a:xfrm>
          <a:prstGeom prst="rect">
            <a:avLst/>
          </a:prstGeom>
          <a:noFill/>
          <a:ln/>
        </p:spPr>
        <p:txBody>
          <a:bodyPr wrap="square" lIns="0" tIns="0" rIns="0" bIns="0" rtlCol="0" anchor="ctr"/>
          <a:lstStyle/>
          <a:p>
            <a:pPr indent="0" marL="0">
              <a:buNone/>
            </a:pPr>
            <a:r>
              <a:rPr lang="en-US" sz="800" i="1" dirty="0">
                <a:solidFill>
                  <a:srgbClr val="7A8794"/>
                </a:solidFill>
                <a:latin typeface="Calibri" pitchFamily="34" charset="0"/>
                <a:ea typeface="Calibri" pitchFamily="34" charset="-122"/>
                <a:cs typeface="Calibri" pitchFamily="34" charset="-120"/>
              </a:rPr>
              <a:t>Source: Author's illustrative structure using public market data. Figures are not forecasts.</a:t>
            </a:r>
            <a:endParaRPr lang="en-US" sz="800" dirty="0"/>
          </a:p>
        </p:txBody>
      </p:sp>
      <p:sp>
        <p:nvSpPr>
          <p:cNvPr id="41" name="Text 38"/>
          <p:cNvSpPr/>
          <p:nvPr/>
        </p:nvSpPr>
        <p:spPr>
          <a:xfrm>
            <a:off x="640080" y="6492240"/>
            <a:ext cx="2743200" cy="237744"/>
          </a:xfrm>
          <a:prstGeom prst="rect">
            <a:avLst/>
          </a:prstGeom>
          <a:noFill/>
          <a:ln/>
        </p:spPr>
        <p:txBody>
          <a:bodyPr wrap="square" lIns="0" tIns="0" rIns="0" bIns="0" rtlCol="0" anchor="ctr"/>
          <a:lstStyle/>
          <a:p>
            <a:pPr indent="0" marL="0">
              <a:buNone/>
            </a:pPr>
            <a:r>
              <a:rPr lang="en-US" sz="750" b="1" spc="150" kern="0" dirty="0">
                <a:solidFill>
                  <a:srgbClr val="7A8794"/>
                </a:solidFill>
                <a:latin typeface="Calibri" pitchFamily="34" charset="0"/>
                <a:ea typeface="Calibri" pitchFamily="34" charset="-122"/>
                <a:cs typeface="Calibri" pitchFamily="34" charset="-120"/>
              </a:rPr>
              <a:t>PROJECT KEYSTONE</a:t>
            </a:r>
            <a:endParaRPr lang="en-US" sz="750" dirty="0"/>
          </a:p>
        </p:txBody>
      </p:sp>
      <p:sp>
        <p:nvSpPr>
          <p:cNvPr id="42" name="Text 39"/>
          <p:cNvSpPr/>
          <p:nvPr/>
        </p:nvSpPr>
        <p:spPr>
          <a:xfrm>
            <a:off x="3352648" y="6492240"/>
            <a:ext cx="5486400" cy="237744"/>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Strictly private and confidential  ·  Illustrative</a:t>
            </a:r>
            <a:endParaRPr lang="en-US" sz="750" dirty="0"/>
          </a:p>
        </p:txBody>
      </p:sp>
      <p:sp>
        <p:nvSpPr>
          <p:cNvPr id="43" name="Text 40"/>
          <p:cNvSpPr/>
          <p:nvPr/>
        </p:nvSpPr>
        <p:spPr>
          <a:xfrm>
            <a:off x="11094415" y="6492240"/>
            <a:ext cx="457200" cy="237744"/>
          </a:xfrm>
          <a:prstGeom prst="rect">
            <a:avLst/>
          </a:prstGeom>
          <a:noFill/>
          <a:ln/>
        </p:spPr>
        <p:txBody>
          <a:bodyPr wrap="square" lIns="0" tIns="0" rIns="0" bIns="0" rtlCol="0" anchor="ctr"/>
          <a:lstStyle/>
          <a:p>
            <a:pPr algn="r" indent="0" marL="0">
              <a:buNone/>
            </a:pPr>
            <a:r>
              <a:rPr lang="en-US" sz="850" dirty="0">
                <a:solidFill>
                  <a:srgbClr val="7A8794"/>
                </a:solidFill>
                <a:latin typeface="Calibri" pitchFamily="34" charset="0"/>
                <a:ea typeface="Calibri" pitchFamily="34" charset="-122"/>
                <a:cs typeface="Calibri" pitchFamily="34" charset="-120"/>
              </a:rPr>
              <a:t>16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20" kern="0" dirty="0">
                <a:solidFill>
                  <a:srgbClr val="8A6B3C"/>
                </a:solidFill>
                <a:latin typeface="Calibri" pitchFamily="34" charset="0"/>
                <a:ea typeface="Calibri" pitchFamily="34" charset="-122"/>
                <a:cs typeface="Calibri" pitchFamily="34" charset="-120"/>
              </a:rPr>
              <a:t>VALUE CREATION</a:t>
            </a:r>
            <a:endParaRPr lang="en-US" sz="1100" dirty="0"/>
          </a:p>
        </p:txBody>
      </p:sp>
      <p:sp>
        <p:nvSpPr>
          <p:cNvPr id="3" name="Text 1"/>
          <p:cNvSpPr/>
          <p:nvPr/>
        </p:nvSpPr>
        <p:spPr>
          <a:xfrm>
            <a:off x="8808415" y="402336"/>
            <a:ext cx="2743200" cy="237744"/>
          </a:xfrm>
          <a:prstGeom prst="rect">
            <a:avLst/>
          </a:prstGeom>
          <a:noFill/>
          <a:ln/>
        </p:spPr>
        <p:txBody>
          <a:bodyPr wrap="square" lIns="0" tIns="0" rIns="0" bIns="0" rtlCol="0" anchor="ctr"/>
          <a:lstStyle/>
          <a:p>
            <a:pPr algn="r" indent="0" marL="0">
              <a:buNone/>
            </a:pPr>
            <a:r>
              <a:rPr lang="en-US" sz="950" b="1" spc="100" kern="0" dirty="0">
                <a:solidFill>
                  <a:srgbClr val="8A6B3C"/>
                </a:solidFill>
                <a:latin typeface="Calibri" pitchFamily="34" charset="0"/>
                <a:ea typeface="Calibri" pitchFamily="34" charset="-122"/>
                <a:cs typeface="Calibri" pitchFamily="34" charset="-120"/>
              </a:rPr>
              <a:t>Exhibit 10</a:t>
            </a:r>
            <a:endParaRPr lang="en-US" sz="950" dirty="0"/>
          </a:p>
        </p:txBody>
      </p:sp>
      <p:sp>
        <p:nvSpPr>
          <p:cNvPr id="4" name="Text 2"/>
          <p:cNvSpPr/>
          <p:nvPr/>
        </p:nvSpPr>
        <p:spPr>
          <a:xfrm>
            <a:off x="640080" y="658368"/>
            <a:ext cx="10911535" cy="566928"/>
          </a:xfrm>
          <a:prstGeom prst="rect">
            <a:avLst/>
          </a:prstGeom>
          <a:noFill/>
          <a:ln/>
        </p:spPr>
        <p:txBody>
          <a:bodyPr wrap="square" lIns="0" tIns="0" rIns="0" bIns="0" rtlCol="0" anchor="t"/>
          <a:lstStyle/>
          <a:p>
            <a:pPr indent="0" marL="0">
              <a:lnSpc>
                <a:spcPct val="98000"/>
              </a:lnSpc>
              <a:buNone/>
            </a:pPr>
            <a:r>
              <a:rPr lang="en-US" sz="2500" b="1" dirty="0">
                <a:solidFill>
                  <a:srgbClr val="0B2545"/>
                </a:solidFill>
                <a:latin typeface="Cambria" pitchFamily="34" charset="0"/>
                <a:ea typeface="Cambria" pitchFamily="34" charset="-122"/>
                <a:cs typeface="Cambria" pitchFamily="34" charset="-120"/>
              </a:rPr>
              <a:t>Where the value is created beyond the purchase price</a:t>
            </a:r>
            <a:endParaRPr lang="en-US" sz="2500" dirty="0"/>
          </a:p>
        </p:txBody>
      </p:sp>
      <p:sp>
        <p:nvSpPr>
          <p:cNvPr id="5" name="Text 3"/>
          <p:cNvSpPr/>
          <p:nvPr/>
        </p:nvSpPr>
        <p:spPr>
          <a:xfrm>
            <a:off x="640080" y="1499616"/>
            <a:ext cx="6126480" cy="274320"/>
          </a:xfrm>
          <a:prstGeom prst="rect">
            <a:avLst/>
          </a:prstGeom>
          <a:noFill/>
          <a:ln/>
        </p:spPr>
        <p:txBody>
          <a:bodyPr wrap="square" lIns="0" tIns="0" rIns="0" bIns="0"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Illustrative value-creation bridge (indexed)</a:t>
            </a:r>
            <a:endParaRPr lang="en-US" sz="1250" dirty="0"/>
          </a:p>
        </p:txBody>
      </p:sp>
      <p:sp>
        <p:nvSpPr>
          <p:cNvPr id="6" name="Shape 4"/>
          <p:cNvSpPr/>
          <p:nvPr/>
        </p:nvSpPr>
        <p:spPr>
          <a:xfrm>
            <a:off x="1022985" y="3648456"/>
            <a:ext cx="765810" cy="1243584"/>
          </a:xfrm>
          <a:prstGeom prst="rect">
            <a:avLst/>
          </a:prstGeom>
          <a:solidFill>
            <a:srgbClr val="9AA6B2"/>
          </a:solidFill>
          <a:ln/>
        </p:spPr>
      </p:sp>
      <p:sp>
        <p:nvSpPr>
          <p:cNvPr id="7" name="Text 5"/>
          <p:cNvSpPr/>
          <p:nvPr/>
        </p:nvSpPr>
        <p:spPr>
          <a:xfrm>
            <a:off x="640080" y="4965192"/>
            <a:ext cx="1531620" cy="457200"/>
          </a:xfrm>
          <a:prstGeom prst="rect">
            <a:avLst/>
          </a:prstGeom>
          <a:noFill/>
          <a:ln/>
        </p:spPr>
        <p:txBody>
          <a:bodyPr wrap="square" lIns="0" tIns="0" rIns="0" bIns="0" rtlCol="0" anchor="ctr"/>
          <a:lstStyle/>
          <a:p>
            <a:pPr algn="ctr" indent="0" marL="0">
              <a:lnSpc>
                <a:spcPct val="92000"/>
              </a:lnSpc>
              <a:buNone/>
            </a:pPr>
            <a:r>
              <a:rPr lang="en-US" sz="950" b="1" dirty="0">
                <a:solidFill>
                  <a:srgbClr val="33414F"/>
                </a:solidFill>
                <a:latin typeface="Calibri" pitchFamily="34" charset="0"/>
                <a:ea typeface="Calibri" pitchFamily="34" charset="-122"/>
                <a:cs typeface="Calibri" pitchFamily="34" charset="-120"/>
              </a:rPr>
              <a:t>Targets</a:t>
            </a:r>
            <a:endParaRPr lang="en-US" sz="950" dirty="0"/>
          </a:p>
          <a:p>
            <a:pPr algn="ctr" indent="0" marL="0">
              <a:lnSpc>
                <a:spcPct val="92000"/>
              </a:lnSpc>
              <a:buNone/>
            </a:pPr>
            <a:r>
              <a:rPr lang="en-US" sz="950" b="1" dirty="0">
                <a:solidFill>
                  <a:srgbClr val="33414F"/>
                </a:solidFill>
                <a:latin typeface="Calibri" pitchFamily="34" charset="0"/>
                <a:ea typeface="Calibri" pitchFamily="34" charset="-122"/>
                <a:cs typeface="Calibri" pitchFamily="34" charset="-120"/>
              </a:rPr>
              <a:t>standalone</a:t>
            </a:r>
            <a:endParaRPr lang="en-US" sz="950" dirty="0"/>
          </a:p>
        </p:txBody>
      </p:sp>
      <p:sp>
        <p:nvSpPr>
          <p:cNvPr id="8" name="Text 6"/>
          <p:cNvSpPr/>
          <p:nvPr/>
        </p:nvSpPr>
        <p:spPr>
          <a:xfrm>
            <a:off x="840105" y="3410712"/>
            <a:ext cx="1131570" cy="219456"/>
          </a:xfrm>
          <a:prstGeom prst="rect">
            <a:avLst/>
          </a:prstGeom>
          <a:noFill/>
          <a:ln/>
        </p:spPr>
        <p:txBody>
          <a:bodyPr wrap="square" lIns="0" tIns="0" rIns="0" bIns="0" rtlCol="0" anchor="ctr"/>
          <a:lstStyle/>
          <a:p>
            <a:pPr algn="ctr" indent="0" marL="0">
              <a:buNone/>
            </a:pPr>
            <a:r>
              <a:rPr lang="en-US" sz="1000" b="1" dirty="0">
                <a:solidFill>
                  <a:srgbClr val="8A6B3C"/>
                </a:solidFill>
                <a:latin typeface="Calibri" pitchFamily="34" charset="0"/>
                <a:ea typeface="Calibri" pitchFamily="34" charset="-122"/>
                <a:cs typeface="Calibri" pitchFamily="34" charset="-120"/>
              </a:rPr>
              <a:t>+40</a:t>
            </a:r>
            <a:endParaRPr lang="en-US" sz="1000" dirty="0"/>
          </a:p>
        </p:txBody>
      </p:sp>
      <p:sp>
        <p:nvSpPr>
          <p:cNvPr id="9" name="Shape 7"/>
          <p:cNvSpPr/>
          <p:nvPr/>
        </p:nvSpPr>
        <p:spPr>
          <a:xfrm>
            <a:off x="2554605" y="2467051"/>
            <a:ext cx="765810" cy="1181405"/>
          </a:xfrm>
          <a:prstGeom prst="rect">
            <a:avLst/>
          </a:prstGeom>
          <a:solidFill>
            <a:srgbClr val="B08D57"/>
          </a:solidFill>
          <a:ln/>
        </p:spPr>
      </p:sp>
      <p:sp>
        <p:nvSpPr>
          <p:cNvPr id="10" name="Text 8"/>
          <p:cNvSpPr/>
          <p:nvPr/>
        </p:nvSpPr>
        <p:spPr>
          <a:xfrm>
            <a:off x="2171700" y="4965192"/>
            <a:ext cx="1531620" cy="457200"/>
          </a:xfrm>
          <a:prstGeom prst="rect">
            <a:avLst/>
          </a:prstGeom>
          <a:noFill/>
          <a:ln/>
        </p:spPr>
        <p:txBody>
          <a:bodyPr wrap="square" lIns="0" tIns="0" rIns="0" bIns="0" rtlCol="0" anchor="ctr"/>
          <a:lstStyle/>
          <a:p>
            <a:pPr algn="ctr" indent="0" marL="0">
              <a:lnSpc>
                <a:spcPct val="92000"/>
              </a:lnSpc>
              <a:buNone/>
            </a:pPr>
            <a:r>
              <a:rPr lang="en-US" sz="950" b="1" dirty="0">
                <a:solidFill>
                  <a:srgbClr val="33414F"/>
                </a:solidFill>
                <a:latin typeface="Calibri" pitchFamily="34" charset="0"/>
                <a:ea typeface="Calibri" pitchFamily="34" charset="-122"/>
                <a:cs typeface="Calibri" pitchFamily="34" charset="-120"/>
              </a:rPr>
              <a:t>+ Revenue</a:t>
            </a:r>
            <a:endParaRPr lang="en-US" sz="950" dirty="0"/>
          </a:p>
          <a:p>
            <a:pPr algn="ctr" indent="0" marL="0">
              <a:lnSpc>
                <a:spcPct val="92000"/>
              </a:lnSpc>
              <a:buNone/>
            </a:pPr>
            <a:r>
              <a:rPr lang="en-US" sz="950" b="1" dirty="0">
                <a:solidFill>
                  <a:srgbClr val="33414F"/>
                </a:solidFill>
                <a:latin typeface="Calibri" pitchFamily="34" charset="0"/>
                <a:ea typeface="Calibri" pitchFamily="34" charset="-122"/>
                <a:cs typeface="Calibri" pitchFamily="34" charset="-120"/>
              </a:rPr>
              <a:t>synergies</a:t>
            </a:r>
            <a:endParaRPr lang="en-US" sz="950" dirty="0"/>
          </a:p>
        </p:txBody>
      </p:sp>
      <p:sp>
        <p:nvSpPr>
          <p:cNvPr id="11" name="Text 9"/>
          <p:cNvSpPr/>
          <p:nvPr/>
        </p:nvSpPr>
        <p:spPr>
          <a:xfrm>
            <a:off x="2371725" y="2229307"/>
            <a:ext cx="1131570" cy="219456"/>
          </a:xfrm>
          <a:prstGeom prst="rect">
            <a:avLst/>
          </a:prstGeom>
          <a:noFill/>
          <a:ln/>
        </p:spPr>
        <p:txBody>
          <a:bodyPr wrap="square" lIns="0" tIns="0" rIns="0" bIns="0" rtlCol="0" anchor="ctr"/>
          <a:lstStyle/>
          <a:p>
            <a:pPr algn="ctr" indent="0" marL="0">
              <a:buNone/>
            </a:pPr>
            <a:r>
              <a:rPr lang="en-US" sz="1000" b="1" dirty="0">
                <a:solidFill>
                  <a:srgbClr val="8A6B3C"/>
                </a:solidFill>
                <a:latin typeface="Calibri" pitchFamily="34" charset="0"/>
                <a:ea typeface="Calibri" pitchFamily="34" charset="-122"/>
                <a:cs typeface="Calibri" pitchFamily="34" charset="-120"/>
              </a:rPr>
              <a:t>+38</a:t>
            </a:r>
            <a:endParaRPr lang="en-US" sz="1000" dirty="0"/>
          </a:p>
        </p:txBody>
      </p:sp>
      <p:sp>
        <p:nvSpPr>
          <p:cNvPr id="12" name="Shape 10"/>
          <p:cNvSpPr/>
          <p:nvPr/>
        </p:nvSpPr>
        <p:spPr>
          <a:xfrm>
            <a:off x="4086225" y="2031797"/>
            <a:ext cx="765810" cy="435254"/>
          </a:xfrm>
          <a:prstGeom prst="rect">
            <a:avLst/>
          </a:prstGeom>
          <a:solidFill>
            <a:srgbClr val="C9AE82"/>
          </a:solidFill>
          <a:ln/>
        </p:spPr>
      </p:sp>
      <p:sp>
        <p:nvSpPr>
          <p:cNvPr id="13" name="Text 11"/>
          <p:cNvSpPr/>
          <p:nvPr/>
        </p:nvSpPr>
        <p:spPr>
          <a:xfrm>
            <a:off x="3703320" y="4965192"/>
            <a:ext cx="1531620" cy="457200"/>
          </a:xfrm>
          <a:prstGeom prst="rect">
            <a:avLst/>
          </a:prstGeom>
          <a:noFill/>
          <a:ln/>
        </p:spPr>
        <p:txBody>
          <a:bodyPr wrap="square" lIns="0" tIns="0" rIns="0" bIns="0" rtlCol="0" anchor="ctr"/>
          <a:lstStyle/>
          <a:p>
            <a:pPr algn="ctr" indent="0" marL="0">
              <a:lnSpc>
                <a:spcPct val="92000"/>
              </a:lnSpc>
              <a:buNone/>
            </a:pPr>
            <a:r>
              <a:rPr lang="en-US" sz="950" b="1" dirty="0">
                <a:solidFill>
                  <a:srgbClr val="33414F"/>
                </a:solidFill>
                <a:latin typeface="Calibri" pitchFamily="34" charset="0"/>
                <a:ea typeface="Calibri" pitchFamily="34" charset="-122"/>
                <a:cs typeface="Calibri" pitchFamily="34" charset="-120"/>
              </a:rPr>
              <a:t>+ Cost</a:t>
            </a:r>
            <a:endParaRPr lang="en-US" sz="950" dirty="0"/>
          </a:p>
          <a:p>
            <a:pPr algn="ctr" indent="0" marL="0">
              <a:lnSpc>
                <a:spcPct val="92000"/>
              </a:lnSpc>
              <a:buNone/>
            </a:pPr>
            <a:r>
              <a:rPr lang="en-US" sz="950" b="1" dirty="0">
                <a:solidFill>
                  <a:srgbClr val="33414F"/>
                </a:solidFill>
                <a:latin typeface="Calibri" pitchFamily="34" charset="0"/>
                <a:ea typeface="Calibri" pitchFamily="34" charset="-122"/>
                <a:cs typeface="Calibri" pitchFamily="34" charset="-120"/>
              </a:rPr>
              <a:t>synergies</a:t>
            </a:r>
            <a:endParaRPr lang="en-US" sz="950" dirty="0"/>
          </a:p>
        </p:txBody>
      </p:sp>
      <p:sp>
        <p:nvSpPr>
          <p:cNvPr id="14" name="Text 12"/>
          <p:cNvSpPr/>
          <p:nvPr/>
        </p:nvSpPr>
        <p:spPr>
          <a:xfrm>
            <a:off x="3903345" y="1794053"/>
            <a:ext cx="1131570" cy="219456"/>
          </a:xfrm>
          <a:prstGeom prst="rect">
            <a:avLst/>
          </a:prstGeom>
          <a:noFill/>
          <a:ln/>
        </p:spPr>
        <p:txBody>
          <a:bodyPr wrap="square" lIns="0" tIns="0" rIns="0" bIns="0" rtlCol="0" anchor="ctr"/>
          <a:lstStyle/>
          <a:p>
            <a:pPr algn="ctr" indent="0" marL="0">
              <a:buNone/>
            </a:pPr>
            <a:r>
              <a:rPr lang="en-US" sz="1000" b="1" dirty="0">
                <a:solidFill>
                  <a:srgbClr val="8A6B3C"/>
                </a:solidFill>
                <a:latin typeface="Calibri" pitchFamily="34" charset="0"/>
                <a:ea typeface="Calibri" pitchFamily="34" charset="-122"/>
                <a:cs typeface="Calibri" pitchFamily="34" charset="-120"/>
              </a:rPr>
              <a:t>+14</a:t>
            </a:r>
            <a:endParaRPr lang="en-US" sz="1000" dirty="0"/>
          </a:p>
        </p:txBody>
      </p:sp>
      <p:sp>
        <p:nvSpPr>
          <p:cNvPr id="15" name="Shape 13"/>
          <p:cNvSpPr/>
          <p:nvPr/>
        </p:nvSpPr>
        <p:spPr>
          <a:xfrm>
            <a:off x="5617845" y="2031797"/>
            <a:ext cx="765810" cy="2860243"/>
          </a:xfrm>
          <a:prstGeom prst="rect">
            <a:avLst/>
          </a:prstGeom>
          <a:solidFill>
            <a:srgbClr val="0B2545"/>
          </a:solidFill>
          <a:ln/>
        </p:spPr>
      </p:sp>
      <p:sp>
        <p:nvSpPr>
          <p:cNvPr id="16" name="Text 14"/>
          <p:cNvSpPr/>
          <p:nvPr/>
        </p:nvSpPr>
        <p:spPr>
          <a:xfrm>
            <a:off x="5234940" y="4965192"/>
            <a:ext cx="1531620" cy="457200"/>
          </a:xfrm>
          <a:prstGeom prst="rect">
            <a:avLst/>
          </a:prstGeom>
          <a:noFill/>
          <a:ln/>
        </p:spPr>
        <p:txBody>
          <a:bodyPr wrap="square" lIns="0" tIns="0" rIns="0" bIns="0" rtlCol="0" anchor="ctr"/>
          <a:lstStyle/>
          <a:p>
            <a:pPr algn="ctr" indent="0" marL="0">
              <a:lnSpc>
                <a:spcPct val="92000"/>
              </a:lnSpc>
              <a:buNone/>
            </a:pPr>
            <a:r>
              <a:rPr lang="en-US" sz="950" b="1" dirty="0">
                <a:solidFill>
                  <a:srgbClr val="33414F"/>
                </a:solidFill>
                <a:latin typeface="Calibri" pitchFamily="34" charset="0"/>
                <a:ea typeface="Calibri" pitchFamily="34" charset="-122"/>
                <a:cs typeface="Calibri" pitchFamily="34" charset="-120"/>
              </a:rPr>
              <a:t>Combined</a:t>
            </a:r>
            <a:endParaRPr lang="en-US" sz="950" dirty="0"/>
          </a:p>
          <a:p>
            <a:pPr algn="ctr" indent="0" marL="0">
              <a:lnSpc>
                <a:spcPct val="92000"/>
              </a:lnSpc>
              <a:buNone/>
            </a:pPr>
            <a:r>
              <a:rPr lang="en-US" sz="950" b="1" dirty="0">
                <a:solidFill>
                  <a:srgbClr val="33414F"/>
                </a:solidFill>
                <a:latin typeface="Calibri" pitchFamily="34" charset="0"/>
                <a:ea typeface="Calibri" pitchFamily="34" charset="-122"/>
                <a:cs typeface="Calibri" pitchFamily="34" charset="-120"/>
              </a:rPr>
              <a:t>value</a:t>
            </a:r>
            <a:endParaRPr lang="en-US" sz="950" dirty="0"/>
          </a:p>
        </p:txBody>
      </p:sp>
      <p:sp>
        <p:nvSpPr>
          <p:cNvPr id="17" name="Text 15"/>
          <p:cNvSpPr/>
          <p:nvPr/>
        </p:nvSpPr>
        <p:spPr>
          <a:xfrm>
            <a:off x="5434965" y="1794053"/>
            <a:ext cx="1131570" cy="219456"/>
          </a:xfrm>
          <a:prstGeom prst="rect">
            <a:avLst/>
          </a:prstGeom>
          <a:noFill/>
          <a:ln/>
        </p:spPr>
        <p:txBody>
          <a:bodyPr wrap="square" lIns="0" tIns="0" rIns="0" bIns="0"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+92</a:t>
            </a:r>
            <a:endParaRPr lang="en-US" sz="1000" dirty="0"/>
          </a:p>
        </p:txBody>
      </p:sp>
      <p:sp>
        <p:nvSpPr>
          <p:cNvPr id="18" name="Shape 16"/>
          <p:cNvSpPr/>
          <p:nvPr/>
        </p:nvSpPr>
        <p:spPr>
          <a:xfrm>
            <a:off x="640080" y="4892040"/>
            <a:ext cx="6126480" cy="0"/>
          </a:xfrm>
          <a:prstGeom prst="line">
            <a:avLst/>
          </a:prstGeom>
          <a:noFill/>
          <a:ln w="12700">
            <a:solidFill>
              <a:srgbClr val="DCE3EB"/>
            </a:solidFill>
            <a:prstDash val="solid"/>
          </a:ln>
        </p:spPr>
      </p:sp>
      <p:sp>
        <p:nvSpPr>
          <p:cNvPr id="19" name="Shape 17"/>
          <p:cNvSpPr/>
          <p:nvPr/>
        </p:nvSpPr>
        <p:spPr>
          <a:xfrm>
            <a:off x="7178040" y="1517904"/>
            <a:ext cx="4373575" cy="1993392"/>
          </a:xfrm>
          <a:prstGeom prst="roundRect">
            <a:avLst>
              <a:gd name="adj" fmla="val 2752"/>
            </a:avLst>
          </a:prstGeom>
          <a:solidFill>
            <a:srgbClr val="F7F2E9"/>
          </a:solidFill>
          <a:ln/>
        </p:spPr>
      </p:sp>
      <p:sp>
        <p:nvSpPr>
          <p:cNvPr id="20" name="Text 18"/>
          <p:cNvSpPr/>
          <p:nvPr/>
        </p:nvSpPr>
        <p:spPr>
          <a:xfrm>
            <a:off x="7434072" y="1645920"/>
            <a:ext cx="3861511" cy="274320"/>
          </a:xfrm>
          <a:prstGeom prst="rect">
            <a:avLst/>
          </a:prstGeom>
          <a:noFill/>
          <a:ln/>
        </p:spPr>
        <p:txBody>
          <a:bodyPr wrap="square" lIns="0" tIns="0" rIns="0" bIns="0" rtlCol="0" anchor="ctr"/>
          <a:lstStyle/>
          <a:p>
            <a:pPr indent="0" marL="0">
              <a:buNone/>
            </a:pPr>
            <a:r>
              <a:rPr lang="en-US" sz="1350" b="1" dirty="0">
                <a:solidFill>
                  <a:srgbClr val="8A6B3C"/>
                </a:solidFill>
                <a:latin typeface="Cambria" pitchFamily="34" charset="0"/>
                <a:ea typeface="Cambria" pitchFamily="34" charset="-122"/>
                <a:cs typeface="Cambria" pitchFamily="34" charset="-120"/>
              </a:rPr>
              <a:t>Revenue synergies</a:t>
            </a:r>
            <a:endParaRPr lang="en-US" sz="1350" dirty="0"/>
          </a:p>
        </p:txBody>
      </p:sp>
      <p:sp>
        <p:nvSpPr>
          <p:cNvPr id="21" name="Text 19"/>
          <p:cNvSpPr/>
          <p:nvPr/>
        </p:nvSpPr>
        <p:spPr>
          <a:xfrm>
            <a:off x="7452360" y="1975104"/>
            <a:ext cx="3843223" cy="1463040"/>
          </a:xfrm>
          <a:prstGeom prst="rect">
            <a:avLst/>
          </a:prstGeom>
          <a:noFill/>
          <a:ln/>
        </p:spPr>
        <p:txBody>
          <a:bodyPr wrap="square" lIns="0" tIns="0" rIns="0" bIns="0" rtlCol="0" anchor="t"/>
          <a:lstStyle/>
          <a:p>
            <a:pPr marL="203200" indent="-203200">
              <a:lnSpc>
                <a:spcPct val="103000"/>
              </a:lnSpc>
              <a:spcAft>
                <a:spcPts val="500"/>
              </a:spcAft>
              <a:buSzPct val="100000"/>
              <a:buChar char="▪"/>
            </a:pPr>
            <a:r>
              <a:rPr lang="en-US" sz="1030" dirty="0">
                <a:solidFill>
                  <a:srgbClr val="3D4A57"/>
                </a:solidFill>
                <a:latin typeface="Calibri" pitchFamily="34" charset="0"/>
                <a:ea typeface="Calibri" pitchFamily="34" charset="-122"/>
                <a:cs typeface="Calibri" pitchFamily="34" charset="-120"/>
              </a:rPr>
              <a:t>Cross-sell deposits, insurance and credit to 186M users and 4.79M merchants.</a:t>
            </a:r>
            <a:endParaRPr lang="en-US" sz="1030" dirty="0"/>
          </a:p>
          <a:p>
            <a:pPr marL="203200" indent="-203200">
              <a:lnSpc>
                <a:spcPct val="103000"/>
              </a:lnSpc>
              <a:spcAft>
                <a:spcPts val="500"/>
              </a:spcAft>
              <a:buSzPct val="100000"/>
              <a:buChar char="▪"/>
            </a:pPr>
            <a:r>
              <a:rPr lang="en-US" sz="1030" dirty="0">
                <a:solidFill>
                  <a:srgbClr val="3D4A57"/>
                </a:solidFill>
                <a:latin typeface="Calibri" pitchFamily="34" charset="0"/>
                <a:ea typeface="Calibri" pitchFamily="34" charset="-122"/>
                <a:cs typeface="Calibri" pitchFamily="34" charset="-120"/>
              </a:rPr>
              <a:t>Distribute the new NBFC's loans and bonds through the acquired rails.</a:t>
            </a:r>
            <a:endParaRPr lang="en-US" sz="1030" dirty="0"/>
          </a:p>
          <a:p>
            <a:pPr marL="203200" indent="-203200">
              <a:lnSpc>
                <a:spcPct val="103000"/>
              </a:lnSpc>
              <a:spcAft>
                <a:spcPts val="500"/>
              </a:spcAft>
              <a:buSzPct val="100000"/>
              <a:buChar char="▪"/>
            </a:pPr>
            <a:r>
              <a:rPr lang="en-US" sz="1030" dirty="0">
                <a:solidFill>
                  <a:srgbClr val="3D4A57"/>
                </a:solidFill>
                <a:latin typeface="Calibri" pitchFamily="34" charset="0"/>
                <a:ea typeface="Calibri" pitchFamily="34" charset="-122"/>
                <a:cs typeface="Calibri" pitchFamily="34" charset="-120"/>
              </a:rPr>
              <a:t>B2B SaaS fees from platforms that already use Blostem.</a:t>
            </a:r>
            <a:endParaRPr lang="en-US" sz="1030" dirty="0"/>
          </a:p>
        </p:txBody>
      </p:sp>
      <p:sp>
        <p:nvSpPr>
          <p:cNvPr id="22" name="Shape 20"/>
          <p:cNvSpPr/>
          <p:nvPr/>
        </p:nvSpPr>
        <p:spPr>
          <a:xfrm>
            <a:off x="7178040" y="3621024"/>
            <a:ext cx="4373575" cy="1700784"/>
          </a:xfrm>
          <a:prstGeom prst="roundRect">
            <a:avLst>
              <a:gd name="adj" fmla="val 3226"/>
            </a:avLst>
          </a:prstGeom>
          <a:solidFill>
            <a:srgbClr val="F4F6F9"/>
          </a:solidFill>
          <a:ln w="12700">
            <a:solidFill>
              <a:srgbClr val="DCE3EB"/>
            </a:solidFill>
            <a:prstDash val="solid"/>
          </a:ln>
        </p:spPr>
      </p:sp>
      <p:sp>
        <p:nvSpPr>
          <p:cNvPr id="23" name="Text 21"/>
          <p:cNvSpPr/>
          <p:nvPr/>
        </p:nvSpPr>
        <p:spPr>
          <a:xfrm>
            <a:off x="7434072" y="3749040"/>
            <a:ext cx="3861511" cy="274320"/>
          </a:xfrm>
          <a:prstGeom prst="rect">
            <a:avLst/>
          </a:prstGeom>
          <a:noFill/>
          <a:ln/>
        </p:spPr>
        <p:txBody>
          <a:bodyPr wrap="square" lIns="0" tIns="0" rIns="0" bIns="0" rtlCol="0" anchor="ctr"/>
          <a:lstStyle/>
          <a:p>
            <a:pPr indent="0" marL="0">
              <a:buNone/>
            </a:pPr>
            <a:r>
              <a:rPr lang="en-US" sz="1350" b="1" dirty="0">
                <a:solidFill>
                  <a:srgbClr val="0B2545"/>
                </a:solidFill>
                <a:latin typeface="Cambria" pitchFamily="34" charset="0"/>
                <a:ea typeface="Cambria" pitchFamily="34" charset="-122"/>
                <a:cs typeface="Cambria" pitchFamily="34" charset="-120"/>
              </a:rPr>
              <a:t>Cost and capability synergies</a:t>
            </a:r>
            <a:endParaRPr lang="en-US" sz="1350" dirty="0"/>
          </a:p>
        </p:txBody>
      </p:sp>
      <p:sp>
        <p:nvSpPr>
          <p:cNvPr id="24" name="Text 22"/>
          <p:cNvSpPr/>
          <p:nvPr/>
        </p:nvSpPr>
        <p:spPr>
          <a:xfrm>
            <a:off x="7452360" y="4078224"/>
            <a:ext cx="3843223" cy="1188720"/>
          </a:xfrm>
          <a:prstGeom prst="rect">
            <a:avLst/>
          </a:prstGeom>
          <a:noFill/>
          <a:ln/>
        </p:spPr>
        <p:txBody>
          <a:bodyPr wrap="square" lIns="0" tIns="0" rIns="0" bIns="0" rtlCol="0" anchor="t"/>
          <a:lstStyle/>
          <a:p>
            <a:pPr marL="203200" indent="-203200">
              <a:lnSpc>
                <a:spcPct val="103000"/>
              </a:lnSpc>
              <a:spcAft>
                <a:spcPts val="500"/>
              </a:spcAft>
              <a:buSzPct val="100000"/>
              <a:buChar char="▪"/>
            </a:pPr>
            <a:r>
              <a:rPr lang="en-US" sz="1030" dirty="0">
                <a:solidFill>
                  <a:srgbClr val="3D4A57"/>
                </a:solidFill>
                <a:latin typeface="Calibri" pitchFamily="34" charset="0"/>
                <a:ea typeface="Calibri" pitchFamily="34" charset="-122"/>
                <a:cs typeface="Calibri" pitchFamily="34" charset="-120"/>
              </a:rPr>
              <a:t>Shared NPCI, payment and KYC rails and common technology.</a:t>
            </a:r>
            <a:endParaRPr lang="en-US" sz="1030" dirty="0"/>
          </a:p>
          <a:p>
            <a:pPr marL="203200" indent="-203200">
              <a:lnSpc>
                <a:spcPct val="103000"/>
              </a:lnSpc>
              <a:spcAft>
                <a:spcPts val="500"/>
              </a:spcAft>
              <a:buSzPct val="100000"/>
              <a:buChar char="▪"/>
            </a:pPr>
            <a:r>
              <a:rPr lang="en-US" sz="1030" dirty="0">
                <a:solidFill>
                  <a:srgbClr val="3D4A57"/>
                </a:solidFill>
                <a:latin typeface="Calibri" pitchFamily="34" charset="0"/>
                <a:ea typeface="Calibri" pitchFamily="34" charset="-122"/>
                <a:cs typeface="Calibri" pitchFamily="34" charset="-120"/>
              </a:rPr>
              <a:t>Reused compliance and licences instead of multi-year builds.</a:t>
            </a:r>
            <a:endParaRPr lang="en-US" sz="1030" dirty="0"/>
          </a:p>
          <a:p>
            <a:pPr marL="203200" indent="-203200">
              <a:lnSpc>
                <a:spcPct val="103000"/>
              </a:lnSpc>
              <a:spcAft>
                <a:spcPts val="500"/>
              </a:spcAft>
              <a:buSzPct val="100000"/>
              <a:buChar char="▪"/>
            </a:pPr>
            <a:r>
              <a:rPr lang="en-US" sz="1030" dirty="0">
                <a:solidFill>
                  <a:srgbClr val="3D4A57"/>
                </a:solidFill>
                <a:latin typeface="Calibri" pitchFamily="34" charset="0"/>
                <a:ea typeface="Calibri" pitchFamily="34" charset="-122"/>
                <a:cs typeface="Calibri" pitchFamily="34" charset="-120"/>
              </a:rPr>
              <a:t>One go-to-market motion across the super-app.</a:t>
            </a:r>
            <a:endParaRPr lang="en-US" sz="1030" dirty="0"/>
          </a:p>
        </p:txBody>
      </p:sp>
      <p:sp>
        <p:nvSpPr>
          <p:cNvPr id="25" name="Text 23"/>
          <p:cNvSpPr/>
          <p:nvPr/>
        </p:nvSpPr>
        <p:spPr>
          <a:xfrm>
            <a:off x="640080" y="6254496"/>
            <a:ext cx="10911535" cy="219456"/>
          </a:xfrm>
          <a:prstGeom prst="rect">
            <a:avLst/>
          </a:prstGeom>
          <a:noFill/>
          <a:ln/>
        </p:spPr>
        <p:txBody>
          <a:bodyPr wrap="square" lIns="0" tIns="0" rIns="0" bIns="0" rtlCol="0" anchor="ctr"/>
          <a:lstStyle/>
          <a:p>
            <a:pPr indent="0" marL="0">
              <a:buNone/>
            </a:pPr>
            <a:r>
              <a:rPr lang="en-US" sz="800" i="1" dirty="0">
                <a:solidFill>
                  <a:srgbClr val="7A8794"/>
                </a:solidFill>
                <a:latin typeface="Calibri" pitchFamily="34" charset="0"/>
                <a:ea typeface="Calibri" pitchFamily="34" charset="-122"/>
                <a:cs typeface="Calibri" pitchFamily="34" charset="-120"/>
              </a:rPr>
              <a:t>Source: Author's illustrative analysis. Indexed values are directional and not forecasts.</a:t>
            </a:r>
            <a:endParaRPr lang="en-US" sz="800" dirty="0"/>
          </a:p>
        </p:txBody>
      </p:sp>
      <p:sp>
        <p:nvSpPr>
          <p:cNvPr id="26" name="Text 24"/>
          <p:cNvSpPr/>
          <p:nvPr/>
        </p:nvSpPr>
        <p:spPr>
          <a:xfrm>
            <a:off x="640080" y="6492240"/>
            <a:ext cx="2743200" cy="237744"/>
          </a:xfrm>
          <a:prstGeom prst="rect">
            <a:avLst/>
          </a:prstGeom>
          <a:noFill/>
          <a:ln/>
        </p:spPr>
        <p:txBody>
          <a:bodyPr wrap="square" lIns="0" tIns="0" rIns="0" bIns="0" rtlCol="0" anchor="ctr"/>
          <a:lstStyle/>
          <a:p>
            <a:pPr indent="0" marL="0">
              <a:buNone/>
            </a:pPr>
            <a:r>
              <a:rPr lang="en-US" sz="750" b="1" spc="150" kern="0" dirty="0">
                <a:solidFill>
                  <a:srgbClr val="7A8794"/>
                </a:solidFill>
                <a:latin typeface="Calibri" pitchFamily="34" charset="0"/>
                <a:ea typeface="Calibri" pitchFamily="34" charset="-122"/>
                <a:cs typeface="Calibri" pitchFamily="34" charset="-120"/>
              </a:rPr>
              <a:t>PROJECT KEYSTONE</a:t>
            </a:r>
            <a:endParaRPr lang="en-US" sz="750" dirty="0"/>
          </a:p>
        </p:txBody>
      </p:sp>
      <p:sp>
        <p:nvSpPr>
          <p:cNvPr id="27" name="Text 25"/>
          <p:cNvSpPr/>
          <p:nvPr/>
        </p:nvSpPr>
        <p:spPr>
          <a:xfrm>
            <a:off x="3352648" y="6492240"/>
            <a:ext cx="5486400" cy="237744"/>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Strictly private and confidential  ·  Illustrative</a:t>
            </a:r>
            <a:endParaRPr lang="en-US" sz="750" dirty="0"/>
          </a:p>
        </p:txBody>
      </p:sp>
      <p:sp>
        <p:nvSpPr>
          <p:cNvPr id="28" name="Text 26"/>
          <p:cNvSpPr/>
          <p:nvPr/>
        </p:nvSpPr>
        <p:spPr>
          <a:xfrm>
            <a:off x="11094415" y="6492240"/>
            <a:ext cx="457200" cy="237744"/>
          </a:xfrm>
          <a:prstGeom prst="rect">
            <a:avLst/>
          </a:prstGeom>
          <a:noFill/>
          <a:ln/>
        </p:spPr>
        <p:txBody>
          <a:bodyPr wrap="square" lIns="0" tIns="0" rIns="0" bIns="0" rtlCol="0" anchor="ctr"/>
          <a:lstStyle/>
          <a:p>
            <a:pPr algn="r" indent="0" marL="0">
              <a:buNone/>
            </a:pPr>
            <a:r>
              <a:rPr lang="en-US" sz="850" dirty="0">
                <a:solidFill>
                  <a:srgbClr val="7A8794"/>
                </a:solidFill>
                <a:latin typeface="Calibri" pitchFamily="34" charset="0"/>
                <a:ea typeface="Calibri" pitchFamily="34" charset="-122"/>
                <a:cs typeface="Calibri" pitchFamily="34" charset="-120"/>
              </a:rPr>
              <a:t>17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20" kern="0" dirty="0">
                <a:solidFill>
                  <a:srgbClr val="8A6B3C"/>
                </a:solidFill>
                <a:latin typeface="Calibri" pitchFamily="34" charset="0"/>
                <a:ea typeface="Calibri" pitchFamily="34" charset="-122"/>
                <a:cs typeface="Calibri" pitchFamily="34" charset="-120"/>
              </a:rPr>
              <a:t>KEY RISKS</a:t>
            </a:r>
            <a:endParaRPr lang="en-US" sz="1100" dirty="0"/>
          </a:p>
        </p:txBody>
      </p:sp>
      <p:sp>
        <p:nvSpPr>
          <p:cNvPr id="3" name="Text 1"/>
          <p:cNvSpPr/>
          <p:nvPr/>
        </p:nvSpPr>
        <p:spPr>
          <a:xfrm>
            <a:off x="8808415" y="402336"/>
            <a:ext cx="2743200" cy="237744"/>
          </a:xfrm>
          <a:prstGeom prst="rect">
            <a:avLst/>
          </a:prstGeom>
          <a:noFill/>
          <a:ln/>
        </p:spPr>
        <p:txBody>
          <a:bodyPr wrap="square" lIns="0" tIns="0" rIns="0" bIns="0" rtlCol="0" anchor="ctr"/>
          <a:lstStyle/>
          <a:p>
            <a:pPr algn="r" indent="0" marL="0">
              <a:buNone/>
            </a:pPr>
            <a:r>
              <a:rPr lang="en-US" sz="950" b="1" spc="100" kern="0" dirty="0">
                <a:solidFill>
                  <a:srgbClr val="8A6B3C"/>
                </a:solidFill>
                <a:latin typeface="Calibri" pitchFamily="34" charset="0"/>
                <a:ea typeface="Calibri" pitchFamily="34" charset="-122"/>
                <a:cs typeface="Calibri" pitchFamily="34" charset="-120"/>
              </a:rPr>
              <a:t>Exhibit 11</a:t>
            </a:r>
            <a:endParaRPr lang="en-US" sz="950" dirty="0"/>
          </a:p>
        </p:txBody>
      </p:sp>
      <p:sp>
        <p:nvSpPr>
          <p:cNvPr id="4" name="Text 2"/>
          <p:cNvSpPr/>
          <p:nvPr/>
        </p:nvSpPr>
        <p:spPr>
          <a:xfrm>
            <a:off x="640080" y="658368"/>
            <a:ext cx="10911535" cy="566928"/>
          </a:xfrm>
          <a:prstGeom prst="rect">
            <a:avLst/>
          </a:prstGeom>
          <a:noFill/>
          <a:ln/>
        </p:spPr>
        <p:txBody>
          <a:bodyPr wrap="square" lIns="0" tIns="0" rIns="0" bIns="0" rtlCol="0" anchor="t"/>
          <a:lstStyle/>
          <a:p>
            <a:pPr indent="0" marL="0">
              <a:lnSpc>
                <a:spcPct val="98000"/>
              </a:lnSpc>
              <a:buNone/>
            </a:pPr>
            <a:r>
              <a:rPr lang="en-US" sz="2500" b="1" dirty="0">
                <a:solidFill>
                  <a:srgbClr val="0B2545"/>
                </a:solidFill>
                <a:latin typeface="Cambria" pitchFamily="34" charset="0"/>
                <a:ea typeface="Cambria" pitchFamily="34" charset="-122"/>
                <a:cs typeface="Cambria" pitchFamily="34" charset="-120"/>
              </a:rPr>
              <a:t>Principal risks and how they are managed</a:t>
            </a:r>
            <a:endParaRPr lang="en-US" sz="2500" dirty="0"/>
          </a:p>
        </p:txBody>
      </p:sp>
      <p:sp>
        <p:nvSpPr>
          <p:cNvPr id="5" name="Shape 3"/>
          <p:cNvSpPr/>
          <p:nvPr/>
        </p:nvSpPr>
        <p:spPr>
          <a:xfrm>
            <a:off x="640080" y="1572768"/>
            <a:ext cx="3977640" cy="420624"/>
          </a:xfrm>
          <a:prstGeom prst="rect">
            <a:avLst/>
          </a:prstGeom>
          <a:solidFill>
            <a:srgbClr val="0B2545"/>
          </a:solidFill>
          <a:ln/>
        </p:spPr>
      </p:sp>
      <p:sp>
        <p:nvSpPr>
          <p:cNvPr id="6" name="Shape 4"/>
          <p:cNvSpPr/>
          <p:nvPr/>
        </p:nvSpPr>
        <p:spPr>
          <a:xfrm>
            <a:off x="4617720" y="1572768"/>
            <a:ext cx="6933895" cy="420624"/>
          </a:xfrm>
          <a:prstGeom prst="rect">
            <a:avLst/>
          </a:prstGeom>
          <a:solidFill>
            <a:srgbClr val="8A6B3C"/>
          </a:solidFill>
          <a:ln/>
        </p:spPr>
      </p:sp>
      <p:sp>
        <p:nvSpPr>
          <p:cNvPr id="7" name="Text 5"/>
          <p:cNvSpPr/>
          <p:nvPr/>
        </p:nvSpPr>
        <p:spPr>
          <a:xfrm>
            <a:off x="804672" y="1572768"/>
            <a:ext cx="3703320"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Risk</a:t>
            </a:r>
            <a:endParaRPr lang="en-US" sz="1150" dirty="0"/>
          </a:p>
        </p:txBody>
      </p:sp>
      <p:sp>
        <p:nvSpPr>
          <p:cNvPr id="8" name="Text 6"/>
          <p:cNvSpPr/>
          <p:nvPr/>
        </p:nvSpPr>
        <p:spPr>
          <a:xfrm>
            <a:off x="4782312" y="1572768"/>
            <a:ext cx="6659575" cy="420624"/>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Mitigant</a:t>
            </a:r>
            <a:endParaRPr lang="en-US" sz="1150" dirty="0"/>
          </a:p>
        </p:txBody>
      </p:sp>
      <p:sp>
        <p:nvSpPr>
          <p:cNvPr id="9" name="Shape 7"/>
          <p:cNvSpPr/>
          <p:nvPr/>
        </p:nvSpPr>
        <p:spPr>
          <a:xfrm>
            <a:off x="640080" y="1993392"/>
            <a:ext cx="3977640" cy="640080"/>
          </a:xfrm>
          <a:prstGeom prst="rect">
            <a:avLst/>
          </a:prstGeom>
          <a:solidFill>
            <a:srgbClr val="F4F6F9"/>
          </a:solidFill>
          <a:ln w="9525">
            <a:solidFill>
              <a:srgbClr val="DCE3EB"/>
            </a:solidFill>
            <a:prstDash val="solid"/>
          </a:ln>
        </p:spPr>
      </p:sp>
      <p:sp>
        <p:nvSpPr>
          <p:cNvPr id="10" name="Shape 8"/>
          <p:cNvSpPr/>
          <p:nvPr/>
        </p:nvSpPr>
        <p:spPr>
          <a:xfrm>
            <a:off x="4617720" y="1993392"/>
            <a:ext cx="6933895" cy="640080"/>
          </a:xfrm>
          <a:prstGeom prst="rect">
            <a:avLst/>
          </a:prstGeom>
          <a:solidFill>
            <a:srgbClr val="F4F6F9"/>
          </a:solidFill>
          <a:ln w="9525">
            <a:solidFill>
              <a:srgbClr val="DCE3EB"/>
            </a:solidFill>
            <a:prstDash val="solid"/>
          </a:ln>
        </p:spPr>
      </p:sp>
      <p:pic>
        <p:nvPicPr>
          <p:cNvPr id="11" name="Image 0" descr="preencoded.png">    </p:cNvPr>
          <p:cNvPicPr>
            <a:picLocks noChangeAspect="1"/>
          </p:cNvPicPr>
          <p:nvPr/>
        </p:nvPicPr>
        <p:blipFill>
          <a:blip r:embed="rId1"/>
          <a:stretch>
            <a:fillRect/>
          </a:stretch>
        </p:blipFill>
        <p:spPr>
          <a:xfrm>
            <a:off x="822960" y="2212848"/>
            <a:ext cx="201168" cy="201168"/>
          </a:xfrm>
          <a:prstGeom prst="rect">
            <a:avLst/>
          </a:prstGeom>
        </p:spPr>
      </p:pic>
      <p:sp>
        <p:nvSpPr>
          <p:cNvPr id="12" name="Text 9"/>
          <p:cNvSpPr/>
          <p:nvPr/>
        </p:nvSpPr>
        <p:spPr>
          <a:xfrm>
            <a:off x="1133856" y="1993392"/>
            <a:ext cx="3337560" cy="640080"/>
          </a:xfrm>
          <a:prstGeom prst="rect">
            <a:avLst/>
          </a:prstGeom>
          <a:noFill/>
          <a:ln/>
        </p:spPr>
        <p:txBody>
          <a:bodyPr wrap="square" lIns="0" tIns="0" rIns="0" bIns="0" rtlCol="0" anchor="ctr"/>
          <a:lstStyle/>
          <a:p>
            <a:pPr indent="0" marL="0">
              <a:lnSpc>
                <a:spcPct val="96000"/>
              </a:lnSpc>
              <a:buNone/>
            </a:pPr>
            <a:r>
              <a:rPr lang="en-US" sz="1130" b="1" dirty="0">
                <a:solidFill>
                  <a:srgbClr val="0B2545"/>
                </a:solidFill>
                <a:latin typeface="Calibri" pitchFamily="34" charset="0"/>
                <a:ea typeface="Calibri" pitchFamily="34" charset="-122"/>
                <a:cs typeface="Calibri" pitchFamily="34" charset="-120"/>
              </a:rPr>
              <a:t>Profitability relapse</a:t>
            </a:r>
            <a:endParaRPr lang="en-US" sz="1130" dirty="0"/>
          </a:p>
        </p:txBody>
      </p:sp>
      <p:pic>
        <p:nvPicPr>
          <p:cNvPr id="13" name="Image 1" descr="preencoded.png">    </p:cNvPr>
          <p:cNvPicPr>
            <a:picLocks noChangeAspect="1"/>
          </p:cNvPicPr>
          <p:nvPr/>
        </p:nvPicPr>
        <p:blipFill>
          <a:blip r:embed="rId2"/>
          <a:stretch>
            <a:fillRect/>
          </a:stretch>
        </p:blipFill>
        <p:spPr>
          <a:xfrm>
            <a:off x="4800600" y="2212848"/>
            <a:ext cx="201168" cy="201168"/>
          </a:xfrm>
          <a:prstGeom prst="rect">
            <a:avLst/>
          </a:prstGeom>
        </p:spPr>
      </p:pic>
      <p:sp>
        <p:nvSpPr>
          <p:cNvPr id="14" name="Text 10"/>
          <p:cNvSpPr/>
          <p:nvPr/>
        </p:nvSpPr>
        <p:spPr>
          <a:xfrm>
            <a:off x="5111496" y="1993392"/>
            <a:ext cx="6275527" cy="640080"/>
          </a:xfrm>
          <a:prstGeom prst="rect">
            <a:avLst/>
          </a:prstGeom>
          <a:noFill/>
          <a:ln/>
        </p:spPr>
        <p:txBody>
          <a:bodyPr wrap="square" lIns="0" tIns="0" rIns="0" bIns="0" rtlCol="0" anchor="ctr"/>
          <a:lstStyle/>
          <a:p>
            <a:pPr indent="0" marL="0">
              <a:lnSpc>
                <a:spcPct val="100000"/>
              </a:lnSpc>
              <a:buNone/>
            </a:pPr>
            <a:r>
              <a:rPr lang="en-US" sz="1080" dirty="0">
                <a:solidFill>
                  <a:srgbClr val="3D4A57"/>
                </a:solidFill>
                <a:latin typeface="Calibri" pitchFamily="34" charset="0"/>
                <a:ea typeface="Calibri" pitchFamily="34" charset="-122"/>
                <a:cs typeface="Calibri" pitchFamily="34" charset="-120"/>
              </a:rPr>
              <a:t>Stock-funded deals, an EBITDA-neutral test, and strict sequencing keep the group in the black.</a:t>
            </a:r>
            <a:endParaRPr lang="en-US" sz="1080" dirty="0"/>
          </a:p>
        </p:txBody>
      </p:sp>
      <p:sp>
        <p:nvSpPr>
          <p:cNvPr id="15" name="Shape 11"/>
          <p:cNvSpPr/>
          <p:nvPr/>
        </p:nvSpPr>
        <p:spPr>
          <a:xfrm>
            <a:off x="640080" y="2633472"/>
            <a:ext cx="3977640" cy="640080"/>
          </a:xfrm>
          <a:prstGeom prst="rect">
            <a:avLst/>
          </a:prstGeom>
          <a:solidFill>
            <a:srgbClr val="FFFFFF"/>
          </a:solidFill>
          <a:ln w="9525">
            <a:solidFill>
              <a:srgbClr val="DCE3EB"/>
            </a:solidFill>
            <a:prstDash val="solid"/>
          </a:ln>
        </p:spPr>
      </p:sp>
      <p:sp>
        <p:nvSpPr>
          <p:cNvPr id="16" name="Shape 12"/>
          <p:cNvSpPr/>
          <p:nvPr/>
        </p:nvSpPr>
        <p:spPr>
          <a:xfrm>
            <a:off x="4617720" y="2633472"/>
            <a:ext cx="6933895" cy="640080"/>
          </a:xfrm>
          <a:prstGeom prst="rect">
            <a:avLst/>
          </a:prstGeom>
          <a:solidFill>
            <a:srgbClr val="FFFFFF"/>
          </a:solidFill>
          <a:ln w="9525">
            <a:solidFill>
              <a:srgbClr val="DCE3EB"/>
            </a:solidFill>
            <a:prstDash val="solid"/>
          </a:ln>
        </p:spPr>
      </p:sp>
      <p:pic>
        <p:nvPicPr>
          <p:cNvPr id="17" name="Image 2" descr="preencoded.png">    </p:cNvPr>
          <p:cNvPicPr>
            <a:picLocks noChangeAspect="1"/>
          </p:cNvPicPr>
          <p:nvPr/>
        </p:nvPicPr>
        <p:blipFill>
          <a:blip r:embed="rId3"/>
          <a:stretch>
            <a:fillRect/>
          </a:stretch>
        </p:blipFill>
        <p:spPr>
          <a:xfrm>
            <a:off x="822960" y="2852928"/>
            <a:ext cx="201168" cy="201168"/>
          </a:xfrm>
          <a:prstGeom prst="rect">
            <a:avLst/>
          </a:prstGeom>
        </p:spPr>
      </p:pic>
      <p:sp>
        <p:nvSpPr>
          <p:cNvPr id="18" name="Text 13"/>
          <p:cNvSpPr/>
          <p:nvPr/>
        </p:nvSpPr>
        <p:spPr>
          <a:xfrm>
            <a:off x="1133856" y="2633472"/>
            <a:ext cx="3337560" cy="640080"/>
          </a:xfrm>
          <a:prstGeom prst="rect">
            <a:avLst/>
          </a:prstGeom>
          <a:noFill/>
          <a:ln/>
        </p:spPr>
        <p:txBody>
          <a:bodyPr wrap="square" lIns="0" tIns="0" rIns="0" bIns="0" rtlCol="0" anchor="ctr"/>
          <a:lstStyle/>
          <a:p>
            <a:pPr indent="0" marL="0">
              <a:lnSpc>
                <a:spcPct val="96000"/>
              </a:lnSpc>
              <a:buNone/>
            </a:pPr>
            <a:r>
              <a:rPr lang="en-US" sz="1130" b="1" dirty="0">
                <a:solidFill>
                  <a:srgbClr val="0B2545"/>
                </a:solidFill>
                <a:latin typeface="Calibri" pitchFamily="34" charset="0"/>
                <a:ea typeface="Calibri" pitchFamily="34" charset="-122"/>
                <a:cs typeface="Calibri" pitchFamily="34" charset="-120"/>
              </a:rPr>
              <a:t>Thin integration capacity</a:t>
            </a:r>
            <a:endParaRPr lang="en-US" sz="1130" dirty="0"/>
          </a:p>
        </p:txBody>
      </p:sp>
      <p:pic>
        <p:nvPicPr>
          <p:cNvPr id="19" name="Image 3" descr="preencoded.png">    </p:cNvPr>
          <p:cNvPicPr>
            <a:picLocks noChangeAspect="1"/>
          </p:cNvPicPr>
          <p:nvPr/>
        </p:nvPicPr>
        <p:blipFill>
          <a:blip r:embed="rId4"/>
          <a:stretch>
            <a:fillRect/>
          </a:stretch>
        </p:blipFill>
        <p:spPr>
          <a:xfrm>
            <a:off x="4800600" y="2852928"/>
            <a:ext cx="201168" cy="201168"/>
          </a:xfrm>
          <a:prstGeom prst="rect">
            <a:avLst/>
          </a:prstGeom>
        </p:spPr>
      </p:pic>
      <p:sp>
        <p:nvSpPr>
          <p:cNvPr id="20" name="Text 14"/>
          <p:cNvSpPr/>
          <p:nvPr/>
        </p:nvSpPr>
        <p:spPr>
          <a:xfrm>
            <a:off x="5111496" y="2633472"/>
            <a:ext cx="6275527" cy="640080"/>
          </a:xfrm>
          <a:prstGeom prst="rect">
            <a:avLst/>
          </a:prstGeom>
          <a:noFill/>
          <a:ln/>
        </p:spPr>
        <p:txBody>
          <a:bodyPr wrap="square" lIns="0" tIns="0" rIns="0" bIns="0" rtlCol="0" anchor="ctr"/>
          <a:lstStyle/>
          <a:p>
            <a:pPr indent="0" marL="0">
              <a:lnSpc>
                <a:spcPct val="100000"/>
              </a:lnSpc>
              <a:buNone/>
            </a:pPr>
            <a:r>
              <a:rPr lang="en-US" sz="1080" dirty="0">
                <a:solidFill>
                  <a:srgbClr val="3D4A57"/>
                </a:solidFill>
                <a:latin typeface="Calibri" pitchFamily="34" charset="0"/>
                <a:ea typeface="Calibri" pitchFamily="34" charset="-122"/>
                <a:cs typeface="Calibri" pitchFamily="34" charset="-120"/>
              </a:rPr>
              <a:t>Cap active integrations; anchor a corp-dev and integration lead; run a 100-day plan per deal.</a:t>
            </a:r>
            <a:endParaRPr lang="en-US" sz="1080" dirty="0"/>
          </a:p>
        </p:txBody>
      </p:sp>
      <p:sp>
        <p:nvSpPr>
          <p:cNvPr id="21" name="Shape 15"/>
          <p:cNvSpPr/>
          <p:nvPr/>
        </p:nvSpPr>
        <p:spPr>
          <a:xfrm>
            <a:off x="640080" y="3273552"/>
            <a:ext cx="3977640" cy="640080"/>
          </a:xfrm>
          <a:prstGeom prst="rect">
            <a:avLst/>
          </a:prstGeom>
          <a:solidFill>
            <a:srgbClr val="F4F6F9"/>
          </a:solidFill>
          <a:ln w="9525">
            <a:solidFill>
              <a:srgbClr val="DCE3EB"/>
            </a:solidFill>
            <a:prstDash val="solid"/>
          </a:ln>
        </p:spPr>
      </p:sp>
      <p:sp>
        <p:nvSpPr>
          <p:cNvPr id="22" name="Shape 16"/>
          <p:cNvSpPr/>
          <p:nvPr/>
        </p:nvSpPr>
        <p:spPr>
          <a:xfrm>
            <a:off x="4617720" y="3273552"/>
            <a:ext cx="6933895" cy="640080"/>
          </a:xfrm>
          <a:prstGeom prst="rect">
            <a:avLst/>
          </a:prstGeom>
          <a:solidFill>
            <a:srgbClr val="F4F6F9"/>
          </a:solidFill>
          <a:ln w="9525">
            <a:solidFill>
              <a:srgbClr val="DCE3EB"/>
            </a:solidFill>
            <a:prstDash val="solid"/>
          </a:ln>
        </p:spPr>
      </p:sp>
      <p:pic>
        <p:nvPicPr>
          <p:cNvPr id="23" name="Image 4" descr="preencoded.png">    </p:cNvPr>
          <p:cNvPicPr>
            <a:picLocks noChangeAspect="1"/>
          </p:cNvPicPr>
          <p:nvPr/>
        </p:nvPicPr>
        <p:blipFill>
          <a:blip r:embed="rId5"/>
          <a:stretch>
            <a:fillRect/>
          </a:stretch>
        </p:blipFill>
        <p:spPr>
          <a:xfrm>
            <a:off x="822960" y="3493008"/>
            <a:ext cx="201168" cy="201168"/>
          </a:xfrm>
          <a:prstGeom prst="rect">
            <a:avLst/>
          </a:prstGeom>
        </p:spPr>
      </p:pic>
      <p:sp>
        <p:nvSpPr>
          <p:cNvPr id="24" name="Text 17"/>
          <p:cNvSpPr/>
          <p:nvPr/>
        </p:nvSpPr>
        <p:spPr>
          <a:xfrm>
            <a:off x="1133856" y="3273552"/>
            <a:ext cx="3337560" cy="640080"/>
          </a:xfrm>
          <a:prstGeom prst="rect">
            <a:avLst/>
          </a:prstGeom>
          <a:noFill/>
          <a:ln/>
        </p:spPr>
        <p:txBody>
          <a:bodyPr wrap="square" lIns="0" tIns="0" rIns="0" bIns="0" rtlCol="0" anchor="ctr"/>
          <a:lstStyle/>
          <a:p>
            <a:pPr indent="0" marL="0">
              <a:lnSpc>
                <a:spcPct val="96000"/>
              </a:lnSpc>
              <a:buNone/>
            </a:pPr>
            <a:r>
              <a:rPr lang="en-US" sz="1130" b="1" dirty="0">
                <a:solidFill>
                  <a:srgbClr val="0B2545"/>
                </a:solidFill>
                <a:latin typeface="Calibri" pitchFamily="34" charset="0"/>
                <a:ea typeface="Calibri" pitchFamily="34" charset="-122"/>
                <a:cs typeface="Calibri" pitchFamily="34" charset="-120"/>
              </a:rPr>
              <a:t>Licence and regulatory transfer</a:t>
            </a:r>
            <a:endParaRPr lang="en-US" sz="1130" dirty="0"/>
          </a:p>
        </p:txBody>
      </p:sp>
      <p:pic>
        <p:nvPicPr>
          <p:cNvPr id="25" name="Image 5" descr="preencoded.png">    </p:cNvPr>
          <p:cNvPicPr>
            <a:picLocks noChangeAspect="1"/>
          </p:cNvPicPr>
          <p:nvPr/>
        </p:nvPicPr>
        <p:blipFill>
          <a:blip r:embed="rId6"/>
          <a:stretch>
            <a:fillRect/>
          </a:stretch>
        </p:blipFill>
        <p:spPr>
          <a:xfrm>
            <a:off x="4800600" y="3493008"/>
            <a:ext cx="201168" cy="201168"/>
          </a:xfrm>
          <a:prstGeom prst="rect">
            <a:avLst/>
          </a:prstGeom>
        </p:spPr>
      </p:pic>
      <p:sp>
        <p:nvSpPr>
          <p:cNvPr id="26" name="Text 18"/>
          <p:cNvSpPr/>
          <p:nvPr/>
        </p:nvSpPr>
        <p:spPr>
          <a:xfrm>
            <a:off x="5111496" y="3273552"/>
            <a:ext cx="6275527" cy="640080"/>
          </a:xfrm>
          <a:prstGeom prst="rect">
            <a:avLst/>
          </a:prstGeom>
          <a:noFill/>
          <a:ln/>
        </p:spPr>
        <p:txBody>
          <a:bodyPr wrap="square" lIns="0" tIns="0" rIns="0" bIns="0" rtlCol="0" anchor="ctr"/>
          <a:lstStyle/>
          <a:p>
            <a:pPr indent="0" marL="0">
              <a:lnSpc>
                <a:spcPct val="100000"/>
              </a:lnSpc>
              <a:buNone/>
            </a:pPr>
            <a:r>
              <a:rPr lang="en-US" sz="1080" dirty="0">
                <a:solidFill>
                  <a:srgbClr val="3D4A57"/>
                </a:solidFill>
                <a:latin typeface="Calibri" pitchFamily="34" charset="0"/>
                <a:ea typeface="Calibri" pitchFamily="34" charset="-122"/>
                <a:cs typeface="Calibri" pitchFamily="34" charset="-120"/>
              </a:rPr>
              <a:t>Lead with regulatory diligence; structure as business or asset transfers where cleaner.</a:t>
            </a:r>
            <a:endParaRPr lang="en-US" sz="1080" dirty="0"/>
          </a:p>
        </p:txBody>
      </p:sp>
      <p:sp>
        <p:nvSpPr>
          <p:cNvPr id="27" name="Shape 19"/>
          <p:cNvSpPr/>
          <p:nvPr/>
        </p:nvSpPr>
        <p:spPr>
          <a:xfrm>
            <a:off x="640080" y="3913632"/>
            <a:ext cx="3977640" cy="640080"/>
          </a:xfrm>
          <a:prstGeom prst="rect">
            <a:avLst/>
          </a:prstGeom>
          <a:solidFill>
            <a:srgbClr val="FFFFFF"/>
          </a:solidFill>
          <a:ln w="9525">
            <a:solidFill>
              <a:srgbClr val="DCE3EB"/>
            </a:solidFill>
            <a:prstDash val="solid"/>
          </a:ln>
        </p:spPr>
      </p:sp>
      <p:sp>
        <p:nvSpPr>
          <p:cNvPr id="28" name="Shape 20"/>
          <p:cNvSpPr/>
          <p:nvPr/>
        </p:nvSpPr>
        <p:spPr>
          <a:xfrm>
            <a:off x="4617720" y="3913632"/>
            <a:ext cx="6933895" cy="640080"/>
          </a:xfrm>
          <a:prstGeom prst="rect">
            <a:avLst/>
          </a:prstGeom>
          <a:solidFill>
            <a:srgbClr val="FFFFFF"/>
          </a:solidFill>
          <a:ln w="9525">
            <a:solidFill>
              <a:srgbClr val="DCE3EB"/>
            </a:solidFill>
            <a:prstDash val="solid"/>
          </a:ln>
        </p:spPr>
      </p:sp>
      <p:pic>
        <p:nvPicPr>
          <p:cNvPr id="29" name="Image 6" descr="preencoded.png">    </p:cNvPr>
          <p:cNvPicPr>
            <a:picLocks noChangeAspect="1"/>
          </p:cNvPicPr>
          <p:nvPr/>
        </p:nvPicPr>
        <p:blipFill>
          <a:blip r:embed="rId7"/>
          <a:stretch>
            <a:fillRect/>
          </a:stretch>
        </p:blipFill>
        <p:spPr>
          <a:xfrm>
            <a:off x="822960" y="4133088"/>
            <a:ext cx="201168" cy="201168"/>
          </a:xfrm>
          <a:prstGeom prst="rect">
            <a:avLst/>
          </a:prstGeom>
        </p:spPr>
      </p:pic>
      <p:sp>
        <p:nvSpPr>
          <p:cNvPr id="30" name="Text 21"/>
          <p:cNvSpPr/>
          <p:nvPr/>
        </p:nvSpPr>
        <p:spPr>
          <a:xfrm>
            <a:off x="1133856" y="3913632"/>
            <a:ext cx="3337560" cy="640080"/>
          </a:xfrm>
          <a:prstGeom prst="rect">
            <a:avLst/>
          </a:prstGeom>
          <a:noFill/>
          <a:ln/>
        </p:spPr>
        <p:txBody>
          <a:bodyPr wrap="square" lIns="0" tIns="0" rIns="0" bIns="0" rtlCol="0" anchor="ctr"/>
          <a:lstStyle/>
          <a:p>
            <a:pPr indent="0" marL="0">
              <a:lnSpc>
                <a:spcPct val="96000"/>
              </a:lnSpc>
              <a:buNone/>
            </a:pPr>
            <a:r>
              <a:rPr lang="en-US" sz="1130" b="1" dirty="0">
                <a:solidFill>
                  <a:srgbClr val="0B2545"/>
                </a:solidFill>
                <a:latin typeface="Calibri" pitchFamily="34" charset="0"/>
                <a:ea typeface="Calibri" pitchFamily="34" charset="-122"/>
                <a:cs typeface="Calibri" pitchFamily="34" charset="-120"/>
              </a:rPr>
              <a:t>Channel conflict (Blostem)</a:t>
            </a:r>
            <a:endParaRPr lang="en-US" sz="1130" dirty="0"/>
          </a:p>
        </p:txBody>
      </p:sp>
      <p:pic>
        <p:nvPicPr>
          <p:cNvPr id="31" name="Image 7" descr="preencoded.png">    </p:cNvPr>
          <p:cNvPicPr>
            <a:picLocks noChangeAspect="1"/>
          </p:cNvPicPr>
          <p:nvPr/>
        </p:nvPicPr>
        <p:blipFill>
          <a:blip r:embed="rId8"/>
          <a:stretch>
            <a:fillRect/>
          </a:stretch>
        </p:blipFill>
        <p:spPr>
          <a:xfrm>
            <a:off x="4800600" y="4133088"/>
            <a:ext cx="201168" cy="201168"/>
          </a:xfrm>
          <a:prstGeom prst="rect">
            <a:avLst/>
          </a:prstGeom>
        </p:spPr>
      </p:pic>
      <p:sp>
        <p:nvSpPr>
          <p:cNvPr id="32" name="Text 22"/>
          <p:cNvSpPr/>
          <p:nvPr/>
        </p:nvSpPr>
        <p:spPr>
          <a:xfrm>
            <a:off x="5111496" y="3913632"/>
            <a:ext cx="6275527" cy="640080"/>
          </a:xfrm>
          <a:prstGeom prst="rect">
            <a:avLst/>
          </a:prstGeom>
          <a:noFill/>
          <a:ln/>
        </p:spPr>
        <p:txBody>
          <a:bodyPr wrap="square" lIns="0" tIns="0" rIns="0" bIns="0" rtlCol="0" anchor="ctr"/>
          <a:lstStyle/>
          <a:p>
            <a:pPr indent="0" marL="0">
              <a:lnSpc>
                <a:spcPct val="100000"/>
              </a:lnSpc>
              <a:buNone/>
            </a:pPr>
            <a:r>
              <a:rPr lang="en-US" sz="1080" dirty="0">
                <a:solidFill>
                  <a:srgbClr val="3D4A57"/>
                </a:solidFill>
                <a:latin typeface="Calibri" pitchFamily="34" charset="0"/>
                <a:ea typeface="Calibri" pitchFamily="34" charset="-122"/>
                <a:cs typeface="Calibri" pitchFamily="34" charset="-120"/>
              </a:rPr>
              <a:t>Keep governance arm's-length so rival platforms remain on the rail, or accept a measured verticalisation.</a:t>
            </a:r>
            <a:endParaRPr lang="en-US" sz="1080" dirty="0"/>
          </a:p>
        </p:txBody>
      </p:sp>
      <p:sp>
        <p:nvSpPr>
          <p:cNvPr id="33" name="Shape 23"/>
          <p:cNvSpPr/>
          <p:nvPr/>
        </p:nvSpPr>
        <p:spPr>
          <a:xfrm>
            <a:off x="640080" y="4553712"/>
            <a:ext cx="3977640" cy="640080"/>
          </a:xfrm>
          <a:prstGeom prst="rect">
            <a:avLst/>
          </a:prstGeom>
          <a:solidFill>
            <a:srgbClr val="F4F6F9"/>
          </a:solidFill>
          <a:ln w="9525">
            <a:solidFill>
              <a:srgbClr val="DCE3EB"/>
            </a:solidFill>
            <a:prstDash val="solid"/>
          </a:ln>
        </p:spPr>
      </p:sp>
      <p:sp>
        <p:nvSpPr>
          <p:cNvPr id="34" name="Shape 24"/>
          <p:cNvSpPr/>
          <p:nvPr/>
        </p:nvSpPr>
        <p:spPr>
          <a:xfrm>
            <a:off x="4617720" y="4553712"/>
            <a:ext cx="6933895" cy="640080"/>
          </a:xfrm>
          <a:prstGeom prst="rect">
            <a:avLst/>
          </a:prstGeom>
          <a:solidFill>
            <a:srgbClr val="F4F6F9"/>
          </a:solidFill>
          <a:ln w="9525">
            <a:solidFill>
              <a:srgbClr val="DCE3EB"/>
            </a:solidFill>
            <a:prstDash val="solid"/>
          </a:ln>
        </p:spPr>
      </p:sp>
      <p:pic>
        <p:nvPicPr>
          <p:cNvPr id="35" name="Image 8" descr="preencoded.png">    </p:cNvPr>
          <p:cNvPicPr>
            <a:picLocks noChangeAspect="1"/>
          </p:cNvPicPr>
          <p:nvPr/>
        </p:nvPicPr>
        <p:blipFill>
          <a:blip r:embed="rId9"/>
          <a:stretch>
            <a:fillRect/>
          </a:stretch>
        </p:blipFill>
        <p:spPr>
          <a:xfrm>
            <a:off x="822960" y="4773168"/>
            <a:ext cx="201168" cy="201168"/>
          </a:xfrm>
          <a:prstGeom prst="rect">
            <a:avLst/>
          </a:prstGeom>
        </p:spPr>
      </p:pic>
      <p:sp>
        <p:nvSpPr>
          <p:cNvPr id="36" name="Text 25"/>
          <p:cNvSpPr/>
          <p:nvPr/>
        </p:nvSpPr>
        <p:spPr>
          <a:xfrm>
            <a:off x="1133856" y="4553712"/>
            <a:ext cx="3337560" cy="640080"/>
          </a:xfrm>
          <a:prstGeom prst="rect">
            <a:avLst/>
          </a:prstGeom>
          <a:noFill/>
          <a:ln/>
        </p:spPr>
        <p:txBody>
          <a:bodyPr wrap="square" lIns="0" tIns="0" rIns="0" bIns="0" rtlCol="0" anchor="ctr"/>
          <a:lstStyle/>
          <a:p>
            <a:pPr indent="0" marL="0">
              <a:lnSpc>
                <a:spcPct val="96000"/>
              </a:lnSpc>
              <a:buNone/>
            </a:pPr>
            <a:r>
              <a:rPr lang="en-US" sz="1130" b="1" dirty="0">
                <a:solidFill>
                  <a:srgbClr val="0B2545"/>
                </a:solidFill>
                <a:latin typeface="Calibri" pitchFamily="34" charset="0"/>
                <a:ea typeface="Calibri" pitchFamily="34" charset="-122"/>
                <a:cs typeface="Calibri" pitchFamily="34" charset="-120"/>
              </a:rPr>
              <a:t>Talent flight</a:t>
            </a:r>
            <a:endParaRPr lang="en-US" sz="1130" dirty="0"/>
          </a:p>
        </p:txBody>
      </p:sp>
      <p:pic>
        <p:nvPicPr>
          <p:cNvPr id="37" name="Image 9" descr="preencoded.png">    </p:cNvPr>
          <p:cNvPicPr>
            <a:picLocks noChangeAspect="1"/>
          </p:cNvPicPr>
          <p:nvPr/>
        </p:nvPicPr>
        <p:blipFill>
          <a:blip r:embed="rId10"/>
          <a:stretch>
            <a:fillRect/>
          </a:stretch>
        </p:blipFill>
        <p:spPr>
          <a:xfrm>
            <a:off x="4800600" y="4773168"/>
            <a:ext cx="201168" cy="201168"/>
          </a:xfrm>
          <a:prstGeom prst="rect">
            <a:avLst/>
          </a:prstGeom>
        </p:spPr>
      </p:pic>
      <p:sp>
        <p:nvSpPr>
          <p:cNvPr id="38" name="Text 26"/>
          <p:cNvSpPr/>
          <p:nvPr/>
        </p:nvSpPr>
        <p:spPr>
          <a:xfrm>
            <a:off x="5111496" y="4553712"/>
            <a:ext cx="6275527" cy="640080"/>
          </a:xfrm>
          <a:prstGeom prst="rect">
            <a:avLst/>
          </a:prstGeom>
          <a:noFill/>
          <a:ln/>
        </p:spPr>
        <p:txBody>
          <a:bodyPr wrap="square" lIns="0" tIns="0" rIns="0" bIns="0" rtlCol="0" anchor="ctr"/>
          <a:lstStyle/>
          <a:p>
            <a:pPr indent="0" marL="0">
              <a:lnSpc>
                <a:spcPct val="100000"/>
              </a:lnSpc>
              <a:buNone/>
            </a:pPr>
            <a:r>
              <a:rPr lang="en-US" sz="1080" dirty="0">
                <a:solidFill>
                  <a:srgbClr val="3D4A57"/>
                </a:solidFill>
                <a:latin typeface="Calibri" pitchFamily="34" charset="0"/>
                <a:ea typeface="Calibri" pitchFamily="34" charset="-122"/>
                <a:cs typeface="Calibri" pitchFamily="34" charset="-120"/>
              </a:rPr>
              <a:t>Retention earnouts and founder lock-ins, as worked with the Clearfunds acquisition.</a:t>
            </a:r>
            <a:endParaRPr lang="en-US" sz="1080" dirty="0"/>
          </a:p>
        </p:txBody>
      </p:sp>
      <p:sp>
        <p:nvSpPr>
          <p:cNvPr id="39" name="Shape 27"/>
          <p:cNvSpPr/>
          <p:nvPr/>
        </p:nvSpPr>
        <p:spPr>
          <a:xfrm>
            <a:off x="640080" y="5193792"/>
            <a:ext cx="3977640" cy="640080"/>
          </a:xfrm>
          <a:prstGeom prst="rect">
            <a:avLst/>
          </a:prstGeom>
          <a:solidFill>
            <a:srgbClr val="FFFFFF"/>
          </a:solidFill>
          <a:ln w="9525">
            <a:solidFill>
              <a:srgbClr val="DCE3EB"/>
            </a:solidFill>
            <a:prstDash val="solid"/>
          </a:ln>
        </p:spPr>
      </p:sp>
      <p:sp>
        <p:nvSpPr>
          <p:cNvPr id="40" name="Shape 28"/>
          <p:cNvSpPr/>
          <p:nvPr/>
        </p:nvSpPr>
        <p:spPr>
          <a:xfrm>
            <a:off x="4617720" y="5193792"/>
            <a:ext cx="6933895" cy="640080"/>
          </a:xfrm>
          <a:prstGeom prst="rect">
            <a:avLst/>
          </a:prstGeom>
          <a:solidFill>
            <a:srgbClr val="FFFFFF"/>
          </a:solidFill>
          <a:ln w="9525">
            <a:solidFill>
              <a:srgbClr val="DCE3EB"/>
            </a:solidFill>
            <a:prstDash val="solid"/>
          </a:ln>
        </p:spPr>
      </p:sp>
      <p:pic>
        <p:nvPicPr>
          <p:cNvPr id="41" name="Image 10" descr="preencoded.png">    </p:cNvPr>
          <p:cNvPicPr>
            <a:picLocks noChangeAspect="1"/>
          </p:cNvPicPr>
          <p:nvPr/>
        </p:nvPicPr>
        <p:blipFill>
          <a:blip r:embed="rId11"/>
          <a:stretch>
            <a:fillRect/>
          </a:stretch>
        </p:blipFill>
        <p:spPr>
          <a:xfrm>
            <a:off x="822960" y="5413248"/>
            <a:ext cx="201168" cy="201168"/>
          </a:xfrm>
          <a:prstGeom prst="rect">
            <a:avLst/>
          </a:prstGeom>
        </p:spPr>
      </p:pic>
      <p:sp>
        <p:nvSpPr>
          <p:cNvPr id="42" name="Text 29"/>
          <p:cNvSpPr/>
          <p:nvPr/>
        </p:nvSpPr>
        <p:spPr>
          <a:xfrm>
            <a:off x="1133856" y="5193792"/>
            <a:ext cx="3337560" cy="640080"/>
          </a:xfrm>
          <a:prstGeom prst="rect">
            <a:avLst/>
          </a:prstGeom>
          <a:noFill/>
          <a:ln/>
        </p:spPr>
        <p:txBody>
          <a:bodyPr wrap="square" lIns="0" tIns="0" rIns="0" bIns="0" rtlCol="0" anchor="ctr"/>
          <a:lstStyle/>
          <a:p>
            <a:pPr indent="0" marL="0">
              <a:lnSpc>
                <a:spcPct val="96000"/>
              </a:lnSpc>
              <a:buNone/>
            </a:pPr>
            <a:r>
              <a:rPr lang="en-US" sz="1130" b="1" dirty="0">
                <a:solidFill>
                  <a:srgbClr val="0B2545"/>
                </a:solidFill>
                <a:latin typeface="Calibri" pitchFamily="34" charset="0"/>
                <a:ea typeface="Calibri" pitchFamily="34" charset="-122"/>
                <a:cs typeface="Calibri" pitchFamily="34" charset="-120"/>
              </a:rPr>
              <a:t>Overpayment in a thin market</a:t>
            </a:r>
            <a:endParaRPr lang="en-US" sz="1130" dirty="0"/>
          </a:p>
        </p:txBody>
      </p:sp>
      <p:pic>
        <p:nvPicPr>
          <p:cNvPr id="43" name="Image 11" descr="preencoded.png">    </p:cNvPr>
          <p:cNvPicPr>
            <a:picLocks noChangeAspect="1"/>
          </p:cNvPicPr>
          <p:nvPr/>
        </p:nvPicPr>
        <p:blipFill>
          <a:blip r:embed="rId12"/>
          <a:stretch>
            <a:fillRect/>
          </a:stretch>
        </p:blipFill>
        <p:spPr>
          <a:xfrm>
            <a:off x="4800600" y="5413248"/>
            <a:ext cx="201168" cy="201168"/>
          </a:xfrm>
          <a:prstGeom prst="rect">
            <a:avLst/>
          </a:prstGeom>
        </p:spPr>
      </p:pic>
      <p:sp>
        <p:nvSpPr>
          <p:cNvPr id="44" name="Text 30"/>
          <p:cNvSpPr/>
          <p:nvPr/>
        </p:nvSpPr>
        <p:spPr>
          <a:xfrm>
            <a:off x="5111496" y="5193792"/>
            <a:ext cx="6275527" cy="640080"/>
          </a:xfrm>
          <a:prstGeom prst="rect">
            <a:avLst/>
          </a:prstGeom>
          <a:noFill/>
          <a:ln/>
        </p:spPr>
        <p:txBody>
          <a:bodyPr wrap="square" lIns="0" tIns="0" rIns="0" bIns="0" rtlCol="0" anchor="ctr"/>
          <a:lstStyle/>
          <a:p>
            <a:pPr indent="0" marL="0">
              <a:lnSpc>
                <a:spcPct val="100000"/>
              </a:lnSpc>
              <a:buNone/>
            </a:pPr>
            <a:r>
              <a:rPr lang="en-US" sz="1080" dirty="0">
                <a:solidFill>
                  <a:srgbClr val="3D4A57"/>
                </a:solidFill>
                <a:latin typeface="Calibri" pitchFamily="34" charset="0"/>
                <a:ea typeface="Calibri" pitchFamily="34" charset="-122"/>
                <a:cs typeface="Calibri" pitchFamily="34" charset="-120"/>
              </a:rPr>
              <a:t>Disciplined multiples and a firm walk-away price; favour strategic fit over auctions.</a:t>
            </a:r>
            <a:endParaRPr lang="en-US" sz="1080" dirty="0"/>
          </a:p>
        </p:txBody>
      </p:sp>
      <p:sp>
        <p:nvSpPr>
          <p:cNvPr id="45" name="Text 31"/>
          <p:cNvSpPr/>
          <p:nvPr/>
        </p:nvSpPr>
        <p:spPr>
          <a:xfrm>
            <a:off x="640080" y="6492240"/>
            <a:ext cx="2743200" cy="237744"/>
          </a:xfrm>
          <a:prstGeom prst="rect">
            <a:avLst/>
          </a:prstGeom>
          <a:noFill/>
          <a:ln/>
        </p:spPr>
        <p:txBody>
          <a:bodyPr wrap="square" lIns="0" tIns="0" rIns="0" bIns="0" rtlCol="0" anchor="ctr"/>
          <a:lstStyle/>
          <a:p>
            <a:pPr indent="0" marL="0">
              <a:buNone/>
            </a:pPr>
            <a:r>
              <a:rPr lang="en-US" sz="750" b="1" spc="150" kern="0" dirty="0">
                <a:solidFill>
                  <a:srgbClr val="7A8794"/>
                </a:solidFill>
                <a:latin typeface="Calibri" pitchFamily="34" charset="0"/>
                <a:ea typeface="Calibri" pitchFamily="34" charset="-122"/>
                <a:cs typeface="Calibri" pitchFamily="34" charset="-120"/>
              </a:rPr>
              <a:t>PROJECT KEYSTONE</a:t>
            </a:r>
            <a:endParaRPr lang="en-US" sz="750" dirty="0"/>
          </a:p>
        </p:txBody>
      </p:sp>
      <p:sp>
        <p:nvSpPr>
          <p:cNvPr id="46" name="Text 32"/>
          <p:cNvSpPr/>
          <p:nvPr/>
        </p:nvSpPr>
        <p:spPr>
          <a:xfrm>
            <a:off x="3352648" y="6492240"/>
            <a:ext cx="5486400" cy="237744"/>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Strictly private and confidential  ·  Illustrative</a:t>
            </a:r>
            <a:endParaRPr lang="en-US" sz="750" dirty="0"/>
          </a:p>
        </p:txBody>
      </p:sp>
      <p:sp>
        <p:nvSpPr>
          <p:cNvPr id="47" name="Text 33"/>
          <p:cNvSpPr/>
          <p:nvPr/>
        </p:nvSpPr>
        <p:spPr>
          <a:xfrm>
            <a:off x="11094415" y="6492240"/>
            <a:ext cx="457200" cy="237744"/>
          </a:xfrm>
          <a:prstGeom prst="rect">
            <a:avLst/>
          </a:prstGeom>
          <a:noFill/>
          <a:ln/>
        </p:spPr>
        <p:txBody>
          <a:bodyPr wrap="square" lIns="0" tIns="0" rIns="0" bIns="0" rtlCol="0" anchor="ctr"/>
          <a:lstStyle/>
          <a:p>
            <a:pPr algn="r" indent="0" marL="0">
              <a:buNone/>
            </a:pPr>
            <a:r>
              <a:rPr lang="en-US" sz="850" dirty="0">
                <a:solidFill>
                  <a:srgbClr val="7A8794"/>
                </a:solidFill>
                <a:latin typeface="Calibri" pitchFamily="34" charset="0"/>
                <a:ea typeface="Calibri" pitchFamily="34" charset="-122"/>
                <a:cs typeface="Calibri" pitchFamily="34" charset="-120"/>
              </a:rPr>
              <a:t>18</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20" kern="0" dirty="0">
                <a:solidFill>
                  <a:srgbClr val="8A6B3C"/>
                </a:solidFill>
                <a:latin typeface="Calibri" pitchFamily="34" charset="0"/>
                <a:ea typeface="Calibri" pitchFamily="34" charset="-122"/>
                <a:cs typeface="Calibri" pitchFamily="34" charset="-120"/>
              </a:rPr>
              <a:t>THE PATH FORWARD</a:t>
            </a:r>
            <a:endParaRPr lang="en-US" sz="1100" dirty="0"/>
          </a:p>
        </p:txBody>
      </p:sp>
      <p:sp>
        <p:nvSpPr>
          <p:cNvPr id="3" name="Text 1"/>
          <p:cNvSpPr/>
          <p:nvPr/>
        </p:nvSpPr>
        <p:spPr>
          <a:xfrm>
            <a:off x="8808415" y="402336"/>
            <a:ext cx="2743200" cy="237744"/>
          </a:xfrm>
          <a:prstGeom prst="rect">
            <a:avLst/>
          </a:prstGeom>
          <a:noFill/>
          <a:ln/>
        </p:spPr>
        <p:txBody>
          <a:bodyPr wrap="square" lIns="0" tIns="0" rIns="0" bIns="0" rtlCol="0" anchor="ctr"/>
          <a:lstStyle/>
          <a:p>
            <a:pPr algn="r" indent="0" marL="0">
              <a:buNone/>
            </a:pPr>
            <a:r>
              <a:rPr lang="en-US" sz="950" b="1" spc="100" kern="0" dirty="0">
                <a:solidFill>
                  <a:srgbClr val="8A6B3C"/>
                </a:solidFill>
                <a:latin typeface="Calibri" pitchFamily="34" charset="0"/>
                <a:ea typeface="Calibri" pitchFamily="34" charset="-122"/>
                <a:cs typeface="Calibri" pitchFamily="34" charset="-120"/>
              </a:rPr>
              <a:t>Exhibit 12</a:t>
            </a:r>
            <a:endParaRPr lang="en-US" sz="950" dirty="0"/>
          </a:p>
        </p:txBody>
      </p:sp>
      <p:sp>
        <p:nvSpPr>
          <p:cNvPr id="4" name="Text 2"/>
          <p:cNvSpPr/>
          <p:nvPr/>
        </p:nvSpPr>
        <p:spPr>
          <a:xfrm>
            <a:off x="640080" y="658368"/>
            <a:ext cx="10911535" cy="566928"/>
          </a:xfrm>
          <a:prstGeom prst="rect">
            <a:avLst/>
          </a:prstGeom>
          <a:noFill/>
          <a:ln/>
        </p:spPr>
        <p:txBody>
          <a:bodyPr wrap="square" lIns="0" tIns="0" rIns="0" bIns="0" rtlCol="0" anchor="t"/>
          <a:lstStyle/>
          <a:p>
            <a:pPr indent="0" marL="0">
              <a:lnSpc>
                <a:spcPct val="98000"/>
              </a:lnSpc>
              <a:buNone/>
            </a:pPr>
            <a:r>
              <a:rPr lang="en-US" sz="2500" b="1" dirty="0">
                <a:solidFill>
                  <a:srgbClr val="0B2545"/>
                </a:solidFill>
                <a:latin typeface="Cambria" pitchFamily="34" charset="0"/>
                <a:ea typeface="Cambria" pitchFamily="34" charset="-122"/>
                <a:cs typeface="Cambria" pitchFamily="34" charset="-120"/>
              </a:rPr>
              <a:t>A phased programme and an indicative process</a:t>
            </a:r>
            <a:endParaRPr lang="en-US" sz="2500" dirty="0"/>
          </a:p>
        </p:txBody>
      </p:sp>
      <p:sp>
        <p:nvSpPr>
          <p:cNvPr id="5" name="Shape 3"/>
          <p:cNvSpPr/>
          <p:nvPr/>
        </p:nvSpPr>
        <p:spPr>
          <a:xfrm>
            <a:off x="822960" y="1636776"/>
            <a:ext cx="7315200" cy="0"/>
          </a:xfrm>
          <a:prstGeom prst="line">
            <a:avLst/>
          </a:prstGeom>
          <a:noFill/>
          <a:ln w="19050">
            <a:solidFill>
              <a:srgbClr val="DCE3EB"/>
            </a:solidFill>
            <a:prstDash val="solid"/>
          </a:ln>
        </p:spPr>
      </p:sp>
      <p:sp>
        <p:nvSpPr>
          <p:cNvPr id="6" name="Shape 4"/>
          <p:cNvSpPr/>
          <p:nvPr/>
        </p:nvSpPr>
        <p:spPr>
          <a:xfrm>
            <a:off x="1737360" y="1527048"/>
            <a:ext cx="219456" cy="219456"/>
          </a:xfrm>
          <a:prstGeom prst="ellipse">
            <a:avLst/>
          </a:prstGeom>
          <a:solidFill>
            <a:srgbClr val="B08D57"/>
          </a:solidFill>
          <a:ln w="25400">
            <a:solidFill>
              <a:srgbClr val="FFFFFF"/>
            </a:solidFill>
            <a:prstDash val="solid"/>
          </a:ln>
        </p:spPr>
      </p:sp>
      <p:sp>
        <p:nvSpPr>
          <p:cNvPr id="7" name="Shape 5"/>
          <p:cNvSpPr/>
          <p:nvPr/>
        </p:nvSpPr>
        <p:spPr>
          <a:xfrm>
            <a:off x="640080" y="1783080"/>
            <a:ext cx="2414016" cy="2926080"/>
          </a:xfrm>
          <a:prstGeom prst="roundRect">
            <a:avLst>
              <a:gd name="adj" fmla="val 2273"/>
            </a:avLst>
          </a:prstGeom>
          <a:solidFill>
            <a:srgbClr val="F4F6F9"/>
          </a:solidFill>
          <a:ln w="12700">
            <a:solidFill>
              <a:srgbClr val="DCE3EB"/>
            </a:solidFill>
            <a:prstDash val="solid"/>
          </a:ln>
          <a:effectLst>
            <a:outerShdw sx="100000" sy="100000" kx="0" ky="0" algn="bl" rotWithShape="0" blurRad="101600" dist="38100" dir="5400000">
              <a:srgbClr val="13243A">
                <a:alpha val="10000"/>
              </a:srgbClr>
            </a:outerShdw>
          </a:effectLst>
        </p:spPr>
      </p:sp>
      <p:sp>
        <p:nvSpPr>
          <p:cNvPr id="8" name="Shape 6"/>
          <p:cNvSpPr/>
          <p:nvPr/>
        </p:nvSpPr>
        <p:spPr>
          <a:xfrm>
            <a:off x="822960" y="1984248"/>
            <a:ext cx="2048256" cy="676656"/>
          </a:xfrm>
          <a:prstGeom prst="roundRect">
            <a:avLst>
              <a:gd name="adj" fmla="val 6757"/>
            </a:avLst>
          </a:prstGeom>
          <a:solidFill>
            <a:srgbClr val="0B2545"/>
          </a:solidFill>
          <a:ln/>
        </p:spPr>
      </p:sp>
      <p:sp>
        <p:nvSpPr>
          <p:cNvPr id="9" name="Text 7"/>
          <p:cNvSpPr/>
          <p:nvPr/>
        </p:nvSpPr>
        <p:spPr>
          <a:xfrm>
            <a:off x="822960" y="2057400"/>
            <a:ext cx="2048256" cy="274320"/>
          </a:xfrm>
          <a:prstGeom prst="rect">
            <a:avLst/>
          </a:prstGeom>
          <a:noFill/>
          <a:ln/>
        </p:spPr>
        <p:txBody>
          <a:bodyPr wrap="square" lIns="0" tIns="0" rIns="0" bIns="0" rtlCol="0" anchor="ctr"/>
          <a:lstStyle/>
          <a:p>
            <a:pPr algn="ctr" indent="0" marL="0">
              <a:buNone/>
            </a:pPr>
            <a:r>
              <a:rPr lang="en-US" sz="1250" b="1" spc="150" kern="0" dirty="0">
                <a:solidFill>
                  <a:srgbClr val="C9AE82"/>
                </a:solidFill>
                <a:latin typeface="Calibri" pitchFamily="34" charset="0"/>
                <a:ea typeface="Calibri" pitchFamily="34" charset="-122"/>
                <a:cs typeface="Calibri" pitchFamily="34" charset="-120"/>
              </a:rPr>
              <a:t>PHASE 1</a:t>
            </a:r>
            <a:endParaRPr lang="en-US" sz="1250" dirty="0"/>
          </a:p>
        </p:txBody>
      </p:sp>
      <p:sp>
        <p:nvSpPr>
          <p:cNvPr id="10" name="Text 8"/>
          <p:cNvSpPr/>
          <p:nvPr/>
        </p:nvSpPr>
        <p:spPr>
          <a:xfrm>
            <a:off x="822960" y="2331720"/>
            <a:ext cx="2048256" cy="274320"/>
          </a:xfrm>
          <a:prstGeom prst="rect">
            <a:avLst/>
          </a:prstGeom>
          <a:noFill/>
          <a:ln/>
        </p:spPr>
        <p:txBody>
          <a:bodyPr wrap="square" lIns="0" tIns="0" rIns="0" bIns="0" rtlCol="0" anchor="ctr"/>
          <a:lstStyle/>
          <a:p>
            <a:pPr algn="ctr" indent="0" marL="0">
              <a:buNone/>
            </a:pPr>
            <a:r>
              <a:rPr lang="en-US" sz="1000" dirty="0">
                <a:solidFill>
                  <a:srgbClr val="DCE6F1"/>
                </a:solidFill>
                <a:latin typeface="Calibri" pitchFamily="34" charset="0"/>
                <a:ea typeface="Calibri" pitchFamily="34" charset="-122"/>
                <a:cs typeface="Calibri" pitchFamily="34" charset="-120"/>
              </a:rPr>
              <a:t>0 to 9 months</a:t>
            </a:r>
            <a:endParaRPr lang="en-US" sz="1000" dirty="0"/>
          </a:p>
        </p:txBody>
      </p:sp>
      <p:sp>
        <p:nvSpPr>
          <p:cNvPr id="11" name="Text 9"/>
          <p:cNvSpPr/>
          <p:nvPr/>
        </p:nvSpPr>
        <p:spPr>
          <a:xfrm>
            <a:off x="896112" y="2825496"/>
            <a:ext cx="1956816" cy="1737360"/>
          </a:xfrm>
          <a:prstGeom prst="rect">
            <a:avLst/>
          </a:prstGeom>
          <a:noFill/>
          <a:ln/>
        </p:spPr>
        <p:txBody>
          <a:bodyPr wrap="square" lIns="0" tIns="0" rIns="0" bIns="0" rtlCol="0" anchor="t"/>
          <a:lstStyle/>
          <a:p>
            <a:pPr marL="203200" indent="-203200">
              <a:lnSpc>
                <a:spcPct val="103000"/>
              </a:lnSpc>
              <a:spcAft>
                <a:spcPts val="600"/>
              </a:spcAft>
              <a:buSzPct val="100000"/>
              <a:buChar char="▪"/>
            </a:pPr>
            <a:r>
              <a:rPr lang="en-US" sz="980" dirty="0">
                <a:solidFill>
                  <a:srgbClr val="3D4A57"/>
                </a:solidFill>
                <a:latin typeface="Calibri" pitchFamily="34" charset="0"/>
                <a:ea typeface="Calibri" pitchFamily="34" charset="-122"/>
                <a:cs typeface="Calibri" pitchFamily="34" charset="-120"/>
              </a:rPr>
              <a:t>Move to control of Blostem (existing stake)</a:t>
            </a:r>
            <a:endParaRPr lang="en-US" sz="980" dirty="0"/>
          </a:p>
          <a:p>
            <a:pPr marL="203200" indent="-203200">
              <a:lnSpc>
                <a:spcPct val="103000"/>
              </a:lnSpc>
              <a:spcAft>
                <a:spcPts val="600"/>
              </a:spcAft>
              <a:buSzPct val="100000"/>
              <a:buChar char="▪"/>
            </a:pPr>
            <a:r>
              <a:rPr lang="en-US" sz="980" dirty="0">
                <a:solidFill>
                  <a:srgbClr val="3D4A57"/>
                </a:solidFill>
                <a:latin typeface="Calibri" pitchFamily="34" charset="0"/>
                <a:ea typeface="Calibri" pitchFamily="34" charset="-122"/>
                <a:cs typeface="Calibri" pitchFamily="34" charset="-120"/>
              </a:rPr>
              <a:t>Open diligence on Riskcovry</a:t>
            </a:r>
            <a:endParaRPr lang="en-US" sz="980" dirty="0"/>
          </a:p>
          <a:p>
            <a:pPr marL="203200" indent="-203200">
              <a:lnSpc>
                <a:spcPct val="103000"/>
              </a:lnSpc>
              <a:spcAft>
                <a:spcPts val="600"/>
              </a:spcAft>
              <a:buSzPct val="100000"/>
              <a:buChar char="▪"/>
            </a:pPr>
            <a:r>
              <a:rPr lang="en-US" sz="980" dirty="0">
                <a:solidFill>
                  <a:srgbClr val="3D4A57"/>
                </a:solidFill>
                <a:latin typeface="Calibri" pitchFamily="34" charset="0"/>
                <a:ea typeface="Calibri" pitchFamily="34" charset="-122"/>
                <a:cs typeface="Calibri" pitchFamily="34" charset="-120"/>
              </a:rPr>
              <a:t>Stand up corp-dev cadence and guardrails</a:t>
            </a:r>
            <a:endParaRPr lang="en-US" sz="980" dirty="0"/>
          </a:p>
        </p:txBody>
      </p:sp>
      <p:sp>
        <p:nvSpPr>
          <p:cNvPr id="12" name="Shape 10"/>
          <p:cNvSpPr/>
          <p:nvPr/>
        </p:nvSpPr>
        <p:spPr>
          <a:xfrm>
            <a:off x="4370832" y="1527048"/>
            <a:ext cx="219456" cy="219456"/>
          </a:xfrm>
          <a:prstGeom prst="ellipse">
            <a:avLst/>
          </a:prstGeom>
          <a:solidFill>
            <a:srgbClr val="B08D57"/>
          </a:solidFill>
          <a:ln w="25400">
            <a:solidFill>
              <a:srgbClr val="FFFFFF"/>
            </a:solidFill>
            <a:prstDash val="solid"/>
          </a:ln>
        </p:spPr>
      </p:sp>
      <p:sp>
        <p:nvSpPr>
          <p:cNvPr id="13" name="Shape 11"/>
          <p:cNvSpPr/>
          <p:nvPr/>
        </p:nvSpPr>
        <p:spPr>
          <a:xfrm>
            <a:off x="3273552" y="1783080"/>
            <a:ext cx="2414016" cy="2926080"/>
          </a:xfrm>
          <a:prstGeom prst="roundRect">
            <a:avLst>
              <a:gd name="adj" fmla="val 2273"/>
            </a:avLst>
          </a:prstGeom>
          <a:solidFill>
            <a:srgbClr val="F4F6F9"/>
          </a:solidFill>
          <a:ln w="12700">
            <a:solidFill>
              <a:srgbClr val="DCE3EB"/>
            </a:solidFill>
            <a:prstDash val="solid"/>
          </a:ln>
          <a:effectLst>
            <a:outerShdw sx="100000" sy="100000" kx="0" ky="0" algn="bl" rotWithShape="0" blurRad="101600" dist="38100" dir="5400000">
              <a:srgbClr val="13243A">
                <a:alpha val="10000"/>
              </a:srgbClr>
            </a:outerShdw>
          </a:effectLst>
        </p:spPr>
      </p:sp>
      <p:sp>
        <p:nvSpPr>
          <p:cNvPr id="14" name="Shape 12"/>
          <p:cNvSpPr/>
          <p:nvPr/>
        </p:nvSpPr>
        <p:spPr>
          <a:xfrm>
            <a:off x="3456432" y="1984248"/>
            <a:ext cx="2048256" cy="676656"/>
          </a:xfrm>
          <a:prstGeom prst="roundRect">
            <a:avLst>
              <a:gd name="adj" fmla="val 6757"/>
            </a:avLst>
          </a:prstGeom>
          <a:solidFill>
            <a:srgbClr val="0B2545"/>
          </a:solidFill>
          <a:ln/>
        </p:spPr>
      </p:sp>
      <p:sp>
        <p:nvSpPr>
          <p:cNvPr id="15" name="Text 13"/>
          <p:cNvSpPr/>
          <p:nvPr/>
        </p:nvSpPr>
        <p:spPr>
          <a:xfrm>
            <a:off x="3456432" y="2057400"/>
            <a:ext cx="2048256" cy="274320"/>
          </a:xfrm>
          <a:prstGeom prst="rect">
            <a:avLst/>
          </a:prstGeom>
          <a:noFill/>
          <a:ln/>
        </p:spPr>
        <p:txBody>
          <a:bodyPr wrap="square" lIns="0" tIns="0" rIns="0" bIns="0" rtlCol="0" anchor="ctr"/>
          <a:lstStyle/>
          <a:p>
            <a:pPr algn="ctr" indent="0" marL="0">
              <a:buNone/>
            </a:pPr>
            <a:r>
              <a:rPr lang="en-US" sz="1250" b="1" spc="150" kern="0" dirty="0">
                <a:solidFill>
                  <a:srgbClr val="C9AE82"/>
                </a:solidFill>
                <a:latin typeface="Calibri" pitchFamily="34" charset="0"/>
                <a:ea typeface="Calibri" pitchFamily="34" charset="-122"/>
                <a:cs typeface="Calibri" pitchFamily="34" charset="-120"/>
              </a:rPr>
              <a:t>PHASE 2</a:t>
            </a:r>
            <a:endParaRPr lang="en-US" sz="1250" dirty="0"/>
          </a:p>
        </p:txBody>
      </p:sp>
      <p:sp>
        <p:nvSpPr>
          <p:cNvPr id="16" name="Text 14"/>
          <p:cNvSpPr/>
          <p:nvPr/>
        </p:nvSpPr>
        <p:spPr>
          <a:xfrm>
            <a:off x="3456432" y="2331720"/>
            <a:ext cx="2048256" cy="274320"/>
          </a:xfrm>
          <a:prstGeom prst="rect">
            <a:avLst/>
          </a:prstGeom>
          <a:noFill/>
          <a:ln/>
        </p:spPr>
        <p:txBody>
          <a:bodyPr wrap="square" lIns="0" tIns="0" rIns="0" bIns="0" rtlCol="0" anchor="ctr"/>
          <a:lstStyle/>
          <a:p>
            <a:pPr algn="ctr" indent="0" marL="0">
              <a:buNone/>
            </a:pPr>
            <a:r>
              <a:rPr lang="en-US" sz="1000" dirty="0">
                <a:solidFill>
                  <a:srgbClr val="DCE6F1"/>
                </a:solidFill>
                <a:latin typeface="Calibri" pitchFamily="34" charset="0"/>
                <a:ea typeface="Calibri" pitchFamily="34" charset="-122"/>
                <a:cs typeface="Calibri" pitchFamily="34" charset="-120"/>
              </a:rPr>
              <a:t>9 to 18 months</a:t>
            </a:r>
            <a:endParaRPr lang="en-US" sz="1000" dirty="0"/>
          </a:p>
        </p:txBody>
      </p:sp>
      <p:sp>
        <p:nvSpPr>
          <p:cNvPr id="17" name="Text 15"/>
          <p:cNvSpPr/>
          <p:nvPr/>
        </p:nvSpPr>
        <p:spPr>
          <a:xfrm>
            <a:off x="3529584" y="2825496"/>
            <a:ext cx="1956816" cy="1737360"/>
          </a:xfrm>
          <a:prstGeom prst="rect">
            <a:avLst/>
          </a:prstGeom>
          <a:noFill/>
          <a:ln/>
        </p:spPr>
        <p:txBody>
          <a:bodyPr wrap="square" lIns="0" tIns="0" rIns="0" bIns="0" rtlCol="0" anchor="t"/>
          <a:lstStyle/>
          <a:p>
            <a:pPr marL="203200" indent="-203200">
              <a:lnSpc>
                <a:spcPct val="103000"/>
              </a:lnSpc>
              <a:spcAft>
                <a:spcPts val="600"/>
              </a:spcAft>
              <a:buSzPct val="100000"/>
              <a:buChar char="▪"/>
            </a:pPr>
            <a:r>
              <a:rPr lang="en-US" sz="980" dirty="0">
                <a:solidFill>
                  <a:srgbClr val="3D4A57"/>
                </a:solidFill>
                <a:latin typeface="Calibri" pitchFamily="34" charset="0"/>
                <a:ea typeface="Calibri" pitchFamily="34" charset="-122"/>
                <a:cs typeface="Calibri" pitchFamily="34" charset="-120"/>
              </a:rPr>
              <a:t>Close and integrate Riskcovry</a:t>
            </a:r>
            <a:endParaRPr lang="en-US" sz="980" dirty="0"/>
          </a:p>
          <a:p>
            <a:pPr marL="203200" indent="-203200">
              <a:lnSpc>
                <a:spcPct val="103000"/>
              </a:lnSpc>
              <a:spcAft>
                <a:spcPts val="600"/>
              </a:spcAft>
              <a:buSzPct val="100000"/>
              <a:buChar char="▪"/>
            </a:pPr>
            <a:r>
              <a:rPr lang="en-US" sz="980" dirty="0">
                <a:solidFill>
                  <a:srgbClr val="3D4A57"/>
                </a:solidFill>
                <a:latin typeface="Calibri" pitchFamily="34" charset="0"/>
                <a:ea typeface="Calibri" pitchFamily="34" charset="-122"/>
                <a:cs typeface="Calibri" pitchFamily="34" charset="-120"/>
              </a:rPr>
              <a:t>Embed insurance and savings across the app</a:t>
            </a:r>
            <a:endParaRPr lang="en-US" sz="980" dirty="0"/>
          </a:p>
          <a:p>
            <a:pPr marL="203200" indent="-203200">
              <a:lnSpc>
                <a:spcPct val="103000"/>
              </a:lnSpc>
              <a:spcAft>
                <a:spcPts val="600"/>
              </a:spcAft>
              <a:buSzPct val="100000"/>
              <a:buChar char="▪"/>
            </a:pPr>
            <a:r>
              <a:rPr lang="en-US" sz="980" dirty="0">
                <a:solidFill>
                  <a:srgbClr val="3D4A57"/>
                </a:solidFill>
                <a:latin typeface="Calibri" pitchFamily="34" charset="0"/>
                <a:ea typeface="Calibri" pitchFamily="34" charset="-122"/>
                <a:cs typeface="Calibri" pitchFamily="34" charset="-120"/>
              </a:rPr>
              <a:t>First-deal integration fully embedded</a:t>
            </a:r>
            <a:endParaRPr lang="en-US" sz="980" dirty="0"/>
          </a:p>
        </p:txBody>
      </p:sp>
      <p:sp>
        <p:nvSpPr>
          <p:cNvPr id="18" name="Shape 16"/>
          <p:cNvSpPr/>
          <p:nvPr/>
        </p:nvSpPr>
        <p:spPr>
          <a:xfrm>
            <a:off x="7004304" y="1527048"/>
            <a:ext cx="219456" cy="219456"/>
          </a:xfrm>
          <a:prstGeom prst="ellipse">
            <a:avLst/>
          </a:prstGeom>
          <a:solidFill>
            <a:srgbClr val="B08D57"/>
          </a:solidFill>
          <a:ln w="25400">
            <a:solidFill>
              <a:srgbClr val="FFFFFF"/>
            </a:solidFill>
            <a:prstDash val="solid"/>
          </a:ln>
        </p:spPr>
      </p:sp>
      <p:sp>
        <p:nvSpPr>
          <p:cNvPr id="19" name="Shape 17"/>
          <p:cNvSpPr/>
          <p:nvPr/>
        </p:nvSpPr>
        <p:spPr>
          <a:xfrm>
            <a:off x="5907024" y="1783080"/>
            <a:ext cx="2414016" cy="2926080"/>
          </a:xfrm>
          <a:prstGeom prst="roundRect">
            <a:avLst>
              <a:gd name="adj" fmla="val 2273"/>
            </a:avLst>
          </a:prstGeom>
          <a:solidFill>
            <a:srgbClr val="F4F6F9"/>
          </a:solidFill>
          <a:ln w="12700">
            <a:solidFill>
              <a:srgbClr val="DCE3EB"/>
            </a:solidFill>
            <a:prstDash val="solid"/>
          </a:ln>
          <a:effectLst>
            <a:outerShdw sx="100000" sy="100000" kx="0" ky="0" algn="bl" rotWithShape="0" blurRad="101600" dist="38100" dir="5400000">
              <a:srgbClr val="13243A">
                <a:alpha val="10000"/>
              </a:srgbClr>
            </a:outerShdw>
          </a:effectLst>
        </p:spPr>
      </p:sp>
      <p:sp>
        <p:nvSpPr>
          <p:cNvPr id="20" name="Shape 18"/>
          <p:cNvSpPr/>
          <p:nvPr/>
        </p:nvSpPr>
        <p:spPr>
          <a:xfrm>
            <a:off x="6089904" y="1984248"/>
            <a:ext cx="2048256" cy="676656"/>
          </a:xfrm>
          <a:prstGeom prst="roundRect">
            <a:avLst>
              <a:gd name="adj" fmla="val 6757"/>
            </a:avLst>
          </a:prstGeom>
          <a:solidFill>
            <a:srgbClr val="0B2545"/>
          </a:solidFill>
          <a:ln/>
        </p:spPr>
      </p:sp>
      <p:sp>
        <p:nvSpPr>
          <p:cNvPr id="21" name="Text 19"/>
          <p:cNvSpPr/>
          <p:nvPr/>
        </p:nvSpPr>
        <p:spPr>
          <a:xfrm>
            <a:off x="6089904" y="2057400"/>
            <a:ext cx="2048256" cy="274320"/>
          </a:xfrm>
          <a:prstGeom prst="rect">
            <a:avLst/>
          </a:prstGeom>
          <a:noFill/>
          <a:ln/>
        </p:spPr>
        <p:txBody>
          <a:bodyPr wrap="square" lIns="0" tIns="0" rIns="0" bIns="0" rtlCol="0" anchor="ctr"/>
          <a:lstStyle/>
          <a:p>
            <a:pPr algn="ctr" indent="0" marL="0">
              <a:buNone/>
            </a:pPr>
            <a:r>
              <a:rPr lang="en-US" sz="1250" b="1" spc="150" kern="0" dirty="0">
                <a:solidFill>
                  <a:srgbClr val="C9AE82"/>
                </a:solidFill>
                <a:latin typeface="Calibri" pitchFamily="34" charset="0"/>
                <a:ea typeface="Calibri" pitchFamily="34" charset="-122"/>
                <a:cs typeface="Calibri" pitchFamily="34" charset="-120"/>
              </a:rPr>
              <a:t>PHASE 3</a:t>
            </a:r>
            <a:endParaRPr lang="en-US" sz="1250" dirty="0"/>
          </a:p>
        </p:txBody>
      </p:sp>
      <p:sp>
        <p:nvSpPr>
          <p:cNvPr id="22" name="Text 20"/>
          <p:cNvSpPr/>
          <p:nvPr/>
        </p:nvSpPr>
        <p:spPr>
          <a:xfrm>
            <a:off x="6089904" y="2331720"/>
            <a:ext cx="2048256" cy="274320"/>
          </a:xfrm>
          <a:prstGeom prst="rect">
            <a:avLst/>
          </a:prstGeom>
          <a:noFill/>
          <a:ln/>
        </p:spPr>
        <p:txBody>
          <a:bodyPr wrap="square" lIns="0" tIns="0" rIns="0" bIns="0" rtlCol="0" anchor="ctr"/>
          <a:lstStyle/>
          <a:p>
            <a:pPr algn="ctr" indent="0" marL="0">
              <a:buNone/>
            </a:pPr>
            <a:r>
              <a:rPr lang="en-US" sz="1000" dirty="0">
                <a:solidFill>
                  <a:srgbClr val="DCE6F1"/>
                </a:solidFill>
                <a:latin typeface="Calibri" pitchFamily="34" charset="0"/>
                <a:ea typeface="Calibri" pitchFamily="34" charset="-122"/>
                <a:cs typeface="Calibri" pitchFamily="34" charset="-120"/>
              </a:rPr>
              <a:t>18 to 24 months</a:t>
            </a:r>
            <a:endParaRPr lang="en-US" sz="1000" dirty="0"/>
          </a:p>
        </p:txBody>
      </p:sp>
      <p:sp>
        <p:nvSpPr>
          <p:cNvPr id="23" name="Text 21"/>
          <p:cNvSpPr/>
          <p:nvPr/>
        </p:nvSpPr>
        <p:spPr>
          <a:xfrm>
            <a:off x="6163056" y="2825496"/>
            <a:ext cx="1956816" cy="1737360"/>
          </a:xfrm>
          <a:prstGeom prst="rect">
            <a:avLst/>
          </a:prstGeom>
          <a:noFill/>
          <a:ln/>
        </p:spPr>
        <p:txBody>
          <a:bodyPr wrap="square" lIns="0" tIns="0" rIns="0" bIns="0" rtlCol="0" anchor="t"/>
          <a:lstStyle/>
          <a:p>
            <a:pPr marL="203200" indent="-203200">
              <a:lnSpc>
                <a:spcPct val="103000"/>
              </a:lnSpc>
              <a:spcAft>
                <a:spcPts val="600"/>
              </a:spcAft>
              <a:buSzPct val="100000"/>
              <a:buChar char="▪"/>
            </a:pPr>
            <a:r>
              <a:rPr lang="en-US" sz="980" dirty="0">
                <a:solidFill>
                  <a:srgbClr val="3D4A57"/>
                </a:solidFill>
                <a:latin typeface="Calibri" pitchFamily="34" charset="0"/>
                <a:ea typeface="Calibri" pitchFamily="34" charset="-122"/>
                <a:cs typeface="Calibri" pitchFamily="34" charset="-120"/>
              </a:rPr>
              <a:t>Selective tuck-ins (merchant, lending)</a:t>
            </a:r>
            <a:endParaRPr lang="en-US" sz="980" dirty="0"/>
          </a:p>
          <a:p>
            <a:pPr marL="203200" indent="-203200">
              <a:lnSpc>
                <a:spcPct val="103000"/>
              </a:lnSpc>
              <a:spcAft>
                <a:spcPts val="600"/>
              </a:spcAft>
              <a:buSzPct val="100000"/>
              <a:buChar char="▪"/>
            </a:pPr>
            <a:r>
              <a:rPr lang="en-US" sz="980" dirty="0">
                <a:solidFill>
                  <a:srgbClr val="3D4A57"/>
                </a:solidFill>
                <a:latin typeface="Calibri" pitchFamily="34" charset="0"/>
                <a:ea typeface="Calibri" pitchFamily="34" charset="-122"/>
                <a:cs typeface="Calibri" pitchFamily="34" charset="-120"/>
              </a:rPr>
              <a:t>Scale B2B distribution revenue</a:t>
            </a:r>
            <a:endParaRPr lang="en-US" sz="980" dirty="0"/>
          </a:p>
          <a:p>
            <a:pPr marL="203200" indent="-203200">
              <a:lnSpc>
                <a:spcPct val="103000"/>
              </a:lnSpc>
              <a:spcAft>
                <a:spcPts val="600"/>
              </a:spcAft>
              <a:buSzPct val="100000"/>
              <a:buChar char="▪"/>
            </a:pPr>
            <a:r>
              <a:rPr lang="en-US" sz="980" dirty="0">
                <a:solidFill>
                  <a:srgbClr val="3D4A57"/>
                </a:solidFill>
                <a:latin typeface="Calibri" pitchFamily="34" charset="0"/>
                <a:ea typeface="Calibri" pitchFamily="34" charset="-122"/>
                <a:cs typeface="Calibri" pitchFamily="34" charset="-120"/>
              </a:rPr>
              <a:t>Review programme returns with the Board</a:t>
            </a:r>
            <a:endParaRPr lang="en-US" sz="980" dirty="0"/>
          </a:p>
        </p:txBody>
      </p:sp>
      <p:sp>
        <p:nvSpPr>
          <p:cNvPr id="24" name="Shape 22"/>
          <p:cNvSpPr/>
          <p:nvPr/>
        </p:nvSpPr>
        <p:spPr>
          <a:xfrm>
            <a:off x="8549640" y="1783080"/>
            <a:ext cx="3001975" cy="2926080"/>
          </a:xfrm>
          <a:prstGeom prst="roundRect">
            <a:avLst>
              <a:gd name="adj" fmla="val 1875"/>
            </a:avLst>
          </a:prstGeom>
          <a:solidFill>
            <a:srgbClr val="F7F2E9"/>
          </a:solidFill>
          <a:ln/>
        </p:spPr>
      </p:sp>
      <p:sp>
        <p:nvSpPr>
          <p:cNvPr id="25" name="Text 23"/>
          <p:cNvSpPr/>
          <p:nvPr/>
        </p:nvSpPr>
        <p:spPr>
          <a:xfrm>
            <a:off x="8787384" y="1965960"/>
            <a:ext cx="2544775" cy="274320"/>
          </a:xfrm>
          <a:prstGeom prst="rect">
            <a:avLst/>
          </a:prstGeom>
          <a:noFill/>
          <a:ln/>
        </p:spPr>
        <p:txBody>
          <a:bodyPr wrap="square" lIns="0" tIns="0" rIns="0" bIns="0" rtlCol="0" anchor="ctr"/>
          <a:lstStyle/>
          <a:p>
            <a:pPr indent="0" marL="0">
              <a:buNone/>
            </a:pPr>
            <a:r>
              <a:rPr lang="en-US" sz="1350" b="1" dirty="0">
                <a:solidFill>
                  <a:srgbClr val="8A6B3C"/>
                </a:solidFill>
                <a:latin typeface="Cambria" pitchFamily="34" charset="0"/>
                <a:ea typeface="Cambria" pitchFamily="34" charset="-122"/>
                <a:cs typeface="Cambria" pitchFamily="34" charset="-120"/>
              </a:rPr>
              <a:t>Indicative process</a:t>
            </a:r>
            <a:endParaRPr lang="en-US" sz="1350" dirty="0"/>
          </a:p>
        </p:txBody>
      </p:sp>
      <p:sp>
        <p:nvSpPr>
          <p:cNvPr id="26" name="Shape 24"/>
          <p:cNvSpPr/>
          <p:nvPr/>
        </p:nvSpPr>
        <p:spPr>
          <a:xfrm>
            <a:off x="8787384" y="2386584"/>
            <a:ext cx="310896" cy="310896"/>
          </a:xfrm>
          <a:prstGeom prst="ellipse">
            <a:avLst/>
          </a:prstGeom>
          <a:solidFill>
            <a:srgbClr val="0B2545"/>
          </a:solidFill>
          <a:ln/>
        </p:spPr>
      </p:sp>
      <p:sp>
        <p:nvSpPr>
          <p:cNvPr id="27" name="Text 25"/>
          <p:cNvSpPr/>
          <p:nvPr/>
        </p:nvSpPr>
        <p:spPr>
          <a:xfrm>
            <a:off x="8787384" y="2386584"/>
            <a:ext cx="310896" cy="310896"/>
          </a:xfrm>
          <a:prstGeom prst="rect">
            <a:avLst/>
          </a:prstGeom>
          <a:noFill/>
          <a:ln/>
        </p:spPr>
        <p:txBody>
          <a:bodyPr wrap="square" lIns="0" tIns="0" rIns="0" bIns="0" rtlCol="0" anchor="ctr"/>
          <a:lstStyle/>
          <a:p>
            <a:pPr algn="ctr" indent="0" marL="0">
              <a:buNone/>
            </a:pPr>
            <a:r>
              <a:rPr lang="en-US" sz="1100" b="1" dirty="0">
                <a:solidFill>
                  <a:srgbClr val="C9AE82"/>
                </a:solidFill>
                <a:latin typeface="Calibri" pitchFamily="34" charset="0"/>
                <a:ea typeface="Calibri" pitchFamily="34" charset="-122"/>
                <a:cs typeface="Calibri" pitchFamily="34" charset="-120"/>
              </a:rPr>
              <a:t>1</a:t>
            </a:r>
            <a:endParaRPr lang="en-US" sz="1100" dirty="0"/>
          </a:p>
        </p:txBody>
      </p:sp>
      <p:sp>
        <p:nvSpPr>
          <p:cNvPr id="28" name="Text 26"/>
          <p:cNvSpPr/>
          <p:nvPr/>
        </p:nvSpPr>
        <p:spPr>
          <a:xfrm>
            <a:off x="9208008" y="2368296"/>
            <a:ext cx="2179015" cy="384048"/>
          </a:xfrm>
          <a:prstGeom prst="rect">
            <a:avLst/>
          </a:prstGeom>
          <a:noFill/>
          <a:ln/>
        </p:spPr>
        <p:txBody>
          <a:bodyPr wrap="square" lIns="0" tIns="0" rIns="0" bIns="0" rtlCol="0" anchor="ctr"/>
          <a:lstStyle/>
          <a:p>
            <a:pPr indent="0" marL="0">
              <a:lnSpc>
                <a:spcPct val="96000"/>
              </a:lnSpc>
              <a:buNone/>
            </a:pPr>
            <a:r>
              <a:rPr lang="en-US" sz="1030" b="1" dirty="0">
                <a:solidFill>
                  <a:srgbClr val="33414F"/>
                </a:solidFill>
                <a:latin typeface="Calibri" pitchFamily="34" charset="0"/>
                <a:ea typeface="Calibri" pitchFamily="34" charset="-122"/>
                <a:cs typeface="Calibri" pitchFamily="34" charset="-120"/>
              </a:rPr>
              <a:t>Pipeline and prioritisation</a:t>
            </a:r>
            <a:endParaRPr lang="en-US" sz="1030" dirty="0"/>
          </a:p>
        </p:txBody>
      </p:sp>
      <p:sp>
        <p:nvSpPr>
          <p:cNvPr id="29" name="Shape 27"/>
          <p:cNvSpPr/>
          <p:nvPr/>
        </p:nvSpPr>
        <p:spPr>
          <a:xfrm>
            <a:off x="8942832" y="2697480"/>
            <a:ext cx="0" cy="146304"/>
          </a:xfrm>
          <a:prstGeom prst="line">
            <a:avLst/>
          </a:prstGeom>
          <a:noFill/>
          <a:ln w="19050">
            <a:solidFill>
              <a:srgbClr val="C9AE82"/>
            </a:solidFill>
            <a:prstDash val="solid"/>
          </a:ln>
        </p:spPr>
      </p:sp>
      <p:sp>
        <p:nvSpPr>
          <p:cNvPr id="30" name="Shape 28"/>
          <p:cNvSpPr/>
          <p:nvPr/>
        </p:nvSpPr>
        <p:spPr>
          <a:xfrm>
            <a:off x="8787384" y="2843784"/>
            <a:ext cx="310896" cy="310896"/>
          </a:xfrm>
          <a:prstGeom prst="ellipse">
            <a:avLst/>
          </a:prstGeom>
          <a:solidFill>
            <a:srgbClr val="0B2545"/>
          </a:solidFill>
          <a:ln/>
        </p:spPr>
      </p:sp>
      <p:sp>
        <p:nvSpPr>
          <p:cNvPr id="31" name="Text 29"/>
          <p:cNvSpPr/>
          <p:nvPr/>
        </p:nvSpPr>
        <p:spPr>
          <a:xfrm>
            <a:off x="8787384" y="2843784"/>
            <a:ext cx="310896" cy="310896"/>
          </a:xfrm>
          <a:prstGeom prst="rect">
            <a:avLst/>
          </a:prstGeom>
          <a:noFill/>
          <a:ln/>
        </p:spPr>
        <p:txBody>
          <a:bodyPr wrap="square" lIns="0" tIns="0" rIns="0" bIns="0" rtlCol="0" anchor="ctr"/>
          <a:lstStyle/>
          <a:p>
            <a:pPr algn="ctr" indent="0" marL="0">
              <a:buNone/>
            </a:pPr>
            <a:r>
              <a:rPr lang="en-US" sz="1100" b="1" dirty="0">
                <a:solidFill>
                  <a:srgbClr val="C9AE82"/>
                </a:solidFill>
                <a:latin typeface="Calibri" pitchFamily="34" charset="0"/>
                <a:ea typeface="Calibri" pitchFamily="34" charset="-122"/>
                <a:cs typeface="Calibri" pitchFamily="34" charset="-120"/>
              </a:rPr>
              <a:t>2</a:t>
            </a:r>
            <a:endParaRPr lang="en-US" sz="1100" dirty="0"/>
          </a:p>
        </p:txBody>
      </p:sp>
      <p:sp>
        <p:nvSpPr>
          <p:cNvPr id="32" name="Text 30"/>
          <p:cNvSpPr/>
          <p:nvPr/>
        </p:nvSpPr>
        <p:spPr>
          <a:xfrm>
            <a:off x="9208008" y="2825496"/>
            <a:ext cx="2179015" cy="384048"/>
          </a:xfrm>
          <a:prstGeom prst="rect">
            <a:avLst/>
          </a:prstGeom>
          <a:noFill/>
          <a:ln/>
        </p:spPr>
        <p:txBody>
          <a:bodyPr wrap="square" lIns="0" tIns="0" rIns="0" bIns="0" rtlCol="0" anchor="ctr"/>
          <a:lstStyle/>
          <a:p>
            <a:pPr indent="0" marL="0">
              <a:lnSpc>
                <a:spcPct val="96000"/>
              </a:lnSpc>
              <a:buNone/>
            </a:pPr>
            <a:r>
              <a:rPr lang="en-US" sz="1030" b="1" dirty="0">
                <a:solidFill>
                  <a:srgbClr val="33414F"/>
                </a:solidFill>
                <a:latin typeface="Calibri" pitchFamily="34" charset="0"/>
                <a:ea typeface="Calibri" pitchFamily="34" charset="-122"/>
                <a:cs typeface="Calibri" pitchFamily="34" charset="-120"/>
              </a:rPr>
              <a:t>Approach and term sheet</a:t>
            </a:r>
            <a:endParaRPr lang="en-US" sz="1030" dirty="0"/>
          </a:p>
        </p:txBody>
      </p:sp>
      <p:sp>
        <p:nvSpPr>
          <p:cNvPr id="33" name="Shape 31"/>
          <p:cNvSpPr/>
          <p:nvPr/>
        </p:nvSpPr>
        <p:spPr>
          <a:xfrm>
            <a:off x="8942832" y="3154680"/>
            <a:ext cx="0" cy="146304"/>
          </a:xfrm>
          <a:prstGeom prst="line">
            <a:avLst/>
          </a:prstGeom>
          <a:noFill/>
          <a:ln w="19050">
            <a:solidFill>
              <a:srgbClr val="C9AE82"/>
            </a:solidFill>
            <a:prstDash val="solid"/>
          </a:ln>
        </p:spPr>
      </p:sp>
      <p:sp>
        <p:nvSpPr>
          <p:cNvPr id="34" name="Shape 32"/>
          <p:cNvSpPr/>
          <p:nvPr/>
        </p:nvSpPr>
        <p:spPr>
          <a:xfrm>
            <a:off x="8787384" y="3300984"/>
            <a:ext cx="310896" cy="310896"/>
          </a:xfrm>
          <a:prstGeom prst="ellipse">
            <a:avLst/>
          </a:prstGeom>
          <a:solidFill>
            <a:srgbClr val="0B2545"/>
          </a:solidFill>
          <a:ln/>
        </p:spPr>
      </p:sp>
      <p:sp>
        <p:nvSpPr>
          <p:cNvPr id="35" name="Text 33"/>
          <p:cNvSpPr/>
          <p:nvPr/>
        </p:nvSpPr>
        <p:spPr>
          <a:xfrm>
            <a:off x="8787384" y="3300984"/>
            <a:ext cx="310896" cy="310896"/>
          </a:xfrm>
          <a:prstGeom prst="rect">
            <a:avLst/>
          </a:prstGeom>
          <a:noFill/>
          <a:ln/>
        </p:spPr>
        <p:txBody>
          <a:bodyPr wrap="square" lIns="0" tIns="0" rIns="0" bIns="0" rtlCol="0" anchor="ctr"/>
          <a:lstStyle/>
          <a:p>
            <a:pPr algn="ctr" indent="0" marL="0">
              <a:buNone/>
            </a:pPr>
            <a:r>
              <a:rPr lang="en-US" sz="1100" b="1" dirty="0">
                <a:solidFill>
                  <a:srgbClr val="C9AE82"/>
                </a:solidFill>
                <a:latin typeface="Calibri" pitchFamily="34" charset="0"/>
                <a:ea typeface="Calibri" pitchFamily="34" charset="-122"/>
                <a:cs typeface="Calibri" pitchFamily="34" charset="-120"/>
              </a:rPr>
              <a:t>3</a:t>
            </a:r>
            <a:endParaRPr lang="en-US" sz="1100" dirty="0"/>
          </a:p>
        </p:txBody>
      </p:sp>
      <p:sp>
        <p:nvSpPr>
          <p:cNvPr id="36" name="Text 34"/>
          <p:cNvSpPr/>
          <p:nvPr/>
        </p:nvSpPr>
        <p:spPr>
          <a:xfrm>
            <a:off x="9208008" y="3282696"/>
            <a:ext cx="2179015" cy="384048"/>
          </a:xfrm>
          <a:prstGeom prst="rect">
            <a:avLst/>
          </a:prstGeom>
          <a:noFill/>
          <a:ln/>
        </p:spPr>
        <p:txBody>
          <a:bodyPr wrap="square" lIns="0" tIns="0" rIns="0" bIns="0" rtlCol="0" anchor="ctr"/>
          <a:lstStyle/>
          <a:p>
            <a:pPr indent="0" marL="0">
              <a:lnSpc>
                <a:spcPct val="96000"/>
              </a:lnSpc>
              <a:buNone/>
            </a:pPr>
            <a:r>
              <a:rPr lang="en-US" sz="1030" b="1" dirty="0">
                <a:solidFill>
                  <a:srgbClr val="33414F"/>
                </a:solidFill>
                <a:latin typeface="Calibri" pitchFamily="34" charset="0"/>
                <a:ea typeface="Calibri" pitchFamily="34" charset="-122"/>
                <a:cs typeface="Calibri" pitchFamily="34" charset="-120"/>
              </a:rPr>
              <a:t>Due diligence</a:t>
            </a:r>
            <a:endParaRPr lang="en-US" sz="1030" dirty="0"/>
          </a:p>
        </p:txBody>
      </p:sp>
      <p:sp>
        <p:nvSpPr>
          <p:cNvPr id="37" name="Shape 35"/>
          <p:cNvSpPr/>
          <p:nvPr/>
        </p:nvSpPr>
        <p:spPr>
          <a:xfrm>
            <a:off x="8942832" y="3611880"/>
            <a:ext cx="0" cy="146304"/>
          </a:xfrm>
          <a:prstGeom prst="line">
            <a:avLst/>
          </a:prstGeom>
          <a:noFill/>
          <a:ln w="19050">
            <a:solidFill>
              <a:srgbClr val="C9AE82"/>
            </a:solidFill>
            <a:prstDash val="solid"/>
          </a:ln>
        </p:spPr>
      </p:sp>
      <p:sp>
        <p:nvSpPr>
          <p:cNvPr id="38" name="Shape 36"/>
          <p:cNvSpPr/>
          <p:nvPr/>
        </p:nvSpPr>
        <p:spPr>
          <a:xfrm>
            <a:off x="8787384" y="3758184"/>
            <a:ext cx="310896" cy="310896"/>
          </a:xfrm>
          <a:prstGeom prst="ellipse">
            <a:avLst/>
          </a:prstGeom>
          <a:solidFill>
            <a:srgbClr val="0B2545"/>
          </a:solidFill>
          <a:ln/>
        </p:spPr>
      </p:sp>
      <p:sp>
        <p:nvSpPr>
          <p:cNvPr id="39" name="Text 37"/>
          <p:cNvSpPr/>
          <p:nvPr/>
        </p:nvSpPr>
        <p:spPr>
          <a:xfrm>
            <a:off x="8787384" y="3758184"/>
            <a:ext cx="310896" cy="310896"/>
          </a:xfrm>
          <a:prstGeom prst="rect">
            <a:avLst/>
          </a:prstGeom>
          <a:noFill/>
          <a:ln/>
        </p:spPr>
        <p:txBody>
          <a:bodyPr wrap="square" lIns="0" tIns="0" rIns="0" bIns="0" rtlCol="0" anchor="ctr"/>
          <a:lstStyle/>
          <a:p>
            <a:pPr algn="ctr" indent="0" marL="0">
              <a:buNone/>
            </a:pPr>
            <a:r>
              <a:rPr lang="en-US" sz="1100" b="1" dirty="0">
                <a:solidFill>
                  <a:srgbClr val="C9AE82"/>
                </a:solidFill>
                <a:latin typeface="Calibri" pitchFamily="34" charset="0"/>
                <a:ea typeface="Calibri" pitchFamily="34" charset="-122"/>
                <a:cs typeface="Calibri" pitchFamily="34" charset="-120"/>
              </a:rPr>
              <a:t>4</a:t>
            </a:r>
            <a:endParaRPr lang="en-US" sz="1100" dirty="0"/>
          </a:p>
        </p:txBody>
      </p:sp>
      <p:sp>
        <p:nvSpPr>
          <p:cNvPr id="40" name="Text 38"/>
          <p:cNvSpPr/>
          <p:nvPr/>
        </p:nvSpPr>
        <p:spPr>
          <a:xfrm>
            <a:off x="9208008" y="3739896"/>
            <a:ext cx="2179015" cy="384048"/>
          </a:xfrm>
          <a:prstGeom prst="rect">
            <a:avLst/>
          </a:prstGeom>
          <a:noFill/>
          <a:ln/>
        </p:spPr>
        <p:txBody>
          <a:bodyPr wrap="square" lIns="0" tIns="0" rIns="0" bIns="0" rtlCol="0" anchor="ctr"/>
          <a:lstStyle/>
          <a:p>
            <a:pPr indent="0" marL="0">
              <a:lnSpc>
                <a:spcPct val="96000"/>
              </a:lnSpc>
              <a:buNone/>
            </a:pPr>
            <a:r>
              <a:rPr lang="en-US" sz="1030" b="1" dirty="0">
                <a:solidFill>
                  <a:srgbClr val="33414F"/>
                </a:solidFill>
                <a:latin typeface="Calibri" pitchFamily="34" charset="0"/>
                <a:ea typeface="Calibri" pitchFamily="34" charset="-122"/>
                <a:cs typeface="Calibri" pitchFamily="34" charset="-120"/>
              </a:rPr>
              <a:t>SPA and regulatory approvals</a:t>
            </a:r>
            <a:endParaRPr lang="en-US" sz="1030" dirty="0"/>
          </a:p>
        </p:txBody>
      </p:sp>
      <p:sp>
        <p:nvSpPr>
          <p:cNvPr id="41" name="Shape 39"/>
          <p:cNvSpPr/>
          <p:nvPr/>
        </p:nvSpPr>
        <p:spPr>
          <a:xfrm>
            <a:off x="8942832" y="4069080"/>
            <a:ext cx="0" cy="146304"/>
          </a:xfrm>
          <a:prstGeom prst="line">
            <a:avLst/>
          </a:prstGeom>
          <a:noFill/>
          <a:ln w="19050">
            <a:solidFill>
              <a:srgbClr val="C9AE82"/>
            </a:solidFill>
            <a:prstDash val="solid"/>
          </a:ln>
        </p:spPr>
      </p:sp>
      <p:sp>
        <p:nvSpPr>
          <p:cNvPr id="42" name="Shape 40"/>
          <p:cNvSpPr/>
          <p:nvPr/>
        </p:nvSpPr>
        <p:spPr>
          <a:xfrm>
            <a:off x="8787384" y="4215384"/>
            <a:ext cx="310896" cy="310896"/>
          </a:xfrm>
          <a:prstGeom prst="ellipse">
            <a:avLst/>
          </a:prstGeom>
          <a:solidFill>
            <a:srgbClr val="0B2545"/>
          </a:solidFill>
          <a:ln/>
        </p:spPr>
      </p:sp>
      <p:sp>
        <p:nvSpPr>
          <p:cNvPr id="43" name="Text 41"/>
          <p:cNvSpPr/>
          <p:nvPr/>
        </p:nvSpPr>
        <p:spPr>
          <a:xfrm>
            <a:off x="8787384" y="4215384"/>
            <a:ext cx="310896" cy="310896"/>
          </a:xfrm>
          <a:prstGeom prst="rect">
            <a:avLst/>
          </a:prstGeom>
          <a:noFill/>
          <a:ln/>
        </p:spPr>
        <p:txBody>
          <a:bodyPr wrap="square" lIns="0" tIns="0" rIns="0" bIns="0" rtlCol="0" anchor="ctr"/>
          <a:lstStyle/>
          <a:p>
            <a:pPr algn="ctr" indent="0" marL="0">
              <a:buNone/>
            </a:pPr>
            <a:r>
              <a:rPr lang="en-US" sz="1100" b="1" dirty="0">
                <a:solidFill>
                  <a:srgbClr val="C9AE82"/>
                </a:solidFill>
                <a:latin typeface="Calibri" pitchFamily="34" charset="0"/>
                <a:ea typeface="Calibri" pitchFamily="34" charset="-122"/>
                <a:cs typeface="Calibri" pitchFamily="34" charset="-120"/>
              </a:rPr>
              <a:t>5</a:t>
            </a:r>
            <a:endParaRPr lang="en-US" sz="1100" dirty="0"/>
          </a:p>
        </p:txBody>
      </p:sp>
      <p:sp>
        <p:nvSpPr>
          <p:cNvPr id="44" name="Text 42"/>
          <p:cNvSpPr/>
          <p:nvPr/>
        </p:nvSpPr>
        <p:spPr>
          <a:xfrm>
            <a:off x="9208008" y="4197096"/>
            <a:ext cx="2179015" cy="384048"/>
          </a:xfrm>
          <a:prstGeom prst="rect">
            <a:avLst/>
          </a:prstGeom>
          <a:noFill/>
          <a:ln/>
        </p:spPr>
        <p:txBody>
          <a:bodyPr wrap="square" lIns="0" tIns="0" rIns="0" bIns="0" rtlCol="0" anchor="ctr"/>
          <a:lstStyle/>
          <a:p>
            <a:pPr indent="0" marL="0">
              <a:lnSpc>
                <a:spcPct val="96000"/>
              </a:lnSpc>
              <a:buNone/>
            </a:pPr>
            <a:r>
              <a:rPr lang="en-US" sz="1030" b="1" dirty="0">
                <a:solidFill>
                  <a:srgbClr val="33414F"/>
                </a:solidFill>
                <a:latin typeface="Calibri" pitchFamily="34" charset="0"/>
                <a:ea typeface="Calibri" pitchFamily="34" charset="-122"/>
                <a:cs typeface="Calibri" pitchFamily="34" charset="-120"/>
              </a:rPr>
              <a:t>Close and 100-day integration</a:t>
            </a:r>
            <a:endParaRPr lang="en-US" sz="1030" dirty="0"/>
          </a:p>
        </p:txBody>
      </p:sp>
      <p:sp>
        <p:nvSpPr>
          <p:cNvPr id="45" name="Shape 43"/>
          <p:cNvSpPr/>
          <p:nvPr/>
        </p:nvSpPr>
        <p:spPr>
          <a:xfrm>
            <a:off x="640080" y="5029200"/>
            <a:ext cx="10911535" cy="658368"/>
          </a:xfrm>
          <a:prstGeom prst="roundRect">
            <a:avLst>
              <a:gd name="adj" fmla="val 6944"/>
            </a:avLst>
          </a:prstGeom>
          <a:solidFill>
            <a:srgbClr val="0B2545"/>
          </a:solidFill>
          <a:ln/>
          <a:effectLst>
            <a:outerShdw sx="100000" sy="100000" kx="0" ky="0" algn="bl" rotWithShape="0" blurRad="101600" dist="38100" dir="5400000">
              <a:srgbClr val="13243A">
                <a:alpha val="10000"/>
              </a:srgbClr>
            </a:outerShdw>
          </a:effectLst>
        </p:spPr>
      </p:sp>
      <p:sp>
        <p:nvSpPr>
          <p:cNvPr id="46" name="Text 44"/>
          <p:cNvSpPr/>
          <p:nvPr/>
        </p:nvSpPr>
        <p:spPr>
          <a:xfrm>
            <a:off x="914400" y="5029200"/>
            <a:ext cx="10362895" cy="658368"/>
          </a:xfrm>
          <a:prstGeom prst="rect">
            <a:avLst/>
          </a:prstGeom>
          <a:noFill/>
          <a:ln/>
        </p:spPr>
        <p:txBody>
          <a:bodyPr wrap="square" lIns="0" tIns="0" rIns="0" bIns="0" rtlCol="0" anchor="ctr"/>
          <a:lstStyle/>
          <a:p>
            <a:pPr indent="0" marL="0">
              <a:buNone/>
            </a:pPr>
            <a:r>
              <a:rPr lang="en-US" sz="1150" b="1" dirty="0">
                <a:solidFill>
                  <a:srgbClr val="C9AE82"/>
                </a:solidFill>
                <a:latin typeface="Calibri" pitchFamily="34" charset="0"/>
                <a:ea typeface="Calibri" pitchFamily="34" charset="-122"/>
                <a:cs typeface="Calibri" pitchFamily="34" charset="-120"/>
              </a:rPr>
              <a:t>Next 90 days:  </a:t>
            </a:r>
            <a:pPr indent="0" marL="0">
              <a:buNone/>
            </a:pPr>
            <a:r>
              <a:rPr lang="en-US" sz="1150" dirty="0">
                <a:solidFill>
                  <a:srgbClr val="E8EEF6"/>
                </a:solidFill>
                <a:latin typeface="Calibri" pitchFamily="34" charset="0"/>
                <a:ea typeface="Calibri" pitchFamily="34" charset="-122"/>
                <a:cs typeface="Calibri" pitchFamily="34" charset="-120"/>
              </a:rPr>
              <a:t>stand up corp-dev, agree the guardrails with the Board, move to control of Blostem, and open diligence on Riskcovry.</a:t>
            </a:r>
            <a:endParaRPr lang="en-US" sz="1150" dirty="0"/>
          </a:p>
        </p:txBody>
      </p:sp>
      <p:sp>
        <p:nvSpPr>
          <p:cNvPr id="47" name="Text 45"/>
          <p:cNvSpPr/>
          <p:nvPr/>
        </p:nvSpPr>
        <p:spPr>
          <a:xfrm>
            <a:off x="640080" y="6492240"/>
            <a:ext cx="2743200" cy="237744"/>
          </a:xfrm>
          <a:prstGeom prst="rect">
            <a:avLst/>
          </a:prstGeom>
          <a:noFill/>
          <a:ln/>
        </p:spPr>
        <p:txBody>
          <a:bodyPr wrap="square" lIns="0" tIns="0" rIns="0" bIns="0" rtlCol="0" anchor="ctr"/>
          <a:lstStyle/>
          <a:p>
            <a:pPr indent="0" marL="0">
              <a:buNone/>
            </a:pPr>
            <a:r>
              <a:rPr lang="en-US" sz="750" b="1" spc="150" kern="0" dirty="0">
                <a:solidFill>
                  <a:srgbClr val="7A8794"/>
                </a:solidFill>
                <a:latin typeface="Calibri" pitchFamily="34" charset="0"/>
                <a:ea typeface="Calibri" pitchFamily="34" charset="-122"/>
                <a:cs typeface="Calibri" pitchFamily="34" charset="-120"/>
              </a:rPr>
              <a:t>PROJECT KEYSTONE</a:t>
            </a:r>
            <a:endParaRPr lang="en-US" sz="750" dirty="0"/>
          </a:p>
        </p:txBody>
      </p:sp>
      <p:sp>
        <p:nvSpPr>
          <p:cNvPr id="48" name="Text 46"/>
          <p:cNvSpPr/>
          <p:nvPr/>
        </p:nvSpPr>
        <p:spPr>
          <a:xfrm>
            <a:off x="3352648" y="6492240"/>
            <a:ext cx="5486400" cy="237744"/>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Strictly private and confidential  ·  Illustrative</a:t>
            </a:r>
            <a:endParaRPr lang="en-US" sz="750" dirty="0"/>
          </a:p>
        </p:txBody>
      </p:sp>
      <p:sp>
        <p:nvSpPr>
          <p:cNvPr id="49" name="Text 47"/>
          <p:cNvSpPr/>
          <p:nvPr/>
        </p:nvSpPr>
        <p:spPr>
          <a:xfrm>
            <a:off x="11094415" y="6492240"/>
            <a:ext cx="457200" cy="237744"/>
          </a:xfrm>
          <a:prstGeom prst="rect">
            <a:avLst/>
          </a:prstGeom>
          <a:noFill/>
          <a:ln/>
        </p:spPr>
        <p:txBody>
          <a:bodyPr wrap="square" lIns="0" tIns="0" rIns="0" bIns="0" rtlCol="0" anchor="ctr"/>
          <a:lstStyle/>
          <a:p>
            <a:pPr algn="r" indent="0" marL="0">
              <a:buNone/>
            </a:pPr>
            <a:r>
              <a:rPr lang="en-US" sz="850" dirty="0">
                <a:solidFill>
                  <a:srgbClr val="7A8794"/>
                </a:solidFill>
                <a:latin typeface="Calibri" pitchFamily="34" charset="0"/>
                <a:ea typeface="Calibri" pitchFamily="34" charset="-122"/>
                <a:cs typeface="Calibri" pitchFamily="34" charset="-120"/>
              </a:rPr>
              <a:t>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8229600" cy="256032"/>
          </a:xfrm>
          <a:prstGeom prst="rect">
            <a:avLst/>
          </a:prstGeom>
          <a:noFill/>
          <a:ln/>
        </p:spPr>
        <p:txBody>
          <a:bodyPr wrap="square" lIns="0" tIns="0" rIns="0" bIns="0" rtlCol="0" anchor="ctr"/>
          <a:lstStyle/>
          <a:p>
            <a:pPr indent="0" marL="0">
              <a:buNone/>
            </a:pPr>
            <a:r>
              <a:rPr lang="en-US" sz="1100" b="1" spc="220" kern="0" dirty="0">
                <a:solidFill>
                  <a:srgbClr val="8A6B3C"/>
                </a:solidFill>
                <a:latin typeface="Calibri" pitchFamily="34" charset="0"/>
                <a:ea typeface="Calibri" pitchFamily="34" charset="-122"/>
                <a:cs typeface="Calibri" pitchFamily="34" charset="-120"/>
              </a:rPr>
              <a:t>APPENDIX</a:t>
            </a:r>
            <a:endParaRPr lang="en-US" sz="1100" dirty="0"/>
          </a:p>
        </p:txBody>
      </p:sp>
      <p:sp>
        <p:nvSpPr>
          <p:cNvPr id="3" name="Text 1"/>
          <p:cNvSpPr/>
          <p:nvPr/>
        </p:nvSpPr>
        <p:spPr>
          <a:xfrm>
            <a:off x="640080" y="658368"/>
            <a:ext cx="10911535" cy="566928"/>
          </a:xfrm>
          <a:prstGeom prst="rect">
            <a:avLst/>
          </a:prstGeom>
          <a:noFill/>
          <a:ln/>
        </p:spPr>
        <p:txBody>
          <a:bodyPr wrap="square" lIns="0" tIns="0" rIns="0" bIns="0" rtlCol="0" anchor="t"/>
          <a:lstStyle/>
          <a:p>
            <a:pPr indent="0" marL="0">
              <a:lnSpc>
                <a:spcPct val="98000"/>
              </a:lnSpc>
              <a:buNone/>
            </a:pPr>
            <a:r>
              <a:rPr lang="en-US" sz="2500" b="1" dirty="0">
                <a:solidFill>
                  <a:srgbClr val="0B2545"/>
                </a:solidFill>
                <a:latin typeface="Cambria" pitchFamily="34" charset="0"/>
                <a:ea typeface="Cambria" pitchFamily="34" charset="-122"/>
                <a:cs typeface="Cambria" pitchFamily="34" charset="-120"/>
              </a:rPr>
              <a:t>Sources and assumptions</a:t>
            </a:r>
            <a:endParaRPr lang="en-US" sz="2500" dirty="0"/>
          </a:p>
        </p:txBody>
      </p:sp>
      <p:sp>
        <p:nvSpPr>
          <p:cNvPr id="4" name="Shape 2"/>
          <p:cNvSpPr/>
          <p:nvPr/>
        </p:nvSpPr>
        <p:spPr>
          <a:xfrm>
            <a:off x="640080" y="1517904"/>
            <a:ext cx="10911535" cy="2286000"/>
          </a:xfrm>
          <a:prstGeom prst="roundRect">
            <a:avLst>
              <a:gd name="adj" fmla="val 2400"/>
            </a:avLst>
          </a:prstGeom>
          <a:solidFill>
            <a:srgbClr val="F4F6F9"/>
          </a:solidFill>
          <a:ln w="12700">
            <a:solidFill>
              <a:srgbClr val="DCE3EB"/>
            </a:solidFill>
            <a:prstDash val="solid"/>
          </a:ln>
        </p:spPr>
      </p:sp>
      <p:sp>
        <p:nvSpPr>
          <p:cNvPr id="5" name="Text 3"/>
          <p:cNvSpPr/>
          <p:nvPr/>
        </p:nvSpPr>
        <p:spPr>
          <a:xfrm>
            <a:off x="950976" y="1737360"/>
            <a:ext cx="10289743" cy="1828800"/>
          </a:xfrm>
          <a:prstGeom prst="rect">
            <a:avLst/>
          </a:prstGeom>
          <a:noFill/>
          <a:ln/>
        </p:spPr>
        <p:txBody>
          <a:bodyPr wrap="square" lIns="0" tIns="0" rIns="0" bIns="0" rtlCol="0" anchor="t"/>
          <a:lstStyle/>
          <a:p>
            <a:pPr marL="203200" indent="-203200">
              <a:lnSpc>
                <a:spcPct val="103000"/>
              </a:lnSpc>
              <a:spcAft>
                <a:spcPts val="900"/>
              </a:spcAft>
              <a:buSzPct val="100000"/>
              <a:buChar char="▪"/>
            </a:pPr>
            <a:r>
              <a:rPr lang="en-US" sz="1150" dirty="0">
                <a:solidFill>
                  <a:srgbClr val="3D4A57"/>
                </a:solidFill>
                <a:latin typeface="Calibri" pitchFamily="34" charset="0"/>
                <a:ea typeface="Calibri" pitchFamily="34" charset="-122"/>
                <a:cs typeface="Calibri" pitchFamily="34" charset="-120"/>
              </a:rPr>
              <a:t>Independent work sample built using only public information: MobiKwik FY26 and quarterly results and exchange filings, regulatory disclosures, and reputable press and analyst commentary.</a:t>
            </a:r>
            <a:endParaRPr lang="en-US" sz="1150" dirty="0"/>
          </a:p>
          <a:p>
            <a:pPr marL="203200" indent="-203200">
              <a:lnSpc>
                <a:spcPct val="103000"/>
              </a:lnSpc>
              <a:spcAft>
                <a:spcPts val="900"/>
              </a:spcAft>
              <a:buSzPct val="100000"/>
              <a:buChar char="▪"/>
            </a:pPr>
            <a:r>
              <a:rPr lang="en-US" sz="1150" dirty="0">
                <a:solidFill>
                  <a:srgbClr val="3D4A57"/>
                </a:solidFill>
                <a:latin typeface="Calibri" pitchFamily="34" charset="0"/>
                <a:ea typeface="Calibri" pitchFamily="34" charset="-122"/>
                <a:cs typeface="Calibri" pitchFamily="34" charset="-120"/>
              </a:rPr>
              <a:t>Companies named (Blostem, Riskcovry and the screened candidates) are illustrative and assessed only from public sources. They are not offers, recommendations to transact, or claims of any non-public knowledge.</a:t>
            </a:r>
            <a:endParaRPr lang="en-US" sz="1150" dirty="0"/>
          </a:p>
          <a:p>
            <a:pPr marL="203200" indent="-203200">
              <a:lnSpc>
                <a:spcPct val="103000"/>
              </a:lnSpc>
              <a:spcAft>
                <a:spcPts val="900"/>
              </a:spcAft>
              <a:buSzPct val="100000"/>
              <a:buChar char="▪"/>
            </a:pPr>
            <a:r>
              <a:rPr lang="en-US" sz="1150" dirty="0">
                <a:solidFill>
                  <a:srgbClr val="3D4A57"/>
                </a:solidFill>
                <a:latin typeface="Calibri" pitchFamily="34" charset="0"/>
                <a:ea typeface="Calibri" pitchFamily="34" charset="-122"/>
                <a:cs typeface="Calibri" pitchFamily="34" charset="-120"/>
              </a:rPr>
              <a:t>Valuation ranges, the funding mix, sources and uses, synergies and pro forma impact are illustrative and for framework purposes only; they are not forecasts.</a:t>
            </a:r>
            <a:endParaRPr lang="en-US" sz="1150" dirty="0"/>
          </a:p>
          <a:p>
            <a:pPr marL="203200" indent="-203200">
              <a:lnSpc>
                <a:spcPct val="103000"/>
              </a:lnSpc>
              <a:spcAft>
                <a:spcPts val="900"/>
              </a:spcAft>
              <a:buSzPct val="100000"/>
              <a:buChar char="▪"/>
            </a:pPr>
            <a:r>
              <a:rPr lang="en-US" sz="1150" dirty="0">
                <a:solidFill>
                  <a:srgbClr val="3D4A57"/>
                </a:solidFill>
                <a:latin typeface="Calibri" pitchFamily="34" charset="0"/>
                <a:ea typeface="Calibri" pitchFamily="34" charset="-122"/>
                <a:cs typeface="Calibri" pitchFamily="34" charset="-120"/>
              </a:rPr>
              <a:t>Screening scores are the author's qualitative assessment. Competitor and deal figures are approximate and where publicly disclosed.</a:t>
            </a:r>
            <a:endParaRPr lang="en-US" sz="1150" dirty="0"/>
          </a:p>
        </p:txBody>
      </p:sp>
      <p:sp>
        <p:nvSpPr>
          <p:cNvPr id="6" name="Text 4"/>
          <p:cNvSpPr/>
          <p:nvPr/>
        </p:nvSpPr>
        <p:spPr>
          <a:xfrm>
            <a:off x="640080" y="4041648"/>
            <a:ext cx="8229600" cy="27432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Key public reference points</a:t>
            </a:r>
            <a:endParaRPr lang="en-US" sz="1400" dirty="0"/>
          </a:p>
        </p:txBody>
      </p:sp>
      <p:sp>
        <p:nvSpPr>
          <p:cNvPr id="7" name="Shape 5"/>
          <p:cNvSpPr/>
          <p:nvPr/>
        </p:nvSpPr>
        <p:spPr>
          <a:xfrm>
            <a:off x="640080" y="4425696"/>
            <a:ext cx="3478682" cy="731520"/>
          </a:xfrm>
          <a:prstGeom prst="roundRect">
            <a:avLst>
              <a:gd name="adj" fmla="val 6250"/>
            </a:avLst>
          </a:prstGeom>
          <a:solidFill>
            <a:srgbClr val="F7F2E9"/>
          </a:solidFill>
          <a:ln/>
        </p:spPr>
      </p:sp>
      <p:sp>
        <p:nvSpPr>
          <p:cNvPr id="8" name="Text 6"/>
          <p:cNvSpPr/>
          <p:nvPr/>
        </p:nvSpPr>
        <p:spPr>
          <a:xfrm>
            <a:off x="822960" y="4517136"/>
            <a:ext cx="3112922" cy="237744"/>
          </a:xfrm>
          <a:prstGeom prst="rect">
            <a:avLst/>
          </a:prstGeom>
          <a:noFill/>
          <a:ln/>
        </p:spPr>
        <p:txBody>
          <a:bodyPr wrap="square" lIns="0" tIns="0" rIns="0" bIns="0" rtlCol="0" anchor="ctr"/>
          <a:lstStyle/>
          <a:p>
            <a:pPr indent="0" marL="0">
              <a:buNone/>
            </a:pPr>
            <a:r>
              <a:rPr lang="en-US" sz="1100" b="1" dirty="0">
                <a:solidFill>
                  <a:srgbClr val="8A6B3C"/>
                </a:solidFill>
                <a:latin typeface="Calibri" pitchFamily="34" charset="0"/>
                <a:ea typeface="Calibri" pitchFamily="34" charset="-122"/>
                <a:cs typeface="Calibri" pitchFamily="34" charset="-120"/>
              </a:rPr>
              <a:t>MobiKwik FY26</a:t>
            </a:r>
            <a:endParaRPr lang="en-US" sz="1100" dirty="0"/>
          </a:p>
        </p:txBody>
      </p:sp>
      <p:sp>
        <p:nvSpPr>
          <p:cNvPr id="9" name="Text 7"/>
          <p:cNvSpPr/>
          <p:nvPr/>
        </p:nvSpPr>
        <p:spPr>
          <a:xfrm>
            <a:off x="822960" y="4736592"/>
            <a:ext cx="3112922" cy="384048"/>
          </a:xfrm>
          <a:prstGeom prst="rect">
            <a:avLst/>
          </a:prstGeom>
          <a:noFill/>
          <a:ln/>
        </p:spPr>
        <p:txBody>
          <a:bodyPr wrap="square" lIns="0" tIns="0" rIns="0" bIns="0" rtlCol="0" anchor="t"/>
          <a:lstStyle/>
          <a:p>
            <a:pPr indent="0" marL="0">
              <a:lnSpc>
                <a:spcPct val="100000"/>
              </a:lnSpc>
              <a:buNone/>
            </a:pPr>
            <a:r>
              <a:rPr lang="en-US" sz="930" dirty="0">
                <a:solidFill>
                  <a:srgbClr val="3D4A57"/>
                </a:solidFill>
                <a:latin typeface="Calibri" pitchFamily="34" charset="0"/>
                <a:ea typeface="Calibri" pitchFamily="34" charset="-122"/>
                <a:cs typeface="Calibri" pitchFamily="34" charset="-120"/>
              </a:rPr>
              <a:t>Revenue ~Rs 1,119 Cr; net loss ~Rs 62 Cr; profitable H2</a:t>
            </a:r>
            <a:endParaRPr lang="en-US" sz="930" dirty="0"/>
          </a:p>
        </p:txBody>
      </p:sp>
      <p:sp>
        <p:nvSpPr>
          <p:cNvPr id="10" name="Shape 8"/>
          <p:cNvSpPr/>
          <p:nvPr/>
        </p:nvSpPr>
        <p:spPr>
          <a:xfrm>
            <a:off x="4356506" y="4425696"/>
            <a:ext cx="3478682" cy="731520"/>
          </a:xfrm>
          <a:prstGeom prst="roundRect">
            <a:avLst>
              <a:gd name="adj" fmla="val 6250"/>
            </a:avLst>
          </a:prstGeom>
          <a:solidFill>
            <a:srgbClr val="F7F2E9"/>
          </a:solidFill>
          <a:ln/>
        </p:spPr>
      </p:sp>
      <p:sp>
        <p:nvSpPr>
          <p:cNvPr id="11" name="Text 9"/>
          <p:cNvSpPr/>
          <p:nvPr/>
        </p:nvSpPr>
        <p:spPr>
          <a:xfrm>
            <a:off x="4539386" y="4517136"/>
            <a:ext cx="3112922" cy="237744"/>
          </a:xfrm>
          <a:prstGeom prst="rect">
            <a:avLst/>
          </a:prstGeom>
          <a:noFill/>
          <a:ln/>
        </p:spPr>
        <p:txBody>
          <a:bodyPr wrap="square" lIns="0" tIns="0" rIns="0" bIns="0" rtlCol="0" anchor="ctr"/>
          <a:lstStyle/>
          <a:p>
            <a:pPr indent="0" marL="0">
              <a:buNone/>
            </a:pPr>
            <a:r>
              <a:rPr lang="en-US" sz="1100" b="1" dirty="0">
                <a:solidFill>
                  <a:srgbClr val="8A6B3C"/>
                </a:solidFill>
                <a:latin typeface="Calibri" pitchFamily="34" charset="0"/>
                <a:ea typeface="Calibri" pitchFamily="34" charset="-122"/>
                <a:cs typeface="Calibri" pitchFamily="34" charset="-120"/>
              </a:rPr>
              <a:t>Scale and balance sheet</a:t>
            </a:r>
            <a:endParaRPr lang="en-US" sz="1100" dirty="0"/>
          </a:p>
        </p:txBody>
      </p:sp>
      <p:sp>
        <p:nvSpPr>
          <p:cNvPr id="12" name="Text 10"/>
          <p:cNvSpPr/>
          <p:nvPr/>
        </p:nvSpPr>
        <p:spPr>
          <a:xfrm>
            <a:off x="4539386" y="4736592"/>
            <a:ext cx="3112922" cy="384048"/>
          </a:xfrm>
          <a:prstGeom prst="rect">
            <a:avLst/>
          </a:prstGeom>
          <a:noFill/>
          <a:ln/>
        </p:spPr>
        <p:txBody>
          <a:bodyPr wrap="square" lIns="0" tIns="0" rIns="0" bIns="0" rtlCol="0" anchor="t"/>
          <a:lstStyle/>
          <a:p>
            <a:pPr indent="0" marL="0">
              <a:lnSpc>
                <a:spcPct val="100000"/>
              </a:lnSpc>
              <a:buNone/>
            </a:pPr>
            <a:r>
              <a:rPr lang="en-US" sz="930" dirty="0">
                <a:solidFill>
                  <a:srgbClr val="3D4A57"/>
                </a:solidFill>
                <a:latin typeface="Calibri" pitchFamily="34" charset="0"/>
                <a:ea typeface="Calibri" pitchFamily="34" charset="-122"/>
                <a:cs typeface="Calibri" pitchFamily="34" charset="-120"/>
              </a:rPr>
              <a:t>186.6M users; 4.79M merchants; ~Rs 424 Cr cash</a:t>
            </a:r>
            <a:endParaRPr lang="en-US" sz="930" dirty="0"/>
          </a:p>
        </p:txBody>
      </p:sp>
      <p:sp>
        <p:nvSpPr>
          <p:cNvPr id="13" name="Shape 11"/>
          <p:cNvSpPr/>
          <p:nvPr/>
        </p:nvSpPr>
        <p:spPr>
          <a:xfrm>
            <a:off x="8072933" y="4425696"/>
            <a:ext cx="3478682" cy="731520"/>
          </a:xfrm>
          <a:prstGeom prst="roundRect">
            <a:avLst>
              <a:gd name="adj" fmla="val 6250"/>
            </a:avLst>
          </a:prstGeom>
          <a:solidFill>
            <a:srgbClr val="F7F2E9"/>
          </a:solidFill>
          <a:ln/>
        </p:spPr>
      </p:sp>
      <p:sp>
        <p:nvSpPr>
          <p:cNvPr id="14" name="Text 12"/>
          <p:cNvSpPr/>
          <p:nvPr/>
        </p:nvSpPr>
        <p:spPr>
          <a:xfrm>
            <a:off x="8255813" y="4517136"/>
            <a:ext cx="3112922" cy="237744"/>
          </a:xfrm>
          <a:prstGeom prst="rect">
            <a:avLst/>
          </a:prstGeom>
          <a:noFill/>
          <a:ln/>
        </p:spPr>
        <p:txBody>
          <a:bodyPr wrap="square" lIns="0" tIns="0" rIns="0" bIns="0" rtlCol="0" anchor="ctr"/>
          <a:lstStyle/>
          <a:p>
            <a:pPr indent="0" marL="0">
              <a:buNone/>
            </a:pPr>
            <a:r>
              <a:rPr lang="en-US" sz="1100" b="1" dirty="0">
                <a:solidFill>
                  <a:srgbClr val="8A6B3C"/>
                </a:solidFill>
                <a:latin typeface="Calibri" pitchFamily="34" charset="0"/>
                <a:ea typeface="Calibri" pitchFamily="34" charset="-122"/>
                <a:cs typeface="Calibri" pitchFamily="34" charset="-120"/>
              </a:rPr>
              <a:t>Licences</a:t>
            </a:r>
            <a:endParaRPr lang="en-US" sz="1100" dirty="0"/>
          </a:p>
        </p:txBody>
      </p:sp>
      <p:sp>
        <p:nvSpPr>
          <p:cNvPr id="15" name="Text 13"/>
          <p:cNvSpPr/>
          <p:nvPr/>
        </p:nvSpPr>
        <p:spPr>
          <a:xfrm>
            <a:off x="8255813" y="4736592"/>
            <a:ext cx="3112922" cy="384048"/>
          </a:xfrm>
          <a:prstGeom prst="rect">
            <a:avLst/>
          </a:prstGeom>
          <a:noFill/>
          <a:ln/>
        </p:spPr>
        <p:txBody>
          <a:bodyPr wrap="square" lIns="0" tIns="0" rIns="0" bIns="0" rtlCol="0" anchor="t"/>
          <a:lstStyle/>
          <a:p>
            <a:pPr indent="0" marL="0">
              <a:lnSpc>
                <a:spcPct val="100000"/>
              </a:lnSpc>
              <a:buNone/>
            </a:pPr>
            <a:r>
              <a:rPr lang="en-US" sz="930" dirty="0">
                <a:solidFill>
                  <a:srgbClr val="3D4A57"/>
                </a:solidFill>
                <a:latin typeface="Calibri" pitchFamily="34" charset="0"/>
                <a:ea typeface="Calibri" pitchFamily="34" charset="-122"/>
                <a:cs typeface="Calibri" pitchFamily="34" charset="-120"/>
              </a:rPr>
              <a:t>NBFC and offline PA in FY26; SEBI broking; IRDAI approval for insurance</a:t>
            </a:r>
            <a:endParaRPr lang="en-US" sz="930" dirty="0"/>
          </a:p>
        </p:txBody>
      </p:sp>
      <p:sp>
        <p:nvSpPr>
          <p:cNvPr id="16" name="Shape 14"/>
          <p:cNvSpPr/>
          <p:nvPr/>
        </p:nvSpPr>
        <p:spPr>
          <a:xfrm>
            <a:off x="640080" y="5285232"/>
            <a:ext cx="3478682" cy="731520"/>
          </a:xfrm>
          <a:prstGeom prst="roundRect">
            <a:avLst>
              <a:gd name="adj" fmla="val 6250"/>
            </a:avLst>
          </a:prstGeom>
          <a:solidFill>
            <a:srgbClr val="F7F2E9"/>
          </a:solidFill>
          <a:ln/>
        </p:spPr>
      </p:sp>
      <p:sp>
        <p:nvSpPr>
          <p:cNvPr id="17" name="Text 15"/>
          <p:cNvSpPr/>
          <p:nvPr/>
        </p:nvSpPr>
        <p:spPr>
          <a:xfrm>
            <a:off x="822960" y="5376672"/>
            <a:ext cx="3112922" cy="237744"/>
          </a:xfrm>
          <a:prstGeom prst="rect">
            <a:avLst/>
          </a:prstGeom>
          <a:noFill/>
          <a:ln/>
        </p:spPr>
        <p:txBody>
          <a:bodyPr wrap="square" lIns="0" tIns="0" rIns="0" bIns="0" rtlCol="0" anchor="ctr"/>
          <a:lstStyle/>
          <a:p>
            <a:pPr indent="0" marL="0">
              <a:buNone/>
            </a:pPr>
            <a:r>
              <a:rPr lang="en-US" sz="1100" b="1" dirty="0">
                <a:solidFill>
                  <a:srgbClr val="8A6B3C"/>
                </a:solidFill>
                <a:latin typeface="Calibri" pitchFamily="34" charset="0"/>
                <a:ea typeface="Calibri" pitchFamily="34" charset="-122"/>
                <a:cs typeface="Calibri" pitchFamily="34" charset="-120"/>
              </a:rPr>
              <a:t>Blostem</a:t>
            </a:r>
            <a:endParaRPr lang="en-US" sz="1100" dirty="0"/>
          </a:p>
        </p:txBody>
      </p:sp>
      <p:sp>
        <p:nvSpPr>
          <p:cNvPr id="18" name="Text 16"/>
          <p:cNvSpPr/>
          <p:nvPr/>
        </p:nvSpPr>
        <p:spPr>
          <a:xfrm>
            <a:off x="822960" y="5596128"/>
            <a:ext cx="3112922" cy="384048"/>
          </a:xfrm>
          <a:prstGeom prst="rect">
            <a:avLst/>
          </a:prstGeom>
          <a:noFill/>
          <a:ln/>
        </p:spPr>
        <p:txBody>
          <a:bodyPr wrap="square" lIns="0" tIns="0" rIns="0" bIns="0" rtlCol="0" anchor="t"/>
          <a:lstStyle/>
          <a:p>
            <a:pPr indent="0" marL="0">
              <a:lnSpc>
                <a:spcPct val="100000"/>
              </a:lnSpc>
              <a:buNone/>
            </a:pPr>
            <a:r>
              <a:rPr lang="en-US" sz="930" dirty="0">
                <a:solidFill>
                  <a:srgbClr val="3D4A57"/>
                </a:solidFill>
                <a:latin typeface="Calibri" pitchFamily="34" charset="0"/>
                <a:ea typeface="Calibri" pitchFamily="34" charset="-122"/>
                <a:cs typeface="Calibri" pitchFamily="34" charset="-120"/>
              </a:rPr>
              <a:t>B2B deposit-distribution rail; MobiKwik holds ~6.8%</a:t>
            </a:r>
            <a:endParaRPr lang="en-US" sz="930" dirty="0"/>
          </a:p>
        </p:txBody>
      </p:sp>
      <p:sp>
        <p:nvSpPr>
          <p:cNvPr id="19" name="Shape 17"/>
          <p:cNvSpPr/>
          <p:nvPr/>
        </p:nvSpPr>
        <p:spPr>
          <a:xfrm>
            <a:off x="4356506" y="5285232"/>
            <a:ext cx="3478682" cy="731520"/>
          </a:xfrm>
          <a:prstGeom prst="roundRect">
            <a:avLst>
              <a:gd name="adj" fmla="val 6250"/>
            </a:avLst>
          </a:prstGeom>
          <a:solidFill>
            <a:srgbClr val="F7F2E9"/>
          </a:solidFill>
          <a:ln/>
        </p:spPr>
      </p:sp>
      <p:sp>
        <p:nvSpPr>
          <p:cNvPr id="20" name="Text 18"/>
          <p:cNvSpPr/>
          <p:nvPr/>
        </p:nvSpPr>
        <p:spPr>
          <a:xfrm>
            <a:off x="4539386" y="5376672"/>
            <a:ext cx="3112922" cy="237744"/>
          </a:xfrm>
          <a:prstGeom prst="rect">
            <a:avLst/>
          </a:prstGeom>
          <a:noFill/>
          <a:ln/>
        </p:spPr>
        <p:txBody>
          <a:bodyPr wrap="square" lIns="0" tIns="0" rIns="0" bIns="0" rtlCol="0" anchor="ctr"/>
          <a:lstStyle/>
          <a:p>
            <a:pPr indent="0" marL="0">
              <a:buNone/>
            </a:pPr>
            <a:r>
              <a:rPr lang="en-US" sz="1100" b="1" dirty="0">
                <a:solidFill>
                  <a:srgbClr val="8A6B3C"/>
                </a:solidFill>
                <a:latin typeface="Calibri" pitchFamily="34" charset="0"/>
                <a:ea typeface="Calibri" pitchFamily="34" charset="-122"/>
                <a:cs typeface="Calibri" pitchFamily="34" charset="-120"/>
              </a:rPr>
              <a:t>Riskcovry</a:t>
            </a:r>
            <a:endParaRPr lang="en-US" sz="1100" dirty="0"/>
          </a:p>
        </p:txBody>
      </p:sp>
      <p:sp>
        <p:nvSpPr>
          <p:cNvPr id="21" name="Text 19"/>
          <p:cNvSpPr/>
          <p:nvPr/>
        </p:nvSpPr>
        <p:spPr>
          <a:xfrm>
            <a:off x="4539386" y="5596128"/>
            <a:ext cx="3112922" cy="384048"/>
          </a:xfrm>
          <a:prstGeom prst="rect">
            <a:avLst/>
          </a:prstGeom>
          <a:noFill/>
          <a:ln/>
        </p:spPr>
        <p:txBody>
          <a:bodyPr wrap="square" lIns="0" tIns="0" rIns="0" bIns="0" rtlCol="0" anchor="t"/>
          <a:lstStyle/>
          <a:p>
            <a:pPr indent="0" marL="0">
              <a:lnSpc>
                <a:spcPct val="100000"/>
              </a:lnSpc>
              <a:buNone/>
            </a:pPr>
            <a:r>
              <a:rPr lang="en-US" sz="930" dirty="0">
                <a:solidFill>
                  <a:srgbClr val="3D4A57"/>
                </a:solidFill>
                <a:latin typeface="Calibri" pitchFamily="34" charset="0"/>
                <a:ea typeface="Calibri" pitchFamily="34" charset="-122"/>
                <a:cs typeface="Calibri" pitchFamily="34" charset="-120"/>
              </a:rPr>
              <a:t>Embedded-insurance infra; ~$14M raised; ~Rs 46 Cr FY25 revenue</a:t>
            </a:r>
            <a:endParaRPr lang="en-US" sz="930" dirty="0"/>
          </a:p>
        </p:txBody>
      </p:sp>
      <p:sp>
        <p:nvSpPr>
          <p:cNvPr id="22" name="Shape 20"/>
          <p:cNvSpPr/>
          <p:nvPr/>
        </p:nvSpPr>
        <p:spPr>
          <a:xfrm>
            <a:off x="8072933" y="5285232"/>
            <a:ext cx="3478682" cy="731520"/>
          </a:xfrm>
          <a:prstGeom prst="roundRect">
            <a:avLst>
              <a:gd name="adj" fmla="val 6250"/>
            </a:avLst>
          </a:prstGeom>
          <a:solidFill>
            <a:srgbClr val="F7F2E9"/>
          </a:solidFill>
          <a:ln/>
        </p:spPr>
      </p:sp>
      <p:sp>
        <p:nvSpPr>
          <p:cNvPr id="23" name="Text 21"/>
          <p:cNvSpPr/>
          <p:nvPr/>
        </p:nvSpPr>
        <p:spPr>
          <a:xfrm>
            <a:off x="8255813" y="5376672"/>
            <a:ext cx="3112922" cy="237744"/>
          </a:xfrm>
          <a:prstGeom prst="rect">
            <a:avLst/>
          </a:prstGeom>
          <a:noFill/>
          <a:ln/>
        </p:spPr>
        <p:txBody>
          <a:bodyPr wrap="square" lIns="0" tIns="0" rIns="0" bIns="0" rtlCol="0" anchor="ctr"/>
          <a:lstStyle/>
          <a:p>
            <a:pPr indent="0" marL="0">
              <a:buNone/>
            </a:pPr>
            <a:r>
              <a:rPr lang="en-US" sz="1100" b="1" dirty="0">
                <a:solidFill>
                  <a:srgbClr val="8A6B3C"/>
                </a:solidFill>
                <a:latin typeface="Calibri" pitchFamily="34" charset="0"/>
                <a:ea typeface="Calibri" pitchFamily="34" charset="-122"/>
                <a:cs typeface="Calibri" pitchFamily="34" charset="-120"/>
              </a:rPr>
              <a:t>Market backdrop</a:t>
            </a:r>
            <a:endParaRPr lang="en-US" sz="1100" dirty="0"/>
          </a:p>
        </p:txBody>
      </p:sp>
      <p:sp>
        <p:nvSpPr>
          <p:cNvPr id="24" name="Text 22"/>
          <p:cNvSpPr/>
          <p:nvPr/>
        </p:nvSpPr>
        <p:spPr>
          <a:xfrm>
            <a:off x="8255813" y="5596128"/>
            <a:ext cx="3112922" cy="384048"/>
          </a:xfrm>
          <a:prstGeom prst="rect">
            <a:avLst/>
          </a:prstGeom>
          <a:noFill/>
          <a:ln/>
        </p:spPr>
        <p:txBody>
          <a:bodyPr wrap="square" lIns="0" tIns="0" rIns="0" bIns="0" rtlCol="0" anchor="t"/>
          <a:lstStyle/>
          <a:p>
            <a:pPr indent="0" marL="0">
              <a:lnSpc>
                <a:spcPct val="100000"/>
              </a:lnSpc>
              <a:buNone/>
            </a:pPr>
            <a:r>
              <a:rPr lang="en-US" sz="930" dirty="0">
                <a:solidFill>
                  <a:srgbClr val="3D4A57"/>
                </a:solidFill>
                <a:latin typeface="Calibri" pitchFamily="34" charset="0"/>
                <a:ea typeface="Calibri" pitchFamily="34" charset="-122"/>
                <a:cs typeface="Calibri" pitchFamily="34" charset="-120"/>
              </a:rPr>
              <a:t>India fintech funding rounds ~halved year on year (Q1 2026)</a:t>
            </a:r>
            <a:endParaRPr lang="en-US" sz="930" dirty="0"/>
          </a:p>
        </p:txBody>
      </p:sp>
      <p:sp>
        <p:nvSpPr>
          <p:cNvPr id="25" name="Text 23"/>
          <p:cNvSpPr/>
          <p:nvPr/>
        </p:nvSpPr>
        <p:spPr>
          <a:xfrm>
            <a:off x="640080" y="6492240"/>
            <a:ext cx="2743200" cy="237744"/>
          </a:xfrm>
          <a:prstGeom prst="rect">
            <a:avLst/>
          </a:prstGeom>
          <a:noFill/>
          <a:ln/>
        </p:spPr>
        <p:txBody>
          <a:bodyPr wrap="square" lIns="0" tIns="0" rIns="0" bIns="0" rtlCol="0" anchor="ctr"/>
          <a:lstStyle/>
          <a:p>
            <a:pPr indent="0" marL="0">
              <a:buNone/>
            </a:pPr>
            <a:r>
              <a:rPr lang="en-US" sz="750" b="1" spc="150" kern="0" dirty="0">
                <a:solidFill>
                  <a:srgbClr val="7A8794"/>
                </a:solidFill>
                <a:latin typeface="Calibri" pitchFamily="34" charset="0"/>
                <a:ea typeface="Calibri" pitchFamily="34" charset="-122"/>
                <a:cs typeface="Calibri" pitchFamily="34" charset="-120"/>
              </a:rPr>
              <a:t>PROJECT KEYSTONE</a:t>
            </a:r>
            <a:endParaRPr lang="en-US" sz="750" dirty="0"/>
          </a:p>
        </p:txBody>
      </p:sp>
      <p:sp>
        <p:nvSpPr>
          <p:cNvPr id="26" name="Text 24"/>
          <p:cNvSpPr/>
          <p:nvPr/>
        </p:nvSpPr>
        <p:spPr>
          <a:xfrm>
            <a:off x="3352648" y="6492240"/>
            <a:ext cx="5486400" cy="237744"/>
          </a:xfrm>
          <a:prstGeom prst="rect">
            <a:avLst/>
          </a:prstGeom>
          <a:noFill/>
          <a:ln/>
        </p:spPr>
        <p:txBody>
          <a:bodyPr wrap="square" lIns="0" tIns="0" rIns="0" bIns="0" rtlCol="0" anchor="ctr"/>
          <a:lstStyle/>
          <a:p>
            <a:pPr algn="ctr" indent="0" marL="0">
              <a:buNone/>
            </a:pPr>
            <a:r>
              <a:rPr lang="en-US" sz="750" dirty="0">
                <a:solidFill>
                  <a:srgbClr val="7A8794"/>
                </a:solidFill>
                <a:latin typeface="Calibri" pitchFamily="34" charset="0"/>
                <a:ea typeface="Calibri" pitchFamily="34" charset="-122"/>
                <a:cs typeface="Calibri" pitchFamily="34" charset="-120"/>
              </a:rPr>
              <a:t>Strictly private and confidential  ·  Illustrative</a:t>
            </a:r>
            <a:endParaRPr lang="en-US" sz="750" dirty="0"/>
          </a:p>
        </p:txBody>
      </p:sp>
      <p:sp>
        <p:nvSpPr>
          <p:cNvPr id="27" name="Text 25"/>
          <p:cNvSpPr/>
          <p:nvPr/>
        </p:nvSpPr>
        <p:spPr>
          <a:xfrm>
            <a:off x="11094415" y="6492240"/>
            <a:ext cx="457200" cy="237744"/>
          </a:xfrm>
          <a:prstGeom prst="rect">
            <a:avLst/>
          </a:prstGeom>
          <a:noFill/>
          <a:ln/>
        </p:spPr>
        <p:txBody>
          <a:bodyPr wrap="square" lIns="0" tIns="0" rIns="0" bIns="0" rtlCol="0" anchor="ctr"/>
          <a:lstStyle/>
          <a:p>
            <a:pPr algn="r" indent="0" marL="0">
              <a:buNone/>
            </a:pPr>
            <a:r>
              <a:rPr lang="en-US" sz="850" dirty="0">
                <a:solidFill>
                  <a:srgbClr val="7A8794"/>
                </a:solidFill>
                <a:latin typeface="Calibri" pitchFamily="34" charset="0"/>
                <a:ea typeface="Calibri" pitchFamily="34" charset="-122"/>
                <a:cs typeface="Calibri" pitchFamily="34" charset="-120"/>
              </a:rPr>
              <a:t>20</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MobiKwik Inorganic Growth Strategy</dc:title>
  <dc:subject>PptxGenJS Presentation</dc:subject>
  <dc:creator>Project Keystone</dc:creator>
  <cp:lastModifiedBy>Project Keystone</cp:lastModifiedBy>
  <cp:revision>1</cp:revision>
  <dcterms:created xsi:type="dcterms:W3CDTF">2026-06-24T18:23:36Z</dcterms:created>
  <dcterms:modified xsi:type="dcterms:W3CDTF">2026-06-24T18:23:36Z</dcterms:modified>
</cp:coreProperties>
</file>