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0624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40" kern="0" dirty="0">
                <a:solidFill>
                  <a:srgbClr val="0E7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 2  ·  TECHNOLOGY DEEP DIVE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526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Solid-state batteries: the next leap in storage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66928" y="1298448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6E7F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the flammable liquid electrolyte for a solid one — unlocking energy density, safety and fast charge.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66928" y="1755648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0E7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 — Li-ion vs. solid-state cell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66928" y="2084832"/>
            <a:ext cx="5760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15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CONVENTIONAL Li-ION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66928" y="2359152"/>
            <a:ext cx="1935480" cy="749808"/>
          </a:xfrm>
          <a:prstGeom prst="rect">
            <a:avLst/>
          </a:prstGeom>
          <a:solidFill>
            <a:srgbClr val="D8C39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2359152"/>
            <a:ext cx="1935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C4A22"/>
                </a:solidFill>
              </a:rPr>
              <a:t>Cathode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502408" y="2359152"/>
            <a:ext cx="1935480" cy="749808"/>
          </a:xfrm>
          <a:prstGeom prst="rect">
            <a:avLst/>
          </a:prstGeom>
          <a:solidFill>
            <a:srgbClr val="5B7C9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02408" y="2359152"/>
            <a:ext cx="1935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820" b="1" dirty="0">
                <a:solidFill>
                  <a:srgbClr val="FFFFFF"/>
                </a:solidFill>
              </a:rPr>
              <a:t>Liquid electrolyte</a:t>
            </a:r>
            <a:endParaRPr lang="en-US" sz="82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820" b="1" dirty="0">
                <a:solidFill>
                  <a:srgbClr val="FFFFFF"/>
                </a:solidFill>
              </a:rPr>
              <a:t>+ porous separator</a:t>
            </a:r>
            <a:endParaRPr lang="en-US" sz="820" dirty="0"/>
          </a:p>
        </p:txBody>
      </p:sp>
      <p:sp>
        <p:nvSpPr>
          <p:cNvPr id="11" name="Shape 9"/>
          <p:cNvSpPr/>
          <p:nvPr/>
        </p:nvSpPr>
        <p:spPr>
          <a:xfrm>
            <a:off x="4437888" y="2359152"/>
            <a:ext cx="1935480" cy="749808"/>
          </a:xfrm>
          <a:prstGeom prst="rect">
            <a:avLst/>
          </a:prstGeom>
          <a:solidFill>
            <a:srgbClr val="9FB0B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37888" y="2359152"/>
            <a:ext cx="1935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860" b="1" dirty="0">
                <a:solidFill>
                  <a:srgbClr val="243238"/>
                </a:solidFill>
              </a:rPr>
              <a:t>Graphite</a:t>
            </a:r>
            <a:endParaRPr lang="en-US" sz="86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860" b="1" dirty="0">
                <a:solidFill>
                  <a:srgbClr val="243238"/>
                </a:solidFill>
              </a:rPr>
              <a:t>anode</a:t>
            </a:r>
            <a:endParaRPr lang="en-US" sz="860" dirty="0"/>
          </a:p>
        </p:txBody>
      </p:sp>
      <p:sp>
        <p:nvSpPr>
          <p:cNvPr id="13" name="Shape 11"/>
          <p:cNvSpPr/>
          <p:nvPr/>
        </p:nvSpPr>
        <p:spPr>
          <a:xfrm>
            <a:off x="4590288" y="3182112"/>
            <a:ext cx="1783080" cy="274320"/>
          </a:xfrm>
          <a:prstGeom prst="roundRect">
            <a:avLst>
              <a:gd name="adj" fmla="val 50000"/>
            </a:avLst>
          </a:prstGeom>
          <a:solidFill>
            <a:srgbClr val="C2483B"/>
          </a:solidFill>
          <a:ln/>
        </p:spPr>
      </p:sp>
      <p:sp>
        <p:nvSpPr>
          <p:cNvPr id="14" name="Text 12"/>
          <p:cNvSpPr/>
          <p:nvPr/>
        </p:nvSpPr>
        <p:spPr>
          <a:xfrm>
            <a:off x="4590288" y="3182112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flammable · ~250–300 Wh/kg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66928" y="3502152"/>
            <a:ext cx="5760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15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SOLID-STATE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66928" y="3776472"/>
            <a:ext cx="1935480" cy="749808"/>
          </a:xfrm>
          <a:prstGeom prst="rect">
            <a:avLst/>
          </a:prstGeom>
          <a:solidFill>
            <a:srgbClr val="D8C39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6928" y="3776472"/>
            <a:ext cx="1935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C4A22"/>
                </a:solidFill>
              </a:rPr>
              <a:t>Cathode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502408" y="3776472"/>
            <a:ext cx="1935480" cy="749808"/>
          </a:xfrm>
          <a:prstGeom prst="rect">
            <a:avLst/>
          </a:prstGeom>
          <a:solidFill>
            <a:srgbClr val="0E7C7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02408" y="3776472"/>
            <a:ext cx="1935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820" b="1" dirty="0">
                <a:solidFill>
                  <a:srgbClr val="FFFFFF"/>
                </a:solidFill>
              </a:rPr>
              <a:t>Solid electrolyte</a:t>
            </a:r>
            <a:endParaRPr lang="en-US" sz="82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820" b="1" dirty="0">
                <a:solidFill>
                  <a:srgbClr val="FFFFFF"/>
                </a:solidFill>
              </a:rPr>
              <a:t>(also the separator)</a:t>
            </a:r>
            <a:endParaRPr lang="en-US" sz="820" dirty="0"/>
          </a:p>
        </p:txBody>
      </p:sp>
      <p:sp>
        <p:nvSpPr>
          <p:cNvPr id="20" name="Shape 18"/>
          <p:cNvSpPr/>
          <p:nvPr/>
        </p:nvSpPr>
        <p:spPr>
          <a:xfrm>
            <a:off x="4437888" y="3776472"/>
            <a:ext cx="1935480" cy="749808"/>
          </a:xfrm>
          <a:prstGeom prst="rect">
            <a:avLst/>
          </a:prstGeom>
          <a:solidFill>
            <a:srgbClr val="9FB0B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437888" y="3776472"/>
            <a:ext cx="1935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860" b="1" dirty="0">
                <a:solidFill>
                  <a:srgbClr val="243238"/>
                </a:solidFill>
              </a:rPr>
              <a:t>Li-metal /</a:t>
            </a:r>
            <a:endParaRPr lang="en-US" sz="86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860" b="1" dirty="0">
                <a:solidFill>
                  <a:srgbClr val="243238"/>
                </a:solidFill>
              </a:rPr>
              <a:t>anode-free</a:t>
            </a:r>
            <a:endParaRPr lang="en-US" sz="860" dirty="0"/>
          </a:p>
        </p:txBody>
      </p:sp>
      <p:sp>
        <p:nvSpPr>
          <p:cNvPr id="22" name="Shape 20"/>
          <p:cNvSpPr/>
          <p:nvPr/>
        </p:nvSpPr>
        <p:spPr>
          <a:xfrm>
            <a:off x="4590288" y="4599432"/>
            <a:ext cx="1783080" cy="274320"/>
          </a:xfrm>
          <a:prstGeom prst="roundRect">
            <a:avLst>
              <a:gd name="adj" fmla="val 50000"/>
            </a:avLst>
          </a:prstGeom>
          <a:solidFill>
            <a:srgbClr val="2E8B6B"/>
          </a:solidFill>
          <a:ln/>
        </p:spPr>
      </p:sp>
      <p:sp>
        <p:nvSpPr>
          <p:cNvPr id="23" name="Text 21"/>
          <p:cNvSpPr/>
          <p:nvPr/>
        </p:nvSpPr>
        <p:spPr>
          <a:xfrm>
            <a:off x="4590288" y="4599432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non-flammable · ~2× density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566928" y="4892040"/>
            <a:ext cx="5806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80" dirty="0">
                <a:solidFill>
                  <a:srgbClr val="3749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solid electrolyte conducts lithium ions while physically blocking dendrites — so it can pair with a high-capacity lithium-metal (or anode-free) design that liquid cells cannot safely use.</a:t>
            </a:r>
            <a:endParaRPr lang="en-US" sz="980" dirty="0"/>
          </a:p>
        </p:txBody>
      </p:sp>
      <p:sp>
        <p:nvSpPr>
          <p:cNvPr id="25" name="Shape 23"/>
          <p:cNvSpPr/>
          <p:nvPr/>
        </p:nvSpPr>
        <p:spPr>
          <a:xfrm>
            <a:off x="6583680" y="1755648"/>
            <a:ext cx="5041087" cy="2514600"/>
          </a:xfrm>
          <a:prstGeom prst="roundRect">
            <a:avLst>
              <a:gd name="adj" fmla="val 2182"/>
            </a:avLst>
          </a:prstGeom>
          <a:solidFill>
            <a:srgbClr val="F3F7F7"/>
          </a:solidFill>
          <a:ln w="12700">
            <a:solidFill>
              <a:srgbClr val="E3EAEC"/>
            </a:solidFill>
            <a:prstDash val="solid"/>
          </a:ln>
          <a:effectLst>
            <a:outerShdw sx="100000" sy="100000" kx="0" ky="0" algn="bl" rotWithShape="0" blurRad="76200" dist="25400" dir="8100000">
              <a:srgbClr val="0E2A38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839712" y="1901952"/>
            <a:ext cx="458388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40" kern="0" dirty="0">
                <a:solidFill>
                  <a:srgbClr val="0E7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839712" y="2212848"/>
            <a:ext cx="457200" cy="457200"/>
          </a:xfrm>
          <a:prstGeom prst="ellipse">
            <a:avLst/>
          </a:prstGeom>
          <a:solidFill>
            <a:srgbClr val="0E7C77"/>
          </a:solidFill>
          <a:ln/>
        </p:spPr>
      </p:sp>
      <p:pic>
        <p:nvPicPr>
          <p:cNvPr id="2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58584" y="2331720"/>
            <a:ext cx="219456" cy="219456"/>
          </a:xfrm>
          <a:prstGeom prst="rect">
            <a:avLst/>
          </a:prstGeom>
        </p:spPr>
      </p:pic>
      <p:sp>
        <p:nvSpPr>
          <p:cNvPr id="29" name="Text 26"/>
          <p:cNvSpPr/>
          <p:nvPr/>
        </p:nvSpPr>
        <p:spPr>
          <a:xfrm>
            <a:off x="7424928" y="2194560"/>
            <a:ext cx="39620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15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density  </a:t>
            </a:r>
            <a:pPr indent="0" marL="0">
              <a:lnSpc>
                <a:spcPct val="95000"/>
              </a:lnSpc>
              <a:buNone/>
            </a:pPr>
            <a:r>
              <a:rPr lang="en-US" sz="960" dirty="0">
                <a:solidFill>
                  <a:srgbClr val="3749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~2× — longer range or smaller, lighter packs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6839712" y="2724912"/>
            <a:ext cx="457200" cy="457200"/>
          </a:xfrm>
          <a:prstGeom prst="ellipse">
            <a:avLst/>
          </a:prstGeom>
          <a:solidFill>
            <a:srgbClr val="0E7C77"/>
          </a:solidFill>
          <a:ln/>
        </p:spPr>
      </p:sp>
      <p:pic>
        <p:nvPicPr>
          <p:cNvPr id="3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8584" y="2843784"/>
            <a:ext cx="219456" cy="219456"/>
          </a:xfrm>
          <a:prstGeom prst="rect">
            <a:avLst/>
          </a:prstGeom>
        </p:spPr>
      </p:pic>
      <p:sp>
        <p:nvSpPr>
          <p:cNvPr id="32" name="Text 28"/>
          <p:cNvSpPr/>
          <p:nvPr/>
        </p:nvSpPr>
        <p:spPr>
          <a:xfrm>
            <a:off x="7424928" y="2706624"/>
            <a:ext cx="39620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15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 </a:t>
            </a:r>
            <a:pPr indent="0" marL="0">
              <a:lnSpc>
                <a:spcPct val="95000"/>
              </a:lnSpc>
              <a:buNone/>
            </a:pPr>
            <a:r>
              <a:rPr lang="en-US" sz="960" dirty="0">
                <a:solidFill>
                  <a:srgbClr val="3749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No flammable liquid → far lower fire/thermal-runaway risk</a:t>
            </a:r>
            <a:endParaRPr lang="en-US" sz="1050" dirty="0"/>
          </a:p>
        </p:txBody>
      </p:sp>
      <p:sp>
        <p:nvSpPr>
          <p:cNvPr id="33" name="Shape 29"/>
          <p:cNvSpPr/>
          <p:nvPr/>
        </p:nvSpPr>
        <p:spPr>
          <a:xfrm>
            <a:off x="6839712" y="3236976"/>
            <a:ext cx="457200" cy="457200"/>
          </a:xfrm>
          <a:prstGeom prst="ellipse">
            <a:avLst/>
          </a:prstGeom>
          <a:solidFill>
            <a:srgbClr val="0E7C77"/>
          </a:solidFill>
          <a:ln/>
        </p:spPr>
      </p:sp>
      <p:pic>
        <p:nvPicPr>
          <p:cNvPr id="3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8584" y="3355848"/>
            <a:ext cx="219456" cy="219456"/>
          </a:xfrm>
          <a:prstGeom prst="rect">
            <a:avLst/>
          </a:prstGeom>
        </p:spPr>
      </p:pic>
      <p:sp>
        <p:nvSpPr>
          <p:cNvPr id="35" name="Text 30"/>
          <p:cNvSpPr/>
          <p:nvPr/>
        </p:nvSpPr>
        <p:spPr>
          <a:xfrm>
            <a:off x="7424928" y="3218688"/>
            <a:ext cx="39620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15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charge  </a:t>
            </a:r>
            <a:pPr indent="0" marL="0">
              <a:lnSpc>
                <a:spcPct val="95000"/>
              </a:lnSpc>
              <a:buNone/>
            </a:pPr>
            <a:r>
              <a:rPr lang="en-US" sz="960" dirty="0">
                <a:solidFill>
                  <a:srgbClr val="3749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High-rate charging with less degradation</a:t>
            </a:r>
            <a:endParaRPr lang="en-US" sz="1050" dirty="0"/>
          </a:p>
        </p:txBody>
      </p:sp>
      <p:sp>
        <p:nvSpPr>
          <p:cNvPr id="36" name="Shape 31"/>
          <p:cNvSpPr/>
          <p:nvPr/>
        </p:nvSpPr>
        <p:spPr>
          <a:xfrm>
            <a:off x="6839712" y="3749040"/>
            <a:ext cx="457200" cy="457200"/>
          </a:xfrm>
          <a:prstGeom prst="ellipse">
            <a:avLst/>
          </a:prstGeom>
          <a:solidFill>
            <a:srgbClr val="0E7C77"/>
          </a:solidFill>
          <a:ln/>
        </p:spPr>
      </p:sp>
      <p:pic>
        <p:nvPicPr>
          <p:cNvPr id="3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58584" y="3867912"/>
            <a:ext cx="219456" cy="219456"/>
          </a:xfrm>
          <a:prstGeom prst="rect">
            <a:avLst/>
          </a:prstGeom>
        </p:spPr>
      </p:pic>
      <p:sp>
        <p:nvSpPr>
          <p:cNvPr id="38" name="Text 32"/>
          <p:cNvSpPr/>
          <p:nvPr/>
        </p:nvSpPr>
        <p:spPr>
          <a:xfrm>
            <a:off x="7424928" y="3730752"/>
            <a:ext cx="39620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15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Supply-chain edge  </a:t>
            </a:r>
            <a:pPr indent="0" marL="0">
              <a:lnSpc>
                <a:spcPct val="95000"/>
              </a:lnSpc>
              <a:buNone/>
            </a:pPr>
            <a:r>
              <a:rPr lang="en-US" sz="960" dirty="0">
                <a:solidFill>
                  <a:srgbClr val="3749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Anode-free designs cut graphite (China-dominated)</a:t>
            </a:r>
            <a:endParaRPr lang="en-US" sz="1050" dirty="0"/>
          </a:p>
        </p:txBody>
      </p:sp>
      <p:sp>
        <p:nvSpPr>
          <p:cNvPr id="39" name="Shape 33"/>
          <p:cNvSpPr/>
          <p:nvPr/>
        </p:nvSpPr>
        <p:spPr>
          <a:xfrm>
            <a:off x="6583680" y="4407408"/>
            <a:ext cx="5041087" cy="1783080"/>
          </a:xfrm>
          <a:prstGeom prst="roundRect">
            <a:avLst>
              <a:gd name="adj" fmla="val 3077"/>
            </a:avLst>
          </a:prstGeom>
          <a:solidFill>
            <a:srgbClr val="0E2A38"/>
          </a:solidFill>
          <a:ln/>
          <a:effectLst>
            <a:outerShdw sx="100000" sy="100000" kx="0" ky="0" algn="bl" rotWithShape="0" blurRad="76200" dist="25400" dir="8100000">
              <a:srgbClr val="0E2A38">
                <a:alpha val="10000"/>
              </a:srgbClr>
            </a:outerShdw>
          </a:effectLst>
        </p:spPr>
      </p:sp>
      <p:sp>
        <p:nvSpPr>
          <p:cNvPr id="40" name="Text 34"/>
          <p:cNvSpPr/>
          <p:nvPr/>
        </p:nvSpPr>
        <p:spPr>
          <a:xfrm>
            <a:off x="6839712" y="4553712"/>
            <a:ext cx="458388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40" kern="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ELECTROLYTE FAMILIES</a:t>
            </a:r>
            <a:endParaRPr lang="en-US" sz="1050" dirty="0"/>
          </a:p>
        </p:txBody>
      </p:sp>
      <p:sp>
        <p:nvSpPr>
          <p:cNvPr id="41" name="Text 35"/>
          <p:cNvSpPr/>
          <p:nvPr/>
        </p:nvSpPr>
        <p:spPr>
          <a:xfrm>
            <a:off x="6839712" y="4864608"/>
            <a:ext cx="4583887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6000"/>
              </a:lnSpc>
              <a:buNone/>
            </a:pPr>
            <a:r>
              <a:rPr lang="en-US" sz="1000" b="1" dirty="0">
                <a:solidFill>
                  <a:srgbClr val="16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Sulfides:  </a:t>
            </a:r>
            <a:pPr indent="0" marL="0">
              <a:lnSpc>
                <a:spcPct val="96000"/>
              </a:lnSpc>
              <a:buNone/>
            </a:pPr>
            <a:r>
              <a:rPr lang="en-US" sz="930" dirty="0">
                <a:solidFill>
                  <a:srgbClr val="D7E6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conductivity, but moisture-sensitive — Toyota, Samsung, Solid Power</a:t>
            </a:r>
            <a:endParaRPr lang="en-US" sz="1000" dirty="0"/>
          </a:p>
        </p:txBody>
      </p:sp>
      <p:sp>
        <p:nvSpPr>
          <p:cNvPr id="42" name="Text 36"/>
          <p:cNvSpPr/>
          <p:nvPr/>
        </p:nvSpPr>
        <p:spPr>
          <a:xfrm>
            <a:off x="6839712" y="5294376"/>
            <a:ext cx="4583887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6000"/>
              </a:lnSpc>
              <a:buNone/>
            </a:pPr>
            <a:r>
              <a:rPr lang="en-US" sz="1000" b="1" dirty="0">
                <a:solidFill>
                  <a:srgbClr val="16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Oxides (e.g. LLZO):  </a:t>
            </a:r>
            <a:pPr indent="0" marL="0">
              <a:lnSpc>
                <a:spcPct val="96000"/>
              </a:lnSpc>
              <a:buNone/>
            </a:pPr>
            <a:r>
              <a:rPr lang="en-US" sz="930" dirty="0">
                <a:solidFill>
                  <a:srgbClr val="D7E6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&amp; safe, but brittle &amp; high-temp to process — QuantumScape, ProLogium</a:t>
            </a:r>
            <a:endParaRPr lang="en-US" sz="1000" dirty="0"/>
          </a:p>
        </p:txBody>
      </p:sp>
      <p:sp>
        <p:nvSpPr>
          <p:cNvPr id="43" name="Text 37"/>
          <p:cNvSpPr/>
          <p:nvPr/>
        </p:nvSpPr>
        <p:spPr>
          <a:xfrm>
            <a:off x="6839712" y="5724144"/>
            <a:ext cx="4583887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6000"/>
              </a:lnSpc>
              <a:buNone/>
            </a:pPr>
            <a:r>
              <a:rPr lang="en-US" sz="1000" b="1" dirty="0">
                <a:solidFill>
                  <a:srgbClr val="16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Polymers / halides:  </a:t>
            </a:r>
            <a:pPr indent="0" marL="0">
              <a:lnSpc>
                <a:spcPct val="96000"/>
              </a:lnSpc>
              <a:buNone/>
            </a:pPr>
            <a:r>
              <a:rPr lang="en-US" sz="930" dirty="0">
                <a:solidFill>
                  <a:srgbClr val="D7E6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Flexible or emerging; lower room-temp conductivity</a:t>
            </a:r>
            <a:endParaRPr lang="en-US" sz="1000" dirty="0"/>
          </a:p>
        </p:txBody>
      </p:sp>
      <p:sp>
        <p:nvSpPr>
          <p:cNvPr id="44" name="Text 38"/>
          <p:cNvSpPr/>
          <p:nvPr/>
        </p:nvSpPr>
        <p:spPr>
          <a:xfrm>
            <a:off x="566928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120" kern="0" dirty="0">
                <a:solidFill>
                  <a:srgbClr val="6E7F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Solid-State Batteries  ·  Technology Deep Dive</a:t>
            </a:r>
            <a:endParaRPr lang="en-US" sz="850" dirty="0"/>
          </a:p>
        </p:txBody>
      </p:sp>
      <p:sp>
        <p:nvSpPr>
          <p:cNvPr id="45" name="Text 39"/>
          <p:cNvSpPr/>
          <p:nvPr/>
        </p:nvSpPr>
        <p:spPr>
          <a:xfrm>
            <a:off x="10710367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E7F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/ 05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0624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40" kern="0" dirty="0">
                <a:solidFill>
                  <a:srgbClr val="0E7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OF THE ART (GLOBAL)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526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the lab to the first cells on the road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572768"/>
            <a:ext cx="2661590" cy="1078992"/>
          </a:xfrm>
          <a:prstGeom prst="roundRect">
            <a:avLst>
              <a:gd name="adj" fmla="val 5085"/>
            </a:avLst>
          </a:prstGeom>
          <a:solidFill>
            <a:srgbClr val="F3F7F7"/>
          </a:solidFill>
          <a:ln w="12700">
            <a:solidFill>
              <a:srgbClr val="E3EA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1572768"/>
            <a:ext cx="64008" cy="1078992"/>
          </a:xfrm>
          <a:prstGeom prst="rect">
            <a:avLst/>
          </a:prstGeom>
          <a:solidFill>
            <a:srgbClr val="0E7C77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1664208"/>
            <a:ext cx="24055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526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800+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749808" y="2139696"/>
            <a:ext cx="236898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880" dirty="0">
                <a:solidFill>
                  <a:srgbClr val="6E7F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Wh/L — QuantumScape QSE-5 (vs ~700 for top Li-ion)</a:t>
            </a:r>
            <a:endParaRPr lang="en-US" sz="880" dirty="0"/>
          </a:p>
        </p:txBody>
      </p:sp>
      <p:sp>
        <p:nvSpPr>
          <p:cNvPr id="8" name="Shape 6"/>
          <p:cNvSpPr/>
          <p:nvPr/>
        </p:nvSpPr>
        <p:spPr>
          <a:xfrm>
            <a:off x="3365678" y="1572768"/>
            <a:ext cx="2661590" cy="1078992"/>
          </a:xfrm>
          <a:prstGeom prst="roundRect">
            <a:avLst>
              <a:gd name="adj" fmla="val 5085"/>
            </a:avLst>
          </a:prstGeom>
          <a:solidFill>
            <a:srgbClr val="F3F7F7"/>
          </a:solidFill>
          <a:ln w="12700">
            <a:solidFill>
              <a:srgbClr val="E3EA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365678" y="1572768"/>
            <a:ext cx="64008" cy="1078992"/>
          </a:xfrm>
          <a:prstGeom prst="rect">
            <a:avLst/>
          </a:prstGeom>
          <a:solidFill>
            <a:srgbClr val="0E7C77"/>
          </a:solidFill>
          <a:ln/>
        </p:spPr>
      </p:sp>
      <p:sp>
        <p:nvSpPr>
          <p:cNvPr id="10" name="Text 8"/>
          <p:cNvSpPr/>
          <p:nvPr/>
        </p:nvSpPr>
        <p:spPr>
          <a:xfrm>
            <a:off x="3548558" y="1664208"/>
            <a:ext cx="24055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526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~12 min</a:t>
            </a:r>
            <a:endParaRPr lang="en-US" sz="2300" dirty="0"/>
          </a:p>
        </p:txBody>
      </p:sp>
      <p:sp>
        <p:nvSpPr>
          <p:cNvPr id="11" name="Text 9"/>
          <p:cNvSpPr/>
          <p:nvPr/>
        </p:nvSpPr>
        <p:spPr>
          <a:xfrm>
            <a:off x="3548558" y="2139696"/>
            <a:ext cx="236898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880" dirty="0">
                <a:solidFill>
                  <a:srgbClr val="6E7F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10→80% fast charge demonstrated</a:t>
            </a:r>
            <a:endParaRPr lang="en-US" sz="880" dirty="0"/>
          </a:p>
        </p:txBody>
      </p:sp>
      <p:sp>
        <p:nvSpPr>
          <p:cNvPr id="12" name="Shape 10"/>
          <p:cNvSpPr/>
          <p:nvPr/>
        </p:nvSpPr>
        <p:spPr>
          <a:xfrm>
            <a:off x="6164428" y="1572768"/>
            <a:ext cx="2661590" cy="1078992"/>
          </a:xfrm>
          <a:prstGeom prst="roundRect">
            <a:avLst>
              <a:gd name="adj" fmla="val 5085"/>
            </a:avLst>
          </a:prstGeom>
          <a:solidFill>
            <a:srgbClr val="F3F7F7"/>
          </a:solidFill>
          <a:ln w="12700">
            <a:solidFill>
              <a:srgbClr val="E3EAE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164428" y="1572768"/>
            <a:ext cx="64008" cy="1078992"/>
          </a:xfrm>
          <a:prstGeom prst="rect">
            <a:avLst/>
          </a:prstGeom>
          <a:solidFill>
            <a:srgbClr val="F2A516"/>
          </a:solidFill>
          <a:ln/>
        </p:spPr>
      </p:sp>
      <p:sp>
        <p:nvSpPr>
          <p:cNvPr id="14" name="Text 12"/>
          <p:cNvSpPr/>
          <p:nvPr/>
        </p:nvSpPr>
        <p:spPr>
          <a:xfrm>
            <a:off x="6347308" y="1664208"/>
            <a:ext cx="24055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526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400→700+</a:t>
            </a:r>
            <a:endParaRPr lang="en-US" sz="2300" dirty="0"/>
          </a:p>
        </p:txBody>
      </p:sp>
      <p:sp>
        <p:nvSpPr>
          <p:cNvPr id="15" name="Text 13"/>
          <p:cNvSpPr/>
          <p:nvPr/>
        </p:nvSpPr>
        <p:spPr>
          <a:xfrm>
            <a:off x="6347308" y="2139696"/>
            <a:ext cx="236898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880" dirty="0">
                <a:solidFill>
                  <a:srgbClr val="6E7F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km EV range at equal pack mass</a:t>
            </a:r>
            <a:endParaRPr lang="en-US" sz="880" dirty="0"/>
          </a:p>
        </p:txBody>
      </p:sp>
      <p:sp>
        <p:nvSpPr>
          <p:cNvPr id="16" name="Shape 14"/>
          <p:cNvSpPr/>
          <p:nvPr/>
        </p:nvSpPr>
        <p:spPr>
          <a:xfrm>
            <a:off x="8963177" y="1572768"/>
            <a:ext cx="2661590" cy="1078992"/>
          </a:xfrm>
          <a:prstGeom prst="roundRect">
            <a:avLst>
              <a:gd name="adj" fmla="val 5085"/>
            </a:avLst>
          </a:prstGeom>
          <a:solidFill>
            <a:srgbClr val="F3F7F7"/>
          </a:solidFill>
          <a:ln w="12700">
            <a:solidFill>
              <a:srgbClr val="E3EAE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963177" y="1572768"/>
            <a:ext cx="64008" cy="1078992"/>
          </a:xfrm>
          <a:prstGeom prst="rect">
            <a:avLst/>
          </a:prstGeom>
          <a:solidFill>
            <a:srgbClr val="0E7C77"/>
          </a:solidFill>
          <a:ln/>
        </p:spPr>
      </p:sp>
      <p:sp>
        <p:nvSpPr>
          <p:cNvPr id="18" name="Text 16"/>
          <p:cNvSpPr/>
          <p:nvPr/>
        </p:nvSpPr>
        <p:spPr>
          <a:xfrm>
            <a:off x="9146057" y="1664208"/>
            <a:ext cx="24055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526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&gt;99.5%</a:t>
            </a:r>
            <a:endParaRPr lang="en-US" sz="2300" dirty="0"/>
          </a:p>
        </p:txBody>
      </p:sp>
      <p:sp>
        <p:nvSpPr>
          <p:cNvPr id="19" name="Text 17"/>
          <p:cNvSpPr/>
          <p:nvPr/>
        </p:nvSpPr>
        <p:spPr>
          <a:xfrm>
            <a:off x="9146057" y="2139696"/>
            <a:ext cx="236898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880" dirty="0">
                <a:solidFill>
                  <a:srgbClr val="6E7F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coulombic efficiency; &lt;2%/mo self-discharge</a:t>
            </a:r>
            <a:endParaRPr lang="en-US" sz="880" dirty="0"/>
          </a:p>
        </p:txBody>
      </p:sp>
      <p:sp>
        <p:nvSpPr>
          <p:cNvPr id="20" name="Text 18"/>
          <p:cNvSpPr/>
          <p:nvPr/>
        </p:nvSpPr>
        <p:spPr>
          <a:xfrm>
            <a:off x="566928" y="28529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0E7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FIELD ACTUALLY IS (2025–26)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66928" y="3182112"/>
            <a:ext cx="6400800" cy="713232"/>
          </a:xfrm>
          <a:prstGeom prst="roundRect">
            <a:avLst>
              <a:gd name="adj" fmla="val 6410"/>
            </a:avLst>
          </a:prstGeom>
          <a:solidFill>
            <a:srgbClr val="F3F7F7"/>
          </a:solidFill>
          <a:ln w="12700">
            <a:solidFill>
              <a:srgbClr val="E3EAE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68096" y="3328416"/>
            <a:ext cx="420624" cy="420624"/>
          </a:xfrm>
          <a:prstGeom prst="ellipse">
            <a:avLst/>
          </a:prstGeom>
          <a:solidFill>
            <a:srgbClr val="0E7C77"/>
          </a:solidFill>
          <a:ln/>
        </p:spPr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458" y="3437778"/>
            <a:ext cx="201900" cy="201900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1335024" y="3236976"/>
            <a:ext cx="5486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15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chemistry  </a:t>
            </a:r>
            <a:pPr indent="0" marL="0">
              <a:lnSpc>
                <a:spcPct val="95000"/>
              </a:lnSpc>
              <a:buNone/>
            </a:pPr>
            <a:r>
              <a:rPr lang="en-US" sz="940" dirty="0">
                <a:solidFill>
                  <a:srgbClr val="3749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Anode-free lithium-metal and semi-solid cells now cycle at automotive-relevant rates and sizes.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66928" y="3986784"/>
            <a:ext cx="6400800" cy="713232"/>
          </a:xfrm>
          <a:prstGeom prst="roundRect">
            <a:avLst>
              <a:gd name="adj" fmla="val 6410"/>
            </a:avLst>
          </a:prstGeom>
          <a:solidFill>
            <a:srgbClr val="F3F7F7"/>
          </a:solidFill>
          <a:ln w="12700">
            <a:solidFill>
              <a:srgbClr val="E3EAEC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768096" y="4133088"/>
            <a:ext cx="420624" cy="420624"/>
          </a:xfrm>
          <a:prstGeom prst="ellipse">
            <a:avLst/>
          </a:prstGeom>
          <a:solidFill>
            <a:srgbClr val="0E7C77"/>
          </a:solidFill>
          <a:ln/>
        </p:spPr>
      </p:sp>
      <p:pic>
        <p:nvPicPr>
          <p:cNvPr id="2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458" y="4242450"/>
            <a:ext cx="201900" cy="201900"/>
          </a:xfrm>
          <a:prstGeom prst="rect">
            <a:avLst/>
          </a:prstGeom>
        </p:spPr>
      </p:pic>
      <p:sp>
        <p:nvSpPr>
          <p:cNvPr id="28" name="Text 24"/>
          <p:cNvSpPr/>
          <p:nvPr/>
        </p:nvSpPr>
        <p:spPr>
          <a:xfrm>
            <a:off x="1335024" y="4041648"/>
            <a:ext cx="5486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15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real vehicles  </a:t>
            </a:r>
            <a:pPr indent="0" marL="0">
              <a:lnSpc>
                <a:spcPct val="95000"/>
              </a:lnSpc>
              <a:buNone/>
            </a:pPr>
            <a:r>
              <a:rPr lang="en-US" sz="940" dirty="0">
                <a:solidFill>
                  <a:srgbClr val="3749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QuantumScape QSE-5 B-sample cells shipped to OEMs in 2025; demoed on Ducati / Verge motorbikes.</a:t>
            </a:r>
            <a:endParaRPr lang="en-US" sz="1050" dirty="0"/>
          </a:p>
        </p:txBody>
      </p:sp>
      <p:sp>
        <p:nvSpPr>
          <p:cNvPr id="29" name="Shape 25"/>
          <p:cNvSpPr/>
          <p:nvPr/>
        </p:nvSpPr>
        <p:spPr>
          <a:xfrm>
            <a:off x="566928" y="4791456"/>
            <a:ext cx="6400800" cy="713232"/>
          </a:xfrm>
          <a:prstGeom prst="roundRect">
            <a:avLst>
              <a:gd name="adj" fmla="val 6410"/>
            </a:avLst>
          </a:prstGeom>
          <a:solidFill>
            <a:srgbClr val="F3F7F7"/>
          </a:solidFill>
          <a:ln w="12700">
            <a:solidFill>
              <a:srgbClr val="E3EAEC"/>
            </a:solidFill>
            <a:prstDash val="solid"/>
          </a:ln>
        </p:spPr>
      </p:sp>
      <p:sp>
        <p:nvSpPr>
          <p:cNvPr id="30" name="Shape 26"/>
          <p:cNvSpPr/>
          <p:nvPr/>
        </p:nvSpPr>
        <p:spPr>
          <a:xfrm>
            <a:off x="768096" y="4937760"/>
            <a:ext cx="420624" cy="420624"/>
          </a:xfrm>
          <a:prstGeom prst="ellipse">
            <a:avLst/>
          </a:prstGeom>
          <a:solidFill>
            <a:srgbClr val="0E7C77"/>
          </a:solidFill>
          <a:ln/>
        </p:spPr>
      </p:sp>
      <p:pic>
        <p:nvPicPr>
          <p:cNvPr id="3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458" y="5047122"/>
            <a:ext cx="201900" cy="201900"/>
          </a:xfrm>
          <a:prstGeom prst="rect">
            <a:avLst/>
          </a:prstGeom>
        </p:spPr>
      </p:pic>
      <p:sp>
        <p:nvSpPr>
          <p:cNvPr id="32" name="Text 27"/>
          <p:cNvSpPr/>
          <p:nvPr/>
        </p:nvSpPr>
        <p:spPr>
          <a:xfrm>
            <a:off x="1335024" y="4846320"/>
            <a:ext cx="5486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15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lines live  </a:t>
            </a:r>
            <a:pPr indent="0" marL="0">
              <a:lnSpc>
                <a:spcPct val="95000"/>
              </a:lnSpc>
              <a:buNone/>
            </a:pPr>
            <a:r>
              <a:rPr lang="en-US" sz="940" dirty="0">
                <a:solidFill>
                  <a:srgbClr val="3749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QS 'Cobra' separator + 'Eagle' pilot line; Solid Power &amp; others running pre-pilot lines.</a:t>
            </a:r>
            <a:endParaRPr lang="en-US" sz="1050" dirty="0"/>
          </a:p>
        </p:txBody>
      </p:sp>
      <p:sp>
        <p:nvSpPr>
          <p:cNvPr id="33" name="Shape 28"/>
          <p:cNvSpPr/>
          <p:nvPr/>
        </p:nvSpPr>
        <p:spPr>
          <a:xfrm>
            <a:off x="566928" y="5596128"/>
            <a:ext cx="6400800" cy="713232"/>
          </a:xfrm>
          <a:prstGeom prst="roundRect">
            <a:avLst>
              <a:gd name="adj" fmla="val 6410"/>
            </a:avLst>
          </a:prstGeom>
          <a:solidFill>
            <a:srgbClr val="F3F7F7"/>
          </a:solidFill>
          <a:ln w="12700">
            <a:solidFill>
              <a:srgbClr val="E3EAEC"/>
            </a:solidFill>
            <a:prstDash val="solid"/>
          </a:ln>
        </p:spPr>
      </p:sp>
      <p:sp>
        <p:nvSpPr>
          <p:cNvPr id="34" name="Shape 29"/>
          <p:cNvSpPr/>
          <p:nvPr/>
        </p:nvSpPr>
        <p:spPr>
          <a:xfrm>
            <a:off x="768096" y="5742432"/>
            <a:ext cx="420624" cy="420624"/>
          </a:xfrm>
          <a:prstGeom prst="ellipse">
            <a:avLst/>
          </a:prstGeom>
          <a:solidFill>
            <a:srgbClr val="0E7C77"/>
          </a:solidFill>
          <a:ln/>
        </p:spPr>
      </p:sp>
      <p:pic>
        <p:nvPicPr>
          <p:cNvPr id="3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7458" y="5851794"/>
            <a:ext cx="201900" cy="201900"/>
          </a:xfrm>
          <a:prstGeom prst="rect">
            <a:avLst/>
          </a:prstGeom>
        </p:spPr>
      </p:pic>
      <p:sp>
        <p:nvSpPr>
          <p:cNvPr id="36" name="Text 30"/>
          <p:cNvSpPr/>
          <p:nvPr/>
        </p:nvSpPr>
        <p:spPr>
          <a:xfrm>
            <a:off x="1335024" y="5650992"/>
            <a:ext cx="5486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15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chains forming  </a:t>
            </a:r>
            <a:pPr indent="0" marL="0">
              <a:lnSpc>
                <a:spcPct val="95000"/>
              </a:lnSpc>
              <a:buNone/>
            </a:pPr>
            <a:r>
              <a:rPr lang="en-US" sz="940" dirty="0">
                <a:solidFill>
                  <a:srgbClr val="3749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Toyota–Idemitsu (~$142M sulfide plant, 2027–28) and QS–Murata (ceramic separator) lock in materials.</a:t>
            </a:r>
            <a:endParaRPr lang="en-US" sz="1050" dirty="0"/>
          </a:p>
        </p:txBody>
      </p:sp>
      <p:sp>
        <p:nvSpPr>
          <p:cNvPr id="37" name="Shape 31"/>
          <p:cNvSpPr/>
          <p:nvPr/>
        </p:nvSpPr>
        <p:spPr>
          <a:xfrm>
            <a:off x="7269480" y="2852928"/>
            <a:ext cx="4355287" cy="3200400"/>
          </a:xfrm>
          <a:prstGeom prst="roundRect">
            <a:avLst>
              <a:gd name="adj" fmla="val 1714"/>
            </a:avLst>
          </a:prstGeom>
          <a:solidFill>
            <a:srgbClr val="0E2A38"/>
          </a:solidFill>
          <a:ln/>
          <a:effectLst>
            <a:outerShdw sx="100000" sy="100000" kx="0" ky="0" algn="bl" rotWithShape="0" blurRad="114300" dist="38100" dir="8100000">
              <a:srgbClr val="0E2A38">
                <a:alpha val="13000"/>
              </a:srgbClr>
            </a:outerShdw>
          </a:effectLst>
        </p:spPr>
      </p:sp>
      <p:sp>
        <p:nvSpPr>
          <p:cNvPr id="38" name="Shape 32"/>
          <p:cNvSpPr/>
          <p:nvPr/>
        </p:nvSpPr>
        <p:spPr>
          <a:xfrm>
            <a:off x="7543800" y="3108960"/>
            <a:ext cx="566928" cy="566928"/>
          </a:xfrm>
          <a:prstGeom prst="ellipse">
            <a:avLst/>
          </a:prstGeom>
          <a:solidFill>
            <a:srgbClr val="F2A516"/>
          </a:solidFill>
          <a:ln/>
        </p:spPr>
      </p:sp>
      <p:pic>
        <p:nvPicPr>
          <p:cNvPr id="3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91201" y="3256361"/>
            <a:ext cx="272125" cy="272125"/>
          </a:xfrm>
          <a:prstGeom prst="rect">
            <a:avLst/>
          </a:prstGeom>
        </p:spPr>
      </p:pic>
      <p:sp>
        <p:nvSpPr>
          <p:cNvPr id="40" name="Text 33"/>
          <p:cNvSpPr/>
          <p:nvPr/>
        </p:nvSpPr>
        <p:spPr>
          <a:xfrm>
            <a:off x="8220456" y="3108960"/>
            <a:ext cx="325800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Reality check</a:t>
            </a:r>
            <a:endParaRPr lang="en-US" sz="1500" dirty="0"/>
          </a:p>
        </p:txBody>
      </p:sp>
      <p:sp>
        <p:nvSpPr>
          <p:cNvPr id="41" name="Text 34"/>
          <p:cNvSpPr/>
          <p:nvPr/>
        </p:nvSpPr>
        <p:spPr>
          <a:xfrm>
            <a:off x="7543800" y="3822192"/>
            <a:ext cx="3843223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are sample and pilot volumes — not gigascale.</a:t>
            </a:r>
            <a:endParaRPr lang="en-US" sz="1100" dirty="0"/>
          </a:p>
          <a:p>
            <a:pPr indent="0" marL="0">
              <a:lnSpc>
                <a:spcPct val="104000"/>
              </a:lnSpc>
              <a:buNone/>
            </a:pPr>
            <a:endParaRPr lang="en-US" sz="11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D7E6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all-solid-state EV is yet in mass production. The gap from a working cell to millions of cheap, reliable, identical cells is the whole game — and semi-solid (quasi-solid) cells, which keep some liquid, will reach cars first.</a:t>
            </a:r>
            <a:endParaRPr lang="en-US" sz="1100" dirty="0"/>
          </a:p>
        </p:txBody>
      </p:sp>
      <p:sp>
        <p:nvSpPr>
          <p:cNvPr id="42" name="Text 35"/>
          <p:cNvSpPr/>
          <p:nvPr/>
        </p:nvSpPr>
        <p:spPr>
          <a:xfrm>
            <a:off x="566928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120" kern="0" dirty="0">
                <a:solidFill>
                  <a:srgbClr val="6E7F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Solid-State Batteries  ·  Technology Deep Dive</a:t>
            </a:r>
            <a:endParaRPr lang="en-US" sz="850" dirty="0"/>
          </a:p>
        </p:txBody>
      </p:sp>
      <p:sp>
        <p:nvSpPr>
          <p:cNvPr id="43" name="Text 36"/>
          <p:cNvSpPr/>
          <p:nvPr/>
        </p:nvSpPr>
        <p:spPr>
          <a:xfrm>
            <a:off x="10710367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E7F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05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0624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40" kern="0" dirty="0">
                <a:solidFill>
                  <a:srgbClr val="0E7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PLAYERS — GLOBAL &amp; INDIA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526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US and Asia lead; India is still at the lab bench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66928" y="157276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0E7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FRONTRUNNERS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66928" y="1883664"/>
            <a:ext cx="2148840" cy="384048"/>
          </a:xfrm>
          <a:prstGeom prst="rect">
            <a:avLst/>
          </a:prstGeom>
          <a:solidFill>
            <a:srgbClr val="0E2A38"/>
          </a:solidFill>
          <a:ln w="12700">
            <a:solidFill>
              <a:srgbClr val="E3EA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883664"/>
            <a:ext cx="20208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900" b="1" dirty="0">
                <a:solidFill>
                  <a:srgbClr val="FFFFFF"/>
                </a:solidFill>
              </a:rPr>
              <a:t>Player (HQ)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15768" y="1883664"/>
            <a:ext cx="2788920" cy="384048"/>
          </a:xfrm>
          <a:prstGeom prst="rect">
            <a:avLst/>
          </a:prstGeom>
          <a:solidFill>
            <a:srgbClr val="0E2A38"/>
          </a:solidFill>
          <a:ln w="12700">
            <a:solidFill>
              <a:srgbClr val="E3EAE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88920" y="1883664"/>
            <a:ext cx="26609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900" b="1" dirty="0">
                <a:solidFill>
                  <a:srgbClr val="FFFFFF"/>
                </a:solidFill>
              </a:rPr>
              <a:t>Approach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504688" y="1883664"/>
            <a:ext cx="2148840" cy="384048"/>
          </a:xfrm>
          <a:prstGeom prst="rect">
            <a:avLst/>
          </a:prstGeom>
          <a:solidFill>
            <a:srgbClr val="0E2A38"/>
          </a:solidFill>
          <a:ln w="12700">
            <a:solidFill>
              <a:srgbClr val="E3EA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577840" y="1883664"/>
            <a:ext cx="20208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900" b="1" dirty="0">
                <a:solidFill>
                  <a:srgbClr val="FFFFFF"/>
                </a:solidFill>
              </a:rPr>
              <a:t>Status / backing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66928" y="2267712"/>
            <a:ext cx="2148840" cy="457200"/>
          </a:xfrm>
          <a:prstGeom prst="rect">
            <a:avLst/>
          </a:prstGeom>
          <a:solidFill>
            <a:srgbClr val="F3F7F7"/>
          </a:solidFill>
          <a:ln w="12700">
            <a:solidFill>
              <a:srgbClr val="E3EAE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2267712"/>
            <a:ext cx="2020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870" b="1" dirty="0">
                <a:solidFill>
                  <a:srgbClr val="15262F"/>
                </a:solidFill>
              </a:rPr>
              <a:t>QuantumScape (US)</a:t>
            </a:r>
            <a:endParaRPr lang="en-US" sz="870" dirty="0"/>
          </a:p>
        </p:txBody>
      </p:sp>
      <p:sp>
        <p:nvSpPr>
          <p:cNvPr id="13" name="Shape 11"/>
          <p:cNvSpPr/>
          <p:nvPr/>
        </p:nvSpPr>
        <p:spPr>
          <a:xfrm>
            <a:off x="2715768" y="2267712"/>
            <a:ext cx="2788920" cy="457200"/>
          </a:xfrm>
          <a:prstGeom prst="rect">
            <a:avLst/>
          </a:prstGeom>
          <a:solidFill>
            <a:srgbClr val="F3F7F7"/>
          </a:solidFill>
          <a:ln w="12700">
            <a:solidFill>
              <a:srgbClr val="E3EAE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88920" y="2267712"/>
            <a:ext cx="26609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870" dirty="0">
                <a:solidFill>
                  <a:srgbClr val="374952"/>
                </a:solidFill>
              </a:rPr>
              <a:t>Anode-free Li-metal + oxide ceramic separator</a:t>
            </a:r>
            <a:endParaRPr lang="en-US" sz="870" dirty="0"/>
          </a:p>
        </p:txBody>
      </p:sp>
      <p:sp>
        <p:nvSpPr>
          <p:cNvPr id="15" name="Shape 13"/>
          <p:cNvSpPr/>
          <p:nvPr/>
        </p:nvSpPr>
        <p:spPr>
          <a:xfrm>
            <a:off x="5504688" y="2267712"/>
            <a:ext cx="2148840" cy="457200"/>
          </a:xfrm>
          <a:prstGeom prst="rect">
            <a:avLst/>
          </a:prstGeom>
          <a:solidFill>
            <a:srgbClr val="F3F7F7"/>
          </a:solidFill>
          <a:ln w="12700">
            <a:solidFill>
              <a:srgbClr val="E3EAE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577840" y="2267712"/>
            <a:ext cx="2020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870" dirty="0">
                <a:solidFill>
                  <a:srgbClr val="374952"/>
                </a:solidFill>
              </a:rPr>
              <a:t>QSE-5 B-samples; VW / PowerCo; Murata</a:t>
            </a:r>
            <a:endParaRPr lang="en-US" sz="870" dirty="0"/>
          </a:p>
        </p:txBody>
      </p:sp>
      <p:sp>
        <p:nvSpPr>
          <p:cNvPr id="17" name="Shape 15"/>
          <p:cNvSpPr/>
          <p:nvPr/>
        </p:nvSpPr>
        <p:spPr>
          <a:xfrm>
            <a:off x="566928" y="2724912"/>
            <a:ext cx="21488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AE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2724912"/>
            <a:ext cx="2020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870" b="1" dirty="0">
                <a:solidFill>
                  <a:srgbClr val="15262F"/>
                </a:solidFill>
              </a:rPr>
              <a:t>Toyota (JP)</a:t>
            </a:r>
            <a:endParaRPr lang="en-US" sz="870" dirty="0"/>
          </a:p>
        </p:txBody>
      </p:sp>
      <p:sp>
        <p:nvSpPr>
          <p:cNvPr id="19" name="Shape 17"/>
          <p:cNvSpPr/>
          <p:nvPr/>
        </p:nvSpPr>
        <p:spPr>
          <a:xfrm>
            <a:off x="2715768" y="2724912"/>
            <a:ext cx="27889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AE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88920" y="2724912"/>
            <a:ext cx="26609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870" dirty="0">
                <a:solidFill>
                  <a:srgbClr val="374952"/>
                </a:solidFill>
              </a:rPr>
              <a:t>Sulfide electrolyte</a:t>
            </a:r>
            <a:endParaRPr lang="en-US" sz="870" dirty="0"/>
          </a:p>
        </p:txBody>
      </p:sp>
      <p:sp>
        <p:nvSpPr>
          <p:cNvPr id="21" name="Shape 19"/>
          <p:cNvSpPr/>
          <p:nvPr/>
        </p:nvSpPr>
        <p:spPr>
          <a:xfrm>
            <a:off x="5504688" y="2724912"/>
            <a:ext cx="21488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AE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577840" y="2724912"/>
            <a:ext cx="2020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870" dirty="0">
                <a:solidFill>
                  <a:srgbClr val="374952"/>
                </a:solidFill>
              </a:rPr>
              <a:t>Mass production targeted 2027–28; Idemitsu</a:t>
            </a:r>
            <a:endParaRPr lang="en-US" sz="870" dirty="0"/>
          </a:p>
        </p:txBody>
      </p:sp>
      <p:sp>
        <p:nvSpPr>
          <p:cNvPr id="23" name="Shape 21"/>
          <p:cNvSpPr/>
          <p:nvPr/>
        </p:nvSpPr>
        <p:spPr>
          <a:xfrm>
            <a:off x="566928" y="3182112"/>
            <a:ext cx="2148840" cy="457200"/>
          </a:xfrm>
          <a:prstGeom prst="rect">
            <a:avLst/>
          </a:prstGeom>
          <a:solidFill>
            <a:srgbClr val="F3F7F7"/>
          </a:solidFill>
          <a:ln w="12700">
            <a:solidFill>
              <a:srgbClr val="E3EAE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3182112"/>
            <a:ext cx="2020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870" b="1" dirty="0">
                <a:solidFill>
                  <a:srgbClr val="15262F"/>
                </a:solidFill>
              </a:rPr>
              <a:t>Samsung SDI (KR)</a:t>
            </a:r>
            <a:endParaRPr lang="en-US" sz="870" dirty="0"/>
          </a:p>
        </p:txBody>
      </p:sp>
      <p:sp>
        <p:nvSpPr>
          <p:cNvPr id="25" name="Shape 23"/>
          <p:cNvSpPr/>
          <p:nvPr/>
        </p:nvSpPr>
        <p:spPr>
          <a:xfrm>
            <a:off x="2715768" y="3182112"/>
            <a:ext cx="2788920" cy="457200"/>
          </a:xfrm>
          <a:prstGeom prst="rect">
            <a:avLst/>
          </a:prstGeom>
          <a:solidFill>
            <a:srgbClr val="F3F7F7"/>
          </a:solidFill>
          <a:ln w="12700">
            <a:solidFill>
              <a:srgbClr val="E3EAE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88920" y="3182112"/>
            <a:ext cx="26609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870" dirty="0">
                <a:solidFill>
                  <a:srgbClr val="374952"/>
                </a:solidFill>
              </a:rPr>
              <a:t>Sulfide, high-Ni</a:t>
            </a:r>
            <a:endParaRPr lang="en-US" sz="870" dirty="0"/>
          </a:p>
        </p:txBody>
      </p:sp>
      <p:sp>
        <p:nvSpPr>
          <p:cNvPr id="27" name="Shape 25"/>
          <p:cNvSpPr/>
          <p:nvPr/>
        </p:nvSpPr>
        <p:spPr>
          <a:xfrm>
            <a:off x="5504688" y="3182112"/>
            <a:ext cx="2148840" cy="457200"/>
          </a:xfrm>
          <a:prstGeom prst="rect">
            <a:avLst/>
          </a:prstGeom>
          <a:solidFill>
            <a:srgbClr val="F3F7F7"/>
          </a:solidFill>
          <a:ln w="12700">
            <a:solidFill>
              <a:srgbClr val="E3EAE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577840" y="3182112"/>
            <a:ext cx="2020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870" dirty="0">
                <a:solidFill>
                  <a:srgbClr val="374952"/>
                </a:solidFill>
              </a:rPr>
              <a:t>Pilot; ~2027 premium-EV target</a:t>
            </a:r>
            <a:endParaRPr lang="en-US" sz="870" dirty="0"/>
          </a:p>
        </p:txBody>
      </p:sp>
      <p:sp>
        <p:nvSpPr>
          <p:cNvPr id="29" name="Shape 27"/>
          <p:cNvSpPr/>
          <p:nvPr/>
        </p:nvSpPr>
        <p:spPr>
          <a:xfrm>
            <a:off x="566928" y="3639312"/>
            <a:ext cx="21488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AE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" y="3639312"/>
            <a:ext cx="2020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870" b="1" dirty="0">
                <a:solidFill>
                  <a:srgbClr val="15262F"/>
                </a:solidFill>
              </a:rPr>
              <a:t>Solid Power (US)</a:t>
            </a:r>
            <a:endParaRPr lang="en-US" sz="870" dirty="0"/>
          </a:p>
        </p:txBody>
      </p:sp>
      <p:sp>
        <p:nvSpPr>
          <p:cNvPr id="31" name="Shape 29"/>
          <p:cNvSpPr/>
          <p:nvPr/>
        </p:nvSpPr>
        <p:spPr>
          <a:xfrm>
            <a:off x="2715768" y="3639312"/>
            <a:ext cx="27889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AE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788920" y="3639312"/>
            <a:ext cx="26609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870" dirty="0">
                <a:solidFill>
                  <a:srgbClr val="374952"/>
                </a:solidFill>
              </a:rPr>
              <a:t>Sulfide; licensing model</a:t>
            </a:r>
            <a:endParaRPr lang="en-US" sz="870" dirty="0"/>
          </a:p>
        </p:txBody>
      </p:sp>
      <p:sp>
        <p:nvSpPr>
          <p:cNvPr id="33" name="Shape 31"/>
          <p:cNvSpPr/>
          <p:nvPr/>
        </p:nvSpPr>
        <p:spPr>
          <a:xfrm>
            <a:off x="5504688" y="3639312"/>
            <a:ext cx="21488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AE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577840" y="3639312"/>
            <a:ext cx="2020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870" dirty="0">
                <a:solidFill>
                  <a:srgbClr val="374952"/>
                </a:solidFill>
              </a:rPr>
              <a:t>BMW &amp; Ford partnerships; pre-pilot line</a:t>
            </a:r>
            <a:endParaRPr lang="en-US" sz="870" dirty="0"/>
          </a:p>
        </p:txBody>
      </p:sp>
      <p:sp>
        <p:nvSpPr>
          <p:cNvPr id="35" name="Shape 33"/>
          <p:cNvSpPr/>
          <p:nvPr/>
        </p:nvSpPr>
        <p:spPr>
          <a:xfrm>
            <a:off x="566928" y="4096512"/>
            <a:ext cx="2148840" cy="457200"/>
          </a:xfrm>
          <a:prstGeom prst="rect">
            <a:avLst/>
          </a:prstGeom>
          <a:solidFill>
            <a:srgbClr val="F3F7F7"/>
          </a:solidFill>
          <a:ln w="12700">
            <a:solidFill>
              <a:srgbClr val="E3EAE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0080" y="4096512"/>
            <a:ext cx="2020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870" b="1" dirty="0">
                <a:solidFill>
                  <a:srgbClr val="15262F"/>
                </a:solidFill>
              </a:rPr>
              <a:t>Factorial (US)</a:t>
            </a:r>
            <a:endParaRPr lang="en-US" sz="870" dirty="0"/>
          </a:p>
        </p:txBody>
      </p:sp>
      <p:sp>
        <p:nvSpPr>
          <p:cNvPr id="37" name="Shape 35"/>
          <p:cNvSpPr/>
          <p:nvPr/>
        </p:nvSpPr>
        <p:spPr>
          <a:xfrm>
            <a:off x="2715768" y="4096512"/>
            <a:ext cx="2788920" cy="457200"/>
          </a:xfrm>
          <a:prstGeom prst="rect">
            <a:avLst/>
          </a:prstGeom>
          <a:solidFill>
            <a:srgbClr val="F3F7F7"/>
          </a:solidFill>
          <a:ln w="12700">
            <a:solidFill>
              <a:srgbClr val="E3EAE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788920" y="4096512"/>
            <a:ext cx="26609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870" dirty="0">
                <a:solidFill>
                  <a:srgbClr val="374952"/>
                </a:solidFill>
              </a:rPr>
              <a:t>Semi-solid (quasi-solid)</a:t>
            </a:r>
            <a:endParaRPr lang="en-US" sz="870" dirty="0"/>
          </a:p>
        </p:txBody>
      </p:sp>
      <p:sp>
        <p:nvSpPr>
          <p:cNvPr id="39" name="Shape 37"/>
          <p:cNvSpPr/>
          <p:nvPr/>
        </p:nvSpPr>
        <p:spPr>
          <a:xfrm>
            <a:off x="5504688" y="4096512"/>
            <a:ext cx="2148840" cy="457200"/>
          </a:xfrm>
          <a:prstGeom prst="rect">
            <a:avLst/>
          </a:prstGeom>
          <a:solidFill>
            <a:srgbClr val="F3F7F7"/>
          </a:solidFill>
          <a:ln w="12700">
            <a:solidFill>
              <a:srgbClr val="E3EAE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577840" y="4096512"/>
            <a:ext cx="2020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870" dirty="0">
                <a:solidFill>
                  <a:srgbClr val="374952"/>
                </a:solidFill>
              </a:rPr>
              <a:t>Mercedes &amp; Stellantis; cells in test fleets</a:t>
            </a:r>
            <a:endParaRPr lang="en-US" sz="870" dirty="0"/>
          </a:p>
        </p:txBody>
      </p:sp>
      <p:sp>
        <p:nvSpPr>
          <p:cNvPr id="41" name="Shape 39"/>
          <p:cNvSpPr/>
          <p:nvPr/>
        </p:nvSpPr>
        <p:spPr>
          <a:xfrm>
            <a:off x="566928" y="4553712"/>
            <a:ext cx="21488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AE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40080" y="4553712"/>
            <a:ext cx="2020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870" b="1" dirty="0">
                <a:solidFill>
                  <a:srgbClr val="15262F"/>
                </a:solidFill>
              </a:rPr>
              <a:t>ProLogium (TW)</a:t>
            </a:r>
            <a:endParaRPr lang="en-US" sz="870" dirty="0"/>
          </a:p>
        </p:txBody>
      </p:sp>
      <p:sp>
        <p:nvSpPr>
          <p:cNvPr id="43" name="Shape 41"/>
          <p:cNvSpPr/>
          <p:nvPr/>
        </p:nvSpPr>
        <p:spPr>
          <a:xfrm>
            <a:off x="2715768" y="4553712"/>
            <a:ext cx="27889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AE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788920" y="4553712"/>
            <a:ext cx="26609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870" dirty="0">
                <a:solidFill>
                  <a:srgbClr val="374952"/>
                </a:solidFill>
              </a:rPr>
              <a:t>All-inorganic oxide / ceramic</a:t>
            </a:r>
            <a:endParaRPr lang="en-US" sz="870" dirty="0"/>
          </a:p>
        </p:txBody>
      </p:sp>
      <p:sp>
        <p:nvSpPr>
          <p:cNvPr id="45" name="Shape 43"/>
          <p:cNvSpPr/>
          <p:nvPr/>
        </p:nvSpPr>
        <p:spPr>
          <a:xfrm>
            <a:off x="5504688" y="4553712"/>
            <a:ext cx="21488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AE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577840" y="4553712"/>
            <a:ext cx="2020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870" dirty="0">
                <a:solidFill>
                  <a:srgbClr val="374952"/>
                </a:solidFill>
              </a:rPr>
              <a:t>Giga plant in France; FAW, Mercedes</a:t>
            </a:r>
            <a:endParaRPr lang="en-US" sz="870" dirty="0"/>
          </a:p>
        </p:txBody>
      </p:sp>
      <p:sp>
        <p:nvSpPr>
          <p:cNvPr id="47" name="Shape 45"/>
          <p:cNvSpPr/>
          <p:nvPr/>
        </p:nvSpPr>
        <p:spPr>
          <a:xfrm>
            <a:off x="566928" y="5010912"/>
            <a:ext cx="2148840" cy="457200"/>
          </a:xfrm>
          <a:prstGeom prst="rect">
            <a:avLst/>
          </a:prstGeom>
          <a:solidFill>
            <a:srgbClr val="F3F7F7"/>
          </a:solidFill>
          <a:ln w="12700">
            <a:solidFill>
              <a:srgbClr val="E3EAEC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40080" y="5010912"/>
            <a:ext cx="2020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870" b="1" dirty="0">
                <a:solidFill>
                  <a:srgbClr val="15262F"/>
                </a:solidFill>
              </a:rPr>
              <a:t>CATL / BYD (CN)</a:t>
            </a:r>
            <a:endParaRPr lang="en-US" sz="870" dirty="0"/>
          </a:p>
        </p:txBody>
      </p:sp>
      <p:sp>
        <p:nvSpPr>
          <p:cNvPr id="49" name="Shape 47"/>
          <p:cNvSpPr/>
          <p:nvPr/>
        </p:nvSpPr>
        <p:spPr>
          <a:xfrm>
            <a:off x="2715768" y="5010912"/>
            <a:ext cx="2788920" cy="457200"/>
          </a:xfrm>
          <a:prstGeom prst="rect">
            <a:avLst/>
          </a:prstGeom>
          <a:solidFill>
            <a:srgbClr val="F3F7F7"/>
          </a:solidFill>
          <a:ln w="12700">
            <a:solidFill>
              <a:srgbClr val="E3EAEC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788920" y="5010912"/>
            <a:ext cx="26609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870" dirty="0">
                <a:solidFill>
                  <a:srgbClr val="374952"/>
                </a:solidFill>
              </a:rPr>
              <a:t>Condensed / semi-solid + LMB R&amp;D</a:t>
            </a:r>
            <a:endParaRPr lang="en-US" sz="870" dirty="0"/>
          </a:p>
        </p:txBody>
      </p:sp>
      <p:sp>
        <p:nvSpPr>
          <p:cNvPr id="51" name="Shape 49"/>
          <p:cNvSpPr/>
          <p:nvPr/>
        </p:nvSpPr>
        <p:spPr>
          <a:xfrm>
            <a:off x="5504688" y="5010912"/>
            <a:ext cx="2148840" cy="457200"/>
          </a:xfrm>
          <a:prstGeom prst="rect">
            <a:avLst/>
          </a:prstGeom>
          <a:solidFill>
            <a:srgbClr val="F3F7F7"/>
          </a:solidFill>
          <a:ln w="12700">
            <a:solidFill>
              <a:srgbClr val="E3EAEC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577840" y="5010912"/>
            <a:ext cx="2020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870" dirty="0">
                <a:solidFill>
                  <a:srgbClr val="374952"/>
                </a:solidFill>
              </a:rPr>
              <a:t>Scale incumbents; aggressive roadmaps</a:t>
            </a:r>
            <a:endParaRPr lang="en-US" sz="870" dirty="0"/>
          </a:p>
        </p:txBody>
      </p:sp>
      <p:sp>
        <p:nvSpPr>
          <p:cNvPr id="53" name="Shape 51"/>
          <p:cNvSpPr/>
          <p:nvPr/>
        </p:nvSpPr>
        <p:spPr>
          <a:xfrm>
            <a:off x="7635240" y="1572768"/>
            <a:ext cx="3989527" cy="4572000"/>
          </a:xfrm>
          <a:prstGeom prst="roundRect">
            <a:avLst>
              <a:gd name="adj" fmla="val 1604"/>
            </a:avLst>
          </a:prstGeom>
          <a:solidFill>
            <a:srgbClr val="0E2A38"/>
          </a:solidFill>
          <a:ln/>
          <a:effectLst>
            <a:outerShdw sx="100000" sy="100000" kx="0" ky="0" algn="bl" rotWithShape="0" blurRad="114300" dist="38100" dir="8100000">
              <a:srgbClr val="0E2A38">
                <a:alpha val="13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7909560" y="1828800"/>
            <a:ext cx="548640" cy="548640"/>
          </a:xfrm>
          <a:prstGeom prst="ellipse">
            <a:avLst/>
          </a:prstGeom>
          <a:solidFill>
            <a:srgbClr val="F2A516"/>
          </a:solidFill>
          <a:ln/>
        </p:spPr>
      </p:sp>
      <p:pic>
        <p:nvPicPr>
          <p:cNvPr id="5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52206" y="1971446"/>
            <a:ext cx="263347" cy="263347"/>
          </a:xfrm>
          <a:prstGeom prst="rect">
            <a:avLst/>
          </a:prstGeom>
        </p:spPr>
      </p:pic>
      <p:sp>
        <p:nvSpPr>
          <p:cNvPr id="56" name="Text 53"/>
          <p:cNvSpPr/>
          <p:nvPr/>
        </p:nvSpPr>
        <p:spPr>
          <a:xfrm>
            <a:off x="8567928" y="1828800"/>
            <a:ext cx="289224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India: nascent</a:t>
            </a:r>
            <a:endParaRPr lang="en-US" sz="1500" dirty="0"/>
          </a:p>
        </p:txBody>
      </p:sp>
      <p:sp>
        <p:nvSpPr>
          <p:cNvPr id="57" name="Shape 54"/>
          <p:cNvSpPr/>
          <p:nvPr/>
        </p:nvSpPr>
        <p:spPr>
          <a:xfrm>
            <a:off x="7909560" y="2578608"/>
            <a:ext cx="54864" cy="786384"/>
          </a:xfrm>
          <a:prstGeom prst="rect">
            <a:avLst/>
          </a:prstGeom>
          <a:solidFill>
            <a:srgbClr val="16B8A6"/>
          </a:solidFill>
          <a:ln/>
        </p:spPr>
      </p:sp>
      <p:sp>
        <p:nvSpPr>
          <p:cNvPr id="58" name="Text 55"/>
          <p:cNvSpPr/>
          <p:nvPr/>
        </p:nvSpPr>
        <p:spPr>
          <a:xfrm>
            <a:off x="8074152" y="2542032"/>
            <a:ext cx="331287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commercial SSB cell maker yet</a:t>
            </a:r>
            <a:endParaRPr lang="en-US" sz="1050" dirty="0"/>
          </a:p>
        </p:txBody>
      </p:sp>
      <p:sp>
        <p:nvSpPr>
          <p:cNvPr id="59" name="Text 56"/>
          <p:cNvSpPr/>
          <p:nvPr/>
        </p:nvSpPr>
        <p:spPr>
          <a:xfrm>
            <a:off x="8074152" y="2816352"/>
            <a:ext cx="3312871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7000"/>
              </a:lnSpc>
              <a:buNone/>
            </a:pPr>
            <a:r>
              <a:rPr lang="en-US" sz="920" dirty="0">
                <a:solidFill>
                  <a:srgbClr val="C7DB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has no domestic all-solid-state production; effort is overwhelmingly R&amp;D-stage.</a:t>
            </a:r>
            <a:endParaRPr lang="en-US" sz="920" dirty="0"/>
          </a:p>
        </p:txBody>
      </p:sp>
      <p:sp>
        <p:nvSpPr>
          <p:cNvPr id="60" name="Shape 57"/>
          <p:cNvSpPr/>
          <p:nvPr/>
        </p:nvSpPr>
        <p:spPr>
          <a:xfrm>
            <a:off x="7909560" y="3474720"/>
            <a:ext cx="54864" cy="786384"/>
          </a:xfrm>
          <a:prstGeom prst="rect">
            <a:avLst/>
          </a:prstGeom>
          <a:solidFill>
            <a:srgbClr val="16B8A6"/>
          </a:solidFill>
          <a:ln/>
        </p:spPr>
      </p:sp>
      <p:sp>
        <p:nvSpPr>
          <p:cNvPr id="61" name="Text 58"/>
          <p:cNvSpPr/>
          <p:nvPr/>
        </p:nvSpPr>
        <p:spPr>
          <a:xfrm>
            <a:off x="8074152" y="3438144"/>
            <a:ext cx="331287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Corporates with SSB on the roadmap</a:t>
            </a:r>
            <a:endParaRPr lang="en-US" sz="1050" dirty="0"/>
          </a:p>
        </p:txBody>
      </p:sp>
      <p:sp>
        <p:nvSpPr>
          <p:cNvPr id="62" name="Text 59"/>
          <p:cNvSpPr/>
          <p:nvPr/>
        </p:nvSpPr>
        <p:spPr>
          <a:xfrm>
            <a:off x="8074152" y="3712464"/>
            <a:ext cx="3312871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7000"/>
              </a:lnSpc>
              <a:buNone/>
            </a:pPr>
            <a:r>
              <a:rPr lang="en-US" sz="920" dirty="0">
                <a:solidFill>
                  <a:srgbClr val="C7DB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GODI India lists all-solid-state among its cell programmes; large players watch, none ship.</a:t>
            </a:r>
            <a:endParaRPr lang="en-US" sz="920" dirty="0"/>
          </a:p>
        </p:txBody>
      </p:sp>
      <p:sp>
        <p:nvSpPr>
          <p:cNvPr id="63" name="Shape 60"/>
          <p:cNvSpPr/>
          <p:nvPr/>
        </p:nvSpPr>
        <p:spPr>
          <a:xfrm>
            <a:off x="7909560" y="4370832"/>
            <a:ext cx="54864" cy="786384"/>
          </a:xfrm>
          <a:prstGeom prst="rect">
            <a:avLst/>
          </a:prstGeom>
          <a:solidFill>
            <a:srgbClr val="16B8A6"/>
          </a:solidFill>
          <a:ln/>
        </p:spPr>
      </p:sp>
      <p:sp>
        <p:nvSpPr>
          <p:cNvPr id="64" name="Text 61"/>
          <p:cNvSpPr/>
          <p:nvPr/>
        </p:nvSpPr>
        <p:spPr>
          <a:xfrm>
            <a:off x="8074152" y="4334256"/>
            <a:ext cx="331287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research base</a:t>
            </a:r>
            <a:endParaRPr lang="en-US" sz="1050" dirty="0"/>
          </a:p>
        </p:txBody>
      </p:sp>
      <p:sp>
        <p:nvSpPr>
          <p:cNvPr id="65" name="Text 62"/>
          <p:cNvSpPr/>
          <p:nvPr/>
        </p:nvSpPr>
        <p:spPr>
          <a:xfrm>
            <a:off x="8074152" y="4608576"/>
            <a:ext cx="3312871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7000"/>
              </a:lnSpc>
              <a:buNone/>
            </a:pPr>
            <a:r>
              <a:rPr lang="en-US" sz="920" dirty="0">
                <a:solidFill>
                  <a:srgbClr val="C7DB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ARCI (Hyderabad), IISc, several IITs and CSIR labs work on solid electrolytes &amp; Li-metal.</a:t>
            </a:r>
            <a:endParaRPr lang="en-US" sz="920" dirty="0"/>
          </a:p>
        </p:txBody>
      </p:sp>
      <p:sp>
        <p:nvSpPr>
          <p:cNvPr id="66" name="Shape 63"/>
          <p:cNvSpPr/>
          <p:nvPr/>
        </p:nvSpPr>
        <p:spPr>
          <a:xfrm>
            <a:off x="7909560" y="5266944"/>
            <a:ext cx="54864" cy="786384"/>
          </a:xfrm>
          <a:prstGeom prst="rect">
            <a:avLst/>
          </a:prstGeom>
          <a:solidFill>
            <a:srgbClr val="16B8A6"/>
          </a:solidFill>
          <a:ln/>
        </p:spPr>
      </p:sp>
      <p:sp>
        <p:nvSpPr>
          <p:cNvPr id="67" name="Text 64"/>
          <p:cNvSpPr/>
          <p:nvPr/>
        </p:nvSpPr>
        <p:spPr>
          <a:xfrm>
            <a:off x="8074152" y="5230368"/>
            <a:ext cx="331287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pragmatic indigenous bet</a:t>
            </a:r>
            <a:endParaRPr lang="en-US" sz="1050" dirty="0"/>
          </a:p>
        </p:txBody>
      </p:sp>
      <p:sp>
        <p:nvSpPr>
          <p:cNvPr id="68" name="Text 65"/>
          <p:cNvSpPr/>
          <p:nvPr/>
        </p:nvSpPr>
        <p:spPr>
          <a:xfrm>
            <a:off x="8074152" y="5504688"/>
            <a:ext cx="3312871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7000"/>
              </a:lnSpc>
              <a:buNone/>
            </a:pPr>
            <a:r>
              <a:rPr lang="en-US" sz="920" dirty="0">
                <a:solidFill>
                  <a:srgbClr val="C7DB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Sodium-ion (Indi Energy, Rechargion) is far closer to market for India than SSB — a better near-term leapfrog.</a:t>
            </a:r>
            <a:endParaRPr lang="en-US" sz="920" dirty="0"/>
          </a:p>
        </p:txBody>
      </p:sp>
      <p:sp>
        <p:nvSpPr>
          <p:cNvPr id="69" name="Text 66"/>
          <p:cNvSpPr/>
          <p:nvPr/>
        </p:nvSpPr>
        <p:spPr>
          <a:xfrm>
            <a:off x="566928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120" kern="0" dirty="0">
                <a:solidFill>
                  <a:srgbClr val="6E7F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Solid-State Batteries  ·  Technology Deep Dive</a:t>
            </a:r>
            <a:endParaRPr lang="en-US" sz="850" dirty="0"/>
          </a:p>
        </p:txBody>
      </p:sp>
      <p:sp>
        <p:nvSpPr>
          <p:cNvPr id="70" name="Text 67"/>
          <p:cNvSpPr/>
          <p:nvPr/>
        </p:nvSpPr>
        <p:spPr>
          <a:xfrm>
            <a:off x="10710367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E7F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05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0624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40" kern="0" dirty="0">
                <a:solidFill>
                  <a:srgbClr val="0E7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TECHNICAL BOTTLENECKS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526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it isn't on every car yet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627632"/>
            <a:ext cx="3503066" cy="2084832"/>
          </a:xfrm>
          <a:prstGeom prst="roundRect">
            <a:avLst>
              <a:gd name="adj" fmla="val 2632"/>
            </a:avLst>
          </a:prstGeom>
          <a:solidFill>
            <a:srgbClr val="F3F7F7"/>
          </a:solidFill>
          <a:ln w="12700">
            <a:solidFill>
              <a:srgbClr val="E3EAEC"/>
            </a:solidFill>
            <a:prstDash val="solid"/>
          </a:ln>
          <a:effectLst>
            <a:outerShdw sx="100000" sy="100000" kx="0" ky="0" algn="bl" rotWithShape="0" blurRad="76200" dist="25400" dir="8100000">
              <a:srgbClr val="0E2A38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66928" y="1627632"/>
            <a:ext cx="3503066" cy="54864"/>
          </a:xfrm>
          <a:prstGeom prst="rect">
            <a:avLst/>
          </a:prstGeom>
          <a:solidFill>
            <a:srgbClr val="C2483B"/>
          </a:solidFill>
          <a:ln/>
        </p:spPr>
      </p:sp>
      <p:sp>
        <p:nvSpPr>
          <p:cNvPr id="6" name="Shape 4"/>
          <p:cNvSpPr/>
          <p:nvPr/>
        </p:nvSpPr>
        <p:spPr>
          <a:xfrm>
            <a:off x="804672" y="1865376"/>
            <a:ext cx="548640" cy="548640"/>
          </a:xfrm>
          <a:prstGeom prst="ellipse">
            <a:avLst/>
          </a:prstGeom>
          <a:solidFill>
            <a:srgbClr val="0E2A38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7318" y="2008022"/>
            <a:ext cx="263347" cy="26334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63040" y="1865376"/>
            <a:ext cx="240578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1300" b="1" dirty="0">
                <a:solidFill>
                  <a:srgbClr val="1526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Solid–solid interfaces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04672" y="2523744"/>
            <a:ext cx="302757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70" dirty="0">
                <a:solidFill>
                  <a:srgbClr val="3749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Unlike a liquid that wets everything, a rigid electrolyte makes poor contact with electrodes — raising resistance and degrading as the cell cycles.</a:t>
            </a:r>
            <a:endParaRPr lang="en-US" sz="970" dirty="0"/>
          </a:p>
        </p:txBody>
      </p:sp>
      <p:sp>
        <p:nvSpPr>
          <p:cNvPr id="10" name="Shape 7"/>
          <p:cNvSpPr/>
          <p:nvPr/>
        </p:nvSpPr>
        <p:spPr>
          <a:xfrm>
            <a:off x="4344314" y="1627632"/>
            <a:ext cx="3503066" cy="2084832"/>
          </a:xfrm>
          <a:prstGeom prst="roundRect">
            <a:avLst>
              <a:gd name="adj" fmla="val 2632"/>
            </a:avLst>
          </a:prstGeom>
          <a:solidFill>
            <a:srgbClr val="F3F7F7"/>
          </a:solidFill>
          <a:ln w="12700">
            <a:solidFill>
              <a:srgbClr val="E3EAEC"/>
            </a:solidFill>
            <a:prstDash val="solid"/>
          </a:ln>
          <a:effectLst>
            <a:outerShdw sx="100000" sy="100000" kx="0" ky="0" algn="bl" rotWithShape="0" blurRad="76200" dist="25400" dir="8100000">
              <a:srgbClr val="0E2A38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344314" y="1627632"/>
            <a:ext cx="3503066" cy="54864"/>
          </a:xfrm>
          <a:prstGeom prst="rect">
            <a:avLst/>
          </a:prstGeom>
          <a:solidFill>
            <a:srgbClr val="C2483B"/>
          </a:solidFill>
          <a:ln/>
        </p:spPr>
      </p:sp>
      <p:sp>
        <p:nvSpPr>
          <p:cNvPr id="12" name="Shape 9"/>
          <p:cNvSpPr/>
          <p:nvPr/>
        </p:nvSpPr>
        <p:spPr>
          <a:xfrm>
            <a:off x="4582058" y="1865376"/>
            <a:ext cx="548640" cy="548640"/>
          </a:xfrm>
          <a:prstGeom prst="ellipse">
            <a:avLst/>
          </a:prstGeom>
          <a:solidFill>
            <a:srgbClr val="0E2A38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4705" y="2008022"/>
            <a:ext cx="263347" cy="263347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240426" y="1865376"/>
            <a:ext cx="240578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1300" b="1" dirty="0">
                <a:solidFill>
                  <a:srgbClr val="1526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Dendrites at high current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4582058" y="2523744"/>
            <a:ext cx="302757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70" dirty="0">
                <a:solidFill>
                  <a:srgbClr val="3749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Lithium can still nucleate and crack through the electrolyte during fast charge, eventually shorting the cell.</a:t>
            </a:r>
            <a:endParaRPr lang="en-US" sz="970" dirty="0"/>
          </a:p>
        </p:txBody>
      </p:sp>
      <p:sp>
        <p:nvSpPr>
          <p:cNvPr id="16" name="Shape 12"/>
          <p:cNvSpPr/>
          <p:nvPr/>
        </p:nvSpPr>
        <p:spPr>
          <a:xfrm>
            <a:off x="8121701" y="1627632"/>
            <a:ext cx="3503066" cy="2084832"/>
          </a:xfrm>
          <a:prstGeom prst="roundRect">
            <a:avLst>
              <a:gd name="adj" fmla="val 2632"/>
            </a:avLst>
          </a:prstGeom>
          <a:solidFill>
            <a:srgbClr val="F3F7F7"/>
          </a:solidFill>
          <a:ln w="12700">
            <a:solidFill>
              <a:srgbClr val="E3EAEC"/>
            </a:solidFill>
            <a:prstDash val="solid"/>
          </a:ln>
          <a:effectLst>
            <a:outerShdw sx="100000" sy="100000" kx="0" ky="0" algn="bl" rotWithShape="0" blurRad="76200" dist="25400" dir="8100000">
              <a:srgbClr val="0E2A38">
                <a:alpha val="1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121701" y="1627632"/>
            <a:ext cx="3503066" cy="54864"/>
          </a:xfrm>
          <a:prstGeom prst="rect">
            <a:avLst/>
          </a:prstGeom>
          <a:solidFill>
            <a:srgbClr val="C2483B"/>
          </a:solidFill>
          <a:ln/>
        </p:spPr>
      </p:sp>
      <p:sp>
        <p:nvSpPr>
          <p:cNvPr id="18" name="Shape 14"/>
          <p:cNvSpPr/>
          <p:nvPr/>
        </p:nvSpPr>
        <p:spPr>
          <a:xfrm>
            <a:off x="8359445" y="1865376"/>
            <a:ext cx="548640" cy="548640"/>
          </a:xfrm>
          <a:prstGeom prst="ellipse">
            <a:avLst/>
          </a:prstGeom>
          <a:solidFill>
            <a:srgbClr val="0E2A38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2091" y="2008022"/>
            <a:ext cx="263347" cy="263347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9017813" y="1865376"/>
            <a:ext cx="240578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1300" b="1" dirty="0">
                <a:solidFill>
                  <a:srgbClr val="1526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Pressure &amp; brittleness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8359445" y="2523744"/>
            <a:ext cx="302757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70" dirty="0">
                <a:solidFill>
                  <a:srgbClr val="3749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cells need steady mechanical pressure (atmospheres) to stay in contact; ceramics are brittle and crack under stress and cycling.</a:t>
            </a:r>
            <a:endParaRPr lang="en-US" sz="970" dirty="0"/>
          </a:p>
        </p:txBody>
      </p:sp>
      <p:sp>
        <p:nvSpPr>
          <p:cNvPr id="22" name="Shape 17"/>
          <p:cNvSpPr/>
          <p:nvPr/>
        </p:nvSpPr>
        <p:spPr>
          <a:xfrm>
            <a:off x="566928" y="3950208"/>
            <a:ext cx="3503066" cy="2084832"/>
          </a:xfrm>
          <a:prstGeom prst="roundRect">
            <a:avLst>
              <a:gd name="adj" fmla="val 2632"/>
            </a:avLst>
          </a:prstGeom>
          <a:solidFill>
            <a:srgbClr val="F3F7F7"/>
          </a:solidFill>
          <a:ln w="12700">
            <a:solidFill>
              <a:srgbClr val="E3EAEC"/>
            </a:solidFill>
            <a:prstDash val="solid"/>
          </a:ln>
          <a:effectLst>
            <a:outerShdw sx="100000" sy="100000" kx="0" ky="0" algn="bl" rotWithShape="0" blurRad="76200" dist="25400" dir="8100000">
              <a:srgbClr val="0E2A38">
                <a:alpha val="10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566928" y="3950208"/>
            <a:ext cx="3503066" cy="54864"/>
          </a:xfrm>
          <a:prstGeom prst="rect">
            <a:avLst/>
          </a:prstGeom>
          <a:solidFill>
            <a:srgbClr val="F2A516"/>
          </a:solidFill>
          <a:ln/>
        </p:spPr>
      </p:sp>
      <p:sp>
        <p:nvSpPr>
          <p:cNvPr id="24" name="Shape 19"/>
          <p:cNvSpPr/>
          <p:nvPr/>
        </p:nvSpPr>
        <p:spPr>
          <a:xfrm>
            <a:off x="804672" y="4187952"/>
            <a:ext cx="548640" cy="548640"/>
          </a:xfrm>
          <a:prstGeom prst="ellipse">
            <a:avLst/>
          </a:prstGeom>
          <a:solidFill>
            <a:srgbClr val="0E2A38"/>
          </a:solidFill>
          <a:ln/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318" y="4330598"/>
            <a:ext cx="263347" cy="263347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1463040" y="4187952"/>
            <a:ext cx="240578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1300" b="1" dirty="0">
                <a:solidFill>
                  <a:srgbClr val="1526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Moisture-sensitive sulfides</a:t>
            </a:r>
            <a:endParaRPr lang="en-US" sz="1300" dirty="0"/>
          </a:p>
        </p:txBody>
      </p:sp>
      <p:sp>
        <p:nvSpPr>
          <p:cNvPr id="27" name="Text 21"/>
          <p:cNvSpPr/>
          <p:nvPr/>
        </p:nvSpPr>
        <p:spPr>
          <a:xfrm>
            <a:off x="804672" y="4846320"/>
            <a:ext cx="302757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70" dirty="0">
                <a:solidFill>
                  <a:srgbClr val="3749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conductive electrolytes react with air/water, forcing inert, dry-room handling that complicates manufacturing.</a:t>
            </a:r>
            <a:endParaRPr lang="en-US" sz="970" dirty="0"/>
          </a:p>
        </p:txBody>
      </p:sp>
      <p:sp>
        <p:nvSpPr>
          <p:cNvPr id="28" name="Shape 22"/>
          <p:cNvSpPr/>
          <p:nvPr/>
        </p:nvSpPr>
        <p:spPr>
          <a:xfrm>
            <a:off x="4344314" y="3950208"/>
            <a:ext cx="3503066" cy="2084832"/>
          </a:xfrm>
          <a:prstGeom prst="roundRect">
            <a:avLst>
              <a:gd name="adj" fmla="val 2632"/>
            </a:avLst>
          </a:prstGeom>
          <a:solidFill>
            <a:srgbClr val="F3F7F7"/>
          </a:solidFill>
          <a:ln w="12700">
            <a:solidFill>
              <a:srgbClr val="E3EAEC"/>
            </a:solidFill>
            <a:prstDash val="solid"/>
          </a:ln>
          <a:effectLst>
            <a:outerShdw sx="100000" sy="100000" kx="0" ky="0" algn="bl" rotWithShape="0" blurRad="76200" dist="25400" dir="8100000">
              <a:srgbClr val="0E2A38">
                <a:alpha val="10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4344314" y="3950208"/>
            <a:ext cx="3503066" cy="54864"/>
          </a:xfrm>
          <a:prstGeom prst="rect">
            <a:avLst/>
          </a:prstGeom>
          <a:solidFill>
            <a:srgbClr val="F2A516"/>
          </a:solidFill>
          <a:ln/>
        </p:spPr>
      </p:sp>
      <p:sp>
        <p:nvSpPr>
          <p:cNvPr id="30" name="Shape 24"/>
          <p:cNvSpPr/>
          <p:nvPr/>
        </p:nvSpPr>
        <p:spPr>
          <a:xfrm>
            <a:off x="4582058" y="4187952"/>
            <a:ext cx="548640" cy="548640"/>
          </a:xfrm>
          <a:prstGeom prst="ellipse">
            <a:avLst/>
          </a:prstGeom>
          <a:solidFill>
            <a:srgbClr val="0E2A38"/>
          </a:solidFill>
          <a:ln/>
        </p:spPr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24705" y="4330598"/>
            <a:ext cx="263347" cy="263347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5240426" y="4187952"/>
            <a:ext cx="240578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1300" b="1" dirty="0">
                <a:solidFill>
                  <a:srgbClr val="1526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Manufacturing at scale</a:t>
            </a:r>
            <a:endParaRPr lang="en-US" sz="1300" dirty="0"/>
          </a:p>
        </p:txBody>
      </p:sp>
      <p:sp>
        <p:nvSpPr>
          <p:cNvPr id="33" name="Text 26"/>
          <p:cNvSpPr/>
          <p:nvPr/>
        </p:nvSpPr>
        <p:spPr>
          <a:xfrm>
            <a:off x="4582058" y="4846320"/>
            <a:ext cx="302757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70" dirty="0">
                <a:solidFill>
                  <a:srgbClr val="3749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Producing thin, defect-free electrolyte layers and stacking them fast, cheaply and identically — by the million — is unproven at gigascale.</a:t>
            </a:r>
            <a:endParaRPr lang="en-US" sz="970" dirty="0"/>
          </a:p>
        </p:txBody>
      </p:sp>
      <p:sp>
        <p:nvSpPr>
          <p:cNvPr id="34" name="Shape 27"/>
          <p:cNvSpPr/>
          <p:nvPr/>
        </p:nvSpPr>
        <p:spPr>
          <a:xfrm>
            <a:off x="8121701" y="3950208"/>
            <a:ext cx="3503066" cy="2084832"/>
          </a:xfrm>
          <a:prstGeom prst="roundRect">
            <a:avLst>
              <a:gd name="adj" fmla="val 2632"/>
            </a:avLst>
          </a:prstGeom>
          <a:solidFill>
            <a:srgbClr val="F3F7F7"/>
          </a:solidFill>
          <a:ln w="12700">
            <a:solidFill>
              <a:srgbClr val="E3EAEC"/>
            </a:solidFill>
            <a:prstDash val="solid"/>
          </a:ln>
          <a:effectLst>
            <a:outerShdw sx="100000" sy="100000" kx="0" ky="0" algn="bl" rotWithShape="0" blurRad="76200" dist="25400" dir="8100000">
              <a:srgbClr val="0E2A38">
                <a:alpha val="10000"/>
              </a:srgbClr>
            </a:outerShdw>
          </a:effectLst>
        </p:spPr>
      </p:sp>
      <p:sp>
        <p:nvSpPr>
          <p:cNvPr id="35" name="Shape 28"/>
          <p:cNvSpPr/>
          <p:nvPr/>
        </p:nvSpPr>
        <p:spPr>
          <a:xfrm>
            <a:off x="8121701" y="3950208"/>
            <a:ext cx="3503066" cy="54864"/>
          </a:xfrm>
          <a:prstGeom prst="rect">
            <a:avLst/>
          </a:prstGeom>
          <a:solidFill>
            <a:srgbClr val="F2A516"/>
          </a:solidFill>
          <a:ln/>
        </p:spPr>
      </p:sp>
      <p:sp>
        <p:nvSpPr>
          <p:cNvPr id="36" name="Shape 29"/>
          <p:cNvSpPr/>
          <p:nvPr/>
        </p:nvSpPr>
        <p:spPr>
          <a:xfrm>
            <a:off x="8359445" y="4187952"/>
            <a:ext cx="548640" cy="548640"/>
          </a:xfrm>
          <a:prstGeom prst="ellipse">
            <a:avLst/>
          </a:prstGeom>
          <a:solidFill>
            <a:srgbClr val="0E2A38"/>
          </a:solidFill>
          <a:ln/>
        </p:spPr>
      </p:sp>
      <p:pic>
        <p:nvPicPr>
          <p:cNvPr id="3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02091" y="4330598"/>
            <a:ext cx="263347" cy="263347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9017813" y="4187952"/>
            <a:ext cx="240578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1300" b="1" dirty="0">
                <a:solidFill>
                  <a:srgbClr val="1526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Cost</a:t>
            </a:r>
            <a:endParaRPr lang="en-US" sz="1300" dirty="0"/>
          </a:p>
        </p:txBody>
      </p:sp>
      <p:sp>
        <p:nvSpPr>
          <p:cNvPr id="39" name="Text 31"/>
          <p:cNvSpPr/>
          <p:nvPr/>
        </p:nvSpPr>
        <p:spPr>
          <a:xfrm>
            <a:off x="8359445" y="4846320"/>
            <a:ext cx="302757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70" dirty="0">
                <a:solidFill>
                  <a:srgbClr val="3749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Lithium-metal handling, exotic materials and new process equipment keep $/kWh well above mature lithium-ion today.</a:t>
            </a:r>
            <a:endParaRPr lang="en-US" sz="970" dirty="0"/>
          </a:p>
        </p:txBody>
      </p:sp>
      <p:sp>
        <p:nvSpPr>
          <p:cNvPr id="40" name="Text 32"/>
          <p:cNvSpPr/>
          <p:nvPr/>
        </p:nvSpPr>
        <p:spPr>
          <a:xfrm>
            <a:off x="566928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120" kern="0" dirty="0">
                <a:solidFill>
                  <a:srgbClr val="6E7F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Solid-State Batteries  ·  Technology Deep Dive</a:t>
            </a:r>
            <a:endParaRPr lang="en-US" sz="850" dirty="0"/>
          </a:p>
        </p:txBody>
      </p:sp>
      <p:sp>
        <p:nvSpPr>
          <p:cNvPr id="41" name="Text 33"/>
          <p:cNvSpPr/>
          <p:nvPr/>
        </p:nvSpPr>
        <p:spPr>
          <a:xfrm>
            <a:off x="10710367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E7F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05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0624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40" kern="0" dirty="0">
                <a:solidFill>
                  <a:srgbClr val="0E7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TIMING &amp; THE INDIA ANGLE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526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Commercialisation horizon — and where India can play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66928" y="16276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0E7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COMMERCIALISATION TIMELINE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66928" y="1975104"/>
            <a:ext cx="5806440" cy="1225296"/>
          </a:xfrm>
          <a:prstGeom prst="roundRect">
            <a:avLst>
              <a:gd name="adj" fmla="val 4478"/>
            </a:avLst>
          </a:prstGeom>
          <a:solidFill>
            <a:srgbClr val="F3F7F7"/>
          </a:solidFill>
          <a:ln w="12700">
            <a:solidFill>
              <a:srgbClr val="E3EA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975104"/>
            <a:ext cx="1417320" cy="1225296"/>
          </a:xfrm>
          <a:prstGeom prst="rect">
            <a:avLst/>
          </a:prstGeom>
          <a:solidFill>
            <a:srgbClr val="0E7C77"/>
          </a:solidFill>
          <a:ln/>
        </p:spPr>
      </p:sp>
      <p:sp>
        <p:nvSpPr>
          <p:cNvPr id="7" name="Text 5"/>
          <p:cNvSpPr/>
          <p:nvPr/>
        </p:nvSpPr>
        <p:spPr>
          <a:xfrm>
            <a:off x="566928" y="1975104"/>
            <a:ext cx="141732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2025–27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2139696" y="2121408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26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Niche &amp; high-value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2139696" y="2432304"/>
            <a:ext cx="4114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960" dirty="0">
                <a:solidFill>
                  <a:srgbClr val="3749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electronics, motorsport, eVTOL, defence/aerospace, AI-datacentre racks; semi-solid first.</a:t>
            </a:r>
            <a:endParaRPr lang="en-US" sz="960" dirty="0"/>
          </a:p>
        </p:txBody>
      </p:sp>
      <p:sp>
        <p:nvSpPr>
          <p:cNvPr id="10" name="Shape 8"/>
          <p:cNvSpPr/>
          <p:nvPr/>
        </p:nvSpPr>
        <p:spPr>
          <a:xfrm>
            <a:off x="566928" y="3310128"/>
            <a:ext cx="5806440" cy="1225296"/>
          </a:xfrm>
          <a:prstGeom prst="roundRect">
            <a:avLst>
              <a:gd name="adj" fmla="val 4478"/>
            </a:avLst>
          </a:prstGeom>
          <a:solidFill>
            <a:srgbClr val="F3F7F7"/>
          </a:solidFill>
          <a:ln w="12700">
            <a:solidFill>
              <a:srgbClr val="E3EAE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66928" y="3310128"/>
            <a:ext cx="1417320" cy="1225296"/>
          </a:xfrm>
          <a:prstGeom prst="rect">
            <a:avLst/>
          </a:prstGeom>
          <a:solidFill>
            <a:srgbClr val="F2A516"/>
          </a:solidFill>
          <a:ln/>
        </p:spPr>
      </p:sp>
      <p:sp>
        <p:nvSpPr>
          <p:cNvPr id="12" name="Text 10"/>
          <p:cNvSpPr/>
          <p:nvPr/>
        </p:nvSpPr>
        <p:spPr>
          <a:xfrm>
            <a:off x="566928" y="3310128"/>
            <a:ext cx="141732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2027–30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2139696" y="3456432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26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Premium EVs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2139696" y="3767328"/>
            <a:ext cx="4114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960" dirty="0">
                <a:solidFill>
                  <a:srgbClr val="3749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Toyota / Samsung / QS target premium models; semi-solid scales; early gigalines ramp.</a:t>
            </a:r>
            <a:endParaRPr lang="en-US" sz="960" dirty="0"/>
          </a:p>
        </p:txBody>
      </p:sp>
      <p:sp>
        <p:nvSpPr>
          <p:cNvPr id="15" name="Shape 13"/>
          <p:cNvSpPr/>
          <p:nvPr/>
        </p:nvSpPr>
        <p:spPr>
          <a:xfrm>
            <a:off x="566928" y="4645152"/>
            <a:ext cx="5806440" cy="1225296"/>
          </a:xfrm>
          <a:prstGeom prst="roundRect">
            <a:avLst>
              <a:gd name="adj" fmla="val 4478"/>
            </a:avLst>
          </a:prstGeom>
          <a:solidFill>
            <a:srgbClr val="F3F7F7"/>
          </a:solidFill>
          <a:ln w="12700">
            <a:solidFill>
              <a:srgbClr val="E3EAE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66928" y="4645152"/>
            <a:ext cx="1417320" cy="1225296"/>
          </a:xfrm>
          <a:prstGeom prst="rect">
            <a:avLst/>
          </a:prstGeom>
          <a:solidFill>
            <a:srgbClr val="0E2A38"/>
          </a:solidFill>
          <a:ln/>
        </p:spPr>
      </p:sp>
      <p:sp>
        <p:nvSpPr>
          <p:cNvPr id="17" name="Text 15"/>
          <p:cNvSpPr/>
          <p:nvPr/>
        </p:nvSpPr>
        <p:spPr>
          <a:xfrm>
            <a:off x="566928" y="4645152"/>
            <a:ext cx="141732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2030+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2139696" y="4791456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26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Mainstream &amp; grid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2139696" y="5102352"/>
            <a:ext cx="4114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960" dirty="0">
                <a:solidFill>
                  <a:srgbClr val="3749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Cost-down toward mass-market EVs and, eventually, selective stationary-storage use.</a:t>
            </a:r>
            <a:endParaRPr lang="en-US" sz="960" dirty="0"/>
          </a:p>
        </p:txBody>
      </p:sp>
      <p:sp>
        <p:nvSpPr>
          <p:cNvPr id="20" name="Text 18"/>
          <p:cNvSpPr/>
          <p:nvPr/>
        </p:nvSpPr>
        <p:spPr>
          <a:xfrm>
            <a:off x="6583680" y="1627632"/>
            <a:ext cx="504108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0E7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 OPPORTUNITIES IN INDIA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583680" y="1975104"/>
            <a:ext cx="5041087" cy="859536"/>
          </a:xfrm>
          <a:prstGeom prst="roundRect">
            <a:avLst>
              <a:gd name="adj" fmla="val 5319"/>
            </a:avLst>
          </a:prstGeom>
          <a:solidFill>
            <a:srgbClr val="F3F7F7"/>
          </a:solidFill>
          <a:ln w="12700">
            <a:solidFill>
              <a:srgbClr val="E3EAE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803136" y="2157984"/>
            <a:ext cx="493776" cy="493776"/>
          </a:xfrm>
          <a:prstGeom prst="ellipse">
            <a:avLst/>
          </a:prstGeom>
          <a:solidFill>
            <a:srgbClr val="0E7C77"/>
          </a:solidFill>
          <a:ln/>
        </p:spPr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31518" y="2286366"/>
            <a:ext cx="237012" cy="237012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7424928" y="2084832"/>
            <a:ext cx="398952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526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Materials &amp; components</a:t>
            </a:r>
            <a:endParaRPr lang="en-US" sz="1150" dirty="0"/>
          </a:p>
        </p:txBody>
      </p:sp>
      <p:sp>
        <p:nvSpPr>
          <p:cNvPr id="25" name="Text 22"/>
          <p:cNvSpPr/>
          <p:nvPr/>
        </p:nvSpPr>
        <p:spPr>
          <a:xfrm>
            <a:off x="7424928" y="2359152"/>
            <a:ext cx="3989527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6000"/>
              </a:lnSpc>
              <a:buNone/>
            </a:pPr>
            <a:r>
              <a:rPr lang="en-US" sz="920" dirty="0">
                <a:solidFill>
                  <a:srgbClr val="3749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Solid electrolytes (sulfide/oxide), Li-metal anodes, separators, hard carbon — sell into the global supply chain.</a:t>
            </a:r>
            <a:endParaRPr lang="en-US" sz="920" dirty="0"/>
          </a:p>
        </p:txBody>
      </p:sp>
      <p:sp>
        <p:nvSpPr>
          <p:cNvPr id="26" name="Shape 23"/>
          <p:cNvSpPr/>
          <p:nvPr/>
        </p:nvSpPr>
        <p:spPr>
          <a:xfrm>
            <a:off x="6583680" y="2926080"/>
            <a:ext cx="5041087" cy="859536"/>
          </a:xfrm>
          <a:prstGeom prst="roundRect">
            <a:avLst>
              <a:gd name="adj" fmla="val 5319"/>
            </a:avLst>
          </a:prstGeom>
          <a:solidFill>
            <a:srgbClr val="F3F7F7"/>
          </a:solidFill>
          <a:ln w="12700">
            <a:solidFill>
              <a:srgbClr val="E3EAEC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6803136" y="3108960"/>
            <a:ext cx="493776" cy="493776"/>
          </a:xfrm>
          <a:prstGeom prst="ellipse">
            <a:avLst/>
          </a:prstGeom>
          <a:solidFill>
            <a:srgbClr val="0E7C77"/>
          </a:solidFill>
          <a:ln/>
        </p:spPr>
      </p:sp>
      <p:pic>
        <p:nvPicPr>
          <p:cNvPr id="2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31518" y="3237342"/>
            <a:ext cx="237012" cy="237012"/>
          </a:xfrm>
          <a:prstGeom prst="rect">
            <a:avLst/>
          </a:prstGeom>
        </p:spPr>
      </p:pic>
      <p:sp>
        <p:nvSpPr>
          <p:cNvPr id="29" name="Text 25"/>
          <p:cNvSpPr/>
          <p:nvPr/>
        </p:nvSpPr>
        <p:spPr>
          <a:xfrm>
            <a:off x="7424928" y="3035808"/>
            <a:ext cx="398952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526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Manufacturing &amp; equipment</a:t>
            </a:r>
            <a:endParaRPr lang="en-US" sz="1150" dirty="0"/>
          </a:p>
        </p:txBody>
      </p:sp>
      <p:sp>
        <p:nvSpPr>
          <p:cNvPr id="30" name="Text 26"/>
          <p:cNvSpPr/>
          <p:nvPr/>
        </p:nvSpPr>
        <p:spPr>
          <a:xfrm>
            <a:off x="7424928" y="3310128"/>
            <a:ext cx="3989527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6000"/>
              </a:lnSpc>
              <a:buNone/>
            </a:pPr>
            <a:r>
              <a:rPr lang="en-US" sz="920" dirty="0">
                <a:solidFill>
                  <a:srgbClr val="3749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Dry-room handling, thin-film coating and stacking know-how — the picks-and-shovels of cell-making.</a:t>
            </a:r>
            <a:endParaRPr lang="en-US" sz="920" dirty="0"/>
          </a:p>
        </p:txBody>
      </p:sp>
      <p:sp>
        <p:nvSpPr>
          <p:cNvPr id="31" name="Shape 27"/>
          <p:cNvSpPr/>
          <p:nvPr/>
        </p:nvSpPr>
        <p:spPr>
          <a:xfrm>
            <a:off x="6583680" y="3877056"/>
            <a:ext cx="5041087" cy="859536"/>
          </a:xfrm>
          <a:prstGeom prst="roundRect">
            <a:avLst>
              <a:gd name="adj" fmla="val 5319"/>
            </a:avLst>
          </a:prstGeom>
          <a:solidFill>
            <a:srgbClr val="F3F7F7"/>
          </a:solidFill>
          <a:ln w="12700">
            <a:solidFill>
              <a:srgbClr val="E3EAEC"/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>
            <a:off x="6803136" y="4059936"/>
            <a:ext cx="493776" cy="493776"/>
          </a:xfrm>
          <a:prstGeom prst="ellipse">
            <a:avLst/>
          </a:prstGeom>
          <a:solidFill>
            <a:srgbClr val="0E7C77"/>
          </a:solidFill>
          <a:ln/>
        </p:spPr>
      </p:sp>
      <p:pic>
        <p:nvPicPr>
          <p:cNvPr id="3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1518" y="4188318"/>
            <a:ext cx="237012" cy="237012"/>
          </a:xfrm>
          <a:prstGeom prst="rect">
            <a:avLst/>
          </a:prstGeom>
        </p:spPr>
      </p:pic>
      <p:sp>
        <p:nvSpPr>
          <p:cNvPr id="34" name="Text 29"/>
          <p:cNvSpPr/>
          <p:nvPr/>
        </p:nvSpPr>
        <p:spPr>
          <a:xfrm>
            <a:off x="7424928" y="3986784"/>
            <a:ext cx="398952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526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Selective deep-tech bets</a:t>
            </a:r>
            <a:endParaRPr lang="en-US" sz="1150" dirty="0"/>
          </a:p>
        </p:txBody>
      </p:sp>
      <p:sp>
        <p:nvSpPr>
          <p:cNvPr id="35" name="Text 30"/>
          <p:cNvSpPr/>
          <p:nvPr/>
        </p:nvSpPr>
        <p:spPr>
          <a:xfrm>
            <a:off x="7424928" y="4261104"/>
            <a:ext cx="3989527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6000"/>
              </a:lnSpc>
              <a:buNone/>
            </a:pPr>
            <a:r>
              <a:rPr lang="en-US" sz="920" dirty="0">
                <a:solidFill>
                  <a:srgbClr val="3749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few cell-innovation teams (e.g. e-TRNL's 3DEA, GODI) and IP/licensing or academic spin-outs.</a:t>
            </a:r>
            <a:endParaRPr lang="en-US" sz="920" dirty="0"/>
          </a:p>
        </p:txBody>
      </p:sp>
      <p:sp>
        <p:nvSpPr>
          <p:cNvPr id="36" name="Shape 31"/>
          <p:cNvSpPr/>
          <p:nvPr/>
        </p:nvSpPr>
        <p:spPr>
          <a:xfrm>
            <a:off x="6583680" y="4828032"/>
            <a:ext cx="5041087" cy="859536"/>
          </a:xfrm>
          <a:prstGeom prst="roundRect">
            <a:avLst>
              <a:gd name="adj" fmla="val 5319"/>
            </a:avLst>
          </a:prstGeom>
          <a:solidFill>
            <a:srgbClr val="F3F7F7"/>
          </a:solidFill>
          <a:ln w="12700">
            <a:solidFill>
              <a:srgbClr val="E3EAEC"/>
            </a:solidFill>
            <a:prstDash val="solid"/>
          </a:ln>
        </p:spPr>
      </p:sp>
      <p:sp>
        <p:nvSpPr>
          <p:cNvPr id="37" name="Shape 32"/>
          <p:cNvSpPr/>
          <p:nvPr/>
        </p:nvSpPr>
        <p:spPr>
          <a:xfrm>
            <a:off x="6803136" y="5010912"/>
            <a:ext cx="493776" cy="493776"/>
          </a:xfrm>
          <a:prstGeom prst="ellipse">
            <a:avLst/>
          </a:prstGeom>
          <a:solidFill>
            <a:srgbClr val="0E7C77"/>
          </a:solidFill>
          <a:ln/>
        </p:spPr>
      </p:sp>
      <p:pic>
        <p:nvPicPr>
          <p:cNvPr id="3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31518" y="5139294"/>
            <a:ext cx="237012" cy="237012"/>
          </a:xfrm>
          <a:prstGeom prst="rect">
            <a:avLst/>
          </a:prstGeom>
        </p:spPr>
      </p:pic>
      <p:sp>
        <p:nvSpPr>
          <p:cNvPr id="39" name="Text 33"/>
          <p:cNvSpPr/>
          <p:nvPr/>
        </p:nvSpPr>
        <p:spPr>
          <a:xfrm>
            <a:off x="7424928" y="4937760"/>
            <a:ext cx="398952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526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Sodium-ion as the leapfrog</a:t>
            </a:r>
            <a:endParaRPr lang="en-US" sz="1150" dirty="0"/>
          </a:p>
        </p:txBody>
      </p:sp>
      <p:sp>
        <p:nvSpPr>
          <p:cNvPr id="40" name="Text 34"/>
          <p:cNvSpPr/>
          <p:nvPr/>
        </p:nvSpPr>
        <p:spPr>
          <a:xfrm>
            <a:off x="7424928" y="5212080"/>
            <a:ext cx="3989527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6000"/>
              </a:lnSpc>
              <a:buNone/>
            </a:pPr>
            <a:r>
              <a:rPr lang="en-US" sz="920" dirty="0">
                <a:solidFill>
                  <a:srgbClr val="3749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 the nearer-term indigenous play now; keep optionality on SSB for the 2030s.</a:t>
            </a:r>
            <a:endParaRPr lang="en-US" sz="920" dirty="0"/>
          </a:p>
        </p:txBody>
      </p:sp>
      <p:sp>
        <p:nvSpPr>
          <p:cNvPr id="41" name="Shape 35"/>
          <p:cNvSpPr/>
          <p:nvPr/>
        </p:nvSpPr>
        <p:spPr>
          <a:xfrm>
            <a:off x="566928" y="5632704"/>
            <a:ext cx="11057839" cy="548640"/>
          </a:xfrm>
          <a:prstGeom prst="roundRect">
            <a:avLst>
              <a:gd name="adj" fmla="val 50000"/>
            </a:avLst>
          </a:prstGeom>
          <a:solidFill>
            <a:srgbClr val="0E2A38"/>
          </a:solidFill>
          <a:ln/>
        </p:spPr>
      </p:sp>
      <p:sp>
        <p:nvSpPr>
          <p:cNvPr id="42" name="Text 36"/>
          <p:cNvSpPr/>
          <p:nvPr/>
        </p:nvSpPr>
        <p:spPr>
          <a:xfrm>
            <a:off x="566928" y="5632704"/>
            <a:ext cx="1105783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BBF24"/>
                </a:solidFill>
              </a:rPr>
              <a:t>India's smart bet:  </a:t>
            </a:r>
            <a:pPr algn="ctr" indent="0" marL="0">
              <a:buNone/>
            </a:pPr>
            <a:r>
              <a:rPr lang="en-US" sz="1200" i="1" dirty="0">
                <a:solidFill>
                  <a:srgbClr val="E2EEEF"/>
                </a:solidFill>
              </a:rPr>
              <a:t>components + sodium-ion now, with venture optionality on a few cell-innovation teams — not a domestic solid-state champion just yet.</a:t>
            </a:r>
            <a:endParaRPr lang="en-US" sz="1200" dirty="0"/>
          </a:p>
        </p:txBody>
      </p:sp>
      <p:sp>
        <p:nvSpPr>
          <p:cNvPr id="43" name="Text 37"/>
          <p:cNvSpPr/>
          <p:nvPr/>
        </p:nvSpPr>
        <p:spPr>
          <a:xfrm>
            <a:off x="566928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120" kern="0" dirty="0">
                <a:solidFill>
                  <a:srgbClr val="6E7F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Solid-State Batteries  ·  Technology Deep Dive</a:t>
            </a:r>
            <a:endParaRPr lang="en-US" sz="850" dirty="0"/>
          </a:p>
        </p:txBody>
      </p:sp>
      <p:sp>
        <p:nvSpPr>
          <p:cNvPr id="44" name="Text 38"/>
          <p:cNvSpPr/>
          <p:nvPr/>
        </p:nvSpPr>
        <p:spPr>
          <a:xfrm>
            <a:off x="10710367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E7F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05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Solid-State Batteries — Technology Deep Dive</dc:title>
  <dc:subject>PptxGenJS Presentation</dc:subject>
  <dc:creator>Analyst Assessment</dc:creator>
  <cp:lastModifiedBy>Analyst Assessment</cp:lastModifiedBy>
  <cp:revision>1</cp:revision>
  <dcterms:created xsi:type="dcterms:W3CDTF">2026-06-08T14:48:41Z</dcterms:created>
  <dcterms:modified xsi:type="dcterms:W3CDTF">2026-06-08T14:48:41Z</dcterms:modified>
</cp:coreProperties>
</file>