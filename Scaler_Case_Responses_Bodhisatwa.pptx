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roles (India, est. K)</c:v>
                </c:pt>
              </c:strCache>
            </c:strRef>
          </c:tx>
          <c:spPr>
            <a:solidFill>
              <a:srgbClr val="0041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7406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SOC Analyst</c:v>
                  </c:pt>
                  <c:pt idx="1">
                    <c:v>AppSec / Dev</c:v>
                  </c:pt>
                  <c:pt idx="2">
                    <c:v>Cloud Security</c:v>
                  </c:pt>
                  <c:pt idx="3">
                    <c:v>Network Sec</c:v>
                  </c:pt>
                  <c:pt idx="4">
                    <c:v>GRC / Audit</c:v>
                  </c:pt>
                  <c:pt idx="5">
                    <c:v>Pentesting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28</c:v>
                </c:pt>
                <c:pt idx="2">
                  <c:v>22</c:v>
                </c:pt>
                <c:pt idx="3">
                  <c:v>14</c:v>
                </c:pt>
                <c:pt idx="4">
                  <c:v>11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7406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737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Q-1 (prior)</c:v>
                </c:pt>
              </c:strCache>
            </c:strRef>
          </c:tx>
          <c:spPr>
            <a:solidFill>
              <a:srgbClr val="B5C6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Paid Search</c:v>
                  </c:pt>
                  <c:pt idx="1">
                    <c:v>Paid Social</c:v>
                  </c:pt>
                  <c:pt idx="2">
                    <c:v>YouTube</c:v>
                  </c:pt>
                  <c:pt idx="3">
                    <c:v>Affiliates</c:v>
                  </c:pt>
                  <c:pt idx="4">
                    <c:v>Organic</c:v>
                  </c:pt>
                  <c:pt idx="5">
                    <c:v>Referral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950</c:v>
                </c:pt>
                <c:pt idx="1">
                  <c:v>1280</c:v>
                </c:pt>
                <c:pt idx="2">
                  <c:v>1410</c:v>
                </c:pt>
                <c:pt idx="3">
                  <c:v>1100</c:v>
                </c:pt>
                <c:pt idx="4">
                  <c:v>410</c:v>
                </c:pt>
                <c:pt idx="5">
                  <c:v>380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Q0 (current)</c:v>
                </c:pt>
              </c:strCache>
            </c:strRef>
          </c:tx>
          <c:spPr>
            <a:solidFill>
              <a:srgbClr val="0041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Paid Search</c:v>
                  </c:pt>
                  <c:pt idx="1">
                    <c:v>Paid Social</c:v>
                  </c:pt>
                  <c:pt idx="2">
                    <c:v>YouTube</c:v>
                  </c:pt>
                  <c:pt idx="3">
                    <c:v>Affiliates</c:v>
                  </c:pt>
                  <c:pt idx="4">
                    <c:v>Organic</c:v>
                  </c:pt>
                  <c:pt idx="5">
                    <c:v>Referral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1405</c:v>
                </c:pt>
                <c:pt idx="1">
                  <c:v>1480</c:v>
                </c:pt>
                <c:pt idx="2">
                  <c:v>1560</c:v>
                </c:pt>
                <c:pt idx="3">
                  <c:v>1180</c:v>
                </c:pt>
                <c:pt idx="4">
                  <c:v>395</c:v>
                </c:pt>
                <c:pt idx="5">
                  <c:v>370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3737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E6F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3737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itle_bg.jp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3840480" y="0"/>
            <a:ext cx="530352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2E3558"/>
          </a:solidFill>
          <a:ln w="12700">
            <a:solidFill>
              <a:srgbClr val="2E355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937760" y="0"/>
            <a:ext cx="274320" cy="5143500"/>
          </a:xfrm>
          <a:prstGeom prst="rect">
            <a:avLst/>
          </a:prstGeom>
          <a:solidFill>
            <a:srgbClr val="2E3558">
              <a:alpha val="70000"/>
            </a:srgbClr>
          </a:solidFill>
          <a:ln w="12700">
            <a:solidFill>
              <a:srgbClr val="2E3558">
                <a:alpha val="7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411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scaler.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74320" cy="36576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OF STAFF — TAKE-HOME RESPONSE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02920" y="173736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Cases,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Framework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48640" y="3246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response to (1) launching a cybersecurity program and (2) diagnosing a CPL increase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160520"/>
            <a:ext cx="1371600" cy="0"/>
          </a:xfrm>
          <a:prstGeom prst="line">
            <a:avLst/>
          </a:prstGeom>
          <a:noFill/>
          <a:ln w="19050">
            <a:solidFill>
              <a:srgbClr val="009DD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Bodhisatwa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to live case discussion  |  May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0" y="155448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0041C7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Scaler launch a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program?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Go / Adapt / Pass framework — built on four lines of inquiry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honest call: enter narrowly via SOC-analyst track — do not chase the full cyber stack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6268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market demand × right-to-win × economics × executability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73152" cy="77724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43000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97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REAL — BUT SHALLOW AT THE TOP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SOC-analyst hiring is growing 20%+ YoY; senior network/cloud security is small, slow, and certification-locked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cohort education works (entry-to-mid) is exactly where demand is highest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73152" cy="77724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002536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57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 WINS WHERE STRUCTURED LEARNING WINS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2494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tracks (SOC, AppSec basics) reward cohort + mentor model; vendor-cert tracks (Palo Alto, CISSP) do not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2551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in the gap — do not compete with the certifications themselves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62072"/>
            <a:ext cx="73152" cy="77724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862072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169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WORK ONLY IF CAC IS BORROWED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CPL is 1.4–1.8x DS/SWE; need to cross-sell from existing funnel, not buy net-new leads at scratch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34107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is the single biggest swing factor in IRR — must be designed first, not last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21608"/>
            <a:ext cx="73152" cy="777240"/>
          </a:xfrm>
          <a:prstGeom prst="rect">
            <a:avLst/>
          </a:prstGeom>
          <a:solidFill>
            <a:srgbClr val="F49100"/>
          </a:solidFill>
          <a:ln w="12700">
            <a:solidFill>
              <a:srgbClr val="F49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721608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76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4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3968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one 6-month SOC Analyst Pro track in pilot mode (300 learners), gated on hiring partner sign-up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4270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review in 9 months on: enrolment, NPS, placement rate, contribution margin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Cybersecurity demand is concentrated in entry/mid-level roles, exactly where cohort learning fits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6268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Indicative figures for live discussion — NASSCOM cyber outlook, LinkedIn Talent Insights, Naukri JD scrape (illustrative)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075688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2075688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roles gap (India, by 2026)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1488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+demand vs. supply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1143000"/>
            <a:ext cx="2075688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14600" y="1143000"/>
            <a:ext cx="2075688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128016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06040" y="18745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in SOC analyst hiring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06040" y="21488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+fastest-growing track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2075688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143000"/>
            <a:ext cx="2075688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28016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₹6–9L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54880" y="18745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SOC analyst CTC (T2 cities)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21488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+price-justifies-fee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12280" y="1143000"/>
            <a:ext cx="2075688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1143000"/>
            <a:ext cx="2075688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280160"/>
            <a:ext cx="189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03720" y="18745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cyber JDs ask for cert + skill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03720" y="2148840"/>
            <a:ext cx="18928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+complement, don't compete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roles vs. cohort-trainability score, by cyber sub-track</a:t>
            </a:r>
            <a:endParaRPr lang="en-US" sz="12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365760" y="2926080"/>
          <a:ext cx="54864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Shape 25"/>
          <p:cNvSpPr/>
          <p:nvPr/>
        </p:nvSpPr>
        <p:spPr>
          <a:xfrm>
            <a:off x="5989320" y="2926080"/>
            <a:ext cx="2788920" cy="1691640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26480" y="30175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PLAY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26480" y="32461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 Analyst track first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126480" y="356616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open-role pool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 in 6 months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certification-locked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cohort fit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Scaler has right-to-win in ~40% of cyber learning — partner or pass on the rest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6268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Right-to-win = (cohort/mentor model fits) × (Scaler's tech-stack DNA transfers) × (TAM &gt; ₹50 Cr ARR)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88920" cy="64008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435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~40%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78892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Scaler wins outright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45720" cy="4572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Analyst track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Foundational; cohort-friendly; clear hiring funnel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054096"/>
            <a:ext cx="45720" cy="4572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3017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AppSec for developers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to existing SWE base; cross-sell ready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694176"/>
            <a:ext cx="45720" cy="4572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3657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12648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+ security overlap with Scaler's DS/Cloud cohorts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46120" y="1188720"/>
            <a:ext cx="2788920" cy="64008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12435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83280" y="14447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~35%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246120" y="1828800"/>
            <a:ext cx="278892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 or co-deliver, don't reinvent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2414016"/>
            <a:ext cx="45720" cy="4572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93008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Security (AWS/Azure)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9300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curricula already strong; co-brand it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83280" y="3054096"/>
            <a:ext cx="45720" cy="4572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93008" y="3017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Mgmt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493008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Okta / Microsoft own the content; resell access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83280" y="3694176"/>
            <a:ext cx="45720" cy="4572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93008" y="3657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/ Compliance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93008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ISACA, ISC2 dominate; offer as add-on module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1188720"/>
            <a:ext cx="2788920" cy="640080"/>
          </a:xfrm>
          <a:prstGeom prst="rect">
            <a:avLst/>
          </a:prstGeom>
          <a:solidFill>
            <a:srgbClr val="6E6F73"/>
          </a:solidFill>
          <a:ln w="12700">
            <a:solidFill>
              <a:srgbClr val="6E6F7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3640" y="1243584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63640" y="144475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6126480" y="1828800"/>
            <a:ext cx="2788920" cy="26060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19385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format, wrong margin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2414016"/>
            <a:ext cx="45720" cy="45720"/>
          </a:xfrm>
          <a:prstGeom prst="rect">
            <a:avLst/>
          </a:prstGeom>
          <a:solidFill>
            <a:srgbClr val="6E6F73"/>
          </a:solidFill>
          <a:ln w="12700">
            <a:solidFill>
              <a:srgbClr val="6E6F7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3368" y="23774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CISSP / CISM bootcamps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7336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Senior, certification-locked, 50+ providers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263640" y="3054096"/>
            <a:ext cx="45720" cy="45720"/>
          </a:xfrm>
          <a:prstGeom prst="rect">
            <a:avLst/>
          </a:prstGeom>
          <a:solidFill>
            <a:srgbClr val="6E6F73"/>
          </a:solidFill>
          <a:ln w="12700">
            <a:solidFill>
              <a:srgbClr val="6E6F7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73368" y="30175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pentesting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73368" y="32461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lab infra; HackTheBox / OffSec dominant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263640" y="3694176"/>
            <a:ext cx="45720" cy="45720"/>
          </a:xfrm>
          <a:prstGeom prst="rect">
            <a:avLst/>
          </a:prstGeom>
          <a:solidFill>
            <a:srgbClr val="6E6F73"/>
          </a:solidFill>
          <a:ln w="12700">
            <a:solidFill>
              <a:srgbClr val="6E6F7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73368" y="3657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/ OT security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73368" y="3886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too small; sales cycle too long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5445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= anchor product. Partner = add breadth without burning capital. Pass = protect brand from race-to-bottom segments.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we go: three sequenced moves de-risk launch and force a 9-month go/no-go decision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640080" cy="640080"/>
          </a:xfrm>
          <a:prstGeom prst="ellipse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0–2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 5 hiring partners BEFORE curriculum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TCS, Wipro, Infosys, Paladion, plus one mid-market BFSI SOC. MoU for 50+ hires/year each if cohort hits placement bar.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023360"/>
            <a:ext cx="2788920" cy="45720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≥3 signed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640080" cy="640080"/>
          </a:xfrm>
          <a:prstGeom prst="ellipse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3–8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a 300-learner SOC Pilot, mostly ex-Scaler funnel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to dropped DS/SWE leads (cheaper CAC) + 20% paid acquisition test. Live mentors from partner SOCs.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4023360"/>
            <a:ext cx="2788920" cy="45720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NPS ≥55, placement ≥70%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1188720"/>
            <a:ext cx="640080" cy="640080"/>
          </a:xfrm>
          <a:prstGeom prst="ellipse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9516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9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review — scale, adapt, or kill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788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Three-track scaling plan in advance: (a) full launch with AppSec add-on, (b) merge into Scaler Academy as elective, (c) wind down cleanly.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4023360"/>
            <a:ext cx="2788920" cy="457200"/>
          </a:xfrm>
          <a:prstGeom prst="rect">
            <a:avLst/>
          </a:prstGeom>
          <a:solidFill>
            <a:srgbClr val="F49100"/>
          </a:solidFill>
          <a:ln w="12700">
            <a:solidFill>
              <a:srgbClr val="F49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Contribution margin &gt;20%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1C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RISKS TO PRESSURE-TEST  </a:t>
            </a:r>
            <a:pPr indent="0" marL="0">
              <a:buNone/>
            </a:pPr>
            <a:r>
              <a:rPr lang="en-US" sz="10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Hiring partners back out at scale  •  SOC role itself gets automated/AI-displaced within 3 yrs  •  Vendor certs dilute our differentiation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0" y="1554480"/>
            <a:ext cx="23774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0" b="1" dirty="0">
                <a:solidFill>
                  <a:srgbClr val="0041C7">
                    <a:alpha val="3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has Cost Per Lead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increased?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5C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issue tree, channel decomposition, and a 30-day diagnostic plan — before any spend changes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CPL is the symptom — root cause sits in one of three buckets; structure first, spend later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6268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Approach: decompose CPL → isolate which factor moved → fix the factor, not the metric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73152" cy="77724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143000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9786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— CPL = SPEND ÷ LEADS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three things can move CPL up: spend ↑, leads ↓, or both — each points to a different root cause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16916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react to CPL directly; react to the underlying driver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002536"/>
            <a:ext cx="73152" cy="77724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" y="2002536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057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F6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— INTERNAL vs MARKET vs MACRO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224942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 order: (1) Has our funnel changed? (2) Has competitor activity changed? (3) Has intent at the top of funnel changed?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255117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rules in or out roughly one-third of possible explanations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862072"/>
            <a:ext cx="73152" cy="77724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8912" y="2862072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169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— BY CHANNEL × INTENT × GEO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9436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almost never moves uniformly. The shift is concentrated — find the concentrated bucket and 80% of the answer falls out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94360" y="34107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Channel-level decomposition is the single highest-leverage analysis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721608"/>
            <a:ext cx="73152" cy="777240"/>
          </a:xfrm>
          <a:prstGeom prst="rect">
            <a:avLst/>
          </a:prstGeom>
          <a:solidFill>
            <a:srgbClr val="F49100"/>
          </a:solidFill>
          <a:ln w="12700">
            <a:solidFill>
              <a:srgbClr val="F49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" y="3721608"/>
            <a:ext cx="8339328" cy="77724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7764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4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— RESET, REALLOCATE, OR RE-MESSAGE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94360" y="3968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response modes mapped to three root causes; do not pause spend before the diagnostic is complete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94360" y="42702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Premature spend pause destroys downstream funnel — wait 14 days for clean signal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1 — Frame the gap: how much, how fast, and against what baseline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462686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numbers for live discussion. Real numbers would replace these from CRM and ad accounts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3200400" cy="3291840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43000"/>
            <a:ext cx="3200400" cy="54864"/>
          </a:xfrm>
          <a:prstGeom prst="rect">
            <a:avLst/>
          </a:prstGeom>
          <a:solidFill>
            <a:srgbClr val="F49100"/>
          </a:solidFill>
          <a:ln w="12700">
            <a:solidFill>
              <a:srgbClr val="F49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SHIFT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+38%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blended CPL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5C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₹1,150 (Q-1) to ₹1,587 (Q0)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914400" cy="0"/>
          </a:xfrm>
          <a:prstGeom prst="line">
            <a:avLst/>
          </a:prstGeom>
          <a:noFill/>
          <a:ln w="19050">
            <a:solidFill>
              <a:srgbClr val="009D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747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the rise uniform — or concentrated?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03320" y="1143000"/>
            <a:ext cx="251460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03320" y="1143000"/>
            <a:ext cx="54864" cy="1600200"/>
          </a:xfrm>
          <a:prstGeom prst="rect">
            <a:avLst/>
          </a:prstGeom>
          <a:solidFill>
            <a:srgbClr val="E71C57"/>
          </a:solidFill>
          <a:ln w="12700">
            <a:solidFill>
              <a:srgbClr val="E71C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−18%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88620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volume (MoM)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86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fell faster than spend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1143000"/>
            <a:ext cx="251460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09360" y="1143000"/>
            <a:ext cx="54864" cy="1600200"/>
          </a:xfrm>
          <a:prstGeom prst="rect">
            <a:avLst/>
          </a:prstGeom>
          <a:solidFill>
            <a:srgbClr val="F49100"/>
          </a:solidFill>
          <a:ln w="12700">
            <a:solidFill>
              <a:srgbClr val="F49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2801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+13%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922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spend (MoM)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9224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slightly up — not the main driver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03320" y="2834640"/>
            <a:ext cx="251460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03320" y="2834640"/>
            <a:ext cx="54864" cy="1600200"/>
          </a:xfrm>
          <a:prstGeom prst="rect">
            <a:avLst/>
          </a:prstGeom>
          <a:solidFill>
            <a:srgbClr val="E71C57"/>
          </a:solidFill>
          <a:ln w="12700">
            <a:solidFill>
              <a:srgbClr val="E71C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86200" y="2971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+48%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388620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CPL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88620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Worst-performing channel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834640"/>
            <a:ext cx="2514600" cy="16002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09360" y="2834640"/>
            <a:ext cx="54864" cy="1600200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9718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−4%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6492240" y="35661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/ Referral CPL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flat — rules out macro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2 — A clean issue tree narrows CPL movement to three root causes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520440" y="1143000"/>
            <a:ext cx="2103120" cy="502920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143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CPL ↑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0" cy="228600"/>
          </a:xfrm>
          <a:prstGeom prst="line">
            <a:avLst/>
          </a:prstGeom>
          <a:noFill/>
          <a:ln w="15240">
            <a:solidFill>
              <a:srgbClr val="17406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1874520"/>
            <a:ext cx="6126480" cy="0"/>
          </a:xfrm>
          <a:prstGeom prst="line">
            <a:avLst/>
          </a:prstGeom>
          <a:noFill/>
          <a:ln w="15240">
            <a:solidFill>
              <a:srgbClr val="1740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1874520"/>
            <a:ext cx="0" cy="182880"/>
          </a:xfrm>
          <a:prstGeom prst="line">
            <a:avLst/>
          </a:prstGeom>
          <a:noFill/>
          <a:ln w="15240">
            <a:solidFill>
              <a:srgbClr val="17406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874520"/>
            <a:ext cx="0" cy="182880"/>
          </a:xfrm>
          <a:prstGeom prst="line">
            <a:avLst/>
          </a:prstGeom>
          <a:noFill/>
          <a:ln w="15240">
            <a:solidFill>
              <a:srgbClr val="17406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1874520"/>
            <a:ext cx="0" cy="182880"/>
          </a:xfrm>
          <a:prstGeom prst="line">
            <a:avLst/>
          </a:prstGeom>
          <a:noFill/>
          <a:ln w="15240">
            <a:solidFill>
              <a:srgbClr val="1740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57400"/>
            <a:ext cx="2331720" cy="41148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75688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233172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funnel changed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fatigue / ad relevance ↓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Landing-page conv ↓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drift (new audience)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Channel-mix reweighting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4297680"/>
            <a:ext cx="2331720" cy="411480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315968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Hold-out test on creative + LP A/B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29000" y="2057400"/>
            <a:ext cx="2331720" cy="41148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2075688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29000" y="2468880"/>
            <a:ext cx="233172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Competitor activity changed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6616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entrant bidding same keywords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 doubled spend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pressure on our offer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/ referral churn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29000" y="4297680"/>
            <a:ext cx="2331720" cy="411480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66160" y="4315968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Auction-insights + share-of-voice scan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92240" y="2057400"/>
            <a:ext cx="2331720" cy="411480"/>
          </a:xfrm>
          <a:prstGeom prst="rect">
            <a:avLst/>
          </a:prstGeom>
          <a:solidFill>
            <a:srgbClr val="009DD9"/>
          </a:solidFill>
          <a:ln w="12700">
            <a:solidFill>
              <a:srgbClr val="009D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2075688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2468880"/>
            <a:ext cx="233172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9400" y="25420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Demand-side shift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29400" y="2834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Job-market sentiment down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Discretionary spend tightening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displacing intent ("why upskill?")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■"/>
            </a:pPr>
            <a:r>
              <a:rPr lang="en-US" sz="90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lull (post-appraisal)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4297680"/>
            <a:ext cx="2331720" cy="411480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29400" y="4315968"/>
            <a:ext cx="20574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Branded-search volume vs. trend line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3 — Decompose by channel: the rise is concentrated in Paid Search, not blended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 by channel (₹), Q-1 vs. Q0 — illustrative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417320"/>
          <a:ext cx="54864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989320" y="1417320"/>
            <a:ext cx="278892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89320" y="1417320"/>
            <a:ext cx="54864" cy="960120"/>
          </a:xfrm>
          <a:prstGeom prst="rect">
            <a:avLst/>
          </a:prstGeom>
          <a:solidFill>
            <a:srgbClr val="E71C57"/>
          </a:solidFill>
          <a:ln w="12700">
            <a:solidFill>
              <a:srgbClr val="E71C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7220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45236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CPL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172200" y="19659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total CPL rise; new entrant flagged in auction insights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9320" y="2468880"/>
            <a:ext cx="278892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89320" y="2468880"/>
            <a:ext cx="54864" cy="960120"/>
          </a:xfrm>
          <a:prstGeom prst="rect">
            <a:avLst/>
          </a:prstGeom>
          <a:solidFill>
            <a:srgbClr val="F49100"/>
          </a:solidFill>
          <a:ln w="12700">
            <a:solidFill>
              <a:srgbClr val="F491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172200" y="25603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45236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Social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172200" y="30175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fatigue — last refresh 11 weeks ago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3520440"/>
            <a:ext cx="2788920" cy="96012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989320" y="3520440"/>
            <a:ext cx="54864" cy="960120"/>
          </a:xfrm>
          <a:prstGeom prst="rect">
            <a:avLst/>
          </a:prstGeom>
          <a:solidFill>
            <a:srgbClr val="29BA74"/>
          </a:solidFill>
          <a:ln w="12700">
            <a:solidFill>
              <a:srgbClr val="29BA7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72200" y="3611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Flat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745236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&amp; Referral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17220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out macro/intent shift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17406D"/>
          </a:solidFill>
          <a:ln w="12700">
            <a:solidFill>
              <a:srgbClr val="17406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5902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likely a MARKET-driven Paid-Search shock (new bidder) + an INTERNAL Paid-Social creative-fatigue problem — addressable in weeks, not quarters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740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Step 4 — Three actions in 30 days, matched to each root-cause bucket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640080" cy="640080"/>
          </a:xfrm>
          <a:prstGeom prst="ellipse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Reallocate Paid Search spend — don't pause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30% of generic-keyword spend to brand + long-tail. Re-test bidding strategy on top 10 keywords. Goal: ₹/lead back below ₹1,150 within 14 days.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4023360"/>
            <a:ext cx="2788920" cy="45720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Paid Search CPL ↓20%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640080" cy="640080"/>
          </a:xfrm>
          <a:prstGeom prst="ellipse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Ship 3 fresh Paid Social creative concepts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83280" y="2788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11-week-old creative is the suspected fatigue driver. Test learner-testimonial, outcome-led, and price-anchored variants. Kill any creative below 1% CTR after 48 hours.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46120" y="4023360"/>
            <a:ext cx="2788920" cy="457200"/>
          </a:xfrm>
          <a:prstGeom prst="rect">
            <a:avLst/>
          </a:prstGeom>
          <a:solidFill>
            <a:srgbClr val="0F6FC6"/>
          </a:solidFill>
          <a:ln w="12700">
            <a:solidFill>
              <a:srgbClr val="0F6F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Paid Social CTR ≥1.4%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1188720"/>
            <a:ext cx="640080" cy="640080"/>
          </a:xfrm>
          <a:prstGeom prst="ellipse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99516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2–4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63640" y="196596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40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 up a weekly CPL dashboard with leading indicators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7889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× intent × geo cuts, plus auction-insights tracking and creative-age. Pre-commits the team to data-led decisions instead of monthly post-mortems.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4023360"/>
            <a:ext cx="2788920" cy="457200"/>
          </a:xfrm>
          <a:prstGeom prst="rect">
            <a:avLst/>
          </a:prstGeom>
          <a:solidFill>
            <a:srgbClr val="F49100"/>
          </a:solidFill>
          <a:ln w="12700">
            <a:solidFill>
              <a:srgbClr val="F49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40233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Diagnose CPL shifts &lt;7 days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4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HYPOTHESES (LATER)  </a:t>
            </a:r>
            <a:pPr indent="0" marL="0">
              <a:buNone/>
            </a:pPr>
            <a:r>
              <a:rPr lang="en-US" sz="950" dirty="0">
                <a:solidFill>
                  <a:srgbClr val="37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Counselling capacity ratio per lead  •  Lead → counselling-call conversion  •  Geo-mix shift in T2/T3 cities  •  Lead quality (not just count) drift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486460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responses for Scaler  |  Bodhisatwa  |  Two-case structured response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12480" y="48646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E6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35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41C7"/>
          </a:solidFill>
          <a:ln w="12700">
            <a:solidFill>
              <a:srgbClr val="0041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31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9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THING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interviewer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actually wanted to see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09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365760" cy="0"/>
          </a:xfrm>
          <a:prstGeom prst="line">
            <a:avLst/>
          </a:prstGeom>
          <a:noFill/>
          <a:ln w="19050">
            <a:solidFill>
              <a:srgbClr val="009D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before speed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8862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C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MECE issue tree first. Speak the framework out loud, then fill it in.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2900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09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3429000" y="3383280"/>
            <a:ext cx="365760" cy="0"/>
          </a:xfrm>
          <a:prstGeom prst="line">
            <a:avLst/>
          </a:prstGeom>
          <a:noFill/>
          <a:ln w="19050">
            <a:solidFill>
              <a:srgbClr val="009D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Concentration over averages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9000" y="38862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C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is the shift concentrated?" beats "What is the average?" — every time.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17920" y="28803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09D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217920" y="3383280"/>
            <a:ext cx="365760" cy="0"/>
          </a:xfrm>
          <a:prstGeom prst="line">
            <a:avLst/>
          </a:prstGeom>
          <a:noFill/>
          <a:ln w="19050">
            <a:solidFill>
              <a:srgbClr val="009D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gated on KPIs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38862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5C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recommendation needs a measurable gate and a date. No infinite pilots.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Bodhisatwa  |  Case responses for Scaler  |  May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Scaler Case Responses</dc:title>
  <dc:subject>PptxGenJS Presentation</dc:subject>
  <dc:creator>Sagnik B.</dc:creator>
  <cp:lastModifiedBy>Sagnik B.</cp:lastModifiedBy>
  <cp:revision>1</cp:revision>
  <dcterms:created xsi:type="dcterms:W3CDTF">2026-05-14T14:20:32Z</dcterms:created>
  <dcterms:modified xsi:type="dcterms:W3CDTF">2026-05-14T14:20:32Z</dcterms:modified>
</cp:coreProperties>
</file>