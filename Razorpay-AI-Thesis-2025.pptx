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DF5FF"/>
          </a:solidFill>
          <a:ln w="12700">
            <a:solidFill>
              <a:srgbClr val="EDF5FF"/>
            </a:solidFill>
            <a:prstDash val="solid"/>
          </a:ln>
        </p:spPr>
      </p:sp>
      <p:sp>
        <p:nvSpPr>
          <p:cNvPr id="3" name="Shape 1"/>
          <p:cNvSpPr/>
          <p:nvPr/>
        </p:nvSpPr>
        <p:spPr>
          <a:xfrm>
            <a:off x="8229600" y="-1097280"/>
            <a:ext cx="5029200" cy="5029200"/>
          </a:xfrm>
          <a:prstGeom prst="ellipse">
            <a:avLst/>
          </a:prstGeom>
          <a:solidFill>
            <a:srgbClr val="2F80ED">
              <a:alpha val="9000"/>
            </a:srgbClr>
          </a:solidFill>
          <a:ln w="12700">
            <a:solidFill>
              <a:srgbClr val="2F80ED">
                <a:alpha val="9000"/>
              </a:srgbClr>
            </a:solidFill>
            <a:prstDash val="solid"/>
          </a:ln>
        </p:spPr>
      </p:sp>
      <p:sp>
        <p:nvSpPr>
          <p:cNvPr id="4" name="Shape 2"/>
          <p:cNvSpPr/>
          <p:nvPr/>
        </p:nvSpPr>
        <p:spPr>
          <a:xfrm>
            <a:off x="-731520" y="4754880"/>
            <a:ext cx="3474720" cy="3474720"/>
          </a:xfrm>
          <a:prstGeom prst="ellipse">
            <a:avLst/>
          </a:prstGeom>
          <a:solidFill>
            <a:srgbClr val="1BC5FF">
              <a:alpha val="7000"/>
            </a:srgbClr>
          </a:solidFill>
          <a:ln w="12700">
            <a:solidFill>
              <a:srgbClr val="1BC5FF">
                <a:alpha val="7000"/>
              </a:srgbClr>
            </a:solidFill>
            <a:prstDash val="solid"/>
          </a:ln>
        </p:spPr>
      </p:sp>
      <p:sp>
        <p:nvSpPr>
          <p:cNvPr id="5" name="Shape 3"/>
          <p:cNvSpPr/>
          <p:nvPr/>
        </p:nvSpPr>
        <p:spPr>
          <a:xfrm>
            <a:off x="0" y="0"/>
            <a:ext cx="12188952" cy="502920"/>
          </a:xfrm>
          <a:prstGeom prst="rect">
            <a:avLst/>
          </a:prstGeom>
          <a:solidFill>
            <a:srgbClr val="FFFFFF"/>
          </a:solidFill>
          <a:ln w="6350">
            <a:solidFill>
              <a:srgbClr val="D5E3F7"/>
            </a:solidFill>
            <a:prstDash val="solid"/>
          </a:ln>
        </p:spPr>
      </p:sp>
      <p:sp>
        <p:nvSpPr>
          <p:cNvPr id="6" name="Text 4"/>
          <p:cNvSpPr/>
          <p:nvPr/>
        </p:nvSpPr>
        <p:spPr>
          <a:xfrm>
            <a:off x="274320" y="64008"/>
            <a:ext cx="2011680" cy="384048"/>
          </a:xfrm>
          <a:prstGeom prst="rect">
            <a:avLst/>
          </a:prstGeom>
          <a:noFill/>
          <a:ln/>
        </p:spPr>
        <p:txBody>
          <a:bodyPr wrap="square" rtlCol="0" anchor="ctr"/>
          <a:lstStyle/>
          <a:p>
            <a:pPr indent="0" marL="0">
              <a:buNone/>
            </a:pPr>
            <a:r>
              <a:rPr lang="en-US" sz="1800" b="1" dirty="0">
                <a:solidFill>
                  <a:srgbClr val="0D1E35"/>
                </a:solidFill>
              </a:rPr>
              <a:t>razor</a:t>
            </a:r>
            <a:pPr indent="0" marL="0">
              <a:buNone/>
            </a:pPr>
            <a:r>
              <a:rPr lang="en-US" sz="1800" b="1" dirty="0">
                <a:solidFill>
                  <a:srgbClr val="2F80ED"/>
                </a:solidFill>
              </a:rPr>
              <a:t>pay</a:t>
            </a:r>
            <a:endParaRPr lang="en-US" sz="1800" dirty="0"/>
          </a:p>
        </p:txBody>
      </p:sp>
      <p:sp>
        <p:nvSpPr>
          <p:cNvPr id="7" name="Text 5"/>
          <p:cNvSpPr/>
          <p:nvPr/>
        </p:nvSpPr>
        <p:spPr>
          <a:xfrm>
            <a:off x="9628632" y="155448"/>
            <a:ext cx="2286000" cy="201168"/>
          </a:xfrm>
          <a:prstGeom prst="rect">
            <a:avLst/>
          </a:prstGeom>
          <a:noFill/>
          <a:ln/>
        </p:spPr>
        <p:txBody>
          <a:bodyPr wrap="square" rtlCol="0" anchor="ctr"/>
          <a:lstStyle/>
          <a:p>
            <a:pPr algn="r" indent="0" marL="0">
              <a:buNone/>
            </a:pPr>
            <a:r>
              <a:rPr lang="en-US" sz="700" dirty="0">
                <a:solidFill>
                  <a:srgbClr val="7B96B8"/>
                </a:solidFill>
              </a:rPr>
              <a:t>CONFIDENTIAL · MARCH 2026</a:t>
            </a:r>
            <a:endParaRPr lang="en-US" sz="700" dirty="0"/>
          </a:p>
        </p:txBody>
      </p:sp>
      <p:sp>
        <p:nvSpPr>
          <p:cNvPr id="8" name="Shape 6"/>
          <p:cNvSpPr/>
          <p:nvPr/>
        </p:nvSpPr>
        <p:spPr>
          <a:xfrm>
            <a:off x="3657600" y="685800"/>
            <a:ext cx="4846320" cy="246888"/>
          </a:xfrm>
          <a:prstGeom prst="roundRect">
            <a:avLst>
              <a:gd name="adj" fmla="val 48148"/>
            </a:avLst>
          </a:prstGeom>
          <a:solidFill>
            <a:srgbClr val="000000"/>
          </a:solidFill>
          <a:ln w="6350">
            <a:solidFill>
              <a:srgbClr val="000000"/>
            </a:solidFill>
            <a:prstDash val="solid"/>
          </a:ln>
        </p:spPr>
      </p:sp>
      <p:sp>
        <p:nvSpPr>
          <p:cNvPr id="9" name="Text 7"/>
          <p:cNvSpPr/>
          <p:nvPr/>
        </p:nvSpPr>
        <p:spPr>
          <a:xfrm>
            <a:off x="3657600" y="685800"/>
            <a:ext cx="4846320" cy="246888"/>
          </a:xfrm>
          <a:prstGeom prst="rect">
            <a:avLst/>
          </a:prstGeom>
          <a:noFill/>
          <a:ln/>
        </p:spPr>
        <p:txBody>
          <a:bodyPr wrap="square" rtlCol="0" anchor="ctr"/>
          <a:lstStyle/>
          <a:p>
            <a:pPr algn="ctr" indent="0" marL="0">
              <a:buNone/>
            </a:pPr>
            <a:r>
              <a:rPr lang="en-US" sz="700" b="1" dirty="0">
                <a:solidFill>
                  <a:srgbClr val="2F80ED"/>
                </a:solidFill>
              </a:rPr>
              <a:t>AI STRATEGY · INVESTMENT THESIS · MARCH 2026 · INTERNAL</a:t>
            </a:r>
            <a:endParaRPr lang="en-US" sz="700" dirty="0"/>
          </a:p>
        </p:txBody>
      </p:sp>
      <p:sp>
        <p:nvSpPr>
          <p:cNvPr id="10" name="Text 8"/>
          <p:cNvSpPr/>
          <p:nvPr/>
        </p:nvSpPr>
        <p:spPr>
          <a:xfrm>
            <a:off x="1828800" y="1097280"/>
            <a:ext cx="8503920" cy="640080"/>
          </a:xfrm>
          <a:prstGeom prst="rect">
            <a:avLst/>
          </a:prstGeom>
          <a:noFill/>
          <a:ln/>
        </p:spPr>
        <p:txBody>
          <a:bodyPr wrap="square" rtlCol="0" anchor="ctr"/>
          <a:lstStyle/>
          <a:p>
            <a:pPr algn="ctr" indent="0" marL="0">
              <a:buNone/>
            </a:pPr>
            <a:r>
              <a:rPr lang="en-US" sz="3800" b="1" dirty="0">
                <a:solidFill>
                  <a:srgbClr val="0D1E35"/>
                </a:solidFill>
              </a:rPr>
              <a:t>Razorpay's</a:t>
            </a:r>
            <a:endParaRPr lang="en-US" sz="3800" dirty="0"/>
          </a:p>
        </p:txBody>
      </p:sp>
      <p:sp>
        <p:nvSpPr>
          <p:cNvPr id="11" name="Text 9"/>
          <p:cNvSpPr/>
          <p:nvPr/>
        </p:nvSpPr>
        <p:spPr>
          <a:xfrm>
            <a:off x="1371600" y="1737360"/>
            <a:ext cx="9418320" cy="777240"/>
          </a:xfrm>
          <a:prstGeom prst="rect">
            <a:avLst/>
          </a:prstGeom>
          <a:noFill/>
          <a:ln/>
        </p:spPr>
        <p:txBody>
          <a:bodyPr wrap="square" rtlCol="0" anchor="ctr"/>
          <a:lstStyle/>
          <a:p>
            <a:pPr algn="ctr" indent="0" marL="0">
              <a:buNone/>
            </a:pPr>
            <a:r>
              <a:rPr lang="en-US" sz="4000" b="1" dirty="0">
                <a:solidFill>
                  <a:srgbClr val="2F80ED"/>
                </a:solidFill>
              </a:rPr>
              <a:t>AI Investment Thesis</a:t>
            </a:r>
            <a:endParaRPr lang="en-US" sz="4000" dirty="0"/>
          </a:p>
        </p:txBody>
      </p:sp>
      <p:sp>
        <p:nvSpPr>
          <p:cNvPr id="12" name="Text 10"/>
          <p:cNvSpPr/>
          <p:nvPr/>
        </p:nvSpPr>
        <p:spPr>
          <a:xfrm>
            <a:off x="2286000" y="2697480"/>
            <a:ext cx="7589520" cy="640080"/>
          </a:xfrm>
          <a:prstGeom prst="rect">
            <a:avLst/>
          </a:prstGeom>
          <a:noFill/>
          <a:ln/>
        </p:spPr>
        <p:txBody>
          <a:bodyPr wrap="square" rtlCol="0" anchor="ctr"/>
          <a:lstStyle/>
          <a:p>
            <a:pPr algn="ctr" indent="0" marL="0">
              <a:buNone/>
            </a:pPr>
            <a:r>
              <a:rPr lang="en-US" sz="1100" dirty="0">
                <a:solidFill>
                  <a:srgbClr val="3D5472"/>
                </a:solidFill>
              </a:rPr>
              <a:t>A unified strategic framework for Razorpay's AI bets — spanning the global AI landscape,</a:t>
            </a:r>
            <a:endParaRPr lang="en-US" sz="1100" dirty="0"/>
          </a:p>
          <a:p>
            <a:pPr algn="ctr" indent="0" marL="0">
              <a:buNone/>
            </a:pPr>
            <a:r>
              <a:rPr lang="en-US" sz="1100" dirty="0">
                <a:solidFill>
                  <a:srgbClr val="3D5472"/>
                </a:solidFill>
              </a:rPr>
              <a:t>the agentic infrastructure stack, and three high-conviction portfolio companies.</a:t>
            </a:r>
            <a:endParaRPr lang="en-US" sz="1100" dirty="0"/>
          </a:p>
        </p:txBody>
      </p:sp>
      <p:sp>
        <p:nvSpPr>
          <p:cNvPr id="13" name="Shape 11"/>
          <p:cNvSpPr/>
          <p:nvPr/>
        </p:nvSpPr>
        <p:spPr>
          <a:xfrm>
            <a:off x="1097280" y="3566160"/>
            <a:ext cx="2331720" cy="1005840"/>
          </a:xfrm>
          <a:prstGeom prst="roundRect">
            <a:avLst>
              <a:gd name="adj" fmla="val 9091"/>
            </a:avLst>
          </a:prstGeom>
          <a:solidFill>
            <a:srgbClr val="FFFFFF"/>
          </a:solidFill>
          <a:ln w="10160">
            <a:solidFill>
              <a:srgbClr val="000000"/>
            </a:solidFill>
            <a:prstDash val="solid"/>
          </a:ln>
        </p:spPr>
      </p:sp>
      <p:sp>
        <p:nvSpPr>
          <p:cNvPr id="14" name="Shape 12"/>
          <p:cNvSpPr/>
          <p:nvPr/>
        </p:nvSpPr>
        <p:spPr>
          <a:xfrm>
            <a:off x="1097280" y="3566160"/>
            <a:ext cx="2331720" cy="54864"/>
          </a:xfrm>
          <a:prstGeom prst="rect">
            <a:avLst/>
          </a:prstGeom>
          <a:solidFill>
            <a:srgbClr val="2F80ED"/>
          </a:solidFill>
          <a:ln w="12700">
            <a:solidFill>
              <a:srgbClr val="2F80ED"/>
            </a:solidFill>
            <a:prstDash val="solid"/>
          </a:ln>
        </p:spPr>
      </p:sp>
      <p:sp>
        <p:nvSpPr>
          <p:cNvPr id="15" name="Text 13"/>
          <p:cNvSpPr/>
          <p:nvPr/>
        </p:nvSpPr>
        <p:spPr>
          <a:xfrm>
            <a:off x="1097280" y="3703320"/>
            <a:ext cx="2331720" cy="320040"/>
          </a:xfrm>
          <a:prstGeom prst="rect">
            <a:avLst/>
          </a:prstGeom>
          <a:noFill/>
          <a:ln/>
        </p:spPr>
        <p:txBody>
          <a:bodyPr wrap="square" rtlCol="0" anchor="ctr"/>
          <a:lstStyle/>
          <a:p>
            <a:pPr algn="ctr" indent="0" marL="0">
              <a:buNone/>
            </a:pPr>
            <a:r>
              <a:rPr lang="en-US" sz="1200" b="1" dirty="0">
                <a:solidFill>
                  <a:srgbClr val="2F80ED"/>
                </a:solidFill>
              </a:rPr>
              <a:t>🌐 AI Landscape 2025</a:t>
            </a:r>
            <a:endParaRPr lang="en-US" sz="1200" dirty="0"/>
          </a:p>
        </p:txBody>
      </p:sp>
      <p:sp>
        <p:nvSpPr>
          <p:cNvPr id="16" name="Text 14"/>
          <p:cNvSpPr/>
          <p:nvPr/>
        </p:nvSpPr>
        <p:spPr>
          <a:xfrm>
            <a:off x="1097280" y="4041648"/>
            <a:ext cx="2331720" cy="274320"/>
          </a:xfrm>
          <a:prstGeom prst="rect">
            <a:avLst/>
          </a:prstGeom>
          <a:noFill/>
          <a:ln/>
        </p:spPr>
        <p:txBody>
          <a:bodyPr wrap="square" rtlCol="0" anchor="ctr"/>
          <a:lstStyle/>
          <a:p>
            <a:pPr algn="ctr" indent="0" marL="0">
              <a:buNone/>
            </a:pPr>
            <a:r>
              <a:rPr lang="en-US" sz="900" dirty="0">
                <a:solidFill>
                  <a:srgbClr val="7B96B8"/>
                </a:solidFill>
              </a:rPr>
              <a:t>Global context + benchmarks</a:t>
            </a:r>
            <a:endParaRPr lang="en-US" sz="900" dirty="0"/>
          </a:p>
        </p:txBody>
      </p:sp>
      <p:sp>
        <p:nvSpPr>
          <p:cNvPr id="17" name="Shape 15"/>
          <p:cNvSpPr/>
          <p:nvPr/>
        </p:nvSpPr>
        <p:spPr>
          <a:xfrm>
            <a:off x="3639312" y="3566160"/>
            <a:ext cx="2331720" cy="1005840"/>
          </a:xfrm>
          <a:prstGeom prst="roundRect">
            <a:avLst>
              <a:gd name="adj" fmla="val 9091"/>
            </a:avLst>
          </a:prstGeom>
          <a:solidFill>
            <a:srgbClr val="FFFFFF"/>
          </a:solidFill>
          <a:ln w="10160">
            <a:solidFill>
              <a:srgbClr val="000000"/>
            </a:solidFill>
            <a:prstDash val="solid"/>
          </a:ln>
        </p:spPr>
      </p:sp>
      <p:sp>
        <p:nvSpPr>
          <p:cNvPr id="18" name="Shape 16"/>
          <p:cNvSpPr/>
          <p:nvPr/>
        </p:nvSpPr>
        <p:spPr>
          <a:xfrm>
            <a:off x="3639312" y="3566160"/>
            <a:ext cx="2331720" cy="54864"/>
          </a:xfrm>
          <a:prstGeom prst="rect">
            <a:avLst/>
          </a:prstGeom>
          <a:solidFill>
            <a:srgbClr val="2F80ED"/>
          </a:solidFill>
          <a:ln w="12700">
            <a:solidFill>
              <a:srgbClr val="2F80ED"/>
            </a:solidFill>
            <a:prstDash val="solid"/>
          </a:ln>
        </p:spPr>
      </p:sp>
      <p:sp>
        <p:nvSpPr>
          <p:cNvPr id="19" name="Text 17"/>
          <p:cNvSpPr/>
          <p:nvPr/>
        </p:nvSpPr>
        <p:spPr>
          <a:xfrm>
            <a:off x="3639312" y="3703320"/>
            <a:ext cx="2331720" cy="320040"/>
          </a:xfrm>
          <a:prstGeom prst="rect">
            <a:avLst/>
          </a:prstGeom>
          <a:noFill/>
          <a:ln/>
        </p:spPr>
        <p:txBody>
          <a:bodyPr wrap="square" rtlCol="0" anchor="ctr"/>
          <a:lstStyle/>
          <a:p>
            <a:pPr algn="ctr" indent="0" marL="0">
              <a:buNone/>
            </a:pPr>
            <a:r>
              <a:rPr lang="en-US" sz="1200" b="1" dirty="0">
                <a:solidFill>
                  <a:srgbClr val="2F80ED"/>
                </a:solidFill>
              </a:rPr>
              <a:t>⚙️ S45</a:t>
            </a:r>
            <a:endParaRPr lang="en-US" sz="1200" dirty="0"/>
          </a:p>
        </p:txBody>
      </p:sp>
      <p:sp>
        <p:nvSpPr>
          <p:cNvPr id="20" name="Text 18"/>
          <p:cNvSpPr/>
          <p:nvPr/>
        </p:nvSpPr>
        <p:spPr>
          <a:xfrm>
            <a:off x="3639312" y="4041648"/>
            <a:ext cx="2331720" cy="274320"/>
          </a:xfrm>
          <a:prstGeom prst="rect">
            <a:avLst/>
          </a:prstGeom>
          <a:noFill/>
          <a:ln/>
        </p:spPr>
        <p:txBody>
          <a:bodyPr wrap="square" rtlCol="0" anchor="ctr"/>
          <a:lstStyle/>
          <a:p>
            <a:pPr algn="ctr" indent="0" marL="0">
              <a:buNone/>
            </a:pPr>
            <a:r>
              <a:rPr lang="en-US" sz="900" dirty="0">
                <a:solidFill>
                  <a:srgbClr val="7B96B8"/>
                </a:solidFill>
              </a:rPr>
              <a:t>Agent orchestration</a:t>
            </a:r>
            <a:endParaRPr lang="en-US" sz="900" dirty="0"/>
          </a:p>
        </p:txBody>
      </p:sp>
      <p:sp>
        <p:nvSpPr>
          <p:cNvPr id="21" name="Shape 19"/>
          <p:cNvSpPr/>
          <p:nvPr/>
        </p:nvSpPr>
        <p:spPr>
          <a:xfrm>
            <a:off x="6181344" y="3566160"/>
            <a:ext cx="2331720" cy="1005840"/>
          </a:xfrm>
          <a:prstGeom prst="roundRect">
            <a:avLst>
              <a:gd name="adj" fmla="val 9091"/>
            </a:avLst>
          </a:prstGeom>
          <a:solidFill>
            <a:srgbClr val="FFFFFF"/>
          </a:solidFill>
          <a:ln w="10160">
            <a:solidFill>
              <a:srgbClr val="000000"/>
            </a:solidFill>
            <a:prstDash val="solid"/>
          </a:ln>
        </p:spPr>
      </p:sp>
      <p:sp>
        <p:nvSpPr>
          <p:cNvPr id="22" name="Shape 20"/>
          <p:cNvSpPr/>
          <p:nvPr/>
        </p:nvSpPr>
        <p:spPr>
          <a:xfrm>
            <a:off x="6181344" y="3566160"/>
            <a:ext cx="2331720" cy="54864"/>
          </a:xfrm>
          <a:prstGeom prst="rect">
            <a:avLst/>
          </a:prstGeom>
          <a:solidFill>
            <a:srgbClr val="12C479"/>
          </a:solidFill>
          <a:ln w="12700">
            <a:solidFill>
              <a:srgbClr val="12C479"/>
            </a:solidFill>
            <a:prstDash val="solid"/>
          </a:ln>
        </p:spPr>
      </p:sp>
      <p:sp>
        <p:nvSpPr>
          <p:cNvPr id="23" name="Text 21"/>
          <p:cNvSpPr/>
          <p:nvPr/>
        </p:nvSpPr>
        <p:spPr>
          <a:xfrm>
            <a:off x="6181344" y="3703320"/>
            <a:ext cx="2331720" cy="320040"/>
          </a:xfrm>
          <a:prstGeom prst="rect">
            <a:avLst/>
          </a:prstGeom>
          <a:noFill/>
          <a:ln/>
        </p:spPr>
        <p:txBody>
          <a:bodyPr wrap="square" rtlCol="0" anchor="ctr"/>
          <a:lstStyle/>
          <a:p>
            <a:pPr algn="ctr" indent="0" marL="0">
              <a:buNone/>
            </a:pPr>
            <a:r>
              <a:rPr lang="en-US" sz="1200" b="1" dirty="0">
                <a:solidFill>
                  <a:srgbClr val="12C479"/>
                </a:solidFill>
              </a:rPr>
              <a:t>🧠 mem0</a:t>
            </a:r>
            <a:endParaRPr lang="en-US" sz="1200" dirty="0"/>
          </a:p>
        </p:txBody>
      </p:sp>
      <p:sp>
        <p:nvSpPr>
          <p:cNvPr id="24" name="Text 22"/>
          <p:cNvSpPr/>
          <p:nvPr/>
        </p:nvSpPr>
        <p:spPr>
          <a:xfrm>
            <a:off x="6181344" y="4041648"/>
            <a:ext cx="2331720" cy="274320"/>
          </a:xfrm>
          <a:prstGeom prst="rect">
            <a:avLst/>
          </a:prstGeom>
          <a:noFill/>
          <a:ln/>
        </p:spPr>
        <p:txBody>
          <a:bodyPr wrap="square" rtlCol="0" anchor="ctr"/>
          <a:lstStyle/>
          <a:p>
            <a:pPr algn="ctr" indent="0" marL="0">
              <a:buNone/>
            </a:pPr>
            <a:r>
              <a:rPr lang="en-US" sz="900" dirty="0">
                <a:solidFill>
                  <a:srgbClr val="7B96B8"/>
                </a:solidFill>
              </a:rPr>
              <a:t>Persistent AI memory</a:t>
            </a:r>
            <a:endParaRPr lang="en-US" sz="900" dirty="0"/>
          </a:p>
        </p:txBody>
      </p:sp>
      <p:sp>
        <p:nvSpPr>
          <p:cNvPr id="25" name="Shape 23"/>
          <p:cNvSpPr/>
          <p:nvPr/>
        </p:nvSpPr>
        <p:spPr>
          <a:xfrm>
            <a:off x="8723376" y="3566160"/>
            <a:ext cx="2331720" cy="1005840"/>
          </a:xfrm>
          <a:prstGeom prst="roundRect">
            <a:avLst>
              <a:gd name="adj" fmla="val 9091"/>
            </a:avLst>
          </a:prstGeom>
          <a:solidFill>
            <a:srgbClr val="FFFFFF"/>
          </a:solidFill>
          <a:ln w="10160">
            <a:solidFill>
              <a:srgbClr val="000000"/>
            </a:solidFill>
            <a:prstDash val="solid"/>
          </a:ln>
        </p:spPr>
      </p:sp>
      <p:sp>
        <p:nvSpPr>
          <p:cNvPr id="26" name="Shape 24"/>
          <p:cNvSpPr/>
          <p:nvPr/>
        </p:nvSpPr>
        <p:spPr>
          <a:xfrm>
            <a:off x="8723376" y="3566160"/>
            <a:ext cx="2331720" cy="54864"/>
          </a:xfrm>
          <a:prstGeom prst="rect">
            <a:avLst/>
          </a:prstGeom>
          <a:solidFill>
            <a:srgbClr val="1BC5FF"/>
          </a:solidFill>
          <a:ln w="12700">
            <a:solidFill>
              <a:srgbClr val="1BC5FF"/>
            </a:solidFill>
            <a:prstDash val="solid"/>
          </a:ln>
        </p:spPr>
      </p:sp>
      <p:sp>
        <p:nvSpPr>
          <p:cNvPr id="27" name="Text 25"/>
          <p:cNvSpPr/>
          <p:nvPr/>
        </p:nvSpPr>
        <p:spPr>
          <a:xfrm>
            <a:off x="8723376" y="3703320"/>
            <a:ext cx="2331720" cy="320040"/>
          </a:xfrm>
          <a:prstGeom prst="rect">
            <a:avLst/>
          </a:prstGeom>
          <a:noFill/>
          <a:ln/>
        </p:spPr>
        <p:txBody>
          <a:bodyPr wrap="square" rtlCol="0" anchor="ctr"/>
          <a:lstStyle/>
          <a:p>
            <a:pPr algn="ctr" indent="0" marL="0">
              <a:buNone/>
            </a:pPr>
            <a:r>
              <a:rPr lang="en-US" sz="1200" b="1" dirty="0">
                <a:solidFill>
                  <a:srgbClr val="1BC5FF"/>
                </a:solidFill>
              </a:rPr>
              <a:t>🔍 altorlab</a:t>
            </a:r>
            <a:endParaRPr lang="en-US" sz="1200" dirty="0"/>
          </a:p>
        </p:txBody>
      </p:sp>
      <p:sp>
        <p:nvSpPr>
          <p:cNvPr id="28" name="Text 26"/>
          <p:cNvSpPr/>
          <p:nvPr/>
        </p:nvSpPr>
        <p:spPr>
          <a:xfrm>
            <a:off x="8723376" y="4041648"/>
            <a:ext cx="2331720" cy="274320"/>
          </a:xfrm>
          <a:prstGeom prst="rect">
            <a:avLst/>
          </a:prstGeom>
          <a:noFill/>
          <a:ln/>
        </p:spPr>
        <p:txBody>
          <a:bodyPr wrap="square" rtlCol="0" anchor="ctr"/>
          <a:lstStyle/>
          <a:p>
            <a:pPr algn="ctr" indent="0" marL="0">
              <a:buNone/>
            </a:pPr>
            <a:r>
              <a:rPr lang="en-US" sz="900" dirty="0">
                <a:solidFill>
                  <a:srgbClr val="7B96B8"/>
                </a:solidFill>
              </a:rPr>
              <a:t>Zero-cost vector search</a:t>
            </a:r>
            <a:endParaRPr lang="en-US" sz="900" dirty="0"/>
          </a:p>
        </p:txBody>
      </p:sp>
      <p:sp>
        <p:nvSpPr>
          <p:cNvPr id="29" name="Shape 27"/>
          <p:cNvSpPr/>
          <p:nvPr/>
        </p:nvSpPr>
        <p:spPr>
          <a:xfrm>
            <a:off x="0" y="6748272"/>
            <a:ext cx="12188952" cy="109728"/>
          </a:xfrm>
          <a:prstGeom prst="rect">
            <a:avLst/>
          </a:prstGeom>
          <a:solidFill>
            <a:srgbClr val="2F80ED"/>
          </a:solidFill>
          <a:ln w="12700">
            <a:solidFill>
              <a:srgbClr val="2F80ED"/>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7FD"/>
          </a:solidFill>
          <a:ln w="12700">
            <a:solidFill>
              <a:srgbClr val="F4F7FD"/>
            </a:solidFill>
            <a:prstDash val="solid"/>
          </a:ln>
        </p:spPr>
      </p:sp>
      <p:sp>
        <p:nvSpPr>
          <p:cNvPr id="3" name="Shape 1"/>
          <p:cNvSpPr/>
          <p:nvPr/>
        </p:nvSpPr>
        <p:spPr>
          <a:xfrm>
            <a:off x="0" y="0"/>
            <a:ext cx="12188952" cy="502920"/>
          </a:xfrm>
          <a:prstGeom prst="rect">
            <a:avLst/>
          </a:prstGeom>
          <a:solidFill>
            <a:srgbClr val="FFFFFF"/>
          </a:solidFill>
          <a:ln w="6350">
            <a:solidFill>
              <a:srgbClr val="D5E3F7"/>
            </a:solidFill>
            <a:prstDash val="solid"/>
          </a:ln>
        </p:spPr>
      </p:sp>
      <p:sp>
        <p:nvSpPr>
          <p:cNvPr id="4" name="Text 2"/>
          <p:cNvSpPr/>
          <p:nvPr/>
        </p:nvSpPr>
        <p:spPr>
          <a:xfrm>
            <a:off x="274320" y="64008"/>
            <a:ext cx="1828800" cy="384048"/>
          </a:xfrm>
          <a:prstGeom prst="rect">
            <a:avLst/>
          </a:prstGeom>
          <a:noFill/>
          <a:ln/>
        </p:spPr>
        <p:txBody>
          <a:bodyPr wrap="square" rtlCol="0" anchor="ctr"/>
          <a:lstStyle/>
          <a:p>
            <a:pPr indent="0" marL="0">
              <a:buNone/>
            </a:pPr>
            <a:r>
              <a:rPr lang="en-US" sz="1700" b="1" dirty="0">
                <a:solidFill>
                  <a:srgbClr val="0D1E35"/>
                </a:solidFill>
                <a:latin typeface="Arial" pitchFamily="34" charset="0"/>
                <a:ea typeface="Arial" pitchFamily="34" charset="-122"/>
                <a:cs typeface="Arial" pitchFamily="34" charset="-120"/>
              </a:rPr>
              <a:t>razor</a:t>
            </a:r>
            <a:pPr indent="0" marL="0">
              <a:buNone/>
            </a:pPr>
            <a:r>
              <a:rPr lang="en-US" sz="1700" b="1" dirty="0">
                <a:solidFill>
                  <a:srgbClr val="2F80ED"/>
                </a:solidFill>
                <a:latin typeface="Arial" pitchFamily="34" charset="0"/>
                <a:ea typeface="Arial" pitchFamily="34" charset="-122"/>
                <a:cs typeface="Arial" pitchFamily="34" charset="-120"/>
              </a:rPr>
              <a:t>pay</a:t>
            </a:r>
            <a:endParaRPr lang="en-US" sz="1700" dirty="0"/>
          </a:p>
        </p:txBody>
      </p:sp>
      <p:sp>
        <p:nvSpPr>
          <p:cNvPr id="5" name="Text 3"/>
          <p:cNvSpPr/>
          <p:nvPr/>
        </p:nvSpPr>
        <p:spPr>
          <a:xfrm>
            <a:off x="9628632" y="155448"/>
            <a:ext cx="2286000" cy="201168"/>
          </a:xfrm>
          <a:prstGeom prst="rect">
            <a:avLst/>
          </a:prstGeom>
          <a:noFill/>
          <a:ln/>
        </p:spPr>
        <p:txBody>
          <a:bodyPr wrap="square" rtlCol="0" anchor="ctr"/>
          <a:lstStyle/>
          <a:p>
            <a:pPr algn="r" indent="0" marL="0">
              <a:buNone/>
            </a:pPr>
            <a:r>
              <a:rPr lang="en-US" sz="700" dirty="0">
                <a:solidFill>
                  <a:srgbClr val="7B96B8"/>
                </a:solidFill>
              </a:rPr>
              <a:t>CONFIDENTIAL · MARCH 2026</a:t>
            </a:r>
            <a:endParaRPr lang="en-US" sz="700" dirty="0"/>
          </a:p>
        </p:txBody>
      </p:sp>
      <p:sp>
        <p:nvSpPr>
          <p:cNvPr id="6" name="Shape 4"/>
          <p:cNvSpPr/>
          <p:nvPr/>
        </p:nvSpPr>
        <p:spPr>
          <a:xfrm>
            <a:off x="274320" y="594360"/>
            <a:ext cx="2286000" cy="201168"/>
          </a:xfrm>
          <a:prstGeom prst="roundRect">
            <a:avLst>
              <a:gd name="adj" fmla="val 18182"/>
            </a:avLst>
          </a:prstGeom>
          <a:solidFill>
            <a:srgbClr val="000000"/>
          </a:solidFill>
          <a:ln w="6350">
            <a:solidFill>
              <a:srgbClr val="000000"/>
            </a:solidFill>
            <a:prstDash val="solid"/>
          </a:ln>
        </p:spPr>
      </p:sp>
      <p:sp>
        <p:nvSpPr>
          <p:cNvPr id="7" name="Text 5"/>
          <p:cNvSpPr/>
          <p:nvPr/>
        </p:nvSpPr>
        <p:spPr>
          <a:xfrm>
            <a:off x="274320" y="594360"/>
            <a:ext cx="2286000" cy="201168"/>
          </a:xfrm>
          <a:prstGeom prst="rect">
            <a:avLst/>
          </a:prstGeom>
          <a:noFill/>
          <a:ln/>
        </p:spPr>
        <p:txBody>
          <a:bodyPr wrap="square" rtlCol="0" anchor="ctr"/>
          <a:lstStyle/>
          <a:p>
            <a:pPr algn="ctr" indent="0" marL="0">
              <a:buNone/>
            </a:pPr>
            <a:r>
              <a:rPr lang="en-US" sz="700" b="1" dirty="0">
                <a:solidFill>
                  <a:srgbClr val="2F80ED"/>
                </a:solidFill>
              </a:rPr>
              <a:t>01 — AI CONTEXT</a:t>
            </a:r>
            <a:endParaRPr lang="en-US" sz="700" dirty="0"/>
          </a:p>
        </p:txBody>
      </p:sp>
      <p:sp>
        <p:nvSpPr>
          <p:cNvPr id="8" name="Text 6"/>
          <p:cNvSpPr/>
          <p:nvPr/>
        </p:nvSpPr>
        <p:spPr>
          <a:xfrm>
            <a:off x="274320" y="877824"/>
            <a:ext cx="11612880" cy="566928"/>
          </a:xfrm>
          <a:prstGeom prst="rect">
            <a:avLst/>
          </a:prstGeom>
          <a:noFill/>
          <a:ln/>
        </p:spPr>
        <p:txBody>
          <a:bodyPr wrap="square" rtlCol="0" anchor="ctr"/>
          <a:lstStyle/>
          <a:p>
            <a:pPr indent="0" marL="0">
              <a:buNone/>
            </a:pPr>
            <a:r>
              <a:rPr lang="en-US" sz="2200" b="1" dirty="0">
                <a:solidFill>
                  <a:srgbClr val="0D1E35"/>
                </a:solidFill>
                <a:latin typeface="Arial" pitchFamily="34" charset="0"/>
                <a:ea typeface="Arial" pitchFamily="34" charset="-122"/>
                <a:cs typeface="Arial" pitchFamily="34" charset="-120"/>
              </a:rPr>
              <a:t>The Global AI Landscape in 2025</a:t>
            </a:r>
            <a:endParaRPr lang="en-US" sz="2200" dirty="0"/>
          </a:p>
        </p:txBody>
      </p:sp>
      <p:sp>
        <p:nvSpPr>
          <p:cNvPr id="9" name="Text 7"/>
          <p:cNvSpPr/>
          <p:nvPr/>
        </p:nvSpPr>
        <p:spPr>
          <a:xfrm>
            <a:off x="274320" y="1444752"/>
            <a:ext cx="11612880" cy="384048"/>
          </a:xfrm>
          <a:prstGeom prst="rect">
            <a:avLst/>
          </a:prstGeom>
          <a:noFill/>
          <a:ln/>
        </p:spPr>
        <p:txBody>
          <a:bodyPr wrap="square" rtlCol="0" anchor="ctr"/>
          <a:lstStyle/>
          <a:p>
            <a:pPr indent="0" marL="0">
              <a:buNone/>
            </a:pPr>
            <a:r>
              <a:rPr lang="en-US" sz="1050" dirty="0">
                <a:solidFill>
                  <a:srgbClr val="3D5472"/>
                </a:solidFill>
              </a:rPr>
              <a:t>Understanding the macro AI moment is table stakes for any strategic investment decision. Here is the lens through which Razorpay's AI thesis is built.</a:t>
            </a:r>
            <a:endParaRPr lang="en-US" sz="1050" dirty="0"/>
          </a:p>
        </p:txBody>
      </p:sp>
      <p:sp>
        <p:nvSpPr>
          <p:cNvPr id="10" name="Shape 8"/>
          <p:cNvSpPr/>
          <p:nvPr/>
        </p:nvSpPr>
        <p:spPr>
          <a:xfrm>
            <a:off x="274320" y="1965960"/>
            <a:ext cx="3703320" cy="1737360"/>
          </a:xfrm>
          <a:prstGeom prst="roundRect">
            <a:avLst>
              <a:gd name="adj" fmla="val 5263"/>
            </a:avLst>
          </a:prstGeom>
          <a:solidFill>
            <a:srgbClr val="FFFFFF"/>
          </a:solidFill>
          <a:ln w="6350">
            <a:solidFill>
              <a:srgbClr val="D5E3F7"/>
            </a:solidFill>
            <a:prstDash val="solid"/>
          </a:ln>
        </p:spPr>
      </p:sp>
      <p:sp>
        <p:nvSpPr>
          <p:cNvPr id="11" name="Text 9"/>
          <p:cNvSpPr/>
          <p:nvPr/>
        </p:nvSpPr>
        <p:spPr>
          <a:xfrm>
            <a:off x="384048" y="2093976"/>
            <a:ext cx="3383280" cy="274320"/>
          </a:xfrm>
          <a:prstGeom prst="rect">
            <a:avLst/>
          </a:prstGeom>
          <a:noFill/>
          <a:ln/>
        </p:spPr>
        <p:txBody>
          <a:bodyPr wrap="square" rtlCol="0" anchor="ctr"/>
          <a:lstStyle/>
          <a:p>
            <a:pPr indent="0" marL="0">
              <a:buNone/>
            </a:pPr>
            <a:r>
              <a:rPr lang="en-US" sz="1100" b="1" dirty="0">
                <a:solidFill>
                  <a:srgbClr val="0D1E35"/>
                </a:solidFill>
              </a:rPr>
              <a:t>💥 The AI Big Bang</a:t>
            </a:r>
            <a:endParaRPr lang="en-US" sz="1100" dirty="0"/>
          </a:p>
        </p:txBody>
      </p:sp>
      <p:sp>
        <p:nvSpPr>
          <p:cNvPr id="12" name="Text 10"/>
          <p:cNvSpPr/>
          <p:nvPr/>
        </p:nvSpPr>
        <p:spPr>
          <a:xfrm>
            <a:off x="384048" y="2404872"/>
            <a:ext cx="3383280" cy="1143000"/>
          </a:xfrm>
          <a:prstGeom prst="rect">
            <a:avLst/>
          </a:prstGeom>
          <a:noFill/>
          <a:ln/>
        </p:spPr>
        <p:txBody>
          <a:bodyPr wrap="square" rtlCol="0" anchor="ctr"/>
          <a:lstStyle/>
          <a:p>
            <a:pPr indent="0" marL="0">
              <a:buNone/>
            </a:pPr>
            <a:r>
              <a:rPr lang="en-US" sz="950" dirty="0">
                <a:solidFill>
                  <a:srgbClr val="3D5472"/>
                </a:solidFill>
              </a:rPr>
              <a:t>ChatGPT's mass release triggered the biggest wave of technology change ever seen. 2025 is First Light — clusters of foundational companies and best practices are forming.</a:t>
            </a:r>
            <a:endParaRPr lang="en-US" sz="950" dirty="0"/>
          </a:p>
        </p:txBody>
      </p:sp>
      <p:sp>
        <p:nvSpPr>
          <p:cNvPr id="13" name="Shape 11"/>
          <p:cNvSpPr/>
          <p:nvPr/>
        </p:nvSpPr>
        <p:spPr>
          <a:xfrm>
            <a:off x="4242816" y="1965960"/>
            <a:ext cx="3703320" cy="1737360"/>
          </a:xfrm>
          <a:prstGeom prst="roundRect">
            <a:avLst>
              <a:gd name="adj" fmla="val 5263"/>
            </a:avLst>
          </a:prstGeom>
          <a:solidFill>
            <a:srgbClr val="FFFFFF"/>
          </a:solidFill>
          <a:ln w="6350">
            <a:solidFill>
              <a:srgbClr val="D5E3F7"/>
            </a:solidFill>
            <a:prstDash val="solid"/>
          </a:ln>
        </p:spPr>
      </p:sp>
      <p:sp>
        <p:nvSpPr>
          <p:cNvPr id="14" name="Text 12"/>
          <p:cNvSpPr/>
          <p:nvPr/>
        </p:nvSpPr>
        <p:spPr>
          <a:xfrm>
            <a:off x="4352544" y="2093976"/>
            <a:ext cx="3383280" cy="274320"/>
          </a:xfrm>
          <a:prstGeom prst="rect">
            <a:avLst/>
          </a:prstGeom>
          <a:noFill/>
          <a:ln/>
        </p:spPr>
        <p:txBody>
          <a:bodyPr wrap="square" rtlCol="0" anchor="ctr"/>
          <a:lstStyle/>
          <a:p>
            <a:pPr indent="0" marL="0">
              <a:buNone/>
            </a:pPr>
            <a:r>
              <a:rPr lang="en-US" sz="1100" b="1" dirty="0">
                <a:solidFill>
                  <a:srgbClr val="0D1E35"/>
                </a:solidFill>
              </a:rPr>
              <a:t>📈 Revenue is the signal</a:t>
            </a:r>
            <a:endParaRPr lang="en-US" sz="1100" dirty="0"/>
          </a:p>
        </p:txBody>
      </p:sp>
      <p:sp>
        <p:nvSpPr>
          <p:cNvPr id="15" name="Text 13"/>
          <p:cNvSpPr/>
          <p:nvPr/>
        </p:nvSpPr>
        <p:spPr>
          <a:xfrm>
            <a:off x="4352544" y="2404872"/>
            <a:ext cx="3383280" cy="1143000"/>
          </a:xfrm>
          <a:prstGeom prst="rect">
            <a:avLst/>
          </a:prstGeom>
          <a:noFill/>
          <a:ln/>
        </p:spPr>
        <p:txBody>
          <a:bodyPr wrap="square" rtlCol="0" anchor="ctr"/>
          <a:lstStyle/>
          <a:p>
            <a:pPr indent="0" marL="0">
              <a:buNone/>
            </a:pPr>
            <a:r>
              <a:rPr lang="en-US" sz="950" dirty="0">
                <a:solidFill>
                  <a:srgbClr val="3D5472"/>
                </a:solidFill>
              </a:rPr>
              <a:t>Updated benchmarks from 20+ standout AI companies define what "great" looks like — far beyond the SaaS era. AI startups generate revenue at unprecedented velocity.</a:t>
            </a:r>
            <a:endParaRPr lang="en-US" sz="950" dirty="0"/>
          </a:p>
        </p:txBody>
      </p:sp>
      <p:sp>
        <p:nvSpPr>
          <p:cNvPr id="16" name="Shape 14"/>
          <p:cNvSpPr/>
          <p:nvPr/>
        </p:nvSpPr>
        <p:spPr>
          <a:xfrm>
            <a:off x="8211312" y="1965960"/>
            <a:ext cx="3703320" cy="1737360"/>
          </a:xfrm>
          <a:prstGeom prst="roundRect">
            <a:avLst>
              <a:gd name="adj" fmla="val 5263"/>
            </a:avLst>
          </a:prstGeom>
          <a:solidFill>
            <a:srgbClr val="FFFFFF"/>
          </a:solidFill>
          <a:ln w="6350">
            <a:solidFill>
              <a:srgbClr val="D5E3F7"/>
            </a:solidFill>
            <a:prstDash val="solid"/>
          </a:ln>
        </p:spPr>
      </p:sp>
      <p:sp>
        <p:nvSpPr>
          <p:cNvPr id="17" name="Text 15"/>
          <p:cNvSpPr/>
          <p:nvPr/>
        </p:nvSpPr>
        <p:spPr>
          <a:xfrm>
            <a:off x="8321040" y="2093976"/>
            <a:ext cx="3383280" cy="274320"/>
          </a:xfrm>
          <a:prstGeom prst="rect">
            <a:avLst/>
          </a:prstGeom>
          <a:noFill/>
          <a:ln/>
        </p:spPr>
        <p:txBody>
          <a:bodyPr wrap="square" rtlCol="0" anchor="ctr"/>
          <a:lstStyle/>
          <a:p>
            <a:pPr indent="0" marL="0">
              <a:buNone/>
            </a:pPr>
            <a:r>
              <a:rPr lang="en-US" sz="1100" b="1" dirty="0">
                <a:solidFill>
                  <a:srgbClr val="0D1E35"/>
                </a:solidFill>
              </a:rPr>
              <a:t>☁️ No cloud without AI</a:t>
            </a:r>
            <a:endParaRPr lang="en-US" sz="1100" dirty="0"/>
          </a:p>
        </p:txBody>
      </p:sp>
      <p:sp>
        <p:nvSpPr>
          <p:cNvPr id="18" name="Text 16"/>
          <p:cNvSpPr/>
          <p:nvPr/>
        </p:nvSpPr>
        <p:spPr>
          <a:xfrm>
            <a:off x="8321040" y="2404872"/>
            <a:ext cx="3383280" cy="1143000"/>
          </a:xfrm>
          <a:prstGeom prst="rect">
            <a:avLst/>
          </a:prstGeom>
          <a:noFill/>
          <a:ln/>
        </p:spPr>
        <p:txBody>
          <a:bodyPr wrap="square" rtlCol="0" anchor="ctr"/>
          <a:lstStyle/>
          <a:p>
            <a:pPr indent="0" marL="0">
              <a:buNone/>
            </a:pPr>
            <a:r>
              <a:rPr lang="en-US" sz="950" dirty="0">
                <a:solidFill>
                  <a:srgbClr val="3D5472"/>
                </a:solidFill>
              </a:rPr>
              <a:t>AI is no longer a feature — it is the product. Every infrastructure layer is being replatformed. There is no cloud without AI, and no AI product without the right AI infrastructure.</a:t>
            </a:r>
            <a:endParaRPr lang="en-US" sz="950" dirty="0"/>
          </a:p>
        </p:txBody>
      </p:sp>
      <p:sp>
        <p:nvSpPr>
          <p:cNvPr id="19" name="Shape 17"/>
          <p:cNvSpPr/>
          <p:nvPr/>
        </p:nvSpPr>
        <p:spPr>
          <a:xfrm>
            <a:off x="274320" y="3867912"/>
            <a:ext cx="3703320" cy="1737360"/>
          </a:xfrm>
          <a:prstGeom prst="roundRect">
            <a:avLst>
              <a:gd name="adj" fmla="val 5263"/>
            </a:avLst>
          </a:prstGeom>
          <a:solidFill>
            <a:srgbClr val="FFFFFF"/>
          </a:solidFill>
          <a:ln w="6350">
            <a:solidFill>
              <a:srgbClr val="D5E3F7"/>
            </a:solidFill>
            <a:prstDash val="solid"/>
          </a:ln>
        </p:spPr>
      </p:sp>
      <p:sp>
        <p:nvSpPr>
          <p:cNvPr id="20" name="Text 18"/>
          <p:cNvSpPr/>
          <p:nvPr/>
        </p:nvSpPr>
        <p:spPr>
          <a:xfrm>
            <a:off x="384048" y="3995928"/>
            <a:ext cx="3383280" cy="274320"/>
          </a:xfrm>
          <a:prstGeom prst="rect">
            <a:avLst/>
          </a:prstGeom>
          <a:noFill/>
          <a:ln/>
        </p:spPr>
        <p:txBody>
          <a:bodyPr wrap="square" rtlCol="0" anchor="ctr"/>
          <a:lstStyle/>
          <a:p>
            <a:pPr indent="0" marL="0">
              <a:buNone/>
            </a:pPr>
            <a:r>
              <a:rPr lang="en-US" sz="1100" b="1" dirty="0">
                <a:solidFill>
                  <a:srgbClr val="0D1E35"/>
                </a:solidFill>
              </a:rPr>
              <a:t>⚡ Competitive intensity ATH</a:t>
            </a:r>
            <a:endParaRPr lang="en-US" sz="1100" dirty="0"/>
          </a:p>
        </p:txBody>
      </p:sp>
      <p:sp>
        <p:nvSpPr>
          <p:cNvPr id="21" name="Text 19"/>
          <p:cNvSpPr/>
          <p:nvPr/>
        </p:nvSpPr>
        <p:spPr>
          <a:xfrm>
            <a:off x="384048" y="4306824"/>
            <a:ext cx="3383280" cy="1143000"/>
          </a:xfrm>
          <a:prstGeom prst="rect">
            <a:avLst/>
          </a:prstGeom>
          <a:noFill/>
          <a:ln/>
        </p:spPr>
        <p:txBody>
          <a:bodyPr wrap="square" rtlCol="0" anchor="ctr"/>
          <a:lstStyle/>
          <a:p>
            <a:pPr indent="0" marL="0">
              <a:buNone/>
            </a:pPr>
            <a:r>
              <a:rPr lang="en-US" sz="950" dirty="0">
                <a:solidFill>
                  <a:srgbClr val="3D5472"/>
                </a:solidFill>
              </a:rPr>
              <a:t>Promising AI areas attract 2–3× more rivals. SaaS incumbents are building aggressively. Intercom already launched a $100M+ AI revenue product line in their first year.</a:t>
            </a:r>
            <a:endParaRPr lang="en-US" sz="950" dirty="0"/>
          </a:p>
        </p:txBody>
      </p:sp>
      <p:sp>
        <p:nvSpPr>
          <p:cNvPr id="22" name="Shape 20"/>
          <p:cNvSpPr/>
          <p:nvPr/>
        </p:nvSpPr>
        <p:spPr>
          <a:xfrm>
            <a:off x="4242816" y="3867912"/>
            <a:ext cx="3703320" cy="1737360"/>
          </a:xfrm>
          <a:prstGeom prst="roundRect">
            <a:avLst>
              <a:gd name="adj" fmla="val 5263"/>
            </a:avLst>
          </a:prstGeom>
          <a:solidFill>
            <a:srgbClr val="FFFFFF"/>
          </a:solidFill>
          <a:ln w="6350">
            <a:solidFill>
              <a:srgbClr val="D5E3F7"/>
            </a:solidFill>
            <a:prstDash val="solid"/>
          </a:ln>
        </p:spPr>
      </p:sp>
      <p:sp>
        <p:nvSpPr>
          <p:cNvPr id="23" name="Text 21"/>
          <p:cNvSpPr/>
          <p:nvPr/>
        </p:nvSpPr>
        <p:spPr>
          <a:xfrm>
            <a:off x="4352544" y="3995928"/>
            <a:ext cx="3383280" cy="274320"/>
          </a:xfrm>
          <a:prstGeom prst="rect">
            <a:avLst/>
          </a:prstGeom>
          <a:noFill/>
          <a:ln/>
        </p:spPr>
        <p:txBody>
          <a:bodyPr wrap="square" rtlCol="0" anchor="ctr"/>
          <a:lstStyle/>
          <a:p>
            <a:pPr indent="0" marL="0">
              <a:buNone/>
            </a:pPr>
            <a:r>
              <a:rPr lang="en-US" sz="1100" b="1" dirty="0">
                <a:solidFill>
                  <a:srgbClr val="0D1E35"/>
                </a:solidFill>
              </a:rPr>
              <a:t>🌀 Dark matter swirling</a:t>
            </a:r>
            <a:endParaRPr lang="en-US" sz="1100" dirty="0"/>
          </a:p>
        </p:txBody>
      </p:sp>
      <p:sp>
        <p:nvSpPr>
          <p:cNvPr id="24" name="Text 22"/>
          <p:cNvSpPr/>
          <p:nvPr/>
        </p:nvSpPr>
        <p:spPr>
          <a:xfrm>
            <a:off x="4352544" y="4306824"/>
            <a:ext cx="3383280" cy="1143000"/>
          </a:xfrm>
          <a:prstGeom prst="rect">
            <a:avLst/>
          </a:prstGeom>
          <a:noFill/>
          <a:ln/>
        </p:spPr>
        <p:txBody>
          <a:bodyPr wrap="square" rtlCol="0" anchor="ctr"/>
          <a:lstStyle/>
          <a:p>
            <a:pPr indent="0" marL="0">
              <a:buNone/>
            </a:pPr>
            <a:r>
              <a:rPr lang="en-US" sz="950" dirty="0">
                <a:solidFill>
                  <a:srgbClr val="3D5472"/>
                </a:solidFill>
              </a:rPr>
              <a:t>MCP, AI browsers, and agentic infrastructure are rapidly evolving. The direction is clear: every workflow will be agent-native. Razorpay must build for this reality.</a:t>
            </a:r>
            <a:endParaRPr lang="en-US" sz="950" dirty="0"/>
          </a:p>
        </p:txBody>
      </p:sp>
      <p:sp>
        <p:nvSpPr>
          <p:cNvPr id="25" name="Shape 23"/>
          <p:cNvSpPr/>
          <p:nvPr/>
        </p:nvSpPr>
        <p:spPr>
          <a:xfrm>
            <a:off x="8211312" y="3867912"/>
            <a:ext cx="3703320" cy="1737360"/>
          </a:xfrm>
          <a:prstGeom prst="roundRect">
            <a:avLst>
              <a:gd name="adj" fmla="val 5263"/>
            </a:avLst>
          </a:prstGeom>
          <a:solidFill>
            <a:srgbClr val="FFFFFF"/>
          </a:solidFill>
          <a:ln w="6350">
            <a:solidFill>
              <a:srgbClr val="D5E3F7"/>
            </a:solidFill>
            <a:prstDash val="solid"/>
          </a:ln>
        </p:spPr>
      </p:sp>
      <p:sp>
        <p:nvSpPr>
          <p:cNvPr id="26" name="Shape 24"/>
          <p:cNvSpPr/>
          <p:nvPr/>
        </p:nvSpPr>
        <p:spPr>
          <a:xfrm>
            <a:off x="8211312" y="3867912"/>
            <a:ext cx="54864" cy="1737360"/>
          </a:xfrm>
          <a:prstGeom prst="rect">
            <a:avLst/>
          </a:prstGeom>
          <a:solidFill>
            <a:srgbClr val="2F80ED"/>
          </a:solidFill>
          <a:ln w="12700">
            <a:solidFill>
              <a:srgbClr val="2F80ED"/>
            </a:solidFill>
            <a:prstDash val="solid"/>
          </a:ln>
        </p:spPr>
      </p:sp>
      <p:sp>
        <p:nvSpPr>
          <p:cNvPr id="27" name="Text 25"/>
          <p:cNvSpPr/>
          <p:nvPr/>
        </p:nvSpPr>
        <p:spPr>
          <a:xfrm>
            <a:off x="8375904" y="3995928"/>
            <a:ext cx="3383280" cy="274320"/>
          </a:xfrm>
          <a:prstGeom prst="rect">
            <a:avLst/>
          </a:prstGeom>
          <a:noFill/>
          <a:ln/>
        </p:spPr>
        <p:txBody>
          <a:bodyPr wrap="square" rtlCol="0" anchor="ctr"/>
          <a:lstStyle/>
          <a:p>
            <a:pPr indent="0" marL="0">
              <a:buNone/>
            </a:pPr>
            <a:r>
              <a:rPr lang="en-US" sz="1100" b="1" dirty="0">
                <a:solidFill>
                  <a:srgbClr val="2F80ED"/>
                </a:solidFill>
              </a:rPr>
              <a:t>🎯 Razorpay's position</a:t>
            </a:r>
            <a:endParaRPr lang="en-US" sz="1100" dirty="0"/>
          </a:p>
        </p:txBody>
      </p:sp>
      <p:sp>
        <p:nvSpPr>
          <p:cNvPr id="28" name="Text 26"/>
          <p:cNvSpPr/>
          <p:nvPr/>
        </p:nvSpPr>
        <p:spPr>
          <a:xfrm>
            <a:off x="8375904" y="4306824"/>
            <a:ext cx="3383280" cy="1143000"/>
          </a:xfrm>
          <a:prstGeom prst="rect">
            <a:avLst/>
          </a:prstGeom>
          <a:noFill/>
          <a:ln/>
        </p:spPr>
        <p:txBody>
          <a:bodyPr wrap="square" rtlCol="0" anchor="ctr"/>
          <a:lstStyle/>
          <a:p>
            <a:pPr indent="0" marL="0">
              <a:buNone/>
            </a:pPr>
            <a:r>
              <a:rPr lang="en-US" sz="950" dirty="0">
                <a:solidFill>
                  <a:srgbClr val="3D5472"/>
                </a:solidFill>
              </a:rPr>
              <a:t>8M+ merchants, $180B+ TPV, 100M+ consumer touchpoints — India's largest AI-native scale vector. The AI infra bet is about owning the layer that powers all of it.</a:t>
            </a:r>
            <a:endParaRPr lang="en-US" sz="950" dirty="0"/>
          </a:p>
        </p:txBody>
      </p:sp>
      <p:sp>
        <p:nvSpPr>
          <p:cNvPr id="29" name="Shape 27"/>
          <p:cNvSpPr/>
          <p:nvPr/>
        </p:nvSpPr>
        <p:spPr>
          <a:xfrm>
            <a:off x="274320" y="5852160"/>
            <a:ext cx="11612880" cy="731520"/>
          </a:xfrm>
          <a:prstGeom prst="roundRect">
            <a:avLst>
              <a:gd name="adj" fmla="val 10000"/>
            </a:avLst>
          </a:prstGeom>
          <a:solidFill>
            <a:srgbClr val="000000"/>
          </a:solidFill>
          <a:ln w="6350">
            <a:solidFill>
              <a:srgbClr val="000000"/>
            </a:solidFill>
            <a:prstDash val="solid"/>
          </a:ln>
        </p:spPr>
      </p:sp>
      <p:sp>
        <p:nvSpPr>
          <p:cNvPr id="30" name="Text 28"/>
          <p:cNvSpPr/>
          <p:nvPr/>
        </p:nvSpPr>
        <p:spPr>
          <a:xfrm>
            <a:off x="914400" y="5925312"/>
            <a:ext cx="2286000" cy="292608"/>
          </a:xfrm>
          <a:prstGeom prst="rect">
            <a:avLst/>
          </a:prstGeom>
          <a:noFill/>
          <a:ln/>
        </p:spPr>
        <p:txBody>
          <a:bodyPr wrap="square" rtlCol="0" anchor="ctr"/>
          <a:lstStyle/>
          <a:p>
            <a:pPr algn="ctr" indent="0" marL="0">
              <a:buNone/>
            </a:pPr>
            <a:r>
              <a:rPr lang="en-US" sz="1800" b="1" dirty="0">
                <a:solidFill>
                  <a:srgbClr val="2F80ED"/>
                </a:solidFill>
              </a:rPr>
              <a:t>$110B</a:t>
            </a:r>
            <a:endParaRPr lang="en-US" sz="1800" dirty="0"/>
          </a:p>
        </p:txBody>
      </p:sp>
      <p:sp>
        <p:nvSpPr>
          <p:cNvPr id="31" name="Text 29"/>
          <p:cNvSpPr/>
          <p:nvPr/>
        </p:nvSpPr>
        <p:spPr>
          <a:xfrm>
            <a:off x="914400" y="6208776"/>
            <a:ext cx="2286000" cy="201168"/>
          </a:xfrm>
          <a:prstGeom prst="rect">
            <a:avLst/>
          </a:prstGeom>
          <a:noFill/>
          <a:ln/>
        </p:spPr>
        <p:txBody>
          <a:bodyPr wrap="square" rtlCol="0" anchor="ctr"/>
          <a:lstStyle/>
          <a:p>
            <a:pPr algn="ctr" indent="0" marL="0">
              <a:buNone/>
            </a:pPr>
            <a:r>
              <a:rPr lang="en-US" sz="800" dirty="0">
                <a:solidFill>
                  <a:srgbClr val="7B96B8"/>
                </a:solidFill>
              </a:rPr>
              <a:t>AI-first investment in 2024</a:t>
            </a:r>
            <a:endParaRPr lang="en-US" sz="800" dirty="0"/>
          </a:p>
        </p:txBody>
      </p:sp>
      <p:sp>
        <p:nvSpPr>
          <p:cNvPr id="32" name="Text 30"/>
          <p:cNvSpPr/>
          <p:nvPr/>
        </p:nvSpPr>
        <p:spPr>
          <a:xfrm>
            <a:off x="3749040" y="5925312"/>
            <a:ext cx="2286000" cy="292608"/>
          </a:xfrm>
          <a:prstGeom prst="rect">
            <a:avLst/>
          </a:prstGeom>
          <a:noFill/>
          <a:ln/>
        </p:spPr>
        <p:txBody>
          <a:bodyPr wrap="square" rtlCol="0" anchor="ctr"/>
          <a:lstStyle/>
          <a:p>
            <a:pPr algn="ctr" indent="0" marL="0">
              <a:buNone/>
            </a:pPr>
            <a:r>
              <a:rPr lang="en-US" sz="1800" b="1" dirty="0">
                <a:solidFill>
                  <a:srgbClr val="1BC5FF"/>
                </a:solidFill>
              </a:rPr>
              <a:t>42%</a:t>
            </a:r>
            <a:endParaRPr lang="en-US" sz="1800" dirty="0"/>
          </a:p>
        </p:txBody>
      </p:sp>
      <p:sp>
        <p:nvSpPr>
          <p:cNvPr id="33" name="Text 31"/>
          <p:cNvSpPr/>
          <p:nvPr/>
        </p:nvSpPr>
        <p:spPr>
          <a:xfrm>
            <a:off x="3749040" y="6208776"/>
            <a:ext cx="2286000" cy="201168"/>
          </a:xfrm>
          <a:prstGeom prst="rect">
            <a:avLst/>
          </a:prstGeom>
          <a:noFill/>
          <a:ln/>
        </p:spPr>
        <p:txBody>
          <a:bodyPr wrap="square" rtlCol="0" anchor="ctr"/>
          <a:lstStyle/>
          <a:p>
            <a:pPr algn="ctr" indent="0" marL="0">
              <a:buNone/>
            </a:pPr>
            <a:r>
              <a:rPr lang="en-US" sz="800" dirty="0">
                <a:solidFill>
                  <a:srgbClr val="7B96B8"/>
                </a:solidFill>
              </a:rPr>
              <a:t>US VC deployed to AI</a:t>
            </a:r>
            <a:endParaRPr lang="en-US" sz="800" dirty="0"/>
          </a:p>
        </p:txBody>
      </p:sp>
      <p:sp>
        <p:nvSpPr>
          <p:cNvPr id="34" name="Text 32"/>
          <p:cNvSpPr/>
          <p:nvPr/>
        </p:nvSpPr>
        <p:spPr>
          <a:xfrm>
            <a:off x="6583680" y="5925312"/>
            <a:ext cx="2286000" cy="292608"/>
          </a:xfrm>
          <a:prstGeom prst="rect">
            <a:avLst/>
          </a:prstGeom>
          <a:noFill/>
          <a:ln/>
        </p:spPr>
        <p:txBody>
          <a:bodyPr wrap="square" rtlCol="0" anchor="ctr"/>
          <a:lstStyle/>
          <a:p>
            <a:pPr algn="ctr" indent="0" marL="0">
              <a:buNone/>
            </a:pPr>
            <a:r>
              <a:rPr lang="en-US" sz="1800" b="1" dirty="0">
                <a:solidFill>
                  <a:srgbClr val="12C479"/>
                </a:solidFill>
              </a:rPr>
              <a:t>600M</a:t>
            </a:r>
            <a:endParaRPr lang="en-US" sz="1800" dirty="0"/>
          </a:p>
        </p:txBody>
      </p:sp>
      <p:sp>
        <p:nvSpPr>
          <p:cNvPr id="35" name="Text 33"/>
          <p:cNvSpPr/>
          <p:nvPr/>
        </p:nvSpPr>
        <p:spPr>
          <a:xfrm>
            <a:off x="6583680" y="6208776"/>
            <a:ext cx="2286000" cy="201168"/>
          </a:xfrm>
          <a:prstGeom prst="rect">
            <a:avLst/>
          </a:prstGeom>
          <a:noFill/>
          <a:ln/>
        </p:spPr>
        <p:txBody>
          <a:bodyPr wrap="square" rtlCol="0" anchor="ctr"/>
          <a:lstStyle/>
          <a:p>
            <a:pPr algn="ctr" indent="0" marL="0">
              <a:buNone/>
            </a:pPr>
            <a:r>
              <a:rPr lang="en-US" sz="800" dirty="0">
                <a:solidFill>
                  <a:srgbClr val="7B96B8"/>
                </a:solidFill>
              </a:rPr>
              <a:t>ChatGPT weekly users (Mar 2025)</a:t>
            </a:r>
            <a:endParaRPr lang="en-US" sz="800" dirty="0"/>
          </a:p>
        </p:txBody>
      </p:sp>
      <p:sp>
        <p:nvSpPr>
          <p:cNvPr id="36" name="Text 34"/>
          <p:cNvSpPr/>
          <p:nvPr/>
        </p:nvSpPr>
        <p:spPr>
          <a:xfrm>
            <a:off x="9418320" y="5925312"/>
            <a:ext cx="2286000" cy="292608"/>
          </a:xfrm>
          <a:prstGeom prst="rect">
            <a:avLst/>
          </a:prstGeom>
          <a:noFill/>
          <a:ln/>
        </p:spPr>
        <p:txBody>
          <a:bodyPr wrap="square" rtlCol="0" anchor="ctr"/>
          <a:lstStyle/>
          <a:p>
            <a:pPr algn="ctr" indent="0" marL="0">
              <a:buNone/>
            </a:pPr>
            <a:r>
              <a:rPr lang="en-US" sz="1800" b="1" dirty="0">
                <a:solidFill>
                  <a:srgbClr val="F59E0B"/>
                </a:solidFill>
              </a:rPr>
              <a:t>8.5×</a:t>
            </a:r>
            <a:endParaRPr lang="en-US" sz="1800" dirty="0"/>
          </a:p>
        </p:txBody>
      </p:sp>
      <p:sp>
        <p:nvSpPr>
          <p:cNvPr id="37" name="Text 35"/>
          <p:cNvSpPr/>
          <p:nvPr/>
        </p:nvSpPr>
        <p:spPr>
          <a:xfrm>
            <a:off x="9418320" y="6208776"/>
            <a:ext cx="2286000" cy="201168"/>
          </a:xfrm>
          <a:prstGeom prst="rect">
            <a:avLst/>
          </a:prstGeom>
          <a:noFill/>
          <a:ln/>
        </p:spPr>
        <p:txBody>
          <a:bodyPr wrap="square" rtlCol="0" anchor="ctr"/>
          <a:lstStyle/>
          <a:p>
            <a:pPr algn="ctr" indent="0" marL="0">
              <a:buNone/>
            </a:pPr>
            <a:r>
              <a:rPr lang="en-US" sz="800" dirty="0">
                <a:solidFill>
                  <a:srgbClr val="7B96B8"/>
                </a:solidFill>
              </a:rPr>
              <a:t>GenAI investment vs. 2022</a:t>
            </a:r>
            <a:endParaRPr lang="en-US" sz="800" dirty="0"/>
          </a:p>
        </p:txBody>
      </p:sp>
      <p:sp>
        <p:nvSpPr>
          <p:cNvPr id="38" name="Shape 36"/>
          <p:cNvSpPr/>
          <p:nvPr/>
        </p:nvSpPr>
        <p:spPr>
          <a:xfrm>
            <a:off x="0" y="6748272"/>
            <a:ext cx="12188952" cy="109728"/>
          </a:xfrm>
          <a:prstGeom prst="rect">
            <a:avLst/>
          </a:prstGeom>
          <a:solidFill>
            <a:srgbClr val="2F80ED"/>
          </a:solidFill>
          <a:ln w="12700">
            <a:solidFill>
              <a:srgbClr val="2F80ED"/>
            </a:solidFill>
            <a:prstDash val="solid"/>
          </a:ln>
        </p:spPr>
      </p:sp>
      <p:sp>
        <p:nvSpPr>
          <p:cNvPr id="39" name="Text 37"/>
          <p:cNvSpPr/>
          <p:nvPr/>
        </p:nvSpPr>
        <p:spPr>
          <a:xfrm>
            <a:off x="11274552" y="6748272"/>
            <a:ext cx="731520" cy="109728"/>
          </a:xfrm>
          <a:prstGeom prst="rect">
            <a:avLst/>
          </a:prstGeom>
          <a:noFill/>
          <a:ln/>
        </p:spPr>
        <p:txBody>
          <a:bodyPr wrap="square" rtlCol="0" anchor="ctr"/>
          <a:lstStyle/>
          <a:p>
            <a:pPr algn="r" indent="0" marL="0">
              <a:buNone/>
            </a:pPr>
            <a:r>
              <a:rPr lang="en-US" sz="700" dirty="0">
                <a:solidFill>
                  <a:srgbClr val="FFFFFF"/>
                </a:solidFill>
              </a:rPr>
              <a:t>2 / 11</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7FD"/>
          </a:solidFill>
          <a:ln w="12700">
            <a:solidFill>
              <a:srgbClr val="F4F7FD"/>
            </a:solidFill>
            <a:prstDash val="solid"/>
          </a:ln>
        </p:spPr>
      </p:sp>
      <p:sp>
        <p:nvSpPr>
          <p:cNvPr id="3" name="Shape 1"/>
          <p:cNvSpPr/>
          <p:nvPr/>
        </p:nvSpPr>
        <p:spPr>
          <a:xfrm>
            <a:off x="0" y="0"/>
            <a:ext cx="12188952" cy="502920"/>
          </a:xfrm>
          <a:prstGeom prst="rect">
            <a:avLst/>
          </a:prstGeom>
          <a:solidFill>
            <a:srgbClr val="FFFFFF"/>
          </a:solidFill>
          <a:ln w="6350">
            <a:solidFill>
              <a:srgbClr val="D5E3F7"/>
            </a:solidFill>
            <a:prstDash val="solid"/>
          </a:ln>
        </p:spPr>
      </p:sp>
      <p:sp>
        <p:nvSpPr>
          <p:cNvPr id="4" name="Text 2"/>
          <p:cNvSpPr/>
          <p:nvPr/>
        </p:nvSpPr>
        <p:spPr>
          <a:xfrm>
            <a:off x="274320" y="64008"/>
            <a:ext cx="1828800" cy="384048"/>
          </a:xfrm>
          <a:prstGeom prst="rect">
            <a:avLst/>
          </a:prstGeom>
          <a:noFill/>
          <a:ln/>
        </p:spPr>
        <p:txBody>
          <a:bodyPr wrap="square" rtlCol="0" anchor="ctr"/>
          <a:lstStyle/>
          <a:p>
            <a:pPr indent="0" marL="0">
              <a:buNone/>
            </a:pPr>
            <a:r>
              <a:rPr lang="en-US" sz="1700" b="1" dirty="0">
                <a:solidFill>
                  <a:srgbClr val="0D1E35"/>
                </a:solidFill>
                <a:latin typeface="Arial" pitchFamily="34" charset="0"/>
                <a:ea typeface="Arial" pitchFamily="34" charset="-122"/>
                <a:cs typeface="Arial" pitchFamily="34" charset="-120"/>
              </a:rPr>
              <a:t>razor</a:t>
            </a:r>
            <a:pPr indent="0" marL="0">
              <a:buNone/>
            </a:pPr>
            <a:r>
              <a:rPr lang="en-US" sz="1700" b="1" dirty="0">
                <a:solidFill>
                  <a:srgbClr val="2F80ED"/>
                </a:solidFill>
                <a:latin typeface="Arial" pitchFamily="34" charset="0"/>
                <a:ea typeface="Arial" pitchFamily="34" charset="-122"/>
                <a:cs typeface="Arial" pitchFamily="34" charset="-120"/>
              </a:rPr>
              <a:t>pay</a:t>
            </a:r>
            <a:endParaRPr lang="en-US" sz="1700" dirty="0"/>
          </a:p>
        </p:txBody>
      </p:sp>
      <p:sp>
        <p:nvSpPr>
          <p:cNvPr id="5" name="Text 3"/>
          <p:cNvSpPr/>
          <p:nvPr/>
        </p:nvSpPr>
        <p:spPr>
          <a:xfrm>
            <a:off x="9628632" y="155448"/>
            <a:ext cx="2286000" cy="201168"/>
          </a:xfrm>
          <a:prstGeom prst="rect">
            <a:avLst/>
          </a:prstGeom>
          <a:noFill/>
          <a:ln/>
        </p:spPr>
        <p:txBody>
          <a:bodyPr wrap="square" rtlCol="0" anchor="ctr"/>
          <a:lstStyle/>
          <a:p>
            <a:pPr algn="r" indent="0" marL="0">
              <a:buNone/>
            </a:pPr>
            <a:r>
              <a:rPr lang="en-US" sz="700" dirty="0">
                <a:solidFill>
                  <a:srgbClr val="7B96B8"/>
                </a:solidFill>
              </a:rPr>
              <a:t>CONFIDENTIAL · MARCH 2026</a:t>
            </a:r>
            <a:endParaRPr lang="en-US" sz="700" dirty="0"/>
          </a:p>
        </p:txBody>
      </p:sp>
      <p:sp>
        <p:nvSpPr>
          <p:cNvPr id="6" name="Shape 4"/>
          <p:cNvSpPr/>
          <p:nvPr/>
        </p:nvSpPr>
        <p:spPr>
          <a:xfrm>
            <a:off x="274320" y="594360"/>
            <a:ext cx="2286000" cy="201168"/>
          </a:xfrm>
          <a:prstGeom prst="roundRect">
            <a:avLst>
              <a:gd name="adj" fmla="val 18182"/>
            </a:avLst>
          </a:prstGeom>
          <a:solidFill>
            <a:srgbClr val="000000"/>
          </a:solidFill>
          <a:ln w="6350">
            <a:solidFill>
              <a:srgbClr val="000000"/>
            </a:solidFill>
            <a:prstDash val="solid"/>
          </a:ln>
        </p:spPr>
      </p:sp>
      <p:sp>
        <p:nvSpPr>
          <p:cNvPr id="7" name="Text 5"/>
          <p:cNvSpPr/>
          <p:nvPr/>
        </p:nvSpPr>
        <p:spPr>
          <a:xfrm>
            <a:off x="274320" y="594360"/>
            <a:ext cx="2286000" cy="201168"/>
          </a:xfrm>
          <a:prstGeom prst="rect">
            <a:avLst/>
          </a:prstGeom>
          <a:noFill/>
          <a:ln/>
        </p:spPr>
        <p:txBody>
          <a:bodyPr wrap="square" rtlCol="0" anchor="ctr"/>
          <a:lstStyle/>
          <a:p>
            <a:pPr algn="ctr" indent="0" marL="0">
              <a:buNone/>
            </a:pPr>
            <a:r>
              <a:rPr lang="en-US" sz="700" b="1" dirty="0">
                <a:solidFill>
                  <a:srgbClr val="2F80ED"/>
                </a:solidFill>
              </a:rPr>
              <a:t>02 — BENCHMARKS</a:t>
            </a:r>
            <a:endParaRPr lang="en-US" sz="700" dirty="0"/>
          </a:p>
        </p:txBody>
      </p:sp>
      <p:sp>
        <p:nvSpPr>
          <p:cNvPr id="8" name="Text 6"/>
          <p:cNvSpPr/>
          <p:nvPr/>
        </p:nvSpPr>
        <p:spPr>
          <a:xfrm>
            <a:off x="274320" y="877824"/>
            <a:ext cx="11612880" cy="566928"/>
          </a:xfrm>
          <a:prstGeom prst="rect">
            <a:avLst/>
          </a:prstGeom>
          <a:noFill/>
          <a:ln/>
        </p:spPr>
        <p:txBody>
          <a:bodyPr wrap="square" rtlCol="0" anchor="ctr"/>
          <a:lstStyle/>
          <a:p>
            <a:pPr indent="0" marL="0">
              <a:buNone/>
            </a:pPr>
            <a:r>
              <a:rPr lang="en-US" sz="2200" b="1" dirty="0">
                <a:solidFill>
                  <a:srgbClr val="0D1E35"/>
                </a:solidFill>
                <a:latin typeface="Arial" pitchFamily="34" charset="0"/>
                <a:ea typeface="Arial" pitchFamily="34" charset="-122"/>
                <a:cs typeface="Arial" pitchFamily="34" charset="-120"/>
              </a:rPr>
              <a:t>What "Great" Looks Like in 2025</a:t>
            </a:r>
            <a:endParaRPr lang="en-US" sz="2200" dirty="0"/>
          </a:p>
        </p:txBody>
      </p:sp>
      <p:sp>
        <p:nvSpPr>
          <p:cNvPr id="9" name="Text 7"/>
          <p:cNvSpPr/>
          <p:nvPr/>
        </p:nvSpPr>
        <p:spPr>
          <a:xfrm>
            <a:off x="274320" y="1444752"/>
            <a:ext cx="11612880" cy="384048"/>
          </a:xfrm>
          <a:prstGeom prst="rect">
            <a:avLst/>
          </a:prstGeom>
          <a:noFill/>
          <a:ln/>
        </p:spPr>
        <p:txBody>
          <a:bodyPr wrap="square" rtlCol="0" anchor="ctr"/>
          <a:lstStyle/>
          <a:p>
            <a:pPr indent="0" marL="0">
              <a:buNone/>
            </a:pPr>
            <a:r>
              <a:rPr lang="en-US" sz="1050" dirty="0">
                <a:solidFill>
                  <a:srgbClr val="3D5472"/>
                </a:solidFill>
              </a:rPr>
              <a:t>Studying 20+ high-growth, durable AI startups — including Perplexity, Abridge, and Cursor — reveals two distinct archetypes that define the AI startup landscape today.</a:t>
            </a:r>
            <a:endParaRPr lang="en-US" sz="1050" dirty="0"/>
          </a:p>
        </p:txBody>
      </p:sp>
      <p:sp>
        <p:nvSpPr>
          <p:cNvPr id="10" name="Shape 8"/>
          <p:cNvSpPr/>
          <p:nvPr/>
        </p:nvSpPr>
        <p:spPr>
          <a:xfrm>
            <a:off x="274320" y="1901952"/>
            <a:ext cx="5440680" cy="4480560"/>
          </a:xfrm>
          <a:prstGeom prst="roundRect">
            <a:avLst>
              <a:gd name="adj" fmla="val 2041"/>
            </a:avLst>
          </a:prstGeom>
          <a:solidFill>
            <a:srgbClr val="FFFFFF"/>
          </a:solidFill>
          <a:ln w="6350">
            <a:solidFill>
              <a:srgbClr val="D5E3F7"/>
            </a:solidFill>
            <a:prstDash val="solid"/>
          </a:ln>
        </p:spPr>
      </p:sp>
      <p:sp>
        <p:nvSpPr>
          <p:cNvPr id="11" name="Shape 9"/>
          <p:cNvSpPr/>
          <p:nvPr/>
        </p:nvSpPr>
        <p:spPr>
          <a:xfrm>
            <a:off x="274320" y="1901952"/>
            <a:ext cx="5440680" cy="64008"/>
          </a:xfrm>
          <a:prstGeom prst="rect">
            <a:avLst/>
          </a:prstGeom>
          <a:solidFill>
            <a:srgbClr val="F59E0B"/>
          </a:solidFill>
          <a:ln w="12700">
            <a:solidFill>
              <a:srgbClr val="F59E0B"/>
            </a:solidFill>
            <a:prstDash val="solid"/>
          </a:ln>
        </p:spPr>
      </p:sp>
      <p:sp>
        <p:nvSpPr>
          <p:cNvPr id="12" name="Text 10"/>
          <p:cNvSpPr/>
          <p:nvPr/>
        </p:nvSpPr>
        <p:spPr>
          <a:xfrm>
            <a:off x="438912" y="2057400"/>
            <a:ext cx="5120640" cy="320040"/>
          </a:xfrm>
          <a:prstGeom prst="rect">
            <a:avLst/>
          </a:prstGeom>
          <a:noFill/>
          <a:ln/>
        </p:spPr>
        <p:txBody>
          <a:bodyPr wrap="square" rtlCol="0" anchor="ctr"/>
          <a:lstStyle/>
          <a:p>
            <a:pPr indent="0" marL="0">
              <a:buNone/>
            </a:pPr>
            <a:r>
              <a:rPr lang="en-US" sz="1400" b="1" dirty="0">
                <a:solidFill>
                  <a:srgbClr val="F59E0B"/>
                </a:solidFill>
              </a:rPr>
              <a:t>💥 SUPERNOVAS</a:t>
            </a:r>
            <a:endParaRPr lang="en-US" sz="1400" dirty="0"/>
          </a:p>
        </p:txBody>
      </p:sp>
      <p:sp>
        <p:nvSpPr>
          <p:cNvPr id="13" name="Text 11"/>
          <p:cNvSpPr/>
          <p:nvPr/>
        </p:nvSpPr>
        <p:spPr>
          <a:xfrm>
            <a:off x="438912" y="2377440"/>
            <a:ext cx="5120640" cy="219456"/>
          </a:xfrm>
          <a:prstGeom prst="rect">
            <a:avLst/>
          </a:prstGeom>
          <a:noFill/>
          <a:ln/>
        </p:spPr>
        <p:txBody>
          <a:bodyPr wrap="square" rtlCol="0" anchor="ctr"/>
          <a:lstStyle/>
          <a:p>
            <a:pPr indent="0" marL="0">
              <a:buNone/>
            </a:pPr>
            <a:r>
              <a:rPr lang="en-US" sz="900" dirty="0">
                <a:solidFill>
                  <a:srgbClr val="7B96B8"/>
                </a:solidFill>
              </a:rPr>
              <a:t>Explosively scaling · unprecedented growth</a:t>
            </a:r>
            <a:endParaRPr lang="en-US" sz="900" dirty="0"/>
          </a:p>
        </p:txBody>
      </p:sp>
      <p:sp>
        <p:nvSpPr>
          <p:cNvPr id="14" name="Shape 12"/>
          <p:cNvSpPr/>
          <p:nvPr/>
        </p:nvSpPr>
        <p:spPr>
          <a:xfrm>
            <a:off x="438912" y="2670048"/>
            <a:ext cx="2377440" cy="713232"/>
          </a:xfrm>
          <a:prstGeom prst="roundRect">
            <a:avLst>
              <a:gd name="adj" fmla="val 8974"/>
            </a:avLst>
          </a:prstGeom>
          <a:solidFill>
            <a:srgbClr val="000000"/>
          </a:solidFill>
          <a:ln w="12700">
            <a:solidFill>
              <a:srgbClr val="000000"/>
            </a:solidFill>
            <a:prstDash val="solid"/>
          </a:ln>
        </p:spPr>
      </p:sp>
      <p:sp>
        <p:nvSpPr>
          <p:cNvPr id="15" name="Shape 13"/>
          <p:cNvSpPr/>
          <p:nvPr/>
        </p:nvSpPr>
        <p:spPr>
          <a:xfrm>
            <a:off x="2999232" y="2670048"/>
            <a:ext cx="2377440" cy="713232"/>
          </a:xfrm>
          <a:prstGeom prst="roundRect">
            <a:avLst>
              <a:gd name="adj" fmla="val 8974"/>
            </a:avLst>
          </a:prstGeom>
          <a:solidFill>
            <a:srgbClr val="000000"/>
          </a:solidFill>
          <a:ln w="12700">
            <a:solidFill>
              <a:srgbClr val="000000"/>
            </a:solidFill>
            <a:prstDash val="solid"/>
          </a:ln>
        </p:spPr>
      </p:sp>
      <p:sp>
        <p:nvSpPr>
          <p:cNvPr id="16" name="Text 14"/>
          <p:cNvSpPr/>
          <p:nvPr/>
        </p:nvSpPr>
        <p:spPr>
          <a:xfrm>
            <a:off x="438912" y="2734056"/>
            <a:ext cx="2377440" cy="329184"/>
          </a:xfrm>
          <a:prstGeom prst="rect">
            <a:avLst/>
          </a:prstGeom>
          <a:noFill/>
          <a:ln/>
        </p:spPr>
        <p:txBody>
          <a:bodyPr wrap="square" rtlCol="0" anchor="ctr"/>
          <a:lstStyle/>
          <a:p>
            <a:pPr algn="ctr" indent="0" marL="0">
              <a:buNone/>
            </a:pPr>
            <a:r>
              <a:rPr lang="en-US" sz="2200" b="1" dirty="0">
                <a:solidFill>
                  <a:srgbClr val="F59E0B"/>
                </a:solidFill>
              </a:rPr>
              <a:t>$40M</a:t>
            </a:r>
            <a:endParaRPr lang="en-US" sz="2200" dirty="0"/>
          </a:p>
        </p:txBody>
      </p:sp>
      <p:sp>
        <p:nvSpPr>
          <p:cNvPr id="17" name="Text 15"/>
          <p:cNvSpPr/>
          <p:nvPr/>
        </p:nvSpPr>
        <p:spPr>
          <a:xfrm>
            <a:off x="438912" y="3054096"/>
            <a:ext cx="2377440" cy="228600"/>
          </a:xfrm>
          <a:prstGeom prst="rect">
            <a:avLst/>
          </a:prstGeom>
          <a:noFill/>
          <a:ln/>
        </p:spPr>
        <p:txBody>
          <a:bodyPr wrap="square" rtlCol="0" anchor="ctr"/>
          <a:lstStyle/>
          <a:p>
            <a:pPr algn="ctr" indent="0" marL="0">
              <a:buNone/>
            </a:pPr>
            <a:r>
              <a:rPr lang="en-US" sz="800" dirty="0">
                <a:solidFill>
                  <a:srgbClr val="7B96B8"/>
                </a:solidFill>
              </a:rPr>
              <a:t>Year-1 ARR</a:t>
            </a:r>
            <a:endParaRPr lang="en-US" sz="800" dirty="0"/>
          </a:p>
        </p:txBody>
      </p:sp>
      <p:sp>
        <p:nvSpPr>
          <p:cNvPr id="18" name="Text 16"/>
          <p:cNvSpPr/>
          <p:nvPr/>
        </p:nvSpPr>
        <p:spPr>
          <a:xfrm>
            <a:off x="2999232" y="2734056"/>
            <a:ext cx="2377440" cy="329184"/>
          </a:xfrm>
          <a:prstGeom prst="rect">
            <a:avLst/>
          </a:prstGeom>
          <a:noFill/>
          <a:ln/>
        </p:spPr>
        <p:txBody>
          <a:bodyPr wrap="square" rtlCol="0" anchor="ctr"/>
          <a:lstStyle/>
          <a:p>
            <a:pPr algn="ctr" indent="0" marL="0">
              <a:buNone/>
            </a:pPr>
            <a:r>
              <a:rPr lang="en-US" sz="2200" b="1" dirty="0">
                <a:solidFill>
                  <a:srgbClr val="F59E0B"/>
                </a:solidFill>
              </a:rPr>
              <a:t>$125M</a:t>
            </a:r>
            <a:endParaRPr lang="en-US" sz="2200" dirty="0"/>
          </a:p>
        </p:txBody>
      </p:sp>
      <p:sp>
        <p:nvSpPr>
          <p:cNvPr id="19" name="Text 17"/>
          <p:cNvSpPr/>
          <p:nvPr/>
        </p:nvSpPr>
        <p:spPr>
          <a:xfrm>
            <a:off x="2999232" y="3054096"/>
            <a:ext cx="2377440" cy="228600"/>
          </a:xfrm>
          <a:prstGeom prst="rect">
            <a:avLst/>
          </a:prstGeom>
          <a:noFill/>
          <a:ln/>
        </p:spPr>
        <p:txBody>
          <a:bodyPr wrap="square" rtlCol="0" anchor="ctr"/>
          <a:lstStyle/>
          <a:p>
            <a:pPr algn="ctr" indent="0" marL="0">
              <a:buNone/>
            </a:pPr>
            <a:r>
              <a:rPr lang="en-US" sz="800" dirty="0">
                <a:solidFill>
                  <a:srgbClr val="7B96B8"/>
                </a:solidFill>
              </a:rPr>
              <a:t>Year-2 ARR</a:t>
            </a:r>
            <a:endParaRPr lang="en-US" sz="800" dirty="0"/>
          </a:p>
        </p:txBody>
      </p:sp>
      <p:sp>
        <p:nvSpPr>
          <p:cNvPr id="20" name="Shape 18"/>
          <p:cNvSpPr/>
          <p:nvPr/>
        </p:nvSpPr>
        <p:spPr>
          <a:xfrm>
            <a:off x="438912" y="3493008"/>
            <a:ext cx="5120640" cy="438912"/>
          </a:xfrm>
          <a:prstGeom prst="rect">
            <a:avLst/>
          </a:prstGeom>
          <a:solidFill>
            <a:srgbClr val="EDF2FB"/>
          </a:solidFill>
          <a:ln w="12700">
            <a:solidFill>
              <a:srgbClr val="EDF2FB"/>
            </a:solidFill>
            <a:prstDash val="solid"/>
          </a:ln>
        </p:spPr>
      </p:sp>
      <p:sp>
        <p:nvSpPr>
          <p:cNvPr id="21" name="Text 19"/>
          <p:cNvSpPr/>
          <p:nvPr/>
        </p:nvSpPr>
        <p:spPr>
          <a:xfrm>
            <a:off x="438912" y="3547872"/>
            <a:ext cx="5120640" cy="256032"/>
          </a:xfrm>
          <a:prstGeom prst="rect">
            <a:avLst/>
          </a:prstGeom>
          <a:noFill/>
          <a:ln/>
        </p:spPr>
        <p:txBody>
          <a:bodyPr wrap="square" rtlCol="0" anchor="ctr"/>
          <a:lstStyle/>
          <a:p>
            <a:pPr algn="ctr" indent="0" marL="0">
              <a:buNone/>
            </a:pPr>
            <a:r>
              <a:rPr lang="en-US" sz="950" b="1" dirty="0">
                <a:solidFill>
                  <a:srgbClr val="0D1E35"/>
                </a:solidFill>
              </a:rPr>
              <a:t>~25% Gross Margin (often negative)   ·   $1.13M ARR per FTE</a:t>
            </a:r>
            <a:endParaRPr lang="en-US" sz="950" dirty="0"/>
          </a:p>
        </p:txBody>
      </p:sp>
      <p:sp>
        <p:nvSpPr>
          <p:cNvPr id="22" name="Text 20"/>
          <p:cNvSpPr/>
          <p:nvPr/>
        </p:nvSpPr>
        <p:spPr>
          <a:xfrm>
            <a:off x="438912" y="4041648"/>
            <a:ext cx="5120640" cy="914400"/>
          </a:xfrm>
          <a:prstGeom prst="rect">
            <a:avLst/>
          </a:prstGeom>
          <a:noFill/>
          <a:ln/>
        </p:spPr>
        <p:txBody>
          <a:bodyPr wrap="square" rtlCol="0" anchor="ctr"/>
          <a:lstStyle/>
          <a:p>
            <a:pPr indent="0" marL="0">
              <a:buNone/>
            </a:pPr>
            <a:r>
              <a:rPr lang="en-US" sz="950" dirty="0">
                <a:solidFill>
                  <a:srgbClr val="3D5472"/>
                </a:solidFill>
              </a:rPr>
              <a:t>Fragile retention, thin or negative margins. Close to foundation model functionality — "thin wrapper" risk. Winner-take-all competition makes early hypergrowth a misleading signal.</a:t>
            </a:r>
            <a:endParaRPr lang="en-US" sz="950" dirty="0"/>
          </a:p>
        </p:txBody>
      </p:sp>
      <p:sp>
        <p:nvSpPr>
          <p:cNvPr id="23" name="Shape 21"/>
          <p:cNvSpPr/>
          <p:nvPr/>
        </p:nvSpPr>
        <p:spPr>
          <a:xfrm>
            <a:off x="5943600" y="1901952"/>
            <a:ext cx="5943600" cy="4480560"/>
          </a:xfrm>
          <a:prstGeom prst="roundRect">
            <a:avLst>
              <a:gd name="adj" fmla="val 2041"/>
            </a:avLst>
          </a:prstGeom>
          <a:solidFill>
            <a:srgbClr val="FFFFFF"/>
          </a:solidFill>
          <a:ln w="6350">
            <a:solidFill>
              <a:srgbClr val="D5E3F7"/>
            </a:solidFill>
            <a:prstDash val="solid"/>
          </a:ln>
        </p:spPr>
      </p:sp>
      <p:sp>
        <p:nvSpPr>
          <p:cNvPr id="24" name="Shape 22"/>
          <p:cNvSpPr/>
          <p:nvPr/>
        </p:nvSpPr>
        <p:spPr>
          <a:xfrm>
            <a:off x="5943600" y="1901952"/>
            <a:ext cx="5943600" cy="64008"/>
          </a:xfrm>
          <a:prstGeom prst="rect">
            <a:avLst/>
          </a:prstGeom>
          <a:solidFill>
            <a:srgbClr val="2F80ED"/>
          </a:solidFill>
          <a:ln w="12700">
            <a:solidFill>
              <a:srgbClr val="2F80ED"/>
            </a:solidFill>
            <a:prstDash val="solid"/>
          </a:ln>
        </p:spPr>
      </p:sp>
      <p:sp>
        <p:nvSpPr>
          <p:cNvPr id="25" name="Text 23"/>
          <p:cNvSpPr/>
          <p:nvPr/>
        </p:nvSpPr>
        <p:spPr>
          <a:xfrm>
            <a:off x="6108192" y="2057400"/>
            <a:ext cx="5669280" cy="320040"/>
          </a:xfrm>
          <a:prstGeom prst="rect">
            <a:avLst/>
          </a:prstGeom>
          <a:noFill/>
          <a:ln/>
        </p:spPr>
        <p:txBody>
          <a:bodyPr wrap="square" rtlCol="0" anchor="ctr"/>
          <a:lstStyle/>
          <a:p>
            <a:pPr indent="0" marL="0">
              <a:buNone/>
            </a:pPr>
            <a:r>
              <a:rPr lang="en-US" sz="1400" b="1" dirty="0">
                <a:solidFill>
                  <a:srgbClr val="2F80ED"/>
                </a:solidFill>
              </a:rPr>
              <a:t>⭐ SHOOTING STARS</a:t>
            </a:r>
            <a:endParaRPr lang="en-US" sz="1400" dirty="0"/>
          </a:p>
        </p:txBody>
      </p:sp>
      <p:sp>
        <p:nvSpPr>
          <p:cNvPr id="26" name="Text 24"/>
          <p:cNvSpPr/>
          <p:nvPr/>
        </p:nvSpPr>
        <p:spPr>
          <a:xfrm>
            <a:off x="6108192" y="2377440"/>
            <a:ext cx="5669280" cy="219456"/>
          </a:xfrm>
          <a:prstGeom prst="rect">
            <a:avLst/>
          </a:prstGeom>
          <a:noFill/>
          <a:ln/>
        </p:spPr>
        <p:txBody>
          <a:bodyPr wrap="square" rtlCol="0" anchor="ctr"/>
          <a:lstStyle/>
          <a:p>
            <a:pPr indent="0" marL="0">
              <a:buNone/>
            </a:pPr>
            <a:r>
              <a:rPr lang="en-US" sz="900" dirty="0">
                <a:solidFill>
                  <a:srgbClr val="7B96B8"/>
                </a:solidFill>
              </a:rPr>
              <a:t>Capital-efficient · strong PMF · loyal customers</a:t>
            </a:r>
            <a:endParaRPr lang="en-US" sz="900" dirty="0"/>
          </a:p>
        </p:txBody>
      </p:sp>
      <p:sp>
        <p:nvSpPr>
          <p:cNvPr id="27" name="Shape 25"/>
          <p:cNvSpPr/>
          <p:nvPr/>
        </p:nvSpPr>
        <p:spPr>
          <a:xfrm>
            <a:off x="6108192" y="2670048"/>
            <a:ext cx="2560320" cy="658368"/>
          </a:xfrm>
          <a:prstGeom prst="roundRect">
            <a:avLst>
              <a:gd name="adj" fmla="val 9722"/>
            </a:avLst>
          </a:prstGeom>
          <a:solidFill>
            <a:srgbClr val="000000"/>
          </a:solidFill>
          <a:ln w="12700">
            <a:solidFill>
              <a:srgbClr val="000000"/>
            </a:solidFill>
            <a:prstDash val="solid"/>
          </a:ln>
        </p:spPr>
      </p:sp>
      <p:sp>
        <p:nvSpPr>
          <p:cNvPr id="28" name="Text 26"/>
          <p:cNvSpPr/>
          <p:nvPr/>
        </p:nvSpPr>
        <p:spPr>
          <a:xfrm>
            <a:off x="6108192" y="2743200"/>
            <a:ext cx="2560320" cy="310896"/>
          </a:xfrm>
          <a:prstGeom prst="rect">
            <a:avLst/>
          </a:prstGeom>
          <a:noFill/>
          <a:ln/>
        </p:spPr>
        <p:txBody>
          <a:bodyPr wrap="square" rtlCol="0" anchor="ctr"/>
          <a:lstStyle/>
          <a:p>
            <a:pPr algn="ctr" indent="0" marL="0">
              <a:buNone/>
            </a:pPr>
            <a:r>
              <a:rPr lang="en-US" sz="1600" b="1" dirty="0">
                <a:solidFill>
                  <a:srgbClr val="2F80ED"/>
                </a:solidFill>
              </a:rPr>
              <a:t>~$3M</a:t>
            </a:r>
            <a:endParaRPr lang="en-US" sz="1600" dirty="0"/>
          </a:p>
        </p:txBody>
      </p:sp>
      <p:sp>
        <p:nvSpPr>
          <p:cNvPr id="29" name="Text 27"/>
          <p:cNvSpPr/>
          <p:nvPr/>
        </p:nvSpPr>
        <p:spPr>
          <a:xfrm>
            <a:off x="6108192" y="3054096"/>
            <a:ext cx="2560320" cy="219456"/>
          </a:xfrm>
          <a:prstGeom prst="rect">
            <a:avLst/>
          </a:prstGeom>
          <a:noFill/>
          <a:ln/>
        </p:spPr>
        <p:txBody>
          <a:bodyPr wrap="square" rtlCol="0" anchor="ctr"/>
          <a:lstStyle/>
          <a:p>
            <a:pPr algn="ctr" indent="0" marL="0">
              <a:buNone/>
            </a:pPr>
            <a:r>
              <a:rPr lang="en-US" sz="800" dirty="0">
                <a:solidFill>
                  <a:srgbClr val="7B96B8"/>
                </a:solidFill>
              </a:rPr>
              <a:t>Yr 1 ARR</a:t>
            </a:r>
            <a:endParaRPr lang="en-US" sz="800" dirty="0"/>
          </a:p>
        </p:txBody>
      </p:sp>
      <p:sp>
        <p:nvSpPr>
          <p:cNvPr id="30" name="Shape 28"/>
          <p:cNvSpPr/>
          <p:nvPr/>
        </p:nvSpPr>
        <p:spPr>
          <a:xfrm>
            <a:off x="8897112" y="2670048"/>
            <a:ext cx="2560320" cy="658368"/>
          </a:xfrm>
          <a:prstGeom prst="roundRect">
            <a:avLst>
              <a:gd name="adj" fmla="val 9722"/>
            </a:avLst>
          </a:prstGeom>
          <a:solidFill>
            <a:srgbClr val="000000"/>
          </a:solidFill>
          <a:ln w="12700">
            <a:solidFill>
              <a:srgbClr val="000000"/>
            </a:solidFill>
            <a:prstDash val="solid"/>
          </a:ln>
        </p:spPr>
      </p:sp>
      <p:sp>
        <p:nvSpPr>
          <p:cNvPr id="31" name="Text 29"/>
          <p:cNvSpPr/>
          <p:nvPr/>
        </p:nvSpPr>
        <p:spPr>
          <a:xfrm>
            <a:off x="8897112" y="2743200"/>
            <a:ext cx="2560320" cy="310896"/>
          </a:xfrm>
          <a:prstGeom prst="rect">
            <a:avLst/>
          </a:prstGeom>
          <a:noFill/>
          <a:ln/>
        </p:spPr>
        <p:txBody>
          <a:bodyPr wrap="square" rtlCol="0" anchor="ctr"/>
          <a:lstStyle/>
          <a:p>
            <a:pPr algn="ctr" indent="0" marL="0">
              <a:buNone/>
            </a:pPr>
            <a:r>
              <a:rPr lang="en-US" sz="1600" b="1" dirty="0">
                <a:solidFill>
                  <a:srgbClr val="2F80ED"/>
                </a:solidFill>
              </a:rPr>
              <a:t>~$12M</a:t>
            </a:r>
            <a:endParaRPr lang="en-US" sz="1600" dirty="0"/>
          </a:p>
        </p:txBody>
      </p:sp>
      <p:sp>
        <p:nvSpPr>
          <p:cNvPr id="32" name="Text 30"/>
          <p:cNvSpPr/>
          <p:nvPr/>
        </p:nvSpPr>
        <p:spPr>
          <a:xfrm>
            <a:off x="8897112" y="3054096"/>
            <a:ext cx="2560320" cy="219456"/>
          </a:xfrm>
          <a:prstGeom prst="rect">
            <a:avLst/>
          </a:prstGeom>
          <a:noFill/>
          <a:ln/>
        </p:spPr>
        <p:txBody>
          <a:bodyPr wrap="square" rtlCol="0" anchor="ctr"/>
          <a:lstStyle/>
          <a:p>
            <a:pPr algn="ctr" indent="0" marL="0">
              <a:buNone/>
            </a:pPr>
            <a:r>
              <a:rPr lang="en-US" sz="800" dirty="0">
                <a:solidFill>
                  <a:srgbClr val="7B96B8"/>
                </a:solidFill>
              </a:rPr>
              <a:t>Yr 2 ARR</a:t>
            </a:r>
            <a:endParaRPr lang="en-US" sz="800" dirty="0"/>
          </a:p>
        </p:txBody>
      </p:sp>
      <p:sp>
        <p:nvSpPr>
          <p:cNvPr id="33" name="Shape 31"/>
          <p:cNvSpPr/>
          <p:nvPr/>
        </p:nvSpPr>
        <p:spPr>
          <a:xfrm>
            <a:off x="6108192" y="3438144"/>
            <a:ext cx="2560320" cy="658368"/>
          </a:xfrm>
          <a:prstGeom prst="roundRect">
            <a:avLst>
              <a:gd name="adj" fmla="val 9722"/>
            </a:avLst>
          </a:prstGeom>
          <a:solidFill>
            <a:srgbClr val="000000"/>
          </a:solidFill>
          <a:ln w="12700">
            <a:solidFill>
              <a:srgbClr val="000000"/>
            </a:solidFill>
            <a:prstDash val="solid"/>
          </a:ln>
        </p:spPr>
      </p:sp>
      <p:sp>
        <p:nvSpPr>
          <p:cNvPr id="34" name="Text 32"/>
          <p:cNvSpPr/>
          <p:nvPr/>
        </p:nvSpPr>
        <p:spPr>
          <a:xfrm>
            <a:off x="6108192" y="3511296"/>
            <a:ext cx="2560320" cy="310896"/>
          </a:xfrm>
          <a:prstGeom prst="rect">
            <a:avLst/>
          </a:prstGeom>
          <a:noFill/>
          <a:ln/>
        </p:spPr>
        <p:txBody>
          <a:bodyPr wrap="square" rtlCol="0" anchor="ctr"/>
          <a:lstStyle/>
          <a:p>
            <a:pPr algn="ctr" indent="0" marL="0">
              <a:buNone/>
            </a:pPr>
            <a:r>
              <a:rPr lang="en-US" sz="1600" b="1" dirty="0">
                <a:solidFill>
                  <a:srgbClr val="2F80ED"/>
                </a:solidFill>
              </a:rPr>
              <a:t>~$40M</a:t>
            </a:r>
            <a:endParaRPr lang="en-US" sz="1600" dirty="0"/>
          </a:p>
        </p:txBody>
      </p:sp>
      <p:sp>
        <p:nvSpPr>
          <p:cNvPr id="35" name="Text 33"/>
          <p:cNvSpPr/>
          <p:nvPr/>
        </p:nvSpPr>
        <p:spPr>
          <a:xfrm>
            <a:off x="6108192" y="3822192"/>
            <a:ext cx="2560320" cy="219456"/>
          </a:xfrm>
          <a:prstGeom prst="rect">
            <a:avLst/>
          </a:prstGeom>
          <a:noFill/>
          <a:ln/>
        </p:spPr>
        <p:txBody>
          <a:bodyPr wrap="square" rtlCol="0" anchor="ctr"/>
          <a:lstStyle/>
          <a:p>
            <a:pPr algn="ctr" indent="0" marL="0">
              <a:buNone/>
            </a:pPr>
            <a:r>
              <a:rPr lang="en-US" sz="800" dirty="0">
                <a:solidFill>
                  <a:srgbClr val="7B96B8"/>
                </a:solidFill>
              </a:rPr>
              <a:t>Yr 3 ARR</a:t>
            </a:r>
            <a:endParaRPr lang="en-US" sz="800" dirty="0"/>
          </a:p>
        </p:txBody>
      </p:sp>
      <p:sp>
        <p:nvSpPr>
          <p:cNvPr id="36" name="Shape 34"/>
          <p:cNvSpPr/>
          <p:nvPr/>
        </p:nvSpPr>
        <p:spPr>
          <a:xfrm>
            <a:off x="8897112" y="3438144"/>
            <a:ext cx="2560320" cy="658368"/>
          </a:xfrm>
          <a:prstGeom prst="roundRect">
            <a:avLst>
              <a:gd name="adj" fmla="val 9722"/>
            </a:avLst>
          </a:prstGeom>
          <a:solidFill>
            <a:srgbClr val="000000"/>
          </a:solidFill>
          <a:ln w="12700">
            <a:solidFill>
              <a:srgbClr val="000000"/>
            </a:solidFill>
            <a:prstDash val="solid"/>
          </a:ln>
        </p:spPr>
      </p:sp>
      <p:sp>
        <p:nvSpPr>
          <p:cNvPr id="37" name="Text 35"/>
          <p:cNvSpPr/>
          <p:nvPr/>
        </p:nvSpPr>
        <p:spPr>
          <a:xfrm>
            <a:off x="8897112" y="3511296"/>
            <a:ext cx="2560320" cy="310896"/>
          </a:xfrm>
          <a:prstGeom prst="rect">
            <a:avLst/>
          </a:prstGeom>
          <a:noFill/>
          <a:ln/>
        </p:spPr>
        <p:txBody>
          <a:bodyPr wrap="square" rtlCol="0" anchor="ctr"/>
          <a:lstStyle/>
          <a:p>
            <a:pPr algn="ctr" indent="0" marL="0">
              <a:buNone/>
            </a:pPr>
            <a:r>
              <a:rPr lang="en-US" sz="1600" b="1" dirty="0">
                <a:solidFill>
                  <a:srgbClr val="2F80ED"/>
                </a:solidFill>
              </a:rPr>
              <a:t>~$103M</a:t>
            </a:r>
            <a:endParaRPr lang="en-US" sz="1600" dirty="0"/>
          </a:p>
        </p:txBody>
      </p:sp>
      <p:sp>
        <p:nvSpPr>
          <p:cNvPr id="38" name="Text 36"/>
          <p:cNvSpPr/>
          <p:nvPr/>
        </p:nvSpPr>
        <p:spPr>
          <a:xfrm>
            <a:off x="8897112" y="3822192"/>
            <a:ext cx="2560320" cy="219456"/>
          </a:xfrm>
          <a:prstGeom prst="rect">
            <a:avLst/>
          </a:prstGeom>
          <a:noFill/>
          <a:ln/>
        </p:spPr>
        <p:txBody>
          <a:bodyPr wrap="square" rtlCol="0" anchor="ctr"/>
          <a:lstStyle/>
          <a:p>
            <a:pPr algn="ctr" indent="0" marL="0">
              <a:buNone/>
            </a:pPr>
            <a:r>
              <a:rPr lang="en-US" sz="800" dirty="0">
                <a:solidFill>
                  <a:srgbClr val="7B96B8"/>
                </a:solidFill>
              </a:rPr>
              <a:t>Yr 4 ARR</a:t>
            </a:r>
            <a:endParaRPr lang="en-US" sz="800" dirty="0"/>
          </a:p>
        </p:txBody>
      </p:sp>
      <p:sp>
        <p:nvSpPr>
          <p:cNvPr id="39" name="Shape 37"/>
          <p:cNvSpPr/>
          <p:nvPr/>
        </p:nvSpPr>
        <p:spPr>
          <a:xfrm>
            <a:off x="6108192" y="4270248"/>
            <a:ext cx="5669280" cy="438912"/>
          </a:xfrm>
          <a:prstGeom prst="rect">
            <a:avLst/>
          </a:prstGeom>
          <a:solidFill>
            <a:srgbClr val="EDF2FB"/>
          </a:solidFill>
          <a:ln w="12700">
            <a:solidFill>
              <a:srgbClr val="EDF2FB"/>
            </a:solidFill>
            <a:prstDash val="solid"/>
          </a:ln>
        </p:spPr>
      </p:sp>
      <p:sp>
        <p:nvSpPr>
          <p:cNvPr id="40" name="Text 38"/>
          <p:cNvSpPr/>
          <p:nvPr/>
        </p:nvSpPr>
        <p:spPr>
          <a:xfrm>
            <a:off x="6108192" y="4325112"/>
            <a:ext cx="5669280" cy="256032"/>
          </a:xfrm>
          <a:prstGeom prst="rect">
            <a:avLst/>
          </a:prstGeom>
          <a:noFill/>
          <a:ln/>
        </p:spPr>
        <p:txBody>
          <a:bodyPr wrap="square" rtlCol="0" anchor="ctr"/>
          <a:lstStyle/>
          <a:p>
            <a:pPr algn="ctr" indent="0" marL="0">
              <a:buNone/>
            </a:pPr>
            <a:r>
              <a:rPr lang="en-US" sz="950" b="1" dirty="0">
                <a:solidFill>
                  <a:srgbClr val="0D1E35"/>
                </a:solidFill>
              </a:rPr>
              <a:t>~60% Gross Margin   ·   ~$164K ARR per FTE</a:t>
            </a:r>
            <a:endParaRPr lang="en-US" sz="950" dirty="0"/>
          </a:p>
        </p:txBody>
      </p:sp>
      <p:sp>
        <p:nvSpPr>
          <p:cNvPr id="41" name="Text 39"/>
          <p:cNvSpPr/>
          <p:nvPr/>
        </p:nvSpPr>
        <p:spPr>
          <a:xfrm>
            <a:off x="6108192" y="4828032"/>
            <a:ext cx="5669280" cy="777240"/>
          </a:xfrm>
          <a:prstGeom prst="rect">
            <a:avLst/>
          </a:prstGeom>
          <a:noFill/>
          <a:ln/>
        </p:spPr>
        <p:txBody>
          <a:bodyPr wrap="square" rtlCol="0" anchor="ctr"/>
          <a:lstStyle/>
          <a:p>
            <a:pPr indent="0" marL="0">
              <a:buNone/>
            </a:pPr>
            <a:r>
              <a:rPr lang="en-US" sz="950" dirty="0">
                <a:solidFill>
                  <a:srgbClr val="3D5472"/>
                </a:solidFill>
              </a:rPr>
              <a:t>Strong retention, expansion, and solid gross margins. Grow faster than SaaS predecessors while staying anchored to disciplined scaling. This is the benchmark for Razorpay's portfolio companies to aim for.</a:t>
            </a:r>
            <a:endParaRPr lang="en-US" sz="950" dirty="0"/>
          </a:p>
        </p:txBody>
      </p:sp>
      <p:sp>
        <p:nvSpPr>
          <p:cNvPr id="42" name="Shape 40"/>
          <p:cNvSpPr/>
          <p:nvPr/>
        </p:nvSpPr>
        <p:spPr>
          <a:xfrm>
            <a:off x="274320" y="6446520"/>
            <a:ext cx="11612880" cy="274320"/>
          </a:xfrm>
          <a:prstGeom prst="roundRect">
            <a:avLst>
              <a:gd name="adj" fmla="val 20000"/>
            </a:avLst>
          </a:prstGeom>
          <a:solidFill>
            <a:srgbClr val="000000"/>
          </a:solidFill>
          <a:ln w="12700">
            <a:solidFill>
              <a:srgbClr val="000000"/>
            </a:solidFill>
            <a:prstDash val="solid"/>
          </a:ln>
        </p:spPr>
      </p:sp>
      <p:sp>
        <p:nvSpPr>
          <p:cNvPr id="43" name="Text 41"/>
          <p:cNvSpPr/>
          <p:nvPr/>
        </p:nvSpPr>
        <p:spPr>
          <a:xfrm>
            <a:off x="457200" y="6473952"/>
            <a:ext cx="11247120" cy="219456"/>
          </a:xfrm>
          <a:prstGeom prst="rect">
            <a:avLst/>
          </a:prstGeom>
          <a:noFill/>
          <a:ln/>
        </p:spPr>
        <p:txBody>
          <a:bodyPr wrap="square" rtlCol="0" anchor="ctr"/>
          <a:lstStyle/>
          <a:p>
            <a:pPr indent="0" marL="0">
              <a:buNone/>
            </a:pPr>
            <a:r>
              <a:rPr lang="en-US" sz="900" b="1" dirty="0">
                <a:solidFill>
                  <a:srgbClr val="2F80ED"/>
                </a:solidFill>
              </a:rPr>
              <a:t>New benchmark — Q2T3: Quadruple, Quadruple, Triple, Triple, Triple. The five-year trajectory of today's AI Shooting Stars, achievable with AI-native product velocity.</a:t>
            </a:r>
            <a:endParaRPr lang="en-US" sz="900" dirty="0"/>
          </a:p>
        </p:txBody>
      </p:sp>
      <p:sp>
        <p:nvSpPr>
          <p:cNvPr id="44" name="Shape 42"/>
          <p:cNvSpPr/>
          <p:nvPr/>
        </p:nvSpPr>
        <p:spPr>
          <a:xfrm>
            <a:off x="0" y="6748272"/>
            <a:ext cx="12188952" cy="109728"/>
          </a:xfrm>
          <a:prstGeom prst="rect">
            <a:avLst/>
          </a:prstGeom>
          <a:solidFill>
            <a:srgbClr val="2F80ED"/>
          </a:solidFill>
          <a:ln w="12700">
            <a:solidFill>
              <a:srgbClr val="2F80ED"/>
            </a:solidFill>
            <a:prstDash val="solid"/>
          </a:ln>
        </p:spPr>
      </p:sp>
      <p:sp>
        <p:nvSpPr>
          <p:cNvPr id="45" name="Text 43"/>
          <p:cNvSpPr/>
          <p:nvPr/>
        </p:nvSpPr>
        <p:spPr>
          <a:xfrm>
            <a:off x="11274552" y="6748272"/>
            <a:ext cx="731520" cy="109728"/>
          </a:xfrm>
          <a:prstGeom prst="rect">
            <a:avLst/>
          </a:prstGeom>
          <a:noFill/>
          <a:ln/>
        </p:spPr>
        <p:txBody>
          <a:bodyPr wrap="square" rtlCol="0" anchor="ctr"/>
          <a:lstStyle/>
          <a:p>
            <a:pPr algn="r" indent="0" marL="0">
              <a:buNone/>
            </a:pPr>
            <a:r>
              <a:rPr lang="en-US" sz="700" dirty="0">
                <a:solidFill>
                  <a:srgbClr val="FFFFFF"/>
                </a:solidFill>
              </a:rPr>
              <a:t>3 / 11</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7FD"/>
          </a:solidFill>
          <a:ln w="12700">
            <a:solidFill>
              <a:srgbClr val="F4F7FD"/>
            </a:solidFill>
            <a:prstDash val="solid"/>
          </a:ln>
        </p:spPr>
      </p:sp>
      <p:sp>
        <p:nvSpPr>
          <p:cNvPr id="3" name="Shape 1"/>
          <p:cNvSpPr/>
          <p:nvPr/>
        </p:nvSpPr>
        <p:spPr>
          <a:xfrm>
            <a:off x="0" y="0"/>
            <a:ext cx="12188952" cy="502920"/>
          </a:xfrm>
          <a:prstGeom prst="rect">
            <a:avLst/>
          </a:prstGeom>
          <a:solidFill>
            <a:srgbClr val="FFFFFF"/>
          </a:solidFill>
          <a:ln w="6350">
            <a:solidFill>
              <a:srgbClr val="D5E3F7"/>
            </a:solidFill>
            <a:prstDash val="solid"/>
          </a:ln>
        </p:spPr>
      </p:sp>
      <p:sp>
        <p:nvSpPr>
          <p:cNvPr id="4" name="Text 2"/>
          <p:cNvSpPr/>
          <p:nvPr/>
        </p:nvSpPr>
        <p:spPr>
          <a:xfrm>
            <a:off x="274320" y="64008"/>
            <a:ext cx="1828800" cy="384048"/>
          </a:xfrm>
          <a:prstGeom prst="rect">
            <a:avLst/>
          </a:prstGeom>
          <a:noFill/>
          <a:ln/>
        </p:spPr>
        <p:txBody>
          <a:bodyPr wrap="square" rtlCol="0" anchor="ctr"/>
          <a:lstStyle/>
          <a:p>
            <a:pPr indent="0" marL="0">
              <a:buNone/>
            </a:pPr>
            <a:r>
              <a:rPr lang="en-US" sz="1700" b="1" dirty="0">
                <a:solidFill>
                  <a:srgbClr val="0D1E35"/>
                </a:solidFill>
                <a:latin typeface="Arial" pitchFamily="34" charset="0"/>
                <a:ea typeface="Arial" pitchFamily="34" charset="-122"/>
                <a:cs typeface="Arial" pitchFamily="34" charset="-120"/>
              </a:rPr>
              <a:t>razor</a:t>
            </a:r>
            <a:pPr indent="0" marL="0">
              <a:buNone/>
            </a:pPr>
            <a:r>
              <a:rPr lang="en-US" sz="1700" b="1" dirty="0">
                <a:solidFill>
                  <a:srgbClr val="2F80ED"/>
                </a:solidFill>
                <a:latin typeface="Arial" pitchFamily="34" charset="0"/>
                <a:ea typeface="Arial" pitchFamily="34" charset="-122"/>
                <a:cs typeface="Arial" pitchFamily="34" charset="-120"/>
              </a:rPr>
              <a:t>pay</a:t>
            </a:r>
            <a:endParaRPr lang="en-US" sz="1700" dirty="0"/>
          </a:p>
        </p:txBody>
      </p:sp>
      <p:sp>
        <p:nvSpPr>
          <p:cNvPr id="5" name="Text 3"/>
          <p:cNvSpPr/>
          <p:nvPr/>
        </p:nvSpPr>
        <p:spPr>
          <a:xfrm>
            <a:off x="9628632" y="155448"/>
            <a:ext cx="2286000" cy="201168"/>
          </a:xfrm>
          <a:prstGeom prst="rect">
            <a:avLst/>
          </a:prstGeom>
          <a:noFill/>
          <a:ln/>
        </p:spPr>
        <p:txBody>
          <a:bodyPr wrap="square" rtlCol="0" anchor="ctr"/>
          <a:lstStyle/>
          <a:p>
            <a:pPr algn="r" indent="0" marL="0">
              <a:buNone/>
            </a:pPr>
            <a:r>
              <a:rPr lang="en-US" sz="700" dirty="0">
                <a:solidFill>
                  <a:srgbClr val="7B96B8"/>
                </a:solidFill>
              </a:rPr>
              <a:t>CONFIDENTIAL · MARCH 2026</a:t>
            </a:r>
            <a:endParaRPr lang="en-US" sz="700" dirty="0"/>
          </a:p>
        </p:txBody>
      </p:sp>
      <p:sp>
        <p:nvSpPr>
          <p:cNvPr id="6" name="Shape 4"/>
          <p:cNvSpPr/>
          <p:nvPr/>
        </p:nvSpPr>
        <p:spPr>
          <a:xfrm>
            <a:off x="274320" y="594360"/>
            <a:ext cx="2286000" cy="201168"/>
          </a:xfrm>
          <a:prstGeom prst="roundRect">
            <a:avLst>
              <a:gd name="adj" fmla="val 18182"/>
            </a:avLst>
          </a:prstGeom>
          <a:solidFill>
            <a:srgbClr val="000000"/>
          </a:solidFill>
          <a:ln w="6350">
            <a:solidFill>
              <a:srgbClr val="000000"/>
            </a:solidFill>
            <a:prstDash val="solid"/>
          </a:ln>
        </p:spPr>
      </p:sp>
      <p:sp>
        <p:nvSpPr>
          <p:cNvPr id="7" name="Text 5"/>
          <p:cNvSpPr/>
          <p:nvPr/>
        </p:nvSpPr>
        <p:spPr>
          <a:xfrm>
            <a:off x="274320" y="594360"/>
            <a:ext cx="2286000" cy="201168"/>
          </a:xfrm>
          <a:prstGeom prst="rect">
            <a:avLst/>
          </a:prstGeom>
          <a:noFill/>
          <a:ln/>
        </p:spPr>
        <p:txBody>
          <a:bodyPr wrap="square" rtlCol="0" anchor="ctr"/>
          <a:lstStyle/>
          <a:p>
            <a:pPr algn="ctr" indent="0" marL="0">
              <a:buNone/>
            </a:pPr>
            <a:r>
              <a:rPr lang="en-US" sz="700" b="1" dirty="0">
                <a:solidFill>
                  <a:srgbClr val="0F6FDE"/>
                </a:solidFill>
              </a:rPr>
              <a:t>03 — AI INFRASTRUCTURE</a:t>
            </a:r>
            <a:endParaRPr lang="en-US" sz="700" dirty="0"/>
          </a:p>
        </p:txBody>
      </p:sp>
      <p:sp>
        <p:nvSpPr>
          <p:cNvPr id="8" name="Text 6"/>
          <p:cNvSpPr/>
          <p:nvPr/>
        </p:nvSpPr>
        <p:spPr>
          <a:xfrm>
            <a:off x="274320" y="877824"/>
            <a:ext cx="11612880" cy="566928"/>
          </a:xfrm>
          <a:prstGeom prst="rect">
            <a:avLst/>
          </a:prstGeom>
          <a:noFill/>
          <a:ln/>
        </p:spPr>
        <p:txBody>
          <a:bodyPr wrap="square" rtlCol="0" anchor="ctr"/>
          <a:lstStyle/>
          <a:p>
            <a:pPr indent="0" marL="0">
              <a:buNone/>
            </a:pPr>
            <a:r>
              <a:rPr lang="en-US" sz="2200" b="1" dirty="0">
                <a:solidFill>
                  <a:srgbClr val="0D1E35"/>
                </a:solidFill>
                <a:latin typeface="Arial" pitchFamily="34" charset="0"/>
                <a:ea typeface="Arial" pitchFamily="34" charset="-122"/>
                <a:cs typeface="Arial" pitchFamily="34" charset="-120"/>
              </a:rPr>
              <a:t>AI Infrastructure — The Second Act</a:t>
            </a:r>
            <a:endParaRPr lang="en-US" sz="2200" dirty="0"/>
          </a:p>
        </p:txBody>
      </p:sp>
      <p:sp>
        <p:nvSpPr>
          <p:cNvPr id="9" name="Text 7"/>
          <p:cNvSpPr/>
          <p:nvPr/>
        </p:nvSpPr>
        <p:spPr>
          <a:xfrm>
            <a:off x="274320" y="1444752"/>
            <a:ext cx="11612880" cy="384048"/>
          </a:xfrm>
          <a:prstGeom prst="rect">
            <a:avLst/>
          </a:prstGeom>
          <a:noFill/>
          <a:ln/>
        </p:spPr>
        <p:txBody>
          <a:bodyPr wrap="square" rtlCol="0" anchor="ctr"/>
          <a:lstStyle/>
          <a:p>
            <a:pPr indent="0" marL="0">
              <a:buNone/>
            </a:pPr>
            <a:r>
              <a:rPr lang="en-US" sz="1050" dirty="0">
                <a:solidFill>
                  <a:srgbClr val="3D5472"/>
                </a:solidFill>
              </a:rPr>
              <a:t>Foundation models are established. The next chapter is grounding AI in real-world operational context, continuous learning, and production-grade reliability at enterprise scale.</a:t>
            </a:r>
            <a:endParaRPr lang="en-US" sz="1050" dirty="0"/>
          </a:p>
        </p:txBody>
      </p:sp>
      <p:sp>
        <p:nvSpPr>
          <p:cNvPr id="10" name="Shape 8"/>
          <p:cNvSpPr/>
          <p:nvPr/>
        </p:nvSpPr>
        <p:spPr>
          <a:xfrm>
            <a:off x="274320" y="2011680"/>
            <a:ext cx="3703320" cy="1920240"/>
          </a:xfrm>
          <a:prstGeom prst="roundRect">
            <a:avLst>
              <a:gd name="adj" fmla="val 4762"/>
            </a:avLst>
          </a:prstGeom>
          <a:solidFill>
            <a:srgbClr val="FFFFFF"/>
          </a:solidFill>
          <a:ln w="6350">
            <a:solidFill>
              <a:srgbClr val="D5E3F7"/>
            </a:solidFill>
            <a:prstDash val="solid"/>
          </a:ln>
        </p:spPr>
      </p:sp>
      <p:sp>
        <p:nvSpPr>
          <p:cNvPr id="11" name="Shape 9"/>
          <p:cNvSpPr/>
          <p:nvPr/>
        </p:nvSpPr>
        <p:spPr>
          <a:xfrm>
            <a:off x="274320" y="2011680"/>
            <a:ext cx="54864" cy="1920240"/>
          </a:xfrm>
          <a:prstGeom prst="rect">
            <a:avLst/>
          </a:prstGeom>
          <a:solidFill>
            <a:srgbClr val="2F80ED"/>
          </a:solidFill>
          <a:ln w="12700">
            <a:solidFill>
              <a:srgbClr val="2F80ED"/>
            </a:solidFill>
            <a:prstDash val="solid"/>
          </a:ln>
        </p:spPr>
      </p:sp>
      <p:sp>
        <p:nvSpPr>
          <p:cNvPr id="12" name="Text 10"/>
          <p:cNvSpPr/>
          <p:nvPr/>
        </p:nvSpPr>
        <p:spPr>
          <a:xfrm>
            <a:off x="438912" y="2148840"/>
            <a:ext cx="3383280" cy="292608"/>
          </a:xfrm>
          <a:prstGeom prst="rect">
            <a:avLst/>
          </a:prstGeom>
          <a:noFill/>
          <a:ln/>
        </p:spPr>
        <p:txBody>
          <a:bodyPr wrap="square" rtlCol="0" anchor="ctr"/>
          <a:lstStyle/>
          <a:p>
            <a:pPr indent="0" marL="0">
              <a:buNone/>
            </a:pPr>
            <a:r>
              <a:rPr lang="en-US" sz="1200" b="1" dirty="0">
                <a:solidFill>
                  <a:srgbClr val="0D1E35"/>
                </a:solidFill>
              </a:rPr>
              <a:t>🌌 Foundation Models</a:t>
            </a:r>
            <a:endParaRPr lang="en-US" sz="1200" dirty="0"/>
          </a:p>
        </p:txBody>
      </p:sp>
      <p:sp>
        <p:nvSpPr>
          <p:cNvPr id="13" name="Shape 11"/>
          <p:cNvSpPr/>
          <p:nvPr/>
        </p:nvSpPr>
        <p:spPr>
          <a:xfrm>
            <a:off x="438912" y="2468880"/>
            <a:ext cx="1051560" cy="182880"/>
          </a:xfrm>
          <a:prstGeom prst="roundRect">
            <a:avLst>
              <a:gd name="adj" fmla="val 20000"/>
            </a:avLst>
          </a:prstGeom>
          <a:solidFill>
            <a:srgbClr val="000000"/>
          </a:solidFill>
          <a:ln w="12700">
            <a:solidFill>
              <a:srgbClr val="000000"/>
            </a:solidFill>
            <a:prstDash val="solid"/>
          </a:ln>
        </p:spPr>
      </p:sp>
      <p:sp>
        <p:nvSpPr>
          <p:cNvPr id="14" name="Text 12"/>
          <p:cNvSpPr/>
          <p:nvPr/>
        </p:nvSpPr>
        <p:spPr>
          <a:xfrm>
            <a:off x="438912" y="2468880"/>
            <a:ext cx="1051560" cy="182880"/>
          </a:xfrm>
          <a:prstGeom prst="rect">
            <a:avLst/>
          </a:prstGeom>
          <a:noFill/>
          <a:ln/>
        </p:spPr>
        <p:txBody>
          <a:bodyPr wrap="square" rtlCol="0" anchor="ctr"/>
          <a:lstStyle/>
          <a:p>
            <a:pPr algn="ctr" indent="0" marL="0">
              <a:buNone/>
            </a:pPr>
            <a:r>
              <a:rPr lang="en-US" sz="650" b="1" dirty="0">
                <a:solidFill>
                  <a:srgbClr val="12C479"/>
                </a:solidFill>
              </a:rPr>
              <a:t>GALAXY FORMED</a:t>
            </a:r>
            <a:endParaRPr lang="en-US" sz="650" dirty="0"/>
          </a:p>
        </p:txBody>
      </p:sp>
      <p:sp>
        <p:nvSpPr>
          <p:cNvPr id="15" name="Text 13"/>
          <p:cNvSpPr/>
          <p:nvPr/>
        </p:nvSpPr>
        <p:spPr>
          <a:xfrm>
            <a:off x="438912" y="2715768"/>
            <a:ext cx="3383280" cy="1051560"/>
          </a:xfrm>
          <a:prstGeom prst="rect">
            <a:avLst/>
          </a:prstGeom>
          <a:noFill/>
          <a:ln/>
        </p:spPr>
        <p:txBody>
          <a:bodyPr wrap="square" rtlCol="0" anchor="ctr"/>
          <a:lstStyle/>
          <a:p>
            <a:pPr indent="0" marL="0">
              <a:buNone/>
            </a:pPr>
            <a:r>
              <a:rPr lang="en-US" sz="950" dirty="0">
                <a:solidFill>
                  <a:srgbClr val="3D5472"/>
                </a:solidFill>
              </a:rPr>
              <a:t>OpenAI, Anthropic, Gemini, Llama, xAI dominate. Now moving beyond models into coding agents, MCP integrations, and vertical deployment at scale.</a:t>
            </a:r>
            <a:endParaRPr lang="en-US" sz="950" dirty="0"/>
          </a:p>
        </p:txBody>
      </p:sp>
      <p:sp>
        <p:nvSpPr>
          <p:cNvPr id="16" name="Shape 14"/>
          <p:cNvSpPr/>
          <p:nvPr/>
        </p:nvSpPr>
        <p:spPr>
          <a:xfrm>
            <a:off x="4242816" y="2011680"/>
            <a:ext cx="3703320" cy="1920240"/>
          </a:xfrm>
          <a:prstGeom prst="roundRect">
            <a:avLst>
              <a:gd name="adj" fmla="val 4762"/>
            </a:avLst>
          </a:prstGeom>
          <a:solidFill>
            <a:srgbClr val="FFFFFF"/>
          </a:solidFill>
          <a:ln w="6350">
            <a:solidFill>
              <a:srgbClr val="D5E3F7"/>
            </a:solidFill>
            <a:prstDash val="solid"/>
          </a:ln>
        </p:spPr>
      </p:sp>
      <p:sp>
        <p:nvSpPr>
          <p:cNvPr id="17" name="Shape 15"/>
          <p:cNvSpPr/>
          <p:nvPr/>
        </p:nvSpPr>
        <p:spPr>
          <a:xfrm>
            <a:off x="4242816" y="2011680"/>
            <a:ext cx="54864" cy="1920240"/>
          </a:xfrm>
          <a:prstGeom prst="rect">
            <a:avLst/>
          </a:prstGeom>
          <a:solidFill>
            <a:srgbClr val="2F80ED"/>
          </a:solidFill>
          <a:ln w="12700">
            <a:solidFill>
              <a:srgbClr val="2F80ED"/>
            </a:solidFill>
            <a:prstDash val="solid"/>
          </a:ln>
        </p:spPr>
      </p:sp>
      <p:sp>
        <p:nvSpPr>
          <p:cNvPr id="18" name="Text 16"/>
          <p:cNvSpPr/>
          <p:nvPr/>
        </p:nvSpPr>
        <p:spPr>
          <a:xfrm>
            <a:off x="4407408" y="2148840"/>
            <a:ext cx="3383280" cy="292608"/>
          </a:xfrm>
          <a:prstGeom prst="rect">
            <a:avLst/>
          </a:prstGeom>
          <a:noFill/>
          <a:ln/>
        </p:spPr>
        <p:txBody>
          <a:bodyPr wrap="square" rtlCol="0" anchor="ctr"/>
          <a:lstStyle/>
          <a:p>
            <a:pPr indent="0" marL="0">
              <a:buNone/>
            </a:pPr>
            <a:r>
              <a:rPr lang="en-US" sz="1200" b="1" dirty="0">
                <a:solidFill>
                  <a:srgbClr val="0D1E35"/>
                </a:solidFill>
              </a:rPr>
              <a:t>🔧 Open-Source Models</a:t>
            </a:r>
            <a:endParaRPr lang="en-US" sz="1200" dirty="0"/>
          </a:p>
        </p:txBody>
      </p:sp>
      <p:sp>
        <p:nvSpPr>
          <p:cNvPr id="19" name="Shape 17"/>
          <p:cNvSpPr/>
          <p:nvPr/>
        </p:nvSpPr>
        <p:spPr>
          <a:xfrm>
            <a:off x="4407408" y="2468880"/>
            <a:ext cx="1051560" cy="182880"/>
          </a:xfrm>
          <a:prstGeom prst="roundRect">
            <a:avLst>
              <a:gd name="adj" fmla="val 20000"/>
            </a:avLst>
          </a:prstGeom>
          <a:solidFill>
            <a:srgbClr val="000000"/>
          </a:solidFill>
          <a:ln w="12700">
            <a:solidFill>
              <a:srgbClr val="000000"/>
            </a:solidFill>
            <a:prstDash val="solid"/>
          </a:ln>
        </p:spPr>
      </p:sp>
      <p:sp>
        <p:nvSpPr>
          <p:cNvPr id="20" name="Text 18"/>
          <p:cNvSpPr/>
          <p:nvPr/>
        </p:nvSpPr>
        <p:spPr>
          <a:xfrm>
            <a:off x="4407408" y="2468880"/>
            <a:ext cx="1051560" cy="182880"/>
          </a:xfrm>
          <a:prstGeom prst="rect">
            <a:avLst/>
          </a:prstGeom>
          <a:noFill/>
          <a:ln/>
        </p:spPr>
        <p:txBody>
          <a:bodyPr wrap="square" rtlCol="0" anchor="ctr"/>
          <a:lstStyle/>
          <a:p>
            <a:pPr algn="ctr" indent="0" marL="0">
              <a:buNone/>
            </a:pPr>
            <a:r>
              <a:rPr lang="en-US" sz="650" b="1" dirty="0">
                <a:solidFill>
                  <a:srgbClr val="12C479"/>
                </a:solidFill>
              </a:rPr>
              <a:t>GALAXY FORMED</a:t>
            </a:r>
            <a:endParaRPr lang="en-US" sz="650" dirty="0"/>
          </a:p>
        </p:txBody>
      </p:sp>
      <p:sp>
        <p:nvSpPr>
          <p:cNvPr id="21" name="Text 19"/>
          <p:cNvSpPr/>
          <p:nvPr/>
        </p:nvSpPr>
        <p:spPr>
          <a:xfrm>
            <a:off x="4407408" y="2715768"/>
            <a:ext cx="3383280" cy="1051560"/>
          </a:xfrm>
          <a:prstGeom prst="rect">
            <a:avLst/>
          </a:prstGeom>
          <a:noFill/>
          <a:ln/>
        </p:spPr>
        <p:txBody>
          <a:bodyPr wrap="square" rtlCol="0" anchor="ctr"/>
          <a:lstStyle/>
          <a:p>
            <a:pPr indent="0" marL="0">
              <a:buNone/>
            </a:pPr>
            <a:r>
              <a:rPr lang="en-US" sz="950" dirty="0">
                <a:solidFill>
                  <a:srgbClr val="3D5472"/>
                </a:solidFill>
              </a:rPr>
              <a:t>DeepSeek, Qwen, Mixtral, Kimi match or exceed proprietary models in efficiency. The open ecosystem continues to punch above its weight.</a:t>
            </a:r>
            <a:endParaRPr lang="en-US" sz="950" dirty="0"/>
          </a:p>
        </p:txBody>
      </p:sp>
      <p:sp>
        <p:nvSpPr>
          <p:cNvPr id="22" name="Shape 20"/>
          <p:cNvSpPr/>
          <p:nvPr/>
        </p:nvSpPr>
        <p:spPr>
          <a:xfrm>
            <a:off x="8211312" y="2011680"/>
            <a:ext cx="3703320" cy="1920240"/>
          </a:xfrm>
          <a:prstGeom prst="roundRect">
            <a:avLst>
              <a:gd name="adj" fmla="val 4762"/>
            </a:avLst>
          </a:prstGeom>
          <a:solidFill>
            <a:srgbClr val="FFFFFF"/>
          </a:solidFill>
          <a:ln w="6350">
            <a:solidFill>
              <a:srgbClr val="D5E3F7"/>
            </a:solidFill>
            <a:prstDash val="solid"/>
          </a:ln>
        </p:spPr>
      </p:sp>
      <p:sp>
        <p:nvSpPr>
          <p:cNvPr id="23" name="Shape 21"/>
          <p:cNvSpPr/>
          <p:nvPr/>
        </p:nvSpPr>
        <p:spPr>
          <a:xfrm>
            <a:off x="8211312" y="2011680"/>
            <a:ext cx="54864" cy="1920240"/>
          </a:xfrm>
          <a:prstGeom prst="rect">
            <a:avLst/>
          </a:prstGeom>
          <a:solidFill>
            <a:srgbClr val="2F80ED"/>
          </a:solidFill>
          <a:ln w="12700">
            <a:solidFill>
              <a:srgbClr val="2F80ED"/>
            </a:solidFill>
            <a:prstDash val="solid"/>
          </a:ln>
        </p:spPr>
      </p:sp>
      <p:sp>
        <p:nvSpPr>
          <p:cNvPr id="24" name="Text 22"/>
          <p:cNvSpPr/>
          <p:nvPr/>
        </p:nvSpPr>
        <p:spPr>
          <a:xfrm>
            <a:off x="8375904" y="2148840"/>
            <a:ext cx="3383280" cy="292608"/>
          </a:xfrm>
          <a:prstGeom prst="rect">
            <a:avLst/>
          </a:prstGeom>
          <a:noFill/>
          <a:ln/>
        </p:spPr>
        <p:txBody>
          <a:bodyPr wrap="square" rtlCol="0" anchor="ctr"/>
          <a:lstStyle/>
          <a:p>
            <a:pPr indent="0" marL="0">
              <a:buNone/>
            </a:pPr>
            <a:r>
              <a:rPr lang="en-US" sz="1200" b="1" dirty="0">
                <a:solidFill>
                  <a:srgbClr val="0D1E35"/>
                </a:solidFill>
              </a:rPr>
              <a:t>⚙️ Infrastructure Second Act</a:t>
            </a:r>
            <a:endParaRPr lang="en-US" sz="1200" dirty="0"/>
          </a:p>
        </p:txBody>
      </p:sp>
      <p:sp>
        <p:nvSpPr>
          <p:cNvPr id="25" name="Shape 23"/>
          <p:cNvSpPr/>
          <p:nvPr/>
        </p:nvSpPr>
        <p:spPr>
          <a:xfrm>
            <a:off x="8375904" y="2468880"/>
            <a:ext cx="1051560" cy="182880"/>
          </a:xfrm>
          <a:prstGeom prst="roundRect">
            <a:avLst>
              <a:gd name="adj" fmla="val 20000"/>
            </a:avLst>
          </a:prstGeom>
          <a:solidFill>
            <a:srgbClr val="000000"/>
          </a:solidFill>
          <a:ln w="12700">
            <a:solidFill>
              <a:srgbClr val="000000"/>
            </a:solidFill>
            <a:prstDash val="solid"/>
          </a:ln>
        </p:spPr>
      </p:sp>
      <p:sp>
        <p:nvSpPr>
          <p:cNvPr id="26" name="Text 24"/>
          <p:cNvSpPr/>
          <p:nvPr/>
        </p:nvSpPr>
        <p:spPr>
          <a:xfrm>
            <a:off x="8375904" y="2468880"/>
            <a:ext cx="1051560" cy="182880"/>
          </a:xfrm>
          <a:prstGeom prst="rect">
            <a:avLst/>
          </a:prstGeom>
          <a:noFill/>
          <a:ln/>
        </p:spPr>
        <p:txBody>
          <a:bodyPr wrap="square" rtlCol="0" anchor="ctr"/>
          <a:lstStyle/>
          <a:p>
            <a:pPr algn="ctr" indent="0" marL="0">
              <a:buNone/>
            </a:pPr>
            <a:r>
              <a:rPr lang="en-US" sz="650" b="1" dirty="0">
                <a:solidFill>
                  <a:srgbClr val="F59E0B"/>
                </a:solidFill>
              </a:rPr>
              <a:t>FORMING NOW</a:t>
            </a:r>
            <a:endParaRPr lang="en-US" sz="650" dirty="0"/>
          </a:p>
        </p:txBody>
      </p:sp>
      <p:sp>
        <p:nvSpPr>
          <p:cNvPr id="27" name="Text 25"/>
          <p:cNvSpPr/>
          <p:nvPr/>
        </p:nvSpPr>
        <p:spPr>
          <a:xfrm>
            <a:off x="8375904" y="2715768"/>
            <a:ext cx="3383280" cy="1051560"/>
          </a:xfrm>
          <a:prstGeom prst="rect">
            <a:avLst/>
          </a:prstGeom>
          <a:noFill/>
          <a:ln/>
        </p:spPr>
        <p:txBody>
          <a:bodyPr wrap="square" rtlCol="0" anchor="ctr"/>
          <a:lstStyle/>
          <a:p>
            <a:pPr indent="0" marL="0">
              <a:buNone/>
            </a:pPr>
            <a:r>
              <a:rPr lang="en-US" sz="950" dirty="0">
                <a:solidFill>
                  <a:srgbClr val="3D5472"/>
                </a:solidFill>
              </a:rPr>
              <a:t>Shift from solving problems to defining them. New tools for RL environments, eval frameworks, and compound AI systems combining memory, planning, and retrieval.</a:t>
            </a:r>
            <a:endParaRPr lang="en-US" sz="950" dirty="0"/>
          </a:p>
        </p:txBody>
      </p:sp>
      <p:sp>
        <p:nvSpPr>
          <p:cNvPr id="28" name="Text 26"/>
          <p:cNvSpPr/>
          <p:nvPr/>
        </p:nvSpPr>
        <p:spPr>
          <a:xfrm>
            <a:off x="274320" y="4133088"/>
            <a:ext cx="11612880" cy="256032"/>
          </a:xfrm>
          <a:prstGeom prst="rect">
            <a:avLst/>
          </a:prstGeom>
          <a:noFill/>
          <a:ln/>
        </p:spPr>
        <p:txBody>
          <a:bodyPr wrap="square" rtlCol="0" anchor="ctr"/>
          <a:lstStyle/>
          <a:p>
            <a:pPr indent="0" marL="0">
              <a:buNone/>
            </a:pPr>
            <a:r>
              <a:rPr lang="en-US" sz="1100" b="1" dirty="0">
                <a:solidFill>
                  <a:srgbClr val="0D1E35"/>
                </a:solidFill>
              </a:rPr>
              <a:t>Three new infrastructure tool categories emerging now</a:t>
            </a:r>
            <a:endParaRPr lang="en-US" sz="1100" dirty="0"/>
          </a:p>
        </p:txBody>
      </p:sp>
      <p:sp>
        <p:nvSpPr>
          <p:cNvPr id="29" name="Shape 27"/>
          <p:cNvSpPr/>
          <p:nvPr/>
        </p:nvSpPr>
        <p:spPr>
          <a:xfrm>
            <a:off x="274320" y="4453128"/>
            <a:ext cx="3703320" cy="1051560"/>
          </a:xfrm>
          <a:prstGeom prst="roundRect">
            <a:avLst>
              <a:gd name="adj" fmla="val 6957"/>
            </a:avLst>
          </a:prstGeom>
          <a:solidFill>
            <a:srgbClr val="F4F7FD"/>
          </a:solidFill>
          <a:ln w="12700">
            <a:solidFill>
              <a:srgbClr val="D5E3F7"/>
            </a:solidFill>
            <a:prstDash val="solid"/>
          </a:ln>
        </p:spPr>
      </p:sp>
      <p:sp>
        <p:nvSpPr>
          <p:cNvPr id="30" name="Text 28"/>
          <p:cNvSpPr/>
          <p:nvPr/>
        </p:nvSpPr>
        <p:spPr>
          <a:xfrm>
            <a:off x="411480" y="4544568"/>
            <a:ext cx="3429000" cy="256032"/>
          </a:xfrm>
          <a:prstGeom prst="rect">
            <a:avLst/>
          </a:prstGeom>
          <a:noFill/>
          <a:ln/>
        </p:spPr>
        <p:txBody>
          <a:bodyPr wrap="square" rtlCol="0" anchor="ctr"/>
          <a:lstStyle/>
          <a:p>
            <a:pPr indent="0" marL="0">
              <a:buNone/>
            </a:pPr>
            <a:r>
              <a:rPr lang="en-US" sz="1100" b="1" dirty="0">
                <a:solidFill>
                  <a:srgbClr val="2F80ED"/>
                </a:solidFill>
              </a:rPr>
              <a:t>RL Environments</a:t>
            </a:r>
            <a:endParaRPr lang="en-US" sz="1100" dirty="0"/>
          </a:p>
        </p:txBody>
      </p:sp>
      <p:sp>
        <p:nvSpPr>
          <p:cNvPr id="31" name="Text 29"/>
          <p:cNvSpPr/>
          <p:nvPr/>
        </p:nvSpPr>
        <p:spPr>
          <a:xfrm>
            <a:off x="411480" y="4846320"/>
            <a:ext cx="3429000" cy="548640"/>
          </a:xfrm>
          <a:prstGeom prst="rect">
            <a:avLst/>
          </a:prstGeom>
          <a:noFill/>
          <a:ln/>
        </p:spPr>
        <p:txBody>
          <a:bodyPr wrap="square" rtlCol="0" anchor="ctr"/>
          <a:lstStyle/>
          <a:p>
            <a:pPr indent="0" marL="0">
              <a:buNone/>
            </a:pPr>
            <a:r>
              <a:rPr lang="en-US" sz="950" dirty="0">
                <a:solidFill>
                  <a:srgbClr val="3D5472"/>
                </a:solidFill>
              </a:rPr>
              <a:t>Fleet, Matrices, Mechanize, Kaizen — human-generated labelled data no longer sufficient for production AI</a:t>
            </a:r>
            <a:endParaRPr lang="en-US" sz="950" dirty="0"/>
          </a:p>
        </p:txBody>
      </p:sp>
      <p:sp>
        <p:nvSpPr>
          <p:cNvPr id="32" name="Shape 30"/>
          <p:cNvSpPr/>
          <p:nvPr/>
        </p:nvSpPr>
        <p:spPr>
          <a:xfrm>
            <a:off x="4242816" y="4453128"/>
            <a:ext cx="3703320" cy="1051560"/>
          </a:xfrm>
          <a:prstGeom prst="roundRect">
            <a:avLst>
              <a:gd name="adj" fmla="val 6957"/>
            </a:avLst>
          </a:prstGeom>
          <a:solidFill>
            <a:srgbClr val="F4F7FD"/>
          </a:solidFill>
          <a:ln w="12700">
            <a:solidFill>
              <a:srgbClr val="D5E3F7"/>
            </a:solidFill>
            <a:prstDash val="solid"/>
          </a:ln>
        </p:spPr>
      </p:sp>
      <p:sp>
        <p:nvSpPr>
          <p:cNvPr id="33" name="Text 31"/>
          <p:cNvSpPr/>
          <p:nvPr/>
        </p:nvSpPr>
        <p:spPr>
          <a:xfrm>
            <a:off x="4379976" y="4544568"/>
            <a:ext cx="3429000" cy="256032"/>
          </a:xfrm>
          <a:prstGeom prst="rect">
            <a:avLst/>
          </a:prstGeom>
          <a:noFill/>
          <a:ln/>
        </p:spPr>
        <p:txBody>
          <a:bodyPr wrap="square" rtlCol="0" anchor="ctr"/>
          <a:lstStyle/>
          <a:p>
            <a:pPr indent="0" marL="0">
              <a:buNone/>
            </a:pPr>
            <a:r>
              <a:rPr lang="en-US" sz="1100" b="1" dirty="0">
                <a:solidFill>
                  <a:srgbClr val="2F80ED"/>
                </a:solidFill>
              </a:rPr>
              <a:t>Eval &amp; Feedback Frameworks</a:t>
            </a:r>
            <a:endParaRPr lang="en-US" sz="1100" dirty="0"/>
          </a:p>
        </p:txBody>
      </p:sp>
      <p:sp>
        <p:nvSpPr>
          <p:cNvPr id="34" name="Text 32"/>
          <p:cNvSpPr/>
          <p:nvPr/>
        </p:nvSpPr>
        <p:spPr>
          <a:xfrm>
            <a:off x="4379976" y="4846320"/>
            <a:ext cx="3429000" cy="548640"/>
          </a:xfrm>
          <a:prstGeom prst="rect">
            <a:avLst/>
          </a:prstGeom>
          <a:noFill/>
          <a:ln/>
        </p:spPr>
        <p:txBody>
          <a:bodyPr wrap="square" rtlCol="0" anchor="ctr"/>
          <a:lstStyle/>
          <a:p>
            <a:pPr indent="0" marL="0">
              <a:buNone/>
            </a:pPr>
            <a:r>
              <a:rPr lang="en-US" sz="950" dirty="0">
                <a:solidFill>
                  <a:srgbClr val="3D5472"/>
                </a:solidFill>
              </a:rPr>
              <a:t>Continuous, use-case-specific feedback loops built on proprietary data, not generic public benchmarks</a:t>
            </a:r>
            <a:endParaRPr lang="en-US" sz="950" dirty="0"/>
          </a:p>
        </p:txBody>
      </p:sp>
      <p:sp>
        <p:nvSpPr>
          <p:cNvPr id="35" name="Shape 33"/>
          <p:cNvSpPr/>
          <p:nvPr/>
        </p:nvSpPr>
        <p:spPr>
          <a:xfrm>
            <a:off x="8211312" y="4453128"/>
            <a:ext cx="3703320" cy="1051560"/>
          </a:xfrm>
          <a:prstGeom prst="roundRect">
            <a:avLst>
              <a:gd name="adj" fmla="val 6957"/>
            </a:avLst>
          </a:prstGeom>
          <a:solidFill>
            <a:srgbClr val="F4F7FD"/>
          </a:solidFill>
          <a:ln w="12700">
            <a:solidFill>
              <a:srgbClr val="D5E3F7"/>
            </a:solidFill>
            <a:prstDash val="solid"/>
          </a:ln>
        </p:spPr>
      </p:sp>
      <p:sp>
        <p:nvSpPr>
          <p:cNvPr id="36" name="Text 34"/>
          <p:cNvSpPr/>
          <p:nvPr/>
        </p:nvSpPr>
        <p:spPr>
          <a:xfrm>
            <a:off x="8348472" y="4544568"/>
            <a:ext cx="3429000" cy="256032"/>
          </a:xfrm>
          <a:prstGeom prst="rect">
            <a:avLst/>
          </a:prstGeom>
          <a:noFill/>
          <a:ln/>
        </p:spPr>
        <p:txBody>
          <a:bodyPr wrap="square" rtlCol="0" anchor="ctr"/>
          <a:lstStyle/>
          <a:p>
            <a:pPr indent="0" marL="0">
              <a:buNone/>
            </a:pPr>
            <a:r>
              <a:rPr lang="en-US" sz="1100" b="1" dirty="0">
                <a:solidFill>
                  <a:srgbClr val="2F80ED"/>
                </a:solidFill>
              </a:rPr>
              <a:t>Compound AI Systems</a:t>
            </a:r>
            <a:endParaRPr lang="en-US" sz="1100" dirty="0"/>
          </a:p>
        </p:txBody>
      </p:sp>
      <p:sp>
        <p:nvSpPr>
          <p:cNvPr id="37" name="Text 35"/>
          <p:cNvSpPr/>
          <p:nvPr/>
        </p:nvSpPr>
        <p:spPr>
          <a:xfrm>
            <a:off x="8348472" y="4846320"/>
            <a:ext cx="3429000" cy="548640"/>
          </a:xfrm>
          <a:prstGeom prst="rect">
            <a:avLst/>
          </a:prstGeom>
          <a:noFill/>
          <a:ln/>
        </p:spPr>
        <p:txBody>
          <a:bodyPr wrap="square" rtlCol="0" anchor="ctr"/>
          <a:lstStyle/>
          <a:p>
            <a:pPr indent="0" marL="0">
              <a:buNone/>
            </a:pPr>
            <a:r>
              <a:rPr lang="en-US" sz="950" dirty="0">
                <a:solidFill>
                  <a:srgbClr val="3D5472"/>
                </a:solidFill>
              </a:rPr>
              <a:t>Knowledge retrieval + memory + planning + inference optimization combined into a single production stack</a:t>
            </a:r>
            <a:endParaRPr lang="en-US" sz="950" dirty="0"/>
          </a:p>
        </p:txBody>
      </p:sp>
      <p:sp>
        <p:nvSpPr>
          <p:cNvPr id="38" name="Shape 36"/>
          <p:cNvSpPr/>
          <p:nvPr/>
        </p:nvSpPr>
        <p:spPr>
          <a:xfrm>
            <a:off x="274320" y="5650992"/>
            <a:ext cx="11612880" cy="594360"/>
          </a:xfrm>
          <a:prstGeom prst="roundRect">
            <a:avLst>
              <a:gd name="adj" fmla="val 12308"/>
            </a:avLst>
          </a:prstGeom>
          <a:solidFill>
            <a:srgbClr val="FFF8ED"/>
          </a:solidFill>
          <a:ln w="12700">
            <a:solidFill>
              <a:srgbClr val="000000"/>
            </a:solidFill>
            <a:prstDash val="solid"/>
          </a:ln>
        </p:spPr>
      </p:sp>
      <p:sp>
        <p:nvSpPr>
          <p:cNvPr id="39" name="Shape 37"/>
          <p:cNvSpPr/>
          <p:nvPr/>
        </p:nvSpPr>
        <p:spPr>
          <a:xfrm>
            <a:off x="274320" y="5650992"/>
            <a:ext cx="54864" cy="594360"/>
          </a:xfrm>
          <a:prstGeom prst="rect">
            <a:avLst/>
          </a:prstGeom>
          <a:solidFill>
            <a:srgbClr val="F59E0B"/>
          </a:solidFill>
          <a:ln w="12700">
            <a:solidFill>
              <a:srgbClr val="F59E0B"/>
            </a:solidFill>
            <a:prstDash val="solid"/>
          </a:ln>
        </p:spPr>
      </p:sp>
      <p:sp>
        <p:nvSpPr>
          <p:cNvPr id="40" name="Text 38"/>
          <p:cNvSpPr/>
          <p:nvPr/>
        </p:nvSpPr>
        <p:spPr>
          <a:xfrm>
            <a:off x="438912" y="5705856"/>
            <a:ext cx="3474720" cy="228600"/>
          </a:xfrm>
          <a:prstGeom prst="rect">
            <a:avLst/>
          </a:prstGeom>
          <a:noFill/>
          <a:ln/>
        </p:spPr>
        <p:txBody>
          <a:bodyPr wrap="square" rtlCol="0" anchor="ctr"/>
          <a:lstStyle/>
          <a:p>
            <a:pPr indent="0" marL="0">
              <a:buNone/>
            </a:pPr>
            <a:r>
              <a:rPr lang="en-US" sz="900" b="1" dirty="0">
                <a:solidFill>
                  <a:srgbClr val="F59E0B"/>
                </a:solidFill>
              </a:rPr>
              <a:t>⚠️  Open Question — The Bitter Lesson:</a:t>
            </a:r>
            <a:endParaRPr lang="en-US" sz="900" dirty="0"/>
          </a:p>
        </p:txBody>
      </p:sp>
      <p:sp>
        <p:nvSpPr>
          <p:cNvPr id="41" name="Text 39"/>
          <p:cNvSpPr/>
          <p:nvPr/>
        </p:nvSpPr>
        <p:spPr>
          <a:xfrm>
            <a:off x="3977640" y="5687568"/>
            <a:ext cx="7680960" cy="512064"/>
          </a:xfrm>
          <a:prstGeom prst="rect">
            <a:avLst/>
          </a:prstGeom>
          <a:noFill/>
          <a:ln/>
        </p:spPr>
        <p:txBody>
          <a:bodyPr wrap="square" rtlCol="0" anchor="ctr"/>
          <a:lstStyle/>
          <a:p>
            <a:pPr indent="0" marL="0">
              <a:buNone/>
            </a:pPr>
            <a:r>
              <a:rPr lang="en-US" sz="950" dirty="0">
                <a:solidFill>
                  <a:srgbClr val="3D5472"/>
                </a:solidFill>
              </a:rPr>
              <a:t>The most effective AI advances come from computation + general-purpose learning, not handcrafted heuristics. Which techniques will prove most scalable for real-world utility remains actively contested — and is where the next major infrastructure bets will be made.</a:t>
            </a:r>
            <a:endParaRPr lang="en-US" sz="950" dirty="0"/>
          </a:p>
        </p:txBody>
      </p:sp>
      <p:sp>
        <p:nvSpPr>
          <p:cNvPr id="42" name="Shape 40"/>
          <p:cNvSpPr/>
          <p:nvPr/>
        </p:nvSpPr>
        <p:spPr>
          <a:xfrm>
            <a:off x="0" y="6748272"/>
            <a:ext cx="12188952" cy="109728"/>
          </a:xfrm>
          <a:prstGeom prst="rect">
            <a:avLst/>
          </a:prstGeom>
          <a:solidFill>
            <a:srgbClr val="2F80ED"/>
          </a:solidFill>
          <a:ln w="12700">
            <a:solidFill>
              <a:srgbClr val="2F80ED"/>
            </a:solidFill>
            <a:prstDash val="solid"/>
          </a:ln>
        </p:spPr>
      </p:sp>
      <p:sp>
        <p:nvSpPr>
          <p:cNvPr id="43" name="Text 41"/>
          <p:cNvSpPr/>
          <p:nvPr/>
        </p:nvSpPr>
        <p:spPr>
          <a:xfrm>
            <a:off x="11274552" y="6748272"/>
            <a:ext cx="731520" cy="109728"/>
          </a:xfrm>
          <a:prstGeom prst="rect">
            <a:avLst/>
          </a:prstGeom>
          <a:noFill/>
          <a:ln/>
        </p:spPr>
        <p:txBody>
          <a:bodyPr wrap="square" rtlCol="0" anchor="ctr"/>
          <a:lstStyle/>
          <a:p>
            <a:pPr algn="r" indent="0" marL="0">
              <a:buNone/>
            </a:pPr>
            <a:r>
              <a:rPr lang="en-US" sz="700" dirty="0">
                <a:solidFill>
                  <a:srgbClr val="FFFFFF"/>
                </a:solidFill>
              </a:rPr>
              <a:t>4 / 11</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7FD"/>
          </a:solidFill>
          <a:ln w="12700">
            <a:solidFill>
              <a:srgbClr val="F4F7FD"/>
            </a:solidFill>
            <a:prstDash val="solid"/>
          </a:ln>
        </p:spPr>
      </p:sp>
      <p:sp>
        <p:nvSpPr>
          <p:cNvPr id="3" name="Shape 1"/>
          <p:cNvSpPr/>
          <p:nvPr/>
        </p:nvSpPr>
        <p:spPr>
          <a:xfrm>
            <a:off x="0" y="0"/>
            <a:ext cx="12188952" cy="502920"/>
          </a:xfrm>
          <a:prstGeom prst="rect">
            <a:avLst/>
          </a:prstGeom>
          <a:solidFill>
            <a:srgbClr val="FFFFFF"/>
          </a:solidFill>
          <a:ln w="6350">
            <a:solidFill>
              <a:srgbClr val="D5E3F7"/>
            </a:solidFill>
            <a:prstDash val="solid"/>
          </a:ln>
        </p:spPr>
      </p:sp>
      <p:sp>
        <p:nvSpPr>
          <p:cNvPr id="4" name="Text 2"/>
          <p:cNvSpPr/>
          <p:nvPr/>
        </p:nvSpPr>
        <p:spPr>
          <a:xfrm>
            <a:off x="274320" y="64008"/>
            <a:ext cx="1828800" cy="384048"/>
          </a:xfrm>
          <a:prstGeom prst="rect">
            <a:avLst/>
          </a:prstGeom>
          <a:noFill/>
          <a:ln/>
        </p:spPr>
        <p:txBody>
          <a:bodyPr wrap="square" rtlCol="0" anchor="ctr"/>
          <a:lstStyle/>
          <a:p>
            <a:pPr indent="0" marL="0">
              <a:buNone/>
            </a:pPr>
            <a:r>
              <a:rPr lang="en-US" sz="1700" b="1" dirty="0">
                <a:solidFill>
                  <a:srgbClr val="0D1E35"/>
                </a:solidFill>
                <a:latin typeface="Arial" pitchFamily="34" charset="0"/>
                <a:ea typeface="Arial" pitchFamily="34" charset="-122"/>
                <a:cs typeface="Arial" pitchFamily="34" charset="-120"/>
              </a:rPr>
              <a:t>razor</a:t>
            </a:r>
            <a:pPr indent="0" marL="0">
              <a:buNone/>
            </a:pPr>
            <a:r>
              <a:rPr lang="en-US" sz="1700" b="1" dirty="0">
                <a:solidFill>
                  <a:srgbClr val="2F80ED"/>
                </a:solidFill>
                <a:latin typeface="Arial" pitchFamily="34" charset="0"/>
                <a:ea typeface="Arial" pitchFamily="34" charset="-122"/>
                <a:cs typeface="Arial" pitchFamily="34" charset="-120"/>
              </a:rPr>
              <a:t>pay</a:t>
            </a:r>
            <a:endParaRPr lang="en-US" sz="1700" dirty="0"/>
          </a:p>
        </p:txBody>
      </p:sp>
      <p:sp>
        <p:nvSpPr>
          <p:cNvPr id="5" name="Text 3"/>
          <p:cNvSpPr/>
          <p:nvPr/>
        </p:nvSpPr>
        <p:spPr>
          <a:xfrm>
            <a:off x="9628632" y="155448"/>
            <a:ext cx="2286000" cy="201168"/>
          </a:xfrm>
          <a:prstGeom prst="rect">
            <a:avLst/>
          </a:prstGeom>
          <a:noFill/>
          <a:ln/>
        </p:spPr>
        <p:txBody>
          <a:bodyPr wrap="square" rtlCol="0" anchor="ctr"/>
          <a:lstStyle/>
          <a:p>
            <a:pPr algn="r" indent="0" marL="0">
              <a:buNone/>
            </a:pPr>
            <a:r>
              <a:rPr lang="en-US" sz="700" dirty="0">
                <a:solidFill>
                  <a:srgbClr val="7B96B8"/>
                </a:solidFill>
              </a:rPr>
              <a:t>CONFIDENTIAL · MARCH 2026</a:t>
            </a:r>
            <a:endParaRPr lang="en-US" sz="700" dirty="0"/>
          </a:p>
        </p:txBody>
      </p:sp>
      <p:sp>
        <p:nvSpPr>
          <p:cNvPr id="6" name="Shape 4"/>
          <p:cNvSpPr/>
          <p:nvPr/>
        </p:nvSpPr>
        <p:spPr>
          <a:xfrm>
            <a:off x="274320" y="594360"/>
            <a:ext cx="2286000" cy="201168"/>
          </a:xfrm>
          <a:prstGeom prst="roundRect">
            <a:avLst>
              <a:gd name="adj" fmla="val 18182"/>
            </a:avLst>
          </a:prstGeom>
          <a:solidFill>
            <a:srgbClr val="000000"/>
          </a:solidFill>
          <a:ln w="6350">
            <a:solidFill>
              <a:srgbClr val="000000"/>
            </a:solidFill>
            <a:prstDash val="solid"/>
          </a:ln>
        </p:spPr>
      </p:sp>
      <p:sp>
        <p:nvSpPr>
          <p:cNvPr id="7" name="Text 5"/>
          <p:cNvSpPr/>
          <p:nvPr/>
        </p:nvSpPr>
        <p:spPr>
          <a:xfrm>
            <a:off x="274320" y="594360"/>
            <a:ext cx="2286000" cy="201168"/>
          </a:xfrm>
          <a:prstGeom prst="rect">
            <a:avLst/>
          </a:prstGeom>
          <a:noFill/>
          <a:ln/>
        </p:spPr>
        <p:txBody>
          <a:bodyPr wrap="square" rtlCol="0" anchor="ctr"/>
          <a:lstStyle/>
          <a:p>
            <a:pPr algn="ctr" indent="0" marL="0">
              <a:buNone/>
            </a:pPr>
            <a:r>
              <a:rPr lang="en-US" sz="700" b="1" dirty="0">
                <a:solidFill>
                  <a:srgbClr val="2F80ED"/>
                </a:solidFill>
              </a:rPr>
              <a:t>04 — DEV + VERTICAL AI</a:t>
            </a:r>
            <a:endParaRPr lang="en-US" sz="700" dirty="0"/>
          </a:p>
        </p:txBody>
      </p:sp>
      <p:sp>
        <p:nvSpPr>
          <p:cNvPr id="8" name="Text 6"/>
          <p:cNvSpPr/>
          <p:nvPr/>
        </p:nvSpPr>
        <p:spPr>
          <a:xfrm>
            <a:off x="274320" y="877824"/>
            <a:ext cx="11612880" cy="566928"/>
          </a:xfrm>
          <a:prstGeom prst="rect">
            <a:avLst/>
          </a:prstGeom>
          <a:noFill/>
          <a:ln/>
        </p:spPr>
        <p:txBody>
          <a:bodyPr wrap="square" rtlCol="0" anchor="ctr"/>
          <a:lstStyle/>
          <a:p>
            <a:pPr indent="0" marL="0">
              <a:buNone/>
            </a:pPr>
            <a:r>
              <a:rPr lang="en-US" sz="2200" b="1" dirty="0">
                <a:solidFill>
                  <a:srgbClr val="0D1E35"/>
                </a:solidFill>
                <a:latin typeface="Arial" pitchFamily="34" charset="0"/>
                <a:ea typeface="Arial" pitchFamily="34" charset="-122"/>
                <a:cs typeface="Arial" pitchFamily="34" charset="-120"/>
              </a:rPr>
              <a:t>Developer Tooling + Vertical AI</a:t>
            </a:r>
            <a:endParaRPr lang="en-US" sz="2200" dirty="0"/>
          </a:p>
        </p:txBody>
      </p:sp>
      <p:sp>
        <p:nvSpPr>
          <p:cNvPr id="9" name="Text 7"/>
          <p:cNvSpPr/>
          <p:nvPr/>
        </p:nvSpPr>
        <p:spPr>
          <a:xfrm>
            <a:off x="274320" y="1444752"/>
            <a:ext cx="11612880" cy="384048"/>
          </a:xfrm>
          <a:prstGeom prst="rect">
            <a:avLst/>
          </a:prstGeom>
          <a:noFill/>
          <a:ln/>
        </p:spPr>
        <p:txBody>
          <a:bodyPr wrap="square" rtlCol="0" anchor="ctr"/>
          <a:lstStyle/>
          <a:p>
            <a:pPr indent="0" marL="0">
              <a:buNone/>
            </a:pPr>
            <a:r>
              <a:rPr lang="en-US" sz="1050" dirty="0">
                <a:solidFill>
                  <a:srgbClr val="3D5472"/>
                </a:solidFill>
              </a:rPr>
              <a:t>Two of the most consequential AI shifts: how software is built (dev tooling), and what software now automates (vertical AI). Both are forming stable, high-value galaxies.</a:t>
            </a:r>
            <a:endParaRPr lang="en-US" sz="1050" dirty="0"/>
          </a:p>
        </p:txBody>
      </p:sp>
      <p:sp>
        <p:nvSpPr>
          <p:cNvPr id="10" name="Text 8"/>
          <p:cNvSpPr/>
          <p:nvPr/>
        </p:nvSpPr>
        <p:spPr>
          <a:xfrm>
            <a:off x="274320" y="1901952"/>
            <a:ext cx="5486400" cy="182880"/>
          </a:xfrm>
          <a:prstGeom prst="rect">
            <a:avLst/>
          </a:prstGeom>
          <a:noFill/>
          <a:ln/>
        </p:spPr>
        <p:txBody>
          <a:bodyPr wrap="square" rtlCol="0" anchor="ctr"/>
          <a:lstStyle/>
          <a:p>
            <a:pPr indent="0" marL="0">
              <a:buNone/>
            </a:pPr>
            <a:r>
              <a:rPr lang="en-US" sz="800" b="1" dirty="0">
                <a:solidFill>
                  <a:srgbClr val="7B96B8"/>
                </a:solidFill>
              </a:rPr>
              <a:t>DEVELOPER PLATFORMS &amp; TOOLING</a:t>
            </a:r>
            <a:endParaRPr lang="en-US" sz="800" dirty="0"/>
          </a:p>
        </p:txBody>
      </p:sp>
      <p:sp>
        <p:nvSpPr>
          <p:cNvPr id="11" name="Shape 9"/>
          <p:cNvSpPr/>
          <p:nvPr/>
        </p:nvSpPr>
        <p:spPr>
          <a:xfrm>
            <a:off x="274320" y="2139696"/>
            <a:ext cx="5486400" cy="1234440"/>
          </a:xfrm>
          <a:prstGeom prst="roundRect">
            <a:avLst>
              <a:gd name="adj" fmla="val 7407"/>
            </a:avLst>
          </a:prstGeom>
          <a:solidFill>
            <a:srgbClr val="FFFFFF"/>
          </a:solidFill>
          <a:ln w="6350">
            <a:solidFill>
              <a:srgbClr val="D5E3F7"/>
            </a:solidFill>
            <a:prstDash val="solid"/>
          </a:ln>
        </p:spPr>
      </p:sp>
      <p:sp>
        <p:nvSpPr>
          <p:cNvPr id="12" name="Shape 10"/>
          <p:cNvSpPr/>
          <p:nvPr/>
        </p:nvSpPr>
        <p:spPr>
          <a:xfrm>
            <a:off x="274320" y="2139696"/>
            <a:ext cx="54864" cy="1234440"/>
          </a:xfrm>
          <a:prstGeom prst="rect">
            <a:avLst/>
          </a:prstGeom>
          <a:solidFill>
            <a:srgbClr val="2F80ED"/>
          </a:solidFill>
          <a:ln w="12700">
            <a:solidFill>
              <a:srgbClr val="2F80ED"/>
            </a:solidFill>
            <a:prstDash val="solid"/>
          </a:ln>
        </p:spPr>
      </p:sp>
      <p:sp>
        <p:nvSpPr>
          <p:cNvPr id="13" name="Shape 11"/>
          <p:cNvSpPr/>
          <p:nvPr/>
        </p:nvSpPr>
        <p:spPr>
          <a:xfrm>
            <a:off x="438912" y="2267712"/>
            <a:ext cx="1097280" cy="182880"/>
          </a:xfrm>
          <a:prstGeom prst="roundRect">
            <a:avLst>
              <a:gd name="adj" fmla="val 20000"/>
            </a:avLst>
          </a:prstGeom>
          <a:solidFill>
            <a:srgbClr val="000000"/>
          </a:solidFill>
          <a:ln w="12700">
            <a:solidFill>
              <a:srgbClr val="000000"/>
            </a:solidFill>
            <a:prstDash val="solid"/>
          </a:ln>
        </p:spPr>
      </p:sp>
      <p:sp>
        <p:nvSpPr>
          <p:cNvPr id="14" name="Text 12"/>
          <p:cNvSpPr/>
          <p:nvPr/>
        </p:nvSpPr>
        <p:spPr>
          <a:xfrm>
            <a:off x="438912" y="2267712"/>
            <a:ext cx="1097280" cy="182880"/>
          </a:xfrm>
          <a:prstGeom prst="rect">
            <a:avLst/>
          </a:prstGeom>
          <a:noFill/>
          <a:ln/>
        </p:spPr>
        <p:txBody>
          <a:bodyPr wrap="square" rtlCol="0" anchor="ctr"/>
          <a:lstStyle/>
          <a:p>
            <a:pPr algn="ctr" indent="0" marL="0">
              <a:buNone/>
            </a:pPr>
            <a:r>
              <a:rPr lang="en-US" sz="650" b="1" dirty="0">
                <a:solidFill>
                  <a:srgbClr val="12C479"/>
                </a:solidFill>
              </a:rPr>
              <a:t>GALAXY FORMED</a:t>
            </a:r>
            <a:endParaRPr lang="en-US" sz="650" dirty="0"/>
          </a:p>
        </p:txBody>
      </p:sp>
      <p:sp>
        <p:nvSpPr>
          <p:cNvPr id="15" name="Text 13"/>
          <p:cNvSpPr/>
          <p:nvPr/>
        </p:nvSpPr>
        <p:spPr>
          <a:xfrm>
            <a:off x="438912" y="2487168"/>
            <a:ext cx="5120640" cy="256032"/>
          </a:xfrm>
          <a:prstGeom prst="rect">
            <a:avLst/>
          </a:prstGeom>
          <a:noFill/>
          <a:ln/>
        </p:spPr>
        <p:txBody>
          <a:bodyPr wrap="square" rtlCol="0" anchor="ctr"/>
          <a:lstStyle/>
          <a:p>
            <a:pPr indent="0" marL="0">
              <a:buNone/>
            </a:pPr>
            <a:r>
              <a:rPr lang="en-US" sz="1100" b="1" dirty="0">
                <a:solidFill>
                  <a:srgbClr val="0D1E35"/>
                </a:solidFill>
              </a:rPr>
              <a:t>AI Engineering as a discipline</a:t>
            </a:r>
            <a:endParaRPr lang="en-US" sz="1100" dirty="0"/>
          </a:p>
        </p:txBody>
      </p:sp>
      <p:sp>
        <p:nvSpPr>
          <p:cNvPr id="16" name="Text 14"/>
          <p:cNvSpPr/>
          <p:nvPr/>
        </p:nvSpPr>
        <p:spPr>
          <a:xfrm>
            <a:off x="438912" y="2743200"/>
            <a:ext cx="5120640" cy="530352"/>
          </a:xfrm>
          <a:prstGeom prst="rect">
            <a:avLst/>
          </a:prstGeom>
          <a:noFill/>
          <a:ln/>
        </p:spPr>
        <p:txBody>
          <a:bodyPr wrap="square" rtlCol="0" anchor="ctr"/>
          <a:lstStyle/>
          <a:p>
            <a:pPr indent="0" marL="0">
              <a:buNone/>
            </a:pPr>
            <a:r>
              <a:rPr lang="en-US" sz="950" dirty="0">
                <a:solidFill>
                  <a:srgbClr val="3D5472"/>
                </a:solidFill>
              </a:rPr>
              <a:t>Natural language is the new programming interface. Prompts are programs. The best teams build systems that learn, adapt, and ship faster every cycle.</a:t>
            </a:r>
            <a:endParaRPr lang="en-US" sz="950" dirty="0"/>
          </a:p>
        </p:txBody>
      </p:sp>
      <p:sp>
        <p:nvSpPr>
          <p:cNvPr id="17" name="Shape 15"/>
          <p:cNvSpPr/>
          <p:nvPr/>
        </p:nvSpPr>
        <p:spPr>
          <a:xfrm>
            <a:off x="274320" y="3483864"/>
            <a:ext cx="5486400" cy="1234440"/>
          </a:xfrm>
          <a:prstGeom prst="roundRect">
            <a:avLst>
              <a:gd name="adj" fmla="val 7407"/>
            </a:avLst>
          </a:prstGeom>
          <a:solidFill>
            <a:srgbClr val="FFFFFF"/>
          </a:solidFill>
          <a:ln w="6350">
            <a:solidFill>
              <a:srgbClr val="D5E3F7"/>
            </a:solidFill>
            <a:prstDash val="solid"/>
          </a:ln>
        </p:spPr>
      </p:sp>
      <p:sp>
        <p:nvSpPr>
          <p:cNvPr id="18" name="Shape 16"/>
          <p:cNvSpPr/>
          <p:nvPr/>
        </p:nvSpPr>
        <p:spPr>
          <a:xfrm>
            <a:off x="274320" y="3483864"/>
            <a:ext cx="54864" cy="1234440"/>
          </a:xfrm>
          <a:prstGeom prst="rect">
            <a:avLst/>
          </a:prstGeom>
          <a:solidFill>
            <a:srgbClr val="2F80ED"/>
          </a:solidFill>
          <a:ln w="12700">
            <a:solidFill>
              <a:srgbClr val="2F80ED"/>
            </a:solidFill>
            <a:prstDash val="solid"/>
          </a:ln>
        </p:spPr>
      </p:sp>
      <p:sp>
        <p:nvSpPr>
          <p:cNvPr id="19" name="Shape 17"/>
          <p:cNvSpPr/>
          <p:nvPr/>
        </p:nvSpPr>
        <p:spPr>
          <a:xfrm>
            <a:off x="438912" y="3611880"/>
            <a:ext cx="1097280" cy="182880"/>
          </a:xfrm>
          <a:prstGeom prst="roundRect">
            <a:avLst>
              <a:gd name="adj" fmla="val 20000"/>
            </a:avLst>
          </a:prstGeom>
          <a:solidFill>
            <a:srgbClr val="000000"/>
          </a:solidFill>
          <a:ln w="12700">
            <a:solidFill>
              <a:srgbClr val="000000"/>
            </a:solidFill>
            <a:prstDash val="solid"/>
          </a:ln>
        </p:spPr>
      </p:sp>
      <p:sp>
        <p:nvSpPr>
          <p:cNvPr id="20" name="Text 18"/>
          <p:cNvSpPr/>
          <p:nvPr/>
        </p:nvSpPr>
        <p:spPr>
          <a:xfrm>
            <a:off x="438912" y="3611880"/>
            <a:ext cx="1097280" cy="182880"/>
          </a:xfrm>
          <a:prstGeom prst="rect">
            <a:avLst/>
          </a:prstGeom>
          <a:noFill/>
          <a:ln/>
        </p:spPr>
        <p:txBody>
          <a:bodyPr wrap="square" rtlCol="0" anchor="ctr"/>
          <a:lstStyle/>
          <a:p>
            <a:pPr algn="ctr" indent="0" marL="0">
              <a:buNone/>
            </a:pPr>
            <a:r>
              <a:rPr lang="en-US" sz="650" b="1" dirty="0">
                <a:solidFill>
                  <a:srgbClr val="2F80ED"/>
                </a:solidFill>
              </a:rPr>
              <a:t>GALAXY FORMING</a:t>
            </a:r>
            <a:endParaRPr lang="en-US" sz="650" dirty="0"/>
          </a:p>
        </p:txBody>
      </p:sp>
      <p:sp>
        <p:nvSpPr>
          <p:cNvPr id="21" name="Text 19"/>
          <p:cNvSpPr/>
          <p:nvPr/>
        </p:nvSpPr>
        <p:spPr>
          <a:xfrm>
            <a:off x="438912" y="3831336"/>
            <a:ext cx="5120640" cy="256032"/>
          </a:xfrm>
          <a:prstGeom prst="rect">
            <a:avLst/>
          </a:prstGeom>
          <a:noFill/>
          <a:ln/>
        </p:spPr>
        <p:txBody>
          <a:bodyPr wrap="square" rtlCol="0" anchor="ctr"/>
          <a:lstStyle/>
          <a:p>
            <a:pPr indent="0" marL="0">
              <a:buNone/>
            </a:pPr>
            <a:r>
              <a:rPr lang="en-US" sz="1100" b="1" dirty="0">
                <a:solidFill>
                  <a:srgbClr val="0D1E35"/>
                </a:solidFill>
              </a:rPr>
              <a:t>Model Context Protocol (MCP)</a:t>
            </a:r>
            <a:endParaRPr lang="en-US" sz="1100" dirty="0"/>
          </a:p>
        </p:txBody>
      </p:sp>
      <p:sp>
        <p:nvSpPr>
          <p:cNvPr id="22" name="Text 20"/>
          <p:cNvSpPr/>
          <p:nvPr/>
        </p:nvSpPr>
        <p:spPr>
          <a:xfrm>
            <a:off x="438912" y="4087368"/>
            <a:ext cx="5120640" cy="530352"/>
          </a:xfrm>
          <a:prstGeom prst="rect">
            <a:avLst/>
          </a:prstGeom>
          <a:noFill/>
          <a:ln/>
        </p:spPr>
        <p:txBody>
          <a:bodyPr wrap="square" rtlCol="0" anchor="ctr"/>
          <a:lstStyle/>
          <a:p>
            <a:pPr indent="0" marL="0">
              <a:buNone/>
            </a:pPr>
            <a:r>
              <a:rPr lang="en-US" sz="950" dirty="0">
                <a:solidFill>
                  <a:srgbClr val="3D5472"/>
                </a:solidFill>
              </a:rPr>
              <a:t>The "USB-C of AI" — introduced in late 2024, adopted by OpenAI, Google, Microsoft. Universal spec for agents to access APIs, tools, and real-time data.</a:t>
            </a:r>
            <a:endParaRPr lang="en-US" sz="950" dirty="0"/>
          </a:p>
        </p:txBody>
      </p:sp>
      <p:sp>
        <p:nvSpPr>
          <p:cNvPr id="23" name="Shape 21"/>
          <p:cNvSpPr/>
          <p:nvPr/>
        </p:nvSpPr>
        <p:spPr>
          <a:xfrm>
            <a:off x="274320" y="4828032"/>
            <a:ext cx="5486400" cy="1234440"/>
          </a:xfrm>
          <a:prstGeom prst="roundRect">
            <a:avLst>
              <a:gd name="adj" fmla="val 7407"/>
            </a:avLst>
          </a:prstGeom>
          <a:solidFill>
            <a:srgbClr val="FFFFFF"/>
          </a:solidFill>
          <a:ln w="6350">
            <a:solidFill>
              <a:srgbClr val="D5E3F7"/>
            </a:solidFill>
            <a:prstDash val="solid"/>
          </a:ln>
        </p:spPr>
      </p:sp>
      <p:sp>
        <p:nvSpPr>
          <p:cNvPr id="24" name="Shape 22"/>
          <p:cNvSpPr/>
          <p:nvPr/>
        </p:nvSpPr>
        <p:spPr>
          <a:xfrm>
            <a:off x="274320" y="4828032"/>
            <a:ext cx="54864" cy="1234440"/>
          </a:xfrm>
          <a:prstGeom prst="rect">
            <a:avLst/>
          </a:prstGeom>
          <a:solidFill>
            <a:srgbClr val="2F80ED"/>
          </a:solidFill>
          <a:ln w="12700">
            <a:solidFill>
              <a:srgbClr val="2F80ED"/>
            </a:solidFill>
            <a:prstDash val="solid"/>
          </a:ln>
        </p:spPr>
      </p:sp>
      <p:sp>
        <p:nvSpPr>
          <p:cNvPr id="25" name="Shape 23"/>
          <p:cNvSpPr/>
          <p:nvPr/>
        </p:nvSpPr>
        <p:spPr>
          <a:xfrm>
            <a:off x="438912" y="4956048"/>
            <a:ext cx="1097280" cy="182880"/>
          </a:xfrm>
          <a:prstGeom prst="roundRect">
            <a:avLst>
              <a:gd name="adj" fmla="val 20000"/>
            </a:avLst>
          </a:prstGeom>
          <a:solidFill>
            <a:srgbClr val="000000"/>
          </a:solidFill>
          <a:ln w="12700">
            <a:solidFill>
              <a:srgbClr val="000000"/>
            </a:solidFill>
            <a:prstDash val="solid"/>
          </a:ln>
        </p:spPr>
      </p:sp>
      <p:sp>
        <p:nvSpPr>
          <p:cNvPr id="26" name="Text 24"/>
          <p:cNvSpPr/>
          <p:nvPr/>
        </p:nvSpPr>
        <p:spPr>
          <a:xfrm>
            <a:off x="438912" y="4956048"/>
            <a:ext cx="1097280" cy="182880"/>
          </a:xfrm>
          <a:prstGeom prst="rect">
            <a:avLst/>
          </a:prstGeom>
          <a:noFill/>
          <a:ln/>
        </p:spPr>
        <p:txBody>
          <a:bodyPr wrap="square" rtlCol="0" anchor="ctr"/>
          <a:lstStyle/>
          <a:p>
            <a:pPr algn="ctr" indent="0" marL="0">
              <a:buNone/>
            </a:pPr>
            <a:r>
              <a:rPr lang="en-US" sz="650" b="1" dirty="0">
                <a:solidFill>
                  <a:srgbClr val="F59E0B"/>
                </a:solidFill>
              </a:rPr>
              <a:t>DARK MATTER</a:t>
            </a:r>
            <a:endParaRPr lang="en-US" sz="650" dirty="0"/>
          </a:p>
        </p:txBody>
      </p:sp>
      <p:sp>
        <p:nvSpPr>
          <p:cNvPr id="27" name="Text 25"/>
          <p:cNvSpPr/>
          <p:nvPr/>
        </p:nvSpPr>
        <p:spPr>
          <a:xfrm>
            <a:off x="438912" y="5175504"/>
            <a:ext cx="5120640" cy="256032"/>
          </a:xfrm>
          <a:prstGeom prst="rect">
            <a:avLst/>
          </a:prstGeom>
          <a:noFill/>
          <a:ln/>
        </p:spPr>
        <p:txBody>
          <a:bodyPr wrap="square" rtlCol="0" anchor="ctr"/>
          <a:lstStyle/>
          <a:p>
            <a:pPr indent="0" marL="0">
              <a:buNone/>
            </a:pPr>
            <a:r>
              <a:rPr lang="en-US" sz="1100" b="1" dirty="0">
                <a:solidFill>
                  <a:srgbClr val="0D1E35"/>
                </a:solidFill>
              </a:rPr>
              <a:t>Memory &amp; Context Infrastructure</a:t>
            </a:r>
            <a:endParaRPr lang="en-US" sz="1100" dirty="0"/>
          </a:p>
        </p:txBody>
      </p:sp>
      <p:sp>
        <p:nvSpPr>
          <p:cNvPr id="28" name="Text 26"/>
          <p:cNvSpPr/>
          <p:nvPr/>
        </p:nvSpPr>
        <p:spPr>
          <a:xfrm>
            <a:off x="438912" y="5431536"/>
            <a:ext cx="5120640" cy="530352"/>
          </a:xfrm>
          <a:prstGeom prst="rect">
            <a:avLst/>
          </a:prstGeom>
          <a:noFill/>
          <a:ln/>
        </p:spPr>
        <p:txBody>
          <a:bodyPr wrap="square" rtlCol="0" anchor="ctr"/>
          <a:lstStyle/>
          <a:p>
            <a:pPr indent="0" marL="0">
              <a:buNone/>
            </a:pPr>
            <a:r>
              <a:rPr lang="en-US" sz="950" dirty="0">
                <a:solidFill>
                  <a:srgbClr val="3D5472"/>
                </a:solidFill>
              </a:rPr>
              <a:t>Persistent cross-session memory remains unsolved. mem0, Zep, SuperMemory, LangMem are pioneering this layer. Context and memory may be the new moats.</a:t>
            </a:r>
            <a:endParaRPr lang="en-US" sz="950" dirty="0"/>
          </a:p>
        </p:txBody>
      </p:sp>
      <p:sp>
        <p:nvSpPr>
          <p:cNvPr id="29" name="Text 27"/>
          <p:cNvSpPr/>
          <p:nvPr/>
        </p:nvSpPr>
        <p:spPr>
          <a:xfrm>
            <a:off x="6035040" y="1901952"/>
            <a:ext cx="5852160" cy="182880"/>
          </a:xfrm>
          <a:prstGeom prst="rect">
            <a:avLst/>
          </a:prstGeom>
          <a:noFill/>
          <a:ln/>
        </p:spPr>
        <p:txBody>
          <a:bodyPr wrap="square" rtlCol="0" anchor="ctr"/>
          <a:lstStyle/>
          <a:p>
            <a:pPr indent="0" marL="0">
              <a:buNone/>
            </a:pPr>
            <a:r>
              <a:rPr lang="en-US" sz="800" b="1" dirty="0">
                <a:solidFill>
                  <a:srgbClr val="7B96B8"/>
                </a:solidFill>
              </a:rPr>
              <a:t>VERTICAL AI — THE NEW SAAS</a:t>
            </a:r>
            <a:endParaRPr lang="en-US" sz="800" dirty="0"/>
          </a:p>
        </p:txBody>
      </p:sp>
      <p:sp>
        <p:nvSpPr>
          <p:cNvPr id="30" name="Text 28"/>
          <p:cNvSpPr/>
          <p:nvPr/>
        </p:nvSpPr>
        <p:spPr>
          <a:xfrm>
            <a:off x="6035040" y="2121408"/>
            <a:ext cx="5852160" cy="438912"/>
          </a:xfrm>
          <a:prstGeom prst="rect">
            <a:avLst/>
          </a:prstGeom>
          <a:noFill/>
          <a:ln/>
        </p:spPr>
        <p:txBody>
          <a:bodyPr wrap="square" rtlCol="0" anchor="ctr"/>
          <a:lstStyle/>
          <a:p>
            <a:pPr indent="0" marL="0">
              <a:buNone/>
            </a:pPr>
            <a:r>
              <a:rPr lang="en-US" sz="950" dirty="0">
                <a:solidFill>
                  <a:srgbClr val="3D5472"/>
                </a:solidFill>
              </a:rPr>
              <a:t>Adoption accelerating in industries long considered "technophobic." Traditional SaaS failed to solve multi-modal, language-heavy tasks that Vertical AI finally addresses.</a:t>
            </a:r>
            <a:endParaRPr lang="en-US" sz="950" dirty="0"/>
          </a:p>
        </p:txBody>
      </p:sp>
      <p:sp>
        <p:nvSpPr>
          <p:cNvPr id="31" name="Shape 29"/>
          <p:cNvSpPr/>
          <p:nvPr/>
        </p:nvSpPr>
        <p:spPr>
          <a:xfrm>
            <a:off x="6035040" y="2624328"/>
            <a:ext cx="5852160" cy="658368"/>
          </a:xfrm>
          <a:prstGeom prst="roundRect">
            <a:avLst>
              <a:gd name="adj" fmla="val 9722"/>
            </a:avLst>
          </a:prstGeom>
          <a:solidFill>
            <a:srgbClr val="F4F7FD"/>
          </a:solidFill>
          <a:ln w="12700">
            <a:solidFill>
              <a:srgbClr val="D5E3F7"/>
            </a:solidFill>
            <a:prstDash val="solid"/>
          </a:ln>
        </p:spPr>
      </p:sp>
      <p:sp>
        <p:nvSpPr>
          <p:cNvPr id="32" name="Text 30"/>
          <p:cNvSpPr/>
          <p:nvPr/>
        </p:nvSpPr>
        <p:spPr>
          <a:xfrm>
            <a:off x="6217920" y="2715768"/>
            <a:ext cx="1371600" cy="237744"/>
          </a:xfrm>
          <a:prstGeom prst="rect">
            <a:avLst/>
          </a:prstGeom>
          <a:noFill/>
          <a:ln/>
        </p:spPr>
        <p:txBody>
          <a:bodyPr wrap="square" rtlCol="0" anchor="ctr"/>
          <a:lstStyle/>
          <a:p>
            <a:pPr indent="0" marL="0">
              <a:buNone/>
            </a:pPr>
            <a:r>
              <a:rPr lang="en-US" sz="1000" b="1" dirty="0">
                <a:solidFill>
                  <a:srgbClr val="0D1E35"/>
                </a:solidFill>
              </a:rPr>
              <a:t>🏥 Healthcare</a:t>
            </a:r>
            <a:endParaRPr lang="en-US" sz="1000" dirty="0"/>
          </a:p>
        </p:txBody>
      </p:sp>
      <p:sp>
        <p:nvSpPr>
          <p:cNvPr id="33" name="Text 31"/>
          <p:cNvSpPr/>
          <p:nvPr/>
        </p:nvSpPr>
        <p:spPr>
          <a:xfrm>
            <a:off x="7635240" y="2715768"/>
            <a:ext cx="2560320" cy="237744"/>
          </a:xfrm>
          <a:prstGeom prst="rect">
            <a:avLst/>
          </a:prstGeom>
          <a:noFill/>
          <a:ln/>
        </p:spPr>
        <p:txBody>
          <a:bodyPr wrap="square" rtlCol="0" anchor="ctr"/>
          <a:lstStyle/>
          <a:p>
            <a:pPr indent="0" marL="0">
              <a:buNone/>
            </a:pPr>
            <a:r>
              <a:rPr lang="en-US" sz="1000" b="1" dirty="0">
                <a:solidFill>
                  <a:srgbClr val="2F80ED"/>
                </a:solidFill>
              </a:rPr>
              <a:t>Abridge, SmarterDx</a:t>
            </a:r>
            <a:endParaRPr lang="en-US" sz="1000" dirty="0"/>
          </a:p>
        </p:txBody>
      </p:sp>
      <p:sp>
        <p:nvSpPr>
          <p:cNvPr id="34" name="Text 32"/>
          <p:cNvSpPr/>
          <p:nvPr/>
        </p:nvSpPr>
        <p:spPr>
          <a:xfrm>
            <a:off x="6217920" y="2971800"/>
            <a:ext cx="5486400" cy="237744"/>
          </a:xfrm>
          <a:prstGeom prst="rect">
            <a:avLst/>
          </a:prstGeom>
          <a:noFill/>
          <a:ln/>
        </p:spPr>
        <p:txBody>
          <a:bodyPr wrap="square" rtlCol="0" anchor="ctr"/>
          <a:lstStyle/>
          <a:p>
            <a:pPr indent="0" marL="0">
              <a:buNone/>
            </a:pPr>
            <a:r>
              <a:rPr lang="en-US" sz="900" dirty="0">
                <a:solidFill>
                  <a:srgbClr val="7B96B8"/>
                </a:solidFill>
              </a:rPr>
              <a:t>Clinical notes, revenue cycle coding automation</a:t>
            </a:r>
            <a:endParaRPr lang="en-US" sz="900" dirty="0"/>
          </a:p>
        </p:txBody>
      </p:sp>
      <p:sp>
        <p:nvSpPr>
          <p:cNvPr id="35" name="Shape 33"/>
          <p:cNvSpPr/>
          <p:nvPr/>
        </p:nvSpPr>
        <p:spPr>
          <a:xfrm>
            <a:off x="6035040" y="3374136"/>
            <a:ext cx="5852160" cy="658368"/>
          </a:xfrm>
          <a:prstGeom prst="roundRect">
            <a:avLst>
              <a:gd name="adj" fmla="val 9722"/>
            </a:avLst>
          </a:prstGeom>
          <a:solidFill>
            <a:srgbClr val="F4F7FD"/>
          </a:solidFill>
          <a:ln w="12700">
            <a:solidFill>
              <a:srgbClr val="D5E3F7"/>
            </a:solidFill>
            <a:prstDash val="solid"/>
          </a:ln>
        </p:spPr>
      </p:sp>
      <p:sp>
        <p:nvSpPr>
          <p:cNvPr id="36" name="Text 34"/>
          <p:cNvSpPr/>
          <p:nvPr/>
        </p:nvSpPr>
        <p:spPr>
          <a:xfrm>
            <a:off x="6217920" y="3465576"/>
            <a:ext cx="1371600" cy="237744"/>
          </a:xfrm>
          <a:prstGeom prst="rect">
            <a:avLst/>
          </a:prstGeom>
          <a:noFill/>
          <a:ln/>
        </p:spPr>
        <p:txBody>
          <a:bodyPr wrap="square" rtlCol="0" anchor="ctr"/>
          <a:lstStyle/>
          <a:p>
            <a:pPr indent="0" marL="0">
              <a:buNone/>
            </a:pPr>
            <a:r>
              <a:rPr lang="en-US" sz="1000" b="1" dirty="0">
                <a:solidFill>
                  <a:srgbClr val="0D1E35"/>
                </a:solidFill>
              </a:rPr>
              <a:t>⚖️ Legal</a:t>
            </a:r>
            <a:endParaRPr lang="en-US" sz="1000" dirty="0"/>
          </a:p>
        </p:txBody>
      </p:sp>
      <p:sp>
        <p:nvSpPr>
          <p:cNvPr id="37" name="Text 35"/>
          <p:cNvSpPr/>
          <p:nvPr/>
        </p:nvSpPr>
        <p:spPr>
          <a:xfrm>
            <a:off x="7635240" y="3465576"/>
            <a:ext cx="2560320" cy="237744"/>
          </a:xfrm>
          <a:prstGeom prst="rect">
            <a:avLst/>
          </a:prstGeom>
          <a:noFill/>
          <a:ln/>
        </p:spPr>
        <p:txBody>
          <a:bodyPr wrap="square" rtlCol="0" anchor="ctr"/>
          <a:lstStyle/>
          <a:p>
            <a:pPr indent="0" marL="0">
              <a:buNone/>
            </a:pPr>
            <a:r>
              <a:rPr lang="en-US" sz="1000" b="1" dirty="0">
                <a:solidFill>
                  <a:srgbClr val="2F80ED"/>
                </a:solidFill>
              </a:rPr>
              <a:t>EvenUp, Ivo, Legora</a:t>
            </a:r>
            <a:endParaRPr lang="en-US" sz="1000" dirty="0"/>
          </a:p>
        </p:txBody>
      </p:sp>
      <p:sp>
        <p:nvSpPr>
          <p:cNvPr id="38" name="Text 36"/>
          <p:cNvSpPr/>
          <p:nvPr/>
        </p:nvSpPr>
        <p:spPr>
          <a:xfrm>
            <a:off x="6217920" y="3721608"/>
            <a:ext cx="5486400" cy="237744"/>
          </a:xfrm>
          <a:prstGeom prst="rect">
            <a:avLst/>
          </a:prstGeom>
          <a:noFill/>
          <a:ln/>
        </p:spPr>
        <p:txBody>
          <a:bodyPr wrap="square" rtlCol="0" anchor="ctr"/>
          <a:lstStyle/>
          <a:p>
            <a:pPr indent="0" marL="0">
              <a:buNone/>
            </a:pPr>
            <a:r>
              <a:rPr lang="en-US" sz="900" dirty="0">
                <a:solidFill>
                  <a:srgbClr val="7B96B8"/>
                </a:solidFill>
              </a:rPr>
              <a:t>Demand packages, contract review, legal research</a:t>
            </a:r>
            <a:endParaRPr lang="en-US" sz="900" dirty="0"/>
          </a:p>
        </p:txBody>
      </p:sp>
      <p:sp>
        <p:nvSpPr>
          <p:cNvPr id="39" name="Shape 37"/>
          <p:cNvSpPr/>
          <p:nvPr/>
        </p:nvSpPr>
        <p:spPr>
          <a:xfrm>
            <a:off x="6035040" y="4123944"/>
            <a:ext cx="5852160" cy="658368"/>
          </a:xfrm>
          <a:prstGeom prst="roundRect">
            <a:avLst>
              <a:gd name="adj" fmla="val 9722"/>
            </a:avLst>
          </a:prstGeom>
          <a:solidFill>
            <a:srgbClr val="F4F7FD"/>
          </a:solidFill>
          <a:ln w="12700">
            <a:solidFill>
              <a:srgbClr val="D5E3F7"/>
            </a:solidFill>
            <a:prstDash val="solid"/>
          </a:ln>
        </p:spPr>
      </p:sp>
      <p:sp>
        <p:nvSpPr>
          <p:cNvPr id="40" name="Text 38"/>
          <p:cNvSpPr/>
          <p:nvPr/>
        </p:nvSpPr>
        <p:spPr>
          <a:xfrm>
            <a:off x="6217920" y="4215384"/>
            <a:ext cx="1371600" cy="237744"/>
          </a:xfrm>
          <a:prstGeom prst="rect">
            <a:avLst/>
          </a:prstGeom>
          <a:noFill/>
          <a:ln/>
        </p:spPr>
        <p:txBody>
          <a:bodyPr wrap="square" rtlCol="0" anchor="ctr"/>
          <a:lstStyle/>
          <a:p>
            <a:pPr indent="0" marL="0">
              <a:buNone/>
            </a:pPr>
            <a:r>
              <a:rPr lang="en-US" sz="1000" b="1" dirty="0">
                <a:solidFill>
                  <a:srgbClr val="0D1E35"/>
                </a:solidFill>
              </a:rPr>
              <a:t>🏠 Real Estate</a:t>
            </a:r>
            <a:endParaRPr lang="en-US" sz="1000" dirty="0"/>
          </a:p>
        </p:txBody>
      </p:sp>
      <p:sp>
        <p:nvSpPr>
          <p:cNvPr id="41" name="Text 39"/>
          <p:cNvSpPr/>
          <p:nvPr/>
        </p:nvSpPr>
        <p:spPr>
          <a:xfrm>
            <a:off x="7635240" y="4215384"/>
            <a:ext cx="2560320" cy="237744"/>
          </a:xfrm>
          <a:prstGeom prst="rect">
            <a:avLst/>
          </a:prstGeom>
          <a:noFill/>
          <a:ln/>
        </p:spPr>
        <p:txBody>
          <a:bodyPr wrap="square" rtlCol="0" anchor="ctr"/>
          <a:lstStyle/>
          <a:p>
            <a:pPr indent="0" marL="0">
              <a:buNone/>
            </a:pPr>
            <a:r>
              <a:rPr lang="en-US" sz="1000" b="1" dirty="0">
                <a:solidFill>
                  <a:srgbClr val="2F80ED"/>
                </a:solidFill>
              </a:rPr>
              <a:t>EliseAI</a:t>
            </a:r>
            <a:endParaRPr lang="en-US" sz="1000" dirty="0"/>
          </a:p>
        </p:txBody>
      </p:sp>
      <p:sp>
        <p:nvSpPr>
          <p:cNvPr id="42" name="Text 40"/>
          <p:cNvSpPr/>
          <p:nvPr/>
        </p:nvSpPr>
        <p:spPr>
          <a:xfrm>
            <a:off x="6217920" y="4471416"/>
            <a:ext cx="5486400" cy="237744"/>
          </a:xfrm>
          <a:prstGeom prst="rect">
            <a:avLst/>
          </a:prstGeom>
          <a:noFill/>
          <a:ln/>
        </p:spPr>
        <p:txBody>
          <a:bodyPr wrap="square" rtlCol="0" anchor="ctr"/>
          <a:lstStyle/>
          <a:p>
            <a:pPr indent="0" marL="0">
              <a:buNone/>
            </a:pPr>
            <a:r>
              <a:rPr lang="en-US" sz="900" dirty="0">
                <a:solidFill>
                  <a:srgbClr val="7B96B8"/>
                </a:solidFill>
              </a:rPr>
              <a:t>Property management, prospect comms, lease audits</a:t>
            </a:r>
            <a:endParaRPr lang="en-US" sz="900" dirty="0"/>
          </a:p>
        </p:txBody>
      </p:sp>
      <p:sp>
        <p:nvSpPr>
          <p:cNvPr id="43" name="Shape 41"/>
          <p:cNvSpPr/>
          <p:nvPr/>
        </p:nvSpPr>
        <p:spPr>
          <a:xfrm>
            <a:off x="6035040" y="4873752"/>
            <a:ext cx="5852160" cy="658368"/>
          </a:xfrm>
          <a:prstGeom prst="roundRect">
            <a:avLst>
              <a:gd name="adj" fmla="val 9722"/>
            </a:avLst>
          </a:prstGeom>
          <a:solidFill>
            <a:srgbClr val="F4F7FD"/>
          </a:solidFill>
          <a:ln w="12700">
            <a:solidFill>
              <a:srgbClr val="D5E3F7"/>
            </a:solidFill>
            <a:prstDash val="solid"/>
          </a:ln>
        </p:spPr>
      </p:sp>
      <p:sp>
        <p:nvSpPr>
          <p:cNvPr id="44" name="Text 42"/>
          <p:cNvSpPr/>
          <p:nvPr/>
        </p:nvSpPr>
        <p:spPr>
          <a:xfrm>
            <a:off x="6217920" y="4965192"/>
            <a:ext cx="1371600" cy="237744"/>
          </a:xfrm>
          <a:prstGeom prst="rect">
            <a:avLst/>
          </a:prstGeom>
          <a:noFill/>
          <a:ln/>
        </p:spPr>
        <p:txBody>
          <a:bodyPr wrap="square" rtlCol="0" anchor="ctr"/>
          <a:lstStyle/>
          <a:p>
            <a:pPr indent="0" marL="0">
              <a:buNone/>
            </a:pPr>
            <a:r>
              <a:rPr lang="en-US" sz="1000" b="1" dirty="0">
                <a:solidFill>
                  <a:srgbClr val="0D1E35"/>
                </a:solidFill>
              </a:rPr>
              <a:t>🔧 Home Services</a:t>
            </a:r>
            <a:endParaRPr lang="en-US" sz="1000" dirty="0"/>
          </a:p>
        </p:txBody>
      </p:sp>
      <p:sp>
        <p:nvSpPr>
          <p:cNvPr id="45" name="Text 43"/>
          <p:cNvSpPr/>
          <p:nvPr/>
        </p:nvSpPr>
        <p:spPr>
          <a:xfrm>
            <a:off x="7635240" y="4965192"/>
            <a:ext cx="2560320" cy="237744"/>
          </a:xfrm>
          <a:prstGeom prst="rect">
            <a:avLst/>
          </a:prstGeom>
          <a:noFill/>
          <a:ln/>
        </p:spPr>
        <p:txBody>
          <a:bodyPr wrap="square" rtlCol="0" anchor="ctr"/>
          <a:lstStyle/>
          <a:p>
            <a:pPr indent="0" marL="0">
              <a:buNone/>
            </a:pPr>
            <a:r>
              <a:rPr lang="en-US" sz="1000" b="1" dirty="0">
                <a:solidFill>
                  <a:srgbClr val="2F80ED"/>
                </a:solidFill>
              </a:rPr>
              <a:t>Hatch, Rilla</a:t>
            </a:r>
            <a:endParaRPr lang="en-US" sz="1000" dirty="0"/>
          </a:p>
        </p:txBody>
      </p:sp>
      <p:sp>
        <p:nvSpPr>
          <p:cNvPr id="46" name="Text 44"/>
          <p:cNvSpPr/>
          <p:nvPr/>
        </p:nvSpPr>
        <p:spPr>
          <a:xfrm>
            <a:off x="6217920" y="5221224"/>
            <a:ext cx="5486400" cy="237744"/>
          </a:xfrm>
          <a:prstGeom prst="rect">
            <a:avLst/>
          </a:prstGeom>
          <a:noFill/>
          <a:ln/>
        </p:spPr>
        <p:txBody>
          <a:bodyPr wrap="square" rtlCol="0" anchor="ctr"/>
          <a:lstStyle/>
          <a:p>
            <a:pPr indent="0" marL="0">
              <a:buNone/>
            </a:pPr>
            <a:r>
              <a:rPr lang="en-US" sz="900" dirty="0">
                <a:solidFill>
                  <a:srgbClr val="7B96B8"/>
                </a:solidFill>
              </a:rPr>
              <a:t>AI CSR teams, in-person sales coaching at scale</a:t>
            </a:r>
            <a:endParaRPr lang="en-US" sz="900" dirty="0"/>
          </a:p>
        </p:txBody>
      </p:sp>
      <p:sp>
        <p:nvSpPr>
          <p:cNvPr id="47" name="Shape 45"/>
          <p:cNvSpPr/>
          <p:nvPr/>
        </p:nvSpPr>
        <p:spPr>
          <a:xfrm>
            <a:off x="6035040" y="5650992"/>
            <a:ext cx="5852160" cy="594360"/>
          </a:xfrm>
          <a:prstGeom prst="roundRect">
            <a:avLst>
              <a:gd name="adj" fmla="val 12308"/>
            </a:avLst>
          </a:prstGeom>
          <a:solidFill>
            <a:srgbClr val="000000"/>
          </a:solidFill>
          <a:ln w="12700">
            <a:solidFill>
              <a:srgbClr val="000000"/>
            </a:solidFill>
            <a:prstDash val="solid"/>
          </a:ln>
        </p:spPr>
      </p:sp>
      <p:sp>
        <p:nvSpPr>
          <p:cNvPr id="48" name="Shape 46"/>
          <p:cNvSpPr/>
          <p:nvPr/>
        </p:nvSpPr>
        <p:spPr>
          <a:xfrm>
            <a:off x="6035040" y="5650992"/>
            <a:ext cx="54864" cy="594360"/>
          </a:xfrm>
          <a:prstGeom prst="rect">
            <a:avLst/>
          </a:prstGeom>
          <a:solidFill>
            <a:srgbClr val="2F80ED"/>
          </a:solidFill>
          <a:ln w="12700">
            <a:solidFill>
              <a:srgbClr val="2F80ED"/>
            </a:solidFill>
            <a:prstDash val="solid"/>
          </a:ln>
        </p:spPr>
      </p:sp>
      <p:sp>
        <p:nvSpPr>
          <p:cNvPr id="49" name="Text 47"/>
          <p:cNvSpPr/>
          <p:nvPr/>
        </p:nvSpPr>
        <p:spPr>
          <a:xfrm>
            <a:off x="6199632" y="5705856"/>
            <a:ext cx="5303520" cy="219456"/>
          </a:xfrm>
          <a:prstGeom prst="rect">
            <a:avLst/>
          </a:prstGeom>
          <a:noFill/>
          <a:ln/>
        </p:spPr>
        <p:txBody>
          <a:bodyPr wrap="square" rtlCol="0" anchor="ctr"/>
          <a:lstStyle/>
          <a:p>
            <a:pPr indent="0" marL="0">
              <a:buNone/>
            </a:pPr>
            <a:r>
              <a:rPr lang="en-US" sz="900" b="1" dirty="0">
                <a:solidFill>
                  <a:srgbClr val="2F80ED"/>
                </a:solidFill>
              </a:rPr>
              <a:t>Razorpay vertical angle</a:t>
            </a:r>
            <a:endParaRPr lang="en-US" sz="900" dirty="0"/>
          </a:p>
        </p:txBody>
      </p:sp>
      <p:sp>
        <p:nvSpPr>
          <p:cNvPr id="50" name="Text 48"/>
          <p:cNvSpPr/>
          <p:nvPr/>
        </p:nvSpPr>
        <p:spPr>
          <a:xfrm>
            <a:off x="6199632" y="5925312"/>
            <a:ext cx="5303520" cy="256032"/>
          </a:xfrm>
          <a:prstGeom prst="rect">
            <a:avLst/>
          </a:prstGeom>
          <a:noFill/>
          <a:ln/>
        </p:spPr>
        <p:txBody>
          <a:bodyPr wrap="square" rtlCol="0" anchor="ctr"/>
          <a:lstStyle/>
          <a:p>
            <a:pPr indent="0" marL="0">
              <a:buNone/>
            </a:pPr>
            <a:r>
              <a:rPr lang="en-US" sz="900" dirty="0">
                <a:solidFill>
                  <a:srgbClr val="3D5472"/>
                </a:solidFill>
              </a:rPr>
              <a:t>Fintech is one of the last major "technophobic" AI sectors. Payments, lending, compliance, and merchant intelligence are language-heavy, multi-modal, and dramatically underserved by traditional SaaS.</a:t>
            </a:r>
            <a:endParaRPr lang="en-US" sz="900" dirty="0"/>
          </a:p>
        </p:txBody>
      </p:sp>
      <p:sp>
        <p:nvSpPr>
          <p:cNvPr id="51" name="Shape 49"/>
          <p:cNvSpPr/>
          <p:nvPr/>
        </p:nvSpPr>
        <p:spPr>
          <a:xfrm>
            <a:off x="0" y="6748272"/>
            <a:ext cx="12188952" cy="109728"/>
          </a:xfrm>
          <a:prstGeom prst="rect">
            <a:avLst/>
          </a:prstGeom>
          <a:solidFill>
            <a:srgbClr val="2F80ED"/>
          </a:solidFill>
          <a:ln w="12700">
            <a:solidFill>
              <a:srgbClr val="2F80ED"/>
            </a:solidFill>
            <a:prstDash val="solid"/>
          </a:ln>
        </p:spPr>
      </p:sp>
      <p:sp>
        <p:nvSpPr>
          <p:cNvPr id="52" name="Text 50"/>
          <p:cNvSpPr/>
          <p:nvPr/>
        </p:nvSpPr>
        <p:spPr>
          <a:xfrm>
            <a:off x="11274552" y="6748272"/>
            <a:ext cx="731520" cy="109728"/>
          </a:xfrm>
          <a:prstGeom prst="rect">
            <a:avLst/>
          </a:prstGeom>
          <a:noFill/>
          <a:ln/>
        </p:spPr>
        <p:txBody>
          <a:bodyPr wrap="square" rtlCol="0" anchor="ctr"/>
          <a:lstStyle/>
          <a:p>
            <a:pPr algn="r" indent="0" marL="0">
              <a:buNone/>
            </a:pPr>
            <a:r>
              <a:rPr lang="en-US" sz="700" dirty="0">
                <a:solidFill>
                  <a:srgbClr val="FFFFFF"/>
                </a:solidFill>
              </a:rPr>
              <a:t>5 / 11</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7FD"/>
          </a:solidFill>
          <a:ln w="12700">
            <a:solidFill>
              <a:srgbClr val="F4F7FD"/>
            </a:solidFill>
            <a:prstDash val="solid"/>
          </a:ln>
        </p:spPr>
      </p:sp>
      <p:sp>
        <p:nvSpPr>
          <p:cNvPr id="3" name="Shape 1"/>
          <p:cNvSpPr/>
          <p:nvPr/>
        </p:nvSpPr>
        <p:spPr>
          <a:xfrm>
            <a:off x="0" y="0"/>
            <a:ext cx="12188952" cy="502920"/>
          </a:xfrm>
          <a:prstGeom prst="rect">
            <a:avLst/>
          </a:prstGeom>
          <a:solidFill>
            <a:srgbClr val="FFFFFF"/>
          </a:solidFill>
          <a:ln w="6350">
            <a:solidFill>
              <a:srgbClr val="D5E3F7"/>
            </a:solidFill>
            <a:prstDash val="solid"/>
          </a:ln>
        </p:spPr>
      </p:sp>
      <p:sp>
        <p:nvSpPr>
          <p:cNvPr id="4" name="Text 2"/>
          <p:cNvSpPr/>
          <p:nvPr/>
        </p:nvSpPr>
        <p:spPr>
          <a:xfrm>
            <a:off x="274320" y="64008"/>
            <a:ext cx="1828800" cy="384048"/>
          </a:xfrm>
          <a:prstGeom prst="rect">
            <a:avLst/>
          </a:prstGeom>
          <a:noFill/>
          <a:ln/>
        </p:spPr>
        <p:txBody>
          <a:bodyPr wrap="square" rtlCol="0" anchor="ctr"/>
          <a:lstStyle/>
          <a:p>
            <a:pPr indent="0" marL="0">
              <a:buNone/>
            </a:pPr>
            <a:r>
              <a:rPr lang="en-US" sz="1700" b="1" dirty="0">
                <a:solidFill>
                  <a:srgbClr val="0D1E35"/>
                </a:solidFill>
                <a:latin typeface="Arial" pitchFamily="34" charset="0"/>
                <a:ea typeface="Arial" pitchFamily="34" charset="-122"/>
                <a:cs typeface="Arial" pitchFamily="34" charset="-120"/>
              </a:rPr>
              <a:t>razor</a:t>
            </a:r>
            <a:pPr indent="0" marL="0">
              <a:buNone/>
            </a:pPr>
            <a:r>
              <a:rPr lang="en-US" sz="1700" b="1" dirty="0">
                <a:solidFill>
                  <a:srgbClr val="2F80ED"/>
                </a:solidFill>
                <a:latin typeface="Arial" pitchFamily="34" charset="0"/>
                <a:ea typeface="Arial" pitchFamily="34" charset="-122"/>
                <a:cs typeface="Arial" pitchFamily="34" charset="-120"/>
              </a:rPr>
              <a:t>pay</a:t>
            </a:r>
            <a:endParaRPr lang="en-US" sz="1700" dirty="0"/>
          </a:p>
        </p:txBody>
      </p:sp>
      <p:sp>
        <p:nvSpPr>
          <p:cNvPr id="5" name="Text 3"/>
          <p:cNvSpPr/>
          <p:nvPr/>
        </p:nvSpPr>
        <p:spPr>
          <a:xfrm>
            <a:off x="9628632" y="155448"/>
            <a:ext cx="2286000" cy="201168"/>
          </a:xfrm>
          <a:prstGeom prst="rect">
            <a:avLst/>
          </a:prstGeom>
          <a:noFill/>
          <a:ln/>
        </p:spPr>
        <p:txBody>
          <a:bodyPr wrap="square" rtlCol="0" anchor="ctr"/>
          <a:lstStyle/>
          <a:p>
            <a:pPr algn="r" indent="0" marL="0">
              <a:buNone/>
            </a:pPr>
            <a:r>
              <a:rPr lang="en-US" sz="700" dirty="0">
                <a:solidFill>
                  <a:srgbClr val="7B96B8"/>
                </a:solidFill>
              </a:rPr>
              <a:t>CONFIDENTIAL · MARCH 2026</a:t>
            </a:r>
            <a:endParaRPr lang="en-US" sz="700" dirty="0"/>
          </a:p>
        </p:txBody>
      </p:sp>
      <p:sp>
        <p:nvSpPr>
          <p:cNvPr id="6" name="Shape 4"/>
          <p:cNvSpPr/>
          <p:nvPr/>
        </p:nvSpPr>
        <p:spPr>
          <a:xfrm>
            <a:off x="274320" y="594360"/>
            <a:ext cx="2286000" cy="201168"/>
          </a:xfrm>
          <a:prstGeom prst="roundRect">
            <a:avLst>
              <a:gd name="adj" fmla="val 18182"/>
            </a:avLst>
          </a:prstGeom>
          <a:solidFill>
            <a:srgbClr val="000000"/>
          </a:solidFill>
          <a:ln w="6350">
            <a:solidFill>
              <a:srgbClr val="000000"/>
            </a:solidFill>
            <a:prstDash val="solid"/>
          </a:ln>
        </p:spPr>
      </p:sp>
      <p:sp>
        <p:nvSpPr>
          <p:cNvPr id="7" name="Text 5"/>
          <p:cNvSpPr/>
          <p:nvPr/>
        </p:nvSpPr>
        <p:spPr>
          <a:xfrm>
            <a:off x="274320" y="594360"/>
            <a:ext cx="2286000" cy="201168"/>
          </a:xfrm>
          <a:prstGeom prst="rect">
            <a:avLst/>
          </a:prstGeom>
          <a:noFill/>
          <a:ln/>
        </p:spPr>
        <p:txBody>
          <a:bodyPr wrap="square" rtlCol="0" anchor="ctr"/>
          <a:lstStyle/>
          <a:p>
            <a:pPr algn="ctr" indent="0" marL="0">
              <a:buNone/>
            </a:pPr>
            <a:r>
              <a:rPr lang="en-US" sz="700" b="1" dirty="0">
                <a:solidFill>
                  <a:srgbClr val="2F80ED"/>
                </a:solidFill>
              </a:rPr>
              <a:t>05 — PREDICTIONS</a:t>
            </a:r>
            <a:endParaRPr lang="en-US" sz="700" dirty="0"/>
          </a:p>
        </p:txBody>
      </p:sp>
      <p:sp>
        <p:nvSpPr>
          <p:cNvPr id="8" name="Text 6"/>
          <p:cNvSpPr/>
          <p:nvPr/>
        </p:nvSpPr>
        <p:spPr>
          <a:xfrm>
            <a:off x="274320" y="877824"/>
            <a:ext cx="11612880" cy="566928"/>
          </a:xfrm>
          <a:prstGeom prst="rect">
            <a:avLst/>
          </a:prstGeom>
          <a:noFill/>
          <a:ln/>
        </p:spPr>
        <p:txBody>
          <a:bodyPr wrap="square" rtlCol="0" anchor="ctr"/>
          <a:lstStyle/>
          <a:p>
            <a:pPr indent="0" marL="0">
              <a:buNone/>
            </a:pPr>
            <a:r>
              <a:rPr lang="en-US" sz="2200" b="1" dirty="0">
                <a:solidFill>
                  <a:srgbClr val="0D1E35"/>
                </a:solidFill>
                <a:latin typeface="Arial" pitchFamily="34" charset="0"/>
                <a:ea typeface="Arial" pitchFamily="34" charset="-122"/>
                <a:cs typeface="Arial" pitchFamily="34" charset="-120"/>
              </a:rPr>
              <a:t>5 High-Conviction AI Predictions for 2025–26</a:t>
            </a:r>
            <a:endParaRPr lang="en-US" sz="2200" dirty="0"/>
          </a:p>
        </p:txBody>
      </p:sp>
      <p:sp>
        <p:nvSpPr>
          <p:cNvPr id="9" name="Text 7"/>
          <p:cNvSpPr/>
          <p:nvPr/>
        </p:nvSpPr>
        <p:spPr>
          <a:xfrm>
            <a:off x="274320" y="1444752"/>
            <a:ext cx="11612880" cy="384048"/>
          </a:xfrm>
          <a:prstGeom prst="rect">
            <a:avLst/>
          </a:prstGeom>
          <a:noFill/>
          <a:ln/>
        </p:spPr>
        <p:txBody>
          <a:bodyPr wrap="square" rtlCol="0" anchor="ctr"/>
          <a:lstStyle/>
          <a:p>
            <a:pPr indent="0" marL="0">
              <a:buNone/>
            </a:pPr>
            <a:r>
              <a:rPr lang="en-US" sz="1050" dirty="0">
                <a:solidFill>
                  <a:srgbClr val="3D5472"/>
                </a:solidFill>
              </a:rPr>
              <a:t>Synthesized from deep analysis of market data and AI infrastructure trends — applied through the lens of Razorpay's strategic position in Indian fintech.</a:t>
            </a:r>
            <a:endParaRPr lang="en-US" sz="1050" dirty="0"/>
          </a:p>
        </p:txBody>
      </p:sp>
      <p:sp>
        <p:nvSpPr>
          <p:cNvPr id="10" name="Shape 8"/>
          <p:cNvSpPr/>
          <p:nvPr/>
        </p:nvSpPr>
        <p:spPr>
          <a:xfrm>
            <a:off x="274320" y="1920240"/>
            <a:ext cx="11612880" cy="822960"/>
          </a:xfrm>
          <a:prstGeom prst="roundRect">
            <a:avLst>
              <a:gd name="adj" fmla="val 11111"/>
            </a:avLst>
          </a:prstGeom>
          <a:solidFill>
            <a:srgbClr val="FFFFFF"/>
          </a:solidFill>
          <a:ln w="6350">
            <a:solidFill>
              <a:srgbClr val="D5E3F7"/>
            </a:solidFill>
            <a:prstDash val="solid"/>
          </a:ln>
        </p:spPr>
      </p:sp>
      <p:sp>
        <p:nvSpPr>
          <p:cNvPr id="11" name="Shape 9"/>
          <p:cNvSpPr/>
          <p:nvPr/>
        </p:nvSpPr>
        <p:spPr>
          <a:xfrm>
            <a:off x="274320" y="1920240"/>
            <a:ext cx="54864" cy="822960"/>
          </a:xfrm>
          <a:prstGeom prst="rect">
            <a:avLst/>
          </a:prstGeom>
          <a:solidFill>
            <a:srgbClr val="2F80ED"/>
          </a:solidFill>
          <a:ln w="12700">
            <a:solidFill>
              <a:srgbClr val="2F80ED"/>
            </a:solidFill>
            <a:prstDash val="solid"/>
          </a:ln>
        </p:spPr>
      </p:sp>
      <p:sp>
        <p:nvSpPr>
          <p:cNvPr id="12" name="Text 10"/>
          <p:cNvSpPr/>
          <p:nvPr/>
        </p:nvSpPr>
        <p:spPr>
          <a:xfrm>
            <a:off x="457200" y="2029968"/>
            <a:ext cx="384048" cy="274320"/>
          </a:xfrm>
          <a:prstGeom prst="rect">
            <a:avLst/>
          </a:prstGeom>
          <a:noFill/>
          <a:ln/>
        </p:spPr>
        <p:txBody>
          <a:bodyPr wrap="square" rtlCol="0" anchor="ctr"/>
          <a:lstStyle/>
          <a:p>
            <a:pPr indent="0" marL="0">
              <a:buNone/>
            </a:pPr>
            <a:r>
              <a:rPr lang="en-US" sz="1400" b="1" dirty="0">
                <a:solidFill>
                  <a:srgbClr val="2F80ED">
                    <a:alpha val="40000"/>
                  </a:srgbClr>
                </a:solidFill>
              </a:rPr>
              <a:t>01</a:t>
            </a:r>
            <a:endParaRPr lang="en-US" sz="1400" dirty="0"/>
          </a:p>
        </p:txBody>
      </p:sp>
      <p:sp>
        <p:nvSpPr>
          <p:cNvPr id="13" name="Text 11"/>
          <p:cNvSpPr/>
          <p:nvPr/>
        </p:nvSpPr>
        <p:spPr>
          <a:xfrm>
            <a:off x="960120" y="2011680"/>
            <a:ext cx="10515600" cy="274320"/>
          </a:xfrm>
          <a:prstGeom prst="rect">
            <a:avLst/>
          </a:prstGeom>
          <a:noFill/>
          <a:ln/>
        </p:spPr>
        <p:txBody>
          <a:bodyPr wrap="square" rtlCol="0" anchor="ctr"/>
          <a:lstStyle/>
          <a:p>
            <a:pPr indent="0" marL="0">
              <a:buNone/>
            </a:pPr>
            <a:r>
              <a:rPr lang="en-US" sz="1200" b="1" dirty="0">
                <a:solidFill>
                  <a:srgbClr val="0D1E35"/>
                </a:solidFill>
              </a:rPr>
              <a:t>🌐 The browser becomes the dominant agentic interface</a:t>
            </a:r>
            <a:endParaRPr lang="en-US" sz="1200" dirty="0"/>
          </a:p>
        </p:txBody>
      </p:sp>
      <p:sp>
        <p:nvSpPr>
          <p:cNvPr id="14" name="Text 12"/>
          <p:cNvSpPr/>
          <p:nvPr/>
        </p:nvSpPr>
        <p:spPr>
          <a:xfrm>
            <a:off x="960120" y="2322576"/>
            <a:ext cx="10515600" cy="329184"/>
          </a:xfrm>
          <a:prstGeom prst="rect">
            <a:avLst/>
          </a:prstGeom>
          <a:noFill/>
          <a:ln/>
        </p:spPr>
        <p:txBody>
          <a:bodyPr wrap="square" rtlCol="0" anchor="ctr"/>
          <a:lstStyle/>
          <a:p>
            <a:pPr indent="0" marL="0">
              <a:buNone/>
            </a:pPr>
            <a:r>
              <a:rPr lang="en-US" sz="950" dirty="0">
                <a:solidFill>
                  <a:srgbClr val="3D5472"/>
                </a:solidFill>
              </a:rPr>
              <a:t>Agentic browsers like Comet and Dia embed AI at the OS layer — multi-step automation and real-time decision-making. OpenAI and Google are launching AI-native browsers. The new browser wars begin.</a:t>
            </a:r>
            <a:endParaRPr lang="en-US" sz="950" dirty="0"/>
          </a:p>
        </p:txBody>
      </p:sp>
      <p:sp>
        <p:nvSpPr>
          <p:cNvPr id="15" name="Shape 13"/>
          <p:cNvSpPr/>
          <p:nvPr/>
        </p:nvSpPr>
        <p:spPr>
          <a:xfrm>
            <a:off x="274320" y="2834640"/>
            <a:ext cx="11612880" cy="822960"/>
          </a:xfrm>
          <a:prstGeom prst="roundRect">
            <a:avLst>
              <a:gd name="adj" fmla="val 11111"/>
            </a:avLst>
          </a:prstGeom>
          <a:solidFill>
            <a:srgbClr val="FFFFFF"/>
          </a:solidFill>
          <a:ln w="6350">
            <a:solidFill>
              <a:srgbClr val="D5E3F7"/>
            </a:solidFill>
            <a:prstDash val="solid"/>
          </a:ln>
        </p:spPr>
      </p:sp>
      <p:sp>
        <p:nvSpPr>
          <p:cNvPr id="16" name="Shape 14"/>
          <p:cNvSpPr/>
          <p:nvPr/>
        </p:nvSpPr>
        <p:spPr>
          <a:xfrm>
            <a:off x="274320" y="2834640"/>
            <a:ext cx="54864" cy="822960"/>
          </a:xfrm>
          <a:prstGeom prst="rect">
            <a:avLst/>
          </a:prstGeom>
          <a:solidFill>
            <a:srgbClr val="1BC5FF"/>
          </a:solidFill>
          <a:ln w="12700">
            <a:solidFill>
              <a:srgbClr val="1BC5FF"/>
            </a:solidFill>
            <a:prstDash val="solid"/>
          </a:ln>
        </p:spPr>
      </p:sp>
      <p:sp>
        <p:nvSpPr>
          <p:cNvPr id="17" name="Text 15"/>
          <p:cNvSpPr/>
          <p:nvPr/>
        </p:nvSpPr>
        <p:spPr>
          <a:xfrm>
            <a:off x="457200" y="2944368"/>
            <a:ext cx="384048" cy="274320"/>
          </a:xfrm>
          <a:prstGeom prst="rect">
            <a:avLst/>
          </a:prstGeom>
          <a:noFill/>
          <a:ln/>
        </p:spPr>
        <p:txBody>
          <a:bodyPr wrap="square" rtlCol="0" anchor="ctr"/>
          <a:lstStyle/>
          <a:p>
            <a:pPr indent="0" marL="0">
              <a:buNone/>
            </a:pPr>
            <a:r>
              <a:rPr lang="en-US" sz="1400" b="1" dirty="0">
                <a:solidFill>
                  <a:srgbClr val="1BC5FF">
                    <a:alpha val="40000"/>
                  </a:srgbClr>
                </a:solidFill>
              </a:rPr>
              <a:t>02</a:t>
            </a:r>
            <a:endParaRPr lang="en-US" sz="1400" dirty="0"/>
          </a:p>
        </p:txBody>
      </p:sp>
      <p:sp>
        <p:nvSpPr>
          <p:cNvPr id="18" name="Text 16"/>
          <p:cNvSpPr/>
          <p:nvPr/>
        </p:nvSpPr>
        <p:spPr>
          <a:xfrm>
            <a:off x="960120" y="2926080"/>
            <a:ext cx="10515600" cy="274320"/>
          </a:xfrm>
          <a:prstGeom prst="rect">
            <a:avLst/>
          </a:prstGeom>
          <a:noFill/>
          <a:ln/>
        </p:spPr>
        <p:txBody>
          <a:bodyPr wrap="square" rtlCol="0" anchor="ctr"/>
          <a:lstStyle/>
          <a:p>
            <a:pPr indent="0" marL="0">
              <a:buNone/>
            </a:pPr>
            <a:r>
              <a:rPr lang="en-US" sz="1200" b="1" dirty="0">
                <a:solidFill>
                  <a:srgbClr val="0D1E35"/>
                </a:solidFill>
              </a:rPr>
              <a:t>🎬 2026 = the year of generative video</a:t>
            </a:r>
            <a:endParaRPr lang="en-US" sz="1200" dirty="0"/>
          </a:p>
        </p:txBody>
      </p:sp>
      <p:sp>
        <p:nvSpPr>
          <p:cNvPr id="19" name="Text 17"/>
          <p:cNvSpPr/>
          <p:nvPr/>
        </p:nvSpPr>
        <p:spPr>
          <a:xfrm>
            <a:off x="960120" y="3236976"/>
            <a:ext cx="10515600" cy="329184"/>
          </a:xfrm>
          <a:prstGeom prst="rect">
            <a:avLst/>
          </a:prstGeom>
          <a:noFill/>
          <a:ln/>
        </p:spPr>
        <p:txBody>
          <a:bodyPr wrap="square" rtlCol="0" anchor="ctr"/>
          <a:lstStyle/>
          <a:p>
            <a:pPr indent="0" marL="0">
              <a:buNone/>
            </a:pPr>
            <a:r>
              <a:rPr lang="en-US" sz="950" dirty="0">
                <a:solidFill>
                  <a:srgbClr val="3D5472"/>
                </a:solidFill>
              </a:rPr>
              <a:t>After images (2024) and voice (2025), video crosses the chasm. Veo 3, Kling, Sora, and Marey are accelerating. Cinematic storytelling, real-time avatars, personalized content — commercially viable at scale.</a:t>
            </a:r>
            <a:endParaRPr lang="en-US" sz="950" dirty="0"/>
          </a:p>
        </p:txBody>
      </p:sp>
      <p:sp>
        <p:nvSpPr>
          <p:cNvPr id="20" name="Shape 18"/>
          <p:cNvSpPr/>
          <p:nvPr/>
        </p:nvSpPr>
        <p:spPr>
          <a:xfrm>
            <a:off x="274320" y="3749040"/>
            <a:ext cx="11612880" cy="822960"/>
          </a:xfrm>
          <a:prstGeom prst="roundRect">
            <a:avLst>
              <a:gd name="adj" fmla="val 11111"/>
            </a:avLst>
          </a:prstGeom>
          <a:solidFill>
            <a:srgbClr val="FFFFFF"/>
          </a:solidFill>
          <a:ln w="6350">
            <a:solidFill>
              <a:srgbClr val="D5E3F7"/>
            </a:solidFill>
            <a:prstDash val="solid"/>
          </a:ln>
        </p:spPr>
      </p:sp>
      <p:sp>
        <p:nvSpPr>
          <p:cNvPr id="21" name="Shape 19"/>
          <p:cNvSpPr/>
          <p:nvPr/>
        </p:nvSpPr>
        <p:spPr>
          <a:xfrm>
            <a:off x="274320" y="3749040"/>
            <a:ext cx="54864" cy="822960"/>
          </a:xfrm>
          <a:prstGeom prst="rect">
            <a:avLst/>
          </a:prstGeom>
          <a:solidFill>
            <a:srgbClr val="12C479"/>
          </a:solidFill>
          <a:ln w="12700">
            <a:solidFill>
              <a:srgbClr val="12C479"/>
            </a:solidFill>
            <a:prstDash val="solid"/>
          </a:ln>
        </p:spPr>
      </p:sp>
      <p:sp>
        <p:nvSpPr>
          <p:cNvPr id="22" name="Text 20"/>
          <p:cNvSpPr/>
          <p:nvPr/>
        </p:nvSpPr>
        <p:spPr>
          <a:xfrm>
            <a:off x="457200" y="3858768"/>
            <a:ext cx="384048" cy="274320"/>
          </a:xfrm>
          <a:prstGeom prst="rect">
            <a:avLst/>
          </a:prstGeom>
          <a:noFill/>
          <a:ln/>
        </p:spPr>
        <p:txBody>
          <a:bodyPr wrap="square" rtlCol="0" anchor="ctr"/>
          <a:lstStyle/>
          <a:p>
            <a:pPr indent="0" marL="0">
              <a:buNone/>
            </a:pPr>
            <a:r>
              <a:rPr lang="en-US" sz="1400" b="1" dirty="0">
                <a:solidFill>
                  <a:srgbClr val="12C479">
                    <a:alpha val="40000"/>
                  </a:srgbClr>
                </a:solidFill>
              </a:rPr>
              <a:t>03</a:t>
            </a:r>
            <a:endParaRPr lang="en-US" sz="1400" dirty="0"/>
          </a:p>
        </p:txBody>
      </p:sp>
      <p:sp>
        <p:nvSpPr>
          <p:cNvPr id="23" name="Text 21"/>
          <p:cNvSpPr/>
          <p:nvPr/>
        </p:nvSpPr>
        <p:spPr>
          <a:xfrm>
            <a:off x="960120" y="3840480"/>
            <a:ext cx="10515600" cy="274320"/>
          </a:xfrm>
          <a:prstGeom prst="rect">
            <a:avLst/>
          </a:prstGeom>
          <a:noFill/>
          <a:ln/>
        </p:spPr>
        <p:txBody>
          <a:bodyPr wrap="square" rtlCol="0" anchor="ctr"/>
          <a:lstStyle/>
          <a:p>
            <a:pPr indent="0" marL="0">
              <a:buNone/>
            </a:pPr>
            <a:r>
              <a:rPr lang="en-US" sz="1200" b="1" dirty="0">
                <a:solidFill>
                  <a:srgbClr val="0D1E35"/>
                </a:solidFill>
              </a:rPr>
              <a:t>📊 Private evals become critical infrastructure</a:t>
            </a:r>
            <a:endParaRPr lang="en-US" sz="1200" dirty="0"/>
          </a:p>
        </p:txBody>
      </p:sp>
      <p:sp>
        <p:nvSpPr>
          <p:cNvPr id="24" name="Text 22"/>
          <p:cNvSpPr/>
          <p:nvPr/>
        </p:nvSpPr>
        <p:spPr>
          <a:xfrm>
            <a:off x="960120" y="4151376"/>
            <a:ext cx="10515600" cy="329184"/>
          </a:xfrm>
          <a:prstGeom prst="rect">
            <a:avLst/>
          </a:prstGeom>
          <a:noFill/>
          <a:ln/>
        </p:spPr>
        <p:txBody>
          <a:bodyPr wrap="square" rtlCol="0" anchor="ctr"/>
          <a:lstStyle/>
          <a:p>
            <a:pPr indent="0" marL="0">
              <a:buNone/>
            </a:pPr>
            <a:r>
              <a:rPr lang="en-US" sz="950" dirty="0">
                <a:solidFill>
                  <a:srgbClr val="3D5472"/>
                </a:solidFill>
              </a:rPr>
              <a:t>Enterprise AI deployment 10× because of trusted, use-case-specific eval frameworks. AI vendors must surface provable, explainable performance before purchase — not after deployment.</a:t>
            </a:r>
            <a:endParaRPr lang="en-US" sz="950" dirty="0"/>
          </a:p>
        </p:txBody>
      </p:sp>
      <p:sp>
        <p:nvSpPr>
          <p:cNvPr id="25" name="Shape 23"/>
          <p:cNvSpPr/>
          <p:nvPr/>
        </p:nvSpPr>
        <p:spPr>
          <a:xfrm>
            <a:off x="274320" y="4663440"/>
            <a:ext cx="11612880" cy="822960"/>
          </a:xfrm>
          <a:prstGeom prst="roundRect">
            <a:avLst>
              <a:gd name="adj" fmla="val 11111"/>
            </a:avLst>
          </a:prstGeom>
          <a:solidFill>
            <a:srgbClr val="FFFFFF"/>
          </a:solidFill>
          <a:ln w="6350">
            <a:solidFill>
              <a:srgbClr val="D5E3F7"/>
            </a:solidFill>
            <a:prstDash val="solid"/>
          </a:ln>
        </p:spPr>
      </p:sp>
      <p:sp>
        <p:nvSpPr>
          <p:cNvPr id="26" name="Shape 24"/>
          <p:cNvSpPr/>
          <p:nvPr/>
        </p:nvSpPr>
        <p:spPr>
          <a:xfrm>
            <a:off x="274320" y="4663440"/>
            <a:ext cx="54864" cy="822960"/>
          </a:xfrm>
          <a:prstGeom prst="rect">
            <a:avLst/>
          </a:prstGeom>
          <a:solidFill>
            <a:srgbClr val="F59E0B"/>
          </a:solidFill>
          <a:ln w="12700">
            <a:solidFill>
              <a:srgbClr val="F59E0B"/>
            </a:solidFill>
            <a:prstDash val="solid"/>
          </a:ln>
        </p:spPr>
      </p:sp>
      <p:sp>
        <p:nvSpPr>
          <p:cNvPr id="27" name="Text 25"/>
          <p:cNvSpPr/>
          <p:nvPr/>
        </p:nvSpPr>
        <p:spPr>
          <a:xfrm>
            <a:off x="457200" y="4773168"/>
            <a:ext cx="384048" cy="274320"/>
          </a:xfrm>
          <a:prstGeom prst="rect">
            <a:avLst/>
          </a:prstGeom>
          <a:noFill/>
          <a:ln/>
        </p:spPr>
        <p:txBody>
          <a:bodyPr wrap="square" rtlCol="0" anchor="ctr"/>
          <a:lstStyle/>
          <a:p>
            <a:pPr indent="0" marL="0">
              <a:buNone/>
            </a:pPr>
            <a:r>
              <a:rPr lang="en-US" sz="1400" b="1" dirty="0">
                <a:solidFill>
                  <a:srgbClr val="F59E0B">
                    <a:alpha val="40000"/>
                  </a:srgbClr>
                </a:solidFill>
              </a:rPr>
              <a:t>04</a:t>
            </a:r>
            <a:endParaRPr lang="en-US" sz="1400" dirty="0"/>
          </a:p>
        </p:txBody>
      </p:sp>
      <p:sp>
        <p:nvSpPr>
          <p:cNvPr id="28" name="Text 26"/>
          <p:cNvSpPr/>
          <p:nvPr/>
        </p:nvSpPr>
        <p:spPr>
          <a:xfrm>
            <a:off x="960120" y="4754880"/>
            <a:ext cx="10515600" cy="274320"/>
          </a:xfrm>
          <a:prstGeom prst="rect">
            <a:avLst/>
          </a:prstGeom>
          <a:noFill/>
          <a:ln/>
        </p:spPr>
        <p:txBody>
          <a:bodyPr wrap="square" rtlCol="0" anchor="ctr"/>
          <a:lstStyle/>
          <a:p>
            <a:pPr indent="0" marL="0">
              <a:buNone/>
            </a:pPr>
            <a:r>
              <a:rPr lang="en-US" sz="1200" b="1" dirty="0">
                <a:solidFill>
                  <a:srgbClr val="0D1E35"/>
                </a:solidFill>
              </a:rPr>
              <a:t>📱 A new AI-native social media giant emerges</a:t>
            </a:r>
            <a:endParaRPr lang="en-US" sz="1200" dirty="0"/>
          </a:p>
        </p:txBody>
      </p:sp>
      <p:sp>
        <p:nvSpPr>
          <p:cNvPr id="29" name="Text 27"/>
          <p:cNvSpPr/>
          <p:nvPr/>
        </p:nvSpPr>
        <p:spPr>
          <a:xfrm>
            <a:off x="960120" y="5065776"/>
            <a:ext cx="10515600" cy="329184"/>
          </a:xfrm>
          <a:prstGeom prst="rect">
            <a:avLst/>
          </a:prstGeom>
          <a:noFill/>
          <a:ln/>
        </p:spPr>
        <p:txBody>
          <a:bodyPr wrap="square" rtlCol="0" anchor="ctr"/>
          <a:lstStyle/>
          <a:p>
            <a:pPr indent="0" marL="0">
              <a:buNone/>
            </a:pPr>
            <a:r>
              <a:rPr lang="en-US" sz="950" dirty="0">
                <a:solidFill>
                  <a:srgbClr val="3D5472"/>
                </a:solidFill>
              </a:rPr>
              <a:t>Voice, long-term memory, and generative video are the fuel. Platforms where AI agents may be the main characters. Character.AI and Replika are early signals of what's possible.</a:t>
            </a:r>
            <a:endParaRPr lang="en-US" sz="950" dirty="0"/>
          </a:p>
        </p:txBody>
      </p:sp>
      <p:sp>
        <p:nvSpPr>
          <p:cNvPr id="30" name="Shape 28"/>
          <p:cNvSpPr/>
          <p:nvPr/>
        </p:nvSpPr>
        <p:spPr>
          <a:xfrm>
            <a:off x="274320" y="5577840"/>
            <a:ext cx="11612880" cy="822960"/>
          </a:xfrm>
          <a:prstGeom prst="roundRect">
            <a:avLst>
              <a:gd name="adj" fmla="val 11111"/>
            </a:avLst>
          </a:prstGeom>
          <a:solidFill>
            <a:srgbClr val="FFFFFF"/>
          </a:solidFill>
          <a:ln w="6350">
            <a:solidFill>
              <a:srgbClr val="D5E3F7"/>
            </a:solidFill>
            <a:prstDash val="solid"/>
          </a:ln>
        </p:spPr>
      </p:sp>
      <p:sp>
        <p:nvSpPr>
          <p:cNvPr id="31" name="Shape 29"/>
          <p:cNvSpPr/>
          <p:nvPr/>
        </p:nvSpPr>
        <p:spPr>
          <a:xfrm>
            <a:off x="274320" y="5577840"/>
            <a:ext cx="54864" cy="822960"/>
          </a:xfrm>
          <a:prstGeom prst="rect">
            <a:avLst/>
          </a:prstGeom>
          <a:solidFill>
            <a:srgbClr val="EF4444"/>
          </a:solidFill>
          <a:ln w="12700">
            <a:solidFill>
              <a:srgbClr val="EF4444"/>
            </a:solidFill>
            <a:prstDash val="solid"/>
          </a:ln>
        </p:spPr>
      </p:sp>
      <p:sp>
        <p:nvSpPr>
          <p:cNvPr id="32" name="Text 30"/>
          <p:cNvSpPr/>
          <p:nvPr/>
        </p:nvSpPr>
        <p:spPr>
          <a:xfrm>
            <a:off x="457200" y="5687568"/>
            <a:ext cx="384048" cy="274320"/>
          </a:xfrm>
          <a:prstGeom prst="rect">
            <a:avLst/>
          </a:prstGeom>
          <a:noFill/>
          <a:ln/>
        </p:spPr>
        <p:txBody>
          <a:bodyPr wrap="square" rtlCol="0" anchor="ctr"/>
          <a:lstStyle/>
          <a:p>
            <a:pPr indent="0" marL="0">
              <a:buNone/>
            </a:pPr>
            <a:r>
              <a:rPr lang="en-US" sz="1400" b="1" dirty="0">
                <a:solidFill>
                  <a:srgbClr val="EF4444">
                    <a:alpha val="40000"/>
                  </a:srgbClr>
                </a:solidFill>
              </a:rPr>
              <a:t>05</a:t>
            </a:r>
            <a:endParaRPr lang="en-US" sz="1400" dirty="0"/>
          </a:p>
        </p:txBody>
      </p:sp>
      <p:sp>
        <p:nvSpPr>
          <p:cNvPr id="33" name="Text 31"/>
          <p:cNvSpPr/>
          <p:nvPr/>
        </p:nvSpPr>
        <p:spPr>
          <a:xfrm>
            <a:off x="960120" y="5669280"/>
            <a:ext cx="10515600" cy="274320"/>
          </a:xfrm>
          <a:prstGeom prst="rect">
            <a:avLst/>
          </a:prstGeom>
          <a:noFill/>
          <a:ln/>
        </p:spPr>
        <p:txBody>
          <a:bodyPr wrap="square" rtlCol="0" anchor="ctr"/>
          <a:lstStyle/>
          <a:p>
            <a:pPr indent="0" marL="0">
              <a:buNone/>
            </a:pPr>
            <a:r>
              <a:rPr lang="en-US" sz="1200" b="1" dirty="0">
                <a:solidFill>
                  <a:srgbClr val="0D1E35"/>
                </a:solidFill>
              </a:rPr>
              <a:t>🤝 Incumbents strike back — AI M&amp;A heats up</a:t>
            </a:r>
            <a:endParaRPr lang="en-US" sz="1200" dirty="0"/>
          </a:p>
        </p:txBody>
      </p:sp>
      <p:sp>
        <p:nvSpPr>
          <p:cNvPr id="34" name="Text 32"/>
          <p:cNvSpPr/>
          <p:nvPr/>
        </p:nvSpPr>
        <p:spPr>
          <a:xfrm>
            <a:off x="960120" y="5980176"/>
            <a:ext cx="10515600" cy="329184"/>
          </a:xfrm>
          <a:prstGeom prst="rect">
            <a:avLst/>
          </a:prstGeom>
          <a:noFill/>
          <a:ln/>
        </p:spPr>
        <p:txBody>
          <a:bodyPr wrap="square" rtlCol="0" anchor="ctr"/>
          <a:lstStyle/>
          <a:p>
            <a:pPr indent="0" marL="0">
              <a:buNone/>
            </a:pPr>
            <a:r>
              <a:rPr lang="en-US" sz="950" dirty="0">
                <a:solidFill>
                  <a:srgbClr val="3D5472"/>
                </a:solidFill>
              </a:rPr>
              <a:t>SaaS giants acquiring AI capabilities they cannot build fast enough. Wave of consolidation in fintech, healthcare, logistics, and legal. Best-positioned startups: strong moats + embedded workflows.</a:t>
            </a:r>
            <a:endParaRPr lang="en-US" sz="950" dirty="0"/>
          </a:p>
        </p:txBody>
      </p:sp>
      <p:sp>
        <p:nvSpPr>
          <p:cNvPr id="35" name="Shape 33"/>
          <p:cNvSpPr/>
          <p:nvPr/>
        </p:nvSpPr>
        <p:spPr>
          <a:xfrm>
            <a:off x="0" y="6748272"/>
            <a:ext cx="12188952" cy="109728"/>
          </a:xfrm>
          <a:prstGeom prst="rect">
            <a:avLst/>
          </a:prstGeom>
          <a:solidFill>
            <a:srgbClr val="2F80ED"/>
          </a:solidFill>
          <a:ln w="12700">
            <a:solidFill>
              <a:srgbClr val="2F80ED"/>
            </a:solidFill>
            <a:prstDash val="solid"/>
          </a:ln>
        </p:spPr>
      </p:sp>
      <p:sp>
        <p:nvSpPr>
          <p:cNvPr id="36" name="Text 34"/>
          <p:cNvSpPr/>
          <p:nvPr/>
        </p:nvSpPr>
        <p:spPr>
          <a:xfrm>
            <a:off x="11274552" y="6748272"/>
            <a:ext cx="731520" cy="109728"/>
          </a:xfrm>
          <a:prstGeom prst="rect">
            <a:avLst/>
          </a:prstGeom>
          <a:noFill/>
          <a:ln/>
        </p:spPr>
        <p:txBody>
          <a:bodyPr wrap="square" rtlCol="0" anchor="ctr"/>
          <a:lstStyle/>
          <a:p>
            <a:pPr algn="r" indent="0" marL="0">
              <a:buNone/>
            </a:pPr>
            <a:r>
              <a:rPr lang="en-US" sz="700" dirty="0">
                <a:solidFill>
                  <a:srgbClr val="FFFFFF"/>
                </a:solidFill>
              </a:rPr>
              <a:t>6 / 11</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7FD"/>
          </a:solidFill>
          <a:ln w="12700">
            <a:solidFill>
              <a:srgbClr val="F4F7FD"/>
            </a:solidFill>
            <a:prstDash val="solid"/>
          </a:ln>
        </p:spPr>
      </p:sp>
      <p:sp>
        <p:nvSpPr>
          <p:cNvPr id="3" name="Shape 1"/>
          <p:cNvSpPr/>
          <p:nvPr/>
        </p:nvSpPr>
        <p:spPr>
          <a:xfrm>
            <a:off x="0" y="0"/>
            <a:ext cx="12188952" cy="502920"/>
          </a:xfrm>
          <a:prstGeom prst="rect">
            <a:avLst/>
          </a:prstGeom>
          <a:solidFill>
            <a:srgbClr val="FFFFFF"/>
          </a:solidFill>
          <a:ln w="6350">
            <a:solidFill>
              <a:srgbClr val="D5E3F7"/>
            </a:solidFill>
            <a:prstDash val="solid"/>
          </a:ln>
        </p:spPr>
      </p:sp>
      <p:sp>
        <p:nvSpPr>
          <p:cNvPr id="4" name="Text 2"/>
          <p:cNvSpPr/>
          <p:nvPr/>
        </p:nvSpPr>
        <p:spPr>
          <a:xfrm>
            <a:off x="274320" y="64008"/>
            <a:ext cx="1828800" cy="384048"/>
          </a:xfrm>
          <a:prstGeom prst="rect">
            <a:avLst/>
          </a:prstGeom>
          <a:noFill/>
          <a:ln/>
        </p:spPr>
        <p:txBody>
          <a:bodyPr wrap="square" rtlCol="0" anchor="ctr"/>
          <a:lstStyle/>
          <a:p>
            <a:pPr indent="0" marL="0">
              <a:buNone/>
            </a:pPr>
            <a:r>
              <a:rPr lang="en-US" sz="1700" b="1" dirty="0">
                <a:solidFill>
                  <a:srgbClr val="0D1E35"/>
                </a:solidFill>
                <a:latin typeface="Arial" pitchFamily="34" charset="0"/>
                <a:ea typeface="Arial" pitchFamily="34" charset="-122"/>
                <a:cs typeface="Arial" pitchFamily="34" charset="-120"/>
              </a:rPr>
              <a:t>razor</a:t>
            </a:r>
            <a:pPr indent="0" marL="0">
              <a:buNone/>
            </a:pPr>
            <a:r>
              <a:rPr lang="en-US" sz="1700" b="1" dirty="0">
                <a:solidFill>
                  <a:srgbClr val="2F80ED"/>
                </a:solidFill>
                <a:latin typeface="Arial" pitchFamily="34" charset="0"/>
                <a:ea typeface="Arial" pitchFamily="34" charset="-122"/>
                <a:cs typeface="Arial" pitchFamily="34" charset="-120"/>
              </a:rPr>
              <a:t>pay</a:t>
            </a:r>
            <a:endParaRPr lang="en-US" sz="1700" dirty="0"/>
          </a:p>
        </p:txBody>
      </p:sp>
      <p:sp>
        <p:nvSpPr>
          <p:cNvPr id="5" name="Text 3"/>
          <p:cNvSpPr/>
          <p:nvPr/>
        </p:nvSpPr>
        <p:spPr>
          <a:xfrm>
            <a:off x="9628632" y="155448"/>
            <a:ext cx="2286000" cy="201168"/>
          </a:xfrm>
          <a:prstGeom prst="rect">
            <a:avLst/>
          </a:prstGeom>
          <a:noFill/>
          <a:ln/>
        </p:spPr>
        <p:txBody>
          <a:bodyPr wrap="square" rtlCol="0" anchor="ctr"/>
          <a:lstStyle/>
          <a:p>
            <a:pPr algn="r" indent="0" marL="0">
              <a:buNone/>
            </a:pPr>
            <a:r>
              <a:rPr lang="en-US" sz="700" dirty="0">
                <a:solidFill>
                  <a:srgbClr val="7B96B8"/>
                </a:solidFill>
              </a:rPr>
              <a:t>CONFIDENTIAL · MARCH 2026</a:t>
            </a:r>
            <a:endParaRPr lang="en-US" sz="700" dirty="0"/>
          </a:p>
        </p:txBody>
      </p:sp>
      <p:sp>
        <p:nvSpPr>
          <p:cNvPr id="6" name="Shape 4"/>
          <p:cNvSpPr/>
          <p:nvPr/>
        </p:nvSpPr>
        <p:spPr>
          <a:xfrm>
            <a:off x="274320" y="594360"/>
            <a:ext cx="2286000" cy="201168"/>
          </a:xfrm>
          <a:prstGeom prst="roundRect">
            <a:avLst>
              <a:gd name="adj" fmla="val 18182"/>
            </a:avLst>
          </a:prstGeom>
          <a:solidFill>
            <a:srgbClr val="000000"/>
          </a:solidFill>
          <a:ln w="6350">
            <a:solidFill>
              <a:srgbClr val="000000"/>
            </a:solidFill>
            <a:prstDash val="solid"/>
          </a:ln>
        </p:spPr>
      </p:sp>
      <p:sp>
        <p:nvSpPr>
          <p:cNvPr id="7" name="Text 5"/>
          <p:cNvSpPr/>
          <p:nvPr/>
        </p:nvSpPr>
        <p:spPr>
          <a:xfrm>
            <a:off x="274320" y="594360"/>
            <a:ext cx="2286000" cy="201168"/>
          </a:xfrm>
          <a:prstGeom prst="rect">
            <a:avLst/>
          </a:prstGeom>
          <a:noFill/>
          <a:ln/>
        </p:spPr>
        <p:txBody>
          <a:bodyPr wrap="square" rtlCol="0" anchor="ctr"/>
          <a:lstStyle/>
          <a:p>
            <a:pPr algn="ctr" indent="0" marL="0">
              <a:buNone/>
            </a:pPr>
            <a:r>
              <a:rPr lang="en-US" sz="700" b="1" dirty="0">
                <a:solidFill>
                  <a:srgbClr val="2F80ED"/>
                </a:solidFill>
              </a:rPr>
              <a:t>PORTFOLIO COMPANY 01/03</a:t>
            </a:r>
            <a:endParaRPr lang="en-US" sz="700" dirty="0"/>
          </a:p>
        </p:txBody>
      </p:sp>
      <p:sp>
        <p:nvSpPr>
          <p:cNvPr id="8" name="Shape 6"/>
          <p:cNvSpPr/>
          <p:nvPr/>
        </p:nvSpPr>
        <p:spPr>
          <a:xfrm>
            <a:off x="9628632" y="594360"/>
            <a:ext cx="2286000" cy="201168"/>
          </a:xfrm>
          <a:prstGeom prst="roundRect">
            <a:avLst>
              <a:gd name="adj" fmla="val 18182"/>
            </a:avLst>
          </a:prstGeom>
          <a:solidFill>
            <a:srgbClr val="000000"/>
          </a:solidFill>
          <a:ln w="12700">
            <a:solidFill>
              <a:srgbClr val="000000"/>
            </a:solidFill>
            <a:prstDash val="solid"/>
          </a:ln>
        </p:spPr>
      </p:sp>
      <p:sp>
        <p:nvSpPr>
          <p:cNvPr id="9" name="Text 7"/>
          <p:cNvSpPr/>
          <p:nvPr/>
        </p:nvSpPr>
        <p:spPr>
          <a:xfrm>
            <a:off x="9628632" y="594360"/>
            <a:ext cx="2286000" cy="201168"/>
          </a:xfrm>
          <a:prstGeom prst="rect">
            <a:avLst/>
          </a:prstGeom>
          <a:noFill/>
          <a:ln/>
        </p:spPr>
        <p:txBody>
          <a:bodyPr wrap="square" rtlCol="0" anchor="ctr"/>
          <a:lstStyle/>
          <a:p>
            <a:pPr algn="ctr" indent="0" marL="0">
              <a:buNone/>
            </a:pPr>
            <a:r>
              <a:rPr lang="en-US" sz="700" b="1" dirty="0">
                <a:solidFill>
                  <a:srgbClr val="12C479"/>
                </a:solidFill>
              </a:rPr>
              <a:t>SEED STAGE</a:t>
            </a:r>
            <a:endParaRPr lang="en-US" sz="700" dirty="0"/>
          </a:p>
        </p:txBody>
      </p:sp>
      <p:sp>
        <p:nvSpPr>
          <p:cNvPr id="10" name="Text 8"/>
          <p:cNvSpPr/>
          <p:nvPr/>
        </p:nvSpPr>
        <p:spPr>
          <a:xfrm>
            <a:off x="274320" y="877824"/>
            <a:ext cx="11612880" cy="566928"/>
          </a:xfrm>
          <a:prstGeom prst="rect">
            <a:avLst/>
          </a:prstGeom>
          <a:noFill/>
          <a:ln/>
        </p:spPr>
        <p:txBody>
          <a:bodyPr wrap="square" rtlCol="0" anchor="ctr"/>
          <a:lstStyle/>
          <a:p>
            <a:pPr indent="0" marL="0">
              <a:buNone/>
            </a:pPr>
            <a:r>
              <a:rPr lang="en-US" sz="2200" b="1" dirty="0">
                <a:solidFill>
                  <a:srgbClr val="0D1E35"/>
                </a:solidFill>
                <a:latin typeface="Arial" pitchFamily="34" charset="0"/>
                <a:ea typeface="Arial" pitchFamily="34" charset="-122"/>
                <a:cs typeface="Arial" pitchFamily="34" charset="-120"/>
              </a:rPr>
              <a:t>S45 — Agentic Developer Platform</a:t>
            </a:r>
            <a:endParaRPr lang="en-US" sz="2200" dirty="0"/>
          </a:p>
        </p:txBody>
      </p:sp>
      <p:sp>
        <p:nvSpPr>
          <p:cNvPr id="11" name="Text 9"/>
          <p:cNvSpPr/>
          <p:nvPr/>
        </p:nvSpPr>
        <p:spPr>
          <a:xfrm>
            <a:off x="274320" y="1444752"/>
            <a:ext cx="11612880" cy="384048"/>
          </a:xfrm>
          <a:prstGeom prst="rect">
            <a:avLst/>
          </a:prstGeom>
          <a:noFill/>
          <a:ln/>
        </p:spPr>
        <p:txBody>
          <a:bodyPr wrap="square" rtlCol="0" anchor="ctr"/>
          <a:lstStyle/>
          <a:p>
            <a:pPr indent="0" marL="0">
              <a:buNone/>
            </a:pPr>
            <a:r>
              <a:rPr lang="en-US" sz="1050" dirty="0">
                <a:solidFill>
                  <a:srgbClr val="3D5472"/>
                </a:solidFill>
              </a:rPr>
              <a:t>S45 is building the orchestration and execution layer for production AI agents — the missing infrastructure between raw LLM APIs and reliable, multi-step agentic workflows.</a:t>
            </a:r>
            <a:endParaRPr lang="en-US" sz="1050" dirty="0"/>
          </a:p>
        </p:txBody>
      </p:sp>
      <p:sp>
        <p:nvSpPr>
          <p:cNvPr id="12" name="Shape 10"/>
          <p:cNvSpPr/>
          <p:nvPr/>
        </p:nvSpPr>
        <p:spPr>
          <a:xfrm>
            <a:off x="274320" y="2011680"/>
            <a:ext cx="3931920" cy="3108960"/>
          </a:xfrm>
          <a:prstGeom prst="roundRect">
            <a:avLst>
              <a:gd name="adj" fmla="val 2941"/>
            </a:avLst>
          </a:prstGeom>
          <a:solidFill>
            <a:srgbClr val="FFFFFF"/>
          </a:solidFill>
          <a:ln w="6350">
            <a:solidFill>
              <a:srgbClr val="D5E3F7"/>
            </a:solidFill>
            <a:prstDash val="solid"/>
          </a:ln>
        </p:spPr>
      </p:sp>
      <p:sp>
        <p:nvSpPr>
          <p:cNvPr id="13" name="Text 11"/>
          <p:cNvSpPr/>
          <p:nvPr/>
        </p:nvSpPr>
        <p:spPr>
          <a:xfrm>
            <a:off x="457200" y="2157984"/>
            <a:ext cx="3566160" cy="182880"/>
          </a:xfrm>
          <a:prstGeom prst="rect">
            <a:avLst/>
          </a:prstGeom>
          <a:noFill/>
          <a:ln/>
        </p:spPr>
        <p:txBody>
          <a:bodyPr wrap="square" rtlCol="0" anchor="ctr"/>
          <a:lstStyle/>
          <a:p>
            <a:pPr indent="0" marL="0">
              <a:buNone/>
            </a:pPr>
            <a:r>
              <a:rPr lang="en-US" sz="750" b="1" dirty="0">
                <a:solidFill>
                  <a:srgbClr val="7B96B8"/>
                </a:solidFill>
              </a:rPr>
              <a:t>COMPANY SNAPSHOT</a:t>
            </a:r>
            <a:endParaRPr lang="en-US" sz="750" dirty="0"/>
          </a:p>
        </p:txBody>
      </p:sp>
      <p:sp>
        <p:nvSpPr>
          <p:cNvPr id="14" name="Shape 12"/>
          <p:cNvSpPr/>
          <p:nvPr/>
        </p:nvSpPr>
        <p:spPr>
          <a:xfrm>
            <a:off x="457200" y="2798064"/>
            <a:ext cx="3566160" cy="18288"/>
          </a:xfrm>
          <a:prstGeom prst="rect">
            <a:avLst/>
          </a:prstGeom>
          <a:solidFill>
            <a:srgbClr val="EDF2FB"/>
          </a:solidFill>
          <a:ln w="12700">
            <a:solidFill>
              <a:srgbClr val="EDF2FB"/>
            </a:solidFill>
            <a:prstDash val="solid"/>
          </a:ln>
        </p:spPr>
      </p:sp>
      <p:sp>
        <p:nvSpPr>
          <p:cNvPr id="15" name="Text 13"/>
          <p:cNvSpPr/>
          <p:nvPr/>
        </p:nvSpPr>
        <p:spPr>
          <a:xfrm>
            <a:off x="457200" y="2414016"/>
            <a:ext cx="1737360" cy="347472"/>
          </a:xfrm>
          <a:prstGeom prst="rect">
            <a:avLst/>
          </a:prstGeom>
          <a:noFill/>
          <a:ln/>
        </p:spPr>
        <p:txBody>
          <a:bodyPr wrap="square" rtlCol="0" anchor="ctr"/>
          <a:lstStyle/>
          <a:p>
            <a:pPr indent="0" marL="0">
              <a:buNone/>
            </a:pPr>
            <a:r>
              <a:rPr lang="en-US" sz="1000" dirty="0">
                <a:solidFill>
                  <a:srgbClr val="3D5472"/>
                </a:solidFill>
              </a:rPr>
              <a:t>Founded</a:t>
            </a:r>
            <a:endParaRPr lang="en-US" sz="1000" dirty="0"/>
          </a:p>
        </p:txBody>
      </p:sp>
      <p:sp>
        <p:nvSpPr>
          <p:cNvPr id="16" name="Text 14"/>
          <p:cNvSpPr/>
          <p:nvPr/>
        </p:nvSpPr>
        <p:spPr>
          <a:xfrm>
            <a:off x="2286000" y="2414016"/>
            <a:ext cx="1737360" cy="347472"/>
          </a:xfrm>
          <a:prstGeom prst="rect">
            <a:avLst/>
          </a:prstGeom>
          <a:noFill/>
          <a:ln/>
        </p:spPr>
        <p:txBody>
          <a:bodyPr wrap="square" rtlCol="0" anchor="ctr"/>
          <a:lstStyle/>
          <a:p>
            <a:pPr algn="r" indent="0" marL="0">
              <a:buNone/>
            </a:pPr>
            <a:r>
              <a:rPr lang="en-US" sz="1000" b="1" dirty="0">
                <a:solidFill>
                  <a:srgbClr val="2F80ED"/>
                </a:solidFill>
              </a:rPr>
              <a:t>2024</a:t>
            </a:r>
            <a:endParaRPr lang="en-US" sz="1000" dirty="0"/>
          </a:p>
        </p:txBody>
      </p:sp>
      <p:sp>
        <p:nvSpPr>
          <p:cNvPr id="17" name="Shape 15"/>
          <p:cNvSpPr/>
          <p:nvPr/>
        </p:nvSpPr>
        <p:spPr>
          <a:xfrm>
            <a:off x="457200" y="3255264"/>
            <a:ext cx="3566160" cy="18288"/>
          </a:xfrm>
          <a:prstGeom prst="rect">
            <a:avLst/>
          </a:prstGeom>
          <a:solidFill>
            <a:srgbClr val="EDF2FB"/>
          </a:solidFill>
          <a:ln w="12700">
            <a:solidFill>
              <a:srgbClr val="EDF2FB"/>
            </a:solidFill>
            <a:prstDash val="solid"/>
          </a:ln>
        </p:spPr>
      </p:sp>
      <p:sp>
        <p:nvSpPr>
          <p:cNvPr id="18" name="Text 16"/>
          <p:cNvSpPr/>
          <p:nvPr/>
        </p:nvSpPr>
        <p:spPr>
          <a:xfrm>
            <a:off x="457200" y="2871216"/>
            <a:ext cx="1737360" cy="347472"/>
          </a:xfrm>
          <a:prstGeom prst="rect">
            <a:avLst/>
          </a:prstGeom>
          <a:noFill/>
          <a:ln/>
        </p:spPr>
        <p:txBody>
          <a:bodyPr wrap="square" rtlCol="0" anchor="ctr"/>
          <a:lstStyle/>
          <a:p>
            <a:pPr indent="0" marL="0">
              <a:buNone/>
            </a:pPr>
            <a:r>
              <a:rPr lang="en-US" sz="1000" dirty="0">
                <a:solidFill>
                  <a:srgbClr val="3D5472"/>
                </a:solidFill>
              </a:rPr>
              <a:t>Stage</a:t>
            </a:r>
            <a:endParaRPr lang="en-US" sz="1000" dirty="0"/>
          </a:p>
        </p:txBody>
      </p:sp>
      <p:sp>
        <p:nvSpPr>
          <p:cNvPr id="19" name="Text 17"/>
          <p:cNvSpPr/>
          <p:nvPr/>
        </p:nvSpPr>
        <p:spPr>
          <a:xfrm>
            <a:off x="2286000" y="2871216"/>
            <a:ext cx="1737360" cy="347472"/>
          </a:xfrm>
          <a:prstGeom prst="rect">
            <a:avLst/>
          </a:prstGeom>
          <a:noFill/>
          <a:ln/>
        </p:spPr>
        <p:txBody>
          <a:bodyPr wrap="square" rtlCol="0" anchor="ctr"/>
          <a:lstStyle/>
          <a:p>
            <a:pPr algn="r" indent="0" marL="0">
              <a:buNone/>
            </a:pPr>
            <a:r>
              <a:rPr lang="en-US" sz="1000" b="1" dirty="0">
                <a:solidFill>
                  <a:srgbClr val="2F80ED"/>
                </a:solidFill>
              </a:rPr>
              <a:t>Seed</a:t>
            </a:r>
            <a:endParaRPr lang="en-US" sz="1000" dirty="0"/>
          </a:p>
        </p:txBody>
      </p:sp>
      <p:sp>
        <p:nvSpPr>
          <p:cNvPr id="20" name="Shape 18"/>
          <p:cNvSpPr/>
          <p:nvPr/>
        </p:nvSpPr>
        <p:spPr>
          <a:xfrm>
            <a:off x="457200" y="3712464"/>
            <a:ext cx="3566160" cy="18288"/>
          </a:xfrm>
          <a:prstGeom prst="rect">
            <a:avLst/>
          </a:prstGeom>
          <a:solidFill>
            <a:srgbClr val="EDF2FB"/>
          </a:solidFill>
          <a:ln w="12700">
            <a:solidFill>
              <a:srgbClr val="EDF2FB"/>
            </a:solidFill>
            <a:prstDash val="solid"/>
          </a:ln>
        </p:spPr>
      </p:sp>
      <p:sp>
        <p:nvSpPr>
          <p:cNvPr id="21" name="Text 19"/>
          <p:cNvSpPr/>
          <p:nvPr/>
        </p:nvSpPr>
        <p:spPr>
          <a:xfrm>
            <a:off x="457200" y="3328416"/>
            <a:ext cx="1737360" cy="347472"/>
          </a:xfrm>
          <a:prstGeom prst="rect">
            <a:avLst/>
          </a:prstGeom>
          <a:noFill/>
          <a:ln/>
        </p:spPr>
        <p:txBody>
          <a:bodyPr wrap="square" rtlCol="0" anchor="ctr"/>
          <a:lstStyle/>
          <a:p>
            <a:pPr indent="0" marL="0">
              <a:buNone/>
            </a:pPr>
            <a:r>
              <a:rPr lang="en-US" sz="1000" dirty="0">
                <a:solidFill>
                  <a:srgbClr val="3D5472"/>
                </a:solidFill>
              </a:rPr>
              <a:t>HQ</a:t>
            </a:r>
            <a:endParaRPr lang="en-US" sz="1000" dirty="0"/>
          </a:p>
        </p:txBody>
      </p:sp>
      <p:sp>
        <p:nvSpPr>
          <p:cNvPr id="22" name="Text 20"/>
          <p:cNvSpPr/>
          <p:nvPr/>
        </p:nvSpPr>
        <p:spPr>
          <a:xfrm>
            <a:off x="2286000" y="3328416"/>
            <a:ext cx="1737360" cy="347472"/>
          </a:xfrm>
          <a:prstGeom prst="rect">
            <a:avLst/>
          </a:prstGeom>
          <a:noFill/>
          <a:ln/>
        </p:spPr>
        <p:txBody>
          <a:bodyPr wrap="square" rtlCol="0" anchor="ctr"/>
          <a:lstStyle/>
          <a:p>
            <a:pPr algn="r" indent="0" marL="0">
              <a:buNone/>
            </a:pPr>
            <a:r>
              <a:rPr lang="en-US" sz="1000" b="1" dirty="0">
                <a:solidFill>
                  <a:srgbClr val="2F80ED"/>
                </a:solidFill>
              </a:rPr>
              <a:t>Bengaluru / San Francisco</a:t>
            </a:r>
            <a:endParaRPr lang="en-US" sz="1000" dirty="0"/>
          </a:p>
        </p:txBody>
      </p:sp>
      <p:sp>
        <p:nvSpPr>
          <p:cNvPr id="23" name="Shape 21"/>
          <p:cNvSpPr/>
          <p:nvPr/>
        </p:nvSpPr>
        <p:spPr>
          <a:xfrm>
            <a:off x="457200" y="4169664"/>
            <a:ext cx="3566160" cy="18288"/>
          </a:xfrm>
          <a:prstGeom prst="rect">
            <a:avLst/>
          </a:prstGeom>
          <a:solidFill>
            <a:srgbClr val="EDF2FB"/>
          </a:solidFill>
          <a:ln w="12700">
            <a:solidFill>
              <a:srgbClr val="EDF2FB"/>
            </a:solidFill>
            <a:prstDash val="solid"/>
          </a:ln>
        </p:spPr>
      </p:sp>
      <p:sp>
        <p:nvSpPr>
          <p:cNvPr id="24" name="Text 22"/>
          <p:cNvSpPr/>
          <p:nvPr/>
        </p:nvSpPr>
        <p:spPr>
          <a:xfrm>
            <a:off x="457200" y="3785616"/>
            <a:ext cx="1737360" cy="347472"/>
          </a:xfrm>
          <a:prstGeom prst="rect">
            <a:avLst/>
          </a:prstGeom>
          <a:noFill/>
          <a:ln/>
        </p:spPr>
        <p:txBody>
          <a:bodyPr wrap="square" rtlCol="0" anchor="ctr"/>
          <a:lstStyle/>
          <a:p>
            <a:pPr indent="0" marL="0">
              <a:buNone/>
            </a:pPr>
            <a:r>
              <a:rPr lang="en-US" sz="1000" dirty="0">
                <a:solidFill>
                  <a:srgbClr val="3D5472"/>
                </a:solidFill>
              </a:rPr>
              <a:t>Category</a:t>
            </a:r>
            <a:endParaRPr lang="en-US" sz="1000" dirty="0"/>
          </a:p>
        </p:txBody>
      </p:sp>
      <p:sp>
        <p:nvSpPr>
          <p:cNvPr id="25" name="Text 23"/>
          <p:cNvSpPr/>
          <p:nvPr/>
        </p:nvSpPr>
        <p:spPr>
          <a:xfrm>
            <a:off x="2286000" y="3785616"/>
            <a:ext cx="1737360" cy="347472"/>
          </a:xfrm>
          <a:prstGeom prst="rect">
            <a:avLst/>
          </a:prstGeom>
          <a:noFill/>
          <a:ln/>
        </p:spPr>
        <p:txBody>
          <a:bodyPr wrap="square" rtlCol="0" anchor="ctr"/>
          <a:lstStyle/>
          <a:p>
            <a:pPr algn="r" indent="0" marL="0">
              <a:buNone/>
            </a:pPr>
            <a:r>
              <a:rPr lang="en-US" sz="1000" b="1" dirty="0">
                <a:solidFill>
                  <a:srgbClr val="2F80ED"/>
                </a:solidFill>
              </a:rPr>
              <a:t>AI Agent Infrastructure</a:t>
            </a:r>
            <a:endParaRPr lang="en-US" sz="1000" dirty="0"/>
          </a:p>
        </p:txBody>
      </p:sp>
      <p:sp>
        <p:nvSpPr>
          <p:cNvPr id="26" name="Shape 24"/>
          <p:cNvSpPr/>
          <p:nvPr/>
        </p:nvSpPr>
        <p:spPr>
          <a:xfrm>
            <a:off x="457200" y="4626864"/>
            <a:ext cx="3566160" cy="18288"/>
          </a:xfrm>
          <a:prstGeom prst="rect">
            <a:avLst/>
          </a:prstGeom>
          <a:solidFill>
            <a:srgbClr val="EDF2FB"/>
          </a:solidFill>
          <a:ln w="12700">
            <a:solidFill>
              <a:srgbClr val="EDF2FB"/>
            </a:solidFill>
            <a:prstDash val="solid"/>
          </a:ln>
        </p:spPr>
      </p:sp>
      <p:sp>
        <p:nvSpPr>
          <p:cNvPr id="27" name="Text 25"/>
          <p:cNvSpPr/>
          <p:nvPr/>
        </p:nvSpPr>
        <p:spPr>
          <a:xfrm>
            <a:off x="457200" y="4242816"/>
            <a:ext cx="1737360" cy="347472"/>
          </a:xfrm>
          <a:prstGeom prst="rect">
            <a:avLst/>
          </a:prstGeom>
          <a:noFill/>
          <a:ln/>
        </p:spPr>
        <p:txBody>
          <a:bodyPr wrap="square" rtlCol="0" anchor="ctr"/>
          <a:lstStyle/>
          <a:p>
            <a:pPr indent="0" marL="0">
              <a:buNone/>
            </a:pPr>
            <a:r>
              <a:rPr lang="en-US" sz="1000" dirty="0">
                <a:solidFill>
                  <a:srgbClr val="3D5472"/>
                </a:solidFill>
              </a:rPr>
              <a:t>Partners</a:t>
            </a:r>
            <a:endParaRPr lang="en-US" sz="1000" dirty="0"/>
          </a:p>
        </p:txBody>
      </p:sp>
      <p:sp>
        <p:nvSpPr>
          <p:cNvPr id="28" name="Text 26"/>
          <p:cNvSpPr/>
          <p:nvPr/>
        </p:nvSpPr>
        <p:spPr>
          <a:xfrm>
            <a:off x="2286000" y="4242816"/>
            <a:ext cx="1737360" cy="347472"/>
          </a:xfrm>
          <a:prstGeom prst="rect">
            <a:avLst/>
          </a:prstGeom>
          <a:noFill/>
          <a:ln/>
        </p:spPr>
        <p:txBody>
          <a:bodyPr wrap="square" rtlCol="0" anchor="ctr"/>
          <a:lstStyle/>
          <a:p>
            <a:pPr algn="r" indent="0" marL="0">
              <a:buNone/>
            </a:pPr>
            <a:r>
              <a:rPr lang="en-US" sz="1000" b="1" dirty="0">
                <a:solidFill>
                  <a:srgbClr val="2F80ED"/>
                </a:solidFill>
              </a:rPr>
              <a:t>~50 design partners</a:t>
            </a:r>
            <a:endParaRPr lang="en-US" sz="1000" dirty="0"/>
          </a:p>
        </p:txBody>
      </p:sp>
      <p:sp>
        <p:nvSpPr>
          <p:cNvPr id="29" name="Shape 27"/>
          <p:cNvSpPr/>
          <p:nvPr/>
        </p:nvSpPr>
        <p:spPr>
          <a:xfrm>
            <a:off x="4434840" y="2011680"/>
            <a:ext cx="7452360" cy="3108960"/>
          </a:xfrm>
          <a:prstGeom prst="roundRect">
            <a:avLst>
              <a:gd name="adj" fmla="val 2941"/>
            </a:avLst>
          </a:prstGeom>
          <a:solidFill>
            <a:srgbClr val="FFFFFF"/>
          </a:solidFill>
          <a:ln w="6350">
            <a:solidFill>
              <a:srgbClr val="D5E3F7"/>
            </a:solidFill>
            <a:prstDash val="solid"/>
          </a:ln>
        </p:spPr>
      </p:sp>
      <p:sp>
        <p:nvSpPr>
          <p:cNvPr id="30" name="Text 28"/>
          <p:cNvSpPr/>
          <p:nvPr/>
        </p:nvSpPr>
        <p:spPr>
          <a:xfrm>
            <a:off x="4617720" y="2157984"/>
            <a:ext cx="7086600" cy="182880"/>
          </a:xfrm>
          <a:prstGeom prst="rect">
            <a:avLst/>
          </a:prstGeom>
          <a:noFill/>
          <a:ln/>
        </p:spPr>
        <p:txBody>
          <a:bodyPr wrap="square" rtlCol="0" anchor="ctr"/>
          <a:lstStyle/>
          <a:p>
            <a:pPr indent="0" marL="0">
              <a:buNone/>
            </a:pPr>
            <a:r>
              <a:rPr lang="en-US" sz="750" b="1" dirty="0">
                <a:solidFill>
                  <a:srgbClr val="7B96B8"/>
                </a:solidFill>
              </a:rPr>
              <a:t>WHAT S45 BUILDS</a:t>
            </a:r>
            <a:endParaRPr lang="en-US" sz="750" dirty="0"/>
          </a:p>
        </p:txBody>
      </p:sp>
      <p:sp>
        <p:nvSpPr>
          <p:cNvPr id="31" name="Text 29"/>
          <p:cNvSpPr/>
          <p:nvPr/>
        </p:nvSpPr>
        <p:spPr>
          <a:xfrm>
            <a:off x="4617720" y="2450592"/>
            <a:ext cx="7040880" cy="256032"/>
          </a:xfrm>
          <a:prstGeom prst="rect">
            <a:avLst/>
          </a:prstGeom>
          <a:noFill/>
          <a:ln/>
        </p:spPr>
        <p:txBody>
          <a:bodyPr wrap="square" rtlCol="0" anchor="ctr"/>
          <a:lstStyle/>
          <a:p>
            <a:pPr indent="0" marL="0">
              <a:buNone/>
            </a:pPr>
            <a:r>
              <a:rPr lang="en-US" sz="1100" b="1" dirty="0">
                <a:solidFill>
                  <a:srgbClr val="0D1E35"/>
                </a:solidFill>
              </a:rPr>
              <a:t>⚙️ Stateful agent runtime</a:t>
            </a:r>
            <a:endParaRPr lang="en-US" sz="1100" dirty="0"/>
          </a:p>
        </p:txBody>
      </p:sp>
      <p:sp>
        <p:nvSpPr>
          <p:cNvPr id="32" name="Text 30"/>
          <p:cNvSpPr/>
          <p:nvPr/>
        </p:nvSpPr>
        <p:spPr>
          <a:xfrm>
            <a:off x="4617720" y="2706624"/>
            <a:ext cx="7040880" cy="438912"/>
          </a:xfrm>
          <a:prstGeom prst="rect">
            <a:avLst/>
          </a:prstGeom>
          <a:noFill/>
          <a:ln/>
        </p:spPr>
        <p:txBody>
          <a:bodyPr wrap="square" rtlCol="0" anchor="ctr"/>
          <a:lstStyle/>
          <a:p>
            <a:pPr indent="0" marL="0">
              <a:buNone/>
            </a:pPr>
            <a:r>
              <a:rPr lang="en-US" sz="950" dirty="0">
                <a:solidFill>
                  <a:srgbClr val="3D5472"/>
                </a:solidFill>
              </a:rPr>
              <a:t>Persistent task queues, retry logic, and checkpointing for long-running AI agents. State is never lost mid-execution — critical for financial and compliance workflows.</a:t>
            </a:r>
            <a:endParaRPr lang="en-US" sz="950" dirty="0"/>
          </a:p>
        </p:txBody>
      </p:sp>
      <p:sp>
        <p:nvSpPr>
          <p:cNvPr id="33" name="Shape 31"/>
          <p:cNvSpPr/>
          <p:nvPr/>
        </p:nvSpPr>
        <p:spPr>
          <a:xfrm>
            <a:off x="4617720" y="3182112"/>
            <a:ext cx="7086600" cy="18288"/>
          </a:xfrm>
          <a:prstGeom prst="rect">
            <a:avLst/>
          </a:prstGeom>
          <a:solidFill>
            <a:srgbClr val="EDF2FB"/>
          </a:solidFill>
          <a:ln w="12700">
            <a:solidFill>
              <a:srgbClr val="EDF2FB"/>
            </a:solidFill>
            <a:prstDash val="solid"/>
          </a:ln>
        </p:spPr>
      </p:sp>
      <p:sp>
        <p:nvSpPr>
          <p:cNvPr id="34" name="Text 32"/>
          <p:cNvSpPr/>
          <p:nvPr/>
        </p:nvSpPr>
        <p:spPr>
          <a:xfrm>
            <a:off x="4617720" y="3291840"/>
            <a:ext cx="7040880" cy="256032"/>
          </a:xfrm>
          <a:prstGeom prst="rect">
            <a:avLst/>
          </a:prstGeom>
          <a:noFill/>
          <a:ln/>
        </p:spPr>
        <p:txBody>
          <a:bodyPr wrap="square" rtlCol="0" anchor="ctr"/>
          <a:lstStyle/>
          <a:p>
            <a:pPr indent="0" marL="0">
              <a:buNone/>
            </a:pPr>
            <a:r>
              <a:rPr lang="en-US" sz="1100" b="1" dirty="0">
                <a:solidFill>
                  <a:srgbClr val="0D1E35"/>
                </a:solidFill>
              </a:rPr>
              <a:t>🔀 Multi-agent orchestration</a:t>
            </a:r>
            <a:endParaRPr lang="en-US" sz="1100" dirty="0"/>
          </a:p>
        </p:txBody>
      </p:sp>
      <p:sp>
        <p:nvSpPr>
          <p:cNvPr id="35" name="Text 33"/>
          <p:cNvSpPr/>
          <p:nvPr/>
        </p:nvSpPr>
        <p:spPr>
          <a:xfrm>
            <a:off x="4617720" y="3547872"/>
            <a:ext cx="7040880" cy="438912"/>
          </a:xfrm>
          <a:prstGeom prst="rect">
            <a:avLst/>
          </a:prstGeom>
          <a:noFill/>
          <a:ln/>
        </p:spPr>
        <p:txBody>
          <a:bodyPr wrap="square" rtlCol="0" anchor="ctr"/>
          <a:lstStyle/>
          <a:p>
            <a:pPr indent="0" marL="0">
              <a:buNone/>
            </a:pPr>
            <a:r>
              <a:rPr lang="en-US" sz="950" dirty="0">
                <a:solidFill>
                  <a:srgbClr val="3D5472"/>
                </a:solidFill>
              </a:rPr>
              <a:t>Route tasks across specialized agents with human-in-the-loop interruption, tool use authorization, and parallel execution branches.</a:t>
            </a:r>
            <a:endParaRPr lang="en-US" sz="950" dirty="0"/>
          </a:p>
        </p:txBody>
      </p:sp>
      <p:sp>
        <p:nvSpPr>
          <p:cNvPr id="36" name="Shape 34"/>
          <p:cNvSpPr/>
          <p:nvPr/>
        </p:nvSpPr>
        <p:spPr>
          <a:xfrm>
            <a:off x="4617720" y="4023360"/>
            <a:ext cx="7086600" cy="18288"/>
          </a:xfrm>
          <a:prstGeom prst="rect">
            <a:avLst/>
          </a:prstGeom>
          <a:solidFill>
            <a:srgbClr val="EDF2FB"/>
          </a:solidFill>
          <a:ln w="12700">
            <a:solidFill>
              <a:srgbClr val="EDF2FB"/>
            </a:solidFill>
            <a:prstDash val="solid"/>
          </a:ln>
        </p:spPr>
      </p:sp>
      <p:sp>
        <p:nvSpPr>
          <p:cNvPr id="37" name="Text 35"/>
          <p:cNvSpPr/>
          <p:nvPr/>
        </p:nvSpPr>
        <p:spPr>
          <a:xfrm>
            <a:off x="4617720" y="4133088"/>
            <a:ext cx="7040880" cy="256032"/>
          </a:xfrm>
          <a:prstGeom prst="rect">
            <a:avLst/>
          </a:prstGeom>
          <a:noFill/>
          <a:ln/>
        </p:spPr>
        <p:txBody>
          <a:bodyPr wrap="square" rtlCol="0" anchor="ctr"/>
          <a:lstStyle/>
          <a:p>
            <a:pPr indent="0" marL="0">
              <a:buNone/>
            </a:pPr>
            <a:r>
              <a:rPr lang="en-US" sz="1100" b="1" dirty="0">
                <a:solidFill>
                  <a:srgbClr val="0D1E35"/>
                </a:solidFill>
              </a:rPr>
              <a:t>📊 Agent observability</a:t>
            </a:r>
            <a:endParaRPr lang="en-US" sz="1100" dirty="0"/>
          </a:p>
        </p:txBody>
      </p:sp>
      <p:sp>
        <p:nvSpPr>
          <p:cNvPr id="38" name="Text 36"/>
          <p:cNvSpPr/>
          <p:nvPr/>
        </p:nvSpPr>
        <p:spPr>
          <a:xfrm>
            <a:off x="4617720" y="4389120"/>
            <a:ext cx="7040880" cy="438912"/>
          </a:xfrm>
          <a:prstGeom prst="rect">
            <a:avLst/>
          </a:prstGeom>
          <a:noFill/>
          <a:ln/>
        </p:spPr>
        <p:txBody>
          <a:bodyPr wrap="square" rtlCol="0" anchor="ctr"/>
          <a:lstStyle/>
          <a:p>
            <a:pPr indent="0" marL="0">
              <a:buNone/>
            </a:pPr>
            <a:r>
              <a:rPr lang="en-US" sz="950" dirty="0">
                <a:solidFill>
                  <a:srgbClr val="3D5472"/>
                </a:solidFill>
              </a:rPr>
              <a:t>Trace every LLM call, tool invocation, and decision branch. Replay, debug, and evaluate agent behavior in production without losing context.</a:t>
            </a:r>
            <a:endParaRPr lang="en-US" sz="950" dirty="0"/>
          </a:p>
        </p:txBody>
      </p:sp>
      <p:sp>
        <p:nvSpPr>
          <p:cNvPr id="39" name="Shape 37"/>
          <p:cNvSpPr/>
          <p:nvPr/>
        </p:nvSpPr>
        <p:spPr>
          <a:xfrm>
            <a:off x="274320" y="5257800"/>
            <a:ext cx="3703320" cy="685800"/>
          </a:xfrm>
          <a:prstGeom prst="roundRect">
            <a:avLst>
              <a:gd name="adj" fmla="val 10667"/>
            </a:avLst>
          </a:prstGeom>
          <a:solidFill>
            <a:srgbClr val="FFFFFF"/>
          </a:solidFill>
          <a:ln w="12700">
            <a:solidFill>
              <a:srgbClr val="000000"/>
            </a:solidFill>
            <a:prstDash val="solid"/>
          </a:ln>
        </p:spPr>
      </p:sp>
      <p:sp>
        <p:nvSpPr>
          <p:cNvPr id="40" name="Shape 38"/>
          <p:cNvSpPr/>
          <p:nvPr/>
        </p:nvSpPr>
        <p:spPr>
          <a:xfrm>
            <a:off x="274320" y="5257800"/>
            <a:ext cx="3703320" cy="54864"/>
          </a:xfrm>
          <a:prstGeom prst="rect">
            <a:avLst/>
          </a:prstGeom>
          <a:solidFill>
            <a:srgbClr val="2F80ED"/>
          </a:solidFill>
          <a:ln w="12700">
            <a:solidFill>
              <a:srgbClr val="2F80ED"/>
            </a:solidFill>
            <a:prstDash val="solid"/>
          </a:ln>
        </p:spPr>
      </p:sp>
      <p:sp>
        <p:nvSpPr>
          <p:cNvPr id="41" name="Text 39"/>
          <p:cNvSpPr/>
          <p:nvPr/>
        </p:nvSpPr>
        <p:spPr>
          <a:xfrm>
            <a:off x="411480" y="5367528"/>
            <a:ext cx="1828800" cy="274320"/>
          </a:xfrm>
          <a:prstGeom prst="rect">
            <a:avLst/>
          </a:prstGeom>
          <a:noFill/>
          <a:ln/>
        </p:spPr>
        <p:txBody>
          <a:bodyPr wrap="square" rtlCol="0" anchor="ctr"/>
          <a:lstStyle/>
          <a:p>
            <a:pPr indent="0" marL="0">
              <a:buNone/>
            </a:pPr>
            <a:r>
              <a:rPr lang="en-US" sz="2000" b="1" dirty="0">
                <a:solidFill>
                  <a:srgbClr val="2F80ED"/>
                </a:solidFill>
              </a:rPr>
              <a:t>50+</a:t>
            </a:r>
            <a:endParaRPr lang="en-US" sz="2000" dirty="0"/>
          </a:p>
        </p:txBody>
      </p:sp>
      <p:sp>
        <p:nvSpPr>
          <p:cNvPr id="42" name="Text 40"/>
          <p:cNvSpPr/>
          <p:nvPr/>
        </p:nvSpPr>
        <p:spPr>
          <a:xfrm>
            <a:off x="411480" y="5641848"/>
            <a:ext cx="3429000" cy="201168"/>
          </a:xfrm>
          <a:prstGeom prst="rect">
            <a:avLst/>
          </a:prstGeom>
          <a:noFill/>
          <a:ln/>
        </p:spPr>
        <p:txBody>
          <a:bodyPr wrap="square" rtlCol="0" anchor="ctr"/>
          <a:lstStyle/>
          <a:p>
            <a:pPr indent="0" marL="0">
              <a:buNone/>
            </a:pPr>
            <a:r>
              <a:rPr lang="en-US" sz="900" dirty="0">
                <a:solidFill>
                  <a:srgbClr val="7B96B8"/>
                </a:solidFill>
              </a:rPr>
              <a:t>Design partners onboarded</a:t>
            </a:r>
            <a:endParaRPr lang="en-US" sz="900" dirty="0"/>
          </a:p>
        </p:txBody>
      </p:sp>
      <p:sp>
        <p:nvSpPr>
          <p:cNvPr id="43" name="Shape 41"/>
          <p:cNvSpPr/>
          <p:nvPr/>
        </p:nvSpPr>
        <p:spPr>
          <a:xfrm>
            <a:off x="4251960" y="5257800"/>
            <a:ext cx="3703320" cy="685800"/>
          </a:xfrm>
          <a:prstGeom prst="roundRect">
            <a:avLst>
              <a:gd name="adj" fmla="val 10667"/>
            </a:avLst>
          </a:prstGeom>
          <a:solidFill>
            <a:srgbClr val="FFFFFF"/>
          </a:solidFill>
          <a:ln w="12700">
            <a:solidFill>
              <a:srgbClr val="000000"/>
            </a:solidFill>
            <a:prstDash val="solid"/>
          </a:ln>
        </p:spPr>
      </p:sp>
      <p:sp>
        <p:nvSpPr>
          <p:cNvPr id="44" name="Shape 42"/>
          <p:cNvSpPr/>
          <p:nvPr/>
        </p:nvSpPr>
        <p:spPr>
          <a:xfrm>
            <a:off x="4251960" y="5257800"/>
            <a:ext cx="3703320" cy="54864"/>
          </a:xfrm>
          <a:prstGeom prst="rect">
            <a:avLst/>
          </a:prstGeom>
          <a:solidFill>
            <a:srgbClr val="1BC5FF"/>
          </a:solidFill>
          <a:ln w="12700">
            <a:solidFill>
              <a:srgbClr val="1BC5FF"/>
            </a:solidFill>
            <a:prstDash val="solid"/>
          </a:ln>
        </p:spPr>
      </p:sp>
      <p:sp>
        <p:nvSpPr>
          <p:cNvPr id="45" name="Text 43"/>
          <p:cNvSpPr/>
          <p:nvPr/>
        </p:nvSpPr>
        <p:spPr>
          <a:xfrm>
            <a:off x="4389120" y="5367528"/>
            <a:ext cx="1828800" cy="274320"/>
          </a:xfrm>
          <a:prstGeom prst="rect">
            <a:avLst/>
          </a:prstGeom>
          <a:noFill/>
          <a:ln/>
        </p:spPr>
        <p:txBody>
          <a:bodyPr wrap="square" rtlCol="0" anchor="ctr"/>
          <a:lstStyle/>
          <a:p>
            <a:pPr indent="0" marL="0">
              <a:buNone/>
            </a:pPr>
            <a:r>
              <a:rPr lang="en-US" sz="2000" b="1" dirty="0">
                <a:solidFill>
                  <a:srgbClr val="1BC5FF"/>
                </a:solidFill>
              </a:rPr>
              <a:t>3ms</a:t>
            </a:r>
            <a:endParaRPr lang="en-US" sz="2000" dirty="0"/>
          </a:p>
        </p:txBody>
      </p:sp>
      <p:sp>
        <p:nvSpPr>
          <p:cNvPr id="46" name="Text 44"/>
          <p:cNvSpPr/>
          <p:nvPr/>
        </p:nvSpPr>
        <p:spPr>
          <a:xfrm>
            <a:off x="4389120" y="5641848"/>
            <a:ext cx="3429000" cy="201168"/>
          </a:xfrm>
          <a:prstGeom prst="rect">
            <a:avLst/>
          </a:prstGeom>
          <a:noFill/>
          <a:ln/>
        </p:spPr>
        <p:txBody>
          <a:bodyPr wrap="square" rtlCol="0" anchor="ctr"/>
          <a:lstStyle/>
          <a:p>
            <a:pPr indent="0" marL="0">
              <a:buNone/>
            </a:pPr>
            <a:r>
              <a:rPr lang="en-US" sz="900" dirty="0">
                <a:solidFill>
                  <a:srgbClr val="7B96B8"/>
                </a:solidFill>
              </a:rPr>
              <a:t>Avg. agent step latency (p95)</a:t>
            </a:r>
            <a:endParaRPr lang="en-US" sz="900" dirty="0"/>
          </a:p>
        </p:txBody>
      </p:sp>
      <p:sp>
        <p:nvSpPr>
          <p:cNvPr id="47" name="Shape 45"/>
          <p:cNvSpPr/>
          <p:nvPr/>
        </p:nvSpPr>
        <p:spPr>
          <a:xfrm>
            <a:off x="8229600" y="5257800"/>
            <a:ext cx="3703320" cy="685800"/>
          </a:xfrm>
          <a:prstGeom prst="roundRect">
            <a:avLst>
              <a:gd name="adj" fmla="val 10667"/>
            </a:avLst>
          </a:prstGeom>
          <a:solidFill>
            <a:srgbClr val="FFFFFF"/>
          </a:solidFill>
          <a:ln w="12700">
            <a:solidFill>
              <a:srgbClr val="000000"/>
            </a:solidFill>
            <a:prstDash val="solid"/>
          </a:ln>
        </p:spPr>
      </p:sp>
      <p:sp>
        <p:nvSpPr>
          <p:cNvPr id="48" name="Shape 46"/>
          <p:cNvSpPr/>
          <p:nvPr/>
        </p:nvSpPr>
        <p:spPr>
          <a:xfrm>
            <a:off x="8229600" y="5257800"/>
            <a:ext cx="3703320" cy="54864"/>
          </a:xfrm>
          <a:prstGeom prst="rect">
            <a:avLst/>
          </a:prstGeom>
          <a:solidFill>
            <a:srgbClr val="12C479"/>
          </a:solidFill>
          <a:ln w="12700">
            <a:solidFill>
              <a:srgbClr val="12C479"/>
            </a:solidFill>
            <a:prstDash val="solid"/>
          </a:ln>
        </p:spPr>
      </p:sp>
      <p:sp>
        <p:nvSpPr>
          <p:cNvPr id="49" name="Text 47"/>
          <p:cNvSpPr/>
          <p:nvPr/>
        </p:nvSpPr>
        <p:spPr>
          <a:xfrm>
            <a:off x="8366760" y="5367528"/>
            <a:ext cx="1828800" cy="274320"/>
          </a:xfrm>
          <a:prstGeom prst="rect">
            <a:avLst/>
          </a:prstGeom>
          <a:noFill/>
          <a:ln/>
        </p:spPr>
        <p:txBody>
          <a:bodyPr wrap="square" rtlCol="0" anchor="ctr"/>
          <a:lstStyle/>
          <a:p>
            <a:pPr indent="0" marL="0">
              <a:buNone/>
            </a:pPr>
            <a:r>
              <a:rPr lang="en-US" sz="2000" b="1" dirty="0">
                <a:solidFill>
                  <a:srgbClr val="12C479"/>
                </a:solidFill>
              </a:rPr>
              <a:t>99.9%</a:t>
            </a:r>
            <a:endParaRPr lang="en-US" sz="2000" dirty="0"/>
          </a:p>
        </p:txBody>
      </p:sp>
      <p:sp>
        <p:nvSpPr>
          <p:cNvPr id="50" name="Text 48"/>
          <p:cNvSpPr/>
          <p:nvPr/>
        </p:nvSpPr>
        <p:spPr>
          <a:xfrm>
            <a:off x="8366760" y="5641848"/>
            <a:ext cx="3429000" cy="201168"/>
          </a:xfrm>
          <a:prstGeom prst="rect">
            <a:avLst/>
          </a:prstGeom>
          <a:noFill/>
          <a:ln/>
        </p:spPr>
        <p:txBody>
          <a:bodyPr wrap="square" rtlCol="0" anchor="ctr"/>
          <a:lstStyle/>
          <a:p>
            <a:pPr indent="0" marL="0">
              <a:buNone/>
            </a:pPr>
            <a:r>
              <a:rPr lang="en-US" sz="900" dirty="0">
                <a:solidFill>
                  <a:srgbClr val="7B96B8"/>
                </a:solidFill>
              </a:rPr>
              <a:t>Task checkpoint reliability</a:t>
            </a:r>
            <a:endParaRPr lang="en-US" sz="900" dirty="0"/>
          </a:p>
        </p:txBody>
      </p:sp>
      <p:sp>
        <p:nvSpPr>
          <p:cNvPr id="51" name="Shape 49"/>
          <p:cNvSpPr/>
          <p:nvPr/>
        </p:nvSpPr>
        <p:spPr>
          <a:xfrm>
            <a:off x="274320" y="6071616"/>
            <a:ext cx="11612880" cy="566928"/>
          </a:xfrm>
          <a:prstGeom prst="roundRect">
            <a:avLst>
              <a:gd name="adj" fmla="val 12903"/>
            </a:avLst>
          </a:prstGeom>
          <a:solidFill>
            <a:srgbClr val="000000"/>
          </a:solidFill>
          <a:ln w="12700">
            <a:solidFill>
              <a:srgbClr val="000000"/>
            </a:solidFill>
            <a:prstDash val="solid"/>
          </a:ln>
        </p:spPr>
      </p:sp>
      <p:sp>
        <p:nvSpPr>
          <p:cNvPr id="52" name="Shape 50"/>
          <p:cNvSpPr/>
          <p:nvPr/>
        </p:nvSpPr>
        <p:spPr>
          <a:xfrm>
            <a:off x="274320" y="6071616"/>
            <a:ext cx="54864" cy="566928"/>
          </a:xfrm>
          <a:prstGeom prst="rect">
            <a:avLst/>
          </a:prstGeom>
          <a:solidFill>
            <a:srgbClr val="2F80ED"/>
          </a:solidFill>
          <a:ln w="12700">
            <a:solidFill>
              <a:srgbClr val="2F80ED"/>
            </a:solidFill>
            <a:prstDash val="solid"/>
          </a:ln>
        </p:spPr>
      </p:sp>
      <p:sp>
        <p:nvSpPr>
          <p:cNvPr id="53" name="Text 51"/>
          <p:cNvSpPr/>
          <p:nvPr/>
        </p:nvSpPr>
        <p:spPr>
          <a:xfrm>
            <a:off x="457200" y="6117336"/>
            <a:ext cx="3657600" cy="201168"/>
          </a:xfrm>
          <a:prstGeom prst="rect">
            <a:avLst/>
          </a:prstGeom>
          <a:noFill/>
          <a:ln/>
        </p:spPr>
        <p:txBody>
          <a:bodyPr wrap="square" rtlCol="0" anchor="ctr"/>
          <a:lstStyle/>
          <a:p>
            <a:pPr indent="0" marL="0">
              <a:buNone/>
            </a:pPr>
            <a:r>
              <a:rPr lang="en-US" sz="900" b="1" dirty="0">
                <a:solidFill>
                  <a:srgbClr val="2F80ED"/>
                </a:solidFill>
              </a:rPr>
              <a:t>Razorpay strategic angle</a:t>
            </a:r>
            <a:endParaRPr lang="en-US" sz="900" dirty="0"/>
          </a:p>
        </p:txBody>
      </p:sp>
      <p:sp>
        <p:nvSpPr>
          <p:cNvPr id="54" name="Text 52"/>
          <p:cNvSpPr/>
          <p:nvPr/>
        </p:nvSpPr>
        <p:spPr>
          <a:xfrm>
            <a:off x="457200" y="6309360"/>
            <a:ext cx="11247120" cy="256032"/>
          </a:xfrm>
          <a:prstGeom prst="rect">
            <a:avLst/>
          </a:prstGeom>
          <a:noFill/>
          <a:ln/>
        </p:spPr>
        <p:txBody>
          <a:bodyPr wrap="square" rtlCol="0" anchor="ctr"/>
          <a:lstStyle/>
          <a:p>
            <a:pPr indent="0" marL="0">
              <a:buNone/>
            </a:pPr>
            <a:r>
              <a:rPr lang="en-US" sz="900" dirty="0">
                <a:solidFill>
                  <a:srgbClr val="3D5472"/>
                </a:solidFill>
              </a:rPr>
              <a:t>Dispute resolution agents, KYC workflows, and Capital underwriting all need exactly this runtime. Reduces engineering time from months to days. Direct OEM partnership path into Razorpay developer platform and Razorpay X.</a:t>
            </a:r>
            <a:endParaRPr lang="en-US" sz="900" dirty="0"/>
          </a:p>
        </p:txBody>
      </p:sp>
      <p:sp>
        <p:nvSpPr>
          <p:cNvPr id="55" name="Shape 53"/>
          <p:cNvSpPr/>
          <p:nvPr/>
        </p:nvSpPr>
        <p:spPr>
          <a:xfrm>
            <a:off x="0" y="6748272"/>
            <a:ext cx="12188952" cy="109728"/>
          </a:xfrm>
          <a:prstGeom prst="rect">
            <a:avLst/>
          </a:prstGeom>
          <a:solidFill>
            <a:srgbClr val="2F80ED"/>
          </a:solidFill>
          <a:ln w="12700">
            <a:solidFill>
              <a:srgbClr val="2F80ED"/>
            </a:solidFill>
            <a:prstDash val="solid"/>
          </a:ln>
        </p:spPr>
      </p:sp>
      <p:sp>
        <p:nvSpPr>
          <p:cNvPr id="56" name="Text 54"/>
          <p:cNvSpPr/>
          <p:nvPr/>
        </p:nvSpPr>
        <p:spPr>
          <a:xfrm>
            <a:off x="11274552" y="6748272"/>
            <a:ext cx="731520" cy="109728"/>
          </a:xfrm>
          <a:prstGeom prst="rect">
            <a:avLst/>
          </a:prstGeom>
          <a:noFill/>
          <a:ln/>
        </p:spPr>
        <p:txBody>
          <a:bodyPr wrap="square" rtlCol="0" anchor="ctr"/>
          <a:lstStyle/>
          <a:p>
            <a:pPr algn="r" indent="0" marL="0">
              <a:buNone/>
            </a:pPr>
            <a:r>
              <a:rPr lang="en-US" sz="700" dirty="0">
                <a:solidFill>
                  <a:srgbClr val="FFFFFF"/>
                </a:solidFill>
              </a:rPr>
              <a:t>7 / 11</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7FD"/>
          </a:solidFill>
          <a:ln w="12700">
            <a:solidFill>
              <a:srgbClr val="F4F7FD"/>
            </a:solidFill>
            <a:prstDash val="solid"/>
          </a:ln>
        </p:spPr>
      </p:sp>
      <p:sp>
        <p:nvSpPr>
          <p:cNvPr id="3" name="Shape 1"/>
          <p:cNvSpPr/>
          <p:nvPr/>
        </p:nvSpPr>
        <p:spPr>
          <a:xfrm>
            <a:off x="0" y="0"/>
            <a:ext cx="12188952" cy="502920"/>
          </a:xfrm>
          <a:prstGeom prst="rect">
            <a:avLst/>
          </a:prstGeom>
          <a:solidFill>
            <a:srgbClr val="FFFFFF"/>
          </a:solidFill>
          <a:ln w="6350">
            <a:solidFill>
              <a:srgbClr val="D5E3F7"/>
            </a:solidFill>
            <a:prstDash val="solid"/>
          </a:ln>
        </p:spPr>
      </p:sp>
      <p:sp>
        <p:nvSpPr>
          <p:cNvPr id="4" name="Text 2"/>
          <p:cNvSpPr/>
          <p:nvPr/>
        </p:nvSpPr>
        <p:spPr>
          <a:xfrm>
            <a:off x="274320" y="64008"/>
            <a:ext cx="1828800" cy="384048"/>
          </a:xfrm>
          <a:prstGeom prst="rect">
            <a:avLst/>
          </a:prstGeom>
          <a:noFill/>
          <a:ln/>
        </p:spPr>
        <p:txBody>
          <a:bodyPr wrap="square" rtlCol="0" anchor="ctr"/>
          <a:lstStyle/>
          <a:p>
            <a:pPr indent="0" marL="0">
              <a:buNone/>
            </a:pPr>
            <a:r>
              <a:rPr lang="en-US" sz="1700" b="1" dirty="0">
                <a:solidFill>
                  <a:srgbClr val="0D1E35"/>
                </a:solidFill>
                <a:latin typeface="Arial" pitchFamily="34" charset="0"/>
                <a:ea typeface="Arial" pitchFamily="34" charset="-122"/>
                <a:cs typeface="Arial" pitchFamily="34" charset="-120"/>
              </a:rPr>
              <a:t>razor</a:t>
            </a:r>
            <a:pPr indent="0" marL="0">
              <a:buNone/>
            </a:pPr>
            <a:r>
              <a:rPr lang="en-US" sz="1700" b="1" dirty="0">
                <a:solidFill>
                  <a:srgbClr val="2F80ED"/>
                </a:solidFill>
                <a:latin typeface="Arial" pitchFamily="34" charset="0"/>
                <a:ea typeface="Arial" pitchFamily="34" charset="-122"/>
                <a:cs typeface="Arial" pitchFamily="34" charset="-120"/>
              </a:rPr>
              <a:t>pay</a:t>
            </a:r>
            <a:endParaRPr lang="en-US" sz="1700" dirty="0"/>
          </a:p>
        </p:txBody>
      </p:sp>
      <p:sp>
        <p:nvSpPr>
          <p:cNvPr id="5" name="Text 3"/>
          <p:cNvSpPr/>
          <p:nvPr/>
        </p:nvSpPr>
        <p:spPr>
          <a:xfrm>
            <a:off x="9628632" y="155448"/>
            <a:ext cx="2286000" cy="201168"/>
          </a:xfrm>
          <a:prstGeom prst="rect">
            <a:avLst/>
          </a:prstGeom>
          <a:noFill/>
          <a:ln/>
        </p:spPr>
        <p:txBody>
          <a:bodyPr wrap="square" rtlCol="0" anchor="ctr"/>
          <a:lstStyle/>
          <a:p>
            <a:pPr algn="r" indent="0" marL="0">
              <a:buNone/>
            </a:pPr>
            <a:r>
              <a:rPr lang="en-US" sz="700" dirty="0">
                <a:solidFill>
                  <a:srgbClr val="7B96B8"/>
                </a:solidFill>
              </a:rPr>
              <a:t>CONFIDENTIAL · MARCH 2026</a:t>
            </a:r>
            <a:endParaRPr lang="en-US" sz="700" dirty="0"/>
          </a:p>
        </p:txBody>
      </p:sp>
      <p:sp>
        <p:nvSpPr>
          <p:cNvPr id="6" name="Shape 4"/>
          <p:cNvSpPr/>
          <p:nvPr/>
        </p:nvSpPr>
        <p:spPr>
          <a:xfrm>
            <a:off x="274320" y="594360"/>
            <a:ext cx="2286000" cy="201168"/>
          </a:xfrm>
          <a:prstGeom prst="roundRect">
            <a:avLst>
              <a:gd name="adj" fmla="val 18182"/>
            </a:avLst>
          </a:prstGeom>
          <a:solidFill>
            <a:srgbClr val="000000"/>
          </a:solidFill>
          <a:ln w="6350">
            <a:solidFill>
              <a:srgbClr val="000000"/>
            </a:solidFill>
            <a:prstDash val="solid"/>
          </a:ln>
        </p:spPr>
      </p:sp>
      <p:sp>
        <p:nvSpPr>
          <p:cNvPr id="7" name="Text 5"/>
          <p:cNvSpPr/>
          <p:nvPr/>
        </p:nvSpPr>
        <p:spPr>
          <a:xfrm>
            <a:off x="274320" y="594360"/>
            <a:ext cx="2286000" cy="201168"/>
          </a:xfrm>
          <a:prstGeom prst="rect">
            <a:avLst/>
          </a:prstGeom>
          <a:noFill/>
          <a:ln/>
        </p:spPr>
        <p:txBody>
          <a:bodyPr wrap="square" rtlCol="0" anchor="ctr"/>
          <a:lstStyle/>
          <a:p>
            <a:pPr algn="ctr" indent="0" marL="0">
              <a:buNone/>
            </a:pPr>
            <a:r>
              <a:rPr lang="en-US" sz="700" b="1" dirty="0">
                <a:solidFill>
                  <a:srgbClr val="12C479"/>
                </a:solidFill>
              </a:rPr>
              <a:t>PORTFOLIO COMPANY 02/03</a:t>
            </a:r>
            <a:endParaRPr lang="en-US" sz="700" dirty="0"/>
          </a:p>
        </p:txBody>
      </p:sp>
      <p:sp>
        <p:nvSpPr>
          <p:cNvPr id="8" name="Shape 6"/>
          <p:cNvSpPr/>
          <p:nvPr/>
        </p:nvSpPr>
        <p:spPr>
          <a:xfrm>
            <a:off x="9628632" y="594360"/>
            <a:ext cx="2286000" cy="201168"/>
          </a:xfrm>
          <a:prstGeom prst="roundRect">
            <a:avLst>
              <a:gd name="adj" fmla="val 18182"/>
            </a:avLst>
          </a:prstGeom>
          <a:solidFill>
            <a:srgbClr val="000000"/>
          </a:solidFill>
          <a:ln w="12700">
            <a:solidFill>
              <a:srgbClr val="000000"/>
            </a:solidFill>
            <a:prstDash val="solid"/>
          </a:ln>
        </p:spPr>
      </p:sp>
      <p:sp>
        <p:nvSpPr>
          <p:cNvPr id="9" name="Text 7"/>
          <p:cNvSpPr/>
          <p:nvPr/>
        </p:nvSpPr>
        <p:spPr>
          <a:xfrm>
            <a:off x="9628632" y="594360"/>
            <a:ext cx="2286000" cy="201168"/>
          </a:xfrm>
          <a:prstGeom prst="rect">
            <a:avLst/>
          </a:prstGeom>
          <a:noFill/>
          <a:ln/>
        </p:spPr>
        <p:txBody>
          <a:bodyPr wrap="square" rtlCol="0" anchor="ctr"/>
          <a:lstStyle/>
          <a:p>
            <a:pPr algn="ctr" indent="0" marL="0">
              <a:buNone/>
            </a:pPr>
            <a:r>
              <a:rPr lang="en-US" sz="700" b="1" dirty="0">
                <a:solidFill>
                  <a:srgbClr val="2F80ED"/>
                </a:solidFill>
              </a:rPr>
              <a:t>SERIES A</a:t>
            </a:r>
            <a:endParaRPr lang="en-US" sz="700" dirty="0"/>
          </a:p>
        </p:txBody>
      </p:sp>
      <p:sp>
        <p:nvSpPr>
          <p:cNvPr id="10" name="Text 8"/>
          <p:cNvSpPr/>
          <p:nvPr/>
        </p:nvSpPr>
        <p:spPr>
          <a:xfrm>
            <a:off x="274320" y="877824"/>
            <a:ext cx="11612880" cy="566928"/>
          </a:xfrm>
          <a:prstGeom prst="rect">
            <a:avLst/>
          </a:prstGeom>
          <a:noFill/>
          <a:ln/>
        </p:spPr>
        <p:txBody>
          <a:bodyPr wrap="square" rtlCol="0" anchor="ctr"/>
          <a:lstStyle/>
          <a:p>
            <a:pPr indent="0" marL="0">
              <a:buNone/>
            </a:pPr>
            <a:r>
              <a:rPr lang="en-US" sz="2200" b="1" dirty="0">
                <a:solidFill>
                  <a:srgbClr val="0D1E35"/>
                </a:solidFill>
                <a:latin typeface="Arial" pitchFamily="34" charset="0"/>
                <a:ea typeface="Arial" pitchFamily="34" charset="-122"/>
                <a:cs typeface="Arial" pitchFamily="34" charset="-120"/>
              </a:rPr>
              <a:t>mem0 — Persistent Memory Layer for AI</a:t>
            </a:r>
            <a:endParaRPr lang="en-US" sz="2200" dirty="0"/>
          </a:p>
        </p:txBody>
      </p:sp>
      <p:sp>
        <p:nvSpPr>
          <p:cNvPr id="11" name="Text 9"/>
          <p:cNvSpPr/>
          <p:nvPr/>
        </p:nvSpPr>
        <p:spPr>
          <a:xfrm>
            <a:off x="274320" y="1444752"/>
            <a:ext cx="11612880" cy="384048"/>
          </a:xfrm>
          <a:prstGeom prst="rect">
            <a:avLst/>
          </a:prstGeom>
          <a:noFill/>
          <a:ln/>
        </p:spPr>
        <p:txBody>
          <a:bodyPr wrap="square" rtlCol="0" anchor="ctr"/>
          <a:lstStyle/>
          <a:p>
            <a:pPr indent="0" marL="0">
              <a:buNone/>
            </a:pPr>
            <a:r>
              <a:rPr lang="en-US" sz="1050" dirty="0">
                <a:solidFill>
                  <a:srgbClr val="3D5472"/>
                </a:solidFill>
              </a:rPr>
              <a:t>mem0 provides a managed memory infrastructure for AI applications — enabling agents and copilots to remember users, preferences, and context across sessions. The memory primitive AI was missing.</a:t>
            </a:r>
            <a:endParaRPr lang="en-US" sz="1050" dirty="0"/>
          </a:p>
        </p:txBody>
      </p:sp>
      <p:sp>
        <p:nvSpPr>
          <p:cNvPr id="12" name="Shape 10"/>
          <p:cNvSpPr/>
          <p:nvPr/>
        </p:nvSpPr>
        <p:spPr>
          <a:xfrm>
            <a:off x="274320" y="2011680"/>
            <a:ext cx="3931920" cy="3291840"/>
          </a:xfrm>
          <a:prstGeom prst="roundRect">
            <a:avLst>
              <a:gd name="adj" fmla="val 2778"/>
            </a:avLst>
          </a:prstGeom>
          <a:solidFill>
            <a:srgbClr val="FFFFFF"/>
          </a:solidFill>
          <a:ln w="6350">
            <a:solidFill>
              <a:srgbClr val="D5E3F7"/>
            </a:solidFill>
            <a:prstDash val="solid"/>
          </a:ln>
        </p:spPr>
      </p:sp>
      <p:sp>
        <p:nvSpPr>
          <p:cNvPr id="13" name="Text 11"/>
          <p:cNvSpPr/>
          <p:nvPr/>
        </p:nvSpPr>
        <p:spPr>
          <a:xfrm>
            <a:off x="457200" y="2157984"/>
            <a:ext cx="3566160" cy="182880"/>
          </a:xfrm>
          <a:prstGeom prst="rect">
            <a:avLst/>
          </a:prstGeom>
          <a:noFill/>
          <a:ln/>
        </p:spPr>
        <p:txBody>
          <a:bodyPr wrap="square" rtlCol="0" anchor="ctr"/>
          <a:lstStyle/>
          <a:p>
            <a:pPr indent="0" marL="0">
              <a:buNone/>
            </a:pPr>
            <a:r>
              <a:rPr lang="en-US" sz="750" b="1" dirty="0">
                <a:solidFill>
                  <a:srgbClr val="7B96B8"/>
                </a:solidFill>
              </a:rPr>
              <a:t>COMPANY SNAPSHOT</a:t>
            </a:r>
            <a:endParaRPr lang="en-US" sz="750" dirty="0"/>
          </a:p>
        </p:txBody>
      </p:sp>
      <p:sp>
        <p:nvSpPr>
          <p:cNvPr id="14" name="Shape 12"/>
          <p:cNvSpPr/>
          <p:nvPr/>
        </p:nvSpPr>
        <p:spPr>
          <a:xfrm>
            <a:off x="457200" y="2816352"/>
            <a:ext cx="3566160" cy="18288"/>
          </a:xfrm>
          <a:prstGeom prst="rect">
            <a:avLst/>
          </a:prstGeom>
          <a:solidFill>
            <a:srgbClr val="EDF2FB"/>
          </a:solidFill>
          <a:ln w="12700">
            <a:solidFill>
              <a:srgbClr val="EDF2FB"/>
            </a:solidFill>
            <a:prstDash val="solid"/>
          </a:ln>
        </p:spPr>
      </p:sp>
      <p:sp>
        <p:nvSpPr>
          <p:cNvPr id="15" name="Text 13"/>
          <p:cNvSpPr/>
          <p:nvPr/>
        </p:nvSpPr>
        <p:spPr>
          <a:xfrm>
            <a:off x="457200" y="2414016"/>
            <a:ext cx="1737360" cy="347472"/>
          </a:xfrm>
          <a:prstGeom prst="rect">
            <a:avLst/>
          </a:prstGeom>
          <a:noFill/>
          <a:ln/>
        </p:spPr>
        <p:txBody>
          <a:bodyPr wrap="square" rtlCol="0" anchor="ctr"/>
          <a:lstStyle/>
          <a:p>
            <a:pPr indent="0" marL="0">
              <a:buNone/>
            </a:pPr>
            <a:r>
              <a:rPr lang="en-US" sz="1000" dirty="0">
                <a:solidFill>
                  <a:srgbClr val="3D5472"/>
                </a:solidFill>
              </a:rPr>
              <a:t>Founded</a:t>
            </a:r>
            <a:endParaRPr lang="en-US" sz="1000" dirty="0"/>
          </a:p>
        </p:txBody>
      </p:sp>
      <p:sp>
        <p:nvSpPr>
          <p:cNvPr id="16" name="Text 14"/>
          <p:cNvSpPr/>
          <p:nvPr/>
        </p:nvSpPr>
        <p:spPr>
          <a:xfrm>
            <a:off x="2286000" y="2414016"/>
            <a:ext cx="1737360" cy="347472"/>
          </a:xfrm>
          <a:prstGeom prst="rect">
            <a:avLst/>
          </a:prstGeom>
          <a:noFill/>
          <a:ln/>
        </p:spPr>
        <p:txBody>
          <a:bodyPr wrap="square" rtlCol="0" anchor="ctr"/>
          <a:lstStyle/>
          <a:p>
            <a:pPr algn="r" indent="0" marL="0">
              <a:buNone/>
            </a:pPr>
            <a:r>
              <a:rPr lang="en-US" sz="1000" b="1" dirty="0">
                <a:solidFill>
                  <a:srgbClr val="12C479"/>
                </a:solidFill>
              </a:rPr>
              <a:t>2023</a:t>
            </a:r>
            <a:endParaRPr lang="en-US" sz="1000" dirty="0"/>
          </a:p>
        </p:txBody>
      </p:sp>
      <p:sp>
        <p:nvSpPr>
          <p:cNvPr id="17" name="Shape 15"/>
          <p:cNvSpPr/>
          <p:nvPr/>
        </p:nvSpPr>
        <p:spPr>
          <a:xfrm>
            <a:off x="457200" y="3291840"/>
            <a:ext cx="3566160" cy="18288"/>
          </a:xfrm>
          <a:prstGeom prst="rect">
            <a:avLst/>
          </a:prstGeom>
          <a:solidFill>
            <a:srgbClr val="EDF2FB"/>
          </a:solidFill>
          <a:ln w="12700">
            <a:solidFill>
              <a:srgbClr val="EDF2FB"/>
            </a:solidFill>
            <a:prstDash val="solid"/>
          </a:ln>
        </p:spPr>
      </p:sp>
      <p:sp>
        <p:nvSpPr>
          <p:cNvPr id="18" name="Text 16"/>
          <p:cNvSpPr/>
          <p:nvPr/>
        </p:nvSpPr>
        <p:spPr>
          <a:xfrm>
            <a:off x="457200" y="2889504"/>
            <a:ext cx="1737360" cy="347472"/>
          </a:xfrm>
          <a:prstGeom prst="rect">
            <a:avLst/>
          </a:prstGeom>
          <a:noFill/>
          <a:ln/>
        </p:spPr>
        <p:txBody>
          <a:bodyPr wrap="square" rtlCol="0" anchor="ctr"/>
          <a:lstStyle/>
          <a:p>
            <a:pPr indent="0" marL="0">
              <a:buNone/>
            </a:pPr>
            <a:r>
              <a:rPr lang="en-US" sz="1000" dirty="0">
                <a:solidFill>
                  <a:srgbClr val="3D5472"/>
                </a:solidFill>
              </a:rPr>
              <a:t>Stage</a:t>
            </a:r>
            <a:endParaRPr lang="en-US" sz="1000" dirty="0"/>
          </a:p>
        </p:txBody>
      </p:sp>
      <p:sp>
        <p:nvSpPr>
          <p:cNvPr id="19" name="Text 17"/>
          <p:cNvSpPr/>
          <p:nvPr/>
        </p:nvSpPr>
        <p:spPr>
          <a:xfrm>
            <a:off x="2286000" y="2889504"/>
            <a:ext cx="1737360" cy="347472"/>
          </a:xfrm>
          <a:prstGeom prst="rect">
            <a:avLst/>
          </a:prstGeom>
          <a:noFill/>
          <a:ln/>
        </p:spPr>
        <p:txBody>
          <a:bodyPr wrap="square" rtlCol="0" anchor="ctr"/>
          <a:lstStyle/>
          <a:p>
            <a:pPr algn="r" indent="0" marL="0">
              <a:buNone/>
            </a:pPr>
            <a:r>
              <a:rPr lang="en-US" sz="1000" b="1" dirty="0">
                <a:solidFill>
                  <a:srgbClr val="12C479"/>
                </a:solidFill>
              </a:rPr>
              <a:t>Series A</a:t>
            </a:r>
            <a:endParaRPr lang="en-US" sz="1000" dirty="0"/>
          </a:p>
        </p:txBody>
      </p:sp>
      <p:sp>
        <p:nvSpPr>
          <p:cNvPr id="20" name="Shape 18"/>
          <p:cNvSpPr/>
          <p:nvPr/>
        </p:nvSpPr>
        <p:spPr>
          <a:xfrm>
            <a:off x="457200" y="3767328"/>
            <a:ext cx="3566160" cy="18288"/>
          </a:xfrm>
          <a:prstGeom prst="rect">
            <a:avLst/>
          </a:prstGeom>
          <a:solidFill>
            <a:srgbClr val="EDF2FB"/>
          </a:solidFill>
          <a:ln w="12700">
            <a:solidFill>
              <a:srgbClr val="EDF2FB"/>
            </a:solidFill>
            <a:prstDash val="solid"/>
          </a:ln>
        </p:spPr>
      </p:sp>
      <p:sp>
        <p:nvSpPr>
          <p:cNvPr id="21" name="Text 19"/>
          <p:cNvSpPr/>
          <p:nvPr/>
        </p:nvSpPr>
        <p:spPr>
          <a:xfrm>
            <a:off x="457200" y="3364992"/>
            <a:ext cx="1737360" cy="347472"/>
          </a:xfrm>
          <a:prstGeom prst="rect">
            <a:avLst/>
          </a:prstGeom>
          <a:noFill/>
          <a:ln/>
        </p:spPr>
        <p:txBody>
          <a:bodyPr wrap="square" rtlCol="0" anchor="ctr"/>
          <a:lstStyle/>
          <a:p>
            <a:pPr indent="0" marL="0">
              <a:buNone/>
            </a:pPr>
            <a:r>
              <a:rPr lang="en-US" sz="1000" dirty="0">
                <a:solidFill>
                  <a:srgbClr val="3D5472"/>
                </a:solidFill>
              </a:rPr>
              <a:t>HQ</a:t>
            </a:r>
            <a:endParaRPr lang="en-US" sz="1000" dirty="0"/>
          </a:p>
        </p:txBody>
      </p:sp>
      <p:sp>
        <p:nvSpPr>
          <p:cNvPr id="22" name="Text 20"/>
          <p:cNvSpPr/>
          <p:nvPr/>
        </p:nvSpPr>
        <p:spPr>
          <a:xfrm>
            <a:off x="2286000" y="3364992"/>
            <a:ext cx="1737360" cy="347472"/>
          </a:xfrm>
          <a:prstGeom prst="rect">
            <a:avLst/>
          </a:prstGeom>
          <a:noFill/>
          <a:ln/>
        </p:spPr>
        <p:txBody>
          <a:bodyPr wrap="square" rtlCol="0" anchor="ctr"/>
          <a:lstStyle/>
          <a:p>
            <a:pPr algn="r" indent="0" marL="0">
              <a:buNone/>
            </a:pPr>
            <a:r>
              <a:rPr lang="en-US" sz="1000" b="1" dirty="0">
                <a:solidFill>
                  <a:srgbClr val="12C479"/>
                </a:solidFill>
              </a:rPr>
              <a:t>San Francisco, CA</a:t>
            </a:r>
            <a:endParaRPr lang="en-US" sz="1000" dirty="0"/>
          </a:p>
        </p:txBody>
      </p:sp>
      <p:sp>
        <p:nvSpPr>
          <p:cNvPr id="23" name="Shape 21"/>
          <p:cNvSpPr/>
          <p:nvPr/>
        </p:nvSpPr>
        <p:spPr>
          <a:xfrm>
            <a:off x="457200" y="4242816"/>
            <a:ext cx="3566160" cy="18288"/>
          </a:xfrm>
          <a:prstGeom prst="rect">
            <a:avLst/>
          </a:prstGeom>
          <a:solidFill>
            <a:srgbClr val="EDF2FB"/>
          </a:solidFill>
          <a:ln w="12700">
            <a:solidFill>
              <a:srgbClr val="EDF2FB"/>
            </a:solidFill>
            <a:prstDash val="solid"/>
          </a:ln>
        </p:spPr>
      </p:sp>
      <p:sp>
        <p:nvSpPr>
          <p:cNvPr id="24" name="Text 22"/>
          <p:cNvSpPr/>
          <p:nvPr/>
        </p:nvSpPr>
        <p:spPr>
          <a:xfrm>
            <a:off x="457200" y="3840480"/>
            <a:ext cx="1737360" cy="347472"/>
          </a:xfrm>
          <a:prstGeom prst="rect">
            <a:avLst/>
          </a:prstGeom>
          <a:noFill/>
          <a:ln/>
        </p:spPr>
        <p:txBody>
          <a:bodyPr wrap="square" rtlCol="0" anchor="ctr"/>
          <a:lstStyle/>
          <a:p>
            <a:pPr indent="0" marL="0">
              <a:buNone/>
            </a:pPr>
            <a:r>
              <a:rPr lang="en-US" sz="1000" dirty="0">
                <a:solidFill>
                  <a:srgbClr val="3D5472"/>
                </a:solidFill>
              </a:rPr>
              <a:t>GitHub</a:t>
            </a:r>
            <a:endParaRPr lang="en-US" sz="1000" dirty="0"/>
          </a:p>
        </p:txBody>
      </p:sp>
      <p:sp>
        <p:nvSpPr>
          <p:cNvPr id="25" name="Text 23"/>
          <p:cNvSpPr/>
          <p:nvPr/>
        </p:nvSpPr>
        <p:spPr>
          <a:xfrm>
            <a:off x="2286000" y="3840480"/>
            <a:ext cx="1737360" cy="347472"/>
          </a:xfrm>
          <a:prstGeom prst="rect">
            <a:avLst/>
          </a:prstGeom>
          <a:noFill/>
          <a:ln/>
        </p:spPr>
        <p:txBody>
          <a:bodyPr wrap="square" rtlCol="0" anchor="ctr"/>
          <a:lstStyle/>
          <a:p>
            <a:pPr algn="r" indent="0" marL="0">
              <a:buNone/>
            </a:pPr>
            <a:r>
              <a:rPr lang="en-US" sz="1000" b="1" dirty="0">
                <a:solidFill>
                  <a:srgbClr val="12C479"/>
                </a:solidFill>
              </a:rPr>
              <a:t>30K+ stars</a:t>
            </a:r>
            <a:endParaRPr lang="en-US" sz="1000" dirty="0"/>
          </a:p>
        </p:txBody>
      </p:sp>
      <p:sp>
        <p:nvSpPr>
          <p:cNvPr id="26" name="Shape 24"/>
          <p:cNvSpPr/>
          <p:nvPr/>
        </p:nvSpPr>
        <p:spPr>
          <a:xfrm>
            <a:off x="457200" y="4718304"/>
            <a:ext cx="3566160" cy="18288"/>
          </a:xfrm>
          <a:prstGeom prst="rect">
            <a:avLst/>
          </a:prstGeom>
          <a:solidFill>
            <a:srgbClr val="EDF2FB"/>
          </a:solidFill>
          <a:ln w="12700">
            <a:solidFill>
              <a:srgbClr val="EDF2FB"/>
            </a:solidFill>
            <a:prstDash val="solid"/>
          </a:ln>
        </p:spPr>
      </p:sp>
      <p:sp>
        <p:nvSpPr>
          <p:cNvPr id="27" name="Text 25"/>
          <p:cNvSpPr/>
          <p:nvPr/>
        </p:nvSpPr>
        <p:spPr>
          <a:xfrm>
            <a:off x="457200" y="4315968"/>
            <a:ext cx="1737360" cy="347472"/>
          </a:xfrm>
          <a:prstGeom prst="rect">
            <a:avLst/>
          </a:prstGeom>
          <a:noFill/>
          <a:ln/>
        </p:spPr>
        <p:txBody>
          <a:bodyPr wrap="square" rtlCol="0" anchor="ctr"/>
          <a:lstStyle/>
          <a:p>
            <a:pPr indent="0" marL="0">
              <a:buNone/>
            </a:pPr>
            <a:r>
              <a:rPr lang="en-US" sz="1000" dirty="0">
                <a:solidFill>
                  <a:srgbClr val="3D5472"/>
                </a:solidFill>
              </a:rPr>
              <a:t>Cloud</a:t>
            </a:r>
            <a:endParaRPr lang="en-US" sz="1000" dirty="0"/>
          </a:p>
        </p:txBody>
      </p:sp>
      <p:sp>
        <p:nvSpPr>
          <p:cNvPr id="28" name="Text 26"/>
          <p:cNvSpPr/>
          <p:nvPr/>
        </p:nvSpPr>
        <p:spPr>
          <a:xfrm>
            <a:off x="2286000" y="4315968"/>
            <a:ext cx="1737360" cy="347472"/>
          </a:xfrm>
          <a:prstGeom prst="rect">
            <a:avLst/>
          </a:prstGeom>
          <a:noFill/>
          <a:ln/>
        </p:spPr>
        <p:txBody>
          <a:bodyPr wrap="square" rtlCol="0" anchor="ctr"/>
          <a:lstStyle/>
          <a:p>
            <a:pPr algn="r" indent="0" marL="0">
              <a:buNone/>
            </a:pPr>
            <a:r>
              <a:rPr lang="en-US" sz="1000" b="1" dirty="0">
                <a:solidFill>
                  <a:srgbClr val="12C479"/>
                </a:solidFill>
              </a:rPr>
              <a:t>mem0.ai (managed)</a:t>
            </a:r>
            <a:endParaRPr lang="en-US" sz="1000" dirty="0"/>
          </a:p>
        </p:txBody>
      </p:sp>
      <p:sp>
        <p:nvSpPr>
          <p:cNvPr id="29" name="Shape 27"/>
          <p:cNvSpPr/>
          <p:nvPr/>
        </p:nvSpPr>
        <p:spPr>
          <a:xfrm>
            <a:off x="274320" y="4617720"/>
            <a:ext cx="3931920" cy="1234440"/>
          </a:xfrm>
          <a:prstGeom prst="roundRect">
            <a:avLst>
              <a:gd name="adj" fmla="val 5926"/>
            </a:avLst>
          </a:prstGeom>
          <a:solidFill>
            <a:srgbClr val="FFFFFF"/>
          </a:solidFill>
          <a:ln w="6350">
            <a:solidFill>
              <a:srgbClr val="D5E3F7"/>
            </a:solidFill>
            <a:prstDash val="solid"/>
          </a:ln>
        </p:spPr>
      </p:sp>
      <p:sp>
        <p:nvSpPr>
          <p:cNvPr id="30" name="Text 28"/>
          <p:cNvSpPr/>
          <p:nvPr/>
        </p:nvSpPr>
        <p:spPr>
          <a:xfrm>
            <a:off x="457200" y="4718304"/>
            <a:ext cx="3566160" cy="182880"/>
          </a:xfrm>
          <a:prstGeom prst="rect">
            <a:avLst/>
          </a:prstGeom>
          <a:noFill/>
          <a:ln/>
        </p:spPr>
        <p:txBody>
          <a:bodyPr wrap="square" rtlCol="0" anchor="ctr"/>
          <a:lstStyle/>
          <a:p>
            <a:pPr indent="0" marL="0">
              <a:buNone/>
            </a:pPr>
            <a:r>
              <a:rPr lang="en-US" sz="750" b="1" dirty="0">
                <a:solidFill>
                  <a:srgbClr val="7B96B8"/>
                </a:solidFill>
              </a:rPr>
              <a:t>MEMORY TYPES</a:t>
            </a:r>
            <a:endParaRPr lang="en-US" sz="750" dirty="0"/>
          </a:p>
        </p:txBody>
      </p:sp>
      <p:sp>
        <p:nvSpPr>
          <p:cNvPr id="31" name="Text 29"/>
          <p:cNvSpPr/>
          <p:nvPr/>
        </p:nvSpPr>
        <p:spPr>
          <a:xfrm>
            <a:off x="457200" y="4956048"/>
            <a:ext cx="1005840" cy="182880"/>
          </a:xfrm>
          <a:prstGeom prst="rect">
            <a:avLst/>
          </a:prstGeom>
          <a:noFill/>
          <a:ln/>
        </p:spPr>
        <p:txBody>
          <a:bodyPr wrap="square" rtlCol="0" anchor="ctr"/>
          <a:lstStyle/>
          <a:p>
            <a:pPr indent="0" marL="0">
              <a:buNone/>
            </a:pPr>
            <a:r>
              <a:rPr lang="en-US" sz="850" b="1" dirty="0">
                <a:solidFill>
                  <a:srgbClr val="12C479"/>
                </a:solidFill>
              </a:rPr>
              <a:t>Short-term</a:t>
            </a:r>
            <a:endParaRPr lang="en-US" sz="850" dirty="0"/>
          </a:p>
        </p:txBody>
      </p:sp>
      <p:sp>
        <p:nvSpPr>
          <p:cNvPr id="32" name="Text 30"/>
          <p:cNvSpPr/>
          <p:nvPr/>
        </p:nvSpPr>
        <p:spPr>
          <a:xfrm>
            <a:off x="1536192" y="4956048"/>
            <a:ext cx="2468880" cy="182880"/>
          </a:xfrm>
          <a:prstGeom prst="rect">
            <a:avLst/>
          </a:prstGeom>
          <a:noFill/>
          <a:ln/>
        </p:spPr>
        <p:txBody>
          <a:bodyPr wrap="square" rtlCol="0" anchor="ctr"/>
          <a:lstStyle/>
          <a:p>
            <a:pPr indent="0" marL="0">
              <a:buNone/>
            </a:pPr>
            <a:r>
              <a:rPr lang="en-US" sz="850" dirty="0">
                <a:solidFill>
                  <a:srgbClr val="3D5472"/>
                </a:solidFill>
              </a:rPr>
              <a:t>In-context window, session state</a:t>
            </a:r>
            <a:endParaRPr lang="en-US" sz="850" dirty="0"/>
          </a:p>
        </p:txBody>
      </p:sp>
      <p:sp>
        <p:nvSpPr>
          <p:cNvPr id="33" name="Text 31"/>
          <p:cNvSpPr/>
          <p:nvPr/>
        </p:nvSpPr>
        <p:spPr>
          <a:xfrm>
            <a:off x="457200" y="5157216"/>
            <a:ext cx="1005840" cy="182880"/>
          </a:xfrm>
          <a:prstGeom prst="rect">
            <a:avLst/>
          </a:prstGeom>
          <a:noFill/>
          <a:ln/>
        </p:spPr>
        <p:txBody>
          <a:bodyPr wrap="square" rtlCol="0" anchor="ctr"/>
          <a:lstStyle/>
          <a:p>
            <a:pPr indent="0" marL="0">
              <a:buNone/>
            </a:pPr>
            <a:r>
              <a:rPr lang="en-US" sz="850" b="1" dirty="0">
                <a:solidFill>
                  <a:srgbClr val="12C479"/>
                </a:solidFill>
              </a:rPr>
              <a:t>Long-term</a:t>
            </a:r>
            <a:endParaRPr lang="en-US" sz="850" dirty="0"/>
          </a:p>
        </p:txBody>
      </p:sp>
      <p:sp>
        <p:nvSpPr>
          <p:cNvPr id="34" name="Text 32"/>
          <p:cNvSpPr/>
          <p:nvPr/>
        </p:nvSpPr>
        <p:spPr>
          <a:xfrm>
            <a:off x="1536192" y="5157216"/>
            <a:ext cx="2468880" cy="182880"/>
          </a:xfrm>
          <a:prstGeom prst="rect">
            <a:avLst/>
          </a:prstGeom>
          <a:noFill/>
          <a:ln/>
        </p:spPr>
        <p:txBody>
          <a:bodyPr wrap="square" rtlCol="0" anchor="ctr"/>
          <a:lstStyle/>
          <a:p>
            <a:pPr indent="0" marL="0">
              <a:buNone/>
            </a:pPr>
            <a:r>
              <a:rPr lang="en-US" sz="850" dirty="0">
                <a:solidFill>
                  <a:srgbClr val="3D5472"/>
                </a:solidFill>
              </a:rPr>
              <a:t>Vector + graph store, cross-session</a:t>
            </a:r>
            <a:endParaRPr lang="en-US" sz="850" dirty="0"/>
          </a:p>
        </p:txBody>
      </p:sp>
      <p:sp>
        <p:nvSpPr>
          <p:cNvPr id="35" name="Text 33"/>
          <p:cNvSpPr/>
          <p:nvPr/>
        </p:nvSpPr>
        <p:spPr>
          <a:xfrm>
            <a:off x="457200" y="5358384"/>
            <a:ext cx="1005840" cy="182880"/>
          </a:xfrm>
          <a:prstGeom prst="rect">
            <a:avLst/>
          </a:prstGeom>
          <a:noFill/>
          <a:ln/>
        </p:spPr>
        <p:txBody>
          <a:bodyPr wrap="square" rtlCol="0" anchor="ctr"/>
          <a:lstStyle/>
          <a:p>
            <a:pPr indent="0" marL="0">
              <a:buNone/>
            </a:pPr>
            <a:r>
              <a:rPr lang="en-US" sz="850" b="1" dirty="0">
                <a:solidFill>
                  <a:srgbClr val="12C479"/>
                </a:solidFill>
              </a:rPr>
              <a:t>Semantic</a:t>
            </a:r>
            <a:endParaRPr lang="en-US" sz="850" dirty="0"/>
          </a:p>
        </p:txBody>
      </p:sp>
      <p:sp>
        <p:nvSpPr>
          <p:cNvPr id="36" name="Text 34"/>
          <p:cNvSpPr/>
          <p:nvPr/>
        </p:nvSpPr>
        <p:spPr>
          <a:xfrm>
            <a:off x="1536192" y="5358384"/>
            <a:ext cx="2468880" cy="182880"/>
          </a:xfrm>
          <a:prstGeom prst="rect">
            <a:avLst/>
          </a:prstGeom>
          <a:noFill/>
          <a:ln/>
        </p:spPr>
        <p:txBody>
          <a:bodyPr wrap="square" rtlCol="0" anchor="ctr"/>
          <a:lstStyle/>
          <a:p>
            <a:pPr indent="0" marL="0">
              <a:buNone/>
            </a:pPr>
            <a:r>
              <a:rPr lang="en-US" sz="850" dirty="0">
                <a:solidFill>
                  <a:srgbClr val="3D5472"/>
                </a:solidFill>
              </a:rPr>
              <a:t>Hybrid RAG + episodic retrieval</a:t>
            </a:r>
            <a:endParaRPr lang="en-US" sz="850" dirty="0"/>
          </a:p>
        </p:txBody>
      </p:sp>
      <p:sp>
        <p:nvSpPr>
          <p:cNvPr id="37" name="Text 35"/>
          <p:cNvSpPr/>
          <p:nvPr/>
        </p:nvSpPr>
        <p:spPr>
          <a:xfrm>
            <a:off x="457200" y="5559552"/>
            <a:ext cx="1005840" cy="182880"/>
          </a:xfrm>
          <a:prstGeom prst="rect">
            <a:avLst/>
          </a:prstGeom>
          <a:noFill/>
          <a:ln/>
        </p:spPr>
        <p:txBody>
          <a:bodyPr wrap="square" rtlCol="0" anchor="ctr"/>
          <a:lstStyle/>
          <a:p>
            <a:pPr indent="0" marL="0">
              <a:buNone/>
            </a:pPr>
            <a:r>
              <a:rPr lang="en-US" sz="850" b="1" dirty="0">
                <a:solidFill>
                  <a:srgbClr val="12C479"/>
                </a:solidFill>
              </a:rPr>
              <a:t>User-level</a:t>
            </a:r>
            <a:endParaRPr lang="en-US" sz="850" dirty="0"/>
          </a:p>
        </p:txBody>
      </p:sp>
      <p:sp>
        <p:nvSpPr>
          <p:cNvPr id="38" name="Text 36"/>
          <p:cNvSpPr/>
          <p:nvPr/>
        </p:nvSpPr>
        <p:spPr>
          <a:xfrm>
            <a:off x="1536192" y="5559552"/>
            <a:ext cx="2468880" cy="182880"/>
          </a:xfrm>
          <a:prstGeom prst="rect">
            <a:avLst/>
          </a:prstGeom>
          <a:noFill/>
          <a:ln/>
        </p:spPr>
        <p:txBody>
          <a:bodyPr wrap="square" rtlCol="0" anchor="ctr"/>
          <a:lstStyle/>
          <a:p>
            <a:pPr indent="0" marL="0">
              <a:buNone/>
            </a:pPr>
            <a:r>
              <a:rPr lang="en-US" sz="850" dirty="0">
                <a:solidFill>
                  <a:srgbClr val="3D5472"/>
                </a:solidFill>
              </a:rPr>
              <a:t>Per-user preference + history</a:t>
            </a:r>
            <a:endParaRPr lang="en-US" sz="850" dirty="0"/>
          </a:p>
        </p:txBody>
      </p:sp>
      <p:sp>
        <p:nvSpPr>
          <p:cNvPr id="39" name="Shape 37"/>
          <p:cNvSpPr/>
          <p:nvPr/>
        </p:nvSpPr>
        <p:spPr>
          <a:xfrm>
            <a:off x="4434840" y="2011680"/>
            <a:ext cx="7452360" cy="3291840"/>
          </a:xfrm>
          <a:prstGeom prst="roundRect">
            <a:avLst>
              <a:gd name="adj" fmla="val 2778"/>
            </a:avLst>
          </a:prstGeom>
          <a:solidFill>
            <a:srgbClr val="FFFFFF"/>
          </a:solidFill>
          <a:ln w="6350">
            <a:solidFill>
              <a:srgbClr val="D5E3F7"/>
            </a:solidFill>
            <a:prstDash val="solid"/>
          </a:ln>
        </p:spPr>
      </p:sp>
      <p:sp>
        <p:nvSpPr>
          <p:cNvPr id="40" name="Text 38"/>
          <p:cNvSpPr/>
          <p:nvPr/>
        </p:nvSpPr>
        <p:spPr>
          <a:xfrm>
            <a:off x="4617720" y="2157984"/>
            <a:ext cx="7086600" cy="182880"/>
          </a:xfrm>
          <a:prstGeom prst="rect">
            <a:avLst/>
          </a:prstGeom>
          <a:noFill/>
          <a:ln/>
        </p:spPr>
        <p:txBody>
          <a:bodyPr wrap="square" rtlCol="0" anchor="ctr"/>
          <a:lstStyle/>
          <a:p>
            <a:pPr indent="0" marL="0">
              <a:buNone/>
            </a:pPr>
            <a:r>
              <a:rPr lang="en-US" sz="750" b="1" dirty="0">
                <a:solidFill>
                  <a:srgbClr val="7B96B8"/>
                </a:solidFill>
              </a:rPr>
              <a:t>WHY mem0 WINS</a:t>
            </a:r>
            <a:endParaRPr lang="en-US" sz="750" dirty="0"/>
          </a:p>
        </p:txBody>
      </p:sp>
      <p:sp>
        <p:nvSpPr>
          <p:cNvPr id="41" name="Text 39"/>
          <p:cNvSpPr/>
          <p:nvPr/>
        </p:nvSpPr>
        <p:spPr>
          <a:xfrm>
            <a:off x="4617720" y="2414016"/>
            <a:ext cx="7040880" cy="237744"/>
          </a:xfrm>
          <a:prstGeom prst="rect">
            <a:avLst/>
          </a:prstGeom>
          <a:noFill/>
          <a:ln/>
        </p:spPr>
        <p:txBody>
          <a:bodyPr wrap="square" rtlCol="0" anchor="ctr"/>
          <a:lstStyle/>
          <a:p>
            <a:pPr indent="0" marL="0">
              <a:buNone/>
            </a:pPr>
            <a:r>
              <a:rPr lang="en-US" sz="1050" b="1" dirty="0">
                <a:solidFill>
                  <a:srgbClr val="0D1E35"/>
                </a:solidFill>
              </a:rPr>
              <a:t>🧠 Persistent cross-session memory</a:t>
            </a:r>
            <a:endParaRPr lang="en-US" sz="1050" dirty="0"/>
          </a:p>
        </p:txBody>
      </p:sp>
      <p:sp>
        <p:nvSpPr>
          <p:cNvPr id="42" name="Text 40"/>
          <p:cNvSpPr/>
          <p:nvPr/>
        </p:nvSpPr>
        <p:spPr>
          <a:xfrm>
            <a:off x="4617720" y="2651760"/>
            <a:ext cx="7040880" cy="402336"/>
          </a:xfrm>
          <a:prstGeom prst="rect">
            <a:avLst/>
          </a:prstGeom>
          <a:noFill/>
          <a:ln/>
        </p:spPr>
        <p:txBody>
          <a:bodyPr wrap="square" rtlCol="0" anchor="ctr"/>
          <a:lstStyle/>
          <a:p>
            <a:pPr indent="0" marL="0">
              <a:buNone/>
            </a:pPr>
            <a:r>
              <a:rPr lang="en-US" sz="950" dirty="0">
                <a:solidFill>
                  <a:srgbClr val="3D5472"/>
                </a:solidFill>
              </a:rPr>
              <a:t>AI agents remember payment preferences, dispute history, and workflow state — like a human relationship manager, at enterprise scale.</a:t>
            </a:r>
            <a:endParaRPr lang="en-US" sz="950" dirty="0"/>
          </a:p>
        </p:txBody>
      </p:sp>
      <p:sp>
        <p:nvSpPr>
          <p:cNvPr id="43" name="Shape 41"/>
          <p:cNvSpPr/>
          <p:nvPr/>
        </p:nvSpPr>
        <p:spPr>
          <a:xfrm>
            <a:off x="4617720" y="3081528"/>
            <a:ext cx="7086600" cy="18288"/>
          </a:xfrm>
          <a:prstGeom prst="rect">
            <a:avLst/>
          </a:prstGeom>
          <a:solidFill>
            <a:srgbClr val="EDF2FB"/>
          </a:solidFill>
          <a:ln w="12700">
            <a:solidFill>
              <a:srgbClr val="EDF2FB"/>
            </a:solidFill>
            <a:prstDash val="solid"/>
          </a:ln>
        </p:spPr>
      </p:sp>
      <p:sp>
        <p:nvSpPr>
          <p:cNvPr id="44" name="Text 42"/>
          <p:cNvSpPr/>
          <p:nvPr/>
        </p:nvSpPr>
        <p:spPr>
          <a:xfrm>
            <a:off x="4617720" y="3163824"/>
            <a:ext cx="7040880" cy="237744"/>
          </a:xfrm>
          <a:prstGeom prst="rect">
            <a:avLst/>
          </a:prstGeom>
          <a:noFill/>
          <a:ln/>
        </p:spPr>
        <p:txBody>
          <a:bodyPr wrap="square" rtlCol="0" anchor="ctr"/>
          <a:lstStyle/>
          <a:p>
            <a:pPr indent="0" marL="0">
              <a:buNone/>
            </a:pPr>
            <a:r>
              <a:rPr lang="en-US" sz="1050" b="1" dirty="0">
                <a:solidFill>
                  <a:srgbClr val="0D1E35"/>
                </a:solidFill>
              </a:rPr>
              <a:t>🔌 Drop-in API, model-agnostic</a:t>
            </a:r>
            <a:endParaRPr lang="en-US" sz="1050" dirty="0"/>
          </a:p>
        </p:txBody>
      </p:sp>
      <p:sp>
        <p:nvSpPr>
          <p:cNvPr id="45" name="Text 43"/>
          <p:cNvSpPr/>
          <p:nvPr/>
        </p:nvSpPr>
        <p:spPr>
          <a:xfrm>
            <a:off x="4617720" y="3401568"/>
            <a:ext cx="7040880" cy="402336"/>
          </a:xfrm>
          <a:prstGeom prst="rect">
            <a:avLst/>
          </a:prstGeom>
          <a:noFill/>
          <a:ln/>
        </p:spPr>
        <p:txBody>
          <a:bodyPr wrap="square" rtlCol="0" anchor="ctr"/>
          <a:lstStyle/>
          <a:p>
            <a:pPr indent="0" marL="0">
              <a:buNone/>
            </a:pPr>
            <a:r>
              <a:rPr lang="en-US" sz="950" dirty="0">
                <a:solidFill>
                  <a:srgbClr val="3D5472"/>
                </a:solidFill>
              </a:rPr>
              <a:t>Works with OpenAI, Claude, Gemini, open-source models. SDKs in Python, JS, Go. 3-line integration. No model lock-in.</a:t>
            </a:r>
            <a:endParaRPr lang="en-US" sz="950" dirty="0"/>
          </a:p>
        </p:txBody>
      </p:sp>
      <p:sp>
        <p:nvSpPr>
          <p:cNvPr id="46" name="Shape 44"/>
          <p:cNvSpPr/>
          <p:nvPr/>
        </p:nvSpPr>
        <p:spPr>
          <a:xfrm>
            <a:off x="4617720" y="3831336"/>
            <a:ext cx="7086600" cy="18288"/>
          </a:xfrm>
          <a:prstGeom prst="rect">
            <a:avLst/>
          </a:prstGeom>
          <a:solidFill>
            <a:srgbClr val="EDF2FB"/>
          </a:solidFill>
          <a:ln w="12700">
            <a:solidFill>
              <a:srgbClr val="EDF2FB"/>
            </a:solidFill>
            <a:prstDash val="solid"/>
          </a:ln>
        </p:spPr>
      </p:sp>
      <p:sp>
        <p:nvSpPr>
          <p:cNvPr id="47" name="Text 45"/>
          <p:cNvSpPr/>
          <p:nvPr/>
        </p:nvSpPr>
        <p:spPr>
          <a:xfrm>
            <a:off x="4617720" y="3913632"/>
            <a:ext cx="7040880" cy="237744"/>
          </a:xfrm>
          <a:prstGeom prst="rect">
            <a:avLst/>
          </a:prstGeom>
          <a:noFill/>
          <a:ln/>
        </p:spPr>
        <p:txBody>
          <a:bodyPr wrap="square" rtlCol="0" anchor="ctr"/>
          <a:lstStyle/>
          <a:p>
            <a:pPr indent="0" marL="0">
              <a:buNone/>
            </a:pPr>
            <a:r>
              <a:rPr lang="en-US" sz="1050" b="1" dirty="0">
                <a:solidFill>
                  <a:srgbClr val="0D1E35"/>
                </a:solidFill>
              </a:rPr>
              <a:t>🔐 Privacy-first architecture</a:t>
            </a:r>
            <a:endParaRPr lang="en-US" sz="1050" dirty="0"/>
          </a:p>
        </p:txBody>
      </p:sp>
      <p:sp>
        <p:nvSpPr>
          <p:cNvPr id="48" name="Text 46"/>
          <p:cNvSpPr/>
          <p:nvPr/>
        </p:nvSpPr>
        <p:spPr>
          <a:xfrm>
            <a:off x="4617720" y="4151376"/>
            <a:ext cx="7040880" cy="402336"/>
          </a:xfrm>
          <a:prstGeom prst="rect">
            <a:avLst/>
          </a:prstGeom>
          <a:noFill/>
          <a:ln/>
        </p:spPr>
        <p:txBody>
          <a:bodyPr wrap="square" rtlCol="0" anchor="ctr"/>
          <a:lstStyle/>
          <a:p>
            <a:pPr indent="0" marL="0">
              <a:buNone/>
            </a:pPr>
            <a:r>
              <a:rPr lang="en-US" sz="950" dirty="0">
                <a:solidFill>
                  <a:srgbClr val="3D5472"/>
                </a:solidFill>
              </a:rPr>
              <a:t>Per-user memory namespacing, GDPR-compliant deletion, full audit trails. DPDP, RBI, and PCI-DSS compatible architecture.</a:t>
            </a:r>
            <a:endParaRPr lang="en-US" sz="950" dirty="0"/>
          </a:p>
        </p:txBody>
      </p:sp>
      <p:sp>
        <p:nvSpPr>
          <p:cNvPr id="49" name="Shape 47"/>
          <p:cNvSpPr/>
          <p:nvPr/>
        </p:nvSpPr>
        <p:spPr>
          <a:xfrm>
            <a:off x="4617720" y="4581144"/>
            <a:ext cx="7086600" cy="18288"/>
          </a:xfrm>
          <a:prstGeom prst="rect">
            <a:avLst/>
          </a:prstGeom>
          <a:solidFill>
            <a:srgbClr val="EDF2FB"/>
          </a:solidFill>
          <a:ln w="12700">
            <a:solidFill>
              <a:srgbClr val="EDF2FB"/>
            </a:solidFill>
            <a:prstDash val="solid"/>
          </a:ln>
        </p:spPr>
      </p:sp>
      <p:sp>
        <p:nvSpPr>
          <p:cNvPr id="50" name="Text 48"/>
          <p:cNvSpPr/>
          <p:nvPr/>
        </p:nvSpPr>
        <p:spPr>
          <a:xfrm>
            <a:off x="4617720" y="4663440"/>
            <a:ext cx="7040880" cy="237744"/>
          </a:xfrm>
          <a:prstGeom prst="rect">
            <a:avLst/>
          </a:prstGeom>
          <a:noFill/>
          <a:ln/>
        </p:spPr>
        <p:txBody>
          <a:bodyPr wrap="square" rtlCol="0" anchor="ctr"/>
          <a:lstStyle/>
          <a:p>
            <a:pPr indent="0" marL="0">
              <a:buNone/>
            </a:pPr>
            <a:r>
              <a:rPr lang="en-US" sz="1050" b="1" dirty="0">
                <a:solidFill>
                  <a:srgbClr val="0D1E35"/>
                </a:solidFill>
              </a:rPr>
              <a:t>📈 Growing developer moat</a:t>
            </a:r>
            <a:endParaRPr lang="en-US" sz="1050" dirty="0"/>
          </a:p>
        </p:txBody>
      </p:sp>
      <p:sp>
        <p:nvSpPr>
          <p:cNvPr id="51" name="Text 49"/>
          <p:cNvSpPr/>
          <p:nvPr/>
        </p:nvSpPr>
        <p:spPr>
          <a:xfrm>
            <a:off x="4617720" y="4901184"/>
            <a:ext cx="7040880" cy="402336"/>
          </a:xfrm>
          <a:prstGeom prst="rect">
            <a:avLst/>
          </a:prstGeom>
          <a:noFill/>
          <a:ln/>
        </p:spPr>
        <p:txBody>
          <a:bodyPr wrap="square" rtlCol="0" anchor="ctr"/>
          <a:lstStyle/>
          <a:p>
            <a:pPr indent="0" marL="0">
              <a:buNone/>
            </a:pPr>
            <a:r>
              <a:rPr lang="en-US" sz="950" dirty="0">
                <a:solidFill>
                  <a:srgbClr val="3D5472"/>
                </a:solidFill>
              </a:rPr>
              <a:t>30K+ GitHub stars, 5K+ production apps. When your AI understands a user's world better than anything else, replacing it feels like starting over.</a:t>
            </a:r>
            <a:endParaRPr lang="en-US" sz="950" dirty="0"/>
          </a:p>
        </p:txBody>
      </p:sp>
      <p:sp>
        <p:nvSpPr>
          <p:cNvPr id="52" name="Shape 50"/>
          <p:cNvSpPr/>
          <p:nvPr/>
        </p:nvSpPr>
        <p:spPr>
          <a:xfrm>
            <a:off x="274320" y="5440680"/>
            <a:ext cx="3703320" cy="640080"/>
          </a:xfrm>
          <a:prstGeom prst="roundRect">
            <a:avLst>
              <a:gd name="adj" fmla="val 11429"/>
            </a:avLst>
          </a:prstGeom>
          <a:solidFill>
            <a:srgbClr val="FFFFFF"/>
          </a:solidFill>
          <a:ln w="12700">
            <a:solidFill>
              <a:srgbClr val="000000"/>
            </a:solidFill>
            <a:prstDash val="solid"/>
          </a:ln>
        </p:spPr>
      </p:sp>
      <p:sp>
        <p:nvSpPr>
          <p:cNvPr id="53" name="Shape 51"/>
          <p:cNvSpPr/>
          <p:nvPr/>
        </p:nvSpPr>
        <p:spPr>
          <a:xfrm>
            <a:off x="274320" y="5440680"/>
            <a:ext cx="3703320" cy="54864"/>
          </a:xfrm>
          <a:prstGeom prst="rect">
            <a:avLst/>
          </a:prstGeom>
          <a:solidFill>
            <a:srgbClr val="12C479"/>
          </a:solidFill>
          <a:ln w="12700">
            <a:solidFill>
              <a:srgbClr val="12C479"/>
            </a:solidFill>
            <a:prstDash val="solid"/>
          </a:ln>
        </p:spPr>
      </p:sp>
      <p:sp>
        <p:nvSpPr>
          <p:cNvPr id="54" name="Text 52"/>
          <p:cNvSpPr/>
          <p:nvPr/>
        </p:nvSpPr>
        <p:spPr>
          <a:xfrm>
            <a:off x="411480" y="5541264"/>
            <a:ext cx="1828800" cy="274320"/>
          </a:xfrm>
          <a:prstGeom prst="rect">
            <a:avLst/>
          </a:prstGeom>
          <a:noFill/>
          <a:ln/>
        </p:spPr>
        <p:txBody>
          <a:bodyPr wrap="square" rtlCol="0" anchor="ctr"/>
          <a:lstStyle/>
          <a:p>
            <a:pPr indent="0" marL="0">
              <a:buNone/>
            </a:pPr>
            <a:r>
              <a:rPr lang="en-US" sz="2000" b="1" dirty="0">
                <a:solidFill>
                  <a:srgbClr val="12C479"/>
                </a:solidFill>
              </a:rPr>
              <a:t>30K+</a:t>
            </a:r>
            <a:endParaRPr lang="en-US" sz="2000" dirty="0"/>
          </a:p>
        </p:txBody>
      </p:sp>
      <p:sp>
        <p:nvSpPr>
          <p:cNvPr id="55" name="Text 53"/>
          <p:cNvSpPr/>
          <p:nvPr/>
        </p:nvSpPr>
        <p:spPr>
          <a:xfrm>
            <a:off x="411480" y="5815584"/>
            <a:ext cx="3429000" cy="201168"/>
          </a:xfrm>
          <a:prstGeom prst="rect">
            <a:avLst/>
          </a:prstGeom>
          <a:noFill/>
          <a:ln/>
        </p:spPr>
        <p:txBody>
          <a:bodyPr wrap="square" rtlCol="0" anchor="ctr"/>
          <a:lstStyle/>
          <a:p>
            <a:pPr indent="0" marL="0">
              <a:buNone/>
            </a:pPr>
            <a:r>
              <a:rPr lang="en-US" sz="900" dirty="0">
                <a:solidFill>
                  <a:srgbClr val="7B96B8"/>
                </a:solidFill>
              </a:rPr>
              <a:t>GitHub stars</a:t>
            </a:r>
            <a:endParaRPr lang="en-US" sz="900" dirty="0"/>
          </a:p>
        </p:txBody>
      </p:sp>
      <p:sp>
        <p:nvSpPr>
          <p:cNvPr id="56" name="Shape 54"/>
          <p:cNvSpPr/>
          <p:nvPr/>
        </p:nvSpPr>
        <p:spPr>
          <a:xfrm>
            <a:off x="4251960" y="5440680"/>
            <a:ext cx="3703320" cy="640080"/>
          </a:xfrm>
          <a:prstGeom prst="roundRect">
            <a:avLst>
              <a:gd name="adj" fmla="val 11429"/>
            </a:avLst>
          </a:prstGeom>
          <a:solidFill>
            <a:srgbClr val="FFFFFF"/>
          </a:solidFill>
          <a:ln w="12700">
            <a:solidFill>
              <a:srgbClr val="000000"/>
            </a:solidFill>
            <a:prstDash val="solid"/>
          </a:ln>
        </p:spPr>
      </p:sp>
      <p:sp>
        <p:nvSpPr>
          <p:cNvPr id="57" name="Shape 55"/>
          <p:cNvSpPr/>
          <p:nvPr/>
        </p:nvSpPr>
        <p:spPr>
          <a:xfrm>
            <a:off x="4251960" y="5440680"/>
            <a:ext cx="3703320" cy="54864"/>
          </a:xfrm>
          <a:prstGeom prst="rect">
            <a:avLst/>
          </a:prstGeom>
          <a:solidFill>
            <a:srgbClr val="2F80ED"/>
          </a:solidFill>
          <a:ln w="12700">
            <a:solidFill>
              <a:srgbClr val="2F80ED"/>
            </a:solidFill>
            <a:prstDash val="solid"/>
          </a:ln>
        </p:spPr>
      </p:sp>
      <p:sp>
        <p:nvSpPr>
          <p:cNvPr id="58" name="Text 56"/>
          <p:cNvSpPr/>
          <p:nvPr/>
        </p:nvSpPr>
        <p:spPr>
          <a:xfrm>
            <a:off x="4389120" y="5541264"/>
            <a:ext cx="1828800" cy="274320"/>
          </a:xfrm>
          <a:prstGeom prst="rect">
            <a:avLst/>
          </a:prstGeom>
          <a:noFill/>
          <a:ln/>
        </p:spPr>
        <p:txBody>
          <a:bodyPr wrap="square" rtlCol="0" anchor="ctr"/>
          <a:lstStyle/>
          <a:p>
            <a:pPr indent="0" marL="0">
              <a:buNone/>
            </a:pPr>
            <a:r>
              <a:rPr lang="en-US" sz="2000" b="1" dirty="0">
                <a:solidFill>
                  <a:srgbClr val="2F80ED"/>
                </a:solidFill>
              </a:rPr>
              <a:t>5K+</a:t>
            </a:r>
            <a:endParaRPr lang="en-US" sz="2000" dirty="0"/>
          </a:p>
        </p:txBody>
      </p:sp>
      <p:sp>
        <p:nvSpPr>
          <p:cNvPr id="59" name="Text 57"/>
          <p:cNvSpPr/>
          <p:nvPr/>
        </p:nvSpPr>
        <p:spPr>
          <a:xfrm>
            <a:off x="4389120" y="5815584"/>
            <a:ext cx="3429000" cy="201168"/>
          </a:xfrm>
          <a:prstGeom prst="rect">
            <a:avLst/>
          </a:prstGeom>
          <a:noFill/>
          <a:ln/>
        </p:spPr>
        <p:txBody>
          <a:bodyPr wrap="square" rtlCol="0" anchor="ctr"/>
          <a:lstStyle/>
          <a:p>
            <a:pPr indent="0" marL="0">
              <a:buNone/>
            </a:pPr>
            <a:r>
              <a:rPr lang="en-US" sz="900" dirty="0">
                <a:solidFill>
                  <a:srgbClr val="7B96B8"/>
                </a:solidFill>
              </a:rPr>
              <a:t>Production apps</a:t>
            </a:r>
            <a:endParaRPr lang="en-US" sz="900" dirty="0"/>
          </a:p>
        </p:txBody>
      </p:sp>
      <p:sp>
        <p:nvSpPr>
          <p:cNvPr id="60" name="Shape 58"/>
          <p:cNvSpPr/>
          <p:nvPr/>
        </p:nvSpPr>
        <p:spPr>
          <a:xfrm>
            <a:off x="8229600" y="5440680"/>
            <a:ext cx="3703320" cy="640080"/>
          </a:xfrm>
          <a:prstGeom prst="roundRect">
            <a:avLst>
              <a:gd name="adj" fmla="val 11429"/>
            </a:avLst>
          </a:prstGeom>
          <a:solidFill>
            <a:srgbClr val="FFFFFF"/>
          </a:solidFill>
          <a:ln w="12700">
            <a:solidFill>
              <a:srgbClr val="000000"/>
            </a:solidFill>
            <a:prstDash val="solid"/>
          </a:ln>
        </p:spPr>
      </p:sp>
      <p:sp>
        <p:nvSpPr>
          <p:cNvPr id="61" name="Shape 59"/>
          <p:cNvSpPr/>
          <p:nvPr/>
        </p:nvSpPr>
        <p:spPr>
          <a:xfrm>
            <a:off x="8229600" y="5440680"/>
            <a:ext cx="3703320" cy="54864"/>
          </a:xfrm>
          <a:prstGeom prst="rect">
            <a:avLst/>
          </a:prstGeom>
          <a:solidFill>
            <a:srgbClr val="1BC5FF"/>
          </a:solidFill>
          <a:ln w="12700">
            <a:solidFill>
              <a:srgbClr val="1BC5FF"/>
            </a:solidFill>
            <a:prstDash val="solid"/>
          </a:ln>
        </p:spPr>
      </p:sp>
      <p:sp>
        <p:nvSpPr>
          <p:cNvPr id="62" name="Text 60"/>
          <p:cNvSpPr/>
          <p:nvPr/>
        </p:nvSpPr>
        <p:spPr>
          <a:xfrm>
            <a:off x="8366760" y="5541264"/>
            <a:ext cx="1828800" cy="274320"/>
          </a:xfrm>
          <a:prstGeom prst="rect">
            <a:avLst/>
          </a:prstGeom>
          <a:noFill/>
          <a:ln/>
        </p:spPr>
        <p:txBody>
          <a:bodyPr wrap="square" rtlCol="0" anchor="ctr"/>
          <a:lstStyle/>
          <a:p>
            <a:pPr indent="0" marL="0">
              <a:buNone/>
            </a:pPr>
            <a:r>
              <a:rPr lang="en-US" sz="2000" b="1" dirty="0">
                <a:solidFill>
                  <a:srgbClr val="1BC5FF"/>
                </a:solidFill>
              </a:rPr>
              <a:t>&lt;10ms</a:t>
            </a:r>
            <a:endParaRPr lang="en-US" sz="2000" dirty="0"/>
          </a:p>
        </p:txBody>
      </p:sp>
      <p:sp>
        <p:nvSpPr>
          <p:cNvPr id="63" name="Text 61"/>
          <p:cNvSpPr/>
          <p:nvPr/>
        </p:nvSpPr>
        <p:spPr>
          <a:xfrm>
            <a:off x="8366760" y="5815584"/>
            <a:ext cx="3429000" cy="201168"/>
          </a:xfrm>
          <a:prstGeom prst="rect">
            <a:avLst/>
          </a:prstGeom>
          <a:noFill/>
          <a:ln/>
        </p:spPr>
        <p:txBody>
          <a:bodyPr wrap="square" rtlCol="0" anchor="ctr"/>
          <a:lstStyle/>
          <a:p>
            <a:pPr indent="0" marL="0">
              <a:buNone/>
            </a:pPr>
            <a:r>
              <a:rPr lang="en-US" sz="900" dirty="0">
                <a:solidFill>
                  <a:srgbClr val="7B96B8"/>
                </a:solidFill>
              </a:rPr>
              <a:t>Memory retrieval (p95)</a:t>
            </a:r>
            <a:endParaRPr lang="en-US" sz="900" dirty="0"/>
          </a:p>
        </p:txBody>
      </p:sp>
      <p:sp>
        <p:nvSpPr>
          <p:cNvPr id="64" name="Shape 62"/>
          <p:cNvSpPr/>
          <p:nvPr/>
        </p:nvSpPr>
        <p:spPr>
          <a:xfrm>
            <a:off x="274320" y="6217920"/>
            <a:ext cx="11612880" cy="530352"/>
          </a:xfrm>
          <a:prstGeom prst="roundRect">
            <a:avLst>
              <a:gd name="adj" fmla="val 13793"/>
            </a:avLst>
          </a:prstGeom>
          <a:solidFill>
            <a:srgbClr val="000000"/>
          </a:solidFill>
          <a:ln w="12700">
            <a:solidFill>
              <a:srgbClr val="000000"/>
            </a:solidFill>
            <a:prstDash val="solid"/>
          </a:ln>
        </p:spPr>
      </p:sp>
      <p:sp>
        <p:nvSpPr>
          <p:cNvPr id="65" name="Shape 63"/>
          <p:cNvSpPr/>
          <p:nvPr/>
        </p:nvSpPr>
        <p:spPr>
          <a:xfrm>
            <a:off x="274320" y="6217920"/>
            <a:ext cx="54864" cy="530352"/>
          </a:xfrm>
          <a:prstGeom prst="rect">
            <a:avLst/>
          </a:prstGeom>
          <a:solidFill>
            <a:srgbClr val="12C479"/>
          </a:solidFill>
          <a:ln w="12700">
            <a:solidFill>
              <a:srgbClr val="12C479"/>
            </a:solidFill>
            <a:prstDash val="solid"/>
          </a:ln>
        </p:spPr>
      </p:sp>
      <p:sp>
        <p:nvSpPr>
          <p:cNvPr id="66" name="Text 64"/>
          <p:cNvSpPr/>
          <p:nvPr/>
        </p:nvSpPr>
        <p:spPr>
          <a:xfrm>
            <a:off x="457200" y="6272784"/>
            <a:ext cx="3657600" cy="201168"/>
          </a:xfrm>
          <a:prstGeom prst="rect">
            <a:avLst/>
          </a:prstGeom>
          <a:noFill/>
          <a:ln/>
        </p:spPr>
        <p:txBody>
          <a:bodyPr wrap="square" rtlCol="0" anchor="ctr"/>
          <a:lstStyle/>
          <a:p>
            <a:pPr indent="0" marL="0">
              <a:buNone/>
            </a:pPr>
            <a:r>
              <a:rPr lang="en-US" sz="900" b="1" dirty="0">
                <a:solidFill>
                  <a:srgbClr val="12C479"/>
                </a:solidFill>
              </a:rPr>
              <a:t>Razorpay strategic angle</a:t>
            </a:r>
            <a:endParaRPr lang="en-US" sz="900" dirty="0"/>
          </a:p>
        </p:txBody>
      </p:sp>
      <p:sp>
        <p:nvSpPr>
          <p:cNvPr id="67" name="Text 65"/>
          <p:cNvSpPr/>
          <p:nvPr/>
        </p:nvSpPr>
        <p:spPr>
          <a:xfrm>
            <a:off x="457200" y="6455664"/>
            <a:ext cx="11247120" cy="228600"/>
          </a:xfrm>
          <a:prstGeom prst="rect">
            <a:avLst/>
          </a:prstGeom>
          <a:noFill/>
          <a:ln/>
        </p:spPr>
        <p:txBody>
          <a:bodyPr wrap="square" rtlCol="0" anchor="ctr"/>
          <a:lstStyle/>
          <a:p>
            <a:pPr indent="0" marL="0">
              <a:buNone/>
            </a:pPr>
            <a:r>
              <a:rPr lang="en-US" sz="900" dirty="0">
                <a:solidFill>
                  <a:srgbClr val="3D5472"/>
                </a:solidFill>
              </a:rPr>
              <a:t>Razorpay's merchant AI (Smart Collect, Route, Capital) has no persistent memory today. mem0 enables AI that learns payment patterns, flagging thresholds, and credit behavior over time — turning one-shot AI features into compound, personalized intelligence. Direct integration path into Razorpay X and Capital underwriting.</a:t>
            </a:r>
            <a:endParaRPr lang="en-US" sz="900" dirty="0"/>
          </a:p>
        </p:txBody>
      </p:sp>
      <p:sp>
        <p:nvSpPr>
          <p:cNvPr id="68" name="Shape 66"/>
          <p:cNvSpPr/>
          <p:nvPr/>
        </p:nvSpPr>
        <p:spPr>
          <a:xfrm>
            <a:off x="0" y="6748272"/>
            <a:ext cx="12188952" cy="109728"/>
          </a:xfrm>
          <a:prstGeom prst="rect">
            <a:avLst/>
          </a:prstGeom>
          <a:solidFill>
            <a:srgbClr val="2F80ED"/>
          </a:solidFill>
          <a:ln w="12700">
            <a:solidFill>
              <a:srgbClr val="2F80ED"/>
            </a:solidFill>
            <a:prstDash val="solid"/>
          </a:ln>
        </p:spPr>
      </p:sp>
      <p:sp>
        <p:nvSpPr>
          <p:cNvPr id="69" name="Text 67"/>
          <p:cNvSpPr/>
          <p:nvPr/>
        </p:nvSpPr>
        <p:spPr>
          <a:xfrm>
            <a:off x="11274552" y="6748272"/>
            <a:ext cx="731520" cy="109728"/>
          </a:xfrm>
          <a:prstGeom prst="rect">
            <a:avLst/>
          </a:prstGeom>
          <a:noFill/>
          <a:ln/>
        </p:spPr>
        <p:txBody>
          <a:bodyPr wrap="square" rtlCol="0" anchor="ctr"/>
          <a:lstStyle/>
          <a:p>
            <a:pPr algn="r" indent="0" marL="0">
              <a:buNone/>
            </a:pPr>
            <a:r>
              <a:rPr lang="en-US" sz="700" dirty="0">
                <a:solidFill>
                  <a:srgbClr val="FFFFFF"/>
                </a:solidFill>
              </a:rPr>
              <a:t>8 / 11</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7FD"/>
          </a:solidFill>
          <a:ln w="12700">
            <a:solidFill>
              <a:srgbClr val="F4F7FD"/>
            </a:solidFill>
            <a:prstDash val="solid"/>
          </a:ln>
        </p:spPr>
      </p:sp>
      <p:sp>
        <p:nvSpPr>
          <p:cNvPr id="3" name="Shape 1"/>
          <p:cNvSpPr/>
          <p:nvPr/>
        </p:nvSpPr>
        <p:spPr>
          <a:xfrm>
            <a:off x="0" y="0"/>
            <a:ext cx="12188952" cy="502920"/>
          </a:xfrm>
          <a:prstGeom prst="rect">
            <a:avLst/>
          </a:prstGeom>
          <a:solidFill>
            <a:srgbClr val="FFFFFF"/>
          </a:solidFill>
          <a:ln w="6350">
            <a:solidFill>
              <a:srgbClr val="D5E3F7"/>
            </a:solidFill>
            <a:prstDash val="solid"/>
          </a:ln>
        </p:spPr>
      </p:sp>
      <p:sp>
        <p:nvSpPr>
          <p:cNvPr id="4" name="Text 2"/>
          <p:cNvSpPr/>
          <p:nvPr/>
        </p:nvSpPr>
        <p:spPr>
          <a:xfrm>
            <a:off x="274320" y="64008"/>
            <a:ext cx="1828800" cy="384048"/>
          </a:xfrm>
          <a:prstGeom prst="rect">
            <a:avLst/>
          </a:prstGeom>
          <a:noFill/>
          <a:ln/>
        </p:spPr>
        <p:txBody>
          <a:bodyPr wrap="square" rtlCol="0" anchor="ctr"/>
          <a:lstStyle/>
          <a:p>
            <a:pPr indent="0" marL="0">
              <a:buNone/>
            </a:pPr>
            <a:r>
              <a:rPr lang="en-US" sz="1700" b="1" dirty="0">
                <a:solidFill>
                  <a:srgbClr val="0D1E35"/>
                </a:solidFill>
                <a:latin typeface="Arial" pitchFamily="34" charset="0"/>
                <a:ea typeface="Arial" pitchFamily="34" charset="-122"/>
                <a:cs typeface="Arial" pitchFamily="34" charset="-120"/>
              </a:rPr>
              <a:t>razor</a:t>
            </a:r>
            <a:pPr indent="0" marL="0">
              <a:buNone/>
            </a:pPr>
            <a:r>
              <a:rPr lang="en-US" sz="1700" b="1" dirty="0">
                <a:solidFill>
                  <a:srgbClr val="2F80ED"/>
                </a:solidFill>
                <a:latin typeface="Arial" pitchFamily="34" charset="0"/>
                <a:ea typeface="Arial" pitchFamily="34" charset="-122"/>
                <a:cs typeface="Arial" pitchFamily="34" charset="-120"/>
              </a:rPr>
              <a:t>pay</a:t>
            </a:r>
            <a:endParaRPr lang="en-US" sz="1700" dirty="0"/>
          </a:p>
        </p:txBody>
      </p:sp>
      <p:sp>
        <p:nvSpPr>
          <p:cNvPr id="5" name="Text 3"/>
          <p:cNvSpPr/>
          <p:nvPr/>
        </p:nvSpPr>
        <p:spPr>
          <a:xfrm>
            <a:off x="9628632" y="155448"/>
            <a:ext cx="2286000" cy="201168"/>
          </a:xfrm>
          <a:prstGeom prst="rect">
            <a:avLst/>
          </a:prstGeom>
          <a:noFill/>
          <a:ln/>
        </p:spPr>
        <p:txBody>
          <a:bodyPr wrap="square" rtlCol="0" anchor="ctr"/>
          <a:lstStyle/>
          <a:p>
            <a:pPr algn="r" indent="0" marL="0">
              <a:buNone/>
            </a:pPr>
            <a:r>
              <a:rPr lang="en-US" sz="700" dirty="0">
                <a:solidFill>
                  <a:srgbClr val="7B96B8"/>
                </a:solidFill>
              </a:rPr>
              <a:t>CONFIDENTIAL · MARCH 2026</a:t>
            </a:r>
            <a:endParaRPr lang="en-US" sz="700" dirty="0"/>
          </a:p>
        </p:txBody>
      </p:sp>
      <p:sp>
        <p:nvSpPr>
          <p:cNvPr id="6" name="Shape 4"/>
          <p:cNvSpPr/>
          <p:nvPr/>
        </p:nvSpPr>
        <p:spPr>
          <a:xfrm>
            <a:off x="274320" y="594360"/>
            <a:ext cx="2286000" cy="201168"/>
          </a:xfrm>
          <a:prstGeom prst="roundRect">
            <a:avLst>
              <a:gd name="adj" fmla="val 18182"/>
            </a:avLst>
          </a:prstGeom>
          <a:solidFill>
            <a:srgbClr val="000000"/>
          </a:solidFill>
          <a:ln w="6350">
            <a:solidFill>
              <a:srgbClr val="000000"/>
            </a:solidFill>
            <a:prstDash val="solid"/>
          </a:ln>
        </p:spPr>
      </p:sp>
      <p:sp>
        <p:nvSpPr>
          <p:cNvPr id="7" name="Text 5"/>
          <p:cNvSpPr/>
          <p:nvPr/>
        </p:nvSpPr>
        <p:spPr>
          <a:xfrm>
            <a:off x="274320" y="594360"/>
            <a:ext cx="2286000" cy="201168"/>
          </a:xfrm>
          <a:prstGeom prst="rect">
            <a:avLst/>
          </a:prstGeom>
          <a:noFill/>
          <a:ln/>
        </p:spPr>
        <p:txBody>
          <a:bodyPr wrap="square" rtlCol="0" anchor="ctr"/>
          <a:lstStyle/>
          <a:p>
            <a:pPr algn="ctr" indent="0" marL="0">
              <a:buNone/>
            </a:pPr>
            <a:r>
              <a:rPr lang="en-US" sz="700" b="1" dirty="0">
                <a:solidFill>
                  <a:srgbClr val="1BC5FF"/>
                </a:solidFill>
              </a:rPr>
              <a:t>PORTFOLIO COMPANY 03/03</a:t>
            </a:r>
            <a:endParaRPr lang="en-US" sz="700" dirty="0"/>
          </a:p>
        </p:txBody>
      </p:sp>
      <p:sp>
        <p:nvSpPr>
          <p:cNvPr id="8" name="Shape 6"/>
          <p:cNvSpPr/>
          <p:nvPr/>
        </p:nvSpPr>
        <p:spPr>
          <a:xfrm>
            <a:off x="9628632" y="594360"/>
            <a:ext cx="2286000" cy="201168"/>
          </a:xfrm>
          <a:prstGeom prst="roundRect">
            <a:avLst>
              <a:gd name="adj" fmla="val 18182"/>
            </a:avLst>
          </a:prstGeom>
          <a:solidFill>
            <a:srgbClr val="000000"/>
          </a:solidFill>
          <a:ln w="12700">
            <a:solidFill>
              <a:srgbClr val="000000"/>
            </a:solidFill>
            <a:prstDash val="solid"/>
          </a:ln>
        </p:spPr>
      </p:sp>
      <p:sp>
        <p:nvSpPr>
          <p:cNvPr id="9" name="Text 7"/>
          <p:cNvSpPr/>
          <p:nvPr/>
        </p:nvSpPr>
        <p:spPr>
          <a:xfrm>
            <a:off x="9628632" y="594360"/>
            <a:ext cx="2286000" cy="201168"/>
          </a:xfrm>
          <a:prstGeom prst="rect">
            <a:avLst/>
          </a:prstGeom>
          <a:noFill/>
          <a:ln/>
        </p:spPr>
        <p:txBody>
          <a:bodyPr wrap="square" rtlCol="0" anchor="ctr"/>
          <a:lstStyle/>
          <a:p>
            <a:pPr algn="ctr" indent="0" marL="0">
              <a:buNone/>
            </a:pPr>
            <a:r>
              <a:rPr lang="en-US" sz="700" b="1" dirty="0">
                <a:solidFill>
                  <a:srgbClr val="F59E0B"/>
                </a:solidFill>
              </a:rPr>
              <a:t>PRE-SEED</a:t>
            </a:r>
            <a:endParaRPr lang="en-US" sz="700" dirty="0"/>
          </a:p>
        </p:txBody>
      </p:sp>
      <p:sp>
        <p:nvSpPr>
          <p:cNvPr id="10" name="Text 8"/>
          <p:cNvSpPr/>
          <p:nvPr/>
        </p:nvSpPr>
        <p:spPr>
          <a:xfrm>
            <a:off x="274320" y="877824"/>
            <a:ext cx="11612880" cy="566928"/>
          </a:xfrm>
          <a:prstGeom prst="rect">
            <a:avLst/>
          </a:prstGeom>
          <a:noFill/>
          <a:ln/>
        </p:spPr>
        <p:txBody>
          <a:bodyPr wrap="square" rtlCol="0" anchor="ctr"/>
          <a:lstStyle/>
          <a:p>
            <a:pPr indent="0" marL="0">
              <a:buNone/>
            </a:pPr>
            <a:r>
              <a:rPr lang="en-US" sz="2200" b="1" dirty="0">
                <a:solidFill>
                  <a:srgbClr val="0D1E35"/>
                </a:solidFill>
                <a:latin typeface="Arial" pitchFamily="34" charset="0"/>
                <a:ea typeface="Arial" pitchFamily="34" charset="-122"/>
                <a:cs typeface="Arial" pitchFamily="34" charset="-120"/>
              </a:rPr>
              <a:t>altorlab — Zero-Cost Client-Side Vector Search</a:t>
            </a:r>
            <a:endParaRPr lang="en-US" sz="2200" dirty="0"/>
          </a:p>
        </p:txBody>
      </p:sp>
      <p:sp>
        <p:nvSpPr>
          <p:cNvPr id="11" name="Text 9"/>
          <p:cNvSpPr/>
          <p:nvPr/>
        </p:nvSpPr>
        <p:spPr>
          <a:xfrm>
            <a:off x="274320" y="1444752"/>
            <a:ext cx="11612880" cy="384048"/>
          </a:xfrm>
          <a:prstGeom prst="rect">
            <a:avLst/>
          </a:prstGeom>
          <a:noFill/>
          <a:ln/>
        </p:spPr>
        <p:txBody>
          <a:bodyPr wrap="square" rtlCol="0" anchor="ctr"/>
          <a:lstStyle/>
          <a:p>
            <a:pPr indent="0" marL="0">
              <a:buNone/>
            </a:pPr>
            <a:r>
              <a:rPr lang="en-US" sz="1050" dirty="0">
                <a:solidFill>
                  <a:srgbClr val="3D5472"/>
                </a:solidFill>
              </a:rPr>
              <a:t>altorlab built altor-vec: a 54KB WebAssembly HNSW vector search engine that runs entirely in the browser. Every search query is free forever — no server, no API call, no per-query billing.</a:t>
            </a:r>
            <a:endParaRPr lang="en-US" sz="1050" dirty="0"/>
          </a:p>
        </p:txBody>
      </p:sp>
      <p:sp>
        <p:nvSpPr>
          <p:cNvPr id="12" name="Shape 10"/>
          <p:cNvSpPr/>
          <p:nvPr/>
        </p:nvSpPr>
        <p:spPr>
          <a:xfrm>
            <a:off x="274320" y="2011680"/>
            <a:ext cx="3931920" cy="2423160"/>
          </a:xfrm>
          <a:prstGeom prst="roundRect">
            <a:avLst>
              <a:gd name="adj" fmla="val 3774"/>
            </a:avLst>
          </a:prstGeom>
          <a:solidFill>
            <a:srgbClr val="FFFFFF"/>
          </a:solidFill>
          <a:ln w="6350">
            <a:solidFill>
              <a:srgbClr val="D5E3F7"/>
            </a:solidFill>
            <a:prstDash val="solid"/>
          </a:ln>
        </p:spPr>
      </p:sp>
      <p:sp>
        <p:nvSpPr>
          <p:cNvPr id="13" name="Text 11"/>
          <p:cNvSpPr/>
          <p:nvPr/>
        </p:nvSpPr>
        <p:spPr>
          <a:xfrm>
            <a:off x="457200" y="2157984"/>
            <a:ext cx="3566160" cy="182880"/>
          </a:xfrm>
          <a:prstGeom prst="rect">
            <a:avLst/>
          </a:prstGeom>
          <a:noFill/>
          <a:ln/>
        </p:spPr>
        <p:txBody>
          <a:bodyPr wrap="square" rtlCol="0" anchor="ctr"/>
          <a:lstStyle/>
          <a:p>
            <a:pPr indent="0" marL="0">
              <a:buNone/>
            </a:pPr>
            <a:r>
              <a:rPr lang="en-US" sz="750" b="1" dirty="0">
                <a:solidFill>
                  <a:srgbClr val="7B96B8"/>
                </a:solidFill>
              </a:rPr>
              <a:t>COMPANY SNAPSHOT</a:t>
            </a:r>
            <a:endParaRPr lang="en-US" sz="750" dirty="0"/>
          </a:p>
        </p:txBody>
      </p:sp>
      <p:sp>
        <p:nvSpPr>
          <p:cNvPr id="14" name="Shape 12"/>
          <p:cNvSpPr/>
          <p:nvPr/>
        </p:nvSpPr>
        <p:spPr>
          <a:xfrm>
            <a:off x="457200" y="2761488"/>
            <a:ext cx="3566160" cy="18288"/>
          </a:xfrm>
          <a:prstGeom prst="rect">
            <a:avLst/>
          </a:prstGeom>
          <a:solidFill>
            <a:srgbClr val="EDF2FB"/>
          </a:solidFill>
          <a:ln w="12700">
            <a:solidFill>
              <a:srgbClr val="EDF2FB"/>
            </a:solidFill>
            <a:prstDash val="solid"/>
          </a:ln>
        </p:spPr>
      </p:sp>
      <p:sp>
        <p:nvSpPr>
          <p:cNvPr id="15" name="Text 13"/>
          <p:cNvSpPr/>
          <p:nvPr/>
        </p:nvSpPr>
        <p:spPr>
          <a:xfrm>
            <a:off x="457200" y="2395728"/>
            <a:ext cx="1737360" cy="329184"/>
          </a:xfrm>
          <a:prstGeom prst="rect">
            <a:avLst/>
          </a:prstGeom>
          <a:noFill/>
          <a:ln/>
        </p:spPr>
        <p:txBody>
          <a:bodyPr wrap="square" rtlCol="0" anchor="ctr"/>
          <a:lstStyle/>
          <a:p>
            <a:pPr indent="0" marL="0">
              <a:buNone/>
            </a:pPr>
            <a:r>
              <a:rPr lang="en-US" sz="950" dirty="0">
                <a:solidFill>
                  <a:srgbClr val="3D5472"/>
                </a:solidFill>
              </a:rPr>
              <a:t>Product</a:t>
            </a:r>
            <a:endParaRPr lang="en-US" sz="950" dirty="0"/>
          </a:p>
        </p:txBody>
      </p:sp>
      <p:sp>
        <p:nvSpPr>
          <p:cNvPr id="16" name="Text 14"/>
          <p:cNvSpPr/>
          <p:nvPr/>
        </p:nvSpPr>
        <p:spPr>
          <a:xfrm>
            <a:off x="2286000" y="2395728"/>
            <a:ext cx="1737360" cy="329184"/>
          </a:xfrm>
          <a:prstGeom prst="rect">
            <a:avLst/>
          </a:prstGeom>
          <a:noFill/>
          <a:ln/>
        </p:spPr>
        <p:txBody>
          <a:bodyPr wrap="square" rtlCol="0" anchor="ctr"/>
          <a:lstStyle/>
          <a:p>
            <a:pPr algn="r" indent="0" marL="0">
              <a:buNone/>
            </a:pPr>
            <a:r>
              <a:rPr lang="en-US" sz="950" b="1" dirty="0">
                <a:solidFill>
                  <a:srgbClr val="1BC5FF"/>
                </a:solidFill>
              </a:rPr>
              <a:t>altor-vec (npm)</a:t>
            </a:r>
            <a:endParaRPr lang="en-US" sz="950" dirty="0"/>
          </a:p>
        </p:txBody>
      </p:sp>
      <p:sp>
        <p:nvSpPr>
          <p:cNvPr id="17" name="Shape 15"/>
          <p:cNvSpPr/>
          <p:nvPr/>
        </p:nvSpPr>
        <p:spPr>
          <a:xfrm>
            <a:off x="457200" y="3191256"/>
            <a:ext cx="3566160" cy="18288"/>
          </a:xfrm>
          <a:prstGeom prst="rect">
            <a:avLst/>
          </a:prstGeom>
          <a:solidFill>
            <a:srgbClr val="EDF2FB"/>
          </a:solidFill>
          <a:ln w="12700">
            <a:solidFill>
              <a:srgbClr val="EDF2FB"/>
            </a:solidFill>
            <a:prstDash val="solid"/>
          </a:ln>
        </p:spPr>
      </p:sp>
      <p:sp>
        <p:nvSpPr>
          <p:cNvPr id="18" name="Text 16"/>
          <p:cNvSpPr/>
          <p:nvPr/>
        </p:nvSpPr>
        <p:spPr>
          <a:xfrm>
            <a:off x="457200" y="2825496"/>
            <a:ext cx="1737360" cy="329184"/>
          </a:xfrm>
          <a:prstGeom prst="rect">
            <a:avLst/>
          </a:prstGeom>
          <a:noFill/>
          <a:ln/>
        </p:spPr>
        <p:txBody>
          <a:bodyPr wrap="square" rtlCol="0" anchor="ctr"/>
          <a:lstStyle/>
          <a:p>
            <a:pPr indent="0" marL="0">
              <a:buNone/>
            </a:pPr>
            <a:r>
              <a:rPr lang="en-US" sz="950" dirty="0">
                <a:solidFill>
                  <a:srgbClr val="3D5472"/>
                </a:solidFill>
              </a:rPr>
              <a:t>Stage</a:t>
            </a:r>
            <a:endParaRPr lang="en-US" sz="950" dirty="0"/>
          </a:p>
        </p:txBody>
      </p:sp>
      <p:sp>
        <p:nvSpPr>
          <p:cNvPr id="19" name="Text 17"/>
          <p:cNvSpPr/>
          <p:nvPr/>
        </p:nvSpPr>
        <p:spPr>
          <a:xfrm>
            <a:off x="2286000" y="2825496"/>
            <a:ext cx="1737360" cy="329184"/>
          </a:xfrm>
          <a:prstGeom prst="rect">
            <a:avLst/>
          </a:prstGeom>
          <a:noFill/>
          <a:ln/>
        </p:spPr>
        <p:txBody>
          <a:bodyPr wrap="square" rtlCol="0" anchor="ctr"/>
          <a:lstStyle/>
          <a:p>
            <a:pPr algn="r" indent="0" marL="0">
              <a:buNone/>
            </a:pPr>
            <a:r>
              <a:rPr lang="en-US" sz="950" b="1" dirty="0">
                <a:solidFill>
                  <a:srgbClr val="1BC5FF"/>
                </a:solidFill>
              </a:rPr>
              <a:t>Pre-Seed</a:t>
            </a:r>
            <a:endParaRPr lang="en-US" sz="950" dirty="0"/>
          </a:p>
        </p:txBody>
      </p:sp>
      <p:sp>
        <p:nvSpPr>
          <p:cNvPr id="20" name="Shape 18"/>
          <p:cNvSpPr/>
          <p:nvPr/>
        </p:nvSpPr>
        <p:spPr>
          <a:xfrm>
            <a:off x="457200" y="3621024"/>
            <a:ext cx="3566160" cy="18288"/>
          </a:xfrm>
          <a:prstGeom prst="rect">
            <a:avLst/>
          </a:prstGeom>
          <a:solidFill>
            <a:srgbClr val="EDF2FB"/>
          </a:solidFill>
          <a:ln w="12700">
            <a:solidFill>
              <a:srgbClr val="EDF2FB"/>
            </a:solidFill>
            <a:prstDash val="solid"/>
          </a:ln>
        </p:spPr>
      </p:sp>
      <p:sp>
        <p:nvSpPr>
          <p:cNvPr id="21" name="Text 19"/>
          <p:cNvSpPr/>
          <p:nvPr/>
        </p:nvSpPr>
        <p:spPr>
          <a:xfrm>
            <a:off x="457200" y="3255264"/>
            <a:ext cx="1737360" cy="329184"/>
          </a:xfrm>
          <a:prstGeom prst="rect">
            <a:avLst/>
          </a:prstGeom>
          <a:noFill/>
          <a:ln/>
        </p:spPr>
        <p:txBody>
          <a:bodyPr wrap="square" rtlCol="0" anchor="ctr"/>
          <a:lstStyle/>
          <a:p>
            <a:pPr indent="0" marL="0">
              <a:buNone/>
            </a:pPr>
            <a:r>
              <a:rPr lang="en-US" sz="950" dirty="0">
                <a:solidFill>
                  <a:srgbClr val="3D5472"/>
                </a:solidFill>
              </a:rPr>
              <a:t>Tech</a:t>
            </a:r>
            <a:endParaRPr lang="en-US" sz="950" dirty="0"/>
          </a:p>
        </p:txBody>
      </p:sp>
      <p:sp>
        <p:nvSpPr>
          <p:cNvPr id="22" name="Text 20"/>
          <p:cNvSpPr/>
          <p:nvPr/>
        </p:nvSpPr>
        <p:spPr>
          <a:xfrm>
            <a:off x="2286000" y="3255264"/>
            <a:ext cx="1737360" cy="329184"/>
          </a:xfrm>
          <a:prstGeom prst="rect">
            <a:avLst/>
          </a:prstGeom>
          <a:noFill/>
          <a:ln/>
        </p:spPr>
        <p:txBody>
          <a:bodyPr wrap="square" rtlCol="0" anchor="ctr"/>
          <a:lstStyle/>
          <a:p>
            <a:pPr algn="r" indent="0" marL="0">
              <a:buNone/>
            </a:pPr>
            <a:r>
              <a:rPr lang="en-US" sz="950" b="1" dirty="0">
                <a:solidFill>
                  <a:srgbClr val="1BC5FF"/>
                </a:solidFill>
              </a:rPr>
              <a:t>Rust → WASM (54KB)</a:t>
            </a:r>
            <a:endParaRPr lang="en-US" sz="950" dirty="0"/>
          </a:p>
        </p:txBody>
      </p:sp>
      <p:sp>
        <p:nvSpPr>
          <p:cNvPr id="23" name="Shape 21"/>
          <p:cNvSpPr/>
          <p:nvPr/>
        </p:nvSpPr>
        <p:spPr>
          <a:xfrm>
            <a:off x="457200" y="4050792"/>
            <a:ext cx="3566160" cy="18288"/>
          </a:xfrm>
          <a:prstGeom prst="rect">
            <a:avLst/>
          </a:prstGeom>
          <a:solidFill>
            <a:srgbClr val="EDF2FB"/>
          </a:solidFill>
          <a:ln w="12700">
            <a:solidFill>
              <a:srgbClr val="EDF2FB"/>
            </a:solidFill>
            <a:prstDash val="solid"/>
          </a:ln>
        </p:spPr>
      </p:sp>
      <p:sp>
        <p:nvSpPr>
          <p:cNvPr id="24" name="Text 22"/>
          <p:cNvSpPr/>
          <p:nvPr/>
        </p:nvSpPr>
        <p:spPr>
          <a:xfrm>
            <a:off x="457200" y="3685032"/>
            <a:ext cx="1737360" cy="329184"/>
          </a:xfrm>
          <a:prstGeom prst="rect">
            <a:avLst/>
          </a:prstGeom>
          <a:noFill/>
          <a:ln/>
        </p:spPr>
        <p:txBody>
          <a:bodyPr wrap="square" rtlCol="0" anchor="ctr"/>
          <a:lstStyle/>
          <a:p>
            <a:pPr indent="0" marL="0">
              <a:buNone/>
            </a:pPr>
            <a:r>
              <a:rPr lang="en-US" sz="950" dirty="0">
                <a:solidFill>
                  <a:srgbClr val="3D5472"/>
                </a:solidFill>
              </a:rPr>
              <a:t>Algorithm</a:t>
            </a:r>
            <a:endParaRPr lang="en-US" sz="950" dirty="0"/>
          </a:p>
        </p:txBody>
      </p:sp>
      <p:sp>
        <p:nvSpPr>
          <p:cNvPr id="25" name="Text 23"/>
          <p:cNvSpPr/>
          <p:nvPr/>
        </p:nvSpPr>
        <p:spPr>
          <a:xfrm>
            <a:off x="2286000" y="3685032"/>
            <a:ext cx="1737360" cy="329184"/>
          </a:xfrm>
          <a:prstGeom prst="rect">
            <a:avLst/>
          </a:prstGeom>
          <a:noFill/>
          <a:ln/>
        </p:spPr>
        <p:txBody>
          <a:bodyPr wrap="square" rtlCol="0" anchor="ctr"/>
          <a:lstStyle/>
          <a:p>
            <a:pPr algn="r" indent="0" marL="0">
              <a:buNone/>
            </a:pPr>
            <a:r>
              <a:rPr lang="en-US" sz="950" b="1" dirty="0">
                <a:solidFill>
                  <a:srgbClr val="1BC5FF"/>
                </a:solidFill>
              </a:rPr>
              <a:t>HNSW — O(log n)</a:t>
            </a:r>
            <a:endParaRPr lang="en-US" sz="950" dirty="0"/>
          </a:p>
        </p:txBody>
      </p:sp>
      <p:sp>
        <p:nvSpPr>
          <p:cNvPr id="26" name="Shape 24"/>
          <p:cNvSpPr/>
          <p:nvPr/>
        </p:nvSpPr>
        <p:spPr>
          <a:xfrm>
            <a:off x="457200" y="4480560"/>
            <a:ext cx="3566160" cy="18288"/>
          </a:xfrm>
          <a:prstGeom prst="rect">
            <a:avLst/>
          </a:prstGeom>
          <a:solidFill>
            <a:srgbClr val="EDF2FB"/>
          </a:solidFill>
          <a:ln w="12700">
            <a:solidFill>
              <a:srgbClr val="EDF2FB"/>
            </a:solidFill>
            <a:prstDash val="solid"/>
          </a:ln>
        </p:spPr>
      </p:sp>
      <p:sp>
        <p:nvSpPr>
          <p:cNvPr id="27" name="Text 25"/>
          <p:cNvSpPr/>
          <p:nvPr/>
        </p:nvSpPr>
        <p:spPr>
          <a:xfrm>
            <a:off x="457200" y="4114800"/>
            <a:ext cx="1737360" cy="329184"/>
          </a:xfrm>
          <a:prstGeom prst="rect">
            <a:avLst/>
          </a:prstGeom>
          <a:noFill/>
          <a:ln/>
        </p:spPr>
        <p:txBody>
          <a:bodyPr wrap="square" rtlCol="0" anchor="ctr"/>
          <a:lstStyle/>
          <a:p>
            <a:pPr indent="0" marL="0">
              <a:buNone/>
            </a:pPr>
            <a:r>
              <a:rPr lang="en-US" sz="950" dirty="0">
                <a:solidFill>
                  <a:srgbClr val="3D5472"/>
                </a:solidFill>
              </a:rPr>
              <a:t>Contact</a:t>
            </a:r>
            <a:endParaRPr lang="en-US" sz="950" dirty="0"/>
          </a:p>
        </p:txBody>
      </p:sp>
      <p:sp>
        <p:nvSpPr>
          <p:cNvPr id="28" name="Text 26"/>
          <p:cNvSpPr/>
          <p:nvPr/>
        </p:nvSpPr>
        <p:spPr>
          <a:xfrm>
            <a:off x="2286000" y="4114800"/>
            <a:ext cx="1737360" cy="329184"/>
          </a:xfrm>
          <a:prstGeom prst="rect">
            <a:avLst/>
          </a:prstGeom>
          <a:noFill/>
          <a:ln/>
        </p:spPr>
        <p:txBody>
          <a:bodyPr wrap="square" rtlCol="0" anchor="ctr"/>
          <a:lstStyle/>
          <a:p>
            <a:pPr algn="r" indent="0" marL="0">
              <a:buNone/>
            </a:pPr>
            <a:r>
              <a:rPr lang="en-US" sz="950" b="1" dirty="0">
                <a:solidFill>
                  <a:srgbClr val="1BC5FF"/>
                </a:solidFill>
              </a:rPr>
              <a:t>anshul@altorlab.dev</a:t>
            </a:r>
            <a:endParaRPr lang="en-US" sz="950" dirty="0"/>
          </a:p>
        </p:txBody>
      </p:sp>
      <p:sp>
        <p:nvSpPr>
          <p:cNvPr id="29" name="Shape 27"/>
          <p:cNvSpPr/>
          <p:nvPr/>
        </p:nvSpPr>
        <p:spPr>
          <a:xfrm>
            <a:off x="274320" y="4553712"/>
            <a:ext cx="3931920" cy="1078992"/>
          </a:xfrm>
          <a:prstGeom prst="roundRect">
            <a:avLst>
              <a:gd name="adj" fmla="val 6780"/>
            </a:avLst>
          </a:prstGeom>
          <a:solidFill>
            <a:srgbClr val="FFFFFF"/>
          </a:solidFill>
          <a:ln w="6350">
            <a:solidFill>
              <a:srgbClr val="D5E3F7"/>
            </a:solidFill>
            <a:prstDash val="solid"/>
          </a:ln>
        </p:spPr>
      </p:sp>
      <p:sp>
        <p:nvSpPr>
          <p:cNvPr id="30" name="Text 28"/>
          <p:cNvSpPr/>
          <p:nvPr/>
        </p:nvSpPr>
        <p:spPr>
          <a:xfrm>
            <a:off x="457200" y="4654296"/>
            <a:ext cx="3566160" cy="182880"/>
          </a:xfrm>
          <a:prstGeom prst="rect">
            <a:avLst/>
          </a:prstGeom>
          <a:noFill/>
          <a:ln/>
        </p:spPr>
        <p:txBody>
          <a:bodyPr wrap="square" rtlCol="0" anchor="ctr"/>
          <a:lstStyle/>
          <a:p>
            <a:pPr indent="0" marL="0">
              <a:buNone/>
            </a:pPr>
            <a:r>
              <a:rPr lang="en-US" sz="750" b="1" dirty="0">
                <a:solidFill>
                  <a:srgbClr val="7B96B8"/>
                </a:solidFill>
              </a:rPr>
              <a:t>THE ECONOMICS CASE</a:t>
            </a:r>
            <a:endParaRPr lang="en-US" sz="750" dirty="0"/>
          </a:p>
        </p:txBody>
      </p:sp>
      <p:sp>
        <p:nvSpPr>
          <p:cNvPr id="31" name="Text 29"/>
          <p:cNvSpPr/>
          <p:nvPr/>
        </p:nvSpPr>
        <p:spPr>
          <a:xfrm>
            <a:off x="457200" y="4882896"/>
            <a:ext cx="2377440" cy="164592"/>
          </a:xfrm>
          <a:prstGeom prst="rect">
            <a:avLst/>
          </a:prstGeom>
          <a:noFill/>
          <a:ln/>
        </p:spPr>
        <p:txBody>
          <a:bodyPr wrap="square" rtlCol="0" anchor="ctr"/>
          <a:lstStyle/>
          <a:p>
            <a:pPr indent="0" marL="0">
              <a:buNone/>
            </a:pPr>
            <a:r>
              <a:rPr lang="en-US" sz="900" dirty="0">
                <a:solidFill>
                  <a:srgbClr val="3D5472"/>
                </a:solidFill>
              </a:rPr>
              <a:t>100K MAU · 5 searches/day</a:t>
            </a:r>
            <a:endParaRPr lang="en-US" sz="900" dirty="0"/>
          </a:p>
        </p:txBody>
      </p:sp>
      <p:sp>
        <p:nvSpPr>
          <p:cNvPr id="32" name="Text 30"/>
          <p:cNvSpPr/>
          <p:nvPr/>
        </p:nvSpPr>
        <p:spPr>
          <a:xfrm>
            <a:off x="2834640" y="4882896"/>
            <a:ext cx="1188720" cy="164592"/>
          </a:xfrm>
          <a:prstGeom prst="rect">
            <a:avLst/>
          </a:prstGeom>
          <a:noFill/>
          <a:ln/>
        </p:spPr>
        <p:txBody>
          <a:bodyPr wrap="square" rtlCol="0" anchor="ctr"/>
          <a:lstStyle/>
          <a:p>
            <a:pPr algn="r" indent="0" marL="0">
              <a:buNone/>
            </a:pPr>
            <a:r>
              <a:rPr lang="en-US" sz="900" b="1" dirty="0">
                <a:solidFill>
                  <a:srgbClr val="0D1E35"/>
                </a:solidFill>
              </a:rPr>
              <a:t>15M searches/mo</a:t>
            </a:r>
            <a:endParaRPr lang="en-US" sz="900" dirty="0"/>
          </a:p>
        </p:txBody>
      </p:sp>
      <p:sp>
        <p:nvSpPr>
          <p:cNvPr id="33" name="Text 31"/>
          <p:cNvSpPr/>
          <p:nvPr/>
        </p:nvSpPr>
        <p:spPr>
          <a:xfrm>
            <a:off x="457200" y="5065776"/>
            <a:ext cx="2377440" cy="164592"/>
          </a:xfrm>
          <a:prstGeom prst="rect">
            <a:avLst/>
          </a:prstGeom>
          <a:noFill/>
          <a:ln/>
        </p:spPr>
        <p:txBody>
          <a:bodyPr wrap="square" rtlCol="0" anchor="ctr"/>
          <a:lstStyle/>
          <a:p>
            <a:pPr indent="0" marL="0">
              <a:buNone/>
            </a:pPr>
            <a:r>
              <a:rPr lang="en-US" sz="900" dirty="0">
                <a:solidFill>
                  <a:srgbClr val="3D5472"/>
                </a:solidFill>
              </a:rPr>
              <a:t>Algolia / Pinecone cost</a:t>
            </a:r>
            <a:endParaRPr lang="en-US" sz="900" dirty="0"/>
          </a:p>
        </p:txBody>
      </p:sp>
      <p:sp>
        <p:nvSpPr>
          <p:cNvPr id="34" name="Text 32"/>
          <p:cNvSpPr/>
          <p:nvPr/>
        </p:nvSpPr>
        <p:spPr>
          <a:xfrm>
            <a:off x="2834640" y="5065776"/>
            <a:ext cx="1188720" cy="164592"/>
          </a:xfrm>
          <a:prstGeom prst="rect">
            <a:avLst/>
          </a:prstGeom>
          <a:noFill/>
          <a:ln/>
        </p:spPr>
        <p:txBody>
          <a:bodyPr wrap="square" rtlCol="0" anchor="ctr"/>
          <a:lstStyle/>
          <a:p>
            <a:pPr algn="r" indent="0" marL="0">
              <a:buNone/>
            </a:pPr>
            <a:r>
              <a:rPr lang="en-US" sz="900" b="1" dirty="0">
                <a:solidFill>
                  <a:srgbClr val="EF4444"/>
                </a:solidFill>
              </a:rPr>
              <a:t>$7,500 / month</a:t>
            </a:r>
            <a:endParaRPr lang="en-US" sz="900" dirty="0"/>
          </a:p>
        </p:txBody>
      </p:sp>
      <p:sp>
        <p:nvSpPr>
          <p:cNvPr id="35" name="Text 33"/>
          <p:cNvSpPr/>
          <p:nvPr/>
        </p:nvSpPr>
        <p:spPr>
          <a:xfrm>
            <a:off x="457200" y="5248656"/>
            <a:ext cx="2377440" cy="164592"/>
          </a:xfrm>
          <a:prstGeom prst="rect">
            <a:avLst/>
          </a:prstGeom>
          <a:noFill/>
          <a:ln/>
        </p:spPr>
        <p:txBody>
          <a:bodyPr wrap="square" rtlCol="0" anchor="ctr"/>
          <a:lstStyle/>
          <a:p>
            <a:pPr indent="0" marL="0">
              <a:buNone/>
            </a:pPr>
            <a:r>
              <a:rPr lang="en-US" sz="900" dirty="0">
                <a:solidFill>
                  <a:srgbClr val="3D5472"/>
                </a:solidFill>
              </a:rPr>
              <a:t>altor-vec cost</a:t>
            </a:r>
            <a:endParaRPr lang="en-US" sz="900" dirty="0"/>
          </a:p>
        </p:txBody>
      </p:sp>
      <p:sp>
        <p:nvSpPr>
          <p:cNvPr id="36" name="Text 34"/>
          <p:cNvSpPr/>
          <p:nvPr/>
        </p:nvSpPr>
        <p:spPr>
          <a:xfrm>
            <a:off x="2834640" y="5248656"/>
            <a:ext cx="1188720" cy="164592"/>
          </a:xfrm>
          <a:prstGeom prst="rect">
            <a:avLst/>
          </a:prstGeom>
          <a:noFill/>
          <a:ln/>
        </p:spPr>
        <p:txBody>
          <a:bodyPr wrap="square" rtlCol="0" anchor="ctr"/>
          <a:lstStyle/>
          <a:p>
            <a:pPr algn="r" indent="0" marL="0">
              <a:buNone/>
            </a:pPr>
            <a:r>
              <a:rPr lang="en-US" sz="900" b="1" dirty="0">
                <a:solidFill>
                  <a:srgbClr val="12C479"/>
                </a:solidFill>
              </a:rPr>
              <a:t>$0 / month</a:t>
            </a:r>
            <a:endParaRPr lang="en-US" sz="900" dirty="0"/>
          </a:p>
        </p:txBody>
      </p:sp>
      <p:sp>
        <p:nvSpPr>
          <p:cNvPr id="37" name="Text 35"/>
          <p:cNvSpPr/>
          <p:nvPr/>
        </p:nvSpPr>
        <p:spPr>
          <a:xfrm>
            <a:off x="457200" y="5431536"/>
            <a:ext cx="2377440" cy="164592"/>
          </a:xfrm>
          <a:prstGeom prst="rect">
            <a:avLst/>
          </a:prstGeom>
          <a:noFill/>
          <a:ln/>
        </p:spPr>
        <p:txBody>
          <a:bodyPr wrap="square" rtlCol="0" anchor="ctr"/>
          <a:lstStyle/>
          <a:p>
            <a:pPr indent="0" marL="0">
              <a:buNone/>
            </a:pPr>
            <a:r>
              <a:rPr lang="en-US" sz="900" dirty="0">
                <a:solidFill>
                  <a:srgbClr val="3D5472"/>
                </a:solidFill>
              </a:rPr>
              <a:t>Annual savings</a:t>
            </a:r>
            <a:endParaRPr lang="en-US" sz="900" dirty="0"/>
          </a:p>
        </p:txBody>
      </p:sp>
      <p:sp>
        <p:nvSpPr>
          <p:cNvPr id="38" name="Text 36"/>
          <p:cNvSpPr/>
          <p:nvPr/>
        </p:nvSpPr>
        <p:spPr>
          <a:xfrm>
            <a:off x="2834640" y="5431536"/>
            <a:ext cx="1188720" cy="164592"/>
          </a:xfrm>
          <a:prstGeom prst="rect">
            <a:avLst/>
          </a:prstGeom>
          <a:noFill/>
          <a:ln/>
        </p:spPr>
        <p:txBody>
          <a:bodyPr wrap="square" rtlCol="0" anchor="ctr"/>
          <a:lstStyle/>
          <a:p>
            <a:pPr algn="r" indent="0" marL="0">
              <a:buNone/>
            </a:pPr>
            <a:r>
              <a:rPr lang="en-US" sz="900" b="1" dirty="0">
                <a:solidFill>
                  <a:srgbClr val="12C479"/>
                </a:solidFill>
              </a:rPr>
              <a:t>$90,000+</a:t>
            </a:r>
            <a:endParaRPr lang="en-US" sz="900" dirty="0"/>
          </a:p>
        </p:txBody>
      </p:sp>
      <p:sp>
        <p:nvSpPr>
          <p:cNvPr id="39" name="Shape 37"/>
          <p:cNvSpPr/>
          <p:nvPr/>
        </p:nvSpPr>
        <p:spPr>
          <a:xfrm>
            <a:off x="4434840" y="2011680"/>
            <a:ext cx="7452360" cy="3154680"/>
          </a:xfrm>
          <a:prstGeom prst="roundRect">
            <a:avLst>
              <a:gd name="adj" fmla="val 2899"/>
            </a:avLst>
          </a:prstGeom>
          <a:solidFill>
            <a:srgbClr val="FFFFFF"/>
          </a:solidFill>
          <a:ln w="6350">
            <a:solidFill>
              <a:srgbClr val="D5E3F7"/>
            </a:solidFill>
            <a:prstDash val="solid"/>
          </a:ln>
        </p:spPr>
      </p:sp>
      <p:sp>
        <p:nvSpPr>
          <p:cNvPr id="40" name="Text 38"/>
          <p:cNvSpPr/>
          <p:nvPr/>
        </p:nvSpPr>
        <p:spPr>
          <a:xfrm>
            <a:off x="4617720" y="2157984"/>
            <a:ext cx="7086600" cy="182880"/>
          </a:xfrm>
          <a:prstGeom prst="rect">
            <a:avLst/>
          </a:prstGeom>
          <a:noFill/>
          <a:ln/>
        </p:spPr>
        <p:txBody>
          <a:bodyPr wrap="square" rtlCol="0" anchor="ctr"/>
          <a:lstStyle/>
          <a:p>
            <a:pPr indent="0" marL="0">
              <a:buNone/>
            </a:pPr>
            <a:r>
              <a:rPr lang="en-US" sz="750" b="1" dirty="0">
                <a:solidFill>
                  <a:srgbClr val="7B96B8"/>
                </a:solidFill>
              </a:rPr>
              <a:t>WHY THIS IS A BREAKTHROUGH</a:t>
            </a:r>
            <a:endParaRPr lang="en-US" sz="750" dirty="0"/>
          </a:p>
        </p:txBody>
      </p:sp>
      <p:sp>
        <p:nvSpPr>
          <p:cNvPr id="41" name="Text 39"/>
          <p:cNvSpPr/>
          <p:nvPr/>
        </p:nvSpPr>
        <p:spPr>
          <a:xfrm>
            <a:off x="4617720" y="2450592"/>
            <a:ext cx="7040880" cy="256032"/>
          </a:xfrm>
          <a:prstGeom prst="rect">
            <a:avLst/>
          </a:prstGeom>
          <a:noFill/>
          <a:ln/>
        </p:spPr>
        <p:txBody>
          <a:bodyPr wrap="square" rtlCol="0" anchor="ctr"/>
          <a:lstStyle/>
          <a:p>
            <a:pPr indent="0" marL="0">
              <a:buNone/>
            </a:pPr>
            <a:r>
              <a:rPr lang="en-US" sz="1100" b="1" dirty="0">
                <a:solidFill>
                  <a:srgbClr val="0D1E35"/>
                </a:solidFill>
              </a:rPr>
              <a:t>💸 Eliminates per-query billing forever</a:t>
            </a:r>
            <a:endParaRPr lang="en-US" sz="1100" dirty="0"/>
          </a:p>
        </p:txBody>
      </p:sp>
      <p:sp>
        <p:nvSpPr>
          <p:cNvPr id="42" name="Text 40"/>
          <p:cNvSpPr/>
          <p:nvPr/>
        </p:nvSpPr>
        <p:spPr>
          <a:xfrm>
            <a:off x="4617720" y="2724912"/>
            <a:ext cx="7040880" cy="475488"/>
          </a:xfrm>
          <a:prstGeom prst="rect">
            <a:avLst/>
          </a:prstGeom>
          <a:noFill/>
          <a:ln/>
        </p:spPr>
        <p:txBody>
          <a:bodyPr wrap="square" rtlCol="0" anchor="ctr"/>
          <a:lstStyle/>
          <a:p>
            <a:pPr indent="0" marL="0">
              <a:buNone/>
            </a:pPr>
            <a:r>
              <a:rPr lang="en-US" sz="950" dirty="0">
                <a:solidFill>
                  <a:srgbClr val="3D5472"/>
                </a:solidFill>
              </a:rPr>
              <a:t>At $0.50 per 1,000 searches, growth linearly destroys margin. altor-vec makes every search free — index loaded once from CDN, all computation runs client-side.</a:t>
            </a:r>
            <a:endParaRPr lang="en-US" sz="950" dirty="0"/>
          </a:p>
        </p:txBody>
      </p:sp>
      <p:sp>
        <p:nvSpPr>
          <p:cNvPr id="43" name="Shape 41"/>
          <p:cNvSpPr/>
          <p:nvPr/>
        </p:nvSpPr>
        <p:spPr>
          <a:xfrm>
            <a:off x="4617720" y="3255264"/>
            <a:ext cx="7086600" cy="18288"/>
          </a:xfrm>
          <a:prstGeom prst="rect">
            <a:avLst/>
          </a:prstGeom>
          <a:solidFill>
            <a:srgbClr val="EDF2FB"/>
          </a:solidFill>
          <a:ln w="12700">
            <a:solidFill>
              <a:srgbClr val="EDF2FB"/>
            </a:solidFill>
            <a:prstDash val="solid"/>
          </a:ln>
        </p:spPr>
      </p:sp>
      <p:sp>
        <p:nvSpPr>
          <p:cNvPr id="44" name="Text 42"/>
          <p:cNvSpPr/>
          <p:nvPr/>
        </p:nvSpPr>
        <p:spPr>
          <a:xfrm>
            <a:off x="4617720" y="3364992"/>
            <a:ext cx="7040880" cy="256032"/>
          </a:xfrm>
          <a:prstGeom prst="rect">
            <a:avLst/>
          </a:prstGeom>
          <a:noFill/>
          <a:ln/>
        </p:spPr>
        <p:txBody>
          <a:bodyPr wrap="square" rtlCol="0" anchor="ctr"/>
          <a:lstStyle/>
          <a:p>
            <a:pPr indent="0" marL="0">
              <a:buNone/>
            </a:pPr>
            <a:r>
              <a:rPr lang="en-US" sz="1100" b="1" dirty="0">
                <a:solidFill>
                  <a:srgbClr val="0D1E35"/>
                </a:solidFill>
              </a:rPr>
              <a:t>⚡ 83× faster than cloud search</a:t>
            </a:r>
            <a:endParaRPr lang="en-US" sz="1100" dirty="0"/>
          </a:p>
        </p:txBody>
      </p:sp>
      <p:sp>
        <p:nvSpPr>
          <p:cNvPr id="45" name="Text 43"/>
          <p:cNvSpPr/>
          <p:nvPr/>
        </p:nvSpPr>
        <p:spPr>
          <a:xfrm>
            <a:off x="4617720" y="3639312"/>
            <a:ext cx="7040880" cy="475488"/>
          </a:xfrm>
          <a:prstGeom prst="rect">
            <a:avLst/>
          </a:prstGeom>
          <a:noFill/>
          <a:ln/>
        </p:spPr>
        <p:txBody>
          <a:bodyPr wrap="square" rtlCol="0" anchor="ctr"/>
          <a:lstStyle/>
          <a:p>
            <a:pPr indent="0" marL="0">
              <a:buNone/>
            </a:pPr>
            <a:r>
              <a:rPr lang="en-US" sz="950" dirty="0">
                <a:solidFill>
                  <a:srgbClr val="3D5472"/>
                </a:solidFill>
              </a:rPr>
              <a:t>0.60ms in the browser vs ~50ms round-trip to Algolia/Pinecone. The HNSW algorithm compiled to just 54KB of WebAssembly.</a:t>
            </a:r>
            <a:endParaRPr lang="en-US" sz="950" dirty="0"/>
          </a:p>
        </p:txBody>
      </p:sp>
      <p:sp>
        <p:nvSpPr>
          <p:cNvPr id="46" name="Shape 44"/>
          <p:cNvSpPr/>
          <p:nvPr/>
        </p:nvSpPr>
        <p:spPr>
          <a:xfrm>
            <a:off x="4617720" y="4169664"/>
            <a:ext cx="7086600" cy="18288"/>
          </a:xfrm>
          <a:prstGeom prst="rect">
            <a:avLst/>
          </a:prstGeom>
          <a:solidFill>
            <a:srgbClr val="EDF2FB"/>
          </a:solidFill>
          <a:ln w="12700">
            <a:solidFill>
              <a:srgbClr val="EDF2FB"/>
            </a:solidFill>
            <a:prstDash val="solid"/>
          </a:ln>
        </p:spPr>
      </p:sp>
      <p:sp>
        <p:nvSpPr>
          <p:cNvPr id="47" name="Text 45"/>
          <p:cNvSpPr/>
          <p:nvPr/>
        </p:nvSpPr>
        <p:spPr>
          <a:xfrm>
            <a:off x="4617720" y="4279392"/>
            <a:ext cx="7040880" cy="256032"/>
          </a:xfrm>
          <a:prstGeom prst="rect">
            <a:avLst/>
          </a:prstGeom>
          <a:noFill/>
          <a:ln/>
        </p:spPr>
        <p:txBody>
          <a:bodyPr wrap="square" rtlCol="0" anchor="ctr"/>
          <a:lstStyle/>
          <a:p>
            <a:pPr indent="0" marL="0">
              <a:buNone/>
            </a:pPr>
            <a:r>
              <a:rPr lang="en-US" sz="1100" b="1" dirty="0">
                <a:solidFill>
                  <a:srgbClr val="0D1E35"/>
                </a:solidFill>
              </a:rPr>
              <a:t>🔒 Privacy-native by architecture</a:t>
            </a:r>
            <a:endParaRPr lang="en-US" sz="1100" dirty="0"/>
          </a:p>
        </p:txBody>
      </p:sp>
      <p:sp>
        <p:nvSpPr>
          <p:cNvPr id="48" name="Text 46"/>
          <p:cNvSpPr/>
          <p:nvPr/>
        </p:nvSpPr>
        <p:spPr>
          <a:xfrm>
            <a:off x="4617720" y="4553712"/>
            <a:ext cx="7040880" cy="475488"/>
          </a:xfrm>
          <a:prstGeom prst="rect">
            <a:avLst/>
          </a:prstGeom>
          <a:noFill/>
          <a:ln/>
        </p:spPr>
        <p:txBody>
          <a:bodyPr wrap="square" rtlCol="0" anchor="ctr"/>
          <a:lstStyle/>
          <a:p>
            <a:pPr indent="0" marL="0">
              <a:buNone/>
            </a:pPr>
            <a:r>
              <a:rPr lang="en-US" sz="950" dirty="0">
                <a:solidFill>
                  <a:srgbClr val="3D5472"/>
                </a:solidFill>
              </a:rPr>
              <a:t>Query never leaves the user's device. For payments and fintech — where search queries contain transaction and account data — this is a compliance unlock.</a:t>
            </a:r>
            <a:endParaRPr lang="en-US" sz="950" dirty="0"/>
          </a:p>
        </p:txBody>
      </p:sp>
      <p:sp>
        <p:nvSpPr>
          <p:cNvPr id="49" name="Shape 47"/>
          <p:cNvSpPr/>
          <p:nvPr/>
        </p:nvSpPr>
        <p:spPr>
          <a:xfrm>
            <a:off x="4434840" y="5266944"/>
            <a:ext cx="7452360" cy="1234440"/>
          </a:xfrm>
          <a:prstGeom prst="roundRect">
            <a:avLst>
              <a:gd name="adj" fmla="val 5926"/>
            </a:avLst>
          </a:prstGeom>
          <a:solidFill>
            <a:srgbClr val="FFFFFF"/>
          </a:solidFill>
          <a:ln w="6350">
            <a:solidFill>
              <a:srgbClr val="D5E3F7"/>
            </a:solidFill>
            <a:prstDash val="solid"/>
          </a:ln>
        </p:spPr>
      </p:sp>
      <p:sp>
        <p:nvSpPr>
          <p:cNvPr id="50" name="Text 48"/>
          <p:cNvSpPr/>
          <p:nvPr/>
        </p:nvSpPr>
        <p:spPr>
          <a:xfrm>
            <a:off x="4617720" y="5376672"/>
            <a:ext cx="7086600" cy="182880"/>
          </a:xfrm>
          <a:prstGeom prst="rect">
            <a:avLst/>
          </a:prstGeom>
          <a:noFill/>
          <a:ln/>
        </p:spPr>
        <p:txBody>
          <a:bodyPr wrap="square" rtlCol="0" anchor="ctr"/>
          <a:lstStyle/>
          <a:p>
            <a:pPr indent="0" marL="0">
              <a:buNone/>
            </a:pPr>
            <a:r>
              <a:rPr lang="en-US" sz="750" b="1" dirty="0">
                <a:solidFill>
                  <a:srgbClr val="7B96B8"/>
                </a:solidFill>
              </a:rPr>
              <a:t>LATENCY BENCHMARK · 10K VECTORS · 384 DIMS</a:t>
            </a:r>
            <a:endParaRPr lang="en-US" sz="750" dirty="0"/>
          </a:p>
        </p:txBody>
      </p:sp>
      <p:sp>
        <p:nvSpPr>
          <p:cNvPr id="51" name="Text 49"/>
          <p:cNvSpPr/>
          <p:nvPr/>
        </p:nvSpPr>
        <p:spPr>
          <a:xfrm>
            <a:off x="4617720" y="5614416"/>
            <a:ext cx="2743200" cy="182880"/>
          </a:xfrm>
          <a:prstGeom prst="rect">
            <a:avLst/>
          </a:prstGeom>
          <a:noFill/>
          <a:ln/>
        </p:spPr>
        <p:txBody>
          <a:bodyPr wrap="square" rtlCol="0" anchor="ctr"/>
          <a:lstStyle/>
          <a:p>
            <a:pPr indent="0" marL="0">
              <a:buNone/>
            </a:pPr>
            <a:r>
              <a:rPr lang="en-US" sz="850" dirty="0">
                <a:solidFill>
                  <a:srgbClr val="7B96B8"/>
                </a:solidFill>
              </a:rPr>
              <a:t>Cloud (Algolia/Pinecone)</a:t>
            </a:r>
            <a:endParaRPr lang="en-US" sz="850" dirty="0"/>
          </a:p>
        </p:txBody>
      </p:sp>
      <p:sp>
        <p:nvSpPr>
          <p:cNvPr id="52" name="Shape 50"/>
          <p:cNvSpPr/>
          <p:nvPr/>
        </p:nvSpPr>
        <p:spPr>
          <a:xfrm>
            <a:off x="7406640" y="5632704"/>
            <a:ext cx="3657600" cy="137160"/>
          </a:xfrm>
          <a:prstGeom prst="roundRect">
            <a:avLst>
              <a:gd name="adj" fmla="val 26667"/>
            </a:avLst>
          </a:prstGeom>
          <a:solidFill>
            <a:srgbClr val="EDF2FB"/>
          </a:solidFill>
          <a:ln w="12700">
            <a:solidFill>
              <a:srgbClr val="EDF2FB"/>
            </a:solidFill>
            <a:prstDash val="solid"/>
          </a:ln>
        </p:spPr>
      </p:sp>
      <p:sp>
        <p:nvSpPr>
          <p:cNvPr id="53" name="Shape 51"/>
          <p:cNvSpPr/>
          <p:nvPr/>
        </p:nvSpPr>
        <p:spPr>
          <a:xfrm>
            <a:off x="7406640" y="5632704"/>
            <a:ext cx="3657600" cy="137160"/>
          </a:xfrm>
          <a:prstGeom prst="roundRect">
            <a:avLst>
              <a:gd name="adj" fmla="val 26667"/>
            </a:avLst>
          </a:prstGeom>
          <a:solidFill>
            <a:srgbClr val="EF4444"/>
          </a:solidFill>
          <a:ln w="12700">
            <a:solidFill>
              <a:srgbClr val="EF4444"/>
            </a:solidFill>
            <a:prstDash val="solid"/>
          </a:ln>
        </p:spPr>
      </p:sp>
      <p:sp>
        <p:nvSpPr>
          <p:cNvPr id="54" name="Text 52"/>
          <p:cNvSpPr/>
          <p:nvPr/>
        </p:nvSpPr>
        <p:spPr>
          <a:xfrm>
            <a:off x="11109960" y="5614416"/>
            <a:ext cx="685800" cy="182880"/>
          </a:xfrm>
          <a:prstGeom prst="rect">
            <a:avLst/>
          </a:prstGeom>
          <a:noFill/>
          <a:ln/>
        </p:spPr>
        <p:txBody>
          <a:bodyPr wrap="square" rtlCol="0" anchor="ctr"/>
          <a:lstStyle/>
          <a:p>
            <a:pPr algn="r" indent="0" marL="0">
              <a:buNone/>
            </a:pPr>
            <a:r>
              <a:rPr lang="en-US" sz="850" b="1" dirty="0">
                <a:solidFill>
                  <a:srgbClr val="EF4444"/>
                </a:solidFill>
              </a:rPr>
              <a:t>~50ms</a:t>
            </a:r>
            <a:endParaRPr lang="en-US" sz="850" dirty="0"/>
          </a:p>
        </p:txBody>
      </p:sp>
      <p:sp>
        <p:nvSpPr>
          <p:cNvPr id="55" name="Text 53"/>
          <p:cNvSpPr/>
          <p:nvPr/>
        </p:nvSpPr>
        <p:spPr>
          <a:xfrm>
            <a:off x="4617720" y="5833872"/>
            <a:ext cx="2743200" cy="182880"/>
          </a:xfrm>
          <a:prstGeom prst="rect">
            <a:avLst/>
          </a:prstGeom>
          <a:noFill/>
          <a:ln/>
        </p:spPr>
        <p:txBody>
          <a:bodyPr wrap="square" rtlCol="0" anchor="ctr"/>
          <a:lstStyle/>
          <a:p>
            <a:pPr indent="0" marL="0">
              <a:buNone/>
            </a:pPr>
            <a:r>
              <a:rPr lang="en-US" sz="850" dirty="0">
                <a:solidFill>
                  <a:srgbClr val="0D1E35"/>
                </a:solidFill>
              </a:rPr>
              <a:t>Chrome — altor-vec</a:t>
            </a:r>
            <a:endParaRPr lang="en-US" sz="850" dirty="0"/>
          </a:p>
        </p:txBody>
      </p:sp>
      <p:sp>
        <p:nvSpPr>
          <p:cNvPr id="56" name="Shape 54"/>
          <p:cNvSpPr/>
          <p:nvPr/>
        </p:nvSpPr>
        <p:spPr>
          <a:xfrm>
            <a:off x="7406640" y="5852160"/>
            <a:ext cx="3657600" cy="137160"/>
          </a:xfrm>
          <a:prstGeom prst="roundRect">
            <a:avLst>
              <a:gd name="adj" fmla="val 26667"/>
            </a:avLst>
          </a:prstGeom>
          <a:solidFill>
            <a:srgbClr val="EDF2FB"/>
          </a:solidFill>
          <a:ln w="12700">
            <a:solidFill>
              <a:srgbClr val="EDF2FB"/>
            </a:solidFill>
            <a:prstDash val="solid"/>
          </a:ln>
        </p:spPr>
      </p:sp>
      <p:sp>
        <p:nvSpPr>
          <p:cNvPr id="57" name="Shape 55"/>
          <p:cNvSpPr/>
          <p:nvPr/>
        </p:nvSpPr>
        <p:spPr>
          <a:xfrm>
            <a:off x="7406640" y="5852160"/>
            <a:ext cx="43891" cy="137160"/>
          </a:xfrm>
          <a:prstGeom prst="roundRect">
            <a:avLst>
              <a:gd name="adj" fmla="val 83334"/>
            </a:avLst>
          </a:prstGeom>
          <a:solidFill>
            <a:srgbClr val="1BC5FF"/>
          </a:solidFill>
          <a:ln w="12700">
            <a:solidFill>
              <a:srgbClr val="1BC5FF"/>
            </a:solidFill>
            <a:prstDash val="solid"/>
          </a:ln>
        </p:spPr>
      </p:sp>
      <p:sp>
        <p:nvSpPr>
          <p:cNvPr id="58" name="Text 56"/>
          <p:cNvSpPr/>
          <p:nvPr/>
        </p:nvSpPr>
        <p:spPr>
          <a:xfrm>
            <a:off x="11109960" y="5833872"/>
            <a:ext cx="685800" cy="182880"/>
          </a:xfrm>
          <a:prstGeom prst="rect">
            <a:avLst/>
          </a:prstGeom>
          <a:noFill/>
          <a:ln/>
        </p:spPr>
        <p:txBody>
          <a:bodyPr wrap="square" rtlCol="0" anchor="ctr"/>
          <a:lstStyle/>
          <a:p>
            <a:pPr algn="r" indent="0" marL="0">
              <a:buNone/>
            </a:pPr>
            <a:r>
              <a:rPr lang="en-US" sz="850" b="1" dirty="0">
                <a:solidFill>
                  <a:srgbClr val="12C479"/>
                </a:solidFill>
              </a:rPr>
              <a:t>0.60ms</a:t>
            </a:r>
            <a:endParaRPr lang="en-US" sz="850" dirty="0"/>
          </a:p>
        </p:txBody>
      </p:sp>
      <p:sp>
        <p:nvSpPr>
          <p:cNvPr id="59" name="Text 57"/>
          <p:cNvSpPr/>
          <p:nvPr/>
        </p:nvSpPr>
        <p:spPr>
          <a:xfrm>
            <a:off x="4617720" y="6053328"/>
            <a:ext cx="2743200" cy="182880"/>
          </a:xfrm>
          <a:prstGeom prst="rect">
            <a:avLst/>
          </a:prstGeom>
          <a:noFill/>
          <a:ln/>
        </p:spPr>
        <p:txBody>
          <a:bodyPr wrap="square" rtlCol="0" anchor="ctr"/>
          <a:lstStyle/>
          <a:p>
            <a:pPr indent="0" marL="0">
              <a:buNone/>
            </a:pPr>
            <a:r>
              <a:rPr lang="en-US" sz="850" dirty="0">
                <a:solidFill>
                  <a:srgbClr val="0D1E35"/>
                </a:solidFill>
              </a:rPr>
              <a:t>Node.js — altor-vec</a:t>
            </a:r>
            <a:endParaRPr lang="en-US" sz="850" dirty="0"/>
          </a:p>
        </p:txBody>
      </p:sp>
      <p:sp>
        <p:nvSpPr>
          <p:cNvPr id="60" name="Shape 58"/>
          <p:cNvSpPr/>
          <p:nvPr/>
        </p:nvSpPr>
        <p:spPr>
          <a:xfrm>
            <a:off x="7406640" y="6071616"/>
            <a:ext cx="3657600" cy="137160"/>
          </a:xfrm>
          <a:prstGeom prst="roundRect">
            <a:avLst>
              <a:gd name="adj" fmla="val 26667"/>
            </a:avLst>
          </a:prstGeom>
          <a:solidFill>
            <a:srgbClr val="EDF2FB"/>
          </a:solidFill>
          <a:ln w="12700">
            <a:solidFill>
              <a:srgbClr val="EDF2FB"/>
            </a:solidFill>
            <a:prstDash val="solid"/>
          </a:ln>
        </p:spPr>
      </p:sp>
      <p:sp>
        <p:nvSpPr>
          <p:cNvPr id="61" name="Shape 59"/>
          <p:cNvSpPr/>
          <p:nvPr/>
        </p:nvSpPr>
        <p:spPr>
          <a:xfrm>
            <a:off x="7406640" y="6071616"/>
            <a:ext cx="36576" cy="137160"/>
          </a:xfrm>
          <a:prstGeom prst="roundRect">
            <a:avLst>
              <a:gd name="adj" fmla="val 100000"/>
            </a:avLst>
          </a:prstGeom>
          <a:solidFill>
            <a:srgbClr val="1BC5FF"/>
          </a:solidFill>
          <a:ln w="12700">
            <a:solidFill>
              <a:srgbClr val="1BC5FF"/>
            </a:solidFill>
            <a:prstDash val="solid"/>
          </a:ln>
        </p:spPr>
      </p:sp>
      <p:sp>
        <p:nvSpPr>
          <p:cNvPr id="62" name="Text 60"/>
          <p:cNvSpPr/>
          <p:nvPr/>
        </p:nvSpPr>
        <p:spPr>
          <a:xfrm>
            <a:off x="11109960" y="6053328"/>
            <a:ext cx="685800" cy="182880"/>
          </a:xfrm>
          <a:prstGeom prst="rect">
            <a:avLst/>
          </a:prstGeom>
          <a:noFill/>
          <a:ln/>
        </p:spPr>
        <p:txBody>
          <a:bodyPr wrap="square" rtlCol="0" anchor="ctr"/>
          <a:lstStyle/>
          <a:p>
            <a:pPr algn="r" indent="0" marL="0">
              <a:buNone/>
            </a:pPr>
            <a:r>
              <a:rPr lang="en-US" sz="850" b="1" dirty="0">
                <a:solidFill>
                  <a:srgbClr val="12C479"/>
                </a:solidFill>
              </a:rPr>
              <a:t>0.50ms</a:t>
            </a:r>
            <a:endParaRPr lang="en-US" sz="850" dirty="0"/>
          </a:p>
        </p:txBody>
      </p:sp>
      <p:sp>
        <p:nvSpPr>
          <p:cNvPr id="63" name="Text 61"/>
          <p:cNvSpPr/>
          <p:nvPr/>
        </p:nvSpPr>
        <p:spPr>
          <a:xfrm>
            <a:off x="4617720" y="6272784"/>
            <a:ext cx="2743200" cy="182880"/>
          </a:xfrm>
          <a:prstGeom prst="rect">
            <a:avLst/>
          </a:prstGeom>
          <a:noFill/>
          <a:ln/>
        </p:spPr>
        <p:txBody>
          <a:bodyPr wrap="square" rtlCol="0" anchor="ctr"/>
          <a:lstStyle/>
          <a:p>
            <a:pPr indent="0" marL="0">
              <a:buNone/>
            </a:pPr>
            <a:r>
              <a:rPr lang="en-US" sz="850" dirty="0">
                <a:solidFill>
                  <a:srgbClr val="0D1E35"/>
                </a:solidFill>
              </a:rPr>
              <a:t>Native Rust</a:t>
            </a:r>
            <a:endParaRPr lang="en-US" sz="850" dirty="0"/>
          </a:p>
        </p:txBody>
      </p:sp>
      <p:sp>
        <p:nvSpPr>
          <p:cNvPr id="64" name="Shape 62"/>
          <p:cNvSpPr/>
          <p:nvPr/>
        </p:nvSpPr>
        <p:spPr>
          <a:xfrm>
            <a:off x="7406640" y="6291072"/>
            <a:ext cx="3657600" cy="137160"/>
          </a:xfrm>
          <a:prstGeom prst="roundRect">
            <a:avLst>
              <a:gd name="adj" fmla="val 26667"/>
            </a:avLst>
          </a:prstGeom>
          <a:solidFill>
            <a:srgbClr val="EDF2FB"/>
          </a:solidFill>
          <a:ln w="12700">
            <a:solidFill>
              <a:srgbClr val="EDF2FB"/>
            </a:solidFill>
            <a:prstDash val="solid"/>
          </a:ln>
        </p:spPr>
      </p:sp>
      <p:sp>
        <p:nvSpPr>
          <p:cNvPr id="65" name="Shape 63"/>
          <p:cNvSpPr/>
          <p:nvPr/>
        </p:nvSpPr>
        <p:spPr>
          <a:xfrm>
            <a:off x="7406640" y="6291072"/>
            <a:ext cx="18288" cy="137160"/>
          </a:xfrm>
          <a:prstGeom prst="roundRect">
            <a:avLst>
              <a:gd name="adj" fmla="val 200000"/>
            </a:avLst>
          </a:prstGeom>
          <a:solidFill>
            <a:srgbClr val="12C479"/>
          </a:solidFill>
          <a:ln w="12700">
            <a:solidFill>
              <a:srgbClr val="12C479"/>
            </a:solidFill>
            <a:prstDash val="solid"/>
          </a:ln>
        </p:spPr>
      </p:sp>
      <p:sp>
        <p:nvSpPr>
          <p:cNvPr id="66" name="Text 64"/>
          <p:cNvSpPr/>
          <p:nvPr/>
        </p:nvSpPr>
        <p:spPr>
          <a:xfrm>
            <a:off x="11109960" y="6272784"/>
            <a:ext cx="685800" cy="182880"/>
          </a:xfrm>
          <a:prstGeom prst="rect">
            <a:avLst/>
          </a:prstGeom>
          <a:noFill/>
          <a:ln/>
        </p:spPr>
        <p:txBody>
          <a:bodyPr wrap="square" rtlCol="0" anchor="ctr"/>
          <a:lstStyle/>
          <a:p>
            <a:pPr algn="r" indent="0" marL="0">
              <a:buNone/>
            </a:pPr>
            <a:r>
              <a:rPr lang="en-US" sz="850" b="1" dirty="0">
                <a:solidFill>
                  <a:srgbClr val="12C479"/>
                </a:solidFill>
              </a:rPr>
              <a:t>0.26ms</a:t>
            </a:r>
            <a:endParaRPr lang="en-US" sz="850" dirty="0"/>
          </a:p>
        </p:txBody>
      </p:sp>
      <p:sp>
        <p:nvSpPr>
          <p:cNvPr id="67" name="Shape 65"/>
          <p:cNvSpPr/>
          <p:nvPr/>
        </p:nvSpPr>
        <p:spPr>
          <a:xfrm>
            <a:off x="274320" y="6565392"/>
            <a:ext cx="11612880" cy="164592"/>
          </a:xfrm>
          <a:prstGeom prst="roundRect">
            <a:avLst>
              <a:gd name="adj" fmla="val 27778"/>
            </a:avLst>
          </a:prstGeom>
          <a:solidFill>
            <a:srgbClr val="000000"/>
          </a:solidFill>
          <a:ln w="12700">
            <a:solidFill>
              <a:srgbClr val="000000"/>
            </a:solidFill>
            <a:prstDash val="solid"/>
          </a:ln>
        </p:spPr>
      </p:sp>
      <p:sp>
        <p:nvSpPr>
          <p:cNvPr id="68" name="Text 66"/>
          <p:cNvSpPr/>
          <p:nvPr/>
        </p:nvSpPr>
        <p:spPr>
          <a:xfrm>
            <a:off x="457200" y="6574536"/>
            <a:ext cx="11247120" cy="146304"/>
          </a:xfrm>
          <a:prstGeom prst="rect">
            <a:avLst/>
          </a:prstGeom>
          <a:noFill/>
          <a:ln/>
        </p:spPr>
        <p:txBody>
          <a:bodyPr wrap="square" rtlCol="0" anchor="ctr"/>
          <a:lstStyle/>
          <a:p>
            <a:pPr indent="0" marL="0">
              <a:buNone/>
            </a:pPr>
            <a:r>
              <a:rPr lang="en-US" sz="850" b="1" dirty="0">
                <a:solidFill>
                  <a:srgbClr val="1BC5FF"/>
                </a:solidFill>
              </a:rPr>
              <a:t>Razorpay: Dashboard + transaction search → $0. Estimated $1.2M–$2M/yr savings. Query data stays in Razorpay infra — direct PCI-DSS + RBI compliance benefit.</a:t>
            </a:r>
            <a:endParaRPr lang="en-US" sz="850" dirty="0"/>
          </a:p>
        </p:txBody>
      </p:sp>
      <p:sp>
        <p:nvSpPr>
          <p:cNvPr id="69" name="Shape 67"/>
          <p:cNvSpPr/>
          <p:nvPr/>
        </p:nvSpPr>
        <p:spPr>
          <a:xfrm>
            <a:off x="0" y="6748272"/>
            <a:ext cx="12188952" cy="109728"/>
          </a:xfrm>
          <a:prstGeom prst="rect">
            <a:avLst/>
          </a:prstGeom>
          <a:solidFill>
            <a:srgbClr val="2F80ED"/>
          </a:solidFill>
          <a:ln w="12700">
            <a:solidFill>
              <a:srgbClr val="2F80ED"/>
            </a:solidFill>
            <a:prstDash val="solid"/>
          </a:ln>
        </p:spPr>
      </p:sp>
      <p:sp>
        <p:nvSpPr>
          <p:cNvPr id="70" name="Text 68"/>
          <p:cNvSpPr/>
          <p:nvPr/>
        </p:nvSpPr>
        <p:spPr>
          <a:xfrm>
            <a:off x="11274552" y="6748272"/>
            <a:ext cx="731520" cy="109728"/>
          </a:xfrm>
          <a:prstGeom prst="rect">
            <a:avLst/>
          </a:prstGeom>
          <a:noFill/>
          <a:ln/>
        </p:spPr>
        <p:txBody>
          <a:bodyPr wrap="square" rtlCol="0" anchor="ctr"/>
          <a:lstStyle/>
          <a:p>
            <a:pPr algn="r" indent="0" marL="0">
              <a:buNone/>
            </a:pPr>
            <a:r>
              <a:rPr lang="en-US" sz="700" dirty="0">
                <a:solidFill>
                  <a:srgbClr val="FFFFFF"/>
                </a:solidFill>
              </a:rPr>
              <a:t>9 / 11</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7FD"/>
          </a:solidFill>
          <a:ln w="12700">
            <a:solidFill>
              <a:srgbClr val="F4F7FD"/>
            </a:solidFill>
            <a:prstDash val="solid"/>
          </a:ln>
        </p:spPr>
      </p:sp>
      <p:sp>
        <p:nvSpPr>
          <p:cNvPr id="3" name="Shape 1"/>
          <p:cNvSpPr/>
          <p:nvPr/>
        </p:nvSpPr>
        <p:spPr>
          <a:xfrm>
            <a:off x="0" y="0"/>
            <a:ext cx="12188952" cy="502920"/>
          </a:xfrm>
          <a:prstGeom prst="rect">
            <a:avLst/>
          </a:prstGeom>
          <a:solidFill>
            <a:srgbClr val="FFFFFF"/>
          </a:solidFill>
          <a:ln w="6350">
            <a:solidFill>
              <a:srgbClr val="D5E3F7"/>
            </a:solidFill>
            <a:prstDash val="solid"/>
          </a:ln>
        </p:spPr>
      </p:sp>
      <p:sp>
        <p:nvSpPr>
          <p:cNvPr id="4" name="Text 2"/>
          <p:cNvSpPr/>
          <p:nvPr/>
        </p:nvSpPr>
        <p:spPr>
          <a:xfrm>
            <a:off x="274320" y="64008"/>
            <a:ext cx="1828800" cy="384048"/>
          </a:xfrm>
          <a:prstGeom prst="rect">
            <a:avLst/>
          </a:prstGeom>
          <a:noFill/>
          <a:ln/>
        </p:spPr>
        <p:txBody>
          <a:bodyPr wrap="square" rtlCol="0" anchor="ctr"/>
          <a:lstStyle/>
          <a:p>
            <a:pPr indent="0" marL="0">
              <a:buNone/>
            </a:pPr>
            <a:r>
              <a:rPr lang="en-US" sz="1700" b="1" dirty="0">
                <a:solidFill>
                  <a:srgbClr val="0D1E35"/>
                </a:solidFill>
                <a:latin typeface="Arial" pitchFamily="34" charset="0"/>
                <a:ea typeface="Arial" pitchFamily="34" charset="-122"/>
                <a:cs typeface="Arial" pitchFamily="34" charset="-120"/>
              </a:rPr>
              <a:t>razor</a:t>
            </a:r>
            <a:pPr indent="0" marL="0">
              <a:buNone/>
            </a:pPr>
            <a:r>
              <a:rPr lang="en-US" sz="1700" b="1" dirty="0">
                <a:solidFill>
                  <a:srgbClr val="2F80ED"/>
                </a:solidFill>
                <a:latin typeface="Arial" pitchFamily="34" charset="0"/>
                <a:ea typeface="Arial" pitchFamily="34" charset="-122"/>
                <a:cs typeface="Arial" pitchFamily="34" charset="-120"/>
              </a:rPr>
              <a:t>pay</a:t>
            </a:r>
            <a:endParaRPr lang="en-US" sz="1700" dirty="0"/>
          </a:p>
        </p:txBody>
      </p:sp>
      <p:sp>
        <p:nvSpPr>
          <p:cNvPr id="5" name="Text 3"/>
          <p:cNvSpPr/>
          <p:nvPr/>
        </p:nvSpPr>
        <p:spPr>
          <a:xfrm>
            <a:off x="9628632" y="155448"/>
            <a:ext cx="2286000" cy="201168"/>
          </a:xfrm>
          <a:prstGeom prst="rect">
            <a:avLst/>
          </a:prstGeom>
          <a:noFill/>
          <a:ln/>
        </p:spPr>
        <p:txBody>
          <a:bodyPr wrap="square" rtlCol="0" anchor="ctr"/>
          <a:lstStyle/>
          <a:p>
            <a:pPr algn="r" indent="0" marL="0">
              <a:buNone/>
            </a:pPr>
            <a:r>
              <a:rPr lang="en-US" sz="700" dirty="0">
                <a:solidFill>
                  <a:srgbClr val="7B96B8"/>
                </a:solidFill>
              </a:rPr>
              <a:t>CONFIDENTIAL · MARCH 2026</a:t>
            </a:r>
            <a:endParaRPr lang="en-US" sz="700" dirty="0"/>
          </a:p>
        </p:txBody>
      </p:sp>
      <p:sp>
        <p:nvSpPr>
          <p:cNvPr id="6" name="Shape 4"/>
          <p:cNvSpPr/>
          <p:nvPr/>
        </p:nvSpPr>
        <p:spPr>
          <a:xfrm>
            <a:off x="274320" y="594360"/>
            <a:ext cx="2286000" cy="201168"/>
          </a:xfrm>
          <a:prstGeom prst="roundRect">
            <a:avLst>
              <a:gd name="adj" fmla="val 18182"/>
            </a:avLst>
          </a:prstGeom>
          <a:solidFill>
            <a:srgbClr val="000000"/>
          </a:solidFill>
          <a:ln w="6350">
            <a:solidFill>
              <a:srgbClr val="000000"/>
            </a:solidFill>
            <a:prstDash val="solid"/>
          </a:ln>
        </p:spPr>
      </p:sp>
      <p:sp>
        <p:nvSpPr>
          <p:cNvPr id="7" name="Text 5"/>
          <p:cNvSpPr/>
          <p:nvPr/>
        </p:nvSpPr>
        <p:spPr>
          <a:xfrm>
            <a:off x="274320" y="594360"/>
            <a:ext cx="2286000" cy="201168"/>
          </a:xfrm>
          <a:prstGeom prst="rect">
            <a:avLst/>
          </a:prstGeom>
          <a:noFill/>
          <a:ln/>
        </p:spPr>
        <p:txBody>
          <a:bodyPr wrap="square" rtlCol="0" anchor="ctr"/>
          <a:lstStyle/>
          <a:p>
            <a:pPr algn="ctr" indent="0" marL="0">
              <a:buNone/>
            </a:pPr>
            <a:r>
              <a:rPr lang="en-US" sz="700" b="1" dirty="0">
                <a:solidFill>
                  <a:srgbClr val="2F80ED"/>
                </a:solidFill>
              </a:rPr>
              <a:t>10 — UNIFIED THESIS</a:t>
            </a:r>
            <a:endParaRPr lang="en-US" sz="700" dirty="0"/>
          </a:p>
        </p:txBody>
      </p:sp>
      <p:sp>
        <p:nvSpPr>
          <p:cNvPr id="8" name="Text 6"/>
          <p:cNvSpPr/>
          <p:nvPr/>
        </p:nvSpPr>
        <p:spPr>
          <a:xfrm>
            <a:off x="274320" y="877824"/>
            <a:ext cx="11612880" cy="566928"/>
          </a:xfrm>
          <a:prstGeom prst="rect">
            <a:avLst/>
          </a:prstGeom>
          <a:noFill/>
          <a:ln/>
        </p:spPr>
        <p:txBody>
          <a:bodyPr wrap="square" rtlCol="0" anchor="ctr"/>
          <a:lstStyle/>
          <a:p>
            <a:pPr indent="0" marL="0">
              <a:buNone/>
            </a:pPr>
            <a:r>
              <a:rPr lang="en-US" sz="2200" b="1" dirty="0">
                <a:solidFill>
                  <a:srgbClr val="0D1E35"/>
                </a:solidFill>
                <a:latin typeface="Arial" pitchFamily="34" charset="0"/>
                <a:ea typeface="Arial" pitchFamily="34" charset="-122"/>
                <a:cs typeface="Arial" pitchFamily="34" charset="-120"/>
              </a:rPr>
              <a:t>Razorpay's AI Infrastructure Thesis</a:t>
            </a:r>
            <a:endParaRPr lang="en-US" sz="2200" dirty="0"/>
          </a:p>
        </p:txBody>
      </p:sp>
      <p:sp>
        <p:nvSpPr>
          <p:cNvPr id="9" name="Text 7"/>
          <p:cNvSpPr/>
          <p:nvPr/>
        </p:nvSpPr>
        <p:spPr>
          <a:xfrm>
            <a:off x="274320" y="1444752"/>
            <a:ext cx="11612880" cy="384048"/>
          </a:xfrm>
          <a:prstGeom prst="rect">
            <a:avLst/>
          </a:prstGeom>
          <a:noFill/>
          <a:ln/>
        </p:spPr>
        <p:txBody>
          <a:bodyPr wrap="square" rtlCol="0" anchor="ctr"/>
          <a:lstStyle/>
          <a:p>
            <a:pPr indent="0" marL="0">
              <a:buNone/>
            </a:pPr>
            <a:r>
              <a:rPr lang="en-US" sz="1050" dirty="0">
                <a:solidFill>
                  <a:srgbClr val="3D5472"/>
                </a:solidFill>
              </a:rPr>
              <a:t>S45, mem0, and altorlab form a coherent, non-overlapping infrastructure stack for the agentic AI era — orchestration, memory, and retrieval.</a:t>
            </a:r>
            <a:endParaRPr lang="en-US" sz="1050" dirty="0"/>
          </a:p>
        </p:txBody>
      </p:sp>
      <p:sp>
        <p:nvSpPr>
          <p:cNvPr id="10" name="Shape 8"/>
          <p:cNvSpPr/>
          <p:nvPr/>
        </p:nvSpPr>
        <p:spPr>
          <a:xfrm>
            <a:off x="274320" y="1993392"/>
            <a:ext cx="3703320" cy="1481328"/>
          </a:xfrm>
          <a:prstGeom prst="roundRect">
            <a:avLst>
              <a:gd name="adj" fmla="val 6173"/>
            </a:avLst>
          </a:prstGeom>
          <a:solidFill>
            <a:srgbClr val="000000"/>
          </a:solidFill>
          <a:ln w="10160">
            <a:solidFill>
              <a:srgbClr val="000000"/>
            </a:solidFill>
            <a:prstDash val="solid"/>
          </a:ln>
        </p:spPr>
      </p:sp>
      <p:sp>
        <p:nvSpPr>
          <p:cNvPr id="11" name="Shape 9"/>
          <p:cNvSpPr/>
          <p:nvPr/>
        </p:nvSpPr>
        <p:spPr>
          <a:xfrm>
            <a:off x="274320" y="1993392"/>
            <a:ext cx="3703320" cy="64008"/>
          </a:xfrm>
          <a:prstGeom prst="rect">
            <a:avLst/>
          </a:prstGeom>
          <a:solidFill>
            <a:srgbClr val="2F80ED"/>
          </a:solidFill>
          <a:ln w="12700">
            <a:solidFill>
              <a:srgbClr val="2F80ED"/>
            </a:solidFill>
            <a:prstDash val="solid"/>
          </a:ln>
        </p:spPr>
      </p:sp>
      <p:sp>
        <p:nvSpPr>
          <p:cNvPr id="12" name="Text 10"/>
          <p:cNvSpPr/>
          <p:nvPr/>
        </p:nvSpPr>
        <p:spPr>
          <a:xfrm>
            <a:off x="411480" y="2121408"/>
            <a:ext cx="3429000" cy="347472"/>
          </a:xfrm>
          <a:prstGeom prst="rect">
            <a:avLst/>
          </a:prstGeom>
          <a:noFill/>
          <a:ln/>
        </p:spPr>
        <p:txBody>
          <a:bodyPr wrap="square" rtlCol="0" anchor="ctr"/>
          <a:lstStyle/>
          <a:p>
            <a:pPr indent="0" marL="0">
              <a:buNone/>
            </a:pPr>
            <a:r>
              <a:rPr lang="en-US" sz="1400" b="1" dirty="0">
                <a:solidFill>
                  <a:srgbClr val="2F80ED"/>
                </a:solidFill>
              </a:rPr>
              <a:t>⚙️ S45</a:t>
            </a:r>
            <a:endParaRPr lang="en-US" sz="1400" dirty="0"/>
          </a:p>
        </p:txBody>
      </p:sp>
      <p:sp>
        <p:nvSpPr>
          <p:cNvPr id="13" name="Shape 11"/>
          <p:cNvSpPr/>
          <p:nvPr/>
        </p:nvSpPr>
        <p:spPr>
          <a:xfrm>
            <a:off x="411480" y="2496312"/>
            <a:ext cx="960120" cy="182880"/>
          </a:xfrm>
          <a:prstGeom prst="roundRect">
            <a:avLst>
              <a:gd name="adj" fmla="val 20000"/>
            </a:avLst>
          </a:prstGeom>
          <a:solidFill>
            <a:srgbClr val="000000"/>
          </a:solidFill>
          <a:ln w="12700">
            <a:solidFill>
              <a:srgbClr val="000000"/>
            </a:solidFill>
            <a:prstDash val="solid"/>
          </a:ln>
        </p:spPr>
      </p:sp>
      <p:sp>
        <p:nvSpPr>
          <p:cNvPr id="14" name="Text 12"/>
          <p:cNvSpPr/>
          <p:nvPr/>
        </p:nvSpPr>
        <p:spPr>
          <a:xfrm>
            <a:off x="411480" y="2496312"/>
            <a:ext cx="960120" cy="182880"/>
          </a:xfrm>
          <a:prstGeom prst="rect">
            <a:avLst/>
          </a:prstGeom>
          <a:noFill/>
          <a:ln/>
        </p:spPr>
        <p:txBody>
          <a:bodyPr wrap="square" rtlCol="0" anchor="ctr"/>
          <a:lstStyle/>
          <a:p>
            <a:pPr algn="ctr" indent="0" marL="0">
              <a:buNone/>
            </a:pPr>
            <a:r>
              <a:rPr lang="en-US" sz="700" b="1" dirty="0">
                <a:solidFill>
                  <a:srgbClr val="2F80ED"/>
                </a:solidFill>
              </a:rPr>
              <a:t>Orchestration</a:t>
            </a:r>
            <a:endParaRPr lang="en-US" sz="700" dirty="0"/>
          </a:p>
        </p:txBody>
      </p:sp>
      <p:sp>
        <p:nvSpPr>
          <p:cNvPr id="15" name="Text 13"/>
          <p:cNvSpPr/>
          <p:nvPr/>
        </p:nvSpPr>
        <p:spPr>
          <a:xfrm>
            <a:off x="411480" y="2724912"/>
            <a:ext cx="3429000" cy="640080"/>
          </a:xfrm>
          <a:prstGeom prst="rect">
            <a:avLst/>
          </a:prstGeom>
          <a:noFill/>
          <a:ln/>
        </p:spPr>
        <p:txBody>
          <a:bodyPr wrap="square" rtlCol="0" anchor="ctr"/>
          <a:lstStyle/>
          <a:p>
            <a:pPr indent="0" marL="0">
              <a:buNone/>
            </a:pPr>
            <a:r>
              <a:rPr lang="en-US" sz="950" dirty="0">
                <a:solidFill>
                  <a:srgbClr val="3D5472"/>
                </a:solidFill>
              </a:rPr>
              <a:t>The runtime layer — executes reliable, stateful, multi-step agents between raw LLM APIs and production-grade agentic applications.</a:t>
            </a:r>
            <a:endParaRPr lang="en-US" sz="950" dirty="0"/>
          </a:p>
        </p:txBody>
      </p:sp>
      <p:sp>
        <p:nvSpPr>
          <p:cNvPr id="16" name="Shape 14"/>
          <p:cNvSpPr/>
          <p:nvPr/>
        </p:nvSpPr>
        <p:spPr>
          <a:xfrm>
            <a:off x="4242816" y="1993392"/>
            <a:ext cx="3703320" cy="1481328"/>
          </a:xfrm>
          <a:prstGeom prst="roundRect">
            <a:avLst>
              <a:gd name="adj" fmla="val 6173"/>
            </a:avLst>
          </a:prstGeom>
          <a:solidFill>
            <a:srgbClr val="000000"/>
          </a:solidFill>
          <a:ln w="10160">
            <a:solidFill>
              <a:srgbClr val="000000"/>
            </a:solidFill>
            <a:prstDash val="solid"/>
          </a:ln>
        </p:spPr>
      </p:sp>
      <p:sp>
        <p:nvSpPr>
          <p:cNvPr id="17" name="Shape 15"/>
          <p:cNvSpPr/>
          <p:nvPr/>
        </p:nvSpPr>
        <p:spPr>
          <a:xfrm>
            <a:off x="4242816" y="1993392"/>
            <a:ext cx="3703320" cy="64008"/>
          </a:xfrm>
          <a:prstGeom prst="rect">
            <a:avLst/>
          </a:prstGeom>
          <a:solidFill>
            <a:srgbClr val="12C479"/>
          </a:solidFill>
          <a:ln w="12700">
            <a:solidFill>
              <a:srgbClr val="12C479"/>
            </a:solidFill>
            <a:prstDash val="solid"/>
          </a:ln>
        </p:spPr>
      </p:sp>
      <p:sp>
        <p:nvSpPr>
          <p:cNvPr id="18" name="Text 16"/>
          <p:cNvSpPr/>
          <p:nvPr/>
        </p:nvSpPr>
        <p:spPr>
          <a:xfrm>
            <a:off x="4379976" y="2121408"/>
            <a:ext cx="3429000" cy="347472"/>
          </a:xfrm>
          <a:prstGeom prst="rect">
            <a:avLst/>
          </a:prstGeom>
          <a:noFill/>
          <a:ln/>
        </p:spPr>
        <p:txBody>
          <a:bodyPr wrap="square" rtlCol="0" anchor="ctr"/>
          <a:lstStyle/>
          <a:p>
            <a:pPr indent="0" marL="0">
              <a:buNone/>
            </a:pPr>
            <a:r>
              <a:rPr lang="en-US" sz="1400" b="1" dirty="0">
                <a:solidFill>
                  <a:srgbClr val="12C479"/>
                </a:solidFill>
              </a:rPr>
              <a:t>🧠 mem0</a:t>
            </a:r>
            <a:endParaRPr lang="en-US" sz="1400" dirty="0"/>
          </a:p>
        </p:txBody>
      </p:sp>
      <p:sp>
        <p:nvSpPr>
          <p:cNvPr id="19" name="Shape 17"/>
          <p:cNvSpPr/>
          <p:nvPr/>
        </p:nvSpPr>
        <p:spPr>
          <a:xfrm>
            <a:off x="4379976" y="2496312"/>
            <a:ext cx="960120" cy="182880"/>
          </a:xfrm>
          <a:prstGeom prst="roundRect">
            <a:avLst>
              <a:gd name="adj" fmla="val 20000"/>
            </a:avLst>
          </a:prstGeom>
          <a:solidFill>
            <a:srgbClr val="000000"/>
          </a:solidFill>
          <a:ln w="12700">
            <a:solidFill>
              <a:srgbClr val="000000"/>
            </a:solidFill>
            <a:prstDash val="solid"/>
          </a:ln>
        </p:spPr>
      </p:sp>
      <p:sp>
        <p:nvSpPr>
          <p:cNvPr id="20" name="Text 18"/>
          <p:cNvSpPr/>
          <p:nvPr/>
        </p:nvSpPr>
        <p:spPr>
          <a:xfrm>
            <a:off x="4379976" y="2496312"/>
            <a:ext cx="960120" cy="182880"/>
          </a:xfrm>
          <a:prstGeom prst="rect">
            <a:avLst/>
          </a:prstGeom>
          <a:noFill/>
          <a:ln/>
        </p:spPr>
        <p:txBody>
          <a:bodyPr wrap="square" rtlCol="0" anchor="ctr"/>
          <a:lstStyle/>
          <a:p>
            <a:pPr algn="ctr" indent="0" marL="0">
              <a:buNone/>
            </a:pPr>
            <a:r>
              <a:rPr lang="en-US" sz="700" b="1" dirty="0">
                <a:solidFill>
                  <a:srgbClr val="12C479"/>
                </a:solidFill>
              </a:rPr>
              <a:t>Memory</a:t>
            </a:r>
            <a:endParaRPr lang="en-US" sz="700" dirty="0"/>
          </a:p>
        </p:txBody>
      </p:sp>
      <p:sp>
        <p:nvSpPr>
          <p:cNvPr id="21" name="Text 19"/>
          <p:cNvSpPr/>
          <p:nvPr/>
        </p:nvSpPr>
        <p:spPr>
          <a:xfrm>
            <a:off x="4379976" y="2724912"/>
            <a:ext cx="3429000" cy="640080"/>
          </a:xfrm>
          <a:prstGeom prst="rect">
            <a:avLst/>
          </a:prstGeom>
          <a:noFill/>
          <a:ln/>
        </p:spPr>
        <p:txBody>
          <a:bodyPr wrap="square" rtlCol="0" anchor="ctr"/>
          <a:lstStyle/>
          <a:p>
            <a:pPr indent="0" marL="0">
              <a:buNone/>
            </a:pPr>
            <a:r>
              <a:rPr lang="en-US" sz="950" dirty="0">
                <a:solidFill>
                  <a:srgbClr val="3D5472"/>
                </a:solidFill>
              </a:rPr>
              <a:t>The intelligence layer — persistent memory across sessions, transforming one-shot AI features into compound, personalized intelligence.</a:t>
            </a:r>
            <a:endParaRPr lang="en-US" sz="950" dirty="0"/>
          </a:p>
        </p:txBody>
      </p:sp>
      <p:sp>
        <p:nvSpPr>
          <p:cNvPr id="22" name="Shape 20"/>
          <p:cNvSpPr/>
          <p:nvPr/>
        </p:nvSpPr>
        <p:spPr>
          <a:xfrm>
            <a:off x="8211312" y="1993392"/>
            <a:ext cx="3703320" cy="1481328"/>
          </a:xfrm>
          <a:prstGeom prst="roundRect">
            <a:avLst>
              <a:gd name="adj" fmla="val 6173"/>
            </a:avLst>
          </a:prstGeom>
          <a:solidFill>
            <a:srgbClr val="000000"/>
          </a:solidFill>
          <a:ln w="10160">
            <a:solidFill>
              <a:srgbClr val="000000"/>
            </a:solidFill>
            <a:prstDash val="solid"/>
          </a:ln>
        </p:spPr>
      </p:sp>
      <p:sp>
        <p:nvSpPr>
          <p:cNvPr id="23" name="Shape 21"/>
          <p:cNvSpPr/>
          <p:nvPr/>
        </p:nvSpPr>
        <p:spPr>
          <a:xfrm>
            <a:off x="8211312" y="1993392"/>
            <a:ext cx="3703320" cy="64008"/>
          </a:xfrm>
          <a:prstGeom prst="rect">
            <a:avLst/>
          </a:prstGeom>
          <a:solidFill>
            <a:srgbClr val="1BC5FF"/>
          </a:solidFill>
          <a:ln w="12700">
            <a:solidFill>
              <a:srgbClr val="1BC5FF"/>
            </a:solidFill>
            <a:prstDash val="solid"/>
          </a:ln>
        </p:spPr>
      </p:sp>
      <p:sp>
        <p:nvSpPr>
          <p:cNvPr id="24" name="Text 22"/>
          <p:cNvSpPr/>
          <p:nvPr/>
        </p:nvSpPr>
        <p:spPr>
          <a:xfrm>
            <a:off x="8348472" y="2121408"/>
            <a:ext cx="3429000" cy="347472"/>
          </a:xfrm>
          <a:prstGeom prst="rect">
            <a:avLst/>
          </a:prstGeom>
          <a:noFill/>
          <a:ln/>
        </p:spPr>
        <p:txBody>
          <a:bodyPr wrap="square" rtlCol="0" anchor="ctr"/>
          <a:lstStyle/>
          <a:p>
            <a:pPr indent="0" marL="0">
              <a:buNone/>
            </a:pPr>
            <a:r>
              <a:rPr lang="en-US" sz="1400" b="1" dirty="0">
                <a:solidFill>
                  <a:srgbClr val="1BC5FF"/>
                </a:solidFill>
              </a:rPr>
              <a:t>🔍 altorlab</a:t>
            </a:r>
            <a:endParaRPr lang="en-US" sz="1400" dirty="0"/>
          </a:p>
        </p:txBody>
      </p:sp>
      <p:sp>
        <p:nvSpPr>
          <p:cNvPr id="25" name="Shape 23"/>
          <p:cNvSpPr/>
          <p:nvPr/>
        </p:nvSpPr>
        <p:spPr>
          <a:xfrm>
            <a:off x="8348472" y="2496312"/>
            <a:ext cx="960120" cy="182880"/>
          </a:xfrm>
          <a:prstGeom prst="roundRect">
            <a:avLst>
              <a:gd name="adj" fmla="val 20000"/>
            </a:avLst>
          </a:prstGeom>
          <a:solidFill>
            <a:srgbClr val="000000"/>
          </a:solidFill>
          <a:ln w="12700">
            <a:solidFill>
              <a:srgbClr val="000000"/>
            </a:solidFill>
            <a:prstDash val="solid"/>
          </a:ln>
        </p:spPr>
      </p:sp>
      <p:sp>
        <p:nvSpPr>
          <p:cNvPr id="26" name="Text 24"/>
          <p:cNvSpPr/>
          <p:nvPr/>
        </p:nvSpPr>
        <p:spPr>
          <a:xfrm>
            <a:off x="8348472" y="2496312"/>
            <a:ext cx="960120" cy="182880"/>
          </a:xfrm>
          <a:prstGeom prst="rect">
            <a:avLst/>
          </a:prstGeom>
          <a:noFill/>
          <a:ln/>
        </p:spPr>
        <p:txBody>
          <a:bodyPr wrap="square" rtlCol="0" anchor="ctr"/>
          <a:lstStyle/>
          <a:p>
            <a:pPr algn="ctr" indent="0" marL="0">
              <a:buNone/>
            </a:pPr>
            <a:r>
              <a:rPr lang="en-US" sz="700" b="1" dirty="0">
                <a:solidFill>
                  <a:srgbClr val="1BC5FF"/>
                </a:solidFill>
              </a:rPr>
              <a:t>Retrieval</a:t>
            </a:r>
            <a:endParaRPr lang="en-US" sz="700" dirty="0"/>
          </a:p>
        </p:txBody>
      </p:sp>
      <p:sp>
        <p:nvSpPr>
          <p:cNvPr id="27" name="Text 25"/>
          <p:cNvSpPr/>
          <p:nvPr/>
        </p:nvSpPr>
        <p:spPr>
          <a:xfrm>
            <a:off x="8348472" y="2724912"/>
            <a:ext cx="3429000" cy="640080"/>
          </a:xfrm>
          <a:prstGeom prst="rect">
            <a:avLst/>
          </a:prstGeom>
          <a:noFill/>
          <a:ln/>
        </p:spPr>
        <p:txBody>
          <a:bodyPr wrap="square" rtlCol="0" anchor="ctr"/>
          <a:lstStyle/>
          <a:p>
            <a:pPr indent="0" marL="0">
              <a:buNone/>
            </a:pPr>
            <a:r>
              <a:rPr lang="en-US" sz="950" dirty="0">
                <a:solidFill>
                  <a:srgbClr val="3D5472"/>
                </a:solidFill>
              </a:rPr>
              <a:t>The retrieval layer — zero-cost, sub-millisecond vector search running on-device with no server round-trip required.</a:t>
            </a:r>
            <a:endParaRPr lang="en-US" sz="950" dirty="0"/>
          </a:p>
        </p:txBody>
      </p:sp>
      <p:sp>
        <p:nvSpPr>
          <p:cNvPr id="28" name="Text 26"/>
          <p:cNvSpPr/>
          <p:nvPr/>
        </p:nvSpPr>
        <p:spPr>
          <a:xfrm>
            <a:off x="274320" y="3602736"/>
            <a:ext cx="11612880" cy="182880"/>
          </a:xfrm>
          <a:prstGeom prst="rect">
            <a:avLst/>
          </a:prstGeom>
          <a:noFill/>
          <a:ln/>
        </p:spPr>
        <p:txBody>
          <a:bodyPr wrap="square" rtlCol="0" anchor="ctr"/>
          <a:lstStyle/>
          <a:p>
            <a:pPr indent="0" marL="0">
              <a:buNone/>
            </a:pPr>
            <a:r>
              <a:rPr lang="en-US" sz="800" b="1" dirty="0">
                <a:solidFill>
                  <a:srgbClr val="7B96B8"/>
                </a:solidFill>
              </a:rPr>
              <a:t>FOUR PILLARS OF THE THESIS</a:t>
            </a:r>
            <a:endParaRPr lang="en-US" sz="800" dirty="0"/>
          </a:p>
        </p:txBody>
      </p:sp>
      <p:sp>
        <p:nvSpPr>
          <p:cNvPr id="29" name="Shape 27"/>
          <p:cNvSpPr/>
          <p:nvPr/>
        </p:nvSpPr>
        <p:spPr>
          <a:xfrm>
            <a:off x="274320" y="3840480"/>
            <a:ext cx="5669280" cy="960120"/>
          </a:xfrm>
          <a:prstGeom prst="roundRect">
            <a:avLst>
              <a:gd name="adj" fmla="val 9524"/>
            </a:avLst>
          </a:prstGeom>
          <a:solidFill>
            <a:srgbClr val="FFFFFF"/>
          </a:solidFill>
          <a:ln w="6350">
            <a:solidFill>
              <a:srgbClr val="D5E3F7"/>
            </a:solidFill>
            <a:prstDash val="solid"/>
          </a:ln>
        </p:spPr>
      </p:sp>
      <p:sp>
        <p:nvSpPr>
          <p:cNvPr id="30" name="Shape 28"/>
          <p:cNvSpPr/>
          <p:nvPr/>
        </p:nvSpPr>
        <p:spPr>
          <a:xfrm>
            <a:off x="274320" y="3840480"/>
            <a:ext cx="54864" cy="960120"/>
          </a:xfrm>
          <a:prstGeom prst="rect">
            <a:avLst/>
          </a:prstGeom>
          <a:solidFill>
            <a:srgbClr val="2F80ED"/>
          </a:solidFill>
          <a:ln w="12700">
            <a:solidFill>
              <a:srgbClr val="2F80ED"/>
            </a:solidFill>
            <a:prstDash val="solid"/>
          </a:ln>
        </p:spPr>
      </p:sp>
      <p:sp>
        <p:nvSpPr>
          <p:cNvPr id="31" name="Text 29"/>
          <p:cNvSpPr/>
          <p:nvPr/>
        </p:nvSpPr>
        <p:spPr>
          <a:xfrm>
            <a:off x="457200" y="3931920"/>
            <a:ext cx="5303520" cy="274320"/>
          </a:xfrm>
          <a:prstGeom prst="rect">
            <a:avLst/>
          </a:prstGeom>
          <a:noFill/>
          <a:ln/>
        </p:spPr>
        <p:txBody>
          <a:bodyPr wrap="square" rtlCol="0" anchor="ctr"/>
          <a:lstStyle/>
          <a:p>
            <a:pPr indent="0" marL="0">
              <a:buNone/>
            </a:pPr>
            <a:r>
              <a:rPr lang="en-US" sz="1100" b="1" dirty="0">
                <a:solidFill>
                  <a:srgbClr val="0D1E35"/>
                </a:solidFill>
              </a:rPr>
              <a:t>💰 Cost elimination, not reduction</a:t>
            </a:r>
            <a:endParaRPr lang="en-US" sz="1100" dirty="0"/>
          </a:p>
        </p:txBody>
      </p:sp>
      <p:sp>
        <p:nvSpPr>
          <p:cNvPr id="32" name="Text 30"/>
          <p:cNvSpPr/>
          <p:nvPr/>
        </p:nvSpPr>
        <p:spPr>
          <a:xfrm>
            <a:off x="457200" y="4242816"/>
            <a:ext cx="5303520" cy="475488"/>
          </a:xfrm>
          <a:prstGeom prst="rect">
            <a:avLst/>
          </a:prstGeom>
          <a:noFill/>
          <a:ln/>
        </p:spPr>
        <p:txBody>
          <a:bodyPr wrap="square" rtlCol="0" anchor="ctr"/>
          <a:lstStyle/>
          <a:p>
            <a:pPr indent="0" marL="0">
              <a:buNone/>
            </a:pPr>
            <a:r>
              <a:rPr lang="en-US" sz="950" dirty="0">
                <a:solidFill>
                  <a:srgbClr val="3D5472"/>
                </a:solidFill>
              </a:rPr>
              <a:t>All three attack unit economics at the infrastructure layer — not by negotiating better rates, but by rearchitecting so the cost category ceases to exist entirely.</a:t>
            </a:r>
            <a:endParaRPr lang="en-US" sz="950" dirty="0"/>
          </a:p>
        </p:txBody>
      </p:sp>
      <p:sp>
        <p:nvSpPr>
          <p:cNvPr id="33" name="Shape 31"/>
          <p:cNvSpPr/>
          <p:nvPr/>
        </p:nvSpPr>
        <p:spPr>
          <a:xfrm>
            <a:off x="6263640" y="3840480"/>
            <a:ext cx="5669280" cy="960120"/>
          </a:xfrm>
          <a:prstGeom prst="roundRect">
            <a:avLst>
              <a:gd name="adj" fmla="val 9524"/>
            </a:avLst>
          </a:prstGeom>
          <a:solidFill>
            <a:srgbClr val="FFFFFF"/>
          </a:solidFill>
          <a:ln w="6350">
            <a:solidFill>
              <a:srgbClr val="D5E3F7"/>
            </a:solidFill>
            <a:prstDash val="solid"/>
          </a:ln>
        </p:spPr>
      </p:sp>
      <p:sp>
        <p:nvSpPr>
          <p:cNvPr id="34" name="Shape 32"/>
          <p:cNvSpPr/>
          <p:nvPr/>
        </p:nvSpPr>
        <p:spPr>
          <a:xfrm>
            <a:off x="6263640" y="3840480"/>
            <a:ext cx="54864" cy="960120"/>
          </a:xfrm>
          <a:prstGeom prst="rect">
            <a:avLst/>
          </a:prstGeom>
          <a:solidFill>
            <a:srgbClr val="12C479"/>
          </a:solidFill>
          <a:ln w="12700">
            <a:solidFill>
              <a:srgbClr val="12C479"/>
            </a:solidFill>
            <a:prstDash val="solid"/>
          </a:ln>
        </p:spPr>
      </p:sp>
      <p:sp>
        <p:nvSpPr>
          <p:cNvPr id="35" name="Text 33"/>
          <p:cNvSpPr/>
          <p:nvPr/>
        </p:nvSpPr>
        <p:spPr>
          <a:xfrm>
            <a:off x="6446520" y="3931920"/>
            <a:ext cx="5303520" cy="274320"/>
          </a:xfrm>
          <a:prstGeom prst="rect">
            <a:avLst/>
          </a:prstGeom>
          <a:noFill/>
          <a:ln/>
        </p:spPr>
        <p:txBody>
          <a:bodyPr wrap="square" rtlCol="0" anchor="ctr"/>
          <a:lstStyle/>
          <a:p>
            <a:pPr indent="0" marL="0">
              <a:buNone/>
            </a:pPr>
            <a:r>
              <a:rPr lang="en-US" sz="1100" b="1" dirty="0">
                <a:solidFill>
                  <a:srgbClr val="0D1E35"/>
                </a:solidFill>
              </a:rPr>
              <a:t>🔒 Privacy as architecture</a:t>
            </a:r>
            <a:endParaRPr lang="en-US" sz="1100" dirty="0"/>
          </a:p>
        </p:txBody>
      </p:sp>
      <p:sp>
        <p:nvSpPr>
          <p:cNvPr id="36" name="Text 34"/>
          <p:cNvSpPr/>
          <p:nvPr/>
        </p:nvSpPr>
        <p:spPr>
          <a:xfrm>
            <a:off x="6446520" y="4242816"/>
            <a:ext cx="5303520" cy="475488"/>
          </a:xfrm>
          <a:prstGeom prst="rect">
            <a:avLst/>
          </a:prstGeom>
          <a:noFill/>
          <a:ln/>
        </p:spPr>
        <p:txBody>
          <a:bodyPr wrap="square" rtlCol="0" anchor="ctr"/>
          <a:lstStyle/>
          <a:p>
            <a:pPr indent="0" marL="0">
              <a:buNone/>
            </a:pPr>
            <a:r>
              <a:rPr lang="en-US" sz="950" dirty="0">
                <a:solidFill>
                  <a:srgbClr val="3D5472"/>
                </a:solidFill>
              </a:rPr>
              <a:t>Queries on-device (altorlab), namespaced memory with audit trails (mem0), permissioned tool use (S45). Compliance becomes a product feature, not a cost center.</a:t>
            </a:r>
            <a:endParaRPr lang="en-US" sz="950" dirty="0"/>
          </a:p>
        </p:txBody>
      </p:sp>
      <p:sp>
        <p:nvSpPr>
          <p:cNvPr id="37" name="Shape 35"/>
          <p:cNvSpPr/>
          <p:nvPr/>
        </p:nvSpPr>
        <p:spPr>
          <a:xfrm>
            <a:off x="274320" y="4882896"/>
            <a:ext cx="5669280" cy="960120"/>
          </a:xfrm>
          <a:prstGeom prst="roundRect">
            <a:avLst>
              <a:gd name="adj" fmla="val 9524"/>
            </a:avLst>
          </a:prstGeom>
          <a:solidFill>
            <a:srgbClr val="FFFFFF"/>
          </a:solidFill>
          <a:ln w="6350">
            <a:solidFill>
              <a:srgbClr val="D5E3F7"/>
            </a:solidFill>
            <a:prstDash val="solid"/>
          </a:ln>
        </p:spPr>
      </p:sp>
      <p:sp>
        <p:nvSpPr>
          <p:cNvPr id="38" name="Shape 36"/>
          <p:cNvSpPr/>
          <p:nvPr/>
        </p:nvSpPr>
        <p:spPr>
          <a:xfrm>
            <a:off x="274320" y="4882896"/>
            <a:ext cx="54864" cy="960120"/>
          </a:xfrm>
          <a:prstGeom prst="rect">
            <a:avLst/>
          </a:prstGeom>
          <a:solidFill>
            <a:srgbClr val="1BC5FF"/>
          </a:solidFill>
          <a:ln w="12700">
            <a:solidFill>
              <a:srgbClr val="1BC5FF"/>
            </a:solidFill>
            <a:prstDash val="solid"/>
          </a:ln>
        </p:spPr>
      </p:sp>
      <p:sp>
        <p:nvSpPr>
          <p:cNvPr id="39" name="Text 37"/>
          <p:cNvSpPr/>
          <p:nvPr/>
        </p:nvSpPr>
        <p:spPr>
          <a:xfrm>
            <a:off x="457200" y="4974336"/>
            <a:ext cx="5303520" cy="274320"/>
          </a:xfrm>
          <a:prstGeom prst="rect">
            <a:avLst/>
          </a:prstGeom>
          <a:noFill/>
          <a:ln/>
        </p:spPr>
        <p:txBody>
          <a:bodyPr wrap="square" rtlCol="0" anchor="ctr"/>
          <a:lstStyle/>
          <a:p>
            <a:pPr indent="0" marL="0">
              <a:buNone/>
            </a:pPr>
            <a:r>
              <a:rPr lang="en-US" sz="1100" b="1" dirty="0">
                <a:solidFill>
                  <a:srgbClr val="0D1E35"/>
                </a:solidFill>
              </a:rPr>
              <a:t>🏗️ Developer-first primitives</a:t>
            </a:r>
            <a:endParaRPr lang="en-US" sz="1100" dirty="0"/>
          </a:p>
        </p:txBody>
      </p:sp>
      <p:sp>
        <p:nvSpPr>
          <p:cNvPr id="40" name="Text 38"/>
          <p:cNvSpPr/>
          <p:nvPr/>
        </p:nvSpPr>
        <p:spPr>
          <a:xfrm>
            <a:off x="457200" y="5285232"/>
            <a:ext cx="5303520" cy="475488"/>
          </a:xfrm>
          <a:prstGeom prst="rect">
            <a:avLst/>
          </a:prstGeom>
          <a:noFill/>
          <a:ln/>
        </p:spPr>
        <p:txBody>
          <a:bodyPr wrap="square" rtlCol="0" anchor="ctr"/>
          <a:lstStyle/>
          <a:p>
            <a:pPr indent="0" marL="0">
              <a:buNone/>
            </a:pPr>
            <a:r>
              <a:rPr lang="en-US" sz="950" dirty="0">
                <a:solidFill>
                  <a:srgbClr val="3D5472"/>
                </a:solidFill>
              </a:rPr>
              <a:t>All three are SDK-first, npm-installable, GitHub-native. They win by becoming the default import in every AI engineer's stack — no 18-month sales cycles required.</a:t>
            </a:r>
            <a:endParaRPr lang="en-US" sz="950" dirty="0"/>
          </a:p>
        </p:txBody>
      </p:sp>
      <p:sp>
        <p:nvSpPr>
          <p:cNvPr id="41" name="Shape 39"/>
          <p:cNvSpPr/>
          <p:nvPr/>
        </p:nvSpPr>
        <p:spPr>
          <a:xfrm>
            <a:off x="6263640" y="4882896"/>
            <a:ext cx="5669280" cy="960120"/>
          </a:xfrm>
          <a:prstGeom prst="roundRect">
            <a:avLst>
              <a:gd name="adj" fmla="val 9524"/>
            </a:avLst>
          </a:prstGeom>
          <a:solidFill>
            <a:srgbClr val="FFFFFF"/>
          </a:solidFill>
          <a:ln w="6350">
            <a:solidFill>
              <a:srgbClr val="D5E3F7"/>
            </a:solidFill>
            <a:prstDash val="solid"/>
          </a:ln>
        </p:spPr>
      </p:sp>
      <p:sp>
        <p:nvSpPr>
          <p:cNvPr id="42" name="Shape 40"/>
          <p:cNvSpPr/>
          <p:nvPr/>
        </p:nvSpPr>
        <p:spPr>
          <a:xfrm>
            <a:off x="6263640" y="4882896"/>
            <a:ext cx="54864" cy="960120"/>
          </a:xfrm>
          <a:prstGeom prst="rect">
            <a:avLst/>
          </a:prstGeom>
          <a:solidFill>
            <a:srgbClr val="F59E0B"/>
          </a:solidFill>
          <a:ln w="12700">
            <a:solidFill>
              <a:srgbClr val="F59E0B"/>
            </a:solidFill>
            <a:prstDash val="solid"/>
          </a:ln>
        </p:spPr>
      </p:sp>
      <p:sp>
        <p:nvSpPr>
          <p:cNvPr id="43" name="Text 41"/>
          <p:cNvSpPr/>
          <p:nvPr/>
        </p:nvSpPr>
        <p:spPr>
          <a:xfrm>
            <a:off x="6446520" y="4974336"/>
            <a:ext cx="5303520" cy="274320"/>
          </a:xfrm>
          <a:prstGeom prst="rect">
            <a:avLst/>
          </a:prstGeom>
          <a:noFill/>
          <a:ln/>
        </p:spPr>
        <p:txBody>
          <a:bodyPr wrap="square" rtlCol="0" anchor="ctr"/>
          <a:lstStyle/>
          <a:p>
            <a:pPr indent="0" marL="0">
              <a:buNone/>
            </a:pPr>
            <a:r>
              <a:rPr lang="en-US" sz="1100" b="1" dirty="0">
                <a:solidFill>
                  <a:srgbClr val="0D1E35"/>
                </a:solidFill>
              </a:rPr>
              <a:t>🌏 India-native scale vectors</a:t>
            </a:r>
            <a:endParaRPr lang="en-US" sz="1100" dirty="0"/>
          </a:p>
        </p:txBody>
      </p:sp>
      <p:sp>
        <p:nvSpPr>
          <p:cNvPr id="44" name="Text 42"/>
          <p:cNvSpPr/>
          <p:nvPr/>
        </p:nvSpPr>
        <p:spPr>
          <a:xfrm>
            <a:off x="6446520" y="5285232"/>
            <a:ext cx="5303520" cy="475488"/>
          </a:xfrm>
          <a:prstGeom prst="rect">
            <a:avLst/>
          </a:prstGeom>
          <a:noFill/>
          <a:ln/>
        </p:spPr>
        <p:txBody>
          <a:bodyPr wrap="square" rtlCol="0" anchor="ctr"/>
          <a:lstStyle/>
          <a:p>
            <a:pPr indent="0" marL="0">
              <a:buNone/>
            </a:pPr>
            <a:r>
              <a:rPr lang="en-US" sz="950" dirty="0">
                <a:solidFill>
                  <a:srgbClr val="3D5472"/>
                </a:solidFill>
              </a:rPr>
              <a:t>8M+ merchants, 12B monthly UPI transactions, 100M+ consumer touchpoints — the largest AI-native scale vector in the world. This is the infra layer to serve it.</a:t>
            </a:r>
            <a:endParaRPr lang="en-US" sz="950" dirty="0"/>
          </a:p>
        </p:txBody>
      </p:sp>
      <p:sp>
        <p:nvSpPr>
          <p:cNvPr id="45" name="Shape 43"/>
          <p:cNvSpPr/>
          <p:nvPr/>
        </p:nvSpPr>
        <p:spPr>
          <a:xfrm>
            <a:off x="274320" y="6035040"/>
            <a:ext cx="11612880" cy="594360"/>
          </a:xfrm>
          <a:prstGeom prst="roundRect">
            <a:avLst>
              <a:gd name="adj" fmla="val 12308"/>
            </a:avLst>
          </a:prstGeom>
          <a:solidFill>
            <a:srgbClr val="000000"/>
          </a:solidFill>
          <a:ln w="12700">
            <a:solidFill>
              <a:srgbClr val="000000"/>
            </a:solidFill>
            <a:prstDash val="solid"/>
          </a:ln>
        </p:spPr>
      </p:sp>
      <p:sp>
        <p:nvSpPr>
          <p:cNvPr id="46" name="Text 44"/>
          <p:cNvSpPr/>
          <p:nvPr/>
        </p:nvSpPr>
        <p:spPr>
          <a:xfrm>
            <a:off x="457200" y="6080760"/>
            <a:ext cx="11247120" cy="256032"/>
          </a:xfrm>
          <a:prstGeom prst="rect">
            <a:avLst/>
          </a:prstGeom>
          <a:noFill/>
          <a:ln/>
        </p:spPr>
        <p:txBody>
          <a:bodyPr wrap="square" rtlCol="0" anchor="ctr"/>
          <a:lstStyle/>
          <a:p>
            <a:pPr indent="0" marL="0">
              <a:buNone/>
            </a:pPr>
            <a:r>
              <a:rPr lang="en-US" sz="1000" b="1" dirty="0">
                <a:solidFill>
                  <a:srgbClr val="0D1E35"/>
                </a:solidFill>
              </a:rPr>
              <a:t>⚡  The Razorpay flywheel — a platform bet, not just a financial investment</a:t>
            </a:r>
            <a:endParaRPr lang="en-US" sz="1000" dirty="0"/>
          </a:p>
        </p:txBody>
      </p:sp>
      <p:sp>
        <p:nvSpPr>
          <p:cNvPr id="47" name="Text 45"/>
          <p:cNvSpPr/>
          <p:nvPr/>
        </p:nvSpPr>
        <p:spPr>
          <a:xfrm>
            <a:off x="457200" y="6318504"/>
            <a:ext cx="11247120" cy="237744"/>
          </a:xfrm>
          <a:prstGeom prst="rect">
            <a:avLst/>
          </a:prstGeom>
          <a:noFill/>
          <a:ln/>
        </p:spPr>
        <p:txBody>
          <a:bodyPr wrap="square" rtlCol="0" anchor="ctr"/>
          <a:lstStyle/>
          <a:p>
            <a:pPr indent="0" marL="0">
              <a:buNone/>
            </a:pPr>
            <a:r>
              <a:rPr lang="en-US" sz="950" b="1" dirty="0">
                <a:solidFill>
                  <a:srgbClr val="2F80ED"/>
                </a:solidFill>
              </a:rPr>
              <a:t>Strategic investment in all three lets Razorpay shape the AI infrastructure stack that India's next generation of fintech products will be built on. This is Razorpay's AWS moment for AI infrastructure.</a:t>
            </a:r>
            <a:endParaRPr lang="en-US" sz="950" dirty="0"/>
          </a:p>
        </p:txBody>
      </p:sp>
      <p:sp>
        <p:nvSpPr>
          <p:cNvPr id="48" name="Shape 46"/>
          <p:cNvSpPr/>
          <p:nvPr/>
        </p:nvSpPr>
        <p:spPr>
          <a:xfrm>
            <a:off x="0" y="6748272"/>
            <a:ext cx="12188952" cy="109728"/>
          </a:xfrm>
          <a:prstGeom prst="rect">
            <a:avLst/>
          </a:prstGeom>
          <a:solidFill>
            <a:srgbClr val="2F80ED"/>
          </a:solidFill>
          <a:ln w="12700">
            <a:solidFill>
              <a:srgbClr val="2F80ED"/>
            </a:solidFill>
            <a:prstDash val="solid"/>
          </a:ln>
        </p:spPr>
      </p:sp>
      <p:sp>
        <p:nvSpPr>
          <p:cNvPr id="49" name="Text 47"/>
          <p:cNvSpPr/>
          <p:nvPr/>
        </p:nvSpPr>
        <p:spPr>
          <a:xfrm>
            <a:off x="11274552" y="6748272"/>
            <a:ext cx="731520" cy="109728"/>
          </a:xfrm>
          <a:prstGeom prst="rect">
            <a:avLst/>
          </a:prstGeom>
          <a:noFill/>
          <a:ln/>
        </p:spPr>
        <p:txBody>
          <a:bodyPr wrap="square" rtlCol="0" anchor="ctr"/>
          <a:lstStyle/>
          <a:p>
            <a:pPr algn="r" indent="0" marL="0">
              <a:buNone/>
            </a:pPr>
            <a:r>
              <a:rPr lang="en-US" sz="700" dirty="0">
                <a:solidFill>
                  <a:srgbClr val="FFFFFF"/>
                </a:solidFill>
              </a:rPr>
              <a:t>10 / 11</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7FD"/>
          </a:solidFill>
          <a:ln w="12700">
            <a:solidFill>
              <a:srgbClr val="F4F7FD"/>
            </a:solidFill>
            <a:prstDash val="solid"/>
          </a:ln>
        </p:spPr>
      </p:sp>
      <p:sp>
        <p:nvSpPr>
          <p:cNvPr id="3" name="Shape 1"/>
          <p:cNvSpPr/>
          <p:nvPr/>
        </p:nvSpPr>
        <p:spPr>
          <a:xfrm>
            <a:off x="0" y="0"/>
            <a:ext cx="12188952" cy="502920"/>
          </a:xfrm>
          <a:prstGeom prst="rect">
            <a:avLst/>
          </a:prstGeom>
          <a:solidFill>
            <a:srgbClr val="FFFFFF"/>
          </a:solidFill>
          <a:ln w="6350">
            <a:solidFill>
              <a:srgbClr val="D5E3F7"/>
            </a:solidFill>
            <a:prstDash val="solid"/>
          </a:ln>
        </p:spPr>
      </p:sp>
      <p:sp>
        <p:nvSpPr>
          <p:cNvPr id="4" name="Text 2"/>
          <p:cNvSpPr/>
          <p:nvPr/>
        </p:nvSpPr>
        <p:spPr>
          <a:xfrm>
            <a:off x="274320" y="64008"/>
            <a:ext cx="1828800" cy="384048"/>
          </a:xfrm>
          <a:prstGeom prst="rect">
            <a:avLst/>
          </a:prstGeom>
          <a:noFill/>
          <a:ln/>
        </p:spPr>
        <p:txBody>
          <a:bodyPr wrap="square" rtlCol="0" anchor="ctr"/>
          <a:lstStyle/>
          <a:p>
            <a:pPr indent="0" marL="0">
              <a:buNone/>
            </a:pPr>
            <a:r>
              <a:rPr lang="en-US" sz="1700" b="1" dirty="0">
                <a:solidFill>
                  <a:srgbClr val="0D1E35"/>
                </a:solidFill>
                <a:latin typeface="Arial" pitchFamily="34" charset="0"/>
                <a:ea typeface="Arial" pitchFamily="34" charset="-122"/>
                <a:cs typeface="Arial" pitchFamily="34" charset="-120"/>
              </a:rPr>
              <a:t>razor</a:t>
            </a:r>
            <a:pPr indent="0" marL="0">
              <a:buNone/>
            </a:pPr>
            <a:r>
              <a:rPr lang="en-US" sz="1700" b="1" dirty="0">
                <a:solidFill>
                  <a:srgbClr val="2F80ED"/>
                </a:solidFill>
                <a:latin typeface="Arial" pitchFamily="34" charset="0"/>
                <a:ea typeface="Arial" pitchFamily="34" charset="-122"/>
                <a:cs typeface="Arial" pitchFamily="34" charset="-120"/>
              </a:rPr>
              <a:t>pay</a:t>
            </a:r>
            <a:endParaRPr lang="en-US" sz="1700" dirty="0"/>
          </a:p>
        </p:txBody>
      </p:sp>
      <p:sp>
        <p:nvSpPr>
          <p:cNvPr id="5" name="Text 3"/>
          <p:cNvSpPr/>
          <p:nvPr/>
        </p:nvSpPr>
        <p:spPr>
          <a:xfrm>
            <a:off x="9628632" y="155448"/>
            <a:ext cx="2286000" cy="201168"/>
          </a:xfrm>
          <a:prstGeom prst="rect">
            <a:avLst/>
          </a:prstGeom>
          <a:noFill/>
          <a:ln/>
        </p:spPr>
        <p:txBody>
          <a:bodyPr wrap="square" rtlCol="0" anchor="ctr"/>
          <a:lstStyle/>
          <a:p>
            <a:pPr algn="r" indent="0" marL="0">
              <a:buNone/>
            </a:pPr>
            <a:r>
              <a:rPr lang="en-US" sz="700" dirty="0">
                <a:solidFill>
                  <a:srgbClr val="7B96B8"/>
                </a:solidFill>
              </a:rPr>
              <a:t>CONFIDENTIAL · MARCH 2026</a:t>
            </a:r>
            <a:endParaRPr lang="en-US" sz="700" dirty="0"/>
          </a:p>
        </p:txBody>
      </p:sp>
      <p:sp>
        <p:nvSpPr>
          <p:cNvPr id="6" name="Shape 4"/>
          <p:cNvSpPr/>
          <p:nvPr/>
        </p:nvSpPr>
        <p:spPr>
          <a:xfrm>
            <a:off x="274320" y="594360"/>
            <a:ext cx="2286000" cy="201168"/>
          </a:xfrm>
          <a:prstGeom prst="roundRect">
            <a:avLst>
              <a:gd name="adj" fmla="val 18182"/>
            </a:avLst>
          </a:prstGeom>
          <a:solidFill>
            <a:srgbClr val="000000"/>
          </a:solidFill>
          <a:ln w="6350">
            <a:solidFill>
              <a:srgbClr val="000000"/>
            </a:solidFill>
            <a:prstDash val="solid"/>
          </a:ln>
        </p:spPr>
      </p:sp>
      <p:sp>
        <p:nvSpPr>
          <p:cNvPr id="7" name="Text 5"/>
          <p:cNvSpPr/>
          <p:nvPr/>
        </p:nvSpPr>
        <p:spPr>
          <a:xfrm>
            <a:off x="274320" y="594360"/>
            <a:ext cx="2286000" cy="201168"/>
          </a:xfrm>
          <a:prstGeom prst="rect">
            <a:avLst/>
          </a:prstGeom>
          <a:noFill/>
          <a:ln/>
        </p:spPr>
        <p:txBody>
          <a:bodyPr wrap="square" rtlCol="0" anchor="ctr"/>
          <a:lstStyle/>
          <a:p>
            <a:pPr algn="ctr" indent="0" marL="0">
              <a:buNone/>
            </a:pPr>
            <a:r>
              <a:rPr lang="en-US" sz="700" b="1" dirty="0">
                <a:solidFill>
                  <a:srgbClr val="2F80ED"/>
                </a:solidFill>
              </a:rPr>
              <a:t>11 — SUMMARY</a:t>
            </a:r>
            <a:endParaRPr lang="en-US" sz="700" dirty="0"/>
          </a:p>
        </p:txBody>
      </p:sp>
      <p:sp>
        <p:nvSpPr>
          <p:cNvPr id="8" name="Text 6"/>
          <p:cNvSpPr/>
          <p:nvPr/>
        </p:nvSpPr>
        <p:spPr>
          <a:xfrm>
            <a:off x="274320" y="877824"/>
            <a:ext cx="11612880" cy="566928"/>
          </a:xfrm>
          <a:prstGeom prst="rect">
            <a:avLst/>
          </a:prstGeom>
          <a:noFill/>
          <a:ln/>
        </p:spPr>
        <p:txBody>
          <a:bodyPr wrap="square" rtlCol="0" anchor="ctr"/>
          <a:lstStyle/>
          <a:p>
            <a:pPr indent="0" marL="0">
              <a:buNone/>
            </a:pPr>
            <a:r>
              <a:rPr lang="en-US" sz="2200" b="1" dirty="0">
                <a:solidFill>
                  <a:srgbClr val="0D1E35"/>
                </a:solidFill>
                <a:latin typeface="Arial" pitchFamily="34" charset="0"/>
                <a:ea typeface="Arial" pitchFamily="34" charset="-122"/>
                <a:cs typeface="Arial" pitchFamily="34" charset="-120"/>
              </a:rPr>
              <a:t>Investment Conviction Summary</a:t>
            </a:r>
            <a:endParaRPr lang="en-US" sz="2200" dirty="0"/>
          </a:p>
        </p:txBody>
      </p:sp>
      <p:sp>
        <p:nvSpPr>
          <p:cNvPr id="9" name="Text 7"/>
          <p:cNvSpPr/>
          <p:nvPr/>
        </p:nvSpPr>
        <p:spPr>
          <a:xfrm>
            <a:off x="274320" y="1444752"/>
            <a:ext cx="11612880" cy="384048"/>
          </a:xfrm>
          <a:prstGeom prst="rect">
            <a:avLst/>
          </a:prstGeom>
          <a:noFill/>
          <a:ln/>
        </p:spPr>
        <p:txBody>
          <a:bodyPr wrap="square" rtlCol="0" anchor="ctr"/>
          <a:lstStyle/>
          <a:p>
            <a:pPr indent="0" marL="0">
              <a:buNone/>
            </a:pPr>
            <a:r>
              <a:rPr lang="en-US" sz="1050" dirty="0">
                <a:solidFill>
                  <a:srgbClr val="3D5472"/>
                </a:solidFill>
              </a:rPr>
              <a:t>Problem · Solution · Moat · Razorpay angle · Investment ask — one row per company, one page for all three decisions.</a:t>
            </a:r>
            <a:endParaRPr lang="en-US" sz="1050" dirty="0"/>
          </a:p>
        </p:txBody>
      </p:sp>
      <p:sp>
        <p:nvSpPr>
          <p:cNvPr id="10" name="Text 8"/>
          <p:cNvSpPr/>
          <p:nvPr/>
        </p:nvSpPr>
        <p:spPr>
          <a:xfrm>
            <a:off x="2194560" y="1993392"/>
            <a:ext cx="1828800" cy="182880"/>
          </a:xfrm>
          <a:prstGeom prst="rect">
            <a:avLst/>
          </a:prstGeom>
          <a:noFill/>
          <a:ln/>
        </p:spPr>
        <p:txBody>
          <a:bodyPr wrap="square" rtlCol="0" anchor="ctr"/>
          <a:lstStyle/>
          <a:p>
            <a:pPr indent="0" marL="0">
              <a:buNone/>
            </a:pPr>
            <a:r>
              <a:rPr lang="en-US" sz="750" b="1" dirty="0">
                <a:solidFill>
                  <a:srgbClr val="7B96B8"/>
                </a:solidFill>
              </a:rPr>
              <a:t>PROBLEM</a:t>
            </a:r>
            <a:endParaRPr lang="en-US" sz="750" dirty="0"/>
          </a:p>
        </p:txBody>
      </p:sp>
      <p:sp>
        <p:nvSpPr>
          <p:cNvPr id="11" name="Text 9"/>
          <p:cNvSpPr/>
          <p:nvPr/>
        </p:nvSpPr>
        <p:spPr>
          <a:xfrm>
            <a:off x="4160520" y="1993392"/>
            <a:ext cx="1828800" cy="182880"/>
          </a:xfrm>
          <a:prstGeom prst="rect">
            <a:avLst/>
          </a:prstGeom>
          <a:noFill/>
          <a:ln/>
        </p:spPr>
        <p:txBody>
          <a:bodyPr wrap="square" rtlCol="0" anchor="ctr"/>
          <a:lstStyle/>
          <a:p>
            <a:pPr indent="0" marL="0">
              <a:buNone/>
            </a:pPr>
            <a:r>
              <a:rPr lang="en-US" sz="750" b="1" dirty="0">
                <a:solidFill>
                  <a:srgbClr val="7B96B8"/>
                </a:solidFill>
              </a:rPr>
              <a:t>SOLUTION</a:t>
            </a:r>
            <a:endParaRPr lang="en-US" sz="750" dirty="0"/>
          </a:p>
        </p:txBody>
      </p:sp>
      <p:sp>
        <p:nvSpPr>
          <p:cNvPr id="12" name="Text 10"/>
          <p:cNvSpPr/>
          <p:nvPr/>
        </p:nvSpPr>
        <p:spPr>
          <a:xfrm>
            <a:off x="6126480" y="1993392"/>
            <a:ext cx="1828800" cy="182880"/>
          </a:xfrm>
          <a:prstGeom prst="rect">
            <a:avLst/>
          </a:prstGeom>
          <a:noFill/>
          <a:ln/>
        </p:spPr>
        <p:txBody>
          <a:bodyPr wrap="square" rtlCol="0" anchor="ctr"/>
          <a:lstStyle/>
          <a:p>
            <a:pPr indent="0" marL="0">
              <a:buNone/>
            </a:pPr>
            <a:r>
              <a:rPr lang="en-US" sz="750" b="1" dirty="0">
                <a:solidFill>
                  <a:srgbClr val="7B96B8"/>
                </a:solidFill>
              </a:rPr>
              <a:t>MOAT</a:t>
            </a:r>
            <a:endParaRPr lang="en-US" sz="750" dirty="0"/>
          </a:p>
        </p:txBody>
      </p:sp>
      <p:sp>
        <p:nvSpPr>
          <p:cNvPr id="13" name="Text 11"/>
          <p:cNvSpPr/>
          <p:nvPr/>
        </p:nvSpPr>
        <p:spPr>
          <a:xfrm>
            <a:off x="8092440" y="1993392"/>
            <a:ext cx="1828800" cy="182880"/>
          </a:xfrm>
          <a:prstGeom prst="rect">
            <a:avLst/>
          </a:prstGeom>
          <a:noFill/>
          <a:ln/>
        </p:spPr>
        <p:txBody>
          <a:bodyPr wrap="square" rtlCol="0" anchor="ctr"/>
          <a:lstStyle/>
          <a:p>
            <a:pPr indent="0" marL="0">
              <a:buNone/>
            </a:pPr>
            <a:r>
              <a:rPr lang="en-US" sz="750" b="1" dirty="0">
                <a:solidFill>
                  <a:srgbClr val="7B96B8"/>
                </a:solidFill>
              </a:rPr>
              <a:t>RAZORPAY ANGLE</a:t>
            </a:r>
            <a:endParaRPr lang="en-US" sz="750" dirty="0"/>
          </a:p>
        </p:txBody>
      </p:sp>
      <p:sp>
        <p:nvSpPr>
          <p:cNvPr id="14" name="Text 12"/>
          <p:cNvSpPr/>
          <p:nvPr/>
        </p:nvSpPr>
        <p:spPr>
          <a:xfrm>
            <a:off x="10058400" y="1993392"/>
            <a:ext cx="1828800" cy="182880"/>
          </a:xfrm>
          <a:prstGeom prst="rect">
            <a:avLst/>
          </a:prstGeom>
          <a:noFill/>
          <a:ln/>
        </p:spPr>
        <p:txBody>
          <a:bodyPr wrap="square" rtlCol="0" anchor="ctr"/>
          <a:lstStyle/>
          <a:p>
            <a:pPr indent="0" marL="0">
              <a:buNone/>
            </a:pPr>
            <a:r>
              <a:rPr lang="en-US" sz="750" b="1" dirty="0">
                <a:solidFill>
                  <a:srgbClr val="7B96B8"/>
                </a:solidFill>
              </a:rPr>
              <a:t>INVESTMENT ASK</a:t>
            </a:r>
            <a:endParaRPr lang="en-US" sz="750" dirty="0"/>
          </a:p>
        </p:txBody>
      </p:sp>
      <p:sp>
        <p:nvSpPr>
          <p:cNvPr id="15" name="Shape 13"/>
          <p:cNvSpPr/>
          <p:nvPr/>
        </p:nvSpPr>
        <p:spPr>
          <a:xfrm>
            <a:off x="274320" y="2157984"/>
            <a:ext cx="11612880" cy="18288"/>
          </a:xfrm>
          <a:prstGeom prst="rect">
            <a:avLst/>
          </a:prstGeom>
          <a:solidFill>
            <a:srgbClr val="D5E3F7"/>
          </a:solidFill>
          <a:ln w="12700">
            <a:solidFill>
              <a:srgbClr val="D5E3F7"/>
            </a:solidFill>
            <a:prstDash val="solid"/>
          </a:ln>
        </p:spPr>
      </p:sp>
      <p:sp>
        <p:nvSpPr>
          <p:cNvPr id="16" name="Shape 14"/>
          <p:cNvSpPr/>
          <p:nvPr/>
        </p:nvSpPr>
        <p:spPr>
          <a:xfrm>
            <a:off x="274320" y="2267712"/>
            <a:ext cx="11612880" cy="1298448"/>
          </a:xfrm>
          <a:prstGeom prst="roundRect">
            <a:avLst>
              <a:gd name="adj" fmla="val 6338"/>
            </a:avLst>
          </a:prstGeom>
          <a:solidFill>
            <a:srgbClr val="FFFFFF"/>
          </a:solidFill>
          <a:ln w="6350">
            <a:solidFill>
              <a:srgbClr val="D5E3F7"/>
            </a:solidFill>
            <a:prstDash val="solid"/>
          </a:ln>
        </p:spPr>
      </p:sp>
      <p:sp>
        <p:nvSpPr>
          <p:cNvPr id="17" name="Shape 15"/>
          <p:cNvSpPr/>
          <p:nvPr/>
        </p:nvSpPr>
        <p:spPr>
          <a:xfrm>
            <a:off x="274320" y="2267712"/>
            <a:ext cx="64008" cy="1298448"/>
          </a:xfrm>
          <a:prstGeom prst="rect">
            <a:avLst/>
          </a:prstGeom>
          <a:solidFill>
            <a:srgbClr val="2F80ED"/>
          </a:solidFill>
          <a:ln w="12700">
            <a:solidFill>
              <a:srgbClr val="2F80ED"/>
            </a:solidFill>
            <a:prstDash val="solid"/>
          </a:ln>
        </p:spPr>
      </p:sp>
      <p:sp>
        <p:nvSpPr>
          <p:cNvPr id="18" name="Text 16"/>
          <p:cNvSpPr/>
          <p:nvPr/>
        </p:nvSpPr>
        <p:spPr>
          <a:xfrm>
            <a:off x="402336" y="2359152"/>
            <a:ext cx="1600200" cy="310896"/>
          </a:xfrm>
          <a:prstGeom prst="rect">
            <a:avLst/>
          </a:prstGeom>
          <a:noFill/>
          <a:ln/>
        </p:spPr>
        <p:txBody>
          <a:bodyPr wrap="square" rtlCol="0" anchor="ctr"/>
          <a:lstStyle/>
          <a:p>
            <a:pPr indent="0" marL="0">
              <a:buNone/>
            </a:pPr>
            <a:r>
              <a:rPr lang="en-US" sz="1300" b="1" dirty="0">
                <a:solidFill>
                  <a:srgbClr val="2F80ED"/>
                </a:solidFill>
              </a:rPr>
              <a:t>⚙️ S45</a:t>
            </a:r>
            <a:endParaRPr lang="en-US" sz="1300" dirty="0"/>
          </a:p>
        </p:txBody>
      </p:sp>
      <p:sp>
        <p:nvSpPr>
          <p:cNvPr id="19" name="Shape 17"/>
          <p:cNvSpPr/>
          <p:nvPr/>
        </p:nvSpPr>
        <p:spPr>
          <a:xfrm>
            <a:off x="402336" y="2706624"/>
            <a:ext cx="777240" cy="164592"/>
          </a:xfrm>
          <a:prstGeom prst="roundRect">
            <a:avLst>
              <a:gd name="adj" fmla="val 22222"/>
            </a:avLst>
          </a:prstGeom>
          <a:solidFill>
            <a:srgbClr val="000000"/>
          </a:solidFill>
          <a:ln w="12700">
            <a:solidFill>
              <a:srgbClr val="000000"/>
            </a:solidFill>
            <a:prstDash val="solid"/>
          </a:ln>
        </p:spPr>
      </p:sp>
      <p:sp>
        <p:nvSpPr>
          <p:cNvPr id="20" name="Text 18"/>
          <p:cNvSpPr/>
          <p:nvPr/>
        </p:nvSpPr>
        <p:spPr>
          <a:xfrm>
            <a:off x="402336" y="2706624"/>
            <a:ext cx="777240" cy="164592"/>
          </a:xfrm>
          <a:prstGeom prst="rect">
            <a:avLst/>
          </a:prstGeom>
          <a:noFill/>
          <a:ln/>
        </p:spPr>
        <p:txBody>
          <a:bodyPr wrap="square" rtlCol="0" anchor="ctr"/>
          <a:lstStyle/>
          <a:p>
            <a:pPr algn="ctr" indent="0" marL="0">
              <a:buNone/>
            </a:pPr>
            <a:r>
              <a:rPr lang="en-US" sz="650" b="1" dirty="0">
                <a:solidFill>
                  <a:srgbClr val="2F80ED"/>
                </a:solidFill>
              </a:rPr>
              <a:t>Orchestration</a:t>
            </a:r>
            <a:endParaRPr lang="en-US" sz="650" dirty="0"/>
          </a:p>
        </p:txBody>
      </p:sp>
      <p:sp>
        <p:nvSpPr>
          <p:cNvPr id="21" name="Text 19"/>
          <p:cNvSpPr/>
          <p:nvPr/>
        </p:nvSpPr>
        <p:spPr>
          <a:xfrm>
            <a:off x="2194560" y="2359152"/>
            <a:ext cx="1828800" cy="1115568"/>
          </a:xfrm>
          <a:prstGeom prst="rect">
            <a:avLst/>
          </a:prstGeom>
          <a:noFill/>
          <a:ln/>
        </p:spPr>
        <p:txBody>
          <a:bodyPr wrap="square" rtlCol="0" anchor="t"/>
          <a:lstStyle/>
          <a:p>
            <a:pPr indent="0" marL="0">
              <a:buNone/>
            </a:pPr>
            <a:r>
              <a:rPr lang="en-US" sz="850" dirty="0">
                <a:solidFill>
                  <a:srgbClr val="3D5472"/>
                </a:solidFill>
              </a:rPr>
              <a:t>Building reliable multi-step agents is brittle — state is lost, tool calls fail silently, debugging is impossible in production.</a:t>
            </a:r>
            <a:endParaRPr lang="en-US" sz="850" dirty="0"/>
          </a:p>
        </p:txBody>
      </p:sp>
      <p:sp>
        <p:nvSpPr>
          <p:cNvPr id="22" name="Text 20"/>
          <p:cNvSpPr/>
          <p:nvPr/>
        </p:nvSpPr>
        <p:spPr>
          <a:xfrm>
            <a:off x="4160520" y="2359152"/>
            <a:ext cx="1828800" cy="1115568"/>
          </a:xfrm>
          <a:prstGeom prst="rect">
            <a:avLst/>
          </a:prstGeom>
          <a:noFill/>
          <a:ln/>
        </p:spPr>
        <p:txBody>
          <a:bodyPr wrap="square" rtlCol="0" anchor="t"/>
          <a:lstStyle/>
          <a:p>
            <a:pPr indent="0" marL="0">
              <a:buNone/>
            </a:pPr>
            <a:r>
              <a:rPr lang="en-US" sz="850" dirty="0">
                <a:solidFill>
                  <a:srgbClr val="0D1E35"/>
                </a:solidFill>
              </a:rPr>
              <a:t>Stateful agent runtime with checkpointing, retry logic, multi-agent routing, and full trace observability.</a:t>
            </a:r>
            <a:endParaRPr lang="en-US" sz="850" dirty="0"/>
          </a:p>
        </p:txBody>
      </p:sp>
      <p:sp>
        <p:nvSpPr>
          <p:cNvPr id="23" name="Text 21"/>
          <p:cNvSpPr/>
          <p:nvPr/>
        </p:nvSpPr>
        <p:spPr>
          <a:xfrm>
            <a:off x="6126480" y="2359152"/>
            <a:ext cx="1828800" cy="1115568"/>
          </a:xfrm>
          <a:prstGeom prst="rect">
            <a:avLst/>
          </a:prstGeom>
          <a:noFill/>
          <a:ln/>
        </p:spPr>
        <p:txBody>
          <a:bodyPr wrap="square" rtlCol="0" anchor="t"/>
          <a:lstStyle/>
          <a:p>
            <a:pPr indent="0" marL="0">
              <a:buNone/>
            </a:pPr>
            <a:r>
              <a:rPr lang="en-US" sz="850" dirty="0">
                <a:solidFill>
                  <a:srgbClr val="0D1E35"/>
                </a:solidFill>
              </a:rPr>
              <a:t>Switching cost of embedded agent state. Once workflows run on S45, migrating is a multi-quarter project.</a:t>
            </a:r>
            <a:endParaRPr lang="en-US" sz="850" dirty="0"/>
          </a:p>
        </p:txBody>
      </p:sp>
      <p:sp>
        <p:nvSpPr>
          <p:cNvPr id="24" name="Text 22"/>
          <p:cNvSpPr/>
          <p:nvPr/>
        </p:nvSpPr>
        <p:spPr>
          <a:xfrm>
            <a:off x="8092440" y="2359152"/>
            <a:ext cx="1828800" cy="1115568"/>
          </a:xfrm>
          <a:prstGeom prst="rect">
            <a:avLst/>
          </a:prstGeom>
          <a:noFill/>
          <a:ln/>
        </p:spPr>
        <p:txBody>
          <a:bodyPr wrap="square" rtlCol="0" anchor="t"/>
          <a:lstStyle/>
          <a:p>
            <a:pPr indent="0" marL="0">
              <a:buNone/>
            </a:pPr>
            <a:r>
              <a:rPr lang="en-US" sz="850" dirty="0">
                <a:solidFill>
                  <a:srgbClr val="0D1E35"/>
                </a:solidFill>
              </a:rPr>
              <a:t>Dispute agents, KYC, Capital underwriting. OEM path into Razorpay developer platform and Razorpay X.</a:t>
            </a:r>
            <a:endParaRPr lang="en-US" sz="850" dirty="0"/>
          </a:p>
        </p:txBody>
      </p:sp>
      <p:sp>
        <p:nvSpPr>
          <p:cNvPr id="25" name="Text 23"/>
          <p:cNvSpPr/>
          <p:nvPr/>
        </p:nvSpPr>
        <p:spPr>
          <a:xfrm>
            <a:off x="10058400" y="2359152"/>
            <a:ext cx="1828800" cy="1115568"/>
          </a:xfrm>
          <a:prstGeom prst="rect">
            <a:avLst/>
          </a:prstGeom>
          <a:noFill/>
          <a:ln/>
        </p:spPr>
        <p:txBody>
          <a:bodyPr wrap="square" rtlCol="0" anchor="t"/>
          <a:lstStyle/>
          <a:p>
            <a:pPr indent="0" marL="0">
              <a:buNone/>
            </a:pPr>
            <a:r>
              <a:rPr lang="en-US" sz="850" b="1" dirty="0">
                <a:solidFill>
                  <a:srgbClr val="2F80ED"/>
                </a:solidFill>
              </a:rPr>
              <a:t>Seed investment + 90-day pilot in 1 Razorpay agent product</a:t>
            </a:r>
            <a:endParaRPr lang="en-US" sz="850" dirty="0"/>
          </a:p>
        </p:txBody>
      </p:sp>
      <p:sp>
        <p:nvSpPr>
          <p:cNvPr id="26" name="Shape 24"/>
          <p:cNvSpPr/>
          <p:nvPr/>
        </p:nvSpPr>
        <p:spPr>
          <a:xfrm>
            <a:off x="274320" y="3685032"/>
            <a:ext cx="11612880" cy="1298448"/>
          </a:xfrm>
          <a:prstGeom prst="roundRect">
            <a:avLst>
              <a:gd name="adj" fmla="val 6338"/>
            </a:avLst>
          </a:prstGeom>
          <a:solidFill>
            <a:srgbClr val="FFFFFF"/>
          </a:solidFill>
          <a:ln w="6350">
            <a:solidFill>
              <a:srgbClr val="D5E3F7"/>
            </a:solidFill>
            <a:prstDash val="solid"/>
          </a:ln>
        </p:spPr>
      </p:sp>
      <p:sp>
        <p:nvSpPr>
          <p:cNvPr id="27" name="Shape 25"/>
          <p:cNvSpPr/>
          <p:nvPr/>
        </p:nvSpPr>
        <p:spPr>
          <a:xfrm>
            <a:off x="274320" y="3685032"/>
            <a:ext cx="64008" cy="1298448"/>
          </a:xfrm>
          <a:prstGeom prst="rect">
            <a:avLst/>
          </a:prstGeom>
          <a:solidFill>
            <a:srgbClr val="12C479"/>
          </a:solidFill>
          <a:ln w="12700">
            <a:solidFill>
              <a:srgbClr val="12C479"/>
            </a:solidFill>
            <a:prstDash val="solid"/>
          </a:ln>
        </p:spPr>
      </p:sp>
      <p:sp>
        <p:nvSpPr>
          <p:cNvPr id="28" name="Text 26"/>
          <p:cNvSpPr/>
          <p:nvPr/>
        </p:nvSpPr>
        <p:spPr>
          <a:xfrm>
            <a:off x="402336" y="3776472"/>
            <a:ext cx="1600200" cy="310896"/>
          </a:xfrm>
          <a:prstGeom prst="rect">
            <a:avLst/>
          </a:prstGeom>
          <a:noFill/>
          <a:ln/>
        </p:spPr>
        <p:txBody>
          <a:bodyPr wrap="square" rtlCol="0" anchor="ctr"/>
          <a:lstStyle/>
          <a:p>
            <a:pPr indent="0" marL="0">
              <a:buNone/>
            </a:pPr>
            <a:r>
              <a:rPr lang="en-US" sz="1300" b="1" dirty="0">
                <a:solidFill>
                  <a:srgbClr val="12C479"/>
                </a:solidFill>
              </a:rPr>
              <a:t>🧠 mem0</a:t>
            </a:r>
            <a:endParaRPr lang="en-US" sz="1300" dirty="0"/>
          </a:p>
        </p:txBody>
      </p:sp>
      <p:sp>
        <p:nvSpPr>
          <p:cNvPr id="29" name="Shape 27"/>
          <p:cNvSpPr/>
          <p:nvPr/>
        </p:nvSpPr>
        <p:spPr>
          <a:xfrm>
            <a:off x="402336" y="4123944"/>
            <a:ext cx="777240" cy="164592"/>
          </a:xfrm>
          <a:prstGeom prst="roundRect">
            <a:avLst>
              <a:gd name="adj" fmla="val 22222"/>
            </a:avLst>
          </a:prstGeom>
          <a:solidFill>
            <a:srgbClr val="000000"/>
          </a:solidFill>
          <a:ln w="12700">
            <a:solidFill>
              <a:srgbClr val="000000"/>
            </a:solidFill>
            <a:prstDash val="solid"/>
          </a:ln>
        </p:spPr>
      </p:sp>
      <p:sp>
        <p:nvSpPr>
          <p:cNvPr id="30" name="Text 28"/>
          <p:cNvSpPr/>
          <p:nvPr/>
        </p:nvSpPr>
        <p:spPr>
          <a:xfrm>
            <a:off x="402336" y="4123944"/>
            <a:ext cx="777240" cy="164592"/>
          </a:xfrm>
          <a:prstGeom prst="rect">
            <a:avLst/>
          </a:prstGeom>
          <a:noFill/>
          <a:ln/>
        </p:spPr>
        <p:txBody>
          <a:bodyPr wrap="square" rtlCol="0" anchor="ctr"/>
          <a:lstStyle/>
          <a:p>
            <a:pPr algn="ctr" indent="0" marL="0">
              <a:buNone/>
            </a:pPr>
            <a:r>
              <a:rPr lang="en-US" sz="650" b="1" dirty="0">
                <a:solidFill>
                  <a:srgbClr val="12C479"/>
                </a:solidFill>
              </a:rPr>
              <a:t>Memory</a:t>
            </a:r>
            <a:endParaRPr lang="en-US" sz="650" dirty="0"/>
          </a:p>
        </p:txBody>
      </p:sp>
      <p:sp>
        <p:nvSpPr>
          <p:cNvPr id="31" name="Text 29"/>
          <p:cNvSpPr/>
          <p:nvPr/>
        </p:nvSpPr>
        <p:spPr>
          <a:xfrm>
            <a:off x="2194560" y="3776472"/>
            <a:ext cx="1828800" cy="1115568"/>
          </a:xfrm>
          <a:prstGeom prst="rect">
            <a:avLst/>
          </a:prstGeom>
          <a:noFill/>
          <a:ln/>
        </p:spPr>
        <p:txBody>
          <a:bodyPr wrap="square" rtlCol="0" anchor="t"/>
          <a:lstStyle/>
          <a:p>
            <a:pPr indent="0" marL="0">
              <a:buNone/>
            </a:pPr>
            <a:r>
              <a:rPr lang="en-US" sz="850" dirty="0">
                <a:solidFill>
                  <a:srgbClr val="3D5472"/>
                </a:solidFill>
              </a:rPr>
              <a:t>Every AI session starts from zero. LLMs have no memory of merchant history, preferences, or prior interactions.</a:t>
            </a:r>
            <a:endParaRPr lang="en-US" sz="850" dirty="0"/>
          </a:p>
        </p:txBody>
      </p:sp>
      <p:sp>
        <p:nvSpPr>
          <p:cNvPr id="32" name="Text 30"/>
          <p:cNvSpPr/>
          <p:nvPr/>
        </p:nvSpPr>
        <p:spPr>
          <a:xfrm>
            <a:off x="4160520" y="3776472"/>
            <a:ext cx="1828800" cy="1115568"/>
          </a:xfrm>
          <a:prstGeom prst="rect">
            <a:avLst/>
          </a:prstGeom>
          <a:noFill/>
          <a:ln/>
        </p:spPr>
        <p:txBody>
          <a:bodyPr wrap="square" rtlCol="0" anchor="t"/>
          <a:lstStyle/>
          <a:p>
            <a:pPr indent="0" marL="0">
              <a:buNone/>
            </a:pPr>
            <a:r>
              <a:rPr lang="en-US" sz="850" dirty="0">
                <a:solidFill>
                  <a:srgbClr val="0D1E35"/>
                </a:solidFill>
              </a:rPr>
              <a:t>Managed memory OS — store, retrieve, update user memory across sessions. Works with any LLM, 3-line integration.</a:t>
            </a:r>
            <a:endParaRPr lang="en-US" sz="850" dirty="0"/>
          </a:p>
        </p:txBody>
      </p:sp>
      <p:sp>
        <p:nvSpPr>
          <p:cNvPr id="33" name="Text 31"/>
          <p:cNvSpPr/>
          <p:nvPr/>
        </p:nvSpPr>
        <p:spPr>
          <a:xfrm>
            <a:off x="6126480" y="3776472"/>
            <a:ext cx="1828800" cy="1115568"/>
          </a:xfrm>
          <a:prstGeom prst="rect">
            <a:avLst/>
          </a:prstGeom>
          <a:noFill/>
          <a:ln/>
        </p:spPr>
        <p:txBody>
          <a:bodyPr wrap="square" rtlCol="0" anchor="t"/>
          <a:lstStyle/>
          <a:p>
            <a:pPr indent="0" marL="0">
              <a:buNone/>
            </a:pPr>
            <a:r>
              <a:rPr lang="en-US" sz="850" dirty="0">
                <a:solidFill>
                  <a:srgbClr val="0D1E35"/>
                </a:solidFill>
              </a:rPr>
              <a:t>Data gravity + 30K+ OSS flywheel. Once merchant memory is in mem0, it compounds. Switching feels like starting over.</a:t>
            </a:r>
            <a:endParaRPr lang="en-US" sz="850" dirty="0"/>
          </a:p>
        </p:txBody>
      </p:sp>
      <p:sp>
        <p:nvSpPr>
          <p:cNvPr id="34" name="Text 32"/>
          <p:cNvSpPr/>
          <p:nvPr/>
        </p:nvSpPr>
        <p:spPr>
          <a:xfrm>
            <a:off x="8092440" y="3776472"/>
            <a:ext cx="1828800" cy="1115568"/>
          </a:xfrm>
          <a:prstGeom prst="rect">
            <a:avLst/>
          </a:prstGeom>
          <a:noFill/>
          <a:ln/>
        </p:spPr>
        <p:txBody>
          <a:bodyPr wrap="square" rtlCol="0" anchor="t"/>
          <a:lstStyle/>
          <a:p>
            <a:pPr indent="0" marL="0">
              <a:buNone/>
            </a:pPr>
            <a:r>
              <a:rPr lang="en-US" sz="850" dirty="0">
                <a:solidFill>
                  <a:srgbClr val="0D1E35"/>
                </a:solidFill>
              </a:rPr>
              <a:t>Turns daily Razorpay merchant touchpoints into compound intelligence. Smart Collect + Capital AI integration.</a:t>
            </a:r>
            <a:endParaRPr lang="en-US" sz="850" dirty="0"/>
          </a:p>
        </p:txBody>
      </p:sp>
      <p:sp>
        <p:nvSpPr>
          <p:cNvPr id="35" name="Text 33"/>
          <p:cNvSpPr/>
          <p:nvPr/>
        </p:nvSpPr>
        <p:spPr>
          <a:xfrm>
            <a:off x="10058400" y="3776472"/>
            <a:ext cx="1828800" cy="1115568"/>
          </a:xfrm>
          <a:prstGeom prst="rect">
            <a:avLst/>
          </a:prstGeom>
          <a:noFill/>
          <a:ln/>
        </p:spPr>
        <p:txBody>
          <a:bodyPr wrap="square" rtlCol="0" anchor="t"/>
          <a:lstStyle/>
          <a:p>
            <a:pPr indent="0" marL="0">
              <a:buNone/>
            </a:pPr>
            <a:r>
              <a:rPr lang="en-US" sz="850" b="1" dirty="0">
                <a:solidFill>
                  <a:srgbClr val="12C479"/>
                </a:solidFill>
              </a:rPr>
              <a:t>Series A participation + integration into Smart Collect and Capital AI</a:t>
            </a:r>
            <a:endParaRPr lang="en-US" sz="850" dirty="0"/>
          </a:p>
        </p:txBody>
      </p:sp>
      <p:sp>
        <p:nvSpPr>
          <p:cNvPr id="36" name="Shape 34"/>
          <p:cNvSpPr/>
          <p:nvPr/>
        </p:nvSpPr>
        <p:spPr>
          <a:xfrm>
            <a:off x="274320" y="5102352"/>
            <a:ext cx="11612880" cy="1298448"/>
          </a:xfrm>
          <a:prstGeom prst="roundRect">
            <a:avLst>
              <a:gd name="adj" fmla="val 6338"/>
            </a:avLst>
          </a:prstGeom>
          <a:solidFill>
            <a:srgbClr val="FFFFFF"/>
          </a:solidFill>
          <a:ln w="6350">
            <a:solidFill>
              <a:srgbClr val="D5E3F7"/>
            </a:solidFill>
            <a:prstDash val="solid"/>
          </a:ln>
        </p:spPr>
      </p:sp>
      <p:sp>
        <p:nvSpPr>
          <p:cNvPr id="37" name="Shape 35"/>
          <p:cNvSpPr/>
          <p:nvPr/>
        </p:nvSpPr>
        <p:spPr>
          <a:xfrm>
            <a:off x="274320" y="5102352"/>
            <a:ext cx="64008" cy="1298448"/>
          </a:xfrm>
          <a:prstGeom prst="rect">
            <a:avLst/>
          </a:prstGeom>
          <a:solidFill>
            <a:srgbClr val="1BC5FF"/>
          </a:solidFill>
          <a:ln w="12700">
            <a:solidFill>
              <a:srgbClr val="1BC5FF"/>
            </a:solidFill>
            <a:prstDash val="solid"/>
          </a:ln>
        </p:spPr>
      </p:sp>
      <p:sp>
        <p:nvSpPr>
          <p:cNvPr id="38" name="Text 36"/>
          <p:cNvSpPr/>
          <p:nvPr/>
        </p:nvSpPr>
        <p:spPr>
          <a:xfrm>
            <a:off x="402336" y="5193792"/>
            <a:ext cx="1600200" cy="310896"/>
          </a:xfrm>
          <a:prstGeom prst="rect">
            <a:avLst/>
          </a:prstGeom>
          <a:noFill/>
          <a:ln/>
        </p:spPr>
        <p:txBody>
          <a:bodyPr wrap="square" rtlCol="0" anchor="ctr"/>
          <a:lstStyle/>
          <a:p>
            <a:pPr indent="0" marL="0">
              <a:buNone/>
            </a:pPr>
            <a:r>
              <a:rPr lang="en-US" sz="1300" b="1" dirty="0">
                <a:solidFill>
                  <a:srgbClr val="1BC5FF"/>
                </a:solidFill>
              </a:rPr>
              <a:t>🔍 altorlab</a:t>
            </a:r>
            <a:endParaRPr lang="en-US" sz="1300" dirty="0"/>
          </a:p>
        </p:txBody>
      </p:sp>
      <p:sp>
        <p:nvSpPr>
          <p:cNvPr id="39" name="Shape 37"/>
          <p:cNvSpPr/>
          <p:nvPr/>
        </p:nvSpPr>
        <p:spPr>
          <a:xfrm>
            <a:off x="402336" y="5541264"/>
            <a:ext cx="777240" cy="164592"/>
          </a:xfrm>
          <a:prstGeom prst="roundRect">
            <a:avLst>
              <a:gd name="adj" fmla="val 22222"/>
            </a:avLst>
          </a:prstGeom>
          <a:solidFill>
            <a:srgbClr val="000000"/>
          </a:solidFill>
          <a:ln w="12700">
            <a:solidFill>
              <a:srgbClr val="000000"/>
            </a:solidFill>
            <a:prstDash val="solid"/>
          </a:ln>
        </p:spPr>
      </p:sp>
      <p:sp>
        <p:nvSpPr>
          <p:cNvPr id="40" name="Text 38"/>
          <p:cNvSpPr/>
          <p:nvPr/>
        </p:nvSpPr>
        <p:spPr>
          <a:xfrm>
            <a:off x="402336" y="5541264"/>
            <a:ext cx="777240" cy="164592"/>
          </a:xfrm>
          <a:prstGeom prst="rect">
            <a:avLst/>
          </a:prstGeom>
          <a:noFill/>
          <a:ln/>
        </p:spPr>
        <p:txBody>
          <a:bodyPr wrap="square" rtlCol="0" anchor="ctr"/>
          <a:lstStyle/>
          <a:p>
            <a:pPr algn="ctr" indent="0" marL="0">
              <a:buNone/>
            </a:pPr>
            <a:r>
              <a:rPr lang="en-US" sz="650" b="1" dirty="0">
                <a:solidFill>
                  <a:srgbClr val="1BC5FF"/>
                </a:solidFill>
              </a:rPr>
              <a:t>Retrieval</a:t>
            </a:r>
            <a:endParaRPr lang="en-US" sz="650" dirty="0"/>
          </a:p>
        </p:txBody>
      </p:sp>
      <p:sp>
        <p:nvSpPr>
          <p:cNvPr id="41" name="Text 39"/>
          <p:cNvSpPr/>
          <p:nvPr/>
        </p:nvSpPr>
        <p:spPr>
          <a:xfrm>
            <a:off x="2194560" y="5193792"/>
            <a:ext cx="1828800" cy="1115568"/>
          </a:xfrm>
          <a:prstGeom prst="rect">
            <a:avLst/>
          </a:prstGeom>
          <a:noFill/>
          <a:ln/>
        </p:spPr>
        <p:txBody>
          <a:bodyPr wrap="square" rtlCol="0" anchor="t"/>
          <a:lstStyle/>
          <a:p>
            <a:pPr indent="0" marL="0">
              <a:buNone/>
            </a:pPr>
            <a:r>
              <a:rPr lang="en-US" sz="850" dirty="0">
                <a:solidFill>
                  <a:srgbClr val="3D5472"/>
                </a:solidFill>
              </a:rPr>
              <a:t>Per-query billing scales linearly. At 100K MAU: $7,500/month for search alone — before any AI features are added.</a:t>
            </a:r>
            <a:endParaRPr lang="en-US" sz="850" dirty="0"/>
          </a:p>
        </p:txBody>
      </p:sp>
      <p:sp>
        <p:nvSpPr>
          <p:cNvPr id="42" name="Text 40"/>
          <p:cNvSpPr/>
          <p:nvPr/>
        </p:nvSpPr>
        <p:spPr>
          <a:xfrm>
            <a:off x="4160520" y="5193792"/>
            <a:ext cx="1828800" cy="1115568"/>
          </a:xfrm>
          <a:prstGeom prst="rect">
            <a:avLst/>
          </a:prstGeom>
          <a:noFill/>
          <a:ln/>
        </p:spPr>
        <p:txBody>
          <a:bodyPr wrap="square" rtlCol="0" anchor="t"/>
          <a:lstStyle/>
          <a:p>
            <a:pPr indent="0" marL="0">
              <a:buNone/>
            </a:pPr>
            <a:r>
              <a:rPr lang="en-US" sz="850" dirty="0">
                <a:solidFill>
                  <a:srgbClr val="0D1E35"/>
                </a:solidFill>
              </a:rPr>
              <a:t>54KB WASM HNSW engine in the browser. Index from CDN once. All searches free, 83× faster than cloud alternatives.</a:t>
            </a:r>
            <a:endParaRPr lang="en-US" sz="850" dirty="0"/>
          </a:p>
        </p:txBody>
      </p:sp>
      <p:sp>
        <p:nvSpPr>
          <p:cNvPr id="43" name="Text 41"/>
          <p:cNvSpPr/>
          <p:nvPr/>
        </p:nvSpPr>
        <p:spPr>
          <a:xfrm>
            <a:off x="6126480" y="5193792"/>
            <a:ext cx="1828800" cy="1115568"/>
          </a:xfrm>
          <a:prstGeom prst="rect">
            <a:avLst/>
          </a:prstGeom>
          <a:noFill/>
          <a:ln/>
        </p:spPr>
        <p:txBody>
          <a:bodyPr wrap="square" rtlCol="0" anchor="t"/>
          <a:lstStyle/>
          <a:p>
            <a:pPr indent="0" marL="0">
              <a:buNone/>
            </a:pPr>
            <a:r>
              <a:rPr lang="en-US" sz="850" dirty="0">
                <a:solidFill>
                  <a:srgbClr val="0D1E35"/>
                </a:solidFill>
              </a:rPr>
              <a:t>No server = no billing. Query never leaves the device. 83× faster. Three compounding moats in one architecture.</a:t>
            </a:r>
            <a:endParaRPr lang="en-US" sz="850" dirty="0"/>
          </a:p>
        </p:txBody>
      </p:sp>
      <p:sp>
        <p:nvSpPr>
          <p:cNvPr id="44" name="Text 42"/>
          <p:cNvSpPr/>
          <p:nvPr/>
        </p:nvSpPr>
        <p:spPr>
          <a:xfrm>
            <a:off x="8092440" y="5193792"/>
            <a:ext cx="1828800" cy="1115568"/>
          </a:xfrm>
          <a:prstGeom prst="rect">
            <a:avLst/>
          </a:prstGeom>
          <a:noFill/>
          <a:ln/>
        </p:spPr>
        <p:txBody>
          <a:bodyPr wrap="square" rtlCol="0" anchor="t"/>
          <a:lstStyle/>
          <a:p>
            <a:pPr indent="0" marL="0">
              <a:buNone/>
            </a:pPr>
            <a:r>
              <a:rPr lang="en-US" sz="850" dirty="0">
                <a:solidFill>
                  <a:srgbClr val="0D1E35"/>
                </a:solidFill>
              </a:rPr>
              <a:t>Dashboard search → $0 cost. ~$1.2–2M/yr savings. Query data stays in Razorpay infra — PCI-DSS + RBI benefit.</a:t>
            </a:r>
            <a:endParaRPr lang="en-US" sz="850" dirty="0"/>
          </a:p>
        </p:txBody>
      </p:sp>
      <p:sp>
        <p:nvSpPr>
          <p:cNvPr id="45" name="Text 43"/>
          <p:cNvSpPr/>
          <p:nvPr/>
        </p:nvSpPr>
        <p:spPr>
          <a:xfrm>
            <a:off x="10058400" y="5193792"/>
            <a:ext cx="1828800" cy="1115568"/>
          </a:xfrm>
          <a:prstGeom prst="rect">
            <a:avLst/>
          </a:prstGeom>
          <a:noFill/>
          <a:ln/>
        </p:spPr>
        <p:txBody>
          <a:bodyPr wrap="square" rtlCol="0" anchor="t"/>
          <a:lstStyle/>
          <a:p>
            <a:pPr indent="0" marL="0">
              <a:buNone/>
            </a:pPr>
            <a:r>
              <a:rPr lang="en-US" sz="850" b="1" dirty="0">
                <a:solidFill>
                  <a:srgbClr val="1BC5FF"/>
                </a:solidFill>
              </a:rPr>
              <a:t>Pre-seed investment + 3 Razorpay search surfaces deployed Q2 2026</a:t>
            </a:r>
            <a:endParaRPr lang="en-US" sz="850" dirty="0"/>
          </a:p>
        </p:txBody>
      </p:sp>
      <p:sp>
        <p:nvSpPr>
          <p:cNvPr id="46" name="Shape 44"/>
          <p:cNvSpPr/>
          <p:nvPr/>
        </p:nvSpPr>
        <p:spPr>
          <a:xfrm>
            <a:off x="274320" y="6565392"/>
            <a:ext cx="11612880" cy="182880"/>
          </a:xfrm>
          <a:prstGeom prst="roundRect">
            <a:avLst>
              <a:gd name="adj" fmla="val 25000"/>
            </a:avLst>
          </a:prstGeom>
          <a:solidFill>
            <a:srgbClr val="000000"/>
          </a:solidFill>
          <a:ln w="12700">
            <a:solidFill>
              <a:srgbClr val="000000"/>
            </a:solidFill>
            <a:prstDash val="solid"/>
          </a:ln>
        </p:spPr>
      </p:sp>
      <p:sp>
        <p:nvSpPr>
          <p:cNvPr id="47" name="Text 45"/>
          <p:cNvSpPr/>
          <p:nvPr/>
        </p:nvSpPr>
        <p:spPr>
          <a:xfrm>
            <a:off x="457200" y="6583680"/>
            <a:ext cx="2560320" cy="155448"/>
          </a:xfrm>
          <a:prstGeom prst="rect">
            <a:avLst/>
          </a:prstGeom>
          <a:noFill/>
          <a:ln/>
        </p:spPr>
        <p:txBody>
          <a:bodyPr wrap="square" rtlCol="0" anchor="ctr"/>
          <a:lstStyle/>
          <a:p>
            <a:pPr indent="0" marL="0">
              <a:buNone/>
            </a:pPr>
            <a:r>
              <a:rPr lang="en-US" sz="800" dirty="0">
                <a:solidFill>
                  <a:srgbClr val="3D5472"/>
                </a:solidFill>
              </a:rPr>
              <a:t>Combined impact at Razorpay scale:</a:t>
            </a:r>
            <a:endParaRPr lang="en-US" sz="800" dirty="0"/>
          </a:p>
        </p:txBody>
      </p:sp>
      <p:sp>
        <p:nvSpPr>
          <p:cNvPr id="48" name="Text 46"/>
          <p:cNvSpPr/>
          <p:nvPr/>
        </p:nvSpPr>
        <p:spPr>
          <a:xfrm>
            <a:off x="3108960" y="6583680"/>
            <a:ext cx="1828800" cy="155448"/>
          </a:xfrm>
          <a:prstGeom prst="rect">
            <a:avLst/>
          </a:prstGeom>
          <a:noFill/>
          <a:ln/>
        </p:spPr>
        <p:txBody>
          <a:bodyPr wrap="square" rtlCol="0" anchor="ctr"/>
          <a:lstStyle/>
          <a:p>
            <a:pPr indent="0" marL="0">
              <a:buNone/>
            </a:pPr>
            <a:r>
              <a:rPr lang="en-US" sz="800" b="1" dirty="0">
                <a:solidFill>
                  <a:srgbClr val="12C479"/>
                </a:solidFill>
              </a:rPr>
              <a:t>$2M+ annual savings</a:t>
            </a:r>
            <a:endParaRPr lang="en-US" sz="800" dirty="0"/>
          </a:p>
        </p:txBody>
      </p:sp>
      <p:sp>
        <p:nvSpPr>
          <p:cNvPr id="49" name="Text 47"/>
          <p:cNvSpPr/>
          <p:nvPr/>
        </p:nvSpPr>
        <p:spPr>
          <a:xfrm>
            <a:off x="4919472" y="6583680"/>
            <a:ext cx="182880" cy="155448"/>
          </a:xfrm>
          <a:prstGeom prst="rect">
            <a:avLst/>
          </a:prstGeom>
          <a:noFill/>
          <a:ln/>
        </p:spPr>
        <p:txBody>
          <a:bodyPr wrap="square" rtlCol="0" anchor="ctr"/>
          <a:lstStyle/>
          <a:p>
            <a:pPr indent="0" marL="0">
              <a:buNone/>
            </a:pPr>
            <a:r>
              <a:rPr lang="en-US" sz="800" dirty="0">
                <a:solidFill>
                  <a:srgbClr val="7B96B8"/>
                </a:solidFill>
              </a:rPr>
              <a:t>·</a:t>
            </a:r>
            <a:endParaRPr lang="en-US" sz="800" dirty="0"/>
          </a:p>
        </p:txBody>
      </p:sp>
      <p:sp>
        <p:nvSpPr>
          <p:cNvPr id="50" name="Text 48"/>
          <p:cNvSpPr/>
          <p:nvPr/>
        </p:nvSpPr>
        <p:spPr>
          <a:xfrm>
            <a:off x="5074920" y="6583680"/>
            <a:ext cx="1737360" cy="155448"/>
          </a:xfrm>
          <a:prstGeom prst="rect">
            <a:avLst/>
          </a:prstGeom>
          <a:noFill/>
          <a:ln/>
        </p:spPr>
        <p:txBody>
          <a:bodyPr wrap="square" rtlCol="0" anchor="ctr"/>
          <a:lstStyle/>
          <a:p>
            <a:pPr indent="0" marL="0">
              <a:buNone/>
            </a:pPr>
            <a:r>
              <a:rPr lang="en-US" sz="800" b="1" dirty="0">
                <a:solidFill>
                  <a:srgbClr val="2F80ED"/>
                </a:solidFill>
              </a:rPr>
              <a:t>83× faster search</a:t>
            </a:r>
            <a:endParaRPr lang="en-US" sz="800" dirty="0"/>
          </a:p>
        </p:txBody>
      </p:sp>
      <p:sp>
        <p:nvSpPr>
          <p:cNvPr id="51" name="Text 49"/>
          <p:cNvSpPr/>
          <p:nvPr/>
        </p:nvSpPr>
        <p:spPr>
          <a:xfrm>
            <a:off x="6784848" y="6583680"/>
            <a:ext cx="182880" cy="155448"/>
          </a:xfrm>
          <a:prstGeom prst="rect">
            <a:avLst/>
          </a:prstGeom>
          <a:noFill/>
          <a:ln/>
        </p:spPr>
        <p:txBody>
          <a:bodyPr wrap="square" rtlCol="0" anchor="ctr"/>
          <a:lstStyle/>
          <a:p>
            <a:pPr indent="0" marL="0">
              <a:buNone/>
            </a:pPr>
            <a:r>
              <a:rPr lang="en-US" sz="800" dirty="0">
                <a:solidFill>
                  <a:srgbClr val="7B96B8"/>
                </a:solidFill>
              </a:rPr>
              <a:t>·</a:t>
            </a:r>
            <a:endParaRPr lang="en-US" sz="800" dirty="0"/>
          </a:p>
        </p:txBody>
      </p:sp>
      <p:sp>
        <p:nvSpPr>
          <p:cNvPr id="52" name="Text 50"/>
          <p:cNvSpPr/>
          <p:nvPr/>
        </p:nvSpPr>
        <p:spPr>
          <a:xfrm>
            <a:off x="6949440" y="6583680"/>
            <a:ext cx="1920240" cy="155448"/>
          </a:xfrm>
          <a:prstGeom prst="rect">
            <a:avLst/>
          </a:prstGeom>
          <a:noFill/>
          <a:ln/>
        </p:spPr>
        <p:txBody>
          <a:bodyPr wrap="square" rtlCol="0" anchor="ctr"/>
          <a:lstStyle/>
          <a:p>
            <a:pPr indent="0" marL="0">
              <a:buNone/>
            </a:pPr>
            <a:r>
              <a:rPr lang="en-US" sz="800" b="1" dirty="0">
                <a:solidFill>
                  <a:srgbClr val="1BC5FF"/>
                </a:solidFill>
              </a:rPr>
              <a:t>3 AI infra layers owned</a:t>
            </a:r>
            <a:endParaRPr lang="en-US" sz="800" dirty="0"/>
          </a:p>
        </p:txBody>
      </p:sp>
      <p:sp>
        <p:nvSpPr>
          <p:cNvPr id="53" name="Text 51"/>
          <p:cNvSpPr/>
          <p:nvPr/>
        </p:nvSpPr>
        <p:spPr>
          <a:xfrm>
            <a:off x="8823960" y="6583680"/>
            <a:ext cx="182880" cy="155448"/>
          </a:xfrm>
          <a:prstGeom prst="rect">
            <a:avLst/>
          </a:prstGeom>
          <a:noFill/>
          <a:ln/>
        </p:spPr>
        <p:txBody>
          <a:bodyPr wrap="square" rtlCol="0" anchor="ctr"/>
          <a:lstStyle/>
          <a:p>
            <a:pPr indent="0" marL="0">
              <a:buNone/>
            </a:pPr>
            <a:r>
              <a:rPr lang="en-US" sz="800" dirty="0">
                <a:solidFill>
                  <a:srgbClr val="7B96B8"/>
                </a:solidFill>
              </a:rPr>
              <a:t>·</a:t>
            </a:r>
            <a:endParaRPr lang="en-US" sz="800" dirty="0"/>
          </a:p>
        </p:txBody>
      </p:sp>
      <p:sp>
        <p:nvSpPr>
          <p:cNvPr id="54" name="Text 52"/>
          <p:cNvSpPr/>
          <p:nvPr/>
        </p:nvSpPr>
        <p:spPr>
          <a:xfrm>
            <a:off x="8961120" y="6583680"/>
            <a:ext cx="2560320" cy="155448"/>
          </a:xfrm>
          <a:prstGeom prst="rect">
            <a:avLst/>
          </a:prstGeom>
          <a:noFill/>
          <a:ln/>
        </p:spPr>
        <p:txBody>
          <a:bodyPr wrap="square" rtlCol="0" anchor="ctr"/>
          <a:lstStyle/>
          <a:p>
            <a:pPr indent="0" marL="0">
              <a:buNone/>
            </a:pPr>
            <a:r>
              <a:rPr lang="en-US" sz="800" b="1" dirty="0">
                <a:solidFill>
                  <a:srgbClr val="2F80ED"/>
                </a:solidFill>
              </a:rPr>
              <a:t>Razorpay's AWS moment for AI infrastructure</a:t>
            </a:r>
            <a:endParaRPr lang="en-US" sz="800" dirty="0"/>
          </a:p>
        </p:txBody>
      </p:sp>
      <p:sp>
        <p:nvSpPr>
          <p:cNvPr id="55" name="Shape 53"/>
          <p:cNvSpPr/>
          <p:nvPr/>
        </p:nvSpPr>
        <p:spPr>
          <a:xfrm>
            <a:off x="0" y="6748272"/>
            <a:ext cx="12188952" cy="109728"/>
          </a:xfrm>
          <a:prstGeom prst="rect">
            <a:avLst/>
          </a:prstGeom>
          <a:solidFill>
            <a:srgbClr val="2F80ED"/>
          </a:solidFill>
          <a:ln w="12700">
            <a:solidFill>
              <a:srgbClr val="2F80ED"/>
            </a:solidFill>
            <a:prstDash val="solid"/>
          </a:ln>
        </p:spPr>
      </p:sp>
      <p:sp>
        <p:nvSpPr>
          <p:cNvPr id="56" name="Text 54"/>
          <p:cNvSpPr/>
          <p:nvPr/>
        </p:nvSpPr>
        <p:spPr>
          <a:xfrm>
            <a:off x="11274552" y="6748272"/>
            <a:ext cx="731520" cy="109728"/>
          </a:xfrm>
          <a:prstGeom prst="rect">
            <a:avLst/>
          </a:prstGeom>
          <a:noFill/>
          <a:ln/>
        </p:spPr>
        <p:txBody>
          <a:bodyPr wrap="square" rtlCol="0" anchor="ctr"/>
          <a:lstStyle/>
          <a:p>
            <a:pPr algn="r" indent="0" marL="0">
              <a:buNone/>
            </a:pPr>
            <a:r>
              <a:rPr lang="en-US" sz="700" dirty="0">
                <a:solidFill>
                  <a:srgbClr val="FFFFFF"/>
                </a:solidFill>
              </a:rPr>
              <a:t>11 / 11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Razorpay AI Investment Thesis 2025</dc:title>
  <dc:subject>AI Strategy &amp; Portfolio</dc:subject>
  <dc:creator>Razorpay</dc:creator>
  <cp:lastModifiedBy>Razorpay</cp:lastModifiedBy>
  <cp:revision>1</cp:revision>
  <dcterms:created xsi:type="dcterms:W3CDTF">2026-03-20T14:39:05Z</dcterms:created>
  <dcterms:modified xsi:type="dcterms:W3CDTF">2026-03-20T14:39:05Z</dcterms:modified>
</cp:coreProperties>
</file>