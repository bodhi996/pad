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PAT</c:v>
                </c:pt>
              </c:strCache>
            </c:strRef>
          </c:tx>
          <c:spPr>
            <a:solidFill>
              <a:srgbClr val="94A3B8"/>
            </a:solidFill>
            <a:effectLst/>
          </c:spPr>
          <c:invertIfNegative val="0"/>
          <c:dLbls>
            <c:numFmt formatCode="0.0;-0.0" sourceLinked="0"/>
            <c:txPr>
              <a:bodyPr/>
              <a:lstStyle/>
              <a:p>
                <a:pPr>
                  <a:defRPr b="1" i="0" strike="noStrike" sz="1000" u="none">
                    <a:solidFill>
                      <a:srgbClr val="44566A"/>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0F9D6B"/>
              </a:solidFill>
              <a:effectLst/>
            </c:spPr>
          </c:dPt>
          <c:dPt>
            <c:idx val="4"/>
            <c:invertIfNegative val="0"/>
            <c:bubble3D val="0"/>
            <c:spPr>
              <a:solidFill>
                <a:srgbClr val="0F9D6B"/>
              </a:solidFill>
              <a:effectLst/>
            </c:spPr>
          </c:dPt>
          <c:cat>
            <c:multiLvlStrRef>
              <c:f>Sheet1!$A$2:$A$6</c:f>
              <c:multiLvlStrCache>
                <c:ptCount val="5"/>
                <c:lvl>
                  <c:pt idx="0">
                    <c:v>Q4 FY25</c:v>
                  </c:pt>
                  <c:pt idx="1">
                    <c:v>Q1 FY26</c:v>
                  </c:pt>
                  <c:pt idx="2">
                    <c:v>Q2 FY26</c:v>
                  </c:pt>
                  <c:pt idx="3">
                    <c:v>Q3 FY26</c:v>
                  </c:pt>
                  <c:pt idx="4">
                    <c:v>Q4 FY26</c:v>
                  </c:pt>
                </c:lvl>
              </c:multiLvlStrCache>
            </c:multiLvlStrRef>
          </c:cat>
          <c:val>
            <c:numRef>
              <c:f>Sheet1!$B$2:$B$6</c:f>
              <c:numCache>
                <c:formatCode>General</c:formatCode>
                <c:ptCount val="5"/>
                <c:pt idx="0">
                  <c:v>-56</c:v>
                </c:pt>
                <c:pt idx="1">
                  <c:v>-42</c:v>
                </c:pt>
                <c:pt idx="2">
                  <c:v>-16.7</c:v>
                </c:pt>
                <c:pt idx="3">
                  <c:v>4</c:v>
                </c:pt>
                <c:pt idx="4">
                  <c:v>4.4</c:v>
                </c:pt>
              </c:numCache>
            </c:numRef>
          </c:val>
        </c:ser>
        <c:dLbls>
          <c:numFmt formatCode="0.0;-0.0" sourceLinked="0"/>
          <c:txPr>
            <a:bodyPr/>
            <a:lstStyle/>
            <a:p>
              <a:pPr>
                <a:defRPr b="1" i="0" strike="noStrike" sz="1000" u="none">
                  <a:solidFill>
                    <a:srgbClr val="44566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7184"/>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Devices</c:v>
                </c:pt>
              </c:strCache>
            </c:strRef>
          </c:tx>
          <c:spPr>
            <a:solidFill>
              <a:srgbClr val="12355B"/>
            </a:solidFill>
            <a:effectLst/>
          </c:spPr>
          <c:invertIfNegative val="0"/>
          <c:dLbls>
            <c:numFmt formatCode="0.0" sourceLinked="0"/>
            <c:txPr>
              <a:bodyPr/>
              <a:lstStyle/>
              <a:p>
                <a:pPr>
                  <a:defRPr b="1" i="0" strike="noStrike" sz="1100" u="none">
                    <a:solidFill>
                      <a:srgbClr val="44566A"/>
                    </a:solidFill>
                    <a:latin typeface="Calibri"/>
                  </a:defRPr>
                </a:pPr>
              </a:p>
            </c:txPr>
            <c:showLegendKey val="0"/>
            <c:showVal val="1"/>
            <c:showCatName val="0"/>
            <c:showSerName val="0"/>
            <c:showPercent val="0"/>
            <c:showBubbleSize val="0"/>
            <c:showLeaderLines val="0"/>
          </c:dLbls>
          <c:dPt>
            <c:idx val="0"/>
            <c:invertIfNegative val="0"/>
            <c:bubble3D val="0"/>
            <c:spPr>
              <a:solidFill>
                <a:srgbClr val="12355B"/>
              </a:solidFill>
              <a:effectLst/>
            </c:spPr>
          </c:dPt>
          <c:dPt>
            <c:idx val="1"/>
            <c:invertIfNegative val="0"/>
            <c:bubble3D val="0"/>
            <c:spPr>
              <a:solidFill>
                <a:srgbClr val="12355B"/>
              </a:solidFill>
              <a:effectLst/>
            </c:spPr>
          </c:dPt>
          <c:dPt>
            <c:idx val="2"/>
            <c:invertIfNegative val="0"/>
            <c:bubble3D val="0"/>
            <c:spPr>
              <a:solidFill>
                <a:srgbClr val="12355B"/>
              </a:solidFill>
              <a:effectLst/>
            </c:spPr>
          </c:dPt>
          <c:cat>
            <c:multiLvlStrRef>
              <c:f>Sheet1!$A$2:$A$4</c:f>
              <c:multiLvlStrCache>
                <c:ptCount val="3"/>
                <c:lvl>
                  <c:pt idx="0">
                    <c:v>Paytm</c:v>
                  </c:pt>
                  <c:pt idx="1">
                    <c:v>PhonePe</c:v>
                  </c:pt>
                  <c:pt idx="2">
                    <c:v>BharatPe</c:v>
                  </c:pt>
                </c:lvl>
              </c:multiLvlStrCache>
            </c:multiLvlStrRef>
          </c:cat>
          <c:val>
            <c:numRef>
              <c:f>Sheet1!$B$2:$B$4</c:f>
              <c:numCache>
                <c:formatCode>General</c:formatCode>
                <c:ptCount val="3"/>
                <c:pt idx="0">
                  <c:v>8.5</c:v>
                </c:pt>
                <c:pt idx="1">
                  <c:v>4</c:v>
                </c:pt>
                <c:pt idx="2">
                  <c:v>1</c:v>
                </c:pt>
              </c:numCache>
            </c:numRef>
          </c:val>
        </c:ser>
        <c:dLbls>
          <c:numFmt formatCode="0.0" sourceLinked="0"/>
          <c:txPr>
            <a:bodyPr/>
            <a:lstStyle/>
            <a:p>
              <a:pPr>
                <a:defRPr b="1" i="0" strike="noStrike" sz="1100" u="none">
                  <a:solidFill>
                    <a:srgbClr val="44566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1" i="0" u="none" strike="noStrike">
                <a:solidFill>
                  <a:srgbClr val="12355B"/>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Rounds</c:v>
                </c:pt>
              </c:strCache>
            </c:strRef>
          </c:tx>
          <c:spPr>
            <a:solidFill>
              <a:srgbClr val="94A3B8"/>
            </a:solidFill>
            <a:effectLst/>
          </c:spPr>
          <c:invertIfNegative val="0"/>
          <c:dLbls>
            <c:numFmt formatCode="#,##0" sourceLinked="0"/>
            <c:txPr>
              <a:bodyPr/>
              <a:lstStyle/>
              <a:p>
                <a:pPr>
                  <a:defRPr b="1" i="0" strike="noStrike" sz="1300" u="none">
                    <a:solidFill>
                      <a:srgbClr val="44566A"/>
                    </a:solidFill>
                    <a:latin typeface="Calibri"/>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12B5CB"/>
              </a:solidFill>
              <a:effectLst/>
            </c:spPr>
          </c:dPt>
          <c:cat>
            <c:multiLvlStrRef>
              <c:f>Sheet1!$A$2:$A$3</c:f>
              <c:multiLvlStrCache>
                <c:ptCount val="2"/>
                <c:lvl>
                  <c:pt idx="0">
                    <c:v>Q1 2025</c:v>
                  </c:pt>
                  <c:pt idx="1">
                    <c:v>Q1 2026</c:v>
                  </c:pt>
                </c:lvl>
              </c:multiLvlStrCache>
            </c:multiLvlStrRef>
          </c:cat>
          <c:val>
            <c:numRef>
              <c:f>Sheet1!$B$2:$B$3</c:f>
              <c:numCache>
                <c:formatCode>General</c:formatCode>
                <c:ptCount val="2"/>
                <c:pt idx="0">
                  <c:v>99</c:v>
                </c:pt>
                <c:pt idx="1">
                  <c:v>45</c:v>
                </c:pt>
              </c:numCache>
            </c:numRef>
          </c:val>
        </c:ser>
        <c:dLbls>
          <c:numFmt formatCode="#,##0" sourceLinked="0"/>
          <c:txPr>
            <a:bodyPr/>
            <a:lstStyle/>
            <a:p>
              <a:pPr>
                <a:defRPr b="1" i="0" strike="noStrike" sz="1300" u="none">
                  <a:solidFill>
                    <a:srgbClr val="44566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2355B"/>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12355B"/>
              </a:solidFill>
              <a:effectLst/>
            </c:spPr>
          </c:dPt>
          <c:dPt>
            <c:idx val="1"/>
            <c:bubble3D val="0"/>
            <c:spPr>
              <a:solidFill>
                <a:srgbClr val="12B5CB"/>
              </a:solidFill>
              <a:effectLst/>
            </c:spPr>
          </c:dPt>
          <c:dPt>
            <c:idx val="2"/>
            <c:bubble3D val="0"/>
            <c:spPr>
              <a:solidFill>
                <a:srgbClr val="94A3B8"/>
              </a:solidFill>
              <a:effectLst/>
            </c:spPr>
          </c:dPt>
          <c:dLbls>
            <c:dLbl>
              <c:idx val="0"/>
              <c:numFmt formatCode="0%" sourceLinked="0"/>
              <c:spPr/>
              <c:txPr>
                <a:bodyPr/>
                <a:lstStyle/>
                <a:p>
                  <a:pPr>
                    <a:defRPr sz="11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Calibri"/>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Stock</c:v>
                </c:pt>
                <c:pt idx="1">
                  <c:v>Earnout</c:v>
                </c:pt>
                <c:pt idx="2">
                  <c:v>Cash</c:v>
                </c:pt>
              </c:strCache>
            </c:strRef>
          </c:cat>
          <c:val>
            <c:numRef>
              <c:f>Sheet1!$B$2:$B$4</c:f>
              <c:numCache>
                <c:ptCount val="3"/>
                <c:pt idx="0">
                  <c:v>70</c:v>
                </c:pt>
                <c:pt idx="1">
                  <c:v>20</c:v>
                </c:pt>
                <c:pt idx="2">
                  <c:v>10</c:v>
                </c:pt>
              </c:numCache>
            </c:numRef>
          </c:val>
        </c:ser>
        <c:firstSliceAng val="0"/>
        <c:holeSize val="62"/>
      </c:doughnutChart>
      <c:spPr>
        <a:noFill/>
        <a:ln>
          <a:noFill/>
        </a:ln>
        <a:effectLst/>
      </c:spPr>
    </c:plotArea>
    <c:legend>
      <c:legendPos val="b"/>
      <c:overlay val="0"/>
      <c:txPr>
        <a:bodyPr/>
        <a:lstStyle/>
        <a:p>
          <a:pPr>
            <a:defRPr sz="1100">
              <a:solidFill>
                <a:srgbClr val="44566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my own analysis built from public sources, designed to show how I would think about corporate development at MobiKwik. The recommendation: a disciplined, capability-led bolt-on program. Replace the name placeholder before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first. The single message: stop trying to out-build incumbents organically; use a rare buyer's window to acquire the capability the moats need, with strict guardrails so the hard-won profitability is not put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platform. MobiKwik just proved its model can make money. The whole strategy rests on protecting that, then using the moment to build the moats faster than organic growth allows. Quarterly PAT figures from reported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case for inorganic. The point is not that MobiKwik is failing; it is that the moats it has chosen are exactly the ones where incumbents have a structural, compounding lead. Buying compresses time the company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is the argument. The same deals would cost far more in a hot market. A buyer with cash, paper and profitability in a cautious market is in an unusually strong negotiating position. Cite the precedent deals as proof the playbook works in India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judgement shows. Anyone can list targets; the discipline is the differentiator. Emphasise the profitability guardrail and the stock-led funding, because those are what keep an ambitious program from undoing the FY26 turnaround.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Prioritisation logic. Bubble size also signals relative strategic weight. The two cyan themes are where value and feasibility both score high, so they lead. Insurance and AI are real but either smaller or later. Walk the interviewer left-to-right and top-to-bottom.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1a. This is the highest-leverage theme because it feeds both the merchant moat and the lending moat at once. The device is the wedge; the software and the data are the durable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1b. The NBFC licence is the unlock of the next two years. The risk is that lending built badly destroys value fast, so the emphasis is on bought, proven underwriting and collections, not just a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Priority 2. Real value but a fast follow, not a lead, because the merchant and lending themes compound harder and the broking market is fiercely contested. Sequence it once the first integrations have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themes to names. Key line: the famous names are buyers now, so the smart targets are infrastructure layers. Blostem is almost a formality given the existing stake; Riskcovry is the cleanest way into the insurance white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1. The standout, because MobiKwik is already on the cap table and the platform. Frame it as the lowest-risk way to own a distribution rail it already depends on, and to start earning B2B SaaS economics from rivals.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 The cleanest entry into a true white space. Anchor it on the PhonePe and Zopper precedent and on the IRDAI approval MobiKwik already holds, so the buy-versus-build answer is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protects the org. The single most common reason fintech bolt-ons fail is integration overload. Phasing keeps each deal absorbable and ties spend to demonstrated success on the previous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I can hold the pen on economics without overclaiming. The funding mix and multiples are clearly flagged illustrative. The real content is the structuring logic: paper-heavy, synergy-aware, and bounded by two hard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objections. Every risk here is one a board member would raise. Having a crisp mitigation for each signals that this is a managed program, not a wish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action. End with a clear ask and a concrete first 90 days so the Founders can say yes to something specific. This is the slide that should make them want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slide. It protects me: everything here is public and clearly framed as illustrative analysis, which is exactly what a strong work sample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7"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12355B"/>
          </a:solidFill>
          <a:ln/>
        </p:spPr>
      </p:sp>
      <p:sp>
        <p:nvSpPr>
          <p:cNvPr id="3" name="Shape 1"/>
          <p:cNvSpPr/>
          <p:nvPr/>
        </p:nvSpPr>
        <p:spPr>
          <a:xfrm>
            <a:off x="10698480" y="3931920"/>
            <a:ext cx="3108960" cy="3108960"/>
          </a:xfrm>
          <a:prstGeom prst="ellipse">
            <a:avLst/>
          </a:prstGeom>
          <a:solidFill>
            <a:srgbClr val="0E2C4E"/>
          </a:solidFill>
          <a:ln/>
        </p:spPr>
      </p:sp>
      <p:pic>
        <p:nvPicPr>
          <p:cNvPr id="4" name="Image 0" descr="preencoded.png">    </p:cNvPr>
          <p:cNvPicPr>
            <a:picLocks noChangeAspect="1"/>
          </p:cNvPicPr>
          <p:nvPr/>
        </p:nvPicPr>
        <p:blipFill>
          <a:blip r:embed="rId1">
            <a:alphaModFix amt="65000"/>
          </a:blip>
          <a:stretch>
            <a:fillRect/>
          </a:stretch>
        </p:blipFill>
        <p:spPr>
          <a:xfrm>
            <a:off x="9052560" y="1143000"/>
            <a:ext cx="2468880" cy="2468880"/>
          </a:xfrm>
          <a:prstGeom prst="rect">
            <a:avLst/>
          </a:prstGeom>
        </p:spPr>
      </p:pic>
      <p:sp>
        <p:nvSpPr>
          <p:cNvPr id="5" name="Text 2"/>
          <p:cNvSpPr/>
          <p:nvPr/>
        </p:nvSpPr>
        <p:spPr>
          <a:xfrm>
            <a:off x="566928" y="1371600"/>
            <a:ext cx="8229600" cy="274320"/>
          </a:xfrm>
          <a:prstGeom prst="rect">
            <a:avLst/>
          </a:prstGeom>
          <a:noFill/>
          <a:ln/>
        </p:spPr>
        <p:txBody>
          <a:bodyPr wrap="square" lIns="0" tIns="0" rIns="0" bIns="0" rtlCol="0" anchor="ctr"/>
          <a:lstStyle/>
          <a:p>
            <a:pPr indent="0" marL="0">
              <a:buNone/>
            </a:pPr>
            <a:r>
              <a:rPr lang="en-US" sz="1250" b="1" spc="300" kern="0" dirty="0">
                <a:solidFill>
                  <a:srgbClr val="12B5CB"/>
                </a:solidFill>
                <a:latin typeface="Calibri" pitchFamily="34" charset="0"/>
                <a:ea typeface="Calibri" pitchFamily="34" charset="-122"/>
                <a:cs typeface="Calibri" pitchFamily="34" charset="-120"/>
              </a:rPr>
              <a:t>M&amp;A STRATEGY   ·   STRICTLY ILLUSTRATIVE</a:t>
            </a:r>
            <a:endParaRPr lang="en-US" sz="1250" dirty="0"/>
          </a:p>
        </p:txBody>
      </p:sp>
      <p:sp>
        <p:nvSpPr>
          <p:cNvPr id="6" name="Text 3"/>
          <p:cNvSpPr/>
          <p:nvPr/>
        </p:nvSpPr>
        <p:spPr>
          <a:xfrm>
            <a:off x="566928" y="1783080"/>
            <a:ext cx="8778240" cy="1737360"/>
          </a:xfrm>
          <a:prstGeom prst="rect">
            <a:avLst/>
          </a:prstGeom>
          <a:noFill/>
          <a:ln/>
        </p:spPr>
        <p:txBody>
          <a:bodyPr wrap="square" lIns="0" tIns="0" rIns="0" bIns="0" rtlCol="0" anchor="t"/>
          <a:lstStyle/>
          <a:p>
            <a:pPr algn="l" indent="0" marL="0">
              <a:lnSpc>
                <a:spcPct val="100000"/>
              </a:lnSpc>
              <a:buNone/>
            </a:pPr>
            <a:r>
              <a:rPr lang="en-US" sz="4200" b="1" dirty="0">
                <a:solidFill>
                  <a:srgbClr val="FFFFFF"/>
                </a:solidFill>
                <a:latin typeface="Calibri" pitchFamily="34" charset="0"/>
                <a:ea typeface="Calibri" pitchFamily="34" charset="-122"/>
                <a:cs typeface="Calibri" pitchFamily="34" charset="-120"/>
              </a:rPr>
              <a:t>Building MobiKwik's New Moats</a:t>
            </a:r>
            <a:endParaRPr lang="en-US" sz="4200" dirty="0"/>
          </a:p>
          <a:p>
            <a:pPr algn="l" indent="0" marL="0">
              <a:lnSpc>
                <a:spcPct val="100000"/>
              </a:lnSpc>
              <a:buNone/>
            </a:pPr>
            <a:r>
              <a:rPr lang="en-US" sz="4200" b="1" dirty="0">
                <a:solidFill>
                  <a:srgbClr val="12B5CB"/>
                </a:solidFill>
                <a:latin typeface="Calibri" pitchFamily="34" charset="0"/>
                <a:ea typeface="Calibri" pitchFamily="34" charset="-122"/>
                <a:cs typeface="Calibri" pitchFamily="34" charset="-120"/>
              </a:rPr>
              <a:t>through disciplined M&amp;A</a:t>
            </a:r>
            <a:endParaRPr lang="en-US" sz="4200" dirty="0"/>
          </a:p>
        </p:txBody>
      </p:sp>
      <p:sp>
        <p:nvSpPr>
          <p:cNvPr id="7" name="Text 4"/>
          <p:cNvSpPr/>
          <p:nvPr/>
        </p:nvSpPr>
        <p:spPr>
          <a:xfrm>
            <a:off x="566928" y="3611880"/>
            <a:ext cx="7955280" cy="731520"/>
          </a:xfrm>
          <a:prstGeom prst="rect">
            <a:avLst/>
          </a:prstGeom>
          <a:noFill/>
          <a:ln/>
        </p:spPr>
        <p:txBody>
          <a:bodyPr wrap="square" lIns="0" tIns="0" rIns="0" bIns="0" rtlCol="0" anchor="t"/>
          <a:lstStyle/>
          <a:p>
            <a:pPr algn="l" indent="0" marL="0">
              <a:lnSpc>
                <a:spcPct val="105000"/>
              </a:lnSpc>
              <a:buNone/>
            </a:pPr>
            <a:r>
              <a:rPr lang="en-US" sz="1550" dirty="0">
                <a:solidFill>
                  <a:srgbClr val="C4D3E6"/>
                </a:solidFill>
                <a:latin typeface="Calibri" pitchFamily="34" charset="0"/>
                <a:ea typeface="Calibri" pitchFamily="34" charset="-122"/>
                <a:cs typeface="Calibri" pitchFamily="34" charset="-120"/>
              </a:rPr>
              <a:t>A capability-led acquisition roadmap to accelerate merchant acquiring, lending and wealth, across FY27 to FY28</a:t>
            </a:r>
            <a:endParaRPr lang="en-US" sz="1550" dirty="0"/>
          </a:p>
        </p:txBody>
      </p:sp>
      <p:sp>
        <p:nvSpPr>
          <p:cNvPr id="8" name="Shape 5"/>
          <p:cNvSpPr/>
          <p:nvPr/>
        </p:nvSpPr>
        <p:spPr>
          <a:xfrm>
            <a:off x="566928" y="4526280"/>
            <a:ext cx="3840480" cy="0"/>
          </a:xfrm>
          <a:prstGeom prst="line">
            <a:avLst/>
          </a:prstGeom>
          <a:noFill/>
          <a:ln w="12700">
            <a:solidFill>
              <a:srgbClr val="27486B"/>
            </a:solidFill>
            <a:prstDash val="solid"/>
          </a:ln>
        </p:spPr>
      </p:sp>
      <p:sp>
        <p:nvSpPr>
          <p:cNvPr id="9" name="Text 6"/>
          <p:cNvSpPr/>
          <p:nvPr/>
        </p:nvSpPr>
        <p:spPr>
          <a:xfrm>
            <a:off x="566928" y="4663440"/>
            <a:ext cx="8229600" cy="274320"/>
          </a:xfrm>
          <a:prstGeom prst="rect">
            <a:avLst/>
          </a:prstGeom>
          <a:noFill/>
          <a:ln/>
        </p:spPr>
        <p:txBody>
          <a:bodyPr wrap="square" lIns="0" tIns="0" rIns="0" bIns="0" rtlCol="0" anchor="ctr"/>
          <a:lstStyle/>
          <a:p>
            <a:pPr indent="0" marL="0">
              <a:buNone/>
            </a:pPr>
            <a:r>
              <a:rPr lang="en-US" sz="1200" dirty="0">
                <a:solidFill>
                  <a:srgbClr val="9FB4CC"/>
                </a:solidFill>
                <a:latin typeface="Calibri" pitchFamily="34" charset="0"/>
                <a:ea typeface="Calibri" pitchFamily="34" charset="-122"/>
                <a:cs typeface="Calibri" pitchFamily="34" charset="-120"/>
              </a:rPr>
              <a:t>Prepared by [Your Name]   ·   Application work sample   ·   June 2026</a:t>
            </a:r>
            <a:endParaRPr lang="en-US" sz="1200" dirty="0"/>
          </a:p>
        </p:txBody>
      </p:sp>
      <p:sp>
        <p:nvSpPr>
          <p:cNvPr id="10" name="Text 7"/>
          <p:cNvSpPr/>
          <p:nvPr/>
        </p:nvSpPr>
        <p:spPr>
          <a:xfrm>
            <a:off x="566928" y="5989320"/>
            <a:ext cx="10058400" cy="548640"/>
          </a:xfrm>
          <a:prstGeom prst="rect">
            <a:avLst/>
          </a:prstGeom>
          <a:noFill/>
          <a:ln/>
        </p:spPr>
        <p:txBody>
          <a:bodyPr wrap="square" lIns="0" tIns="0" rIns="0" bIns="0" rtlCol="0" anchor="ctr"/>
          <a:lstStyle/>
          <a:p>
            <a:pPr indent="0" marL="0">
              <a:lnSpc>
                <a:spcPct val="105000"/>
              </a:lnSpc>
              <a:buNone/>
            </a:pPr>
            <a:r>
              <a:rPr lang="en-US" sz="900" i="1" dirty="0">
                <a:solidFill>
                  <a:srgbClr val="6E84A0"/>
                </a:solidFill>
                <a:latin typeface="Calibri" pitchFamily="34" charset="0"/>
                <a:ea typeface="Calibri" pitchFamily="34" charset="-122"/>
                <a:cs typeface="Calibri" pitchFamily="34" charset="-120"/>
              </a:rPr>
              <a:t>Independent analysis based only on public information (company earnings releases and filings, exchange disclosures, press and analyst commentary). Not affiliated with or endorsed by One MobiKwik Systems Ltd.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EXECUTIVE SUMMARY</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MobiKwik should buy capability, not scale, to win its New Moats</a:t>
            </a:r>
            <a:endParaRPr lang="en-US" sz="2700" dirty="0"/>
          </a:p>
        </p:txBody>
      </p:sp>
      <p:sp>
        <p:nvSpPr>
          <p:cNvPr id="4" name="Shape 2"/>
          <p:cNvSpPr/>
          <p:nvPr/>
        </p:nvSpPr>
        <p:spPr>
          <a:xfrm>
            <a:off x="566928" y="1417320"/>
            <a:ext cx="11057839" cy="932688"/>
          </a:xfrm>
          <a:prstGeom prst="roundRect">
            <a:avLst>
              <a:gd name="adj" fmla="val 7843"/>
            </a:avLst>
          </a:prstGeom>
          <a:solidFill>
            <a:srgbClr val="0A2540"/>
          </a:solidFill>
          <a:ln/>
          <a:effectLst>
            <a:outerShdw sx="100000" sy="100000" kx="0" ky="0" algn="bl" rotWithShape="0" blurRad="114300" dist="38100" dir="5400000">
              <a:srgbClr val="1B2B44">
                <a:alpha val="10000"/>
              </a:srgbClr>
            </a:outerShdw>
          </a:effectLst>
        </p:spPr>
      </p:sp>
      <p:sp>
        <p:nvSpPr>
          <p:cNvPr id="5" name="Text 3"/>
          <p:cNvSpPr/>
          <p:nvPr/>
        </p:nvSpPr>
        <p:spPr>
          <a:xfrm>
            <a:off x="841248" y="1417320"/>
            <a:ext cx="10509199" cy="932688"/>
          </a:xfrm>
          <a:prstGeom prst="rect">
            <a:avLst/>
          </a:prstGeom>
          <a:noFill/>
          <a:ln/>
        </p:spPr>
        <p:txBody>
          <a:bodyPr wrap="square" lIns="0" tIns="0" rIns="0" bIns="0" rtlCol="0" anchor="ctr"/>
          <a:lstStyle/>
          <a:p>
            <a:pPr algn="l" indent="0" marL="0">
              <a:lnSpc>
                <a:spcPct val="104000"/>
              </a:lnSpc>
              <a:buNone/>
            </a:pPr>
            <a:r>
              <a:rPr lang="en-US" sz="1350" b="1" dirty="0">
                <a:solidFill>
                  <a:srgbClr val="12B5CB"/>
                </a:solidFill>
                <a:latin typeface="Calibri" pitchFamily="34" charset="0"/>
                <a:ea typeface="Calibri" pitchFamily="34" charset="-122"/>
                <a:cs typeface="Calibri" pitchFamily="34" charset="-120"/>
              </a:rPr>
              <a:t>Recommendation.  </a:t>
            </a:r>
            <a:pPr algn="l" indent="0" marL="0">
              <a:lnSpc>
                <a:spcPct val="104000"/>
              </a:lnSpc>
              <a:buNone/>
            </a:pPr>
            <a:r>
              <a:rPr lang="en-US" sz="1350" dirty="0">
                <a:solidFill>
                  <a:srgbClr val="E8EFF8"/>
                </a:solidFill>
                <a:latin typeface="Calibri" pitchFamily="34" charset="0"/>
                <a:ea typeface="Calibri" pitchFamily="34" charset="-122"/>
                <a:cs typeface="Calibri" pitchFamily="34" charset="-120"/>
              </a:rPr>
              <a:t>Run a focused, capability-led bolt-on M&amp;A program over the next 18 to 24 months to accelerate MobiKwik's New Moats, using its listed stock as currency in a buyer's market, while ring-fencing the profitability won in H2 FY26. Lead with merchant-acquiring software and lending infrastructure.</a:t>
            </a:r>
            <a:endParaRPr lang="en-US" sz="1350" dirty="0"/>
          </a:p>
        </p:txBody>
      </p:sp>
      <p:sp>
        <p:nvSpPr>
          <p:cNvPr id="6" name="Shape 4"/>
          <p:cNvSpPr/>
          <p:nvPr/>
        </p:nvSpPr>
        <p:spPr>
          <a:xfrm>
            <a:off x="566928" y="2615184"/>
            <a:ext cx="2572436" cy="2395728"/>
          </a:xfrm>
          <a:prstGeom prst="roundRect">
            <a:avLst>
              <a:gd name="adj" fmla="val 2672"/>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7" name="Shape 5"/>
          <p:cNvSpPr/>
          <p:nvPr/>
        </p:nvSpPr>
        <p:spPr>
          <a:xfrm>
            <a:off x="804672" y="2871216"/>
            <a:ext cx="658368" cy="658368"/>
          </a:xfrm>
          <a:prstGeom prst="ellipse">
            <a:avLst/>
          </a:prstGeom>
          <a:solidFill>
            <a:srgbClr val="12B5CB"/>
          </a:solidFill>
          <a:ln/>
        </p:spPr>
      </p:sp>
      <p:pic>
        <p:nvPicPr>
          <p:cNvPr id="8" name="Image 0" descr="preencoded.png">    </p:cNvPr>
          <p:cNvPicPr>
            <a:picLocks noChangeAspect="1"/>
          </p:cNvPicPr>
          <p:nvPr/>
        </p:nvPicPr>
        <p:blipFill>
          <a:blip r:embed="rId1"/>
          <a:stretch>
            <a:fillRect/>
          </a:stretch>
        </p:blipFill>
        <p:spPr>
          <a:xfrm>
            <a:off x="989015" y="3055559"/>
            <a:ext cx="289682" cy="289682"/>
          </a:xfrm>
          <a:prstGeom prst="rect">
            <a:avLst/>
          </a:prstGeom>
        </p:spPr>
      </p:pic>
      <p:sp>
        <p:nvSpPr>
          <p:cNvPr id="9" name="Text 6"/>
          <p:cNvSpPr/>
          <p:nvPr/>
        </p:nvSpPr>
        <p:spPr>
          <a:xfrm>
            <a:off x="804672" y="3639312"/>
            <a:ext cx="2096948" cy="310896"/>
          </a:xfrm>
          <a:prstGeom prst="rect">
            <a:avLst/>
          </a:prstGeom>
          <a:noFill/>
          <a:ln/>
        </p:spPr>
        <p:txBody>
          <a:bodyPr wrap="square" lIns="0" tIns="0" rIns="0" bIns="0" rtlCol="0" anchor="ctr"/>
          <a:lstStyle/>
          <a:p>
            <a:pPr indent="0" marL="0">
              <a:buNone/>
            </a:pPr>
            <a:r>
              <a:rPr lang="en-US" sz="1450" b="1" dirty="0">
                <a:solidFill>
                  <a:srgbClr val="12355B"/>
                </a:solidFill>
                <a:latin typeface="Calibri" pitchFamily="34" charset="0"/>
                <a:ea typeface="Calibri" pitchFamily="34" charset="-122"/>
                <a:cs typeface="Calibri" pitchFamily="34" charset="-120"/>
              </a:rPr>
              <a:t>Inflection reached</a:t>
            </a:r>
            <a:endParaRPr lang="en-US" sz="1450" dirty="0"/>
          </a:p>
        </p:txBody>
      </p:sp>
      <p:sp>
        <p:nvSpPr>
          <p:cNvPr id="10" name="Text 7"/>
          <p:cNvSpPr/>
          <p:nvPr/>
        </p:nvSpPr>
        <p:spPr>
          <a:xfrm>
            <a:off x="804672" y="3968496"/>
            <a:ext cx="2096948" cy="914400"/>
          </a:xfrm>
          <a:prstGeom prst="rect">
            <a:avLst/>
          </a:prstGeom>
          <a:noFill/>
          <a:ln/>
        </p:spPr>
        <p:txBody>
          <a:bodyPr wrap="square" lIns="0" tIns="0" rIns="0" bIns="0" rtlCol="0" anchor="t"/>
          <a:lstStyle/>
          <a:p>
            <a:pPr indent="0" marL="0">
              <a:lnSpc>
                <a:spcPct val="104000"/>
              </a:lnSpc>
              <a:buNone/>
            </a:pPr>
            <a:r>
              <a:rPr lang="en-US" sz="1150" dirty="0">
                <a:solidFill>
                  <a:srgbClr val="44566A"/>
                </a:solidFill>
                <a:latin typeface="Calibri" pitchFamily="34" charset="0"/>
                <a:ea typeface="Calibri" pitchFamily="34" charset="-122"/>
                <a:cs typeface="Calibri" pitchFamily="34" charset="-120"/>
              </a:rPr>
              <a:t>A profitable second half of FY26 gives MobiKwik a listed currency and a stable platform to act from.</a:t>
            </a:r>
            <a:endParaRPr lang="en-US" sz="1150" dirty="0"/>
          </a:p>
        </p:txBody>
      </p:sp>
      <p:sp>
        <p:nvSpPr>
          <p:cNvPr id="11" name="Shape 8"/>
          <p:cNvSpPr/>
          <p:nvPr/>
        </p:nvSpPr>
        <p:spPr>
          <a:xfrm>
            <a:off x="3395396" y="2615184"/>
            <a:ext cx="2572436" cy="2395728"/>
          </a:xfrm>
          <a:prstGeom prst="roundRect">
            <a:avLst>
              <a:gd name="adj" fmla="val 2672"/>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12" name="Shape 9"/>
          <p:cNvSpPr/>
          <p:nvPr/>
        </p:nvSpPr>
        <p:spPr>
          <a:xfrm>
            <a:off x="3633140" y="2871216"/>
            <a:ext cx="658368" cy="658368"/>
          </a:xfrm>
          <a:prstGeom prst="ellipse">
            <a:avLst/>
          </a:prstGeom>
          <a:solidFill>
            <a:srgbClr val="12355B"/>
          </a:solidFill>
          <a:ln/>
        </p:spPr>
      </p:sp>
      <p:pic>
        <p:nvPicPr>
          <p:cNvPr id="13" name="Image 1" descr="preencoded.png">    </p:cNvPr>
          <p:cNvPicPr>
            <a:picLocks noChangeAspect="1"/>
          </p:cNvPicPr>
          <p:nvPr/>
        </p:nvPicPr>
        <p:blipFill>
          <a:blip r:embed="rId2"/>
          <a:stretch>
            <a:fillRect/>
          </a:stretch>
        </p:blipFill>
        <p:spPr>
          <a:xfrm>
            <a:off x="3817483" y="3055559"/>
            <a:ext cx="289682" cy="289682"/>
          </a:xfrm>
          <a:prstGeom prst="rect">
            <a:avLst/>
          </a:prstGeom>
        </p:spPr>
      </p:pic>
      <p:sp>
        <p:nvSpPr>
          <p:cNvPr id="14" name="Text 10"/>
          <p:cNvSpPr/>
          <p:nvPr/>
        </p:nvSpPr>
        <p:spPr>
          <a:xfrm>
            <a:off x="3633140" y="3639312"/>
            <a:ext cx="2096948" cy="310896"/>
          </a:xfrm>
          <a:prstGeom prst="rect">
            <a:avLst/>
          </a:prstGeom>
          <a:noFill/>
          <a:ln/>
        </p:spPr>
        <p:txBody>
          <a:bodyPr wrap="square" lIns="0" tIns="0" rIns="0" bIns="0" rtlCol="0" anchor="ctr"/>
          <a:lstStyle/>
          <a:p>
            <a:pPr indent="0" marL="0">
              <a:buNone/>
            </a:pPr>
            <a:r>
              <a:rPr lang="en-US" sz="1450" b="1" dirty="0">
                <a:solidFill>
                  <a:srgbClr val="12355B"/>
                </a:solidFill>
                <a:latin typeface="Calibri" pitchFamily="34" charset="0"/>
                <a:ea typeface="Calibri" pitchFamily="34" charset="-122"/>
                <a:cs typeface="Calibri" pitchFamily="34" charset="-120"/>
              </a:rPr>
              <a:t>Organic is too slow</a:t>
            </a:r>
            <a:endParaRPr lang="en-US" sz="1450" dirty="0"/>
          </a:p>
        </p:txBody>
      </p:sp>
      <p:sp>
        <p:nvSpPr>
          <p:cNvPr id="15" name="Text 11"/>
          <p:cNvSpPr/>
          <p:nvPr/>
        </p:nvSpPr>
        <p:spPr>
          <a:xfrm>
            <a:off x="3633140" y="3968496"/>
            <a:ext cx="2096948" cy="914400"/>
          </a:xfrm>
          <a:prstGeom prst="rect">
            <a:avLst/>
          </a:prstGeom>
          <a:noFill/>
          <a:ln/>
        </p:spPr>
        <p:txBody>
          <a:bodyPr wrap="square" lIns="0" tIns="0" rIns="0" bIns="0" rtlCol="0" anchor="t"/>
          <a:lstStyle/>
          <a:p>
            <a:pPr indent="0" marL="0">
              <a:lnSpc>
                <a:spcPct val="104000"/>
              </a:lnSpc>
              <a:buNone/>
            </a:pPr>
            <a:r>
              <a:rPr lang="en-US" sz="1150" dirty="0">
                <a:solidFill>
                  <a:srgbClr val="44566A"/>
                </a:solidFill>
                <a:latin typeface="Calibri" pitchFamily="34" charset="0"/>
                <a:ea typeface="Calibri" pitchFamily="34" charset="-122"/>
                <a:cs typeface="Calibri" pitchFamily="34" charset="-120"/>
              </a:rPr>
              <a:t>Peers are years and millions of merchants ahead; the moats need bought capability, licences and talent.</a:t>
            </a:r>
            <a:endParaRPr lang="en-US" sz="1150" dirty="0"/>
          </a:p>
        </p:txBody>
      </p:sp>
      <p:sp>
        <p:nvSpPr>
          <p:cNvPr id="16" name="Shape 12"/>
          <p:cNvSpPr/>
          <p:nvPr/>
        </p:nvSpPr>
        <p:spPr>
          <a:xfrm>
            <a:off x="6223864" y="2615184"/>
            <a:ext cx="2572436" cy="2395728"/>
          </a:xfrm>
          <a:prstGeom prst="roundRect">
            <a:avLst>
              <a:gd name="adj" fmla="val 2672"/>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17" name="Shape 13"/>
          <p:cNvSpPr/>
          <p:nvPr/>
        </p:nvSpPr>
        <p:spPr>
          <a:xfrm>
            <a:off x="6461608" y="2871216"/>
            <a:ext cx="658368" cy="658368"/>
          </a:xfrm>
          <a:prstGeom prst="ellipse">
            <a:avLst/>
          </a:prstGeom>
          <a:solidFill>
            <a:srgbClr val="12B5CB"/>
          </a:solidFill>
          <a:ln/>
        </p:spPr>
      </p:sp>
      <p:pic>
        <p:nvPicPr>
          <p:cNvPr id="18" name="Image 2" descr="preencoded.png">    </p:cNvPr>
          <p:cNvPicPr>
            <a:picLocks noChangeAspect="1"/>
          </p:cNvPicPr>
          <p:nvPr/>
        </p:nvPicPr>
        <p:blipFill>
          <a:blip r:embed="rId3"/>
          <a:stretch>
            <a:fillRect/>
          </a:stretch>
        </p:blipFill>
        <p:spPr>
          <a:xfrm>
            <a:off x="6645951" y="3055559"/>
            <a:ext cx="289682" cy="289682"/>
          </a:xfrm>
          <a:prstGeom prst="rect">
            <a:avLst/>
          </a:prstGeom>
        </p:spPr>
      </p:pic>
      <p:sp>
        <p:nvSpPr>
          <p:cNvPr id="19" name="Text 14"/>
          <p:cNvSpPr/>
          <p:nvPr/>
        </p:nvSpPr>
        <p:spPr>
          <a:xfrm>
            <a:off x="6461608" y="3639312"/>
            <a:ext cx="2096948" cy="310896"/>
          </a:xfrm>
          <a:prstGeom prst="rect">
            <a:avLst/>
          </a:prstGeom>
          <a:noFill/>
          <a:ln/>
        </p:spPr>
        <p:txBody>
          <a:bodyPr wrap="square" lIns="0" tIns="0" rIns="0" bIns="0" rtlCol="0" anchor="ctr"/>
          <a:lstStyle/>
          <a:p>
            <a:pPr indent="0" marL="0">
              <a:buNone/>
            </a:pPr>
            <a:r>
              <a:rPr lang="en-US" sz="1450" b="1" dirty="0">
                <a:solidFill>
                  <a:srgbClr val="12355B"/>
                </a:solidFill>
                <a:latin typeface="Calibri" pitchFamily="34" charset="0"/>
                <a:ea typeface="Calibri" pitchFamily="34" charset="-122"/>
                <a:cs typeface="Calibri" pitchFamily="34" charset="-120"/>
              </a:rPr>
              <a:t>The window is open</a:t>
            </a:r>
            <a:endParaRPr lang="en-US" sz="1450" dirty="0"/>
          </a:p>
        </p:txBody>
      </p:sp>
      <p:sp>
        <p:nvSpPr>
          <p:cNvPr id="20" name="Text 15"/>
          <p:cNvSpPr/>
          <p:nvPr/>
        </p:nvSpPr>
        <p:spPr>
          <a:xfrm>
            <a:off x="6461608" y="3968496"/>
            <a:ext cx="2096948" cy="914400"/>
          </a:xfrm>
          <a:prstGeom prst="rect">
            <a:avLst/>
          </a:prstGeom>
          <a:noFill/>
          <a:ln/>
        </p:spPr>
        <p:txBody>
          <a:bodyPr wrap="square" lIns="0" tIns="0" rIns="0" bIns="0" rtlCol="0" anchor="t"/>
          <a:lstStyle/>
          <a:p>
            <a:pPr indent="0" marL="0">
              <a:lnSpc>
                <a:spcPct val="104000"/>
              </a:lnSpc>
              <a:buNone/>
            </a:pPr>
            <a:r>
              <a:rPr lang="en-US" sz="1150" dirty="0">
                <a:solidFill>
                  <a:srgbClr val="44566A"/>
                </a:solidFill>
                <a:latin typeface="Calibri" pitchFamily="34" charset="0"/>
                <a:ea typeface="Calibri" pitchFamily="34" charset="-122"/>
                <a:cs typeface="Calibri" pitchFamily="34" charset="-120"/>
              </a:rPr>
              <a:t>A fintech funding winter has reset private valuations while strategic licences command a premium.</a:t>
            </a:r>
            <a:endParaRPr lang="en-US" sz="1150" dirty="0"/>
          </a:p>
        </p:txBody>
      </p:sp>
      <p:sp>
        <p:nvSpPr>
          <p:cNvPr id="21" name="Shape 16"/>
          <p:cNvSpPr/>
          <p:nvPr/>
        </p:nvSpPr>
        <p:spPr>
          <a:xfrm>
            <a:off x="9052331" y="2615184"/>
            <a:ext cx="2572436" cy="2395728"/>
          </a:xfrm>
          <a:prstGeom prst="roundRect">
            <a:avLst>
              <a:gd name="adj" fmla="val 2672"/>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22" name="Shape 17"/>
          <p:cNvSpPr/>
          <p:nvPr/>
        </p:nvSpPr>
        <p:spPr>
          <a:xfrm>
            <a:off x="9290075" y="2871216"/>
            <a:ext cx="658368" cy="658368"/>
          </a:xfrm>
          <a:prstGeom prst="ellipse">
            <a:avLst/>
          </a:prstGeom>
          <a:solidFill>
            <a:srgbClr val="12355B"/>
          </a:solidFill>
          <a:ln/>
        </p:spPr>
      </p:sp>
      <p:pic>
        <p:nvPicPr>
          <p:cNvPr id="23" name="Image 3" descr="preencoded.png">    </p:cNvPr>
          <p:cNvPicPr>
            <a:picLocks noChangeAspect="1"/>
          </p:cNvPicPr>
          <p:nvPr/>
        </p:nvPicPr>
        <p:blipFill>
          <a:blip r:embed="rId4"/>
          <a:stretch>
            <a:fillRect/>
          </a:stretch>
        </p:blipFill>
        <p:spPr>
          <a:xfrm>
            <a:off x="9474418" y="3055559"/>
            <a:ext cx="289682" cy="289682"/>
          </a:xfrm>
          <a:prstGeom prst="rect">
            <a:avLst/>
          </a:prstGeom>
        </p:spPr>
      </p:pic>
      <p:sp>
        <p:nvSpPr>
          <p:cNvPr id="24" name="Text 18"/>
          <p:cNvSpPr/>
          <p:nvPr/>
        </p:nvSpPr>
        <p:spPr>
          <a:xfrm>
            <a:off x="9290075" y="3639312"/>
            <a:ext cx="2096948" cy="310896"/>
          </a:xfrm>
          <a:prstGeom prst="rect">
            <a:avLst/>
          </a:prstGeom>
          <a:noFill/>
          <a:ln/>
        </p:spPr>
        <p:txBody>
          <a:bodyPr wrap="square" lIns="0" tIns="0" rIns="0" bIns="0" rtlCol="0" anchor="ctr"/>
          <a:lstStyle/>
          <a:p>
            <a:pPr indent="0" marL="0">
              <a:buNone/>
            </a:pPr>
            <a:r>
              <a:rPr lang="en-US" sz="1450" b="1" dirty="0">
                <a:solidFill>
                  <a:srgbClr val="12355B"/>
                </a:solidFill>
                <a:latin typeface="Calibri" pitchFamily="34" charset="0"/>
                <a:ea typeface="Calibri" pitchFamily="34" charset="-122"/>
                <a:cs typeface="Calibri" pitchFamily="34" charset="-120"/>
              </a:rPr>
              <a:t>Acquire with discipline</a:t>
            </a:r>
            <a:endParaRPr lang="en-US" sz="1450" dirty="0"/>
          </a:p>
        </p:txBody>
      </p:sp>
      <p:sp>
        <p:nvSpPr>
          <p:cNvPr id="25" name="Text 19"/>
          <p:cNvSpPr/>
          <p:nvPr/>
        </p:nvSpPr>
        <p:spPr>
          <a:xfrm>
            <a:off x="9290075" y="3968496"/>
            <a:ext cx="2096948" cy="914400"/>
          </a:xfrm>
          <a:prstGeom prst="rect">
            <a:avLst/>
          </a:prstGeom>
          <a:noFill/>
          <a:ln/>
        </p:spPr>
        <p:txBody>
          <a:bodyPr wrap="square" lIns="0" tIns="0" rIns="0" bIns="0" rtlCol="0" anchor="t"/>
          <a:lstStyle/>
          <a:p>
            <a:pPr indent="0" marL="0">
              <a:lnSpc>
                <a:spcPct val="104000"/>
              </a:lnSpc>
              <a:buNone/>
            </a:pPr>
            <a:r>
              <a:rPr lang="en-US" sz="1150" dirty="0">
                <a:solidFill>
                  <a:srgbClr val="44566A"/>
                </a:solidFill>
                <a:latin typeface="Calibri" pitchFamily="34" charset="0"/>
                <a:ea typeface="Calibri" pitchFamily="34" charset="-122"/>
                <a:cs typeface="Calibri" pitchFamily="34" charset="-120"/>
              </a:rPr>
              <a:t>Two to three bolt-ons, mostly stock funded, each ring-fenced to protect the new profitability.</a:t>
            </a:r>
            <a:endParaRPr lang="en-US" sz="1150" dirty="0"/>
          </a:p>
        </p:txBody>
      </p:sp>
      <p:sp>
        <p:nvSpPr>
          <p:cNvPr id="26" name="Shape 20"/>
          <p:cNvSpPr/>
          <p:nvPr/>
        </p:nvSpPr>
        <p:spPr>
          <a:xfrm>
            <a:off x="566928" y="5230368"/>
            <a:ext cx="11057839" cy="713232"/>
          </a:xfrm>
          <a:prstGeom prst="roundRect">
            <a:avLst>
              <a:gd name="adj" fmla="val 8974"/>
            </a:avLst>
          </a:prstGeom>
          <a:solidFill>
            <a:srgbClr val="E2F6F8"/>
          </a:solidFill>
          <a:ln/>
        </p:spPr>
      </p:sp>
      <p:pic>
        <p:nvPicPr>
          <p:cNvPr id="27" name="Image 4" descr="preencoded.png">    </p:cNvPr>
          <p:cNvPicPr>
            <a:picLocks noChangeAspect="1"/>
          </p:cNvPicPr>
          <p:nvPr/>
        </p:nvPicPr>
        <p:blipFill>
          <a:blip r:embed="rId5"/>
          <a:stretch>
            <a:fillRect/>
          </a:stretch>
        </p:blipFill>
        <p:spPr>
          <a:xfrm>
            <a:off x="822960" y="5422392"/>
            <a:ext cx="329184" cy="329184"/>
          </a:xfrm>
          <a:prstGeom prst="rect">
            <a:avLst/>
          </a:prstGeom>
        </p:spPr>
      </p:pic>
      <p:sp>
        <p:nvSpPr>
          <p:cNvPr id="28" name="Text 21"/>
          <p:cNvSpPr/>
          <p:nvPr/>
        </p:nvSpPr>
        <p:spPr>
          <a:xfrm>
            <a:off x="1316736" y="5230368"/>
            <a:ext cx="10051999" cy="713232"/>
          </a:xfrm>
          <a:prstGeom prst="rect">
            <a:avLst/>
          </a:prstGeom>
          <a:noFill/>
          <a:ln/>
        </p:spPr>
        <p:txBody>
          <a:bodyPr wrap="square" lIns="0" tIns="0" rIns="0" bIns="0" rtlCol="0" anchor="ctr"/>
          <a:lstStyle/>
          <a:p>
            <a:pPr indent="0" marL="0">
              <a:buNone/>
            </a:pPr>
            <a:r>
              <a:rPr lang="en-US" sz="1250" b="1" dirty="0">
                <a:solidFill>
                  <a:srgbClr val="12355B"/>
                </a:solidFill>
                <a:latin typeface="Calibri" pitchFamily="34" charset="0"/>
                <a:ea typeface="Calibri" pitchFamily="34" charset="-122"/>
                <a:cs typeface="Calibri" pitchFamily="34" charset="-120"/>
              </a:rPr>
              <a:t>The ask:  </a:t>
            </a:r>
            <a:pPr indent="0" marL="0">
              <a:buNone/>
            </a:pPr>
            <a:r>
              <a:rPr lang="en-US" sz="1250" dirty="0">
                <a:solidFill>
                  <a:srgbClr val="2C3E52"/>
                </a:solidFill>
                <a:latin typeface="Calibri" pitchFamily="34" charset="0"/>
                <a:ea typeface="Calibri" pitchFamily="34" charset="-122"/>
                <a:cs typeface="Calibri" pitchFamily="34" charset="-120"/>
              </a:rPr>
              <a:t>a board mandate to stand up a lightweight corporate-development function and run a disciplined bolt-on program, starting now.</a:t>
            </a:r>
            <a:endParaRPr lang="en-US" sz="1250" dirty="0"/>
          </a:p>
        </p:txBody>
      </p:sp>
      <p:sp>
        <p:nvSpPr>
          <p:cNvPr id="29" name="Text 22"/>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30" name="Text 2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CONTEXT  ·  WHERE MOBIKWIK STANDS</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FY26 was the inflection: profitable, licensed and ready to build</a:t>
            </a:r>
            <a:endParaRPr lang="en-US" sz="2700" dirty="0"/>
          </a:p>
        </p:txBody>
      </p:sp>
      <p:sp>
        <p:nvSpPr>
          <p:cNvPr id="4" name="Shape 2"/>
          <p:cNvSpPr/>
          <p:nvPr/>
        </p:nvSpPr>
        <p:spPr>
          <a:xfrm>
            <a:off x="566928" y="1444752"/>
            <a:ext cx="2688336" cy="1188720"/>
          </a:xfrm>
          <a:prstGeom prst="roundRect">
            <a:avLst>
              <a:gd name="adj" fmla="val 5385"/>
            </a:avLst>
          </a:prstGeom>
          <a:solidFill>
            <a:srgbClr val="F4F8FC"/>
          </a:solidFill>
          <a:ln w="12700">
            <a:solidFill>
              <a:srgbClr val="D8E2EE"/>
            </a:solidFill>
            <a:prstDash val="solid"/>
          </a:ln>
        </p:spPr>
      </p:sp>
      <p:pic>
        <p:nvPicPr>
          <p:cNvPr id="5" name="Image 0" descr="preencoded.png">    </p:cNvPr>
          <p:cNvPicPr>
            <a:picLocks noChangeAspect="1"/>
          </p:cNvPicPr>
          <p:nvPr/>
        </p:nvPicPr>
        <p:blipFill>
          <a:blip r:embed="rId1"/>
          <a:stretch>
            <a:fillRect/>
          </a:stretch>
        </p:blipFill>
        <p:spPr>
          <a:xfrm>
            <a:off x="786384" y="1609344"/>
            <a:ext cx="310896" cy="310896"/>
          </a:xfrm>
          <a:prstGeom prst="rect">
            <a:avLst/>
          </a:prstGeom>
        </p:spPr>
      </p:pic>
      <p:sp>
        <p:nvSpPr>
          <p:cNvPr id="6" name="Text 3"/>
          <p:cNvSpPr/>
          <p:nvPr/>
        </p:nvSpPr>
        <p:spPr>
          <a:xfrm>
            <a:off x="768096" y="1938528"/>
            <a:ext cx="2286000" cy="365760"/>
          </a:xfrm>
          <a:prstGeom prst="rect">
            <a:avLst/>
          </a:prstGeom>
          <a:noFill/>
          <a:ln/>
        </p:spPr>
        <p:txBody>
          <a:bodyPr wrap="square" lIns="0" tIns="0" rIns="0" bIns="0" rtlCol="0" anchor="ctr"/>
          <a:lstStyle/>
          <a:p>
            <a:pPr indent="0" marL="0">
              <a:buNone/>
            </a:pPr>
            <a:r>
              <a:rPr lang="en-US" sz="2000" b="1" dirty="0">
                <a:solidFill>
                  <a:srgbClr val="12355B"/>
                </a:solidFill>
                <a:latin typeface="Calibri" pitchFamily="34" charset="0"/>
                <a:ea typeface="Calibri" pitchFamily="34" charset="-122"/>
                <a:cs typeface="Calibri" pitchFamily="34" charset="-120"/>
              </a:rPr>
              <a:t>Rs 1,119 Cr</a:t>
            </a:r>
            <a:endParaRPr lang="en-US" sz="2000" dirty="0"/>
          </a:p>
        </p:txBody>
      </p:sp>
      <p:sp>
        <p:nvSpPr>
          <p:cNvPr id="7" name="Text 4"/>
          <p:cNvSpPr/>
          <p:nvPr/>
        </p:nvSpPr>
        <p:spPr>
          <a:xfrm>
            <a:off x="768096" y="2286000"/>
            <a:ext cx="2286000" cy="329184"/>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FY26 revenue from operations</a:t>
            </a:r>
            <a:endParaRPr lang="en-US" sz="950" dirty="0"/>
          </a:p>
        </p:txBody>
      </p:sp>
      <p:sp>
        <p:nvSpPr>
          <p:cNvPr id="8" name="Shape 5"/>
          <p:cNvSpPr/>
          <p:nvPr/>
        </p:nvSpPr>
        <p:spPr>
          <a:xfrm>
            <a:off x="3456432" y="1444752"/>
            <a:ext cx="2688336" cy="1188720"/>
          </a:xfrm>
          <a:prstGeom prst="roundRect">
            <a:avLst>
              <a:gd name="adj" fmla="val 5385"/>
            </a:avLst>
          </a:prstGeom>
          <a:solidFill>
            <a:srgbClr val="F4F8FC"/>
          </a:solidFill>
          <a:ln w="12700">
            <a:solidFill>
              <a:srgbClr val="D8E2EE"/>
            </a:solidFill>
            <a:prstDash val="solid"/>
          </a:ln>
        </p:spPr>
      </p:sp>
      <p:pic>
        <p:nvPicPr>
          <p:cNvPr id="9" name="Image 1" descr="preencoded.png">    </p:cNvPr>
          <p:cNvPicPr>
            <a:picLocks noChangeAspect="1"/>
          </p:cNvPicPr>
          <p:nvPr/>
        </p:nvPicPr>
        <p:blipFill>
          <a:blip r:embed="rId2"/>
          <a:stretch>
            <a:fillRect/>
          </a:stretch>
        </p:blipFill>
        <p:spPr>
          <a:xfrm>
            <a:off x="3675888" y="1609344"/>
            <a:ext cx="310896" cy="310896"/>
          </a:xfrm>
          <a:prstGeom prst="rect">
            <a:avLst/>
          </a:prstGeom>
        </p:spPr>
      </p:pic>
      <p:sp>
        <p:nvSpPr>
          <p:cNvPr id="10" name="Text 6"/>
          <p:cNvSpPr/>
          <p:nvPr/>
        </p:nvSpPr>
        <p:spPr>
          <a:xfrm>
            <a:off x="3657600" y="1938528"/>
            <a:ext cx="2286000" cy="365760"/>
          </a:xfrm>
          <a:prstGeom prst="rect">
            <a:avLst/>
          </a:prstGeom>
          <a:noFill/>
          <a:ln/>
        </p:spPr>
        <p:txBody>
          <a:bodyPr wrap="square" lIns="0" tIns="0" rIns="0" bIns="0" rtlCol="0" anchor="ctr"/>
          <a:lstStyle/>
          <a:p>
            <a:pPr indent="0" marL="0">
              <a:buNone/>
            </a:pPr>
            <a:r>
              <a:rPr lang="en-US" sz="2000" b="1" dirty="0">
                <a:solidFill>
                  <a:srgbClr val="12355B"/>
                </a:solidFill>
                <a:latin typeface="Calibri" pitchFamily="34" charset="0"/>
                <a:ea typeface="Calibri" pitchFamily="34" charset="-122"/>
                <a:cs typeface="Calibri" pitchFamily="34" charset="-120"/>
              </a:rPr>
              <a:t>~Rs 74 Cr</a:t>
            </a:r>
            <a:endParaRPr lang="en-US" sz="2000" dirty="0"/>
          </a:p>
        </p:txBody>
      </p:sp>
      <p:sp>
        <p:nvSpPr>
          <p:cNvPr id="11" name="Text 7"/>
          <p:cNvSpPr/>
          <p:nvPr/>
        </p:nvSpPr>
        <p:spPr>
          <a:xfrm>
            <a:off x="3657600" y="2286000"/>
            <a:ext cx="2286000" cy="329184"/>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EBITDA swing, FY25 to FY26</a:t>
            </a:r>
            <a:endParaRPr lang="en-US" sz="950" dirty="0"/>
          </a:p>
        </p:txBody>
      </p:sp>
      <p:sp>
        <p:nvSpPr>
          <p:cNvPr id="12" name="Shape 8"/>
          <p:cNvSpPr/>
          <p:nvPr/>
        </p:nvSpPr>
        <p:spPr>
          <a:xfrm>
            <a:off x="566928" y="2779776"/>
            <a:ext cx="2688336" cy="1188720"/>
          </a:xfrm>
          <a:prstGeom prst="roundRect">
            <a:avLst>
              <a:gd name="adj" fmla="val 5385"/>
            </a:avLst>
          </a:prstGeom>
          <a:solidFill>
            <a:srgbClr val="F4F8FC"/>
          </a:solidFill>
          <a:ln w="12700">
            <a:solidFill>
              <a:srgbClr val="D8E2EE"/>
            </a:solidFill>
            <a:prstDash val="solid"/>
          </a:ln>
        </p:spPr>
      </p:sp>
      <p:pic>
        <p:nvPicPr>
          <p:cNvPr id="13" name="Image 2" descr="preencoded.png">    </p:cNvPr>
          <p:cNvPicPr>
            <a:picLocks noChangeAspect="1"/>
          </p:cNvPicPr>
          <p:nvPr/>
        </p:nvPicPr>
        <p:blipFill>
          <a:blip r:embed="rId3"/>
          <a:stretch>
            <a:fillRect/>
          </a:stretch>
        </p:blipFill>
        <p:spPr>
          <a:xfrm>
            <a:off x="786384" y="2944368"/>
            <a:ext cx="310896" cy="310896"/>
          </a:xfrm>
          <a:prstGeom prst="rect">
            <a:avLst/>
          </a:prstGeom>
        </p:spPr>
      </p:pic>
      <p:sp>
        <p:nvSpPr>
          <p:cNvPr id="14" name="Text 9"/>
          <p:cNvSpPr/>
          <p:nvPr/>
        </p:nvSpPr>
        <p:spPr>
          <a:xfrm>
            <a:off x="768096" y="3273552"/>
            <a:ext cx="2286000" cy="365760"/>
          </a:xfrm>
          <a:prstGeom prst="rect">
            <a:avLst/>
          </a:prstGeom>
          <a:noFill/>
          <a:ln/>
        </p:spPr>
        <p:txBody>
          <a:bodyPr wrap="square" lIns="0" tIns="0" rIns="0" bIns="0" rtlCol="0" anchor="ctr"/>
          <a:lstStyle/>
          <a:p>
            <a:pPr indent="0" marL="0">
              <a:buNone/>
            </a:pPr>
            <a:r>
              <a:rPr lang="en-US" sz="2000" b="1" dirty="0">
                <a:solidFill>
                  <a:srgbClr val="12355B"/>
                </a:solidFill>
                <a:latin typeface="Calibri" pitchFamily="34" charset="0"/>
                <a:ea typeface="Calibri" pitchFamily="34" charset="-122"/>
                <a:cs typeface="Calibri" pitchFamily="34" charset="-120"/>
              </a:rPr>
              <a:t>186.6 M</a:t>
            </a:r>
            <a:endParaRPr lang="en-US" sz="2000" dirty="0"/>
          </a:p>
        </p:txBody>
      </p:sp>
      <p:sp>
        <p:nvSpPr>
          <p:cNvPr id="15" name="Text 10"/>
          <p:cNvSpPr/>
          <p:nvPr/>
        </p:nvSpPr>
        <p:spPr>
          <a:xfrm>
            <a:off x="768096" y="3621024"/>
            <a:ext cx="2286000" cy="329184"/>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Registered users</a:t>
            </a:r>
            <a:endParaRPr lang="en-US" sz="950" dirty="0"/>
          </a:p>
        </p:txBody>
      </p:sp>
      <p:sp>
        <p:nvSpPr>
          <p:cNvPr id="16" name="Shape 11"/>
          <p:cNvSpPr/>
          <p:nvPr/>
        </p:nvSpPr>
        <p:spPr>
          <a:xfrm>
            <a:off x="3456432" y="2779776"/>
            <a:ext cx="2688336" cy="1188720"/>
          </a:xfrm>
          <a:prstGeom prst="roundRect">
            <a:avLst>
              <a:gd name="adj" fmla="val 5385"/>
            </a:avLst>
          </a:prstGeom>
          <a:solidFill>
            <a:srgbClr val="F4F8FC"/>
          </a:solidFill>
          <a:ln w="12700">
            <a:solidFill>
              <a:srgbClr val="D8E2EE"/>
            </a:solidFill>
            <a:prstDash val="solid"/>
          </a:ln>
        </p:spPr>
      </p:sp>
      <p:pic>
        <p:nvPicPr>
          <p:cNvPr id="17" name="Image 3" descr="preencoded.png">    </p:cNvPr>
          <p:cNvPicPr>
            <a:picLocks noChangeAspect="1"/>
          </p:cNvPicPr>
          <p:nvPr/>
        </p:nvPicPr>
        <p:blipFill>
          <a:blip r:embed="rId4"/>
          <a:stretch>
            <a:fillRect/>
          </a:stretch>
        </p:blipFill>
        <p:spPr>
          <a:xfrm>
            <a:off x="3675888" y="2944368"/>
            <a:ext cx="310896" cy="310896"/>
          </a:xfrm>
          <a:prstGeom prst="rect">
            <a:avLst/>
          </a:prstGeom>
        </p:spPr>
      </p:pic>
      <p:sp>
        <p:nvSpPr>
          <p:cNvPr id="18" name="Text 12"/>
          <p:cNvSpPr/>
          <p:nvPr/>
        </p:nvSpPr>
        <p:spPr>
          <a:xfrm>
            <a:off x="3657600" y="3273552"/>
            <a:ext cx="2286000" cy="365760"/>
          </a:xfrm>
          <a:prstGeom prst="rect">
            <a:avLst/>
          </a:prstGeom>
          <a:noFill/>
          <a:ln/>
        </p:spPr>
        <p:txBody>
          <a:bodyPr wrap="square" lIns="0" tIns="0" rIns="0" bIns="0" rtlCol="0" anchor="ctr"/>
          <a:lstStyle/>
          <a:p>
            <a:pPr indent="0" marL="0">
              <a:buNone/>
            </a:pPr>
            <a:r>
              <a:rPr lang="en-US" sz="2000" b="1" dirty="0">
                <a:solidFill>
                  <a:srgbClr val="12355B"/>
                </a:solidFill>
                <a:latin typeface="Calibri" pitchFamily="34" charset="0"/>
                <a:ea typeface="Calibri" pitchFamily="34" charset="-122"/>
                <a:cs typeface="Calibri" pitchFamily="34" charset="-120"/>
              </a:rPr>
              <a:t>4.79 M</a:t>
            </a:r>
            <a:endParaRPr lang="en-US" sz="2000" dirty="0"/>
          </a:p>
        </p:txBody>
      </p:sp>
      <p:sp>
        <p:nvSpPr>
          <p:cNvPr id="19" name="Text 13"/>
          <p:cNvSpPr/>
          <p:nvPr/>
        </p:nvSpPr>
        <p:spPr>
          <a:xfrm>
            <a:off x="3657600" y="3621024"/>
            <a:ext cx="2286000" cy="329184"/>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Merchants on the network</a:t>
            </a:r>
            <a:endParaRPr lang="en-US" sz="950" dirty="0"/>
          </a:p>
        </p:txBody>
      </p:sp>
      <p:sp>
        <p:nvSpPr>
          <p:cNvPr id="20" name="Shape 14"/>
          <p:cNvSpPr/>
          <p:nvPr/>
        </p:nvSpPr>
        <p:spPr>
          <a:xfrm>
            <a:off x="566928" y="4114800"/>
            <a:ext cx="2688336" cy="1188720"/>
          </a:xfrm>
          <a:prstGeom prst="roundRect">
            <a:avLst>
              <a:gd name="adj" fmla="val 5385"/>
            </a:avLst>
          </a:prstGeom>
          <a:solidFill>
            <a:srgbClr val="F4F8FC"/>
          </a:solidFill>
          <a:ln w="12700">
            <a:solidFill>
              <a:srgbClr val="D8E2EE"/>
            </a:solidFill>
            <a:prstDash val="solid"/>
          </a:ln>
        </p:spPr>
      </p:sp>
      <p:pic>
        <p:nvPicPr>
          <p:cNvPr id="21" name="Image 4" descr="preencoded.png">    </p:cNvPr>
          <p:cNvPicPr>
            <a:picLocks noChangeAspect="1"/>
          </p:cNvPicPr>
          <p:nvPr/>
        </p:nvPicPr>
        <p:blipFill>
          <a:blip r:embed="rId5"/>
          <a:stretch>
            <a:fillRect/>
          </a:stretch>
        </p:blipFill>
        <p:spPr>
          <a:xfrm>
            <a:off x="786384" y="4279392"/>
            <a:ext cx="310896" cy="310896"/>
          </a:xfrm>
          <a:prstGeom prst="rect">
            <a:avLst/>
          </a:prstGeom>
        </p:spPr>
      </p:pic>
      <p:sp>
        <p:nvSpPr>
          <p:cNvPr id="22" name="Text 15"/>
          <p:cNvSpPr/>
          <p:nvPr/>
        </p:nvSpPr>
        <p:spPr>
          <a:xfrm>
            <a:off x="768096" y="4608576"/>
            <a:ext cx="2286000" cy="365760"/>
          </a:xfrm>
          <a:prstGeom prst="rect">
            <a:avLst/>
          </a:prstGeom>
          <a:noFill/>
          <a:ln/>
        </p:spPr>
        <p:txBody>
          <a:bodyPr wrap="square" lIns="0" tIns="0" rIns="0" bIns="0" rtlCol="0" anchor="ctr"/>
          <a:lstStyle/>
          <a:p>
            <a:pPr indent="0" marL="0">
              <a:buNone/>
            </a:pPr>
            <a:r>
              <a:rPr lang="en-US" sz="2000" b="1" dirty="0">
                <a:solidFill>
                  <a:srgbClr val="12355B"/>
                </a:solidFill>
                <a:latin typeface="Calibri" pitchFamily="34" charset="0"/>
                <a:ea typeface="Calibri" pitchFamily="34" charset="-122"/>
                <a:cs typeface="Calibri" pitchFamily="34" charset="-120"/>
              </a:rPr>
              <a:t>~Rs 424 Cr</a:t>
            </a:r>
            <a:endParaRPr lang="en-US" sz="2000" dirty="0"/>
          </a:p>
        </p:txBody>
      </p:sp>
      <p:sp>
        <p:nvSpPr>
          <p:cNvPr id="23" name="Text 16"/>
          <p:cNvSpPr/>
          <p:nvPr/>
        </p:nvSpPr>
        <p:spPr>
          <a:xfrm>
            <a:off x="768096" y="4956048"/>
            <a:ext cx="2286000" cy="329184"/>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Unencumbered cash</a:t>
            </a:r>
            <a:endParaRPr lang="en-US" sz="950" dirty="0"/>
          </a:p>
        </p:txBody>
      </p:sp>
      <p:sp>
        <p:nvSpPr>
          <p:cNvPr id="24" name="Shape 17"/>
          <p:cNvSpPr/>
          <p:nvPr/>
        </p:nvSpPr>
        <p:spPr>
          <a:xfrm>
            <a:off x="3456432" y="4114800"/>
            <a:ext cx="2688336" cy="1188720"/>
          </a:xfrm>
          <a:prstGeom prst="roundRect">
            <a:avLst>
              <a:gd name="adj" fmla="val 5385"/>
            </a:avLst>
          </a:prstGeom>
          <a:solidFill>
            <a:srgbClr val="F4F8FC"/>
          </a:solidFill>
          <a:ln w="12700">
            <a:solidFill>
              <a:srgbClr val="D8E2EE"/>
            </a:solidFill>
            <a:prstDash val="solid"/>
          </a:ln>
        </p:spPr>
      </p:sp>
      <p:pic>
        <p:nvPicPr>
          <p:cNvPr id="25" name="Image 5" descr="preencoded.png">    </p:cNvPr>
          <p:cNvPicPr>
            <a:picLocks noChangeAspect="1"/>
          </p:cNvPicPr>
          <p:nvPr/>
        </p:nvPicPr>
        <p:blipFill>
          <a:blip r:embed="rId6"/>
          <a:stretch>
            <a:fillRect/>
          </a:stretch>
        </p:blipFill>
        <p:spPr>
          <a:xfrm>
            <a:off x="3675888" y="4279392"/>
            <a:ext cx="310896" cy="310896"/>
          </a:xfrm>
          <a:prstGeom prst="rect">
            <a:avLst/>
          </a:prstGeom>
        </p:spPr>
      </p:pic>
      <p:sp>
        <p:nvSpPr>
          <p:cNvPr id="26" name="Text 18"/>
          <p:cNvSpPr/>
          <p:nvPr/>
        </p:nvSpPr>
        <p:spPr>
          <a:xfrm>
            <a:off x="3657600" y="4608576"/>
            <a:ext cx="2286000" cy="365760"/>
          </a:xfrm>
          <a:prstGeom prst="rect">
            <a:avLst/>
          </a:prstGeom>
          <a:noFill/>
          <a:ln/>
        </p:spPr>
        <p:txBody>
          <a:bodyPr wrap="square" lIns="0" tIns="0" rIns="0" bIns="0" rtlCol="0" anchor="ctr"/>
          <a:lstStyle/>
          <a:p>
            <a:pPr indent="0" marL="0">
              <a:buNone/>
            </a:pPr>
            <a:r>
              <a:rPr lang="en-US" sz="2000" b="1" dirty="0">
                <a:solidFill>
                  <a:srgbClr val="12355B"/>
                </a:solidFill>
                <a:latin typeface="Calibri" pitchFamily="34" charset="0"/>
                <a:ea typeface="Calibri" pitchFamily="34" charset="-122"/>
                <a:cs typeface="Calibri" pitchFamily="34" charset="-120"/>
              </a:rPr>
              <a:t>NBFC + PA</a:t>
            </a:r>
            <a:endParaRPr lang="en-US" sz="2000" dirty="0"/>
          </a:p>
        </p:txBody>
      </p:sp>
      <p:sp>
        <p:nvSpPr>
          <p:cNvPr id="27" name="Text 19"/>
          <p:cNvSpPr/>
          <p:nvPr/>
        </p:nvSpPr>
        <p:spPr>
          <a:xfrm>
            <a:off x="3657600" y="4956048"/>
            <a:ext cx="2286000" cy="329184"/>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Lending + offline PA licences (FY26)</a:t>
            </a:r>
            <a:endParaRPr lang="en-US" sz="950" dirty="0"/>
          </a:p>
        </p:txBody>
      </p:sp>
      <p:sp>
        <p:nvSpPr>
          <p:cNvPr id="28" name="Text 20"/>
          <p:cNvSpPr/>
          <p:nvPr/>
        </p:nvSpPr>
        <p:spPr>
          <a:xfrm>
            <a:off x="6355080" y="1481328"/>
            <a:ext cx="5269687" cy="274320"/>
          </a:xfrm>
          <a:prstGeom prst="rect">
            <a:avLst/>
          </a:prstGeom>
          <a:noFill/>
          <a:ln/>
        </p:spPr>
        <p:txBody>
          <a:bodyPr wrap="square" lIns="0" tIns="0" rIns="0" bIns="0" rtlCol="0" anchor="ctr"/>
          <a:lstStyle/>
          <a:p>
            <a:pPr indent="0" marL="0">
              <a:buNone/>
            </a:pPr>
            <a:r>
              <a:rPr lang="en-US" sz="1300" b="1" dirty="0">
                <a:solidFill>
                  <a:srgbClr val="12355B"/>
                </a:solidFill>
                <a:latin typeface="Calibri" pitchFamily="34" charset="0"/>
                <a:ea typeface="Calibri" pitchFamily="34" charset="-122"/>
                <a:cs typeface="Calibri" pitchFamily="34" charset="-120"/>
              </a:rPr>
              <a:t>Path to profitability: quarterly PAT (Rs Cr)</a:t>
            </a:r>
            <a:endParaRPr lang="en-US" sz="1300" dirty="0"/>
          </a:p>
        </p:txBody>
      </p:sp>
      <p:graphicFrame>
        <p:nvGraphicFramePr>
          <p:cNvPr id="29" name="Chart 0" descr=""/>
          <p:cNvGraphicFramePr/>
          <p:nvPr/>
        </p:nvGraphicFramePr>
        <p:xfrm>
          <a:off x="6263640" y="1828800"/>
          <a:ext cx="5452567" cy="2514600"/>
        </p:xfrm>
        <a:graphic xmlns:a="http://schemas.openxmlformats.org/drawingml/2006/main">
          <a:graphicData uri="http://schemas.openxmlformats.org/drawingml/2006/chart">
            <c:chart xmlns:c="http://schemas.openxmlformats.org/drawingml/2006/chart" r:id="rId7"/>
          </a:graphicData>
        </a:graphic>
      </p:graphicFrame>
      <p:sp>
        <p:nvSpPr>
          <p:cNvPr id="30" name="Shape 21"/>
          <p:cNvSpPr/>
          <p:nvPr/>
        </p:nvSpPr>
        <p:spPr>
          <a:xfrm>
            <a:off x="6355080" y="4526280"/>
            <a:ext cx="5269687" cy="566928"/>
          </a:xfrm>
          <a:prstGeom prst="roundRect">
            <a:avLst>
              <a:gd name="adj" fmla="val 9677"/>
            </a:avLst>
          </a:prstGeom>
          <a:solidFill>
            <a:srgbClr val="E2F6F8"/>
          </a:solidFill>
          <a:ln/>
        </p:spPr>
      </p:sp>
      <p:sp>
        <p:nvSpPr>
          <p:cNvPr id="31" name="Text 22"/>
          <p:cNvSpPr/>
          <p:nvPr/>
        </p:nvSpPr>
        <p:spPr>
          <a:xfrm>
            <a:off x="6519672" y="4526280"/>
            <a:ext cx="4940503" cy="566928"/>
          </a:xfrm>
          <a:prstGeom prst="rect">
            <a:avLst/>
          </a:prstGeom>
          <a:noFill/>
          <a:ln/>
        </p:spPr>
        <p:txBody>
          <a:bodyPr wrap="square" lIns="0" tIns="0" rIns="0" bIns="0" rtlCol="0" anchor="ctr"/>
          <a:lstStyle/>
          <a:p>
            <a:pPr indent="0" marL="0">
              <a:buNone/>
            </a:pPr>
            <a:r>
              <a:rPr lang="en-US" sz="1100" b="1" dirty="0">
                <a:solidFill>
                  <a:srgbClr val="0E8F9C"/>
                </a:solidFill>
                <a:latin typeface="Calibri" pitchFamily="34" charset="0"/>
                <a:ea typeface="Calibri" pitchFamily="34" charset="-122"/>
                <a:cs typeface="Calibri" pitchFamily="34" charset="-120"/>
              </a:rPr>
              <a:t>Profitable from Q3 FY26.  </a:t>
            </a:r>
            <a:pPr indent="0" marL="0">
              <a:buNone/>
            </a:pPr>
            <a:r>
              <a:rPr lang="en-US" sz="1100" dirty="0">
                <a:solidFill>
                  <a:srgbClr val="2C3E52"/>
                </a:solidFill>
                <a:latin typeface="Calibri" pitchFamily="34" charset="0"/>
                <a:ea typeface="Calibri" pitchFamily="34" charset="-122"/>
                <a:cs typeface="Calibri" pitchFamily="34" charset="-120"/>
              </a:rPr>
              <a:t>A roughly Rs 74 Cr EBITDA swing in one year.</a:t>
            </a:r>
            <a:endParaRPr lang="en-US" sz="1100" dirty="0"/>
          </a:p>
        </p:txBody>
      </p:sp>
      <p:sp>
        <p:nvSpPr>
          <p:cNvPr id="32" name="Text 23"/>
          <p:cNvSpPr/>
          <p:nvPr/>
        </p:nvSpPr>
        <p:spPr>
          <a:xfrm>
            <a:off x="566928" y="5532120"/>
            <a:ext cx="11057839" cy="457200"/>
          </a:xfrm>
          <a:prstGeom prst="rect">
            <a:avLst/>
          </a:prstGeom>
          <a:noFill/>
          <a:ln/>
        </p:spPr>
        <p:txBody>
          <a:bodyPr wrap="square" lIns="0" tIns="0" rIns="0" bIns="0" rtlCol="0" anchor="ctr"/>
          <a:lstStyle/>
          <a:p>
            <a:pPr indent="0" marL="0">
              <a:buNone/>
            </a:pPr>
            <a:r>
              <a:rPr lang="en-US" sz="1200" b="1" dirty="0">
                <a:solidFill>
                  <a:srgbClr val="12355B"/>
                </a:solidFill>
                <a:latin typeface="Calibri" pitchFamily="34" charset="0"/>
                <a:ea typeface="Calibri" pitchFamily="34" charset="-122"/>
                <a:cs typeface="Calibri" pitchFamily="34" charset="-120"/>
              </a:rPr>
              <a:t>The four New Moats now in build:  </a:t>
            </a:r>
            <a:pPr indent="0" marL="0">
              <a:buNone/>
            </a:pPr>
            <a:r>
              <a:rPr lang="en-US" sz="1200" dirty="0">
                <a:solidFill>
                  <a:srgbClr val="44566A"/>
                </a:solidFill>
                <a:latin typeface="Calibri" pitchFamily="34" charset="0"/>
                <a:ea typeface="Calibri" pitchFamily="34" charset="-122"/>
                <a:cs typeface="Calibri" pitchFamily="34" charset="-120"/>
              </a:rPr>
              <a:t>offline and online merchant acquiring, in-house lending through the new NBFC, and AI across the stack.</a:t>
            </a:r>
            <a:endParaRPr lang="en-US" sz="1200" dirty="0"/>
          </a:p>
        </p:txBody>
      </p:sp>
      <p:sp>
        <p:nvSpPr>
          <p:cNvPr id="33" name="Text 24"/>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34" name="Text 25"/>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THE GAP</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Organic build alone cedes the moats to scaled incumbents</a:t>
            </a:r>
            <a:endParaRPr lang="en-US" sz="2700" dirty="0"/>
          </a:p>
        </p:txBody>
      </p:sp>
      <p:sp>
        <p:nvSpPr>
          <p:cNvPr id="4" name="Text 2"/>
          <p:cNvSpPr/>
          <p:nvPr/>
        </p:nvSpPr>
        <p:spPr>
          <a:xfrm>
            <a:off x="566928" y="1463040"/>
            <a:ext cx="5577840" cy="457200"/>
          </a:xfrm>
          <a:prstGeom prst="rect">
            <a:avLst/>
          </a:prstGeom>
          <a:noFill/>
          <a:ln/>
        </p:spPr>
        <p:txBody>
          <a:bodyPr wrap="square" lIns="0" tIns="0" rIns="0" bIns="0" rtlCol="0" anchor="ctr"/>
          <a:lstStyle/>
          <a:p>
            <a:pPr indent="0" marL="0">
              <a:lnSpc>
                <a:spcPct val="100000"/>
              </a:lnSpc>
              <a:buNone/>
            </a:pPr>
            <a:r>
              <a:rPr lang="en-US" sz="1250" b="1" dirty="0">
                <a:solidFill>
                  <a:srgbClr val="12355B"/>
                </a:solidFill>
                <a:latin typeface="Calibri" pitchFamily="34" charset="0"/>
                <a:ea typeface="Calibri" pitchFamily="34" charset="-122"/>
                <a:cs typeface="Calibri" pitchFamily="34" charset="-120"/>
              </a:rPr>
              <a:t>Merchant payment devices deployed (million, industry estimates)</a:t>
            </a:r>
            <a:endParaRPr lang="en-US" sz="1250" dirty="0"/>
          </a:p>
        </p:txBody>
      </p:sp>
      <p:graphicFrame>
        <p:nvGraphicFramePr>
          <p:cNvPr id="5" name="Chart 0" descr=""/>
          <p:cNvGraphicFramePr/>
          <p:nvPr/>
        </p:nvGraphicFramePr>
        <p:xfrm>
          <a:off x="475488" y="2011680"/>
          <a:ext cx="5715000" cy="21488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6928" y="4370832"/>
            <a:ext cx="5532120" cy="749808"/>
          </a:xfrm>
          <a:prstGeom prst="roundRect">
            <a:avLst>
              <a:gd name="adj" fmla="val 7317"/>
            </a:avLst>
          </a:prstGeom>
          <a:solidFill>
            <a:srgbClr val="FBE9EA"/>
          </a:solidFill>
          <a:ln/>
        </p:spPr>
      </p:sp>
      <p:pic>
        <p:nvPicPr>
          <p:cNvPr id="7" name="Image 0" descr="preencoded.png">    </p:cNvPr>
          <p:cNvPicPr>
            <a:picLocks noChangeAspect="1"/>
          </p:cNvPicPr>
          <p:nvPr/>
        </p:nvPicPr>
        <p:blipFill>
          <a:blip r:embed="rId2"/>
          <a:stretch>
            <a:fillRect/>
          </a:stretch>
        </p:blipFill>
        <p:spPr>
          <a:xfrm>
            <a:off x="768096" y="4626864"/>
            <a:ext cx="310896" cy="310896"/>
          </a:xfrm>
          <a:prstGeom prst="rect">
            <a:avLst/>
          </a:prstGeom>
        </p:spPr>
      </p:pic>
      <p:sp>
        <p:nvSpPr>
          <p:cNvPr id="8" name="Text 4"/>
          <p:cNvSpPr/>
          <p:nvPr/>
        </p:nvSpPr>
        <p:spPr>
          <a:xfrm>
            <a:off x="1243584" y="4370832"/>
            <a:ext cx="4663440" cy="749808"/>
          </a:xfrm>
          <a:prstGeom prst="rect">
            <a:avLst/>
          </a:prstGeom>
          <a:noFill/>
          <a:ln/>
        </p:spPr>
        <p:txBody>
          <a:bodyPr wrap="square" lIns="0" tIns="0" rIns="0" bIns="0" rtlCol="0" anchor="ctr"/>
          <a:lstStyle/>
          <a:p>
            <a:pPr indent="0" marL="0">
              <a:lnSpc>
                <a:spcPct val="102000"/>
              </a:lnSpc>
              <a:buNone/>
            </a:pPr>
            <a:r>
              <a:rPr lang="en-US" sz="1150" b="1" dirty="0">
                <a:solidFill>
                  <a:srgbClr val="B02530"/>
                </a:solidFill>
                <a:latin typeface="Calibri" pitchFamily="34" charset="0"/>
                <a:ea typeface="Calibri" pitchFamily="34" charset="-122"/>
                <a:cs typeface="Calibri" pitchFamily="34" charset="-120"/>
              </a:rPr>
              <a:t>MobiKwik: a sub-scale, late entrant in devices,  </a:t>
            </a:r>
            <a:pPr indent="0" marL="0">
              <a:lnSpc>
                <a:spcPct val="102000"/>
              </a:lnSpc>
              <a:buNone/>
            </a:pPr>
            <a:r>
              <a:rPr lang="en-US" sz="1150" dirty="0">
                <a:solidFill>
                  <a:srgbClr val="7A2A30"/>
                </a:solidFill>
                <a:latin typeface="Calibri" pitchFamily="34" charset="0"/>
                <a:ea typeface="Calibri" pitchFamily="34" charset="-122"/>
                <a:cs typeface="Calibri" pitchFamily="34" charset="-120"/>
              </a:rPr>
              <a:t>with the merchant lending flywheel still ahead of it.</a:t>
            </a:r>
            <a:endParaRPr lang="en-US" sz="1150" dirty="0"/>
          </a:p>
        </p:txBody>
      </p:sp>
      <p:sp>
        <p:nvSpPr>
          <p:cNvPr id="9" name="Shape 5"/>
          <p:cNvSpPr/>
          <p:nvPr/>
        </p:nvSpPr>
        <p:spPr>
          <a:xfrm>
            <a:off x="6629400" y="1481328"/>
            <a:ext cx="4995367" cy="1078992"/>
          </a:xfrm>
          <a:prstGeom prst="roundRect">
            <a:avLst>
              <a:gd name="adj" fmla="val 5932"/>
            </a:avLst>
          </a:prstGeom>
          <a:solidFill>
            <a:srgbClr val="F4F8FC"/>
          </a:solidFill>
          <a:ln w="12700">
            <a:solidFill>
              <a:srgbClr val="D8E2EE"/>
            </a:solidFill>
            <a:prstDash val="solid"/>
          </a:ln>
        </p:spPr>
      </p:sp>
      <p:sp>
        <p:nvSpPr>
          <p:cNvPr id="10" name="Shape 6"/>
          <p:cNvSpPr/>
          <p:nvPr/>
        </p:nvSpPr>
        <p:spPr>
          <a:xfrm>
            <a:off x="6848856" y="1719072"/>
            <a:ext cx="603504" cy="603504"/>
          </a:xfrm>
          <a:prstGeom prst="ellipse">
            <a:avLst/>
          </a:prstGeom>
          <a:solidFill>
            <a:srgbClr val="12B5CB"/>
          </a:solidFill>
          <a:ln/>
        </p:spPr>
      </p:sp>
      <p:pic>
        <p:nvPicPr>
          <p:cNvPr id="11" name="Image 1" descr="preencoded.png">    </p:cNvPr>
          <p:cNvPicPr>
            <a:picLocks noChangeAspect="1"/>
          </p:cNvPicPr>
          <p:nvPr/>
        </p:nvPicPr>
        <p:blipFill>
          <a:blip r:embed="rId3"/>
          <a:stretch>
            <a:fillRect/>
          </a:stretch>
        </p:blipFill>
        <p:spPr>
          <a:xfrm>
            <a:off x="7017837" y="1888053"/>
            <a:ext cx="265542" cy="265542"/>
          </a:xfrm>
          <a:prstGeom prst="rect">
            <a:avLst/>
          </a:prstGeom>
        </p:spPr>
      </p:pic>
      <p:sp>
        <p:nvSpPr>
          <p:cNvPr id="12" name="Text 7"/>
          <p:cNvSpPr/>
          <p:nvPr/>
        </p:nvSpPr>
        <p:spPr>
          <a:xfrm>
            <a:off x="7589520" y="1627632"/>
            <a:ext cx="3852367" cy="292608"/>
          </a:xfrm>
          <a:prstGeom prst="rect">
            <a:avLst/>
          </a:prstGeom>
          <a:noFill/>
          <a:ln/>
        </p:spPr>
        <p:txBody>
          <a:bodyPr wrap="square" lIns="0" tIns="0" rIns="0" bIns="0" rtlCol="0" anchor="ctr"/>
          <a:lstStyle/>
          <a:p>
            <a:pPr indent="0" marL="0">
              <a:buNone/>
            </a:pPr>
            <a:r>
              <a:rPr lang="en-US" sz="1350" b="1" dirty="0">
                <a:solidFill>
                  <a:srgbClr val="12355B"/>
                </a:solidFill>
                <a:latin typeface="Calibri" pitchFamily="34" charset="0"/>
                <a:ea typeface="Calibri" pitchFamily="34" charset="-122"/>
                <a:cs typeface="Calibri" pitchFamily="34" charset="-120"/>
              </a:rPr>
              <a:t>Distribution takes years</a:t>
            </a:r>
            <a:endParaRPr lang="en-US" sz="1350" dirty="0"/>
          </a:p>
        </p:txBody>
      </p:sp>
      <p:sp>
        <p:nvSpPr>
          <p:cNvPr id="13" name="Text 8"/>
          <p:cNvSpPr/>
          <p:nvPr/>
        </p:nvSpPr>
        <p:spPr>
          <a:xfrm>
            <a:off x="7589520" y="1920240"/>
            <a:ext cx="3852367" cy="566928"/>
          </a:xfrm>
          <a:prstGeom prst="rect">
            <a:avLst/>
          </a:prstGeom>
          <a:noFill/>
          <a:ln/>
        </p:spPr>
        <p:txBody>
          <a:bodyPr wrap="square" lIns="0" tIns="0" rIns="0" bIns="0" rtlCol="0" anchor="t"/>
          <a:lstStyle/>
          <a:p>
            <a:pPr indent="0" marL="0">
              <a:lnSpc>
                <a:spcPct val="102000"/>
              </a:lnSpc>
              <a:buNone/>
            </a:pPr>
            <a:r>
              <a:rPr lang="en-US" sz="1100" dirty="0">
                <a:solidFill>
                  <a:srgbClr val="44566A"/>
                </a:solidFill>
                <a:latin typeface="Calibri" pitchFamily="34" charset="0"/>
                <a:ea typeface="Calibri" pitchFamily="34" charset="-122"/>
                <a:cs typeface="Calibri" pitchFamily="34" charset="-120"/>
              </a:rPr>
              <a:t>Soundbox and POS rollouts are manpower-heavy and intensely local; whoever already has feet on the street keeps winning.</a:t>
            </a:r>
            <a:endParaRPr lang="en-US" sz="1100" dirty="0"/>
          </a:p>
        </p:txBody>
      </p:sp>
      <p:sp>
        <p:nvSpPr>
          <p:cNvPr id="14" name="Shape 9"/>
          <p:cNvSpPr/>
          <p:nvPr/>
        </p:nvSpPr>
        <p:spPr>
          <a:xfrm>
            <a:off x="6629400" y="2706624"/>
            <a:ext cx="4995367" cy="1078992"/>
          </a:xfrm>
          <a:prstGeom prst="roundRect">
            <a:avLst>
              <a:gd name="adj" fmla="val 5932"/>
            </a:avLst>
          </a:prstGeom>
          <a:solidFill>
            <a:srgbClr val="F4F8FC"/>
          </a:solidFill>
          <a:ln w="12700">
            <a:solidFill>
              <a:srgbClr val="D8E2EE"/>
            </a:solidFill>
            <a:prstDash val="solid"/>
          </a:ln>
        </p:spPr>
      </p:sp>
      <p:sp>
        <p:nvSpPr>
          <p:cNvPr id="15" name="Shape 10"/>
          <p:cNvSpPr/>
          <p:nvPr/>
        </p:nvSpPr>
        <p:spPr>
          <a:xfrm>
            <a:off x="6848856" y="2944368"/>
            <a:ext cx="603504" cy="603504"/>
          </a:xfrm>
          <a:prstGeom prst="ellipse">
            <a:avLst/>
          </a:prstGeom>
          <a:solidFill>
            <a:srgbClr val="12B5CB"/>
          </a:solidFill>
          <a:ln/>
        </p:spPr>
      </p:sp>
      <p:pic>
        <p:nvPicPr>
          <p:cNvPr id="16" name="Image 2" descr="preencoded.png">    </p:cNvPr>
          <p:cNvPicPr>
            <a:picLocks noChangeAspect="1"/>
          </p:cNvPicPr>
          <p:nvPr/>
        </p:nvPicPr>
        <p:blipFill>
          <a:blip r:embed="rId4"/>
          <a:stretch>
            <a:fillRect/>
          </a:stretch>
        </p:blipFill>
        <p:spPr>
          <a:xfrm>
            <a:off x="7017837" y="3113349"/>
            <a:ext cx="265542" cy="265542"/>
          </a:xfrm>
          <a:prstGeom prst="rect">
            <a:avLst/>
          </a:prstGeom>
        </p:spPr>
      </p:pic>
      <p:sp>
        <p:nvSpPr>
          <p:cNvPr id="17" name="Text 11"/>
          <p:cNvSpPr/>
          <p:nvPr/>
        </p:nvSpPr>
        <p:spPr>
          <a:xfrm>
            <a:off x="7589520" y="2852928"/>
            <a:ext cx="3852367" cy="292608"/>
          </a:xfrm>
          <a:prstGeom prst="rect">
            <a:avLst/>
          </a:prstGeom>
          <a:noFill/>
          <a:ln/>
        </p:spPr>
        <p:txBody>
          <a:bodyPr wrap="square" lIns="0" tIns="0" rIns="0" bIns="0" rtlCol="0" anchor="ctr"/>
          <a:lstStyle/>
          <a:p>
            <a:pPr indent="0" marL="0">
              <a:buNone/>
            </a:pPr>
            <a:r>
              <a:rPr lang="en-US" sz="1350" b="1" dirty="0">
                <a:solidFill>
                  <a:srgbClr val="12355B"/>
                </a:solidFill>
                <a:latin typeface="Calibri" pitchFamily="34" charset="0"/>
                <a:ea typeface="Calibri" pitchFamily="34" charset="-122"/>
                <a:cs typeface="Calibri" pitchFamily="34" charset="-120"/>
              </a:rPr>
              <a:t>Capability gaps run deep</a:t>
            </a:r>
            <a:endParaRPr lang="en-US" sz="1350" dirty="0"/>
          </a:p>
        </p:txBody>
      </p:sp>
      <p:sp>
        <p:nvSpPr>
          <p:cNvPr id="18" name="Text 12"/>
          <p:cNvSpPr/>
          <p:nvPr/>
        </p:nvSpPr>
        <p:spPr>
          <a:xfrm>
            <a:off x="7589520" y="3145536"/>
            <a:ext cx="3852367" cy="566928"/>
          </a:xfrm>
          <a:prstGeom prst="rect">
            <a:avLst/>
          </a:prstGeom>
          <a:noFill/>
          <a:ln/>
        </p:spPr>
        <p:txBody>
          <a:bodyPr wrap="square" lIns="0" tIns="0" rIns="0" bIns="0" rtlCol="0" anchor="t"/>
          <a:lstStyle/>
          <a:p>
            <a:pPr indent="0" marL="0">
              <a:lnSpc>
                <a:spcPct val="102000"/>
              </a:lnSpc>
              <a:buNone/>
            </a:pPr>
            <a:r>
              <a:rPr lang="en-US" sz="1100" dirty="0">
                <a:solidFill>
                  <a:srgbClr val="44566A"/>
                </a:solidFill>
                <a:latin typeface="Calibri" pitchFamily="34" charset="0"/>
                <a:ea typeface="Calibri" pitchFamily="34" charset="-122"/>
                <a:cs typeface="Calibri" pitchFamily="34" charset="-120"/>
              </a:rPr>
              <a:t>Underwriting, collections and a real broking stack cannot be willed into existence on a roadmap; they are built or bought.</a:t>
            </a:r>
            <a:endParaRPr lang="en-US" sz="1100" dirty="0"/>
          </a:p>
        </p:txBody>
      </p:sp>
      <p:sp>
        <p:nvSpPr>
          <p:cNvPr id="19" name="Shape 13"/>
          <p:cNvSpPr/>
          <p:nvPr/>
        </p:nvSpPr>
        <p:spPr>
          <a:xfrm>
            <a:off x="6629400" y="3931920"/>
            <a:ext cx="4995367" cy="1078992"/>
          </a:xfrm>
          <a:prstGeom prst="roundRect">
            <a:avLst>
              <a:gd name="adj" fmla="val 5932"/>
            </a:avLst>
          </a:prstGeom>
          <a:solidFill>
            <a:srgbClr val="F4F8FC"/>
          </a:solidFill>
          <a:ln w="12700">
            <a:solidFill>
              <a:srgbClr val="D8E2EE"/>
            </a:solidFill>
            <a:prstDash val="solid"/>
          </a:ln>
        </p:spPr>
      </p:sp>
      <p:sp>
        <p:nvSpPr>
          <p:cNvPr id="20" name="Shape 14"/>
          <p:cNvSpPr/>
          <p:nvPr/>
        </p:nvSpPr>
        <p:spPr>
          <a:xfrm>
            <a:off x="6848856" y="4169664"/>
            <a:ext cx="603504" cy="603504"/>
          </a:xfrm>
          <a:prstGeom prst="ellipse">
            <a:avLst/>
          </a:prstGeom>
          <a:solidFill>
            <a:srgbClr val="12B5CB"/>
          </a:solidFill>
          <a:ln/>
        </p:spPr>
      </p:sp>
      <p:pic>
        <p:nvPicPr>
          <p:cNvPr id="21" name="Image 3" descr="preencoded.png">    </p:cNvPr>
          <p:cNvPicPr>
            <a:picLocks noChangeAspect="1"/>
          </p:cNvPicPr>
          <p:nvPr/>
        </p:nvPicPr>
        <p:blipFill>
          <a:blip r:embed="rId5"/>
          <a:stretch>
            <a:fillRect/>
          </a:stretch>
        </p:blipFill>
        <p:spPr>
          <a:xfrm>
            <a:off x="7017837" y="4338645"/>
            <a:ext cx="265542" cy="265542"/>
          </a:xfrm>
          <a:prstGeom prst="rect">
            <a:avLst/>
          </a:prstGeom>
        </p:spPr>
      </p:pic>
      <p:sp>
        <p:nvSpPr>
          <p:cNvPr id="22" name="Text 15"/>
          <p:cNvSpPr/>
          <p:nvPr/>
        </p:nvSpPr>
        <p:spPr>
          <a:xfrm>
            <a:off x="7589520" y="4078224"/>
            <a:ext cx="3852367" cy="292608"/>
          </a:xfrm>
          <a:prstGeom prst="rect">
            <a:avLst/>
          </a:prstGeom>
          <a:noFill/>
          <a:ln/>
        </p:spPr>
        <p:txBody>
          <a:bodyPr wrap="square" lIns="0" tIns="0" rIns="0" bIns="0" rtlCol="0" anchor="ctr"/>
          <a:lstStyle/>
          <a:p>
            <a:pPr indent="0" marL="0">
              <a:buNone/>
            </a:pPr>
            <a:r>
              <a:rPr lang="en-US" sz="1350" b="1" dirty="0">
                <a:solidFill>
                  <a:srgbClr val="12355B"/>
                </a:solidFill>
                <a:latin typeface="Calibri" pitchFamily="34" charset="0"/>
                <a:ea typeface="Calibri" pitchFamily="34" charset="-122"/>
                <a:cs typeface="Calibri" pitchFamily="34" charset="-120"/>
              </a:rPr>
              <a:t>Incumbent leads compound</a:t>
            </a:r>
            <a:endParaRPr lang="en-US" sz="1350" dirty="0"/>
          </a:p>
        </p:txBody>
      </p:sp>
      <p:sp>
        <p:nvSpPr>
          <p:cNvPr id="23" name="Text 16"/>
          <p:cNvSpPr/>
          <p:nvPr/>
        </p:nvSpPr>
        <p:spPr>
          <a:xfrm>
            <a:off x="7589520" y="4370832"/>
            <a:ext cx="3852367" cy="566928"/>
          </a:xfrm>
          <a:prstGeom prst="rect">
            <a:avLst/>
          </a:prstGeom>
          <a:noFill/>
          <a:ln/>
        </p:spPr>
        <p:txBody>
          <a:bodyPr wrap="square" lIns="0" tIns="0" rIns="0" bIns="0" rtlCol="0" anchor="t"/>
          <a:lstStyle/>
          <a:p>
            <a:pPr indent="0" marL="0">
              <a:lnSpc>
                <a:spcPct val="102000"/>
              </a:lnSpc>
              <a:buNone/>
            </a:pPr>
            <a:r>
              <a:rPr lang="en-US" sz="1100" dirty="0">
                <a:solidFill>
                  <a:srgbClr val="44566A"/>
                </a:solidFill>
                <a:latin typeface="Calibri" pitchFamily="34" charset="0"/>
                <a:ea typeface="Calibri" pitchFamily="34" charset="-122"/>
                <a:cs typeface="Calibri" pitchFamily="34" charset="-120"/>
              </a:rPr>
              <a:t>More devices feed more cash-flow data, which feeds better lending, which funds more devices. The gap widens daily.</a:t>
            </a:r>
            <a:endParaRPr lang="en-US" sz="1100" dirty="0"/>
          </a:p>
        </p:txBody>
      </p:sp>
      <p:sp>
        <p:nvSpPr>
          <p:cNvPr id="24" name="Text 17"/>
          <p:cNvSpPr/>
          <p:nvPr/>
        </p:nvSpPr>
        <p:spPr>
          <a:xfrm>
            <a:off x="566928" y="5440680"/>
            <a:ext cx="11057839" cy="457200"/>
          </a:xfrm>
          <a:prstGeom prst="rect">
            <a:avLst/>
          </a:prstGeom>
          <a:noFill/>
          <a:ln/>
        </p:spPr>
        <p:txBody>
          <a:bodyPr wrap="square" lIns="0" tIns="0" rIns="0" bIns="0" rtlCol="0" anchor="ctr"/>
          <a:lstStyle/>
          <a:p>
            <a:pPr indent="0" marL="0">
              <a:buNone/>
            </a:pPr>
            <a:r>
              <a:rPr lang="en-US" sz="1150" b="1" dirty="0">
                <a:solidFill>
                  <a:srgbClr val="0E8F9C"/>
                </a:solidFill>
                <a:latin typeface="Calibri" pitchFamily="34" charset="0"/>
                <a:ea typeface="Calibri" pitchFamily="34" charset="-122"/>
                <a:cs typeface="Calibri" pitchFamily="34" charset="-120"/>
              </a:rPr>
              <a:t>Precedent:  </a:t>
            </a:r>
            <a:pPr indent="0" marL="0">
              <a:buNone/>
            </a:pPr>
            <a:r>
              <a:rPr lang="en-US" sz="1150" dirty="0">
                <a:solidFill>
                  <a:srgbClr val="44566A"/>
                </a:solidFill>
                <a:latin typeface="Calibri" pitchFamily="34" charset="0"/>
                <a:ea typeface="Calibri" pitchFamily="34" charset="-122"/>
                <a:cs typeface="Calibri" pitchFamily="34" charset="-120"/>
              </a:rPr>
              <a:t>Razorpay built much of its merchant moat by acquiring (Ezetap for offline POS, Billme and others). The same lever is open to MobiKwik.</a:t>
            </a:r>
            <a:endParaRPr lang="en-US" sz="1150" dirty="0"/>
          </a:p>
        </p:txBody>
      </p:sp>
      <p:sp>
        <p:nvSpPr>
          <p:cNvPr id="25" name="Text 18"/>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26" name="Text 19"/>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WHY NOW</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A funding winter has opened a rare buyer's window</a:t>
            </a:r>
            <a:endParaRPr lang="en-US" sz="2700" dirty="0"/>
          </a:p>
        </p:txBody>
      </p:sp>
      <p:sp>
        <p:nvSpPr>
          <p:cNvPr id="4" name="Text 2"/>
          <p:cNvSpPr/>
          <p:nvPr/>
        </p:nvSpPr>
        <p:spPr>
          <a:xfrm>
            <a:off x="566928" y="1481328"/>
            <a:ext cx="4023360" cy="274320"/>
          </a:xfrm>
          <a:prstGeom prst="rect">
            <a:avLst/>
          </a:prstGeom>
          <a:noFill/>
          <a:ln/>
        </p:spPr>
        <p:txBody>
          <a:bodyPr wrap="square" lIns="0" tIns="0" rIns="0" bIns="0" rtlCol="0" anchor="ctr"/>
          <a:lstStyle/>
          <a:p>
            <a:pPr indent="0" marL="0">
              <a:buNone/>
            </a:pPr>
            <a:r>
              <a:rPr lang="en-US" sz="1250" b="1" dirty="0">
                <a:solidFill>
                  <a:srgbClr val="12355B"/>
                </a:solidFill>
                <a:latin typeface="Calibri" pitchFamily="34" charset="0"/>
                <a:ea typeface="Calibri" pitchFamily="34" charset="-122"/>
                <a:cs typeface="Calibri" pitchFamily="34" charset="-120"/>
              </a:rPr>
              <a:t>India fintech funding rounds, Q1 (Tracxn)</a:t>
            </a:r>
            <a:endParaRPr lang="en-US" sz="1250" dirty="0"/>
          </a:p>
        </p:txBody>
      </p:sp>
      <p:graphicFrame>
        <p:nvGraphicFramePr>
          <p:cNvPr id="5" name="Chart 0" descr=""/>
          <p:cNvGraphicFramePr/>
          <p:nvPr/>
        </p:nvGraphicFramePr>
        <p:xfrm>
          <a:off x="475488" y="1874520"/>
          <a:ext cx="4114800" cy="2331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66928" y="4224528"/>
            <a:ext cx="4114800" cy="274320"/>
          </a:xfrm>
          <a:prstGeom prst="rect">
            <a:avLst/>
          </a:prstGeom>
          <a:noFill/>
          <a:ln/>
        </p:spPr>
        <p:txBody>
          <a:bodyPr wrap="square" lIns="0" tIns="0" rIns="0" bIns="0" rtlCol="0" anchor="ctr"/>
          <a:lstStyle/>
          <a:p>
            <a:pPr indent="0" marL="0">
              <a:buNone/>
            </a:pPr>
            <a:r>
              <a:rPr lang="en-US" sz="1100" i="1" dirty="0">
                <a:solidFill>
                  <a:srgbClr val="5E7184"/>
                </a:solidFill>
                <a:latin typeface="Calibri" pitchFamily="34" charset="0"/>
                <a:ea typeface="Calibri" pitchFamily="34" charset="-122"/>
                <a:cs typeface="Calibri" pitchFamily="34" charset="-120"/>
              </a:rPr>
              <a:t>Deal count nearly halved year on year</a:t>
            </a:r>
            <a:endParaRPr lang="en-US" sz="1100" dirty="0"/>
          </a:p>
        </p:txBody>
      </p:sp>
      <p:sp>
        <p:nvSpPr>
          <p:cNvPr id="7" name="Shape 4"/>
          <p:cNvSpPr/>
          <p:nvPr/>
        </p:nvSpPr>
        <p:spPr>
          <a:xfrm>
            <a:off x="5074920" y="1481328"/>
            <a:ext cx="6549847" cy="914400"/>
          </a:xfrm>
          <a:prstGeom prst="roundRect">
            <a:avLst>
              <a:gd name="adj" fmla="val 7000"/>
            </a:avLst>
          </a:prstGeom>
          <a:solidFill>
            <a:srgbClr val="F4F8FC"/>
          </a:solidFill>
          <a:ln w="12700">
            <a:solidFill>
              <a:srgbClr val="D8E2EE"/>
            </a:solidFill>
            <a:prstDash val="solid"/>
          </a:ln>
        </p:spPr>
      </p:sp>
      <p:sp>
        <p:nvSpPr>
          <p:cNvPr id="8" name="Shape 5"/>
          <p:cNvSpPr/>
          <p:nvPr/>
        </p:nvSpPr>
        <p:spPr>
          <a:xfrm>
            <a:off x="5276088" y="1682496"/>
            <a:ext cx="530352" cy="530352"/>
          </a:xfrm>
          <a:prstGeom prst="ellipse">
            <a:avLst/>
          </a:prstGeom>
          <a:solidFill>
            <a:srgbClr val="12355B"/>
          </a:solidFill>
          <a:ln/>
        </p:spPr>
      </p:sp>
      <p:pic>
        <p:nvPicPr>
          <p:cNvPr id="9" name="Image 0" descr="preencoded.png">    </p:cNvPr>
          <p:cNvPicPr>
            <a:picLocks noChangeAspect="1"/>
          </p:cNvPicPr>
          <p:nvPr/>
        </p:nvPicPr>
        <p:blipFill>
          <a:blip r:embed="rId2"/>
          <a:stretch>
            <a:fillRect/>
          </a:stretch>
        </p:blipFill>
        <p:spPr>
          <a:xfrm>
            <a:off x="5424587" y="1830995"/>
            <a:ext cx="233355" cy="233355"/>
          </a:xfrm>
          <a:prstGeom prst="rect">
            <a:avLst/>
          </a:prstGeom>
        </p:spPr>
      </p:pic>
      <p:sp>
        <p:nvSpPr>
          <p:cNvPr id="10" name="Text 6"/>
          <p:cNvSpPr/>
          <p:nvPr/>
        </p:nvSpPr>
        <p:spPr>
          <a:xfrm>
            <a:off x="5943600" y="1600200"/>
            <a:ext cx="5498287" cy="274320"/>
          </a:xfrm>
          <a:prstGeom prst="rect">
            <a:avLst/>
          </a:prstGeom>
          <a:noFill/>
          <a:ln/>
        </p:spPr>
        <p:txBody>
          <a:bodyPr wrap="square" lIns="0" tIns="0" rIns="0" bIns="0" rtlCol="0" anchor="ctr"/>
          <a:lstStyle/>
          <a:p>
            <a:pPr indent="0" marL="0">
              <a:buNone/>
            </a:pPr>
            <a:r>
              <a:rPr lang="en-US" sz="1350" b="1" dirty="0">
                <a:solidFill>
                  <a:srgbClr val="12355B"/>
                </a:solidFill>
                <a:latin typeface="Calibri" pitchFamily="34" charset="0"/>
                <a:ea typeface="Calibri" pitchFamily="34" charset="-122"/>
                <a:cs typeface="Calibri" pitchFamily="34" charset="-120"/>
              </a:rPr>
              <a:t>Valuations have reset</a:t>
            </a:r>
            <a:endParaRPr lang="en-US" sz="1350" dirty="0"/>
          </a:p>
        </p:txBody>
      </p:sp>
      <p:sp>
        <p:nvSpPr>
          <p:cNvPr id="11" name="Text 7"/>
          <p:cNvSpPr/>
          <p:nvPr/>
        </p:nvSpPr>
        <p:spPr>
          <a:xfrm>
            <a:off x="5943600" y="1865376"/>
            <a:ext cx="5498287" cy="493776"/>
          </a:xfrm>
          <a:prstGeom prst="rect">
            <a:avLst/>
          </a:prstGeom>
          <a:noFill/>
          <a:ln/>
        </p:spPr>
        <p:txBody>
          <a:bodyPr wrap="square" lIns="0" tIns="0" rIns="0" bIns="0" rtlCol="0" anchor="t"/>
          <a:lstStyle/>
          <a:p>
            <a:pPr indent="0" marL="0">
              <a:lnSpc>
                <a:spcPct val="100000"/>
              </a:lnSpc>
              <a:buNone/>
            </a:pPr>
            <a:r>
              <a:rPr lang="en-US" sz="1100" dirty="0">
                <a:solidFill>
                  <a:srgbClr val="44566A"/>
                </a:solidFill>
                <a:latin typeface="Calibri" pitchFamily="34" charset="0"/>
                <a:ea typeface="Calibri" pitchFamily="34" charset="-122"/>
                <a:cs typeface="Calibri" pitchFamily="34" charset="-120"/>
              </a:rPr>
              <a:t>Late-stage capital is concentrating in a handful of names; many capable but sub-scale fintechs now need a home.</a:t>
            </a:r>
            <a:endParaRPr lang="en-US" sz="1100" dirty="0"/>
          </a:p>
        </p:txBody>
      </p:sp>
      <p:sp>
        <p:nvSpPr>
          <p:cNvPr id="12" name="Shape 8"/>
          <p:cNvSpPr/>
          <p:nvPr/>
        </p:nvSpPr>
        <p:spPr>
          <a:xfrm>
            <a:off x="5074920" y="2505456"/>
            <a:ext cx="6549847" cy="914400"/>
          </a:xfrm>
          <a:prstGeom prst="roundRect">
            <a:avLst>
              <a:gd name="adj" fmla="val 7000"/>
            </a:avLst>
          </a:prstGeom>
          <a:solidFill>
            <a:srgbClr val="F4F8FC"/>
          </a:solidFill>
          <a:ln w="12700">
            <a:solidFill>
              <a:srgbClr val="D8E2EE"/>
            </a:solidFill>
            <a:prstDash val="solid"/>
          </a:ln>
        </p:spPr>
      </p:sp>
      <p:sp>
        <p:nvSpPr>
          <p:cNvPr id="13" name="Shape 9"/>
          <p:cNvSpPr/>
          <p:nvPr/>
        </p:nvSpPr>
        <p:spPr>
          <a:xfrm>
            <a:off x="5276088" y="2706624"/>
            <a:ext cx="530352" cy="530352"/>
          </a:xfrm>
          <a:prstGeom prst="ellipse">
            <a:avLst/>
          </a:prstGeom>
          <a:solidFill>
            <a:srgbClr val="12355B"/>
          </a:solidFill>
          <a:ln/>
        </p:spPr>
      </p:sp>
      <p:pic>
        <p:nvPicPr>
          <p:cNvPr id="14" name="Image 1" descr="preencoded.png">    </p:cNvPr>
          <p:cNvPicPr>
            <a:picLocks noChangeAspect="1"/>
          </p:cNvPicPr>
          <p:nvPr/>
        </p:nvPicPr>
        <p:blipFill>
          <a:blip r:embed="rId3"/>
          <a:stretch>
            <a:fillRect/>
          </a:stretch>
        </p:blipFill>
        <p:spPr>
          <a:xfrm>
            <a:off x="5424587" y="2855123"/>
            <a:ext cx="233355" cy="233355"/>
          </a:xfrm>
          <a:prstGeom prst="rect">
            <a:avLst/>
          </a:prstGeom>
        </p:spPr>
      </p:pic>
      <p:sp>
        <p:nvSpPr>
          <p:cNvPr id="15" name="Text 10"/>
          <p:cNvSpPr/>
          <p:nvPr/>
        </p:nvSpPr>
        <p:spPr>
          <a:xfrm>
            <a:off x="5943600" y="2624328"/>
            <a:ext cx="5498287" cy="274320"/>
          </a:xfrm>
          <a:prstGeom prst="rect">
            <a:avLst/>
          </a:prstGeom>
          <a:noFill/>
          <a:ln/>
        </p:spPr>
        <p:txBody>
          <a:bodyPr wrap="square" lIns="0" tIns="0" rIns="0" bIns="0" rtlCol="0" anchor="ctr"/>
          <a:lstStyle/>
          <a:p>
            <a:pPr indent="0" marL="0">
              <a:buNone/>
            </a:pPr>
            <a:r>
              <a:rPr lang="en-US" sz="1350" b="1" dirty="0">
                <a:solidFill>
                  <a:srgbClr val="12355B"/>
                </a:solidFill>
                <a:latin typeface="Calibri" pitchFamily="34" charset="0"/>
                <a:ea typeface="Calibri" pitchFamily="34" charset="-122"/>
                <a:cs typeface="Calibri" pitchFamily="34" charset="-120"/>
              </a:rPr>
              <a:t>Licences command a premium</a:t>
            </a:r>
            <a:endParaRPr lang="en-US" sz="1350" dirty="0"/>
          </a:p>
        </p:txBody>
      </p:sp>
      <p:sp>
        <p:nvSpPr>
          <p:cNvPr id="16" name="Text 11"/>
          <p:cNvSpPr/>
          <p:nvPr/>
        </p:nvSpPr>
        <p:spPr>
          <a:xfrm>
            <a:off x="5943600" y="2889504"/>
            <a:ext cx="5498287" cy="493776"/>
          </a:xfrm>
          <a:prstGeom prst="rect">
            <a:avLst/>
          </a:prstGeom>
          <a:noFill/>
          <a:ln/>
        </p:spPr>
        <p:txBody>
          <a:bodyPr wrap="square" lIns="0" tIns="0" rIns="0" bIns="0" rtlCol="0" anchor="t"/>
          <a:lstStyle/>
          <a:p>
            <a:pPr indent="0" marL="0">
              <a:lnSpc>
                <a:spcPct val="100000"/>
              </a:lnSpc>
              <a:buNone/>
            </a:pPr>
            <a:r>
              <a:rPr lang="en-US" sz="1100" dirty="0">
                <a:solidFill>
                  <a:srgbClr val="44566A"/>
                </a:solidFill>
                <a:latin typeface="Calibri" pitchFamily="34" charset="0"/>
                <a:ea typeface="Calibri" pitchFamily="34" charset="-122"/>
                <a:cs typeface="Calibri" pitchFamily="34" charset="-120"/>
              </a:rPr>
              <a:t>RBI's Digital Lending Directions and tighter rules make NBFC, payment-aggregator and broking licences scarce and valuable.</a:t>
            </a:r>
            <a:endParaRPr lang="en-US" sz="1100" dirty="0"/>
          </a:p>
        </p:txBody>
      </p:sp>
      <p:sp>
        <p:nvSpPr>
          <p:cNvPr id="17" name="Shape 12"/>
          <p:cNvSpPr/>
          <p:nvPr/>
        </p:nvSpPr>
        <p:spPr>
          <a:xfrm>
            <a:off x="5074920" y="3529584"/>
            <a:ext cx="6549847" cy="914400"/>
          </a:xfrm>
          <a:prstGeom prst="roundRect">
            <a:avLst>
              <a:gd name="adj" fmla="val 7000"/>
            </a:avLst>
          </a:prstGeom>
          <a:solidFill>
            <a:srgbClr val="F4F8FC"/>
          </a:solidFill>
          <a:ln w="12700">
            <a:solidFill>
              <a:srgbClr val="D8E2EE"/>
            </a:solidFill>
            <a:prstDash val="solid"/>
          </a:ln>
        </p:spPr>
      </p:sp>
      <p:sp>
        <p:nvSpPr>
          <p:cNvPr id="18" name="Shape 13"/>
          <p:cNvSpPr/>
          <p:nvPr/>
        </p:nvSpPr>
        <p:spPr>
          <a:xfrm>
            <a:off x="5276088" y="3730752"/>
            <a:ext cx="530352" cy="530352"/>
          </a:xfrm>
          <a:prstGeom prst="ellipse">
            <a:avLst/>
          </a:prstGeom>
          <a:solidFill>
            <a:srgbClr val="12355B"/>
          </a:solidFill>
          <a:ln/>
        </p:spPr>
      </p:sp>
      <p:pic>
        <p:nvPicPr>
          <p:cNvPr id="19" name="Image 2" descr="preencoded.png">    </p:cNvPr>
          <p:cNvPicPr>
            <a:picLocks noChangeAspect="1"/>
          </p:cNvPicPr>
          <p:nvPr/>
        </p:nvPicPr>
        <p:blipFill>
          <a:blip r:embed="rId4"/>
          <a:stretch>
            <a:fillRect/>
          </a:stretch>
        </p:blipFill>
        <p:spPr>
          <a:xfrm>
            <a:off x="5424587" y="3879251"/>
            <a:ext cx="233355" cy="233355"/>
          </a:xfrm>
          <a:prstGeom prst="rect">
            <a:avLst/>
          </a:prstGeom>
        </p:spPr>
      </p:pic>
      <p:sp>
        <p:nvSpPr>
          <p:cNvPr id="20" name="Text 14"/>
          <p:cNvSpPr/>
          <p:nvPr/>
        </p:nvSpPr>
        <p:spPr>
          <a:xfrm>
            <a:off x="5943600" y="3648456"/>
            <a:ext cx="5498287" cy="274320"/>
          </a:xfrm>
          <a:prstGeom prst="rect">
            <a:avLst/>
          </a:prstGeom>
          <a:noFill/>
          <a:ln/>
        </p:spPr>
        <p:txBody>
          <a:bodyPr wrap="square" lIns="0" tIns="0" rIns="0" bIns="0" rtlCol="0" anchor="ctr"/>
          <a:lstStyle/>
          <a:p>
            <a:pPr indent="0" marL="0">
              <a:buNone/>
            </a:pPr>
            <a:r>
              <a:rPr lang="en-US" sz="1350" b="1" dirty="0">
                <a:solidFill>
                  <a:srgbClr val="12355B"/>
                </a:solidFill>
                <a:latin typeface="Calibri" pitchFamily="34" charset="0"/>
                <a:ea typeface="Calibri" pitchFamily="34" charset="-122"/>
                <a:cs typeface="Calibri" pitchFamily="34" charset="-120"/>
              </a:rPr>
              <a:t>MobiKwik can pay in paper</a:t>
            </a:r>
            <a:endParaRPr lang="en-US" sz="1350" dirty="0"/>
          </a:p>
        </p:txBody>
      </p:sp>
      <p:sp>
        <p:nvSpPr>
          <p:cNvPr id="21" name="Text 15"/>
          <p:cNvSpPr/>
          <p:nvPr/>
        </p:nvSpPr>
        <p:spPr>
          <a:xfrm>
            <a:off x="5943600" y="3913632"/>
            <a:ext cx="5498287" cy="493776"/>
          </a:xfrm>
          <a:prstGeom prst="rect">
            <a:avLst/>
          </a:prstGeom>
          <a:noFill/>
          <a:ln/>
        </p:spPr>
        <p:txBody>
          <a:bodyPr wrap="square" lIns="0" tIns="0" rIns="0" bIns="0" rtlCol="0" anchor="t"/>
          <a:lstStyle/>
          <a:p>
            <a:pPr indent="0" marL="0">
              <a:lnSpc>
                <a:spcPct val="100000"/>
              </a:lnSpc>
              <a:buNone/>
            </a:pPr>
            <a:r>
              <a:rPr lang="en-US" sz="1100" dirty="0">
                <a:solidFill>
                  <a:srgbClr val="44566A"/>
                </a:solidFill>
                <a:latin typeface="Calibri" pitchFamily="34" charset="0"/>
                <a:ea typeface="Calibri" pitchFamily="34" charset="-122"/>
                <a:cs typeface="Calibri" pitchFamily="34" charset="-120"/>
              </a:rPr>
              <a:t>A listed stock plus restored profitability is acquisition currency the company simply did not have a year ago.</a:t>
            </a:r>
            <a:endParaRPr lang="en-US" sz="1100" dirty="0"/>
          </a:p>
        </p:txBody>
      </p:sp>
      <p:sp>
        <p:nvSpPr>
          <p:cNvPr id="22" name="Shape 16"/>
          <p:cNvSpPr/>
          <p:nvPr/>
        </p:nvSpPr>
        <p:spPr>
          <a:xfrm>
            <a:off x="566928" y="4736592"/>
            <a:ext cx="11057839" cy="1298448"/>
          </a:xfrm>
          <a:prstGeom prst="roundRect">
            <a:avLst>
              <a:gd name="adj" fmla="val 4930"/>
            </a:avLst>
          </a:prstGeom>
          <a:solidFill>
            <a:srgbClr val="0A2540"/>
          </a:solidFill>
          <a:ln/>
          <a:effectLst>
            <a:outerShdw sx="100000" sy="100000" kx="0" ky="0" algn="bl" rotWithShape="0" blurRad="114300" dist="38100" dir="5400000">
              <a:srgbClr val="1B2B44">
                <a:alpha val="10000"/>
              </a:srgbClr>
            </a:outerShdw>
          </a:effectLst>
        </p:spPr>
      </p:sp>
      <p:sp>
        <p:nvSpPr>
          <p:cNvPr id="23" name="Text 17"/>
          <p:cNvSpPr/>
          <p:nvPr/>
        </p:nvSpPr>
        <p:spPr>
          <a:xfrm>
            <a:off x="841248" y="4864608"/>
            <a:ext cx="10509199" cy="274320"/>
          </a:xfrm>
          <a:prstGeom prst="rect">
            <a:avLst/>
          </a:prstGeom>
          <a:noFill/>
          <a:ln/>
        </p:spPr>
        <p:txBody>
          <a:bodyPr wrap="square" lIns="0" tIns="0" rIns="0" bIns="0" rtlCol="0" anchor="ctr"/>
          <a:lstStyle/>
          <a:p>
            <a:pPr indent="0" marL="0">
              <a:buNone/>
            </a:pPr>
            <a:r>
              <a:rPr lang="en-US" sz="1250" b="1" dirty="0">
                <a:solidFill>
                  <a:srgbClr val="12B5CB"/>
                </a:solidFill>
                <a:latin typeface="Calibri" pitchFamily="34" charset="0"/>
                <a:ea typeface="Calibri" pitchFamily="34" charset="-122"/>
                <a:cs typeface="Calibri" pitchFamily="34" charset="-120"/>
              </a:rPr>
              <a:t>Recent India fintech deals: buyers are acquiring licences, books and capability</a:t>
            </a:r>
            <a:endParaRPr lang="en-US" sz="1250" dirty="0"/>
          </a:p>
        </p:txBody>
      </p:sp>
      <p:sp>
        <p:nvSpPr>
          <p:cNvPr id="24" name="Shape 18"/>
          <p:cNvSpPr/>
          <p:nvPr/>
        </p:nvSpPr>
        <p:spPr>
          <a:xfrm>
            <a:off x="841248" y="5230368"/>
            <a:ext cx="2490140" cy="676656"/>
          </a:xfrm>
          <a:prstGeom prst="roundRect">
            <a:avLst>
              <a:gd name="adj" fmla="val 8108"/>
            </a:avLst>
          </a:prstGeom>
          <a:solidFill>
            <a:srgbClr val="13355C"/>
          </a:solidFill>
          <a:ln w="12700">
            <a:solidFill>
              <a:srgbClr val="1E4571"/>
            </a:solidFill>
            <a:prstDash val="solid"/>
          </a:ln>
        </p:spPr>
      </p:sp>
      <p:sp>
        <p:nvSpPr>
          <p:cNvPr id="25" name="Text 19"/>
          <p:cNvSpPr/>
          <p:nvPr/>
        </p:nvSpPr>
        <p:spPr>
          <a:xfrm>
            <a:off x="987552" y="5285232"/>
            <a:ext cx="2197532" cy="402336"/>
          </a:xfrm>
          <a:prstGeom prst="rect">
            <a:avLst/>
          </a:prstGeom>
          <a:noFill/>
          <a:ln/>
        </p:spPr>
        <p:txBody>
          <a:bodyPr wrap="square" lIns="0" tIns="0" rIns="0" bIns="0" rtlCol="0" anchor="t"/>
          <a:lstStyle/>
          <a:p>
            <a:pPr indent="0" marL="0">
              <a:lnSpc>
                <a:spcPct val="98000"/>
              </a:lnSpc>
              <a:buNone/>
            </a:pPr>
            <a:r>
              <a:rPr lang="en-US" sz="950" b="1" dirty="0">
                <a:solidFill>
                  <a:srgbClr val="FFFFFF"/>
                </a:solidFill>
                <a:latin typeface="Calibri" pitchFamily="34" charset="0"/>
                <a:ea typeface="Calibri" pitchFamily="34" charset="-122"/>
                <a:cs typeface="Calibri" pitchFamily="34" charset="-120"/>
              </a:rPr>
              <a:t>Groww </a:t>
            </a:r>
            <a:pPr indent="0" marL="0">
              <a:lnSpc>
                <a:spcPct val="98000"/>
              </a:lnSpc>
              <a:buNone/>
            </a:pPr>
            <a:r>
              <a:rPr lang="en-US" sz="950" dirty="0">
                <a:solidFill>
                  <a:srgbClr val="BBD0E6"/>
                </a:solidFill>
                <a:latin typeface="Calibri" pitchFamily="34" charset="0"/>
                <a:ea typeface="Calibri" pitchFamily="34" charset="-122"/>
                <a:cs typeface="Calibri" pitchFamily="34" charset="-120"/>
              </a:rPr>
              <a:t>acquired Fisdom (~$150M)</a:t>
            </a:r>
            <a:endParaRPr lang="en-US" sz="950" dirty="0"/>
          </a:p>
        </p:txBody>
      </p:sp>
      <p:sp>
        <p:nvSpPr>
          <p:cNvPr id="26" name="Text 20"/>
          <p:cNvSpPr/>
          <p:nvPr/>
        </p:nvSpPr>
        <p:spPr>
          <a:xfrm>
            <a:off x="987552" y="5669280"/>
            <a:ext cx="2197532" cy="219456"/>
          </a:xfrm>
          <a:prstGeom prst="rect">
            <a:avLst/>
          </a:prstGeom>
          <a:noFill/>
          <a:ln/>
        </p:spPr>
        <p:txBody>
          <a:bodyPr wrap="square" lIns="0" tIns="0" rIns="0" bIns="0" rtlCol="0" anchor="ctr"/>
          <a:lstStyle/>
          <a:p>
            <a:pPr indent="0" marL="0">
              <a:buNone/>
            </a:pPr>
            <a:r>
              <a:rPr lang="en-US" sz="850" i="1" dirty="0">
                <a:solidFill>
                  <a:srgbClr val="12B5CB"/>
                </a:solidFill>
                <a:latin typeface="Calibri" pitchFamily="34" charset="0"/>
                <a:ea typeface="Calibri" pitchFamily="34" charset="-122"/>
                <a:cs typeface="Calibri" pitchFamily="34" charset="-120"/>
              </a:rPr>
              <a:t>wealthtech distribution</a:t>
            </a:r>
            <a:endParaRPr lang="en-US" sz="850" dirty="0"/>
          </a:p>
        </p:txBody>
      </p:sp>
      <p:sp>
        <p:nvSpPr>
          <p:cNvPr id="27" name="Shape 21"/>
          <p:cNvSpPr/>
          <p:nvPr/>
        </p:nvSpPr>
        <p:spPr>
          <a:xfrm>
            <a:off x="3514268" y="5230368"/>
            <a:ext cx="2490140" cy="676656"/>
          </a:xfrm>
          <a:prstGeom prst="roundRect">
            <a:avLst>
              <a:gd name="adj" fmla="val 8108"/>
            </a:avLst>
          </a:prstGeom>
          <a:solidFill>
            <a:srgbClr val="13355C"/>
          </a:solidFill>
          <a:ln w="12700">
            <a:solidFill>
              <a:srgbClr val="1E4571"/>
            </a:solidFill>
            <a:prstDash val="solid"/>
          </a:ln>
        </p:spPr>
      </p:sp>
      <p:sp>
        <p:nvSpPr>
          <p:cNvPr id="28" name="Text 22"/>
          <p:cNvSpPr/>
          <p:nvPr/>
        </p:nvSpPr>
        <p:spPr>
          <a:xfrm>
            <a:off x="3660572" y="5285232"/>
            <a:ext cx="2197532" cy="402336"/>
          </a:xfrm>
          <a:prstGeom prst="rect">
            <a:avLst/>
          </a:prstGeom>
          <a:noFill/>
          <a:ln/>
        </p:spPr>
        <p:txBody>
          <a:bodyPr wrap="square" lIns="0" tIns="0" rIns="0" bIns="0" rtlCol="0" anchor="t"/>
          <a:lstStyle/>
          <a:p>
            <a:pPr indent="0" marL="0">
              <a:lnSpc>
                <a:spcPct val="98000"/>
              </a:lnSpc>
              <a:buNone/>
            </a:pPr>
            <a:r>
              <a:rPr lang="en-US" sz="950" b="1" dirty="0">
                <a:solidFill>
                  <a:srgbClr val="FFFFFF"/>
                </a:solidFill>
                <a:latin typeface="Calibri" pitchFamily="34" charset="0"/>
                <a:ea typeface="Calibri" pitchFamily="34" charset="-122"/>
                <a:cs typeface="Calibri" pitchFamily="34" charset="-120"/>
              </a:rPr>
              <a:t>Amazon </a:t>
            </a:r>
            <a:pPr indent="0" marL="0">
              <a:lnSpc>
                <a:spcPct val="98000"/>
              </a:lnSpc>
              <a:buNone/>
            </a:pPr>
            <a:r>
              <a:rPr lang="en-US" sz="950" dirty="0">
                <a:solidFill>
                  <a:srgbClr val="BBD0E6"/>
                </a:solidFill>
                <a:latin typeface="Calibri" pitchFamily="34" charset="0"/>
                <a:ea typeface="Calibri" pitchFamily="34" charset="-122"/>
                <a:cs typeface="Calibri" pitchFamily="34" charset="-120"/>
              </a:rPr>
              <a:t>acquired Axio (~$200M)</a:t>
            </a:r>
            <a:endParaRPr lang="en-US" sz="950" dirty="0"/>
          </a:p>
        </p:txBody>
      </p:sp>
      <p:sp>
        <p:nvSpPr>
          <p:cNvPr id="29" name="Text 23"/>
          <p:cNvSpPr/>
          <p:nvPr/>
        </p:nvSpPr>
        <p:spPr>
          <a:xfrm>
            <a:off x="3660572" y="5669280"/>
            <a:ext cx="2197532" cy="219456"/>
          </a:xfrm>
          <a:prstGeom prst="rect">
            <a:avLst/>
          </a:prstGeom>
          <a:noFill/>
          <a:ln/>
        </p:spPr>
        <p:txBody>
          <a:bodyPr wrap="square" lIns="0" tIns="0" rIns="0" bIns="0" rtlCol="0" anchor="ctr"/>
          <a:lstStyle/>
          <a:p>
            <a:pPr indent="0" marL="0">
              <a:buNone/>
            </a:pPr>
            <a:r>
              <a:rPr lang="en-US" sz="850" i="1" dirty="0">
                <a:solidFill>
                  <a:srgbClr val="12B5CB"/>
                </a:solidFill>
                <a:latin typeface="Calibri" pitchFamily="34" charset="0"/>
                <a:ea typeface="Calibri" pitchFamily="34" charset="-122"/>
                <a:cs typeface="Calibri" pitchFamily="34" charset="-120"/>
              </a:rPr>
              <a:t>NBFC licence + loan book</a:t>
            </a:r>
            <a:endParaRPr lang="en-US" sz="850" dirty="0"/>
          </a:p>
        </p:txBody>
      </p:sp>
      <p:sp>
        <p:nvSpPr>
          <p:cNvPr id="30" name="Shape 24"/>
          <p:cNvSpPr/>
          <p:nvPr/>
        </p:nvSpPr>
        <p:spPr>
          <a:xfrm>
            <a:off x="6187288" y="5230368"/>
            <a:ext cx="2490140" cy="676656"/>
          </a:xfrm>
          <a:prstGeom prst="roundRect">
            <a:avLst>
              <a:gd name="adj" fmla="val 8108"/>
            </a:avLst>
          </a:prstGeom>
          <a:solidFill>
            <a:srgbClr val="13355C"/>
          </a:solidFill>
          <a:ln w="12700">
            <a:solidFill>
              <a:srgbClr val="1E4571"/>
            </a:solidFill>
            <a:prstDash val="solid"/>
          </a:ln>
        </p:spPr>
      </p:sp>
      <p:sp>
        <p:nvSpPr>
          <p:cNvPr id="31" name="Text 25"/>
          <p:cNvSpPr/>
          <p:nvPr/>
        </p:nvSpPr>
        <p:spPr>
          <a:xfrm>
            <a:off x="6333592" y="5285232"/>
            <a:ext cx="2197532" cy="402336"/>
          </a:xfrm>
          <a:prstGeom prst="rect">
            <a:avLst/>
          </a:prstGeom>
          <a:noFill/>
          <a:ln/>
        </p:spPr>
        <p:txBody>
          <a:bodyPr wrap="square" lIns="0" tIns="0" rIns="0" bIns="0" rtlCol="0" anchor="t"/>
          <a:lstStyle/>
          <a:p>
            <a:pPr indent="0" marL="0">
              <a:lnSpc>
                <a:spcPct val="98000"/>
              </a:lnSpc>
              <a:buNone/>
            </a:pPr>
            <a:r>
              <a:rPr lang="en-US" sz="950" b="1" dirty="0">
                <a:solidFill>
                  <a:srgbClr val="FFFFFF"/>
                </a:solidFill>
                <a:latin typeface="Calibri" pitchFamily="34" charset="0"/>
                <a:ea typeface="Calibri" pitchFamily="34" charset="-122"/>
                <a:cs typeface="Calibri" pitchFamily="34" charset="-120"/>
              </a:rPr>
              <a:t>Slice </a:t>
            </a:r>
            <a:pPr indent="0" marL="0">
              <a:lnSpc>
                <a:spcPct val="98000"/>
              </a:lnSpc>
              <a:buNone/>
            </a:pPr>
            <a:r>
              <a:rPr lang="en-US" sz="950" dirty="0">
                <a:solidFill>
                  <a:srgbClr val="BBD0E6"/>
                </a:solidFill>
                <a:latin typeface="Calibri" pitchFamily="34" charset="0"/>
                <a:ea typeface="Calibri" pitchFamily="34" charset="-122"/>
                <a:cs typeface="Calibri" pitchFamily="34" charset="-120"/>
              </a:rPr>
              <a:t>merged with a small finance bank</a:t>
            </a:r>
            <a:endParaRPr lang="en-US" sz="950" dirty="0"/>
          </a:p>
        </p:txBody>
      </p:sp>
      <p:sp>
        <p:nvSpPr>
          <p:cNvPr id="32" name="Text 26"/>
          <p:cNvSpPr/>
          <p:nvPr/>
        </p:nvSpPr>
        <p:spPr>
          <a:xfrm>
            <a:off x="6333592" y="5669280"/>
            <a:ext cx="2197532" cy="219456"/>
          </a:xfrm>
          <a:prstGeom prst="rect">
            <a:avLst/>
          </a:prstGeom>
          <a:noFill/>
          <a:ln/>
        </p:spPr>
        <p:txBody>
          <a:bodyPr wrap="square" lIns="0" tIns="0" rIns="0" bIns="0" rtlCol="0" anchor="ctr"/>
          <a:lstStyle/>
          <a:p>
            <a:pPr indent="0" marL="0">
              <a:buNone/>
            </a:pPr>
            <a:r>
              <a:rPr lang="en-US" sz="850" i="1" dirty="0">
                <a:solidFill>
                  <a:srgbClr val="12B5CB"/>
                </a:solidFill>
                <a:latin typeface="Calibri" pitchFamily="34" charset="0"/>
                <a:ea typeface="Calibri" pitchFamily="34" charset="-122"/>
                <a:cs typeface="Calibri" pitchFamily="34" charset="-120"/>
              </a:rPr>
              <a:t>full banking licence</a:t>
            </a:r>
            <a:endParaRPr lang="en-US" sz="850" dirty="0"/>
          </a:p>
        </p:txBody>
      </p:sp>
      <p:sp>
        <p:nvSpPr>
          <p:cNvPr id="33" name="Shape 27"/>
          <p:cNvSpPr/>
          <p:nvPr/>
        </p:nvSpPr>
        <p:spPr>
          <a:xfrm>
            <a:off x="8860307" y="5230368"/>
            <a:ext cx="2490140" cy="676656"/>
          </a:xfrm>
          <a:prstGeom prst="roundRect">
            <a:avLst>
              <a:gd name="adj" fmla="val 8108"/>
            </a:avLst>
          </a:prstGeom>
          <a:solidFill>
            <a:srgbClr val="13355C"/>
          </a:solidFill>
          <a:ln w="12700">
            <a:solidFill>
              <a:srgbClr val="1E4571"/>
            </a:solidFill>
            <a:prstDash val="solid"/>
          </a:ln>
        </p:spPr>
      </p:sp>
      <p:sp>
        <p:nvSpPr>
          <p:cNvPr id="34" name="Text 28"/>
          <p:cNvSpPr/>
          <p:nvPr/>
        </p:nvSpPr>
        <p:spPr>
          <a:xfrm>
            <a:off x="9006611" y="5285232"/>
            <a:ext cx="2197532" cy="402336"/>
          </a:xfrm>
          <a:prstGeom prst="rect">
            <a:avLst/>
          </a:prstGeom>
          <a:noFill/>
          <a:ln/>
        </p:spPr>
        <p:txBody>
          <a:bodyPr wrap="square" lIns="0" tIns="0" rIns="0" bIns="0" rtlCol="0" anchor="t"/>
          <a:lstStyle/>
          <a:p>
            <a:pPr indent="0" marL="0">
              <a:lnSpc>
                <a:spcPct val="98000"/>
              </a:lnSpc>
              <a:buNone/>
            </a:pPr>
            <a:r>
              <a:rPr lang="en-US" sz="950" b="1" dirty="0">
                <a:solidFill>
                  <a:srgbClr val="FFFFFF"/>
                </a:solidFill>
                <a:latin typeface="Calibri" pitchFamily="34" charset="0"/>
                <a:ea typeface="Calibri" pitchFamily="34" charset="-122"/>
                <a:cs typeface="Calibri" pitchFamily="34" charset="-120"/>
              </a:rPr>
              <a:t>Partners Group </a:t>
            </a:r>
            <a:pPr indent="0" marL="0">
              <a:lnSpc>
                <a:spcPct val="98000"/>
              </a:lnSpc>
              <a:buNone/>
            </a:pPr>
            <a:r>
              <a:rPr lang="en-US" sz="950" dirty="0">
                <a:solidFill>
                  <a:srgbClr val="BBD0E6"/>
                </a:solidFill>
                <a:latin typeface="Calibri" pitchFamily="34" charset="0"/>
                <a:ea typeface="Calibri" pitchFamily="34" charset="-122"/>
                <a:cs typeface="Calibri" pitchFamily="34" charset="-120"/>
              </a:rPr>
              <a:t>took 75% of Infinity Fincorp (~$230M)</a:t>
            </a:r>
            <a:endParaRPr lang="en-US" sz="950" dirty="0"/>
          </a:p>
        </p:txBody>
      </p:sp>
      <p:sp>
        <p:nvSpPr>
          <p:cNvPr id="35" name="Text 29"/>
          <p:cNvSpPr/>
          <p:nvPr/>
        </p:nvSpPr>
        <p:spPr>
          <a:xfrm>
            <a:off x="9006611" y="5669280"/>
            <a:ext cx="2197532" cy="219456"/>
          </a:xfrm>
          <a:prstGeom prst="rect">
            <a:avLst/>
          </a:prstGeom>
          <a:noFill/>
          <a:ln/>
        </p:spPr>
        <p:txBody>
          <a:bodyPr wrap="square" lIns="0" tIns="0" rIns="0" bIns="0" rtlCol="0" anchor="ctr"/>
          <a:lstStyle/>
          <a:p>
            <a:pPr indent="0" marL="0">
              <a:buNone/>
            </a:pPr>
            <a:r>
              <a:rPr lang="en-US" sz="850" i="1" dirty="0">
                <a:solidFill>
                  <a:srgbClr val="12B5CB"/>
                </a:solidFill>
                <a:latin typeface="Calibri" pitchFamily="34" charset="0"/>
                <a:ea typeface="Calibri" pitchFamily="34" charset="-122"/>
                <a:cs typeface="Calibri" pitchFamily="34" charset="-120"/>
              </a:rPr>
              <a:t>MSME lending</a:t>
            </a:r>
            <a:endParaRPr lang="en-US" sz="850" dirty="0"/>
          </a:p>
        </p:txBody>
      </p:sp>
      <p:sp>
        <p:nvSpPr>
          <p:cNvPr id="36" name="Text 30"/>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37" name="Text 31"/>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OPERATING PRINCIPLES</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Six rules to acquire without breaking the model</a:t>
            </a:r>
            <a:endParaRPr lang="en-US" sz="2700" dirty="0"/>
          </a:p>
        </p:txBody>
      </p:sp>
      <p:sp>
        <p:nvSpPr>
          <p:cNvPr id="4" name="Shape 2"/>
          <p:cNvSpPr/>
          <p:nvPr/>
        </p:nvSpPr>
        <p:spPr>
          <a:xfrm>
            <a:off x="566928" y="1627632"/>
            <a:ext cx="3503066" cy="1783080"/>
          </a:xfrm>
          <a:prstGeom prst="roundRect">
            <a:avLst>
              <a:gd name="adj" fmla="val 3590"/>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5" name="Shape 3"/>
          <p:cNvSpPr/>
          <p:nvPr/>
        </p:nvSpPr>
        <p:spPr>
          <a:xfrm>
            <a:off x="804672" y="1865376"/>
            <a:ext cx="603504" cy="603504"/>
          </a:xfrm>
          <a:prstGeom prst="ellipse">
            <a:avLst/>
          </a:prstGeom>
          <a:solidFill>
            <a:srgbClr val="12B5CB"/>
          </a:solidFill>
          <a:ln/>
        </p:spPr>
      </p:sp>
      <p:pic>
        <p:nvPicPr>
          <p:cNvPr id="6" name="Image 0" descr="preencoded.png">    </p:cNvPr>
          <p:cNvPicPr>
            <a:picLocks noChangeAspect="1"/>
          </p:cNvPicPr>
          <p:nvPr/>
        </p:nvPicPr>
        <p:blipFill>
          <a:blip r:embed="rId1"/>
          <a:stretch>
            <a:fillRect/>
          </a:stretch>
        </p:blipFill>
        <p:spPr>
          <a:xfrm>
            <a:off x="973653" y="2034357"/>
            <a:ext cx="265542" cy="265542"/>
          </a:xfrm>
          <a:prstGeom prst="rect">
            <a:avLst/>
          </a:prstGeom>
        </p:spPr>
      </p:pic>
      <p:sp>
        <p:nvSpPr>
          <p:cNvPr id="7" name="Text 4"/>
          <p:cNvSpPr/>
          <p:nvPr/>
        </p:nvSpPr>
        <p:spPr>
          <a:xfrm>
            <a:off x="3521354" y="1828800"/>
            <a:ext cx="384048" cy="384048"/>
          </a:xfrm>
          <a:prstGeom prst="rect">
            <a:avLst/>
          </a:prstGeom>
          <a:noFill/>
          <a:ln/>
        </p:spPr>
        <p:txBody>
          <a:bodyPr wrap="square" lIns="0" tIns="0" rIns="0" bIns="0" rtlCol="0" anchor="ctr"/>
          <a:lstStyle/>
          <a:p>
            <a:pPr algn="r" indent="0" marL="0">
              <a:buNone/>
            </a:pPr>
            <a:r>
              <a:rPr lang="en-US" sz="2400" b="1" dirty="0">
                <a:solidFill>
                  <a:srgbClr val="C7D6E6"/>
                </a:solidFill>
                <a:latin typeface="Calibri" pitchFamily="34" charset="0"/>
                <a:ea typeface="Calibri" pitchFamily="34" charset="-122"/>
                <a:cs typeface="Calibri" pitchFamily="34" charset="-120"/>
              </a:rPr>
              <a:t>1</a:t>
            </a:r>
            <a:endParaRPr lang="en-US" sz="2400" dirty="0"/>
          </a:p>
        </p:txBody>
      </p:sp>
      <p:sp>
        <p:nvSpPr>
          <p:cNvPr id="8" name="Text 5"/>
          <p:cNvSpPr/>
          <p:nvPr/>
        </p:nvSpPr>
        <p:spPr>
          <a:xfrm>
            <a:off x="804672" y="2578608"/>
            <a:ext cx="3045866"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Capability over scale</a:t>
            </a:r>
            <a:endParaRPr lang="en-US" sz="1400" dirty="0"/>
          </a:p>
        </p:txBody>
      </p:sp>
      <p:sp>
        <p:nvSpPr>
          <p:cNvPr id="9" name="Text 6"/>
          <p:cNvSpPr/>
          <p:nvPr/>
        </p:nvSpPr>
        <p:spPr>
          <a:xfrm>
            <a:off x="804672" y="2871216"/>
            <a:ext cx="3045866" cy="475488"/>
          </a:xfrm>
          <a:prstGeom prst="rect">
            <a:avLst/>
          </a:prstGeom>
          <a:noFill/>
          <a:ln/>
        </p:spPr>
        <p:txBody>
          <a:bodyPr wrap="square" lIns="0" tIns="0" rIns="0" bIns="0" rtlCol="0" anchor="t"/>
          <a:lstStyle/>
          <a:p>
            <a:pPr indent="0" marL="0">
              <a:lnSpc>
                <a:spcPct val="102000"/>
              </a:lnSpc>
              <a:buNone/>
            </a:pPr>
            <a:r>
              <a:rPr lang="en-US" sz="1050" dirty="0">
                <a:solidFill>
                  <a:srgbClr val="44566A"/>
                </a:solidFill>
                <a:latin typeface="Calibri" pitchFamily="34" charset="0"/>
                <a:ea typeface="Calibri" pitchFamily="34" charset="-122"/>
                <a:cs typeface="Calibri" pitchFamily="34" charset="-120"/>
              </a:rPr>
              <a:t>Buy tech, licences, talent and distribution that compress years of build, not headline user counts.</a:t>
            </a:r>
            <a:endParaRPr lang="en-US" sz="1050" dirty="0"/>
          </a:p>
        </p:txBody>
      </p:sp>
      <p:sp>
        <p:nvSpPr>
          <p:cNvPr id="10" name="Shape 7"/>
          <p:cNvSpPr/>
          <p:nvPr/>
        </p:nvSpPr>
        <p:spPr>
          <a:xfrm>
            <a:off x="4344314" y="1627632"/>
            <a:ext cx="3503066" cy="1783080"/>
          </a:xfrm>
          <a:prstGeom prst="roundRect">
            <a:avLst>
              <a:gd name="adj" fmla="val 3590"/>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11" name="Shape 8"/>
          <p:cNvSpPr/>
          <p:nvPr/>
        </p:nvSpPr>
        <p:spPr>
          <a:xfrm>
            <a:off x="4582058" y="1865376"/>
            <a:ext cx="603504" cy="603504"/>
          </a:xfrm>
          <a:prstGeom prst="ellipse">
            <a:avLst/>
          </a:prstGeom>
          <a:solidFill>
            <a:srgbClr val="12355B"/>
          </a:solidFill>
          <a:ln/>
        </p:spPr>
      </p:sp>
      <p:pic>
        <p:nvPicPr>
          <p:cNvPr id="12" name="Image 1" descr="preencoded.png">    </p:cNvPr>
          <p:cNvPicPr>
            <a:picLocks noChangeAspect="1"/>
          </p:cNvPicPr>
          <p:nvPr/>
        </p:nvPicPr>
        <p:blipFill>
          <a:blip r:embed="rId2"/>
          <a:stretch>
            <a:fillRect/>
          </a:stretch>
        </p:blipFill>
        <p:spPr>
          <a:xfrm>
            <a:off x="4751040" y="2034357"/>
            <a:ext cx="265542" cy="265542"/>
          </a:xfrm>
          <a:prstGeom prst="rect">
            <a:avLst/>
          </a:prstGeom>
        </p:spPr>
      </p:pic>
      <p:sp>
        <p:nvSpPr>
          <p:cNvPr id="13" name="Text 9"/>
          <p:cNvSpPr/>
          <p:nvPr/>
        </p:nvSpPr>
        <p:spPr>
          <a:xfrm>
            <a:off x="7298741" y="1828800"/>
            <a:ext cx="384048" cy="384048"/>
          </a:xfrm>
          <a:prstGeom prst="rect">
            <a:avLst/>
          </a:prstGeom>
          <a:noFill/>
          <a:ln/>
        </p:spPr>
        <p:txBody>
          <a:bodyPr wrap="square" lIns="0" tIns="0" rIns="0" bIns="0" rtlCol="0" anchor="ctr"/>
          <a:lstStyle/>
          <a:p>
            <a:pPr algn="r" indent="0" marL="0">
              <a:buNone/>
            </a:pPr>
            <a:r>
              <a:rPr lang="en-US" sz="2400" b="1" dirty="0">
                <a:solidFill>
                  <a:srgbClr val="C7D6E6"/>
                </a:solidFill>
                <a:latin typeface="Calibri" pitchFamily="34" charset="0"/>
                <a:ea typeface="Calibri" pitchFamily="34" charset="-122"/>
                <a:cs typeface="Calibri" pitchFamily="34" charset="-120"/>
              </a:rPr>
              <a:t>2</a:t>
            </a:r>
            <a:endParaRPr lang="en-US" sz="2400" dirty="0"/>
          </a:p>
        </p:txBody>
      </p:sp>
      <p:sp>
        <p:nvSpPr>
          <p:cNvPr id="14" name="Text 10"/>
          <p:cNvSpPr/>
          <p:nvPr/>
        </p:nvSpPr>
        <p:spPr>
          <a:xfrm>
            <a:off x="4582058" y="2578608"/>
            <a:ext cx="3045866"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Bolt-on tickets only</a:t>
            </a:r>
            <a:endParaRPr lang="en-US" sz="1400" dirty="0"/>
          </a:p>
        </p:txBody>
      </p:sp>
      <p:sp>
        <p:nvSpPr>
          <p:cNvPr id="15" name="Text 11"/>
          <p:cNvSpPr/>
          <p:nvPr/>
        </p:nvSpPr>
        <p:spPr>
          <a:xfrm>
            <a:off x="4582058" y="2871216"/>
            <a:ext cx="3045866" cy="475488"/>
          </a:xfrm>
          <a:prstGeom prst="rect">
            <a:avLst/>
          </a:prstGeom>
          <a:noFill/>
          <a:ln/>
        </p:spPr>
        <p:txBody>
          <a:bodyPr wrap="square" lIns="0" tIns="0" rIns="0" bIns="0" rtlCol="0" anchor="t"/>
          <a:lstStyle/>
          <a:p>
            <a:pPr indent="0" marL="0">
              <a:lnSpc>
                <a:spcPct val="102000"/>
              </a:lnSpc>
              <a:buNone/>
            </a:pPr>
            <a:r>
              <a:rPr lang="en-US" sz="1050" dirty="0">
                <a:solidFill>
                  <a:srgbClr val="44566A"/>
                </a:solidFill>
                <a:latin typeface="Calibri" pitchFamily="34" charset="0"/>
                <a:ea typeface="Calibri" pitchFamily="34" charset="-122"/>
                <a:cs typeface="Calibri" pitchFamily="34" charset="-120"/>
              </a:rPr>
              <a:t>Target roughly Rs 50 Cr to Rs 250 Cr per deal. No transformational, balance-sheet-betting acquisitions.</a:t>
            </a:r>
            <a:endParaRPr lang="en-US" sz="1050" dirty="0"/>
          </a:p>
        </p:txBody>
      </p:sp>
      <p:sp>
        <p:nvSpPr>
          <p:cNvPr id="16" name="Shape 12"/>
          <p:cNvSpPr/>
          <p:nvPr/>
        </p:nvSpPr>
        <p:spPr>
          <a:xfrm>
            <a:off x="8121701" y="1627632"/>
            <a:ext cx="3503066" cy="1783080"/>
          </a:xfrm>
          <a:prstGeom prst="roundRect">
            <a:avLst>
              <a:gd name="adj" fmla="val 3590"/>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17" name="Shape 13"/>
          <p:cNvSpPr/>
          <p:nvPr/>
        </p:nvSpPr>
        <p:spPr>
          <a:xfrm>
            <a:off x="8359445" y="1865376"/>
            <a:ext cx="603504" cy="603504"/>
          </a:xfrm>
          <a:prstGeom prst="ellipse">
            <a:avLst/>
          </a:prstGeom>
          <a:solidFill>
            <a:srgbClr val="12B5CB"/>
          </a:solidFill>
          <a:ln/>
        </p:spPr>
      </p:sp>
      <p:pic>
        <p:nvPicPr>
          <p:cNvPr id="18" name="Image 2" descr="preencoded.png">    </p:cNvPr>
          <p:cNvPicPr>
            <a:picLocks noChangeAspect="1"/>
          </p:cNvPicPr>
          <p:nvPr/>
        </p:nvPicPr>
        <p:blipFill>
          <a:blip r:embed="rId3"/>
          <a:stretch>
            <a:fillRect/>
          </a:stretch>
        </p:blipFill>
        <p:spPr>
          <a:xfrm>
            <a:off x="8528426" y="2034357"/>
            <a:ext cx="265542" cy="265542"/>
          </a:xfrm>
          <a:prstGeom prst="rect">
            <a:avLst/>
          </a:prstGeom>
        </p:spPr>
      </p:pic>
      <p:sp>
        <p:nvSpPr>
          <p:cNvPr id="19" name="Text 14"/>
          <p:cNvSpPr/>
          <p:nvPr/>
        </p:nvSpPr>
        <p:spPr>
          <a:xfrm>
            <a:off x="11076127" y="1828800"/>
            <a:ext cx="384048" cy="384048"/>
          </a:xfrm>
          <a:prstGeom prst="rect">
            <a:avLst/>
          </a:prstGeom>
          <a:noFill/>
          <a:ln/>
        </p:spPr>
        <p:txBody>
          <a:bodyPr wrap="square" lIns="0" tIns="0" rIns="0" bIns="0" rtlCol="0" anchor="ctr"/>
          <a:lstStyle/>
          <a:p>
            <a:pPr algn="r" indent="0" marL="0">
              <a:buNone/>
            </a:pPr>
            <a:r>
              <a:rPr lang="en-US" sz="2400" b="1" dirty="0">
                <a:solidFill>
                  <a:srgbClr val="C7D6E6"/>
                </a:solidFill>
                <a:latin typeface="Calibri" pitchFamily="34" charset="0"/>
                <a:ea typeface="Calibri" pitchFamily="34" charset="-122"/>
                <a:cs typeface="Calibri" pitchFamily="34" charset="-120"/>
              </a:rPr>
              <a:t>3</a:t>
            </a:r>
            <a:endParaRPr lang="en-US" sz="2400" dirty="0"/>
          </a:p>
        </p:txBody>
      </p:sp>
      <p:sp>
        <p:nvSpPr>
          <p:cNvPr id="20" name="Text 15"/>
          <p:cNvSpPr/>
          <p:nvPr/>
        </p:nvSpPr>
        <p:spPr>
          <a:xfrm>
            <a:off x="8359445" y="2578608"/>
            <a:ext cx="3045866"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Pay mostly in paper</a:t>
            </a:r>
            <a:endParaRPr lang="en-US" sz="1400" dirty="0"/>
          </a:p>
        </p:txBody>
      </p:sp>
      <p:sp>
        <p:nvSpPr>
          <p:cNvPr id="21" name="Text 16"/>
          <p:cNvSpPr/>
          <p:nvPr/>
        </p:nvSpPr>
        <p:spPr>
          <a:xfrm>
            <a:off x="8359445" y="2871216"/>
            <a:ext cx="3045866" cy="475488"/>
          </a:xfrm>
          <a:prstGeom prst="rect">
            <a:avLst/>
          </a:prstGeom>
          <a:noFill/>
          <a:ln/>
        </p:spPr>
        <p:txBody>
          <a:bodyPr wrap="square" lIns="0" tIns="0" rIns="0" bIns="0" rtlCol="0" anchor="t"/>
          <a:lstStyle/>
          <a:p>
            <a:pPr indent="0" marL="0">
              <a:lnSpc>
                <a:spcPct val="102000"/>
              </a:lnSpc>
              <a:buNone/>
            </a:pPr>
            <a:r>
              <a:rPr lang="en-US" sz="1050" dirty="0">
                <a:solidFill>
                  <a:srgbClr val="44566A"/>
                </a:solidFill>
                <a:latin typeface="Calibri" pitchFamily="34" charset="0"/>
                <a:ea typeface="Calibri" pitchFamily="34" charset="-122"/>
                <a:cs typeface="Calibri" pitchFamily="34" charset="-120"/>
              </a:rPr>
              <a:t>Lead with stock and earnouts to preserve the cash buffer and align sellers to future value.</a:t>
            </a:r>
            <a:endParaRPr lang="en-US" sz="1050" dirty="0"/>
          </a:p>
        </p:txBody>
      </p:sp>
      <p:sp>
        <p:nvSpPr>
          <p:cNvPr id="22" name="Shape 17"/>
          <p:cNvSpPr/>
          <p:nvPr/>
        </p:nvSpPr>
        <p:spPr>
          <a:xfrm>
            <a:off x="566928" y="3703320"/>
            <a:ext cx="3503066" cy="1783080"/>
          </a:xfrm>
          <a:prstGeom prst="roundRect">
            <a:avLst>
              <a:gd name="adj" fmla="val 3590"/>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23" name="Shape 18"/>
          <p:cNvSpPr/>
          <p:nvPr/>
        </p:nvSpPr>
        <p:spPr>
          <a:xfrm>
            <a:off x="804672" y="3941064"/>
            <a:ext cx="603504" cy="603504"/>
          </a:xfrm>
          <a:prstGeom prst="ellipse">
            <a:avLst/>
          </a:prstGeom>
          <a:solidFill>
            <a:srgbClr val="12355B"/>
          </a:solidFill>
          <a:ln/>
        </p:spPr>
      </p:sp>
      <p:pic>
        <p:nvPicPr>
          <p:cNvPr id="24" name="Image 3" descr="preencoded.png">    </p:cNvPr>
          <p:cNvPicPr>
            <a:picLocks noChangeAspect="1"/>
          </p:cNvPicPr>
          <p:nvPr/>
        </p:nvPicPr>
        <p:blipFill>
          <a:blip r:embed="rId4"/>
          <a:stretch>
            <a:fillRect/>
          </a:stretch>
        </p:blipFill>
        <p:spPr>
          <a:xfrm>
            <a:off x="973653" y="4110045"/>
            <a:ext cx="265542" cy="265542"/>
          </a:xfrm>
          <a:prstGeom prst="rect">
            <a:avLst/>
          </a:prstGeom>
        </p:spPr>
      </p:pic>
      <p:sp>
        <p:nvSpPr>
          <p:cNvPr id="25" name="Text 19"/>
          <p:cNvSpPr/>
          <p:nvPr/>
        </p:nvSpPr>
        <p:spPr>
          <a:xfrm>
            <a:off x="3521354" y="3904488"/>
            <a:ext cx="384048" cy="384048"/>
          </a:xfrm>
          <a:prstGeom prst="rect">
            <a:avLst/>
          </a:prstGeom>
          <a:noFill/>
          <a:ln/>
        </p:spPr>
        <p:txBody>
          <a:bodyPr wrap="square" lIns="0" tIns="0" rIns="0" bIns="0" rtlCol="0" anchor="ctr"/>
          <a:lstStyle/>
          <a:p>
            <a:pPr algn="r" indent="0" marL="0">
              <a:buNone/>
            </a:pPr>
            <a:r>
              <a:rPr lang="en-US" sz="2400" b="1" dirty="0">
                <a:solidFill>
                  <a:srgbClr val="C7D6E6"/>
                </a:solidFill>
                <a:latin typeface="Calibri" pitchFamily="34" charset="0"/>
                <a:ea typeface="Calibri" pitchFamily="34" charset="-122"/>
                <a:cs typeface="Calibri" pitchFamily="34" charset="-120"/>
              </a:rPr>
              <a:t>4</a:t>
            </a:r>
            <a:endParaRPr lang="en-US" sz="2400" dirty="0"/>
          </a:p>
        </p:txBody>
      </p:sp>
      <p:sp>
        <p:nvSpPr>
          <p:cNvPr id="26" name="Text 20"/>
          <p:cNvSpPr/>
          <p:nvPr/>
        </p:nvSpPr>
        <p:spPr>
          <a:xfrm>
            <a:off x="804672" y="4654296"/>
            <a:ext cx="3045866"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Profitability is sacred</a:t>
            </a:r>
            <a:endParaRPr lang="en-US" sz="1400" dirty="0"/>
          </a:p>
        </p:txBody>
      </p:sp>
      <p:sp>
        <p:nvSpPr>
          <p:cNvPr id="27" name="Text 21"/>
          <p:cNvSpPr/>
          <p:nvPr/>
        </p:nvSpPr>
        <p:spPr>
          <a:xfrm>
            <a:off x="804672" y="4946904"/>
            <a:ext cx="3045866" cy="475488"/>
          </a:xfrm>
          <a:prstGeom prst="rect">
            <a:avLst/>
          </a:prstGeom>
          <a:noFill/>
          <a:ln/>
        </p:spPr>
        <p:txBody>
          <a:bodyPr wrap="square" lIns="0" tIns="0" rIns="0" bIns="0" rtlCol="0" anchor="t"/>
          <a:lstStyle/>
          <a:p>
            <a:pPr indent="0" marL="0">
              <a:lnSpc>
                <a:spcPct val="102000"/>
              </a:lnSpc>
              <a:buNone/>
            </a:pPr>
            <a:r>
              <a:rPr lang="en-US" sz="1050" dirty="0">
                <a:solidFill>
                  <a:srgbClr val="44566A"/>
                </a:solidFill>
                <a:latin typeface="Calibri" pitchFamily="34" charset="0"/>
                <a:ea typeface="Calibri" pitchFamily="34" charset="-122"/>
                <a:cs typeface="Calibri" pitchFamily="34" charset="-120"/>
              </a:rPr>
              <a:t>Every deal must be EBITDA-neutral to the group within about four to six quarters.</a:t>
            </a:r>
            <a:endParaRPr lang="en-US" sz="1050" dirty="0"/>
          </a:p>
        </p:txBody>
      </p:sp>
      <p:sp>
        <p:nvSpPr>
          <p:cNvPr id="28" name="Shape 22"/>
          <p:cNvSpPr/>
          <p:nvPr/>
        </p:nvSpPr>
        <p:spPr>
          <a:xfrm>
            <a:off x="4344314" y="3703320"/>
            <a:ext cx="3503066" cy="1783080"/>
          </a:xfrm>
          <a:prstGeom prst="roundRect">
            <a:avLst>
              <a:gd name="adj" fmla="val 3590"/>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29" name="Shape 23"/>
          <p:cNvSpPr/>
          <p:nvPr/>
        </p:nvSpPr>
        <p:spPr>
          <a:xfrm>
            <a:off x="4582058" y="3941064"/>
            <a:ext cx="603504" cy="603504"/>
          </a:xfrm>
          <a:prstGeom prst="ellipse">
            <a:avLst/>
          </a:prstGeom>
          <a:solidFill>
            <a:srgbClr val="12B5CB"/>
          </a:solidFill>
          <a:ln/>
        </p:spPr>
      </p:sp>
      <p:pic>
        <p:nvPicPr>
          <p:cNvPr id="30" name="Image 4" descr="preencoded.png">    </p:cNvPr>
          <p:cNvPicPr>
            <a:picLocks noChangeAspect="1"/>
          </p:cNvPicPr>
          <p:nvPr/>
        </p:nvPicPr>
        <p:blipFill>
          <a:blip r:embed="rId5"/>
          <a:stretch>
            <a:fillRect/>
          </a:stretch>
        </p:blipFill>
        <p:spPr>
          <a:xfrm>
            <a:off x="4751040" y="4110045"/>
            <a:ext cx="265542" cy="265542"/>
          </a:xfrm>
          <a:prstGeom prst="rect">
            <a:avLst/>
          </a:prstGeom>
        </p:spPr>
      </p:pic>
      <p:sp>
        <p:nvSpPr>
          <p:cNvPr id="31" name="Text 24"/>
          <p:cNvSpPr/>
          <p:nvPr/>
        </p:nvSpPr>
        <p:spPr>
          <a:xfrm>
            <a:off x="7298741" y="3904488"/>
            <a:ext cx="384048" cy="384048"/>
          </a:xfrm>
          <a:prstGeom prst="rect">
            <a:avLst/>
          </a:prstGeom>
          <a:noFill/>
          <a:ln/>
        </p:spPr>
        <p:txBody>
          <a:bodyPr wrap="square" lIns="0" tIns="0" rIns="0" bIns="0" rtlCol="0" anchor="ctr"/>
          <a:lstStyle/>
          <a:p>
            <a:pPr algn="r" indent="0" marL="0">
              <a:buNone/>
            </a:pPr>
            <a:r>
              <a:rPr lang="en-US" sz="2400" b="1" dirty="0">
                <a:solidFill>
                  <a:srgbClr val="C7D6E6"/>
                </a:solidFill>
                <a:latin typeface="Calibri" pitchFamily="34" charset="0"/>
                <a:ea typeface="Calibri" pitchFamily="34" charset="-122"/>
                <a:cs typeface="Calibri" pitchFamily="34" charset="-120"/>
              </a:rPr>
              <a:t>5</a:t>
            </a:r>
            <a:endParaRPr lang="en-US" sz="2400" dirty="0"/>
          </a:p>
        </p:txBody>
      </p:sp>
      <p:sp>
        <p:nvSpPr>
          <p:cNvPr id="32" name="Text 25"/>
          <p:cNvSpPr/>
          <p:nvPr/>
        </p:nvSpPr>
        <p:spPr>
          <a:xfrm>
            <a:off x="4582058" y="4654296"/>
            <a:ext cx="3045866"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Regulatory fit first</a:t>
            </a:r>
            <a:endParaRPr lang="en-US" sz="1400" dirty="0"/>
          </a:p>
        </p:txBody>
      </p:sp>
      <p:sp>
        <p:nvSpPr>
          <p:cNvPr id="33" name="Text 26"/>
          <p:cNvSpPr/>
          <p:nvPr/>
        </p:nvSpPr>
        <p:spPr>
          <a:xfrm>
            <a:off x="4582058" y="4946904"/>
            <a:ext cx="3045866" cy="475488"/>
          </a:xfrm>
          <a:prstGeom prst="rect">
            <a:avLst/>
          </a:prstGeom>
          <a:noFill/>
          <a:ln/>
        </p:spPr>
        <p:txBody>
          <a:bodyPr wrap="square" lIns="0" tIns="0" rIns="0" bIns="0" rtlCol="0" anchor="t"/>
          <a:lstStyle/>
          <a:p>
            <a:pPr indent="0" marL="0">
              <a:lnSpc>
                <a:spcPct val="102000"/>
              </a:lnSpc>
              <a:buNone/>
            </a:pPr>
            <a:r>
              <a:rPr lang="en-US" sz="1050" dirty="0">
                <a:solidFill>
                  <a:srgbClr val="44566A"/>
                </a:solidFill>
                <a:latin typeface="Calibri" pitchFamily="34" charset="0"/>
                <a:ea typeface="Calibri" pitchFamily="34" charset="-122"/>
                <a:cs typeface="Calibri" pitchFamily="34" charset="-120"/>
              </a:rPr>
              <a:t>Clear licence transfer and compliance risk before negotiating price, not after.</a:t>
            </a:r>
            <a:endParaRPr lang="en-US" sz="1050" dirty="0"/>
          </a:p>
        </p:txBody>
      </p:sp>
      <p:sp>
        <p:nvSpPr>
          <p:cNvPr id="34" name="Shape 27"/>
          <p:cNvSpPr/>
          <p:nvPr/>
        </p:nvSpPr>
        <p:spPr>
          <a:xfrm>
            <a:off x="8121701" y="3703320"/>
            <a:ext cx="3503066" cy="1783080"/>
          </a:xfrm>
          <a:prstGeom prst="roundRect">
            <a:avLst>
              <a:gd name="adj" fmla="val 3590"/>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35" name="Shape 28"/>
          <p:cNvSpPr/>
          <p:nvPr/>
        </p:nvSpPr>
        <p:spPr>
          <a:xfrm>
            <a:off x="8359445" y="3941064"/>
            <a:ext cx="603504" cy="603504"/>
          </a:xfrm>
          <a:prstGeom prst="ellipse">
            <a:avLst/>
          </a:prstGeom>
          <a:solidFill>
            <a:srgbClr val="12355B"/>
          </a:solidFill>
          <a:ln/>
        </p:spPr>
      </p:sp>
      <p:pic>
        <p:nvPicPr>
          <p:cNvPr id="36" name="Image 5" descr="preencoded.png">    </p:cNvPr>
          <p:cNvPicPr>
            <a:picLocks noChangeAspect="1"/>
          </p:cNvPicPr>
          <p:nvPr/>
        </p:nvPicPr>
        <p:blipFill>
          <a:blip r:embed="rId6"/>
          <a:stretch>
            <a:fillRect/>
          </a:stretch>
        </p:blipFill>
        <p:spPr>
          <a:xfrm>
            <a:off x="8528426" y="4110045"/>
            <a:ext cx="265542" cy="265542"/>
          </a:xfrm>
          <a:prstGeom prst="rect">
            <a:avLst/>
          </a:prstGeom>
        </p:spPr>
      </p:pic>
      <p:sp>
        <p:nvSpPr>
          <p:cNvPr id="37" name="Text 29"/>
          <p:cNvSpPr/>
          <p:nvPr/>
        </p:nvSpPr>
        <p:spPr>
          <a:xfrm>
            <a:off x="11076127" y="3904488"/>
            <a:ext cx="384048" cy="384048"/>
          </a:xfrm>
          <a:prstGeom prst="rect">
            <a:avLst/>
          </a:prstGeom>
          <a:noFill/>
          <a:ln/>
        </p:spPr>
        <p:txBody>
          <a:bodyPr wrap="square" lIns="0" tIns="0" rIns="0" bIns="0" rtlCol="0" anchor="ctr"/>
          <a:lstStyle/>
          <a:p>
            <a:pPr algn="r" indent="0" marL="0">
              <a:buNone/>
            </a:pPr>
            <a:r>
              <a:rPr lang="en-US" sz="2400" b="1" dirty="0">
                <a:solidFill>
                  <a:srgbClr val="C7D6E6"/>
                </a:solidFill>
                <a:latin typeface="Calibri" pitchFamily="34" charset="0"/>
                <a:ea typeface="Calibri" pitchFamily="34" charset="-122"/>
                <a:cs typeface="Calibri" pitchFamily="34" charset="-120"/>
              </a:rPr>
              <a:t>6</a:t>
            </a:r>
            <a:endParaRPr lang="en-US" sz="2400" dirty="0"/>
          </a:p>
        </p:txBody>
      </p:sp>
      <p:sp>
        <p:nvSpPr>
          <p:cNvPr id="38" name="Text 30"/>
          <p:cNvSpPr/>
          <p:nvPr/>
        </p:nvSpPr>
        <p:spPr>
          <a:xfrm>
            <a:off x="8359445" y="4654296"/>
            <a:ext cx="3045866"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Sequence, do not stack</a:t>
            </a:r>
            <a:endParaRPr lang="en-US" sz="1400" dirty="0"/>
          </a:p>
        </p:txBody>
      </p:sp>
      <p:sp>
        <p:nvSpPr>
          <p:cNvPr id="39" name="Text 31"/>
          <p:cNvSpPr/>
          <p:nvPr/>
        </p:nvSpPr>
        <p:spPr>
          <a:xfrm>
            <a:off x="8359445" y="4946904"/>
            <a:ext cx="3045866" cy="475488"/>
          </a:xfrm>
          <a:prstGeom prst="rect">
            <a:avLst/>
          </a:prstGeom>
          <a:noFill/>
          <a:ln/>
        </p:spPr>
        <p:txBody>
          <a:bodyPr wrap="square" lIns="0" tIns="0" rIns="0" bIns="0" rtlCol="0" anchor="t"/>
          <a:lstStyle/>
          <a:p>
            <a:pPr indent="0" marL="0">
              <a:lnSpc>
                <a:spcPct val="102000"/>
              </a:lnSpc>
              <a:buNone/>
            </a:pPr>
            <a:r>
              <a:rPr lang="en-US" sz="1050" dirty="0">
                <a:solidFill>
                  <a:srgbClr val="44566A"/>
                </a:solidFill>
                <a:latin typeface="Calibri" pitchFamily="34" charset="0"/>
                <a:ea typeface="Calibri" pitchFamily="34" charset="-122"/>
                <a:cs typeface="Calibri" pitchFamily="34" charset="-120"/>
              </a:rPr>
              <a:t>At most one to two active integrations at a time, matched to real integration capacity.</a:t>
            </a:r>
            <a:endParaRPr lang="en-US" sz="1050" dirty="0"/>
          </a:p>
        </p:txBody>
      </p:sp>
      <p:sp>
        <p:nvSpPr>
          <p:cNvPr id="40" name="Text 32"/>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41" name="Text 3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WHERE TO PLAY</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Three priority themes, mapped to the New Moats</a:t>
            </a:r>
            <a:endParaRPr lang="en-US" sz="2700" dirty="0"/>
          </a:p>
        </p:txBody>
      </p:sp>
      <p:sp>
        <p:nvSpPr>
          <p:cNvPr id="4" name="Shape 2"/>
          <p:cNvSpPr/>
          <p:nvPr/>
        </p:nvSpPr>
        <p:spPr>
          <a:xfrm>
            <a:off x="1554480" y="1627632"/>
            <a:ext cx="6858000" cy="4160520"/>
          </a:xfrm>
          <a:prstGeom prst="rect">
            <a:avLst/>
          </a:prstGeom>
          <a:solidFill>
            <a:srgbClr val="F4F8FC"/>
          </a:solidFill>
          <a:ln w="12700">
            <a:solidFill>
              <a:srgbClr val="D8E2EE"/>
            </a:solidFill>
            <a:prstDash val="solid"/>
          </a:ln>
        </p:spPr>
      </p:sp>
      <p:sp>
        <p:nvSpPr>
          <p:cNvPr id="5" name="Shape 3"/>
          <p:cNvSpPr/>
          <p:nvPr/>
        </p:nvSpPr>
        <p:spPr>
          <a:xfrm>
            <a:off x="4983480" y="1627632"/>
            <a:ext cx="0" cy="4160520"/>
          </a:xfrm>
          <a:prstGeom prst="line">
            <a:avLst/>
          </a:prstGeom>
          <a:noFill/>
          <a:ln w="12700">
            <a:solidFill>
              <a:srgbClr val="C7D6E6"/>
            </a:solidFill>
            <a:prstDash val="dash"/>
          </a:ln>
        </p:spPr>
      </p:sp>
      <p:sp>
        <p:nvSpPr>
          <p:cNvPr id="6" name="Shape 4"/>
          <p:cNvSpPr/>
          <p:nvPr/>
        </p:nvSpPr>
        <p:spPr>
          <a:xfrm>
            <a:off x="1554480" y="3707892"/>
            <a:ext cx="6858000" cy="0"/>
          </a:xfrm>
          <a:prstGeom prst="line">
            <a:avLst/>
          </a:prstGeom>
          <a:noFill/>
          <a:ln w="12700">
            <a:solidFill>
              <a:srgbClr val="C7D6E6"/>
            </a:solidFill>
            <a:prstDash val="dash"/>
          </a:ln>
        </p:spPr>
      </p:sp>
      <p:sp>
        <p:nvSpPr>
          <p:cNvPr id="7" name="Text 5"/>
          <p:cNvSpPr/>
          <p:nvPr/>
        </p:nvSpPr>
        <p:spPr>
          <a:xfrm rot="16200000">
            <a:off x="347472" y="3570732"/>
            <a:ext cx="4160520" cy="274320"/>
          </a:xfrm>
          <a:prstGeom prst="rect">
            <a:avLst/>
          </a:prstGeom>
          <a:noFill/>
          <a:ln/>
        </p:spPr>
        <p:txBody>
          <a:bodyPr wrap="square" lIns="0" tIns="0" rIns="0" bIns="0" rtlCol="0" anchor="ctr"/>
          <a:lstStyle/>
          <a:p>
            <a:pPr algn="ctr" indent="0" marL="0">
              <a:buNone/>
            </a:pPr>
            <a:r>
              <a:rPr lang="en-US" sz="1100" b="1" dirty="0">
                <a:solidFill>
                  <a:srgbClr val="12355B"/>
                </a:solidFill>
                <a:latin typeface="Calibri" pitchFamily="34" charset="0"/>
                <a:ea typeface="Calibri" pitchFamily="34" charset="-122"/>
                <a:cs typeface="Calibri" pitchFamily="34" charset="-120"/>
              </a:rPr>
              <a:t>Strategic value to the New Moats</a:t>
            </a:r>
            <a:endParaRPr lang="en-US" sz="1100" dirty="0"/>
          </a:p>
        </p:txBody>
      </p:sp>
      <p:sp>
        <p:nvSpPr>
          <p:cNvPr id="8" name="Text 6"/>
          <p:cNvSpPr/>
          <p:nvPr/>
        </p:nvSpPr>
        <p:spPr>
          <a:xfrm rot="16200000">
            <a:off x="1225296" y="5532120"/>
            <a:ext cx="457200" cy="219456"/>
          </a:xfrm>
          <a:prstGeom prst="rect">
            <a:avLst/>
          </a:prstGeom>
          <a:noFill/>
          <a:ln/>
        </p:spPr>
        <p:txBody>
          <a:bodyPr wrap="square" lIns="0" tIns="0" rIns="0" bIns="0" rtlCol="0" anchor="ctr"/>
          <a:lstStyle/>
          <a:p>
            <a:pPr indent="0" marL="0">
              <a:buNone/>
            </a:pPr>
            <a:r>
              <a:rPr lang="en-US" sz="850" dirty="0">
                <a:solidFill>
                  <a:srgbClr val="5E7184"/>
                </a:solidFill>
                <a:latin typeface="Calibri" pitchFamily="34" charset="0"/>
                <a:ea typeface="Calibri" pitchFamily="34" charset="-122"/>
                <a:cs typeface="Calibri" pitchFamily="34" charset="-120"/>
              </a:rPr>
              <a:t>low</a:t>
            </a:r>
            <a:endParaRPr lang="en-US" sz="850" dirty="0"/>
          </a:p>
        </p:txBody>
      </p:sp>
      <p:sp>
        <p:nvSpPr>
          <p:cNvPr id="9" name="Text 7"/>
          <p:cNvSpPr/>
          <p:nvPr/>
        </p:nvSpPr>
        <p:spPr>
          <a:xfrm rot="16200000">
            <a:off x="1225296" y="1664208"/>
            <a:ext cx="457200" cy="219456"/>
          </a:xfrm>
          <a:prstGeom prst="rect">
            <a:avLst/>
          </a:prstGeom>
          <a:noFill/>
          <a:ln/>
        </p:spPr>
        <p:txBody>
          <a:bodyPr wrap="square" lIns="0" tIns="0" rIns="0" bIns="0" rtlCol="0" anchor="ctr"/>
          <a:lstStyle/>
          <a:p>
            <a:pPr indent="0" marL="0">
              <a:buNone/>
            </a:pPr>
            <a:r>
              <a:rPr lang="en-US" sz="850" dirty="0">
                <a:solidFill>
                  <a:srgbClr val="5E7184"/>
                </a:solidFill>
                <a:latin typeface="Calibri" pitchFamily="34" charset="0"/>
                <a:ea typeface="Calibri" pitchFamily="34" charset="-122"/>
                <a:cs typeface="Calibri" pitchFamily="34" charset="-120"/>
              </a:rPr>
              <a:t>high</a:t>
            </a:r>
            <a:endParaRPr lang="en-US" sz="850" dirty="0"/>
          </a:p>
        </p:txBody>
      </p:sp>
      <p:sp>
        <p:nvSpPr>
          <p:cNvPr id="10" name="Text 8"/>
          <p:cNvSpPr/>
          <p:nvPr/>
        </p:nvSpPr>
        <p:spPr>
          <a:xfrm>
            <a:off x="1554480" y="5916168"/>
            <a:ext cx="6858000" cy="274320"/>
          </a:xfrm>
          <a:prstGeom prst="rect">
            <a:avLst/>
          </a:prstGeom>
          <a:noFill/>
          <a:ln/>
        </p:spPr>
        <p:txBody>
          <a:bodyPr wrap="square" lIns="0" tIns="0" rIns="0" bIns="0" rtlCol="0" anchor="ctr"/>
          <a:lstStyle/>
          <a:p>
            <a:pPr algn="ctr" indent="0" marL="0">
              <a:buNone/>
            </a:pPr>
            <a:r>
              <a:rPr lang="en-US" sz="1100" b="1" dirty="0">
                <a:solidFill>
                  <a:srgbClr val="12355B"/>
                </a:solidFill>
                <a:latin typeface="Calibri" pitchFamily="34" charset="0"/>
                <a:ea typeface="Calibri" pitchFamily="34" charset="-122"/>
                <a:cs typeface="Calibri" pitchFamily="34" charset="-120"/>
              </a:rPr>
              <a:t>Ease of execution</a:t>
            </a:r>
            <a:endParaRPr lang="en-US" sz="1100" dirty="0"/>
          </a:p>
        </p:txBody>
      </p:sp>
      <p:sp>
        <p:nvSpPr>
          <p:cNvPr id="11" name="Text 9"/>
          <p:cNvSpPr/>
          <p:nvPr/>
        </p:nvSpPr>
        <p:spPr>
          <a:xfrm>
            <a:off x="1591056" y="5916168"/>
            <a:ext cx="457200" cy="219456"/>
          </a:xfrm>
          <a:prstGeom prst="rect">
            <a:avLst/>
          </a:prstGeom>
          <a:noFill/>
          <a:ln/>
        </p:spPr>
        <p:txBody>
          <a:bodyPr wrap="square" lIns="0" tIns="0" rIns="0" bIns="0" rtlCol="0" anchor="ctr"/>
          <a:lstStyle/>
          <a:p>
            <a:pPr indent="0" marL="0">
              <a:buNone/>
            </a:pPr>
            <a:r>
              <a:rPr lang="en-US" sz="850" dirty="0">
                <a:solidFill>
                  <a:srgbClr val="5E7184"/>
                </a:solidFill>
                <a:latin typeface="Calibri" pitchFamily="34" charset="0"/>
                <a:ea typeface="Calibri" pitchFamily="34" charset="-122"/>
                <a:cs typeface="Calibri" pitchFamily="34" charset="-120"/>
              </a:rPr>
              <a:t>low</a:t>
            </a:r>
            <a:endParaRPr lang="en-US" sz="850" dirty="0"/>
          </a:p>
        </p:txBody>
      </p:sp>
      <p:sp>
        <p:nvSpPr>
          <p:cNvPr id="12" name="Text 10"/>
          <p:cNvSpPr/>
          <p:nvPr/>
        </p:nvSpPr>
        <p:spPr>
          <a:xfrm>
            <a:off x="7955280" y="5916168"/>
            <a:ext cx="457200" cy="219456"/>
          </a:xfrm>
          <a:prstGeom prst="rect">
            <a:avLst/>
          </a:prstGeom>
          <a:noFill/>
          <a:ln/>
        </p:spPr>
        <p:txBody>
          <a:bodyPr wrap="square" lIns="0" tIns="0" rIns="0" bIns="0" rtlCol="0" anchor="ctr"/>
          <a:lstStyle/>
          <a:p>
            <a:pPr algn="r" indent="0" marL="0">
              <a:buNone/>
            </a:pPr>
            <a:r>
              <a:rPr lang="en-US" sz="850" dirty="0">
                <a:solidFill>
                  <a:srgbClr val="5E7184"/>
                </a:solidFill>
                <a:latin typeface="Calibri" pitchFamily="34" charset="0"/>
                <a:ea typeface="Calibri" pitchFamily="34" charset="-122"/>
                <a:cs typeface="Calibri" pitchFamily="34" charset="-120"/>
              </a:rPr>
              <a:t>high</a:t>
            </a:r>
            <a:endParaRPr lang="en-US" sz="850" dirty="0"/>
          </a:p>
        </p:txBody>
      </p:sp>
      <p:sp>
        <p:nvSpPr>
          <p:cNvPr id="13" name="Shape 11"/>
          <p:cNvSpPr/>
          <p:nvPr/>
        </p:nvSpPr>
        <p:spPr>
          <a:xfrm>
            <a:off x="5458968" y="1921154"/>
            <a:ext cx="1243584" cy="1243584"/>
          </a:xfrm>
          <a:prstGeom prst="ellipse">
            <a:avLst/>
          </a:prstGeom>
          <a:solidFill>
            <a:srgbClr val="12B5CB"/>
          </a:solidFill>
          <a:ln w="19050">
            <a:solidFill>
              <a:srgbClr val="FFFFFF"/>
            </a:solidFill>
            <a:prstDash val="solid"/>
          </a:ln>
          <a:effectLst>
            <a:outerShdw sx="100000" sy="100000" kx="0" ky="0" algn="bl" rotWithShape="0" blurRad="114300" dist="38100" dir="5400000">
              <a:srgbClr val="1B2B44">
                <a:alpha val="10000"/>
              </a:srgbClr>
            </a:outerShdw>
          </a:effectLst>
        </p:spPr>
      </p:sp>
      <p:sp>
        <p:nvSpPr>
          <p:cNvPr id="14" name="Text 12"/>
          <p:cNvSpPr/>
          <p:nvPr/>
        </p:nvSpPr>
        <p:spPr>
          <a:xfrm>
            <a:off x="5458968" y="1921154"/>
            <a:ext cx="1243584" cy="1243584"/>
          </a:xfrm>
          <a:prstGeom prst="rect">
            <a:avLst/>
          </a:prstGeom>
          <a:noFill/>
          <a:ln/>
        </p:spPr>
        <p:txBody>
          <a:bodyPr wrap="square" lIns="0" tIns="0" rIns="0" bIns="0" rtlCol="0" anchor="ctr"/>
          <a:lstStyle/>
          <a:p>
            <a:pPr algn="ctr" indent="0" marL="0">
              <a:lnSpc>
                <a:spcPct val="92000"/>
              </a:lnSpc>
              <a:buNone/>
            </a:pPr>
            <a:r>
              <a:rPr lang="en-US" sz="1000" b="1" dirty="0">
                <a:solidFill>
                  <a:srgbClr val="FFFFFF"/>
                </a:solidFill>
                <a:latin typeface="Calibri" pitchFamily="34" charset="0"/>
                <a:ea typeface="Calibri" pitchFamily="34" charset="-122"/>
                <a:cs typeface="Calibri" pitchFamily="34" charset="-120"/>
              </a:rPr>
              <a:t>Merchant</a:t>
            </a:r>
            <a:endParaRPr lang="en-US" sz="1000" dirty="0"/>
          </a:p>
          <a:p>
            <a:pPr algn="ctr" indent="0" marL="0">
              <a:lnSpc>
                <a:spcPct val="92000"/>
              </a:lnSpc>
              <a:buNone/>
            </a:pPr>
            <a:r>
              <a:rPr lang="en-US" sz="1000" b="1" dirty="0">
                <a:solidFill>
                  <a:srgbClr val="FFFFFF"/>
                </a:solidFill>
                <a:latin typeface="Calibri" pitchFamily="34" charset="0"/>
                <a:ea typeface="Calibri" pitchFamily="34" charset="-122"/>
                <a:cs typeface="Calibri" pitchFamily="34" charset="-120"/>
              </a:rPr>
              <a:t>acquiring</a:t>
            </a:r>
            <a:endParaRPr lang="en-US" sz="1000" dirty="0"/>
          </a:p>
        </p:txBody>
      </p:sp>
      <p:sp>
        <p:nvSpPr>
          <p:cNvPr id="15" name="Shape 13"/>
          <p:cNvSpPr/>
          <p:nvPr/>
        </p:nvSpPr>
        <p:spPr>
          <a:xfrm>
            <a:off x="3675888" y="2129180"/>
            <a:ext cx="1243584" cy="1243584"/>
          </a:xfrm>
          <a:prstGeom prst="ellipse">
            <a:avLst/>
          </a:prstGeom>
          <a:solidFill>
            <a:srgbClr val="12B5CB"/>
          </a:solidFill>
          <a:ln w="19050">
            <a:solidFill>
              <a:srgbClr val="FFFFFF"/>
            </a:solidFill>
            <a:prstDash val="solid"/>
          </a:ln>
          <a:effectLst>
            <a:outerShdw sx="100000" sy="100000" kx="0" ky="0" algn="bl" rotWithShape="0" blurRad="114300" dist="38100" dir="5400000">
              <a:srgbClr val="1B2B44">
                <a:alpha val="10000"/>
              </a:srgbClr>
            </a:outerShdw>
          </a:effectLst>
        </p:spPr>
      </p:sp>
      <p:sp>
        <p:nvSpPr>
          <p:cNvPr id="16" name="Text 14"/>
          <p:cNvSpPr/>
          <p:nvPr/>
        </p:nvSpPr>
        <p:spPr>
          <a:xfrm>
            <a:off x="3675888" y="2129180"/>
            <a:ext cx="1243584" cy="1243584"/>
          </a:xfrm>
          <a:prstGeom prst="rect">
            <a:avLst/>
          </a:prstGeom>
          <a:noFill/>
          <a:ln/>
        </p:spPr>
        <p:txBody>
          <a:bodyPr wrap="square" lIns="0" tIns="0" rIns="0" bIns="0" rtlCol="0" anchor="ctr"/>
          <a:lstStyle/>
          <a:p>
            <a:pPr algn="ctr" indent="0" marL="0">
              <a:lnSpc>
                <a:spcPct val="92000"/>
              </a:lnSpc>
              <a:buNone/>
            </a:pPr>
            <a:r>
              <a:rPr lang="en-US" sz="1000" b="1" dirty="0">
                <a:solidFill>
                  <a:srgbClr val="FFFFFF"/>
                </a:solidFill>
                <a:latin typeface="Calibri" pitchFamily="34" charset="0"/>
                <a:ea typeface="Calibri" pitchFamily="34" charset="-122"/>
                <a:cs typeface="Calibri" pitchFamily="34" charset="-120"/>
              </a:rPr>
              <a:t>Lending</a:t>
            </a:r>
            <a:endParaRPr lang="en-US" sz="1000" dirty="0"/>
          </a:p>
          <a:p>
            <a:pPr algn="ctr" indent="0" marL="0">
              <a:lnSpc>
                <a:spcPct val="92000"/>
              </a:lnSpc>
              <a:buNone/>
            </a:pPr>
            <a:r>
              <a:rPr lang="en-US" sz="1000" b="1" dirty="0">
                <a:solidFill>
                  <a:srgbClr val="FFFFFF"/>
                </a:solidFill>
                <a:latin typeface="Calibri" pitchFamily="34" charset="0"/>
                <a:ea typeface="Calibri" pitchFamily="34" charset="-122"/>
                <a:cs typeface="Calibri" pitchFamily="34" charset="-120"/>
              </a:rPr>
              <a:t>infra</a:t>
            </a:r>
            <a:endParaRPr lang="en-US" sz="1000" dirty="0"/>
          </a:p>
        </p:txBody>
      </p:sp>
      <p:sp>
        <p:nvSpPr>
          <p:cNvPr id="17" name="Shape 15"/>
          <p:cNvSpPr/>
          <p:nvPr/>
        </p:nvSpPr>
        <p:spPr>
          <a:xfrm>
            <a:off x="5541264" y="3334817"/>
            <a:ext cx="1078992" cy="1078992"/>
          </a:xfrm>
          <a:prstGeom prst="ellipse">
            <a:avLst/>
          </a:prstGeom>
          <a:solidFill>
            <a:srgbClr val="2563EB"/>
          </a:solidFill>
          <a:ln w="19050">
            <a:solidFill>
              <a:srgbClr val="FFFFFF"/>
            </a:solidFill>
            <a:prstDash val="solid"/>
          </a:ln>
          <a:effectLst>
            <a:outerShdw sx="100000" sy="100000" kx="0" ky="0" algn="bl" rotWithShape="0" blurRad="114300" dist="38100" dir="5400000">
              <a:srgbClr val="1B2B44">
                <a:alpha val="10000"/>
              </a:srgbClr>
            </a:outerShdw>
          </a:effectLst>
        </p:spPr>
      </p:sp>
      <p:sp>
        <p:nvSpPr>
          <p:cNvPr id="18" name="Text 16"/>
          <p:cNvSpPr/>
          <p:nvPr/>
        </p:nvSpPr>
        <p:spPr>
          <a:xfrm>
            <a:off x="5541264" y="3334817"/>
            <a:ext cx="1078992" cy="1078992"/>
          </a:xfrm>
          <a:prstGeom prst="rect">
            <a:avLst/>
          </a:prstGeom>
          <a:noFill/>
          <a:ln/>
        </p:spPr>
        <p:txBody>
          <a:bodyPr wrap="square" lIns="0" tIns="0" rIns="0" bIns="0" rtlCol="0" anchor="ctr"/>
          <a:lstStyle/>
          <a:p>
            <a:pPr algn="ctr" indent="0" marL="0">
              <a:lnSpc>
                <a:spcPct val="92000"/>
              </a:lnSpc>
              <a:buNone/>
            </a:pPr>
            <a:r>
              <a:rPr lang="en-US" sz="1000" b="1" dirty="0">
                <a:solidFill>
                  <a:srgbClr val="FFFFFF"/>
                </a:solidFill>
                <a:latin typeface="Calibri" pitchFamily="34" charset="0"/>
                <a:ea typeface="Calibri" pitchFamily="34" charset="-122"/>
                <a:cs typeface="Calibri" pitchFamily="34" charset="-120"/>
              </a:rPr>
              <a:t>Wealth &amp;</a:t>
            </a:r>
            <a:endParaRPr lang="en-US" sz="1000" dirty="0"/>
          </a:p>
          <a:p>
            <a:pPr algn="ctr" indent="0" marL="0">
              <a:lnSpc>
                <a:spcPct val="92000"/>
              </a:lnSpc>
              <a:buNone/>
            </a:pPr>
            <a:r>
              <a:rPr lang="en-US" sz="1000" b="1" dirty="0">
                <a:solidFill>
                  <a:srgbClr val="FFFFFF"/>
                </a:solidFill>
                <a:latin typeface="Calibri" pitchFamily="34" charset="0"/>
                <a:ea typeface="Calibri" pitchFamily="34" charset="-122"/>
                <a:cs typeface="Calibri" pitchFamily="34" charset="-120"/>
              </a:rPr>
              <a:t>broking</a:t>
            </a:r>
            <a:endParaRPr lang="en-US" sz="1000" dirty="0"/>
          </a:p>
        </p:txBody>
      </p:sp>
      <p:sp>
        <p:nvSpPr>
          <p:cNvPr id="19" name="Shape 17"/>
          <p:cNvSpPr/>
          <p:nvPr/>
        </p:nvSpPr>
        <p:spPr>
          <a:xfrm>
            <a:off x="6771132" y="4022903"/>
            <a:ext cx="950976" cy="950976"/>
          </a:xfrm>
          <a:prstGeom prst="ellipse">
            <a:avLst/>
          </a:prstGeom>
          <a:solidFill>
            <a:srgbClr val="94A3B8"/>
          </a:solidFill>
          <a:ln w="19050">
            <a:solidFill>
              <a:srgbClr val="FFFFFF"/>
            </a:solidFill>
            <a:prstDash val="solid"/>
          </a:ln>
          <a:effectLst>
            <a:outerShdw sx="100000" sy="100000" kx="0" ky="0" algn="bl" rotWithShape="0" blurRad="114300" dist="38100" dir="5400000">
              <a:srgbClr val="1B2B44">
                <a:alpha val="10000"/>
              </a:srgbClr>
            </a:outerShdw>
          </a:effectLst>
        </p:spPr>
      </p:sp>
      <p:sp>
        <p:nvSpPr>
          <p:cNvPr id="20" name="Text 18"/>
          <p:cNvSpPr/>
          <p:nvPr/>
        </p:nvSpPr>
        <p:spPr>
          <a:xfrm>
            <a:off x="6771132" y="4022903"/>
            <a:ext cx="950976" cy="950976"/>
          </a:xfrm>
          <a:prstGeom prst="rect">
            <a:avLst/>
          </a:prstGeom>
          <a:noFill/>
          <a:ln/>
        </p:spPr>
        <p:txBody>
          <a:bodyPr wrap="square" lIns="0" tIns="0" rIns="0" bIns="0" rtlCol="0" anchor="ctr"/>
          <a:lstStyle/>
          <a:p>
            <a:pPr algn="ctr" indent="0" marL="0">
              <a:lnSpc>
                <a:spcPct val="92000"/>
              </a:lnSpc>
              <a:buNone/>
            </a:pPr>
            <a:r>
              <a:rPr lang="en-US" sz="900" b="1" dirty="0">
                <a:solidFill>
                  <a:srgbClr val="FFFFFF"/>
                </a:solidFill>
                <a:latin typeface="Calibri" pitchFamily="34" charset="0"/>
                <a:ea typeface="Calibri" pitchFamily="34" charset="-122"/>
                <a:cs typeface="Calibri" pitchFamily="34" charset="-120"/>
              </a:rPr>
              <a:t>AI risk</a:t>
            </a:r>
            <a:endParaRPr lang="en-US" sz="900" dirty="0"/>
          </a:p>
          <a:p>
            <a:pPr algn="ctr" indent="0" marL="0">
              <a:lnSpc>
                <a:spcPct val="92000"/>
              </a:lnSpc>
              <a:buNone/>
            </a:pPr>
            <a:r>
              <a:rPr lang="en-US" sz="900" b="1" dirty="0">
                <a:solidFill>
                  <a:srgbClr val="FFFFFF"/>
                </a:solidFill>
                <a:latin typeface="Calibri" pitchFamily="34" charset="0"/>
                <a:ea typeface="Calibri" pitchFamily="34" charset="-122"/>
                <a:cs typeface="Calibri" pitchFamily="34" charset="-120"/>
              </a:rPr>
              <a:t>&amp; fraud</a:t>
            </a:r>
            <a:endParaRPr lang="en-US" sz="900" dirty="0"/>
          </a:p>
        </p:txBody>
      </p:sp>
      <p:sp>
        <p:nvSpPr>
          <p:cNvPr id="21" name="Shape 19"/>
          <p:cNvSpPr/>
          <p:nvPr/>
        </p:nvSpPr>
        <p:spPr>
          <a:xfrm>
            <a:off x="3342132" y="4106113"/>
            <a:ext cx="950976" cy="950976"/>
          </a:xfrm>
          <a:prstGeom prst="ellipse">
            <a:avLst/>
          </a:prstGeom>
          <a:solidFill>
            <a:srgbClr val="94A3B8"/>
          </a:solidFill>
          <a:ln w="19050">
            <a:solidFill>
              <a:srgbClr val="FFFFFF"/>
            </a:solidFill>
            <a:prstDash val="solid"/>
          </a:ln>
          <a:effectLst>
            <a:outerShdw sx="100000" sy="100000" kx="0" ky="0" algn="bl" rotWithShape="0" blurRad="114300" dist="38100" dir="5400000">
              <a:srgbClr val="1B2B44">
                <a:alpha val="10000"/>
              </a:srgbClr>
            </a:outerShdw>
          </a:effectLst>
        </p:spPr>
      </p:sp>
      <p:sp>
        <p:nvSpPr>
          <p:cNvPr id="22" name="Text 20"/>
          <p:cNvSpPr/>
          <p:nvPr/>
        </p:nvSpPr>
        <p:spPr>
          <a:xfrm>
            <a:off x="3342132" y="4106113"/>
            <a:ext cx="950976" cy="950976"/>
          </a:xfrm>
          <a:prstGeom prst="rect">
            <a:avLst/>
          </a:prstGeom>
          <a:noFill/>
          <a:ln/>
        </p:spPr>
        <p:txBody>
          <a:bodyPr wrap="square" lIns="0" tIns="0" rIns="0" bIns="0" rtlCol="0" anchor="ctr"/>
          <a:lstStyle/>
          <a:p>
            <a:pPr algn="ctr" indent="0" marL="0">
              <a:lnSpc>
                <a:spcPct val="92000"/>
              </a:lnSpc>
              <a:buNone/>
            </a:pPr>
            <a:r>
              <a:rPr lang="en-US" sz="900" b="1" dirty="0">
                <a:solidFill>
                  <a:srgbClr val="FFFFFF"/>
                </a:solidFill>
                <a:latin typeface="Calibri" pitchFamily="34" charset="0"/>
                <a:ea typeface="Calibri" pitchFamily="34" charset="-122"/>
                <a:cs typeface="Calibri" pitchFamily="34" charset="-120"/>
              </a:rPr>
              <a:t>Insurance</a:t>
            </a:r>
            <a:endParaRPr lang="en-US" sz="900" dirty="0"/>
          </a:p>
        </p:txBody>
      </p:sp>
      <p:sp>
        <p:nvSpPr>
          <p:cNvPr id="23" name="Text 21"/>
          <p:cNvSpPr/>
          <p:nvPr/>
        </p:nvSpPr>
        <p:spPr>
          <a:xfrm>
            <a:off x="8732520" y="1645920"/>
            <a:ext cx="2892247" cy="274320"/>
          </a:xfrm>
          <a:prstGeom prst="rect">
            <a:avLst/>
          </a:prstGeom>
          <a:noFill/>
          <a:ln/>
        </p:spPr>
        <p:txBody>
          <a:bodyPr wrap="square" lIns="0" tIns="0" rIns="0" bIns="0" rtlCol="0" anchor="ctr"/>
          <a:lstStyle/>
          <a:p>
            <a:pPr indent="0" marL="0">
              <a:buNone/>
            </a:pPr>
            <a:r>
              <a:rPr lang="en-US" sz="1300" b="1" dirty="0">
                <a:solidFill>
                  <a:srgbClr val="12355B"/>
                </a:solidFill>
                <a:latin typeface="Calibri" pitchFamily="34" charset="0"/>
                <a:ea typeface="Calibri" pitchFamily="34" charset="-122"/>
                <a:cs typeface="Calibri" pitchFamily="34" charset="-120"/>
              </a:rPr>
              <a:t>Priority</a:t>
            </a:r>
            <a:endParaRPr lang="en-US" sz="1300" dirty="0"/>
          </a:p>
        </p:txBody>
      </p:sp>
      <p:sp>
        <p:nvSpPr>
          <p:cNvPr id="24" name="Shape 22"/>
          <p:cNvSpPr/>
          <p:nvPr/>
        </p:nvSpPr>
        <p:spPr>
          <a:xfrm>
            <a:off x="8732520" y="2048256"/>
            <a:ext cx="237744" cy="237744"/>
          </a:xfrm>
          <a:prstGeom prst="ellipse">
            <a:avLst/>
          </a:prstGeom>
          <a:solidFill>
            <a:srgbClr val="12B5CB"/>
          </a:solidFill>
          <a:ln/>
        </p:spPr>
      </p:sp>
      <p:sp>
        <p:nvSpPr>
          <p:cNvPr id="25" name="Text 23"/>
          <p:cNvSpPr/>
          <p:nvPr/>
        </p:nvSpPr>
        <p:spPr>
          <a:xfrm>
            <a:off x="9098280" y="1975104"/>
            <a:ext cx="2526487" cy="274320"/>
          </a:xfrm>
          <a:prstGeom prst="rect">
            <a:avLst/>
          </a:prstGeom>
          <a:noFill/>
          <a:ln/>
        </p:spPr>
        <p:txBody>
          <a:bodyPr wrap="square" lIns="0" tIns="0" rIns="0" bIns="0" rtlCol="0" anchor="ctr"/>
          <a:lstStyle/>
          <a:p>
            <a:pPr indent="0" marL="0">
              <a:buNone/>
            </a:pPr>
            <a:r>
              <a:rPr lang="en-US" sz="1250" b="1" dirty="0">
                <a:solidFill>
                  <a:srgbClr val="12355B"/>
                </a:solidFill>
                <a:latin typeface="Calibri" pitchFamily="34" charset="0"/>
                <a:ea typeface="Calibri" pitchFamily="34" charset="-122"/>
                <a:cs typeface="Calibri" pitchFamily="34" charset="-120"/>
              </a:rPr>
              <a:t>Priority 1</a:t>
            </a:r>
            <a:endParaRPr lang="en-US" sz="1250" dirty="0"/>
          </a:p>
        </p:txBody>
      </p:sp>
      <p:sp>
        <p:nvSpPr>
          <p:cNvPr id="26" name="Text 24"/>
          <p:cNvSpPr/>
          <p:nvPr/>
        </p:nvSpPr>
        <p:spPr>
          <a:xfrm>
            <a:off x="9098280" y="2249424"/>
            <a:ext cx="2526487" cy="457200"/>
          </a:xfrm>
          <a:prstGeom prst="rect">
            <a:avLst/>
          </a:prstGeom>
          <a:noFill/>
          <a:ln/>
        </p:spPr>
        <p:txBody>
          <a:bodyPr wrap="square" lIns="0" tIns="0" rIns="0" bIns="0" rtlCol="0" anchor="t"/>
          <a:lstStyle/>
          <a:p>
            <a:pPr indent="0" marL="0">
              <a:lnSpc>
                <a:spcPct val="100000"/>
              </a:lnSpc>
              <a:buNone/>
            </a:pPr>
            <a:r>
              <a:rPr lang="en-US" sz="1000" dirty="0">
                <a:solidFill>
                  <a:srgbClr val="5E7184"/>
                </a:solidFill>
                <a:latin typeface="Calibri" pitchFamily="34" charset="0"/>
                <a:ea typeface="Calibri" pitchFamily="34" charset="-122"/>
                <a:cs typeface="Calibri" pitchFamily="34" charset="-120"/>
              </a:rPr>
              <a:t>Lead now: highest value, executable</a:t>
            </a:r>
            <a:endParaRPr lang="en-US" sz="1000" dirty="0"/>
          </a:p>
        </p:txBody>
      </p:sp>
      <p:sp>
        <p:nvSpPr>
          <p:cNvPr id="27" name="Shape 25"/>
          <p:cNvSpPr/>
          <p:nvPr/>
        </p:nvSpPr>
        <p:spPr>
          <a:xfrm>
            <a:off x="8732520" y="2889504"/>
            <a:ext cx="237744" cy="237744"/>
          </a:xfrm>
          <a:prstGeom prst="ellipse">
            <a:avLst/>
          </a:prstGeom>
          <a:solidFill>
            <a:srgbClr val="2563EB"/>
          </a:solidFill>
          <a:ln/>
        </p:spPr>
      </p:sp>
      <p:sp>
        <p:nvSpPr>
          <p:cNvPr id="28" name="Text 26"/>
          <p:cNvSpPr/>
          <p:nvPr/>
        </p:nvSpPr>
        <p:spPr>
          <a:xfrm>
            <a:off x="9098280" y="2816352"/>
            <a:ext cx="2526487" cy="274320"/>
          </a:xfrm>
          <a:prstGeom prst="rect">
            <a:avLst/>
          </a:prstGeom>
          <a:noFill/>
          <a:ln/>
        </p:spPr>
        <p:txBody>
          <a:bodyPr wrap="square" lIns="0" tIns="0" rIns="0" bIns="0" rtlCol="0" anchor="ctr"/>
          <a:lstStyle/>
          <a:p>
            <a:pPr indent="0" marL="0">
              <a:buNone/>
            </a:pPr>
            <a:r>
              <a:rPr lang="en-US" sz="1250" b="1" dirty="0">
                <a:solidFill>
                  <a:srgbClr val="12355B"/>
                </a:solidFill>
                <a:latin typeface="Calibri" pitchFamily="34" charset="0"/>
                <a:ea typeface="Calibri" pitchFamily="34" charset="-122"/>
                <a:cs typeface="Calibri" pitchFamily="34" charset="-120"/>
              </a:rPr>
              <a:t>Priority 2</a:t>
            </a:r>
            <a:endParaRPr lang="en-US" sz="1250" dirty="0"/>
          </a:p>
        </p:txBody>
      </p:sp>
      <p:sp>
        <p:nvSpPr>
          <p:cNvPr id="29" name="Text 27"/>
          <p:cNvSpPr/>
          <p:nvPr/>
        </p:nvSpPr>
        <p:spPr>
          <a:xfrm>
            <a:off x="9098280" y="3090672"/>
            <a:ext cx="2526487" cy="457200"/>
          </a:xfrm>
          <a:prstGeom prst="rect">
            <a:avLst/>
          </a:prstGeom>
          <a:noFill/>
          <a:ln/>
        </p:spPr>
        <p:txBody>
          <a:bodyPr wrap="square" lIns="0" tIns="0" rIns="0" bIns="0" rtlCol="0" anchor="t"/>
          <a:lstStyle/>
          <a:p>
            <a:pPr indent="0" marL="0">
              <a:lnSpc>
                <a:spcPct val="100000"/>
              </a:lnSpc>
              <a:buNone/>
            </a:pPr>
            <a:r>
              <a:rPr lang="en-US" sz="1000" dirty="0">
                <a:solidFill>
                  <a:srgbClr val="5E7184"/>
                </a:solidFill>
                <a:latin typeface="Calibri" pitchFamily="34" charset="0"/>
                <a:ea typeface="Calibri" pitchFamily="34" charset="-122"/>
                <a:cs typeface="Calibri" pitchFamily="34" charset="-120"/>
              </a:rPr>
              <a:t>Fast follow once Phase 1 lands</a:t>
            </a:r>
            <a:endParaRPr lang="en-US" sz="1000" dirty="0"/>
          </a:p>
        </p:txBody>
      </p:sp>
      <p:sp>
        <p:nvSpPr>
          <p:cNvPr id="30" name="Shape 28"/>
          <p:cNvSpPr/>
          <p:nvPr/>
        </p:nvSpPr>
        <p:spPr>
          <a:xfrm>
            <a:off x="8732520" y="3730752"/>
            <a:ext cx="237744" cy="237744"/>
          </a:xfrm>
          <a:prstGeom prst="ellipse">
            <a:avLst/>
          </a:prstGeom>
          <a:solidFill>
            <a:srgbClr val="94A3B8"/>
          </a:solidFill>
          <a:ln/>
        </p:spPr>
      </p:sp>
      <p:sp>
        <p:nvSpPr>
          <p:cNvPr id="31" name="Text 29"/>
          <p:cNvSpPr/>
          <p:nvPr/>
        </p:nvSpPr>
        <p:spPr>
          <a:xfrm>
            <a:off x="9098280" y="3657600"/>
            <a:ext cx="2526487" cy="274320"/>
          </a:xfrm>
          <a:prstGeom prst="rect">
            <a:avLst/>
          </a:prstGeom>
          <a:noFill/>
          <a:ln/>
        </p:spPr>
        <p:txBody>
          <a:bodyPr wrap="square" lIns="0" tIns="0" rIns="0" bIns="0" rtlCol="0" anchor="ctr"/>
          <a:lstStyle/>
          <a:p>
            <a:pPr indent="0" marL="0">
              <a:buNone/>
            </a:pPr>
            <a:r>
              <a:rPr lang="en-US" sz="1250" b="1" dirty="0">
                <a:solidFill>
                  <a:srgbClr val="12355B"/>
                </a:solidFill>
                <a:latin typeface="Calibri" pitchFamily="34" charset="0"/>
                <a:ea typeface="Calibri" pitchFamily="34" charset="-122"/>
                <a:cs typeface="Calibri" pitchFamily="34" charset="-120"/>
              </a:rPr>
              <a:t>Watch list</a:t>
            </a:r>
            <a:endParaRPr lang="en-US" sz="1250" dirty="0"/>
          </a:p>
        </p:txBody>
      </p:sp>
      <p:sp>
        <p:nvSpPr>
          <p:cNvPr id="32" name="Text 30"/>
          <p:cNvSpPr/>
          <p:nvPr/>
        </p:nvSpPr>
        <p:spPr>
          <a:xfrm>
            <a:off x="9098280" y="3931920"/>
            <a:ext cx="2526487" cy="457200"/>
          </a:xfrm>
          <a:prstGeom prst="rect">
            <a:avLst/>
          </a:prstGeom>
          <a:noFill/>
          <a:ln/>
        </p:spPr>
        <p:txBody>
          <a:bodyPr wrap="square" lIns="0" tIns="0" rIns="0" bIns="0" rtlCol="0" anchor="t"/>
          <a:lstStyle/>
          <a:p>
            <a:pPr indent="0" marL="0">
              <a:lnSpc>
                <a:spcPct val="100000"/>
              </a:lnSpc>
              <a:buNone/>
            </a:pPr>
            <a:r>
              <a:rPr lang="en-US" sz="1000" dirty="0">
                <a:solidFill>
                  <a:srgbClr val="5E7184"/>
                </a:solidFill>
                <a:latin typeface="Calibri" pitchFamily="34" charset="0"/>
                <a:ea typeface="Calibri" pitchFamily="34" charset="-122"/>
                <a:cs typeface="Calibri" pitchFamily="34" charset="-120"/>
              </a:rPr>
              <a:t>Opportunistic or later-horizon optionality</a:t>
            </a:r>
            <a:endParaRPr lang="en-US" sz="1000" dirty="0"/>
          </a:p>
        </p:txBody>
      </p:sp>
      <p:sp>
        <p:nvSpPr>
          <p:cNvPr id="33" name="Shape 31"/>
          <p:cNvSpPr/>
          <p:nvPr/>
        </p:nvSpPr>
        <p:spPr>
          <a:xfrm>
            <a:off x="8732520" y="4754880"/>
            <a:ext cx="2892247" cy="1024128"/>
          </a:xfrm>
          <a:prstGeom prst="roundRect">
            <a:avLst>
              <a:gd name="adj" fmla="val 5357"/>
            </a:avLst>
          </a:prstGeom>
          <a:solidFill>
            <a:srgbClr val="E2F6F8"/>
          </a:solidFill>
          <a:ln/>
        </p:spPr>
      </p:sp>
      <p:sp>
        <p:nvSpPr>
          <p:cNvPr id="34" name="Text 32"/>
          <p:cNvSpPr/>
          <p:nvPr/>
        </p:nvSpPr>
        <p:spPr>
          <a:xfrm>
            <a:off x="8897112" y="4754880"/>
            <a:ext cx="2563063" cy="1024128"/>
          </a:xfrm>
          <a:prstGeom prst="rect">
            <a:avLst/>
          </a:prstGeom>
          <a:noFill/>
          <a:ln/>
        </p:spPr>
        <p:txBody>
          <a:bodyPr wrap="square" lIns="0" tIns="0" rIns="0" bIns="0" rtlCol="0" anchor="ctr"/>
          <a:lstStyle/>
          <a:p>
            <a:pPr indent="0" marL="0">
              <a:lnSpc>
                <a:spcPct val="104000"/>
              </a:lnSpc>
              <a:buNone/>
            </a:pPr>
            <a:r>
              <a:rPr lang="en-US" sz="1100" dirty="0">
                <a:solidFill>
                  <a:srgbClr val="2C3E52"/>
                </a:solidFill>
                <a:latin typeface="Calibri" pitchFamily="34" charset="0"/>
                <a:ea typeface="Calibri" pitchFamily="34" charset="-122"/>
                <a:cs typeface="Calibri" pitchFamily="34" charset="-120"/>
              </a:rPr>
              <a:t>Lead with the two highest-value themes (cyan) that feed the merchant and lending flywheel.</a:t>
            </a:r>
            <a:endParaRPr lang="en-US" sz="1100" dirty="0"/>
          </a:p>
        </p:txBody>
      </p:sp>
      <p:sp>
        <p:nvSpPr>
          <p:cNvPr id="35" name="Text 33"/>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36" name="Text 34"/>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PRIORITY 1  ·  MOATS 1 &amp; 2</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Acquire a merchant operating system: devices plus software</a:t>
            </a:r>
            <a:endParaRPr lang="en-US" sz="2700" dirty="0"/>
          </a:p>
        </p:txBody>
      </p:sp>
      <p:sp>
        <p:nvSpPr>
          <p:cNvPr id="4" name="Shape 2"/>
          <p:cNvSpPr/>
          <p:nvPr/>
        </p:nvSpPr>
        <p:spPr>
          <a:xfrm>
            <a:off x="566928" y="1417320"/>
            <a:ext cx="11057839" cy="786384"/>
          </a:xfrm>
          <a:prstGeom prst="roundRect">
            <a:avLst>
              <a:gd name="adj" fmla="val 8140"/>
            </a:avLst>
          </a:prstGeom>
          <a:solidFill>
            <a:srgbClr val="0A2540"/>
          </a:solidFill>
          <a:ln/>
          <a:effectLst>
            <a:outerShdw sx="100000" sy="100000" kx="0" ky="0" algn="bl" rotWithShape="0" blurRad="114300" dist="38100" dir="5400000">
              <a:srgbClr val="1B2B44">
                <a:alpha val="10000"/>
              </a:srgbClr>
            </a:outerShdw>
          </a:effectLst>
        </p:spPr>
      </p:sp>
      <p:pic>
        <p:nvPicPr>
          <p:cNvPr id="5" name="Image 0" descr="preencoded.png">    </p:cNvPr>
          <p:cNvPicPr>
            <a:picLocks noChangeAspect="1"/>
          </p:cNvPicPr>
          <p:nvPr/>
        </p:nvPicPr>
        <p:blipFill>
          <a:blip r:embed="rId1"/>
          <a:stretch>
            <a:fillRect/>
          </a:stretch>
        </p:blipFill>
        <p:spPr>
          <a:xfrm>
            <a:off x="822960" y="1627632"/>
            <a:ext cx="384048" cy="384048"/>
          </a:xfrm>
          <a:prstGeom prst="rect">
            <a:avLst/>
          </a:prstGeom>
        </p:spPr>
      </p:pic>
      <p:sp>
        <p:nvSpPr>
          <p:cNvPr id="6" name="Text 3"/>
          <p:cNvSpPr/>
          <p:nvPr/>
        </p:nvSpPr>
        <p:spPr>
          <a:xfrm>
            <a:off x="1408176" y="1417320"/>
            <a:ext cx="9960559" cy="786384"/>
          </a:xfrm>
          <a:prstGeom prst="rect">
            <a:avLst/>
          </a:prstGeom>
          <a:noFill/>
          <a:ln/>
        </p:spPr>
        <p:txBody>
          <a:bodyPr wrap="square" lIns="0" tIns="0" rIns="0" bIns="0" rtlCol="0" anchor="ctr"/>
          <a:lstStyle/>
          <a:p>
            <a:pPr indent="0" marL="0">
              <a:lnSpc>
                <a:spcPct val="102000"/>
              </a:lnSpc>
              <a:buNone/>
            </a:pPr>
            <a:r>
              <a:rPr lang="en-US" sz="1250" b="1" dirty="0">
                <a:solidFill>
                  <a:srgbClr val="12B5CB"/>
                </a:solidFill>
                <a:latin typeface="Calibri" pitchFamily="34" charset="0"/>
                <a:ea typeface="Calibri" pitchFamily="34" charset="-122"/>
                <a:cs typeface="Calibri" pitchFamily="34" charset="-120"/>
              </a:rPr>
              <a:t>Thesis.  </a:t>
            </a:r>
            <a:pPr indent="0" marL="0">
              <a:lnSpc>
                <a:spcPct val="102000"/>
              </a:lnSpc>
              <a:buNone/>
            </a:pPr>
            <a:r>
              <a:rPr lang="en-US" sz="1250" dirty="0">
                <a:solidFill>
                  <a:srgbClr val="E8EFF8"/>
                </a:solidFill>
                <a:latin typeface="Calibri" pitchFamily="34" charset="0"/>
                <a:ea typeface="Calibri" pitchFamily="34" charset="-122"/>
                <a:cs typeface="Calibri" pitchFamily="34" charset="-120"/>
              </a:rPr>
              <a:t>Close the device gap fast and put software on the merchant counter, so the merchant relationship, not the device alone, becomes the moat.</a:t>
            </a:r>
            <a:endParaRPr lang="en-US" sz="1250" dirty="0"/>
          </a:p>
        </p:txBody>
      </p:sp>
      <p:sp>
        <p:nvSpPr>
          <p:cNvPr id="7" name="Shape 4"/>
          <p:cNvSpPr/>
          <p:nvPr/>
        </p:nvSpPr>
        <p:spPr>
          <a:xfrm>
            <a:off x="566928" y="2487168"/>
            <a:ext cx="5346040" cy="2542032"/>
          </a:xfrm>
          <a:prstGeom prst="roundRect">
            <a:avLst>
              <a:gd name="adj" fmla="val 2518"/>
            </a:avLst>
          </a:prstGeom>
          <a:solidFill>
            <a:srgbClr val="F4F8FC"/>
          </a:solidFill>
          <a:ln w="12700">
            <a:solidFill>
              <a:srgbClr val="D8E2EE"/>
            </a:solidFill>
            <a:prstDash val="solid"/>
          </a:ln>
        </p:spPr>
      </p:sp>
      <p:sp>
        <p:nvSpPr>
          <p:cNvPr id="8" name="Text 5"/>
          <p:cNvSpPr/>
          <p:nvPr/>
        </p:nvSpPr>
        <p:spPr>
          <a:xfrm>
            <a:off x="822960" y="2688336"/>
            <a:ext cx="4833976" cy="310896"/>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What to buy</a:t>
            </a:r>
            <a:endParaRPr lang="en-US" sz="1500" dirty="0"/>
          </a:p>
        </p:txBody>
      </p:sp>
      <p:sp>
        <p:nvSpPr>
          <p:cNvPr id="9" name="Text 6"/>
          <p:cNvSpPr/>
          <p:nvPr/>
        </p:nvSpPr>
        <p:spPr>
          <a:xfrm>
            <a:off x="841248" y="3090672"/>
            <a:ext cx="4815688" cy="1755648"/>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An NPCI-certified device and infrastructure stack (soundbox, smart POS) to close the hardware gap quickly.</a:t>
            </a:r>
            <a:endParaRPr lang="en-US" sz="1150" dirty="0"/>
          </a:p>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A kirana billing, inventory or CRM software that lives on the counter and drives daily engagement.</a:t>
            </a:r>
            <a:endParaRPr lang="en-US" sz="1150" dirty="0"/>
          </a:p>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Illustrative reference points: NPCI-certified infrastructure enablers, with Razorpay's Ezetap and Billme deals as the precedent.</a:t>
            </a:r>
            <a:endParaRPr lang="en-US" sz="1150" dirty="0"/>
          </a:p>
        </p:txBody>
      </p:sp>
      <p:sp>
        <p:nvSpPr>
          <p:cNvPr id="10" name="Shape 7"/>
          <p:cNvSpPr/>
          <p:nvPr/>
        </p:nvSpPr>
        <p:spPr>
          <a:xfrm>
            <a:off x="6278728" y="2487168"/>
            <a:ext cx="5346040" cy="2542032"/>
          </a:xfrm>
          <a:prstGeom prst="roundRect">
            <a:avLst>
              <a:gd name="adj" fmla="val 2518"/>
            </a:avLst>
          </a:prstGeom>
          <a:solidFill>
            <a:srgbClr val="E2F6F8"/>
          </a:solidFill>
          <a:ln/>
        </p:spPr>
      </p:sp>
      <p:sp>
        <p:nvSpPr>
          <p:cNvPr id="11" name="Text 8"/>
          <p:cNvSpPr/>
          <p:nvPr/>
        </p:nvSpPr>
        <p:spPr>
          <a:xfrm>
            <a:off x="6534760" y="2688336"/>
            <a:ext cx="4833976" cy="310896"/>
          </a:xfrm>
          <a:prstGeom prst="rect">
            <a:avLst/>
          </a:prstGeom>
          <a:noFill/>
          <a:ln/>
        </p:spPr>
        <p:txBody>
          <a:bodyPr wrap="square" lIns="0" tIns="0" rIns="0" bIns="0" rtlCol="0" anchor="ctr"/>
          <a:lstStyle/>
          <a:p>
            <a:pPr indent="0" marL="0">
              <a:buNone/>
            </a:pPr>
            <a:r>
              <a:rPr lang="en-US" sz="1500" b="1" dirty="0">
                <a:solidFill>
                  <a:srgbClr val="0E8F9C"/>
                </a:solidFill>
                <a:latin typeface="Calibri" pitchFamily="34" charset="0"/>
                <a:ea typeface="Calibri" pitchFamily="34" charset="-122"/>
                <a:cs typeface="Calibri" pitchFamily="34" charset="-120"/>
              </a:rPr>
              <a:t>Why it compounds</a:t>
            </a:r>
            <a:endParaRPr lang="en-US" sz="1500" dirty="0"/>
          </a:p>
        </p:txBody>
      </p:sp>
      <p:sp>
        <p:nvSpPr>
          <p:cNvPr id="12" name="Text 9"/>
          <p:cNvSpPr/>
          <p:nvPr/>
        </p:nvSpPr>
        <p:spPr>
          <a:xfrm>
            <a:off x="6553048" y="3090672"/>
            <a:ext cx="4815688" cy="1755648"/>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Recurring subscription revenue and materially stronger merchant retention.</a:t>
            </a:r>
            <a:endParaRPr lang="en-US" sz="1150" dirty="0"/>
          </a:p>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Real-time cash-flow data to underwrite the NBFC's merchant loans, the Square and Paytm flywheel.</a:t>
            </a:r>
            <a:endParaRPr lang="en-US" sz="1150" dirty="0"/>
          </a:p>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A bundled offer (accept, settle, bill, borrow) that raises switching costs.</a:t>
            </a:r>
            <a:endParaRPr lang="en-US" sz="1150" dirty="0"/>
          </a:p>
        </p:txBody>
      </p:sp>
      <p:sp>
        <p:nvSpPr>
          <p:cNvPr id="13" name="Shape 10"/>
          <p:cNvSpPr/>
          <p:nvPr/>
        </p:nvSpPr>
        <p:spPr>
          <a:xfrm>
            <a:off x="566928" y="5248656"/>
            <a:ext cx="11057839" cy="676656"/>
          </a:xfrm>
          <a:prstGeom prst="roundRect">
            <a:avLst>
              <a:gd name="adj" fmla="val 8108"/>
            </a:avLst>
          </a:prstGeom>
          <a:solidFill>
            <a:srgbClr val="FFFFFF"/>
          </a:solidFill>
          <a:ln w="12700">
            <a:solidFill>
              <a:srgbClr val="D8E2EE"/>
            </a:solidFill>
            <a:prstDash val="solid"/>
          </a:ln>
        </p:spPr>
      </p:sp>
      <p:pic>
        <p:nvPicPr>
          <p:cNvPr id="14" name="Image 1" descr="preencoded.png">    </p:cNvPr>
          <p:cNvPicPr>
            <a:picLocks noChangeAspect="1"/>
          </p:cNvPicPr>
          <p:nvPr/>
        </p:nvPicPr>
        <p:blipFill>
          <a:blip r:embed="rId2"/>
          <a:stretch>
            <a:fillRect/>
          </a:stretch>
        </p:blipFill>
        <p:spPr>
          <a:xfrm>
            <a:off x="786384" y="5422392"/>
            <a:ext cx="329184" cy="329184"/>
          </a:xfrm>
          <a:prstGeom prst="rect">
            <a:avLst/>
          </a:prstGeom>
        </p:spPr>
      </p:pic>
      <p:sp>
        <p:nvSpPr>
          <p:cNvPr id="15" name="Text 11"/>
          <p:cNvSpPr/>
          <p:nvPr/>
        </p:nvSpPr>
        <p:spPr>
          <a:xfrm>
            <a:off x="1243584" y="5248656"/>
            <a:ext cx="10143439" cy="676656"/>
          </a:xfrm>
          <a:prstGeom prst="rect">
            <a:avLst/>
          </a:prstGeom>
          <a:noFill/>
          <a:ln/>
        </p:spPr>
        <p:txBody>
          <a:bodyPr wrap="square" lIns="0" tIns="0" rIns="0" bIns="0" rtlCol="0" anchor="ctr"/>
          <a:lstStyle/>
          <a:p>
            <a:pPr indent="0" marL="0">
              <a:lnSpc>
                <a:spcPct val="100000"/>
              </a:lnSpc>
              <a:buNone/>
            </a:pPr>
            <a:r>
              <a:rPr lang="en-US" sz="1100" b="1" dirty="0">
                <a:solidFill>
                  <a:srgbClr val="12355B"/>
                </a:solidFill>
                <a:latin typeface="Calibri" pitchFamily="34" charset="0"/>
                <a:ea typeface="Calibri" pitchFamily="34" charset="-122"/>
                <a:cs typeface="Calibri" pitchFamily="34" charset="-120"/>
              </a:rPr>
              <a:t>Indicative economics (illustrative):  </a:t>
            </a:r>
            <a:pPr indent="0" marL="0">
              <a:lnSpc>
                <a:spcPct val="100000"/>
              </a:lnSpc>
              <a:buNone/>
            </a:pPr>
            <a:r>
              <a:rPr lang="en-US" sz="1100" dirty="0">
                <a:solidFill>
                  <a:srgbClr val="44566A"/>
                </a:solidFill>
                <a:latin typeface="Calibri" pitchFamily="34" charset="0"/>
                <a:ea typeface="Calibri" pitchFamily="34" charset="-122"/>
                <a:cs typeface="Calibri" pitchFamily="34" charset="-120"/>
              </a:rPr>
              <a:t>ticket of roughly Rs 80 Cr to Rs 250 Cr, mostly stock, with an EBITDA-neutral target within about four quarters.</a:t>
            </a:r>
            <a:endParaRPr lang="en-US" sz="1100" dirty="0"/>
          </a:p>
        </p:txBody>
      </p:sp>
      <p:sp>
        <p:nvSpPr>
          <p:cNvPr id="16" name="Text 12"/>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17" name="Text 1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PRIORITY 1  ·  MOAT 3</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Buy the lending engine to scale the new NBFC safely</a:t>
            </a:r>
            <a:endParaRPr lang="en-US" sz="2700" dirty="0"/>
          </a:p>
        </p:txBody>
      </p:sp>
      <p:sp>
        <p:nvSpPr>
          <p:cNvPr id="4" name="Shape 2"/>
          <p:cNvSpPr/>
          <p:nvPr/>
        </p:nvSpPr>
        <p:spPr>
          <a:xfrm>
            <a:off x="566928" y="1417320"/>
            <a:ext cx="11057839" cy="786384"/>
          </a:xfrm>
          <a:prstGeom prst="roundRect">
            <a:avLst>
              <a:gd name="adj" fmla="val 8140"/>
            </a:avLst>
          </a:prstGeom>
          <a:solidFill>
            <a:srgbClr val="0A2540"/>
          </a:solidFill>
          <a:ln/>
          <a:effectLst>
            <a:outerShdw sx="100000" sy="100000" kx="0" ky="0" algn="bl" rotWithShape="0" blurRad="114300" dist="38100" dir="5400000">
              <a:srgbClr val="1B2B44">
                <a:alpha val="10000"/>
              </a:srgbClr>
            </a:outerShdw>
          </a:effectLst>
        </p:spPr>
      </p:sp>
      <p:pic>
        <p:nvPicPr>
          <p:cNvPr id="5" name="Image 0" descr="preencoded.png">    </p:cNvPr>
          <p:cNvPicPr>
            <a:picLocks noChangeAspect="1"/>
          </p:cNvPicPr>
          <p:nvPr/>
        </p:nvPicPr>
        <p:blipFill>
          <a:blip r:embed="rId1"/>
          <a:stretch>
            <a:fillRect/>
          </a:stretch>
        </p:blipFill>
        <p:spPr>
          <a:xfrm>
            <a:off x="822960" y="1627632"/>
            <a:ext cx="384048" cy="384048"/>
          </a:xfrm>
          <a:prstGeom prst="rect">
            <a:avLst/>
          </a:prstGeom>
        </p:spPr>
      </p:pic>
      <p:sp>
        <p:nvSpPr>
          <p:cNvPr id="6" name="Text 3"/>
          <p:cNvSpPr/>
          <p:nvPr/>
        </p:nvSpPr>
        <p:spPr>
          <a:xfrm>
            <a:off x="1408176" y="1417320"/>
            <a:ext cx="9960559" cy="786384"/>
          </a:xfrm>
          <a:prstGeom prst="rect">
            <a:avLst/>
          </a:prstGeom>
          <a:noFill/>
          <a:ln/>
        </p:spPr>
        <p:txBody>
          <a:bodyPr wrap="square" lIns="0" tIns="0" rIns="0" bIns="0" rtlCol="0" anchor="ctr"/>
          <a:lstStyle/>
          <a:p>
            <a:pPr indent="0" marL="0">
              <a:lnSpc>
                <a:spcPct val="102000"/>
              </a:lnSpc>
              <a:buNone/>
            </a:pPr>
            <a:r>
              <a:rPr lang="en-US" sz="1250" b="1" dirty="0">
                <a:solidFill>
                  <a:srgbClr val="12B5CB"/>
                </a:solidFill>
                <a:latin typeface="Calibri" pitchFamily="34" charset="0"/>
                <a:ea typeface="Calibri" pitchFamily="34" charset="-122"/>
                <a:cs typeface="Calibri" pitchFamily="34" charset="-120"/>
              </a:rPr>
              <a:t>Thesis.  </a:t>
            </a:r>
            <a:pPr indent="0" marL="0">
              <a:lnSpc>
                <a:spcPct val="102000"/>
              </a:lnSpc>
              <a:buNone/>
            </a:pPr>
            <a:r>
              <a:rPr lang="en-US" sz="1250" dirty="0">
                <a:solidFill>
                  <a:srgbClr val="E8EFF8"/>
                </a:solidFill>
                <a:latin typeface="Calibri" pitchFamily="34" charset="0"/>
                <a:ea typeface="Calibri" pitchFamily="34" charset="-122"/>
                <a:cs typeface="Calibri" pitchFamily="34" charset="-120"/>
              </a:rPr>
              <a:t>MobiKwik just won its NBFC licence. Buy the underwriting, collections and seasoning that turn a licence into a profitable book, rather than building risk models from zero.</a:t>
            </a:r>
            <a:endParaRPr lang="en-US" sz="1250" dirty="0"/>
          </a:p>
        </p:txBody>
      </p:sp>
      <p:sp>
        <p:nvSpPr>
          <p:cNvPr id="7" name="Shape 4"/>
          <p:cNvSpPr/>
          <p:nvPr/>
        </p:nvSpPr>
        <p:spPr>
          <a:xfrm>
            <a:off x="566928" y="2487168"/>
            <a:ext cx="5346040" cy="2542032"/>
          </a:xfrm>
          <a:prstGeom prst="roundRect">
            <a:avLst>
              <a:gd name="adj" fmla="val 2518"/>
            </a:avLst>
          </a:prstGeom>
          <a:solidFill>
            <a:srgbClr val="F4F8FC"/>
          </a:solidFill>
          <a:ln w="12700">
            <a:solidFill>
              <a:srgbClr val="D8E2EE"/>
            </a:solidFill>
            <a:prstDash val="solid"/>
          </a:ln>
        </p:spPr>
      </p:sp>
      <p:sp>
        <p:nvSpPr>
          <p:cNvPr id="8" name="Text 5"/>
          <p:cNvSpPr/>
          <p:nvPr/>
        </p:nvSpPr>
        <p:spPr>
          <a:xfrm>
            <a:off x="822960" y="2688336"/>
            <a:ext cx="4833976" cy="310896"/>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What to buy</a:t>
            </a:r>
            <a:endParaRPr lang="en-US" sz="1500" dirty="0"/>
          </a:p>
        </p:txBody>
      </p:sp>
      <p:sp>
        <p:nvSpPr>
          <p:cNvPr id="9" name="Text 6"/>
          <p:cNvSpPr/>
          <p:nvPr/>
        </p:nvSpPr>
        <p:spPr>
          <a:xfrm>
            <a:off x="841248" y="3090672"/>
            <a:ext cx="4815688" cy="1755648"/>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Credit-decisioning and cash-flow underwriting technology tuned to thin-file Bharat borrowers.</a:t>
            </a:r>
            <a:endParaRPr lang="en-US" sz="1150" dirty="0"/>
          </a:p>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A collections and recovery platform, increasingly AI-led, to protect asset quality from day one.</a:t>
            </a:r>
            <a:endParaRPr lang="en-US" sz="1150" dirty="0"/>
          </a:p>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Optionally a small, seasoned loan book or a lending service provider, with Amazon's Axio purchase as the template.</a:t>
            </a:r>
            <a:endParaRPr lang="en-US" sz="1150" dirty="0"/>
          </a:p>
        </p:txBody>
      </p:sp>
      <p:sp>
        <p:nvSpPr>
          <p:cNvPr id="10" name="Shape 7"/>
          <p:cNvSpPr/>
          <p:nvPr/>
        </p:nvSpPr>
        <p:spPr>
          <a:xfrm>
            <a:off x="6278728" y="2487168"/>
            <a:ext cx="5346040" cy="2542032"/>
          </a:xfrm>
          <a:prstGeom prst="roundRect">
            <a:avLst>
              <a:gd name="adj" fmla="val 2518"/>
            </a:avLst>
          </a:prstGeom>
          <a:solidFill>
            <a:srgbClr val="E2F6F8"/>
          </a:solidFill>
          <a:ln/>
        </p:spPr>
      </p:sp>
      <p:sp>
        <p:nvSpPr>
          <p:cNvPr id="11" name="Text 8"/>
          <p:cNvSpPr/>
          <p:nvPr/>
        </p:nvSpPr>
        <p:spPr>
          <a:xfrm>
            <a:off x="6534760" y="2688336"/>
            <a:ext cx="4833976" cy="310896"/>
          </a:xfrm>
          <a:prstGeom prst="rect">
            <a:avLst/>
          </a:prstGeom>
          <a:noFill/>
          <a:ln/>
        </p:spPr>
        <p:txBody>
          <a:bodyPr wrap="square" lIns="0" tIns="0" rIns="0" bIns="0" rtlCol="0" anchor="ctr"/>
          <a:lstStyle/>
          <a:p>
            <a:pPr indent="0" marL="0">
              <a:buNone/>
            </a:pPr>
            <a:r>
              <a:rPr lang="en-US" sz="1500" b="1" dirty="0">
                <a:solidFill>
                  <a:srgbClr val="0E8F9C"/>
                </a:solidFill>
                <a:latin typeface="Calibri" pitchFamily="34" charset="0"/>
                <a:ea typeface="Calibri" pitchFamily="34" charset="-122"/>
                <a:cs typeface="Calibri" pitchFamily="34" charset="-120"/>
              </a:rPr>
              <a:t>Why it compounds</a:t>
            </a:r>
            <a:endParaRPr lang="en-US" sz="1500" dirty="0"/>
          </a:p>
        </p:txBody>
      </p:sp>
      <p:sp>
        <p:nvSpPr>
          <p:cNvPr id="12" name="Text 9"/>
          <p:cNvSpPr/>
          <p:nvPr/>
        </p:nvSpPr>
        <p:spPr>
          <a:xfrm>
            <a:off x="6553048" y="3090672"/>
            <a:ext cx="4815688" cy="1755648"/>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Faster, lower-risk scale-up of in-house lending versus an organic build.</a:t>
            </a:r>
            <a:endParaRPr lang="en-US" sz="1150" dirty="0"/>
          </a:p>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Higher-margin credit revenue on the 186.6M users and 4.79M merchants already on platform.</a:t>
            </a:r>
            <a:endParaRPr lang="en-US" sz="1150" dirty="0"/>
          </a:p>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Better risk-adjusted yields and regulator confidence from the start.</a:t>
            </a:r>
            <a:endParaRPr lang="en-US" sz="1150" dirty="0"/>
          </a:p>
        </p:txBody>
      </p:sp>
      <p:sp>
        <p:nvSpPr>
          <p:cNvPr id="13" name="Shape 10"/>
          <p:cNvSpPr/>
          <p:nvPr/>
        </p:nvSpPr>
        <p:spPr>
          <a:xfrm>
            <a:off x="566928" y="5248656"/>
            <a:ext cx="11057839" cy="676656"/>
          </a:xfrm>
          <a:prstGeom prst="roundRect">
            <a:avLst>
              <a:gd name="adj" fmla="val 8108"/>
            </a:avLst>
          </a:prstGeom>
          <a:solidFill>
            <a:srgbClr val="FFFFFF"/>
          </a:solidFill>
          <a:ln w="12700">
            <a:solidFill>
              <a:srgbClr val="D8E2EE"/>
            </a:solidFill>
            <a:prstDash val="solid"/>
          </a:ln>
        </p:spPr>
      </p:sp>
      <p:pic>
        <p:nvPicPr>
          <p:cNvPr id="14" name="Image 1" descr="preencoded.png">    </p:cNvPr>
          <p:cNvPicPr>
            <a:picLocks noChangeAspect="1"/>
          </p:cNvPicPr>
          <p:nvPr/>
        </p:nvPicPr>
        <p:blipFill>
          <a:blip r:embed="rId2"/>
          <a:stretch>
            <a:fillRect/>
          </a:stretch>
        </p:blipFill>
        <p:spPr>
          <a:xfrm>
            <a:off x="786384" y="5422392"/>
            <a:ext cx="329184" cy="329184"/>
          </a:xfrm>
          <a:prstGeom prst="rect">
            <a:avLst/>
          </a:prstGeom>
        </p:spPr>
      </p:pic>
      <p:sp>
        <p:nvSpPr>
          <p:cNvPr id="15" name="Text 11"/>
          <p:cNvSpPr/>
          <p:nvPr/>
        </p:nvSpPr>
        <p:spPr>
          <a:xfrm>
            <a:off x="1243584" y="5248656"/>
            <a:ext cx="10143439" cy="676656"/>
          </a:xfrm>
          <a:prstGeom prst="rect">
            <a:avLst/>
          </a:prstGeom>
          <a:noFill/>
          <a:ln/>
        </p:spPr>
        <p:txBody>
          <a:bodyPr wrap="square" lIns="0" tIns="0" rIns="0" bIns="0" rtlCol="0" anchor="ctr"/>
          <a:lstStyle/>
          <a:p>
            <a:pPr indent="0" marL="0">
              <a:lnSpc>
                <a:spcPct val="100000"/>
              </a:lnSpc>
              <a:buNone/>
            </a:pPr>
            <a:r>
              <a:rPr lang="en-US" sz="1100" b="1" dirty="0">
                <a:solidFill>
                  <a:srgbClr val="12355B"/>
                </a:solidFill>
                <a:latin typeface="Calibri" pitchFamily="34" charset="0"/>
                <a:ea typeface="Calibri" pitchFamily="34" charset="-122"/>
                <a:cs typeface="Calibri" pitchFamily="34" charset="-120"/>
              </a:rPr>
              <a:t>Indicative economics (illustrative):  </a:t>
            </a:r>
            <a:pPr indent="0" marL="0">
              <a:lnSpc>
                <a:spcPct val="100000"/>
              </a:lnSpc>
              <a:buNone/>
            </a:pPr>
            <a:r>
              <a:rPr lang="en-US" sz="1100" dirty="0">
                <a:solidFill>
                  <a:srgbClr val="44566A"/>
                </a:solidFill>
                <a:latin typeface="Calibri" pitchFamily="34" charset="0"/>
                <a:ea typeface="Calibri" pitchFamily="34" charset="-122"/>
                <a:cs typeface="Calibri" pitchFamily="34" charset="-120"/>
              </a:rPr>
              <a:t>ticket of roughly Rs 100 Cr to Rs 250 Cr; structure to ring-fence credit risk and clear licence and book transfer first.</a:t>
            </a:r>
            <a:endParaRPr lang="en-US" sz="1100" dirty="0"/>
          </a:p>
        </p:txBody>
      </p:sp>
      <p:sp>
        <p:nvSpPr>
          <p:cNvPr id="16" name="Text 12"/>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17" name="Text 1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PRIORITY 2  ·  EXISTING ARM</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Activate the broking licence beyond mutual funds</a:t>
            </a:r>
            <a:endParaRPr lang="en-US" sz="2700" dirty="0"/>
          </a:p>
        </p:txBody>
      </p:sp>
      <p:sp>
        <p:nvSpPr>
          <p:cNvPr id="4" name="Shape 2"/>
          <p:cNvSpPr/>
          <p:nvPr/>
        </p:nvSpPr>
        <p:spPr>
          <a:xfrm>
            <a:off x="566928" y="1417320"/>
            <a:ext cx="11057839" cy="786384"/>
          </a:xfrm>
          <a:prstGeom prst="roundRect">
            <a:avLst>
              <a:gd name="adj" fmla="val 8140"/>
            </a:avLst>
          </a:prstGeom>
          <a:solidFill>
            <a:srgbClr val="0A2540"/>
          </a:solidFill>
          <a:ln/>
          <a:effectLst>
            <a:outerShdw sx="100000" sy="100000" kx="0" ky="0" algn="bl" rotWithShape="0" blurRad="114300" dist="38100" dir="5400000">
              <a:srgbClr val="1B2B44">
                <a:alpha val="10000"/>
              </a:srgbClr>
            </a:outerShdw>
          </a:effectLst>
        </p:spPr>
      </p:sp>
      <p:pic>
        <p:nvPicPr>
          <p:cNvPr id="5" name="Image 0" descr="preencoded.png">    </p:cNvPr>
          <p:cNvPicPr>
            <a:picLocks noChangeAspect="1"/>
          </p:cNvPicPr>
          <p:nvPr/>
        </p:nvPicPr>
        <p:blipFill>
          <a:blip r:embed="rId1"/>
          <a:stretch>
            <a:fillRect/>
          </a:stretch>
        </p:blipFill>
        <p:spPr>
          <a:xfrm>
            <a:off x="822960" y="1627632"/>
            <a:ext cx="384048" cy="384048"/>
          </a:xfrm>
          <a:prstGeom prst="rect">
            <a:avLst/>
          </a:prstGeom>
        </p:spPr>
      </p:pic>
      <p:sp>
        <p:nvSpPr>
          <p:cNvPr id="6" name="Text 3"/>
          <p:cNvSpPr/>
          <p:nvPr/>
        </p:nvSpPr>
        <p:spPr>
          <a:xfrm>
            <a:off x="1408176" y="1417320"/>
            <a:ext cx="9960559" cy="786384"/>
          </a:xfrm>
          <a:prstGeom prst="rect">
            <a:avLst/>
          </a:prstGeom>
          <a:noFill/>
          <a:ln/>
        </p:spPr>
        <p:txBody>
          <a:bodyPr wrap="square" lIns="0" tIns="0" rIns="0" bIns="0" rtlCol="0" anchor="ctr"/>
          <a:lstStyle/>
          <a:p>
            <a:pPr indent="0" marL="0">
              <a:lnSpc>
                <a:spcPct val="102000"/>
              </a:lnSpc>
              <a:buNone/>
            </a:pPr>
            <a:r>
              <a:rPr lang="en-US" sz="1250" b="1" dirty="0">
                <a:solidFill>
                  <a:srgbClr val="12B5CB"/>
                </a:solidFill>
                <a:latin typeface="Calibri" pitchFamily="34" charset="0"/>
                <a:ea typeface="Calibri" pitchFamily="34" charset="-122"/>
                <a:cs typeface="Calibri" pitchFamily="34" charset="-120"/>
              </a:rPr>
              <a:t>Thesis.  </a:t>
            </a:r>
            <a:pPr indent="0" marL="0">
              <a:lnSpc>
                <a:spcPct val="102000"/>
              </a:lnSpc>
              <a:buNone/>
            </a:pPr>
            <a:r>
              <a:rPr lang="en-US" sz="1250" dirty="0">
                <a:solidFill>
                  <a:srgbClr val="E8EFF8"/>
                </a:solidFill>
                <a:latin typeface="Calibri" pitchFamily="34" charset="0"/>
                <a:ea typeface="Calibri" pitchFamily="34" charset="-122"/>
                <a:cs typeface="Calibri" pitchFamily="34" charset="-120"/>
              </a:rPr>
              <a:t>MobiKwik holds a SEBI broking licence and Clearfunds, acquired in 2018, but lacks a scaled investing product while Groww, Zerodha and Angel One run away with the market. The 186.6M user base is the asset.</a:t>
            </a:r>
            <a:endParaRPr lang="en-US" sz="1250" dirty="0"/>
          </a:p>
        </p:txBody>
      </p:sp>
      <p:sp>
        <p:nvSpPr>
          <p:cNvPr id="7" name="Shape 4"/>
          <p:cNvSpPr/>
          <p:nvPr/>
        </p:nvSpPr>
        <p:spPr>
          <a:xfrm>
            <a:off x="566928" y="2487168"/>
            <a:ext cx="5346040" cy="2542032"/>
          </a:xfrm>
          <a:prstGeom prst="roundRect">
            <a:avLst>
              <a:gd name="adj" fmla="val 2518"/>
            </a:avLst>
          </a:prstGeom>
          <a:solidFill>
            <a:srgbClr val="F4F8FC"/>
          </a:solidFill>
          <a:ln w="12700">
            <a:solidFill>
              <a:srgbClr val="D8E2EE"/>
            </a:solidFill>
            <a:prstDash val="solid"/>
          </a:ln>
        </p:spPr>
      </p:sp>
      <p:sp>
        <p:nvSpPr>
          <p:cNvPr id="8" name="Text 5"/>
          <p:cNvSpPr/>
          <p:nvPr/>
        </p:nvSpPr>
        <p:spPr>
          <a:xfrm>
            <a:off x="822960" y="2688336"/>
            <a:ext cx="4833976" cy="310896"/>
          </a:xfrm>
          <a:prstGeom prst="rect">
            <a:avLst/>
          </a:prstGeom>
          <a:noFill/>
          <a:ln/>
        </p:spPr>
        <p:txBody>
          <a:bodyPr wrap="square" lIns="0" tIns="0" rIns="0" bIns="0" rtlCol="0" anchor="ctr"/>
          <a:lstStyle/>
          <a:p>
            <a:pPr indent="0" marL="0">
              <a:buNone/>
            </a:pPr>
            <a:r>
              <a:rPr lang="en-US" sz="1500" b="1" dirty="0">
                <a:solidFill>
                  <a:srgbClr val="12355B"/>
                </a:solidFill>
                <a:latin typeface="Calibri" pitchFamily="34" charset="0"/>
                <a:ea typeface="Calibri" pitchFamily="34" charset="-122"/>
                <a:cs typeface="Calibri" pitchFamily="34" charset="-120"/>
              </a:rPr>
              <a:t>What to buy</a:t>
            </a:r>
            <a:endParaRPr lang="en-US" sz="1500" dirty="0"/>
          </a:p>
        </p:txBody>
      </p:sp>
      <p:sp>
        <p:nvSpPr>
          <p:cNvPr id="9" name="Text 6"/>
          <p:cNvSpPr/>
          <p:nvPr/>
        </p:nvSpPr>
        <p:spPr>
          <a:xfrm>
            <a:off x="841248" y="3090672"/>
            <a:ext cx="4815688" cy="1755648"/>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A discount-broking or investing technology stack to launch equities and ETFs quickly.</a:t>
            </a:r>
            <a:endParaRPr lang="en-US" sz="1150" dirty="0"/>
          </a:p>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Advisory, research or portfolio tooling to move savers up the value chain.</a:t>
            </a:r>
            <a:endParaRPr lang="en-US" sz="1150" dirty="0"/>
          </a:p>
          <a:p>
            <a:pPr marL="177800" indent="-177800">
              <a:lnSpc>
                <a:spcPct val="102000"/>
              </a:lnSpc>
              <a:spcAft>
                <a:spcPts val="800"/>
              </a:spcAft>
              <a:buSzPct val="100000"/>
              <a:buChar char="•"/>
            </a:pPr>
            <a:r>
              <a:rPr lang="en-US" sz="1150" dirty="0">
                <a:solidFill>
                  <a:srgbClr val="3C4E62"/>
                </a:solidFill>
                <a:latin typeface="Calibri" pitchFamily="34" charset="0"/>
                <a:ea typeface="Calibri" pitchFamily="34" charset="-122"/>
                <a:cs typeface="Calibri" pitchFamily="34" charset="-120"/>
              </a:rPr>
              <a:t>Illustrative reference point: Groww's purchase of Fisdom to add wealth distribution.</a:t>
            </a:r>
            <a:endParaRPr lang="en-US" sz="1150" dirty="0"/>
          </a:p>
        </p:txBody>
      </p:sp>
      <p:sp>
        <p:nvSpPr>
          <p:cNvPr id="10" name="Shape 7"/>
          <p:cNvSpPr/>
          <p:nvPr/>
        </p:nvSpPr>
        <p:spPr>
          <a:xfrm>
            <a:off x="6278728" y="2487168"/>
            <a:ext cx="5346040" cy="2542032"/>
          </a:xfrm>
          <a:prstGeom prst="roundRect">
            <a:avLst>
              <a:gd name="adj" fmla="val 2518"/>
            </a:avLst>
          </a:prstGeom>
          <a:solidFill>
            <a:srgbClr val="E2F6F8"/>
          </a:solidFill>
          <a:ln/>
        </p:spPr>
      </p:sp>
      <p:sp>
        <p:nvSpPr>
          <p:cNvPr id="11" name="Text 8"/>
          <p:cNvSpPr/>
          <p:nvPr/>
        </p:nvSpPr>
        <p:spPr>
          <a:xfrm>
            <a:off x="6534760" y="2688336"/>
            <a:ext cx="4833976" cy="310896"/>
          </a:xfrm>
          <a:prstGeom prst="rect">
            <a:avLst/>
          </a:prstGeom>
          <a:noFill/>
          <a:ln/>
        </p:spPr>
        <p:txBody>
          <a:bodyPr wrap="square" lIns="0" tIns="0" rIns="0" bIns="0" rtlCol="0" anchor="ctr"/>
          <a:lstStyle/>
          <a:p>
            <a:pPr indent="0" marL="0">
              <a:buNone/>
            </a:pPr>
            <a:r>
              <a:rPr lang="en-US" sz="1500" b="1" dirty="0">
                <a:solidFill>
                  <a:srgbClr val="0E8F9C"/>
                </a:solidFill>
                <a:latin typeface="Calibri" pitchFamily="34" charset="0"/>
                <a:ea typeface="Calibri" pitchFamily="34" charset="-122"/>
                <a:cs typeface="Calibri" pitchFamily="34" charset="-120"/>
              </a:rPr>
              <a:t>Why it compounds</a:t>
            </a:r>
            <a:endParaRPr lang="en-US" sz="1500" dirty="0"/>
          </a:p>
        </p:txBody>
      </p:sp>
      <p:sp>
        <p:nvSpPr>
          <p:cNvPr id="12" name="Text 9"/>
          <p:cNvSpPr/>
          <p:nvPr/>
        </p:nvSpPr>
        <p:spPr>
          <a:xfrm>
            <a:off x="6553048" y="3090672"/>
            <a:ext cx="4815688" cy="1755648"/>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Converts a large savings and payments base into higher-margin investing relationships.</a:t>
            </a:r>
            <a:endParaRPr lang="en-US" sz="1150" dirty="0"/>
          </a:p>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Deepens daily engagement and lifts customer lifetime value.</a:t>
            </a:r>
            <a:endParaRPr lang="en-US" sz="1150" dirty="0"/>
          </a:p>
          <a:p>
            <a:pPr marL="177800" indent="-177800">
              <a:lnSpc>
                <a:spcPct val="102000"/>
              </a:lnSpc>
              <a:spcAft>
                <a:spcPts val="800"/>
              </a:spcAft>
              <a:buSzPct val="100000"/>
              <a:buChar char="•"/>
            </a:pPr>
            <a:r>
              <a:rPr lang="en-US" sz="1150" dirty="0">
                <a:solidFill>
                  <a:srgbClr val="284254"/>
                </a:solidFill>
                <a:latin typeface="Calibri" pitchFamily="34" charset="0"/>
                <a:ea typeface="Calibri" pitchFamily="34" charset="-122"/>
                <a:cs typeface="Calibri" pitchFamily="34" charset="-120"/>
              </a:rPr>
              <a:t>Leverages an asset, the user base, that competitors would pay heavily to reach.</a:t>
            </a:r>
            <a:endParaRPr lang="en-US" sz="1150" dirty="0"/>
          </a:p>
        </p:txBody>
      </p:sp>
      <p:sp>
        <p:nvSpPr>
          <p:cNvPr id="13" name="Shape 10"/>
          <p:cNvSpPr/>
          <p:nvPr/>
        </p:nvSpPr>
        <p:spPr>
          <a:xfrm>
            <a:off x="566928" y="5248656"/>
            <a:ext cx="11057839" cy="676656"/>
          </a:xfrm>
          <a:prstGeom prst="roundRect">
            <a:avLst>
              <a:gd name="adj" fmla="val 8108"/>
            </a:avLst>
          </a:prstGeom>
          <a:solidFill>
            <a:srgbClr val="FFFFFF"/>
          </a:solidFill>
          <a:ln w="12700">
            <a:solidFill>
              <a:srgbClr val="D8E2EE"/>
            </a:solidFill>
            <a:prstDash val="solid"/>
          </a:ln>
        </p:spPr>
      </p:sp>
      <p:pic>
        <p:nvPicPr>
          <p:cNvPr id="14" name="Image 1" descr="preencoded.png">    </p:cNvPr>
          <p:cNvPicPr>
            <a:picLocks noChangeAspect="1"/>
          </p:cNvPicPr>
          <p:nvPr/>
        </p:nvPicPr>
        <p:blipFill>
          <a:blip r:embed="rId2"/>
          <a:stretch>
            <a:fillRect/>
          </a:stretch>
        </p:blipFill>
        <p:spPr>
          <a:xfrm>
            <a:off x="786384" y="5422392"/>
            <a:ext cx="329184" cy="329184"/>
          </a:xfrm>
          <a:prstGeom prst="rect">
            <a:avLst/>
          </a:prstGeom>
        </p:spPr>
      </p:pic>
      <p:sp>
        <p:nvSpPr>
          <p:cNvPr id="15" name="Text 11"/>
          <p:cNvSpPr/>
          <p:nvPr/>
        </p:nvSpPr>
        <p:spPr>
          <a:xfrm>
            <a:off x="1243584" y="5248656"/>
            <a:ext cx="10143439" cy="676656"/>
          </a:xfrm>
          <a:prstGeom prst="rect">
            <a:avLst/>
          </a:prstGeom>
          <a:noFill/>
          <a:ln/>
        </p:spPr>
        <p:txBody>
          <a:bodyPr wrap="square" lIns="0" tIns="0" rIns="0" bIns="0" rtlCol="0" anchor="ctr"/>
          <a:lstStyle/>
          <a:p>
            <a:pPr indent="0" marL="0">
              <a:lnSpc>
                <a:spcPct val="100000"/>
              </a:lnSpc>
              <a:buNone/>
            </a:pPr>
            <a:r>
              <a:rPr lang="en-US" sz="1100" b="1" dirty="0">
                <a:solidFill>
                  <a:srgbClr val="12355B"/>
                </a:solidFill>
                <a:latin typeface="Calibri" pitchFamily="34" charset="0"/>
                <a:ea typeface="Calibri" pitchFamily="34" charset="-122"/>
                <a:cs typeface="Calibri" pitchFamily="34" charset="-120"/>
              </a:rPr>
              <a:t>Indicative economics (illustrative):  </a:t>
            </a:r>
            <a:pPr indent="0" marL="0">
              <a:lnSpc>
                <a:spcPct val="100000"/>
              </a:lnSpc>
              <a:buNone/>
            </a:pPr>
            <a:r>
              <a:rPr lang="en-US" sz="1100" dirty="0">
                <a:solidFill>
                  <a:srgbClr val="44566A"/>
                </a:solidFill>
                <a:latin typeface="Calibri" pitchFamily="34" charset="0"/>
                <a:ea typeface="Calibri" pitchFamily="34" charset="-122"/>
                <a:cs typeface="Calibri" pitchFamily="34" charset="-120"/>
              </a:rPr>
              <a:t>stock-led, with founder lock-ins (the Clearfunds founder led the wealth arm post-deal, a useful precedent).</a:t>
            </a:r>
            <a:endParaRPr lang="en-US" sz="1100" dirty="0"/>
          </a:p>
        </p:txBody>
      </p:sp>
      <p:sp>
        <p:nvSpPr>
          <p:cNvPr id="16" name="Text 12"/>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17" name="Text 1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ILLUSTRATIVE TARGETS  ·  WHITE SPACE</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Two bolt-on targets that fit the strategy and the balance sheet</a:t>
            </a:r>
            <a:endParaRPr lang="en-US" sz="2700" dirty="0"/>
          </a:p>
        </p:txBody>
      </p:sp>
      <p:sp>
        <p:nvSpPr>
          <p:cNvPr id="4" name="Text 2"/>
          <p:cNvSpPr/>
          <p:nvPr/>
        </p:nvSpPr>
        <p:spPr>
          <a:xfrm>
            <a:off x="566928" y="1371600"/>
            <a:ext cx="11057839" cy="548640"/>
          </a:xfrm>
          <a:prstGeom prst="rect">
            <a:avLst/>
          </a:prstGeom>
          <a:noFill/>
          <a:ln/>
        </p:spPr>
        <p:txBody>
          <a:bodyPr wrap="square" lIns="0" tIns="0" rIns="0" bIns="0" rtlCol="0" anchor="t"/>
          <a:lstStyle/>
          <a:p>
            <a:pPr indent="0" marL="0">
              <a:lnSpc>
                <a:spcPct val="104000"/>
              </a:lnSpc>
              <a:buNone/>
            </a:pPr>
            <a:r>
              <a:rPr lang="en-US" sz="1250" dirty="0">
                <a:solidFill>
                  <a:srgbClr val="44566A"/>
                </a:solidFill>
                <a:latin typeface="Calibri" pitchFamily="34" charset="0"/>
                <a:ea typeface="Calibri" pitchFamily="34" charset="-122"/>
                <a:cs typeface="Calibri" pitchFamily="34" charset="-120"/>
              </a:rPr>
              <a:t>Most recognisable fintechs (Vyapar, Credgenics and others) are now acquirers, not sellers. The realistic targets for a small-cap buyer are focused infrastructure players, and MobiKwik is uniquely placed to win these two.</a:t>
            </a:r>
            <a:endParaRPr lang="en-US" sz="1250" dirty="0"/>
          </a:p>
        </p:txBody>
      </p:sp>
      <p:sp>
        <p:nvSpPr>
          <p:cNvPr id="5" name="Shape 3"/>
          <p:cNvSpPr/>
          <p:nvPr/>
        </p:nvSpPr>
        <p:spPr>
          <a:xfrm>
            <a:off x="566928" y="2103120"/>
            <a:ext cx="5346040" cy="3749040"/>
          </a:xfrm>
          <a:prstGeom prst="roundRect">
            <a:avLst>
              <a:gd name="adj" fmla="val 1951"/>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6" name="Shape 4"/>
          <p:cNvSpPr/>
          <p:nvPr/>
        </p:nvSpPr>
        <p:spPr>
          <a:xfrm>
            <a:off x="841248" y="2377440"/>
            <a:ext cx="621792" cy="621792"/>
          </a:xfrm>
          <a:prstGeom prst="ellipse">
            <a:avLst/>
          </a:prstGeom>
          <a:solidFill>
            <a:srgbClr val="12B5CB"/>
          </a:solidFill>
          <a:ln/>
        </p:spPr>
      </p:sp>
      <p:pic>
        <p:nvPicPr>
          <p:cNvPr id="7" name="Image 0" descr="preencoded.png">    </p:cNvPr>
          <p:cNvPicPr>
            <a:picLocks noChangeAspect="1"/>
          </p:cNvPicPr>
          <p:nvPr/>
        </p:nvPicPr>
        <p:blipFill>
          <a:blip r:embed="rId1"/>
          <a:stretch>
            <a:fillRect/>
          </a:stretch>
        </p:blipFill>
        <p:spPr>
          <a:xfrm>
            <a:off x="1015350" y="2551542"/>
            <a:ext cx="273588" cy="273588"/>
          </a:xfrm>
          <a:prstGeom prst="rect">
            <a:avLst/>
          </a:prstGeom>
        </p:spPr>
      </p:pic>
      <p:sp>
        <p:nvSpPr>
          <p:cNvPr id="8" name="Text 5"/>
          <p:cNvSpPr/>
          <p:nvPr/>
        </p:nvSpPr>
        <p:spPr>
          <a:xfrm>
            <a:off x="1609344" y="2377440"/>
            <a:ext cx="4120744" cy="347472"/>
          </a:xfrm>
          <a:prstGeom prst="rect">
            <a:avLst/>
          </a:prstGeom>
          <a:noFill/>
          <a:ln/>
        </p:spPr>
        <p:txBody>
          <a:bodyPr wrap="square" lIns="0" tIns="0" rIns="0" bIns="0" rtlCol="0" anchor="ctr"/>
          <a:lstStyle/>
          <a:p>
            <a:pPr indent="0" marL="0">
              <a:buNone/>
            </a:pPr>
            <a:r>
              <a:rPr lang="en-US" sz="2100" b="1" spc="100" kern="0" dirty="0">
                <a:solidFill>
                  <a:srgbClr val="12355B"/>
                </a:solidFill>
                <a:latin typeface="Calibri" pitchFamily="34" charset="0"/>
                <a:ea typeface="Calibri" pitchFamily="34" charset="-122"/>
                <a:cs typeface="Calibri" pitchFamily="34" charset="-120"/>
              </a:rPr>
              <a:t>BLOSTEM</a:t>
            </a:r>
            <a:endParaRPr lang="en-US" sz="2100" dirty="0"/>
          </a:p>
        </p:txBody>
      </p:sp>
      <p:sp>
        <p:nvSpPr>
          <p:cNvPr id="9" name="Text 6"/>
          <p:cNvSpPr/>
          <p:nvPr/>
        </p:nvSpPr>
        <p:spPr>
          <a:xfrm>
            <a:off x="1609344" y="2761488"/>
            <a:ext cx="4120744" cy="274320"/>
          </a:xfrm>
          <a:prstGeom prst="rect">
            <a:avLst/>
          </a:prstGeom>
          <a:noFill/>
          <a:ln/>
        </p:spPr>
        <p:txBody>
          <a:bodyPr wrap="square" lIns="0" tIns="0" rIns="0" bIns="0" rtlCol="0" anchor="ctr"/>
          <a:lstStyle/>
          <a:p>
            <a:pPr indent="0" marL="0">
              <a:buNone/>
            </a:pPr>
            <a:r>
              <a:rPr lang="en-US" sz="1150" i="1" dirty="0">
                <a:solidFill>
                  <a:srgbClr val="0E8F9C"/>
                </a:solidFill>
                <a:latin typeface="Calibri" pitchFamily="34" charset="0"/>
                <a:ea typeface="Calibri" pitchFamily="34" charset="-122"/>
                <a:cs typeface="Calibri" pitchFamily="34" charset="-120"/>
              </a:rPr>
              <a:t>Savings &amp; wealth distribution rail</a:t>
            </a:r>
            <a:endParaRPr lang="en-US" sz="1150" dirty="0"/>
          </a:p>
        </p:txBody>
      </p:sp>
      <p:sp>
        <p:nvSpPr>
          <p:cNvPr id="10" name="Text 7"/>
          <p:cNvSpPr/>
          <p:nvPr/>
        </p:nvSpPr>
        <p:spPr>
          <a:xfrm>
            <a:off x="859536" y="3255264"/>
            <a:ext cx="4760824" cy="219456"/>
          </a:xfrm>
          <a:prstGeom prst="rect">
            <a:avLst/>
          </a:prstGeom>
          <a:noFill/>
          <a:ln/>
        </p:spPr>
        <p:txBody>
          <a:bodyPr wrap="square" lIns="0" tIns="0" rIns="0" bIns="0" rtlCol="0" anchor="ctr"/>
          <a:lstStyle/>
          <a:p>
            <a:pPr indent="0" marL="0">
              <a:buNone/>
            </a:pPr>
            <a:r>
              <a:rPr lang="en-US" sz="950" b="1" spc="100" kern="0" dirty="0">
                <a:solidFill>
                  <a:srgbClr val="0E8F9C"/>
                </a:solidFill>
                <a:latin typeface="Calibri" pitchFamily="34" charset="0"/>
                <a:ea typeface="Calibri" pitchFamily="34" charset="-122"/>
                <a:cs typeface="Calibri" pitchFamily="34" charset="-120"/>
              </a:rPr>
              <a:t>WHITE SPACE IT FILLS</a:t>
            </a:r>
            <a:endParaRPr lang="en-US" sz="950" dirty="0"/>
          </a:p>
        </p:txBody>
      </p:sp>
      <p:sp>
        <p:nvSpPr>
          <p:cNvPr id="11" name="Text 8"/>
          <p:cNvSpPr/>
          <p:nvPr/>
        </p:nvSpPr>
        <p:spPr>
          <a:xfrm>
            <a:off x="859536" y="3474720"/>
            <a:ext cx="4760824" cy="621792"/>
          </a:xfrm>
          <a:prstGeom prst="rect">
            <a:avLst/>
          </a:prstGeom>
          <a:noFill/>
          <a:ln/>
        </p:spPr>
        <p:txBody>
          <a:bodyPr wrap="square" lIns="0" tIns="0" rIns="0" bIns="0" rtlCol="0" anchor="t"/>
          <a:lstStyle/>
          <a:p>
            <a:pPr indent="0" marL="0">
              <a:lnSpc>
                <a:spcPct val="102000"/>
              </a:lnSpc>
              <a:buNone/>
            </a:pPr>
            <a:r>
              <a:rPr lang="en-US" sz="1100" dirty="0">
                <a:solidFill>
                  <a:srgbClr val="3C4E62"/>
                </a:solidFill>
                <a:latin typeface="Calibri" pitchFamily="34" charset="0"/>
                <a:ea typeface="Calibri" pitchFamily="34" charset="-122"/>
                <a:cs typeface="Calibri" pitchFamily="34" charset="-120"/>
              </a:rPr>
              <a:t>Owning the B2B rail that distributes bank fixed deposits (and soon loans and bonds), which MobiKwik today only consumes.</a:t>
            </a:r>
            <a:endParaRPr lang="en-US" sz="1100" dirty="0"/>
          </a:p>
        </p:txBody>
      </p:sp>
      <p:sp>
        <p:nvSpPr>
          <p:cNvPr id="12" name="Text 9"/>
          <p:cNvSpPr/>
          <p:nvPr/>
        </p:nvSpPr>
        <p:spPr>
          <a:xfrm>
            <a:off x="859536" y="4133088"/>
            <a:ext cx="4760824" cy="219456"/>
          </a:xfrm>
          <a:prstGeom prst="rect">
            <a:avLst/>
          </a:prstGeom>
          <a:noFill/>
          <a:ln/>
        </p:spPr>
        <p:txBody>
          <a:bodyPr wrap="square" lIns="0" tIns="0" rIns="0" bIns="0" rtlCol="0" anchor="ctr"/>
          <a:lstStyle/>
          <a:p>
            <a:pPr indent="0" marL="0">
              <a:buNone/>
            </a:pPr>
            <a:r>
              <a:rPr lang="en-US" sz="950" b="1" spc="100" kern="0" dirty="0">
                <a:solidFill>
                  <a:srgbClr val="0E8F9C"/>
                </a:solidFill>
                <a:latin typeface="Calibri" pitchFamily="34" charset="0"/>
                <a:ea typeface="Calibri" pitchFamily="34" charset="-122"/>
                <a:cs typeface="Calibri" pitchFamily="34" charset="-120"/>
              </a:rPr>
              <a:t>MOBIKWIK'S EDGE</a:t>
            </a:r>
            <a:endParaRPr lang="en-US" sz="950" dirty="0"/>
          </a:p>
        </p:txBody>
      </p:sp>
      <p:sp>
        <p:nvSpPr>
          <p:cNvPr id="13" name="Text 10"/>
          <p:cNvSpPr/>
          <p:nvPr/>
        </p:nvSpPr>
        <p:spPr>
          <a:xfrm>
            <a:off x="859536" y="4352544"/>
            <a:ext cx="4760824" cy="621792"/>
          </a:xfrm>
          <a:prstGeom prst="rect">
            <a:avLst/>
          </a:prstGeom>
          <a:noFill/>
          <a:ln/>
        </p:spPr>
        <p:txBody>
          <a:bodyPr wrap="square" lIns="0" tIns="0" rIns="0" bIns="0" rtlCol="0" anchor="t"/>
          <a:lstStyle/>
          <a:p>
            <a:pPr indent="0" marL="0">
              <a:lnSpc>
                <a:spcPct val="102000"/>
              </a:lnSpc>
              <a:buNone/>
            </a:pPr>
            <a:r>
              <a:rPr lang="en-US" sz="1100" dirty="0">
                <a:solidFill>
                  <a:srgbClr val="3C4E62"/>
                </a:solidFill>
                <a:latin typeface="Calibri" pitchFamily="34" charset="0"/>
                <a:ea typeface="Calibri" pitchFamily="34" charset="-122"/>
                <a:cs typeface="Calibri" pitchFamily="34" charset="-120"/>
              </a:rPr>
              <a:t>Already an ~6.8% shareholder and a live distributor: a move from minority stake to control, not a cold approach.</a:t>
            </a:r>
            <a:endParaRPr lang="en-US" sz="1100" dirty="0"/>
          </a:p>
        </p:txBody>
      </p:sp>
      <p:sp>
        <p:nvSpPr>
          <p:cNvPr id="14" name="Text 11"/>
          <p:cNvSpPr/>
          <p:nvPr/>
        </p:nvSpPr>
        <p:spPr>
          <a:xfrm>
            <a:off x="859536" y="5010912"/>
            <a:ext cx="4760824" cy="219456"/>
          </a:xfrm>
          <a:prstGeom prst="rect">
            <a:avLst/>
          </a:prstGeom>
          <a:noFill/>
          <a:ln/>
        </p:spPr>
        <p:txBody>
          <a:bodyPr wrap="square" lIns="0" tIns="0" rIns="0" bIns="0" rtlCol="0" anchor="ctr"/>
          <a:lstStyle/>
          <a:p>
            <a:pPr indent="0" marL="0">
              <a:buNone/>
            </a:pPr>
            <a:r>
              <a:rPr lang="en-US" sz="950" b="1" spc="100" kern="0" dirty="0">
                <a:solidFill>
                  <a:srgbClr val="0E8F9C"/>
                </a:solidFill>
                <a:latin typeface="Calibri" pitchFamily="34" charset="0"/>
                <a:ea typeface="Calibri" pitchFamily="34" charset="-122"/>
                <a:cs typeface="Calibri" pitchFamily="34" charset="-120"/>
              </a:rPr>
              <a:t>INDICATIVE TICKET</a:t>
            </a:r>
            <a:endParaRPr lang="en-US" sz="950" dirty="0"/>
          </a:p>
        </p:txBody>
      </p:sp>
      <p:sp>
        <p:nvSpPr>
          <p:cNvPr id="15" name="Text 12"/>
          <p:cNvSpPr/>
          <p:nvPr/>
        </p:nvSpPr>
        <p:spPr>
          <a:xfrm>
            <a:off x="859536" y="5230368"/>
            <a:ext cx="4760824" cy="621792"/>
          </a:xfrm>
          <a:prstGeom prst="rect">
            <a:avLst/>
          </a:prstGeom>
          <a:noFill/>
          <a:ln/>
        </p:spPr>
        <p:txBody>
          <a:bodyPr wrap="square" lIns="0" tIns="0" rIns="0" bIns="0" rtlCol="0" anchor="t"/>
          <a:lstStyle/>
          <a:p>
            <a:pPr indent="0" marL="0">
              <a:lnSpc>
                <a:spcPct val="102000"/>
              </a:lnSpc>
              <a:buNone/>
            </a:pPr>
            <a:r>
              <a:rPr lang="en-US" sz="1100" dirty="0">
                <a:solidFill>
                  <a:srgbClr val="3C4E62"/>
                </a:solidFill>
                <a:latin typeface="Calibri" pitchFamily="34" charset="0"/>
                <a:ea typeface="Calibri" pitchFamily="34" charset="-122"/>
                <a:cs typeface="Calibri" pitchFamily="34" charset="-120"/>
              </a:rPr>
              <a:t>~Rs 40 Cr to Rs 90 Cr for majority control, mostly stock. A genuine tuck-in.</a:t>
            </a:r>
            <a:endParaRPr lang="en-US" sz="1100" dirty="0"/>
          </a:p>
        </p:txBody>
      </p:sp>
      <p:sp>
        <p:nvSpPr>
          <p:cNvPr id="16" name="Shape 13"/>
          <p:cNvSpPr/>
          <p:nvPr/>
        </p:nvSpPr>
        <p:spPr>
          <a:xfrm>
            <a:off x="6278728" y="2103120"/>
            <a:ext cx="5346040" cy="3749040"/>
          </a:xfrm>
          <a:prstGeom prst="roundRect">
            <a:avLst>
              <a:gd name="adj" fmla="val 1951"/>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17" name="Shape 14"/>
          <p:cNvSpPr/>
          <p:nvPr/>
        </p:nvSpPr>
        <p:spPr>
          <a:xfrm>
            <a:off x="6553048" y="2377440"/>
            <a:ext cx="621792" cy="621792"/>
          </a:xfrm>
          <a:prstGeom prst="ellipse">
            <a:avLst/>
          </a:prstGeom>
          <a:solidFill>
            <a:srgbClr val="2563EB"/>
          </a:solidFill>
          <a:ln/>
        </p:spPr>
      </p:sp>
      <p:pic>
        <p:nvPicPr>
          <p:cNvPr id="18" name="Image 1" descr="preencoded.png">    </p:cNvPr>
          <p:cNvPicPr>
            <a:picLocks noChangeAspect="1"/>
          </p:cNvPicPr>
          <p:nvPr/>
        </p:nvPicPr>
        <p:blipFill>
          <a:blip r:embed="rId2"/>
          <a:stretch>
            <a:fillRect/>
          </a:stretch>
        </p:blipFill>
        <p:spPr>
          <a:xfrm>
            <a:off x="6727149" y="2551542"/>
            <a:ext cx="273588" cy="273588"/>
          </a:xfrm>
          <a:prstGeom prst="rect">
            <a:avLst/>
          </a:prstGeom>
        </p:spPr>
      </p:pic>
      <p:sp>
        <p:nvSpPr>
          <p:cNvPr id="19" name="Text 15"/>
          <p:cNvSpPr/>
          <p:nvPr/>
        </p:nvSpPr>
        <p:spPr>
          <a:xfrm>
            <a:off x="7321144" y="2377440"/>
            <a:ext cx="4120744" cy="347472"/>
          </a:xfrm>
          <a:prstGeom prst="rect">
            <a:avLst/>
          </a:prstGeom>
          <a:noFill/>
          <a:ln/>
        </p:spPr>
        <p:txBody>
          <a:bodyPr wrap="square" lIns="0" tIns="0" rIns="0" bIns="0" rtlCol="0" anchor="ctr"/>
          <a:lstStyle/>
          <a:p>
            <a:pPr indent="0" marL="0">
              <a:buNone/>
            </a:pPr>
            <a:r>
              <a:rPr lang="en-US" sz="2100" b="1" spc="100" kern="0" dirty="0">
                <a:solidFill>
                  <a:srgbClr val="12355B"/>
                </a:solidFill>
                <a:latin typeface="Calibri" pitchFamily="34" charset="0"/>
                <a:ea typeface="Calibri" pitchFamily="34" charset="-122"/>
                <a:cs typeface="Calibri" pitchFamily="34" charset="-120"/>
              </a:rPr>
              <a:t>RISKCOVRY</a:t>
            </a:r>
            <a:endParaRPr lang="en-US" sz="2100" dirty="0"/>
          </a:p>
        </p:txBody>
      </p:sp>
      <p:sp>
        <p:nvSpPr>
          <p:cNvPr id="20" name="Text 16"/>
          <p:cNvSpPr/>
          <p:nvPr/>
        </p:nvSpPr>
        <p:spPr>
          <a:xfrm>
            <a:off x="7321144" y="2761488"/>
            <a:ext cx="4120744" cy="274320"/>
          </a:xfrm>
          <a:prstGeom prst="rect">
            <a:avLst/>
          </a:prstGeom>
          <a:noFill/>
          <a:ln/>
        </p:spPr>
        <p:txBody>
          <a:bodyPr wrap="square" lIns="0" tIns="0" rIns="0" bIns="0" rtlCol="0" anchor="ctr"/>
          <a:lstStyle/>
          <a:p>
            <a:pPr indent="0" marL="0">
              <a:buNone/>
            </a:pPr>
            <a:r>
              <a:rPr lang="en-US" sz="1150" i="1" dirty="0">
                <a:solidFill>
                  <a:srgbClr val="2452C9"/>
                </a:solidFill>
                <a:latin typeface="Calibri" pitchFamily="34" charset="0"/>
                <a:ea typeface="Calibri" pitchFamily="34" charset="-122"/>
                <a:cs typeface="Calibri" pitchFamily="34" charset="-120"/>
              </a:rPr>
              <a:t>Embedded-insurance infrastructure</a:t>
            </a:r>
            <a:endParaRPr lang="en-US" sz="1150" dirty="0"/>
          </a:p>
        </p:txBody>
      </p:sp>
      <p:sp>
        <p:nvSpPr>
          <p:cNvPr id="21" name="Text 17"/>
          <p:cNvSpPr/>
          <p:nvPr/>
        </p:nvSpPr>
        <p:spPr>
          <a:xfrm>
            <a:off x="6571336" y="3255264"/>
            <a:ext cx="4760824" cy="219456"/>
          </a:xfrm>
          <a:prstGeom prst="rect">
            <a:avLst/>
          </a:prstGeom>
          <a:noFill/>
          <a:ln/>
        </p:spPr>
        <p:txBody>
          <a:bodyPr wrap="square" lIns="0" tIns="0" rIns="0" bIns="0" rtlCol="0" anchor="ctr"/>
          <a:lstStyle/>
          <a:p>
            <a:pPr indent="0" marL="0">
              <a:buNone/>
            </a:pPr>
            <a:r>
              <a:rPr lang="en-US" sz="950" b="1" spc="100" kern="0" dirty="0">
                <a:solidFill>
                  <a:srgbClr val="2452C9"/>
                </a:solidFill>
                <a:latin typeface="Calibri" pitchFamily="34" charset="0"/>
                <a:ea typeface="Calibri" pitchFamily="34" charset="-122"/>
                <a:cs typeface="Calibri" pitchFamily="34" charset="-120"/>
              </a:rPr>
              <a:t>WHITE SPACE IT FILLS</a:t>
            </a:r>
            <a:endParaRPr lang="en-US" sz="950" dirty="0"/>
          </a:p>
        </p:txBody>
      </p:sp>
      <p:sp>
        <p:nvSpPr>
          <p:cNvPr id="22" name="Text 18"/>
          <p:cNvSpPr/>
          <p:nvPr/>
        </p:nvSpPr>
        <p:spPr>
          <a:xfrm>
            <a:off x="6571336" y="3474720"/>
            <a:ext cx="4760824" cy="621792"/>
          </a:xfrm>
          <a:prstGeom prst="rect">
            <a:avLst/>
          </a:prstGeom>
          <a:noFill/>
          <a:ln/>
        </p:spPr>
        <p:txBody>
          <a:bodyPr wrap="square" lIns="0" tIns="0" rIns="0" bIns="0" rtlCol="0" anchor="t"/>
          <a:lstStyle/>
          <a:p>
            <a:pPr indent="0" marL="0">
              <a:lnSpc>
                <a:spcPct val="102000"/>
              </a:lnSpc>
              <a:buNone/>
            </a:pPr>
            <a:r>
              <a:rPr lang="en-US" sz="1100" dirty="0">
                <a:solidFill>
                  <a:srgbClr val="3C4E62"/>
                </a:solidFill>
                <a:latin typeface="Calibri" pitchFamily="34" charset="0"/>
                <a:ea typeface="Calibri" pitchFamily="34" charset="-122"/>
                <a:cs typeface="Calibri" pitchFamily="34" charset="-120"/>
              </a:rPr>
              <a:t>Insurance distribution, a category MobiKwik barely touches but just secured IRDAI approval to enter.</a:t>
            </a:r>
            <a:endParaRPr lang="en-US" sz="1100" dirty="0"/>
          </a:p>
        </p:txBody>
      </p:sp>
      <p:sp>
        <p:nvSpPr>
          <p:cNvPr id="23" name="Text 19"/>
          <p:cNvSpPr/>
          <p:nvPr/>
        </p:nvSpPr>
        <p:spPr>
          <a:xfrm>
            <a:off x="6571336" y="4133088"/>
            <a:ext cx="4760824" cy="219456"/>
          </a:xfrm>
          <a:prstGeom prst="rect">
            <a:avLst/>
          </a:prstGeom>
          <a:noFill/>
          <a:ln/>
        </p:spPr>
        <p:txBody>
          <a:bodyPr wrap="square" lIns="0" tIns="0" rIns="0" bIns="0" rtlCol="0" anchor="ctr"/>
          <a:lstStyle/>
          <a:p>
            <a:pPr indent="0" marL="0">
              <a:buNone/>
            </a:pPr>
            <a:r>
              <a:rPr lang="en-US" sz="950" b="1" spc="100" kern="0" dirty="0">
                <a:solidFill>
                  <a:srgbClr val="2452C9"/>
                </a:solidFill>
                <a:latin typeface="Calibri" pitchFamily="34" charset="0"/>
                <a:ea typeface="Calibri" pitchFamily="34" charset="-122"/>
                <a:cs typeface="Calibri" pitchFamily="34" charset="-120"/>
              </a:rPr>
              <a:t>MOBIKWIK'S EDGE</a:t>
            </a:r>
            <a:endParaRPr lang="en-US" sz="950" dirty="0"/>
          </a:p>
        </p:txBody>
      </p:sp>
      <p:sp>
        <p:nvSpPr>
          <p:cNvPr id="24" name="Text 20"/>
          <p:cNvSpPr/>
          <p:nvPr/>
        </p:nvSpPr>
        <p:spPr>
          <a:xfrm>
            <a:off x="6571336" y="4352544"/>
            <a:ext cx="4760824" cy="621792"/>
          </a:xfrm>
          <a:prstGeom prst="rect">
            <a:avLst/>
          </a:prstGeom>
          <a:noFill/>
          <a:ln/>
        </p:spPr>
        <p:txBody>
          <a:bodyPr wrap="square" lIns="0" tIns="0" rIns="0" bIns="0" rtlCol="0" anchor="t"/>
          <a:lstStyle/>
          <a:p>
            <a:pPr indent="0" marL="0">
              <a:lnSpc>
                <a:spcPct val="102000"/>
              </a:lnSpc>
              <a:buNone/>
            </a:pPr>
            <a:r>
              <a:rPr lang="en-US" sz="1100" dirty="0">
                <a:solidFill>
                  <a:srgbClr val="3C4E62"/>
                </a:solidFill>
                <a:latin typeface="Calibri" pitchFamily="34" charset="0"/>
                <a:ea typeface="Calibri" pitchFamily="34" charset="-122"/>
                <a:cs typeface="Calibri" pitchFamily="34" charset="-120"/>
              </a:rPr>
              <a:t>Buy the insurance-in-a-box engine and embed cover across 186M users. PhonePe did exactly this by buying Zopper.</a:t>
            </a:r>
            <a:endParaRPr lang="en-US" sz="1100" dirty="0"/>
          </a:p>
        </p:txBody>
      </p:sp>
      <p:sp>
        <p:nvSpPr>
          <p:cNvPr id="25" name="Text 21"/>
          <p:cNvSpPr/>
          <p:nvPr/>
        </p:nvSpPr>
        <p:spPr>
          <a:xfrm>
            <a:off x="6571336" y="5010912"/>
            <a:ext cx="4760824" cy="219456"/>
          </a:xfrm>
          <a:prstGeom prst="rect">
            <a:avLst/>
          </a:prstGeom>
          <a:noFill/>
          <a:ln/>
        </p:spPr>
        <p:txBody>
          <a:bodyPr wrap="square" lIns="0" tIns="0" rIns="0" bIns="0" rtlCol="0" anchor="ctr"/>
          <a:lstStyle/>
          <a:p>
            <a:pPr indent="0" marL="0">
              <a:buNone/>
            </a:pPr>
            <a:r>
              <a:rPr lang="en-US" sz="950" b="1" spc="100" kern="0" dirty="0">
                <a:solidFill>
                  <a:srgbClr val="2452C9"/>
                </a:solidFill>
                <a:latin typeface="Calibri" pitchFamily="34" charset="0"/>
                <a:ea typeface="Calibri" pitchFamily="34" charset="-122"/>
                <a:cs typeface="Calibri" pitchFamily="34" charset="-120"/>
              </a:rPr>
              <a:t>INDICATIVE TICKET</a:t>
            </a:r>
            <a:endParaRPr lang="en-US" sz="950" dirty="0"/>
          </a:p>
        </p:txBody>
      </p:sp>
      <p:sp>
        <p:nvSpPr>
          <p:cNvPr id="26" name="Text 22"/>
          <p:cNvSpPr/>
          <p:nvPr/>
        </p:nvSpPr>
        <p:spPr>
          <a:xfrm>
            <a:off x="6571336" y="5230368"/>
            <a:ext cx="4760824" cy="621792"/>
          </a:xfrm>
          <a:prstGeom prst="rect">
            <a:avLst/>
          </a:prstGeom>
          <a:noFill/>
          <a:ln/>
        </p:spPr>
        <p:txBody>
          <a:bodyPr wrap="square" lIns="0" tIns="0" rIns="0" bIns="0" rtlCol="0" anchor="t"/>
          <a:lstStyle/>
          <a:p>
            <a:pPr indent="0" marL="0">
              <a:lnSpc>
                <a:spcPct val="102000"/>
              </a:lnSpc>
              <a:buNone/>
            </a:pPr>
            <a:r>
              <a:rPr lang="en-US" sz="1100" dirty="0">
                <a:solidFill>
                  <a:srgbClr val="3C4E62"/>
                </a:solidFill>
                <a:latin typeface="Calibri" pitchFamily="34" charset="0"/>
                <a:ea typeface="Calibri" pitchFamily="34" charset="-122"/>
                <a:cs typeface="Calibri" pitchFamily="34" charset="-120"/>
              </a:rPr>
              <a:t>~Rs 150 Cr to Rs 300 Cr, stock-led with earnouts. The larger of the two.</a:t>
            </a:r>
            <a:endParaRPr lang="en-US" sz="1100" dirty="0"/>
          </a:p>
        </p:txBody>
      </p:sp>
      <p:sp>
        <p:nvSpPr>
          <p:cNvPr id="27" name="Text 23"/>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28" name="Text 24"/>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TARGET 1  ·  MOAT: WEALTH + LENDING DISTRIBUTION</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Blostem: own the savings and wealth distribution rail</a:t>
            </a:r>
            <a:endParaRPr lang="en-US" sz="2700" dirty="0"/>
          </a:p>
        </p:txBody>
      </p:sp>
      <p:sp>
        <p:nvSpPr>
          <p:cNvPr id="4" name="Shape 2"/>
          <p:cNvSpPr/>
          <p:nvPr/>
        </p:nvSpPr>
        <p:spPr>
          <a:xfrm>
            <a:off x="566928" y="1417320"/>
            <a:ext cx="2627300" cy="987552"/>
          </a:xfrm>
          <a:prstGeom prst="roundRect">
            <a:avLst>
              <a:gd name="adj" fmla="val 5556"/>
            </a:avLst>
          </a:prstGeom>
          <a:solidFill>
            <a:srgbClr val="F4F8FC"/>
          </a:solidFill>
          <a:ln w="12700">
            <a:solidFill>
              <a:srgbClr val="D8E2EE"/>
            </a:solidFill>
            <a:prstDash val="solid"/>
          </a:ln>
        </p:spPr>
      </p:sp>
      <p:sp>
        <p:nvSpPr>
          <p:cNvPr id="5" name="Text 3"/>
          <p:cNvSpPr/>
          <p:nvPr/>
        </p:nvSpPr>
        <p:spPr>
          <a:xfrm>
            <a:off x="731520"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FOUNDED</a:t>
            </a:r>
            <a:endParaRPr lang="en-US" sz="900" dirty="0"/>
          </a:p>
        </p:txBody>
      </p:sp>
      <p:sp>
        <p:nvSpPr>
          <p:cNvPr id="6" name="Text 4"/>
          <p:cNvSpPr/>
          <p:nvPr/>
        </p:nvSpPr>
        <p:spPr>
          <a:xfrm>
            <a:off x="731520"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2021 · Delhi NCR</a:t>
            </a:r>
            <a:endParaRPr lang="en-US" sz="1000" dirty="0"/>
          </a:p>
        </p:txBody>
      </p:sp>
      <p:sp>
        <p:nvSpPr>
          <p:cNvPr id="7" name="Shape 5"/>
          <p:cNvSpPr/>
          <p:nvPr/>
        </p:nvSpPr>
        <p:spPr>
          <a:xfrm>
            <a:off x="3377108" y="1417320"/>
            <a:ext cx="2627300" cy="987552"/>
          </a:xfrm>
          <a:prstGeom prst="roundRect">
            <a:avLst>
              <a:gd name="adj" fmla="val 5556"/>
            </a:avLst>
          </a:prstGeom>
          <a:solidFill>
            <a:srgbClr val="F4F8FC"/>
          </a:solidFill>
          <a:ln w="12700">
            <a:solidFill>
              <a:srgbClr val="D8E2EE"/>
            </a:solidFill>
            <a:prstDash val="solid"/>
          </a:ln>
        </p:spPr>
      </p:sp>
      <p:sp>
        <p:nvSpPr>
          <p:cNvPr id="8" name="Text 6"/>
          <p:cNvSpPr/>
          <p:nvPr/>
        </p:nvSpPr>
        <p:spPr>
          <a:xfrm>
            <a:off x="3541700"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WHAT IT IS</a:t>
            </a:r>
            <a:endParaRPr lang="en-US" sz="900" dirty="0"/>
          </a:p>
        </p:txBody>
      </p:sp>
      <p:sp>
        <p:nvSpPr>
          <p:cNvPr id="9" name="Text 7"/>
          <p:cNvSpPr/>
          <p:nvPr/>
        </p:nvSpPr>
        <p:spPr>
          <a:xfrm>
            <a:off x="3541700"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One-API rail for bank FDs and RDs, expanding to loans and bonds</a:t>
            </a:r>
            <a:endParaRPr lang="en-US" sz="1000" dirty="0"/>
          </a:p>
        </p:txBody>
      </p:sp>
      <p:sp>
        <p:nvSpPr>
          <p:cNvPr id="10" name="Shape 8"/>
          <p:cNvSpPr/>
          <p:nvPr/>
        </p:nvSpPr>
        <p:spPr>
          <a:xfrm>
            <a:off x="6187288" y="1417320"/>
            <a:ext cx="2627300" cy="987552"/>
          </a:xfrm>
          <a:prstGeom prst="roundRect">
            <a:avLst>
              <a:gd name="adj" fmla="val 5556"/>
            </a:avLst>
          </a:prstGeom>
          <a:solidFill>
            <a:srgbClr val="F4F8FC"/>
          </a:solidFill>
          <a:ln w="12700">
            <a:solidFill>
              <a:srgbClr val="D8E2EE"/>
            </a:solidFill>
            <a:prstDash val="solid"/>
          </a:ln>
        </p:spPr>
      </p:sp>
      <p:sp>
        <p:nvSpPr>
          <p:cNvPr id="11" name="Text 9"/>
          <p:cNvSpPr/>
          <p:nvPr/>
        </p:nvSpPr>
        <p:spPr>
          <a:xfrm>
            <a:off x="6351880"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TRACTION</a:t>
            </a:r>
            <a:endParaRPr lang="en-US" sz="900" dirty="0"/>
          </a:p>
        </p:txBody>
      </p:sp>
      <p:sp>
        <p:nvSpPr>
          <p:cNvPr id="12" name="Text 10"/>
          <p:cNvSpPr/>
          <p:nvPr/>
        </p:nvSpPr>
        <p:spPr>
          <a:xfrm>
            <a:off x="6351880"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Live on MobiKwik, Upstox, Jupiter, Tide and 27+ platforms</a:t>
            </a:r>
            <a:endParaRPr lang="en-US" sz="1000" dirty="0"/>
          </a:p>
        </p:txBody>
      </p:sp>
      <p:sp>
        <p:nvSpPr>
          <p:cNvPr id="13" name="Shape 11"/>
          <p:cNvSpPr/>
          <p:nvPr/>
        </p:nvSpPr>
        <p:spPr>
          <a:xfrm>
            <a:off x="8997467" y="1417320"/>
            <a:ext cx="2627300" cy="987552"/>
          </a:xfrm>
          <a:prstGeom prst="roundRect">
            <a:avLst>
              <a:gd name="adj" fmla="val 5556"/>
            </a:avLst>
          </a:prstGeom>
          <a:solidFill>
            <a:srgbClr val="F4F8FC"/>
          </a:solidFill>
          <a:ln w="12700">
            <a:solidFill>
              <a:srgbClr val="D8E2EE"/>
            </a:solidFill>
            <a:prstDash val="solid"/>
          </a:ln>
        </p:spPr>
      </p:sp>
      <p:sp>
        <p:nvSpPr>
          <p:cNvPr id="14" name="Text 12"/>
          <p:cNvSpPr/>
          <p:nvPr/>
        </p:nvSpPr>
        <p:spPr>
          <a:xfrm>
            <a:off x="9162059"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FUNDING</a:t>
            </a:r>
            <a:endParaRPr lang="en-US" sz="900" dirty="0"/>
          </a:p>
        </p:txBody>
      </p:sp>
      <p:sp>
        <p:nvSpPr>
          <p:cNvPr id="15" name="Text 13"/>
          <p:cNvSpPr/>
          <p:nvPr/>
        </p:nvSpPr>
        <p:spPr>
          <a:xfrm>
            <a:off x="9162059"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Seed · ~Rs 4 Cr raised · ~Rs 45 Cr last valuation</a:t>
            </a:r>
            <a:endParaRPr lang="en-US" sz="1000" dirty="0"/>
          </a:p>
        </p:txBody>
      </p:sp>
      <p:sp>
        <p:nvSpPr>
          <p:cNvPr id="16" name="Shape 14"/>
          <p:cNvSpPr/>
          <p:nvPr/>
        </p:nvSpPr>
        <p:spPr>
          <a:xfrm>
            <a:off x="566928" y="2670048"/>
            <a:ext cx="6400800" cy="2542032"/>
          </a:xfrm>
          <a:prstGeom prst="roundRect">
            <a:avLst>
              <a:gd name="adj" fmla="val 2518"/>
            </a:avLst>
          </a:prstGeom>
          <a:solidFill>
            <a:srgbClr val="E2F6F8"/>
          </a:solidFill>
          <a:ln/>
        </p:spPr>
      </p:sp>
      <p:sp>
        <p:nvSpPr>
          <p:cNvPr id="17" name="Text 15"/>
          <p:cNvSpPr/>
          <p:nvPr/>
        </p:nvSpPr>
        <p:spPr>
          <a:xfrm>
            <a:off x="841248" y="2871216"/>
            <a:ext cx="5852160" cy="292608"/>
          </a:xfrm>
          <a:prstGeom prst="rect">
            <a:avLst/>
          </a:prstGeom>
          <a:noFill/>
          <a:ln/>
        </p:spPr>
        <p:txBody>
          <a:bodyPr wrap="square" lIns="0" tIns="0" rIns="0" bIns="0" rtlCol="0" anchor="ctr"/>
          <a:lstStyle/>
          <a:p>
            <a:pPr indent="0" marL="0">
              <a:buNone/>
            </a:pPr>
            <a:r>
              <a:rPr lang="en-US" sz="1500" b="1" dirty="0">
                <a:solidFill>
                  <a:srgbClr val="0E8F9C"/>
                </a:solidFill>
                <a:latin typeface="Calibri" pitchFamily="34" charset="0"/>
                <a:ea typeface="Calibri" pitchFamily="34" charset="-122"/>
                <a:cs typeface="Calibri" pitchFamily="34" charset="-120"/>
              </a:rPr>
              <a:t>Why this is the cleanest deal MobiKwik can do</a:t>
            </a:r>
            <a:endParaRPr lang="en-US" sz="1500" dirty="0"/>
          </a:p>
        </p:txBody>
      </p:sp>
      <p:sp>
        <p:nvSpPr>
          <p:cNvPr id="18" name="Text 16"/>
          <p:cNvSpPr/>
          <p:nvPr/>
        </p:nvSpPr>
        <p:spPr>
          <a:xfrm>
            <a:off x="859536" y="3255264"/>
            <a:ext cx="5833872" cy="1810512"/>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b="1" dirty="0">
                <a:solidFill>
                  <a:srgbClr val="12355B"/>
                </a:solidFill>
                <a:latin typeface="Calibri" pitchFamily="34" charset="0"/>
                <a:ea typeface="Calibri" pitchFamily="34" charset="-122"/>
                <a:cs typeface="Calibri" pitchFamily="34" charset="-120"/>
              </a:rPr>
              <a:t>MobiKwik already owns about 6.8%: this is a move from minority stake to control, not a cold approach.</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Tiny cheque: majority control likely well under Rs 100 Cr, fundable almost entirely in stock.</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Verticalises MobiKwik's own savings and wealth stack, with control of the roadmap and better unit economics.</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Adds a B2B SaaS revenue line: 27+ platforms (Upstox, Jupiter, Tide) already pay to use the rail.</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Becomes a ready distribution pipe for the new NBFC's loans and bonds and the broking products.</a:t>
            </a:r>
            <a:endParaRPr lang="en-US" sz="1150" dirty="0"/>
          </a:p>
        </p:txBody>
      </p:sp>
      <p:sp>
        <p:nvSpPr>
          <p:cNvPr id="19" name="Shape 17"/>
          <p:cNvSpPr/>
          <p:nvPr/>
        </p:nvSpPr>
        <p:spPr>
          <a:xfrm>
            <a:off x="7333488" y="2670048"/>
            <a:ext cx="4291279" cy="2542032"/>
          </a:xfrm>
          <a:prstGeom prst="roundRect">
            <a:avLst>
              <a:gd name="adj" fmla="val 2518"/>
            </a:avLst>
          </a:prstGeom>
          <a:solidFill>
            <a:srgbClr val="F4F8FC"/>
          </a:solidFill>
          <a:ln w="12700">
            <a:solidFill>
              <a:srgbClr val="D8E2EE"/>
            </a:solidFill>
            <a:prstDash val="solid"/>
          </a:ln>
        </p:spPr>
      </p:sp>
      <p:sp>
        <p:nvSpPr>
          <p:cNvPr id="20" name="Text 18"/>
          <p:cNvSpPr/>
          <p:nvPr/>
        </p:nvSpPr>
        <p:spPr>
          <a:xfrm>
            <a:off x="7589520" y="2871216"/>
            <a:ext cx="3779215" cy="292608"/>
          </a:xfrm>
          <a:prstGeom prst="rect">
            <a:avLst/>
          </a:prstGeom>
          <a:noFill/>
          <a:ln/>
        </p:spPr>
        <p:txBody>
          <a:bodyPr wrap="square" lIns="0" tIns="0" rIns="0" bIns="0" rtlCol="0" anchor="ctr"/>
          <a:lstStyle/>
          <a:p>
            <a:pPr indent="0" marL="0">
              <a:buNone/>
            </a:pPr>
            <a:r>
              <a:rPr lang="en-US" sz="1500" b="1" dirty="0">
                <a:solidFill>
                  <a:srgbClr val="B0560E"/>
                </a:solidFill>
                <a:latin typeface="Calibri" pitchFamily="34" charset="0"/>
                <a:ea typeface="Calibri" pitchFamily="34" charset="-122"/>
                <a:cs typeface="Calibri" pitchFamily="34" charset="-120"/>
              </a:rPr>
              <a:t>Watch-outs</a:t>
            </a:r>
            <a:endParaRPr lang="en-US" sz="1500" dirty="0"/>
          </a:p>
        </p:txBody>
      </p:sp>
      <p:sp>
        <p:nvSpPr>
          <p:cNvPr id="21" name="Text 19"/>
          <p:cNvSpPr/>
          <p:nvPr/>
        </p:nvSpPr>
        <p:spPr>
          <a:xfrm>
            <a:off x="7607808" y="3255264"/>
            <a:ext cx="3760927" cy="1810512"/>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050" dirty="0">
                <a:solidFill>
                  <a:srgbClr val="5A4A3A"/>
                </a:solidFill>
                <a:latin typeface="Calibri" pitchFamily="34" charset="0"/>
                <a:ea typeface="Calibri" pitchFamily="34" charset="-122"/>
                <a:cs typeface="Calibri" pitchFamily="34" charset="-120"/>
              </a:rPr>
              <a:t>Channel conflict: Zerodha's Rainmatter backs Blostem and some rivals are customers. Keep governance arm's-length, or accept a verticalisation tradeoff.</a:t>
            </a:r>
            <a:endParaRPr lang="en-US" sz="1050" dirty="0"/>
          </a:p>
          <a:p>
            <a:pPr marL="177800" indent="-177800">
              <a:lnSpc>
                <a:spcPct val="102000"/>
              </a:lnSpc>
              <a:spcAft>
                <a:spcPts val="800"/>
              </a:spcAft>
              <a:buSzPct val="100000"/>
              <a:buChar char="•"/>
            </a:pPr>
            <a:r>
              <a:rPr lang="en-US" sz="1050" dirty="0">
                <a:solidFill>
                  <a:srgbClr val="5A4A3A"/>
                </a:solidFill>
                <a:latin typeface="Calibri" pitchFamily="34" charset="0"/>
                <a:ea typeface="Calibri" pitchFamily="34" charset="-122"/>
                <a:cs typeface="Calibri" pitchFamily="34" charset="-120"/>
              </a:rPr>
              <a:t>Negligible revenue today: this buys the rail and the category position, not current profit.</a:t>
            </a:r>
            <a:endParaRPr lang="en-US" sz="1050" dirty="0"/>
          </a:p>
          <a:p>
            <a:pPr marL="177800" indent="-177800">
              <a:lnSpc>
                <a:spcPct val="102000"/>
              </a:lnSpc>
              <a:spcAft>
                <a:spcPts val="800"/>
              </a:spcAft>
              <a:buSzPct val="100000"/>
              <a:buChar char="•"/>
            </a:pPr>
            <a:r>
              <a:rPr lang="en-US" sz="1050" dirty="0">
                <a:solidFill>
                  <a:srgbClr val="5A4A3A"/>
                </a:solidFill>
                <a:latin typeface="Calibri" pitchFamily="34" charset="0"/>
                <a:ea typeface="Calibri" pitchFamily="34" charset="-122"/>
                <a:cs typeface="Calibri" pitchFamily="34" charset="-120"/>
              </a:rPr>
              <a:t>Lock in the four founders with retention and earnouts.</a:t>
            </a:r>
            <a:endParaRPr lang="en-US" sz="1050" dirty="0"/>
          </a:p>
        </p:txBody>
      </p:sp>
      <p:sp>
        <p:nvSpPr>
          <p:cNvPr id="22" name="Shape 20"/>
          <p:cNvSpPr/>
          <p:nvPr/>
        </p:nvSpPr>
        <p:spPr>
          <a:xfrm>
            <a:off x="566928" y="5413248"/>
            <a:ext cx="11057839" cy="658368"/>
          </a:xfrm>
          <a:prstGeom prst="roundRect">
            <a:avLst>
              <a:gd name="adj" fmla="val 8333"/>
            </a:avLst>
          </a:prstGeom>
          <a:solidFill>
            <a:srgbClr val="0A2540"/>
          </a:solidFill>
          <a:ln/>
          <a:effectLst>
            <a:outerShdw sx="100000" sy="100000" kx="0" ky="0" algn="bl" rotWithShape="0" blurRad="114300" dist="38100" dir="5400000">
              <a:srgbClr val="1B2B44">
                <a:alpha val="10000"/>
              </a:srgbClr>
            </a:outerShdw>
          </a:effectLst>
        </p:spPr>
      </p:sp>
      <p:pic>
        <p:nvPicPr>
          <p:cNvPr id="23" name="Image 0" descr="preencoded.png">    </p:cNvPr>
          <p:cNvPicPr>
            <a:picLocks noChangeAspect="1"/>
          </p:cNvPicPr>
          <p:nvPr/>
        </p:nvPicPr>
        <p:blipFill>
          <a:blip r:embed="rId1"/>
          <a:stretch>
            <a:fillRect/>
          </a:stretch>
        </p:blipFill>
        <p:spPr>
          <a:xfrm>
            <a:off x="804672" y="5577840"/>
            <a:ext cx="310896" cy="310896"/>
          </a:xfrm>
          <a:prstGeom prst="rect">
            <a:avLst/>
          </a:prstGeom>
        </p:spPr>
      </p:pic>
      <p:sp>
        <p:nvSpPr>
          <p:cNvPr id="24" name="Text 21"/>
          <p:cNvSpPr/>
          <p:nvPr/>
        </p:nvSpPr>
        <p:spPr>
          <a:xfrm>
            <a:off x="1243584" y="5413248"/>
            <a:ext cx="10143439" cy="658368"/>
          </a:xfrm>
          <a:prstGeom prst="rect">
            <a:avLst/>
          </a:prstGeom>
          <a:noFill/>
          <a:ln/>
        </p:spPr>
        <p:txBody>
          <a:bodyPr wrap="square" lIns="0" tIns="0" rIns="0" bIns="0" rtlCol="0" anchor="ctr"/>
          <a:lstStyle/>
          <a:p>
            <a:pPr indent="0" marL="0">
              <a:buNone/>
            </a:pPr>
            <a:r>
              <a:rPr lang="en-US" sz="1150" b="1" dirty="0">
                <a:solidFill>
                  <a:srgbClr val="12B5CB"/>
                </a:solidFill>
                <a:latin typeface="Calibri" pitchFamily="34" charset="0"/>
                <a:ea typeface="Calibri" pitchFamily="34" charset="-122"/>
                <a:cs typeface="Calibri" pitchFamily="34" charset="-120"/>
              </a:rPr>
              <a:t>Indicative deal (illustrative):  </a:t>
            </a:r>
            <a:pPr indent="0" marL="0">
              <a:buNone/>
            </a:pPr>
            <a:r>
              <a:rPr lang="en-US" sz="1150" dirty="0">
                <a:solidFill>
                  <a:srgbClr val="E8EFF8"/>
                </a:solidFill>
                <a:latin typeface="Calibri" pitchFamily="34" charset="0"/>
                <a:ea typeface="Calibri" pitchFamily="34" charset="-122"/>
                <a:cs typeface="Calibri" pitchFamily="34" charset="-120"/>
              </a:rPr>
              <a:t>Move from ~6.8% to 51%+ control · indicative ticket ~Rs 40 Cr to Rs 90 Cr · mostly stock plus founder lock-ins.</a:t>
            </a:r>
            <a:endParaRPr lang="en-US" sz="1150" dirty="0"/>
          </a:p>
        </p:txBody>
      </p:sp>
      <p:sp>
        <p:nvSpPr>
          <p:cNvPr id="25" name="Text 22"/>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26" name="Text 2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TARGET 2  ·  NEW MOAT: INSURANCE DISTRIBUTION</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Riskcovry: embed insurance across 186M users</a:t>
            </a:r>
            <a:endParaRPr lang="en-US" sz="2700" dirty="0"/>
          </a:p>
        </p:txBody>
      </p:sp>
      <p:sp>
        <p:nvSpPr>
          <p:cNvPr id="4" name="Shape 2"/>
          <p:cNvSpPr/>
          <p:nvPr/>
        </p:nvSpPr>
        <p:spPr>
          <a:xfrm>
            <a:off x="566928" y="1417320"/>
            <a:ext cx="2627300" cy="987552"/>
          </a:xfrm>
          <a:prstGeom prst="roundRect">
            <a:avLst>
              <a:gd name="adj" fmla="val 5556"/>
            </a:avLst>
          </a:prstGeom>
          <a:solidFill>
            <a:srgbClr val="F4F8FC"/>
          </a:solidFill>
          <a:ln w="12700">
            <a:solidFill>
              <a:srgbClr val="D8E2EE"/>
            </a:solidFill>
            <a:prstDash val="solid"/>
          </a:ln>
        </p:spPr>
      </p:sp>
      <p:sp>
        <p:nvSpPr>
          <p:cNvPr id="5" name="Text 3"/>
          <p:cNvSpPr/>
          <p:nvPr/>
        </p:nvSpPr>
        <p:spPr>
          <a:xfrm>
            <a:off x="731520"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FOUNDED</a:t>
            </a:r>
            <a:endParaRPr lang="en-US" sz="900" dirty="0"/>
          </a:p>
        </p:txBody>
      </p:sp>
      <p:sp>
        <p:nvSpPr>
          <p:cNvPr id="6" name="Text 4"/>
          <p:cNvSpPr/>
          <p:nvPr/>
        </p:nvSpPr>
        <p:spPr>
          <a:xfrm>
            <a:off x="731520"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2018 · Mumbai</a:t>
            </a:r>
            <a:endParaRPr lang="en-US" sz="1000" dirty="0"/>
          </a:p>
        </p:txBody>
      </p:sp>
      <p:sp>
        <p:nvSpPr>
          <p:cNvPr id="7" name="Shape 5"/>
          <p:cNvSpPr/>
          <p:nvPr/>
        </p:nvSpPr>
        <p:spPr>
          <a:xfrm>
            <a:off x="3377108" y="1417320"/>
            <a:ext cx="2627300" cy="987552"/>
          </a:xfrm>
          <a:prstGeom prst="roundRect">
            <a:avLst>
              <a:gd name="adj" fmla="val 5556"/>
            </a:avLst>
          </a:prstGeom>
          <a:solidFill>
            <a:srgbClr val="F4F8FC"/>
          </a:solidFill>
          <a:ln w="12700">
            <a:solidFill>
              <a:srgbClr val="D8E2EE"/>
            </a:solidFill>
            <a:prstDash val="solid"/>
          </a:ln>
        </p:spPr>
      </p:sp>
      <p:sp>
        <p:nvSpPr>
          <p:cNvPr id="8" name="Text 6"/>
          <p:cNvSpPr/>
          <p:nvPr/>
        </p:nvSpPr>
        <p:spPr>
          <a:xfrm>
            <a:off x="3541700"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WHAT IT IS</a:t>
            </a:r>
            <a:endParaRPr lang="en-US" sz="900" dirty="0"/>
          </a:p>
        </p:txBody>
      </p:sp>
      <p:sp>
        <p:nvSpPr>
          <p:cNvPr id="9" name="Text 7"/>
          <p:cNvSpPr/>
          <p:nvPr/>
        </p:nvSpPr>
        <p:spPr>
          <a:xfrm>
            <a:off x="3541700"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Insurance-in-a-box: one API to embed any insurer's products</a:t>
            </a:r>
            <a:endParaRPr lang="en-US" sz="1000" dirty="0"/>
          </a:p>
        </p:txBody>
      </p:sp>
      <p:sp>
        <p:nvSpPr>
          <p:cNvPr id="10" name="Shape 8"/>
          <p:cNvSpPr/>
          <p:nvPr/>
        </p:nvSpPr>
        <p:spPr>
          <a:xfrm>
            <a:off x="6187288" y="1417320"/>
            <a:ext cx="2627300" cy="987552"/>
          </a:xfrm>
          <a:prstGeom prst="roundRect">
            <a:avLst>
              <a:gd name="adj" fmla="val 5556"/>
            </a:avLst>
          </a:prstGeom>
          <a:solidFill>
            <a:srgbClr val="F4F8FC"/>
          </a:solidFill>
          <a:ln w="12700">
            <a:solidFill>
              <a:srgbClr val="D8E2EE"/>
            </a:solidFill>
            <a:prstDash val="solid"/>
          </a:ln>
        </p:spPr>
      </p:sp>
      <p:sp>
        <p:nvSpPr>
          <p:cNvPr id="11" name="Text 9"/>
          <p:cNvSpPr/>
          <p:nvPr/>
        </p:nvSpPr>
        <p:spPr>
          <a:xfrm>
            <a:off x="6351880"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TRACTION</a:t>
            </a:r>
            <a:endParaRPr lang="en-US" sz="900" dirty="0"/>
          </a:p>
        </p:txBody>
      </p:sp>
      <p:sp>
        <p:nvSpPr>
          <p:cNvPr id="12" name="Text 10"/>
          <p:cNvSpPr/>
          <p:nvPr/>
        </p:nvSpPr>
        <p:spPr>
          <a:xfrm>
            <a:off x="6351880"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40+ partners · 100k+ policies · ~Rs 46 Cr FY25 revenue</a:t>
            </a:r>
            <a:endParaRPr lang="en-US" sz="1000" dirty="0"/>
          </a:p>
        </p:txBody>
      </p:sp>
      <p:sp>
        <p:nvSpPr>
          <p:cNvPr id="13" name="Shape 11"/>
          <p:cNvSpPr/>
          <p:nvPr/>
        </p:nvSpPr>
        <p:spPr>
          <a:xfrm>
            <a:off x="8997467" y="1417320"/>
            <a:ext cx="2627300" cy="987552"/>
          </a:xfrm>
          <a:prstGeom prst="roundRect">
            <a:avLst>
              <a:gd name="adj" fmla="val 5556"/>
            </a:avLst>
          </a:prstGeom>
          <a:solidFill>
            <a:srgbClr val="F4F8FC"/>
          </a:solidFill>
          <a:ln w="12700">
            <a:solidFill>
              <a:srgbClr val="D8E2EE"/>
            </a:solidFill>
            <a:prstDash val="solid"/>
          </a:ln>
        </p:spPr>
      </p:sp>
      <p:sp>
        <p:nvSpPr>
          <p:cNvPr id="14" name="Text 12"/>
          <p:cNvSpPr/>
          <p:nvPr/>
        </p:nvSpPr>
        <p:spPr>
          <a:xfrm>
            <a:off x="9162059" y="1536192"/>
            <a:ext cx="2298116" cy="201168"/>
          </a:xfrm>
          <a:prstGeom prst="rect">
            <a:avLst/>
          </a:prstGeom>
          <a:noFill/>
          <a:ln/>
        </p:spPr>
        <p:txBody>
          <a:bodyPr wrap="square" lIns="0" tIns="0" rIns="0" bIns="0" rtlCol="0" anchor="ctr"/>
          <a:lstStyle/>
          <a:p>
            <a:pPr indent="0" marL="0">
              <a:buNone/>
            </a:pPr>
            <a:r>
              <a:rPr lang="en-US" sz="900" b="1" spc="120" kern="0" dirty="0">
                <a:solidFill>
                  <a:srgbClr val="0E8F9C"/>
                </a:solidFill>
                <a:latin typeface="Calibri" pitchFamily="34" charset="0"/>
                <a:ea typeface="Calibri" pitchFamily="34" charset="-122"/>
                <a:cs typeface="Calibri" pitchFamily="34" charset="-120"/>
              </a:rPr>
              <a:t>FUNDING</a:t>
            </a:r>
            <a:endParaRPr lang="en-US" sz="900" dirty="0"/>
          </a:p>
        </p:txBody>
      </p:sp>
      <p:sp>
        <p:nvSpPr>
          <p:cNvPr id="15" name="Text 13"/>
          <p:cNvSpPr/>
          <p:nvPr/>
        </p:nvSpPr>
        <p:spPr>
          <a:xfrm>
            <a:off x="9162059" y="1746504"/>
            <a:ext cx="2298116" cy="603504"/>
          </a:xfrm>
          <a:prstGeom prst="rect">
            <a:avLst/>
          </a:prstGeom>
          <a:noFill/>
          <a:ln/>
        </p:spPr>
        <p:txBody>
          <a:bodyPr wrap="square" lIns="0" tIns="0" rIns="0" bIns="0" rtlCol="0" anchor="t"/>
          <a:lstStyle/>
          <a:p>
            <a:pPr indent="0" marL="0">
              <a:lnSpc>
                <a:spcPct val="100000"/>
              </a:lnSpc>
              <a:buNone/>
            </a:pPr>
            <a:r>
              <a:rPr lang="en-US" sz="1000" b="1" dirty="0">
                <a:solidFill>
                  <a:srgbClr val="12355B"/>
                </a:solidFill>
                <a:latin typeface="Calibri" pitchFamily="34" charset="0"/>
                <a:ea typeface="Calibri" pitchFamily="34" charset="-122"/>
                <a:cs typeface="Calibri" pitchFamily="34" charset="-120"/>
              </a:rPr>
              <a:t>Series A · ~$14M raised to date</a:t>
            </a:r>
            <a:endParaRPr lang="en-US" sz="1000" dirty="0"/>
          </a:p>
        </p:txBody>
      </p:sp>
      <p:sp>
        <p:nvSpPr>
          <p:cNvPr id="16" name="Shape 14"/>
          <p:cNvSpPr/>
          <p:nvPr/>
        </p:nvSpPr>
        <p:spPr>
          <a:xfrm>
            <a:off x="566928" y="2670048"/>
            <a:ext cx="6400800" cy="2542032"/>
          </a:xfrm>
          <a:prstGeom prst="roundRect">
            <a:avLst>
              <a:gd name="adj" fmla="val 2518"/>
            </a:avLst>
          </a:prstGeom>
          <a:solidFill>
            <a:srgbClr val="E2F6F8"/>
          </a:solidFill>
          <a:ln/>
        </p:spPr>
      </p:sp>
      <p:sp>
        <p:nvSpPr>
          <p:cNvPr id="17" name="Text 15"/>
          <p:cNvSpPr/>
          <p:nvPr/>
        </p:nvSpPr>
        <p:spPr>
          <a:xfrm>
            <a:off x="841248" y="2871216"/>
            <a:ext cx="5852160" cy="292608"/>
          </a:xfrm>
          <a:prstGeom prst="rect">
            <a:avLst/>
          </a:prstGeom>
          <a:noFill/>
          <a:ln/>
        </p:spPr>
        <p:txBody>
          <a:bodyPr wrap="square" lIns="0" tIns="0" rIns="0" bIns="0" rtlCol="0" anchor="ctr"/>
          <a:lstStyle/>
          <a:p>
            <a:pPr indent="0" marL="0">
              <a:buNone/>
            </a:pPr>
            <a:r>
              <a:rPr lang="en-US" sz="1500" b="1" dirty="0">
                <a:solidFill>
                  <a:srgbClr val="0E8F9C"/>
                </a:solidFill>
                <a:latin typeface="Calibri" pitchFamily="34" charset="0"/>
                <a:ea typeface="Calibri" pitchFamily="34" charset="-122"/>
                <a:cs typeface="Calibri" pitchFamily="34" charset="-120"/>
              </a:rPr>
              <a:t>Why now, and why MobiKwik</a:t>
            </a:r>
            <a:endParaRPr lang="en-US" sz="1500" dirty="0"/>
          </a:p>
        </p:txBody>
      </p:sp>
      <p:sp>
        <p:nvSpPr>
          <p:cNvPr id="18" name="Text 16"/>
          <p:cNvSpPr/>
          <p:nvPr/>
        </p:nvSpPr>
        <p:spPr>
          <a:xfrm>
            <a:off x="859536" y="3255264"/>
            <a:ext cx="5833872" cy="1810512"/>
          </a:xfrm>
          <a:prstGeom prst="rect">
            <a:avLst/>
          </a:prstGeom>
          <a:noFill/>
          <a:ln/>
        </p:spPr>
        <p:txBody>
          <a:bodyPr wrap="square" lIns="0" tIns="0" rIns="0" bIns="0" rtlCol="0" anchor="t"/>
          <a:lstStyle/>
          <a:p>
            <a:pPr marL="177800" indent="-177800">
              <a:lnSpc>
                <a:spcPct val="102000"/>
              </a:lnSpc>
              <a:spcAft>
                <a:spcPts val="700"/>
              </a:spcAft>
              <a:buSzPct val="100000"/>
              <a:buChar char="•"/>
            </a:pPr>
            <a:r>
              <a:rPr lang="en-US" sz="1150" b="1" dirty="0">
                <a:solidFill>
                  <a:srgbClr val="12355B"/>
                </a:solidFill>
                <a:latin typeface="Calibri" pitchFamily="34" charset="0"/>
                <a:ea typeface="Calibri" pitchFamily="34" charset="-122"/>
                <a:cs typeface="Calibri" pitchFamily="34" charset="-120"/>
              </a:rPr>
              <a:t>MobiKwik just secured IRDAI approval to distribute insurance: buy the engine instead of building it from zero.</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Right-sized for a bolt-on (Series A, modest funding), so it can be funded largely in stock.</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Instantly embeds insurance (device, health, motor, life, travel and micro-covers) across 186M users and 4.79M merchants.</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High-margin, capital-light revenue that fits the profitability mandate.</a:t>
            </a:r>
            <a:endParaRPr lang="en-US" sz="1150" dirty="0"/>
          </a:p>
          <a:p>
            <a:pPr marL="177800" indent="-177800">
              <a:lnSpc>
                <a:spcPct val="102000"/>
              </a:lnSpc>
              <a:spcAft>
                <a:spcPts val="700"/>
              </a:spcAft>
              <a:buSzPct val="100000"/>
              <a:buChar char="•"/>
            </a:pPr>
            <a:r>
              <a:rPr lang="en-US" sz="1150" dirty="0">
                <a:solidFill>
                  <a:srgbClr val="284254"/>
                </a:solidFill>
                <a:latin typeface="Calibri" pitchFamily="34" charset="0"/>
                <a:ea typeface="Calibri" pitchFamily="34" charset="-122"/>
                <a:cs typeface="Calibri" pitchFamily="34" charset="-120"/>
              </a:rPr>
              <a:t>Direct precedent: PhonePe acquired Zopper, the same embedded-insurance playbook, which MobiKwik can mirror at its scale.</a:t>
            </a:r>
            <a:endParaRPr lang="en-US" sz="1150" dirty="0"/>
          </a:p>
        </p:txBody>
      </p:sp>
      <p:sp>
        <p:nvSpPr>
          <p:cNvPr id="19" name="Shape 17"/>
          <p:cNvSpPr/>
          <p:nvPr/>
        </p:nvSpPr>
        <p:spPr>
          <a:xfrm>
            <a:off x="7333488" y="2670048"/>
            <a:ext cx="4291279" cy="2542032"/>
          </a:xfrm>
          <a:prstGeom prst="roundRect">
            <a:avLst>
              <a:gd name="adj" fmla="val 2518"/>
            </a:avLst>
          </a:prstGeom>
          <a:solidFill>
            <a:srgbClr val="F4F8FC"/>
          </a:solidFill>
          <a:ln w="12700">
            <a:solidFill>
              <a:srgbClr val="D8E2EE"/>
            </a:solidFill>
            <a:prstDash val="solid"/>
          </a:ln>
        </p:spPr>
      </p:sp>
      <p:sp>
        <p:nvSpPr>
          <p:cNvPr id="20" name="Text 18"/>
          <p:cNvSpPr/>
          <p:nvPr/>
        </p:nvSpPr>
        <p:spPr>
          <a:xfrm>
            <a:off x="7589520" y="2871216"/>
            <a:ext cx="3779215" cy="292608"/>
          </a:xfrm>
          <a:prstGeom prst="rect">
            <a:avLst/>
          </a:prstGeom>
          <a:noFill/>
          <a:ln/>
        </p:spPr>
        <p:txBody>
          <a:bodyPr wrap="square" lIns="0" tIns="0" rIns="0" bIns="0" rtlCol="0" anchor="ctr"/>
          <a:lstStyle/>
          <a:p>
            <a:pPr indent="0" marL="0">
              <a:buNone/>
            </a:pPr>
            <a:r>
              <a:rPr lang="en-US" sz="1500" b="1" dirty="0">
                <a:solidFill>
                  <a:srgbClr val="B0560E"/>
                </a:solidFill>
                <a:latin typeface="Calibri" pitchFamily="34" charset="0"/>
                <a:ea typeface="Calibri" pitchFamily="34" charset="-122"/>
                <a:cs typeface="Calibri" pitchFamily="34" charset="-120"/>
              </a:rPr>
              <a:t>Watch-outs</a:t>
            </a:r>
            <a:endParaRPr lang="en-US" sz="1500" dirty="0"/>
          </a:p>
        </p:txBody>
      </p:sp>
      <p:sp>
        <p:nvSpPr>
          <p:cNvPr id="21" name="Text 19"/>
          <p:cNvSpPr/>
          <p:nvPr/>
        </p:nvSpPr>
        <p:spPr>
          <a:xfrm>
            <a:off x="7607808" y="3255264"/>
            <a:ext cx="3760927" cy="1810512"/>
          </a:xfrm>
          <a:prstGeom prst="rect">
            <a:avLst/>
          </a:prstGeom>
          <a:noFill/>
          <a:ln/>
        </p:spPr>
        <p:txBody>
          <a:bodyPr wrap="square" lIns="0" tIns="0" rIns="0" bIns="0" rtlCol="0" anchor="t"/>
          <a:lstStyle/>
          <a:p>
            <a:pPr marL="177800" indent="-177800">
              <a:lnSpc>
                <a:spcPct val="102000"/>
              </a:lnSpc>
              <a:spcAft>
                <a:spcPts val="800"/>
              </a:spcAft>
              <a:buSzPct val="100000"/>
              <a:buChar char="•"/>
            </a:pPr>
            <a:r>
              <a:rPr lang="en-US" sz="1050" dirty="0">
                <a:solidFill>
                  <a:srgbClr val="5A4A3A"/>
                </a:solidFill>
                <a:latin typeface="Calibri" pitchFamily="34" charset="0"/>
                <a:ea typeface="Calibri" pitchFamily="34" charset="-122"/>
                <a:cs typeface="Calibri" pitchFamily="34" charset="-120"/>
              </a:rPr>
              <a:t>Insurer relationships and IRDAI compliance must transfer cleanly: lead with regulatory diligence.</a:t>
            </a:r>
            <a:endParaRPr lang="en-US" sz="1050" dirty="0"/>
          </a:p>
          <a:p>
            <a:pPr marL="177800" indent="-177800">
              <a:lnSpc>
                <a:spcPct val="102000"/>
              </a:lnSpc>
              <a:spcAft>
                <a:spcPts val="800"/>
              </a:spcAft>
              <a:buSzPct val="100000"/>
              <a:buChar char="•"/>
            </a:pPr>
            <a:r>
              <a:rPr lang="en-US" sz="1050" dirty="0">
                <a:solidFill>
                  <a:srgbClr val="5A4A3A"/>
                </a:solidFill>
                <a:latin typeface="Calibri" pitchFamily="34" charset="0"/>
                <a:ea typeface="Calibri" pitchFamily="34" charset="-122"/>
                <a:cs typeface="Calibri" pitchFamily="34" charset="-120"/>
              </a:rPr>
              <a:t>Integrating a B2B infrastructure team into a B2C app: protect the product roadmap and partner trust.</a:t>
            </a:r>
            <a:endParaRPr lang="en-US" sz="1050" dirty="0"/>
          </a:p>
          <a:p>
            <a:pPr marL="177800" indent="-177800">
              <a:lnSpc>
                <a:spcPct val="102000"/>
              </a:lnSpc>
              <a:spcAft>
                <a:spcPts val="800"/>
              </a:spcAft>
              <a:buSzPct val="100000"/>
              <a:buChar char="•"/>
            </a:pPr>
            <a:r>
              <a:rPr lang="en-US" sz="1050" dirty="0">
                <a:solidFill>
                  <a:srgbClr val="5A4A3A"/>
                </a:solidFill>
                <a:latin typeface="Calibri" pitchFamily="34" charset="0"/>
                <a:ea typeface="Calibri" pitchFamily="34" charset="-122"/>
                <a:cs typeface="Calibri" pitchFamily="34" charset="-120"/>
              </a:rPr>
              <a:t>Retain the technology and partnerships team through earnouts.</a:t>
            </a:r>
            <a:endParaRPr lang="en-US" sz="1050" dirty="0"/>
          </a:p>
        </p:txBody>
      </p:sp>
      <p:sp>
        <p:nvSpPr>
          <p:cNvPr id="22" name="Shape 20"/>
          <p:cNvSpPr/>
          <p:nvPr/>
        </p:nvSpPr>
        <p:spPr>
          <a:xfrm>
            <a:off x="566928" y="5413248"/>
            <a:ext cx="11057839" cy="658368"/>
          </a:xfrm>
          <a:prstGeom prst="roundRect">
            <a:avLst>
              <a:gd name="adj" fmla="val 8333"/>
            </a:avLst>
          </a:prstGeom>
          <a:solidFill>
            <a:srgbClr val="0A2540"/>
          </a:solidFill>
          <a:ln/>
          <a:effectLst>
            <a:outerShdw sx="100000" sy="100000" kx="0" ky="0" algn="bl" rotWithShape="0" blurRad="114300" dist="38100" dir="5400000">
              <a:srgbClr val="1B2B44">
                <a:alpha val="10000"/>
              </a:srgbClr>
            </a:outerShdw>
          </a:effectLst>
        </p:spPr>
      </p:sp>
      <p:pic>
        <p:nvPicPr>
          <p:cNvPr id="23" name="Image 0" descr="preencoded.png">    </p:cNvPr>
          <p:cNvPicPr>
            <a:picLocks noChangeAspect="1"/>
          </p:cNvPicPr>
          <p:nvPr/>
        </p:nvPicPr>
        <p:blipFill>
          <a:blip r:embed="rId1"/>
          <a:stretch>
            <a:fillRect/>
          </a:stretch>
        </p:blipFill>
        <p:spPr>
          <a:xfrm>
            <a:off x="804672" y="5577840"/>
            <a:ext cx="310896" cy="310896"/>
          </a:xfrm>
          <a:prstGeom prst="rect">
            <a:avLst/>
          </a:prstGeom>
        </p:spPr>
      </p:pic>
      <p:sp>
        <p:nvSpPr>
          <p:cNvPr id="24" name="Text 21"/>
          <p:cNvSpPr/>
          <p:nvPr/>
        </p:nvSpPr>
        <p:spPr>
          <a:xfrm>
            <a:off x="1243584" y="5413248"/>
            <a:ext cx="10143439" cy="658368"/>
          </a:xfrm>
          <a:prstGeom prst="rect">
            <a:avLst/>
          </a:prstGeom>
          <a:noFill/>
          <a:ln/>
        </p:spPr>
        <p:txBody>
          <a:bodyPr wrap="square" lIns="0" tIns="0" rIns="0" bIns="0" rtlCol="0" anchor="ctr"/>
          <a:lstStyle/>
          <a:p>
            <a:pPr indent="0" marL="0">
              <a:buNone/>
            </a:pPr>
            <a:r>
              <a:rPr lang="en-US" sz="1150" b="1" dirty="0">
                <a:solidFill>
                  <a:srgbClr val="12B5CB"/>
                </a:solidFill>
                <a:latin typeface="Calibri" pitchFamily="34" charset="0"/>
                <a:ea typeface="Calibri" pitchFamily="34" charset="-122"/>
                <a:cs typeface="Calibri" pitchFamily="34" charset="-120"/>
              </a:rPr>
              <a:t>Indicative deal (illustrative):  </a:t>
            </a:r>
            <a:pPr indent="0" marL="0">
              <a:buNone/>
            </a:pPr>
            <a:r>
              <a:rPr lang="en-US" sz="1150" dirty="0">
                <a:solidFill>
                  <a:srgbClr val="E8EFF8"/>
                </a:solidFill>
                <a:latin typeface="Calibri" pitchFamily="34" charset="0"/>
                <a:ea typeface="Calibri" pitchFamily="34" charset="-122"/>
                <a:cs typeface="Calibri" pitchFamily="34" charset="-120"/>
              </a:rPr>
              <a:t>Acquire control or 100% · indicative ticket ~Rs 150 Cr to Rs 300 Cr (the larger of the two) · stock-led with earnouts.</a:t>
            </a:r>
            <a:endParaRPr lang="en-US" sz="1150" dirty="0"/>
          </a:p>
        </p:txBody>
      </p:sp>
      <p:sp>
        <p:nvSpPr>
          <p:cNvPr id="25" name="Text 22"/>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26" name="Text 2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SEQUENCING</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Phase the program to respect integration capacity</a:t>
            </a:r>
            <a:endParaRPr lang="en-US" sz="2700" dirty="0"/>
          </a:p>
        </p:txBody>
      </p:sp>
      <p:sp>
        <p:nvSpPr>
          <p:cNvPr id="4" name="Shape 2"/>
          <p:cNvSpPr/>
          <p:nvPr/>
        </p:nvSpPr>
        <p:spPr>
          <a:xfrm>
            <a:off x="841248" y="1618488"/>
            <a:ext cx="10509199" cy="0"/>
          </a:xfrm>
          <a:prstGeom prst="line">
            <a:avLst/>
          </a:prstGeom>
          <a:noFill/>
          <a:ln w="19050">
            <a:solidFill>
              <a:srgbClr val="D8E2EE"/>
            </a:solidFill>
            <a:prstDash val="solid"/>
          </a:ln>
        </p:spPr>
      </p:sp>
      <p:sp>
        <p:nvSpPr>
          <p:cNvPr id="5" name="Shape 3"/>
          <p:cNvSpPr/>
          <p:nvPr/>
        </p:nvSpPr>
        <p:spPr>
          <a:xfrm>
            <a:off x="2159965" y="1490472"/>
            <a:ext cx="256032" cy="256032"/>
          </a:xfrm>
          <a:prstGeom prst="ellipse">
            <a:avLst/>
          </a:prstGeom>
          <a:solidFill>
            <a:srgbClr val="12B5CB"/>
          </a:solidFill>
          <a:ln w="25400">
            <a:solidFill>
              <a:srgbClr val="FFFFFF"/>
            </a:solidFill>
            <a:prstDash val="solid"/>
          </a:ln>
        </p:spPr>
      </p:sp>
      <p:sp>
        <p:nvSpPr>
          <p:cNvPr id="6" name="Shape 4"/>
          <p:cNvSpPr/>
          <p:nvPr/>
        </p:nvSpPr>
        <p:spPr>
          <a:xfrm>
            <a:off x="566928" y="1783080"/>
            <a:ext cx="3442106" cy="3200400"/>
          </a:xfrm>
          <a:prstGeom prst="roundRect">
            <a:avLst>
              <a:gd name="adj" fmla="val 2286"/>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7" name="Shape 5"/>
          <p:cNvSpPr/>
          <p:nvPr/>
        </p:nvSpPr>
        <p:spPr>
          <a:xfrm>
            <a:off x="768096" y="2002536"/>
            <a:ext cx="3039770" cy="713232"/>
          </a:xfrm>
          <a:prstGeom prst="roundRect">
            <a:avLst>
              <a:gd name="adj" fmla="val 7692"/>
            </a:avLst>
          </a:prstGeom>
          <a:solidFill>
            <a:srgbClr val="12B5CB"/>
          </a:solidFill>
          <a:ln/>
        </p:spPr>
      </p:sp>
      <p:sp>
        <p:nvSpPr>
          <p:cNvPr id="8" name="Text 6"/>
          <p:cNvSpPr/>
          <p:nvPr/>
        </p:nvSpPr>
        <p:spPr>
          <a:xfrm>
            <a:off x="768096" y="2075688"/>
            <a:ext cx="3039770" cy="274320"/>
          </a:xfrm>
          <a:prstGeom prst="rect">
            <a:avLst/>
          </a:prstGeom>
          <a:noFill/>
          <a:ln/>
        </p:spPr>
        <p:txBody>
          <a:bodyPr wrap="square" lIns="0" tIns="0" rIns="0" bIns="0"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HORIZON 1</a:t>
            </a:r>
            <a:endParaRPr lang="en-US" sz="1400" dirty="0"/>
          </a:p>
        </p:txBody>
      </p:sp>
      <p:sp>
        <p:nvSpPr>
          <p:cNvPr id="9" name="Text 7"/>
          <p:cNvSpPr/>
          <p:nvPr/>
        </p:nvSpPr>
        <p:spPr>
          <a:xfrm>
            <a:off x="768096" y="2368296"/>
            <a:ext cx="3039770" cy="274320"/>
          </a:xfrm>
          <a:prstGeom prst="rect">
            <a:avLst/>
          </a:prstGeom>
          <a:noFill/>
          <a:ln/>
        </p:spPr>
        <p:txBody>
          <a:bodyPr wrap="square" lIns="0" tIns="0" rIns="0" bIns="0" rtlCol="0" anchor="ctr"/>
          <a:lstStyle/>
          <a:p>
            <a:pPr algn="ctr" indent="0" marL="0">
              <a:buNone/>
            </a:pPr>
            <a:r>
              <a:rPr lang="en-US" sz="1100" dirty="0">
                <a:solidFill>
                  <a:srgbClr val="EAF4FB"/>
                </a:solidFill>
                <a:latin typeface="Calibri" pitchFamily="34" charset="0"/>
                <a:ea typeface="Calibri" pitchFamily="34" charset="-122"/>
                <a:cs typeface="Calibri" pitchFamily="34" charset="-120"/>
              </a:rPr>
              <a:t>0 to 9 months</a:t>
            </a:r>
            <a:endParaRPr lang="en-US" sz="1100" dirty="0"/>
          </a:p>
        </p:txBody>
      </p:sp>
      <p:sp>
        <p:nvSpPr>
          <p:cNvPr id="10" name="Text 8"/>
          <p:cNvSpPr/>
          <p:nvPr/>
        </p:nvSpPr>
        <p:spPr>
          <a:xfrm>
            <a:off x="877824" y="2916936"/>
            <a:ext cx="2875178" cy="192024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Merchant acquiring SaaS and devices bolt-on</a:t>
            </a:r>
            <a:endParaRPr lang="en-US" sz="1150" dirty="0"/>
          </a:p>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Lending underwriting and collections tech</a:t>
            </a:r>
            <a:endParaRPr lang="en-US" sz="1150" dirty="0"/>
          </a:p>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Stand up corporate-development cadence</a:t>
            </a:r>
            <a:endParaRPr lang="en-US" sz="1150" dirty="0"/>
          </a:p>
        </p:txBody>
      </p:sp>
      <p:sp>
        <p:nvSpPr>
          <p:cNvPr id="11" name="Shape 9"/>
          <p:cNvSpPr/>
          <p:nvPr/>
        </p:nvSpPr>
        <p:spPr>
          <a:xfrm>
            <a:off x="5967832" y="1490472"/>
            <a:ext cx="256032" cy="256032"/>
          </a:xfrm>
          <a:prstGeom prst="ellipse">
            <a:avLst/>
          </a:prstGeom>
          <a:solidFill>
            <a:srgbClr val="2563EB"/>
          </a:solidFill>
          <a:ln w="25400">
            <a:solidFill>
              <a:srgbClr val="FFFFFF"/>
            </a:solidFill>
            <a:prstDash val="solid"/>
          </a:ln>
        </p:spPr>
      </p:sp>
      <p:sp>
        <p:nvSpPr>
          <p:cNvPr id="12" name="Shape 10"/>
          <p:cNvSpPr/>
          <p:nvPr/>
        </p:nvSpPr>
        <p:spPr>
          <a:xfrm>
            <a:off x="4374794" y="1783080"/>
            <a:ext cx="3442106" cy="3200400"/>
          </a:xfrm>
          <a:prstGeom prst="roundRect">
            <a:avLst>
              <a:gd name="adj" fmla="val 2286"/>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13" name="Shape 11"/>
          <p:cNvSpPr/>
          <p:nvPr/>
        </p:nvSpPr>
        <p:spPr>
          <a:xfrm>
            <a:off x="4575962" y="2002536"/>
            <a:ext cx="3039770" cy="713232"/>
          </a:xfrm>
          <a:prstGeom prst="roundRect">
            <a:avLst>
              <a:gd name="adj" fmla="val 7692"/>
            </a:avLst>
          </a:prstGeom>
          <a:solidFill>
            <a:srgbClr val="2563EB"/>
          </a:solidFill>
          <a:ln/>
        </p:spPr>
      </p:sp>
      <p:sp>
        <p:nvSpPr>
          <p:cNvPr id="14" name="Text 12"/>
          <p:cNvSpPr/>
          <p:nvPr/>
        </p:nvSpPr>
        <p:spPr>
          <a:xfrm>
            <a:off x="4575962" y="2075688"/>
            <a:ext cx="3039770" cy="274320"/>
          </a:xfrm>
          <a:prstGeom prst="rect">
            <a:avLst/>
          </a:prstGeom>
          <a:noFill/>
          <a:ln/>
        </p:spPr>
        <p:txBody>
          <a:bodyPr wrap="square" lIns="0" tIns="0" rIns="0" bIns="0"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HORIZON 2</a:t>
            </a:r>
            <a:endParaRPr lang="en-US" sz="1400" dirty="0"/>
          </a:p>
        </p:txBody>
      </p:sp>
      <p:sp>
        <p:nvSpPr>
          <p:cNvPr id="15" name="Text 13"/>
          <p:cNvSpPr/>
          <p:nvPr/>
        </p:nvSpPr>
        <p:spPr>
          <a:xfrm>
            <a:off x="4575962" y="2368296"/>
            <a:ext cx="3039770" cy="274320"/>
          </a:xfrm>
          <a:prstGeom prst="rect">
            <a:avLst/>
          </a:prstGeom>
          <a:noFill/>
          <a:ln/>
        </p:spPr>
        <p:txBody>
          <a:bodyPr wrap="square" lIns="0" tIns="0" rIns="0" bIns="0" rtlCol="0" anchor="ctr"/>
          <a:lstStyle/>
          <a:p>
            <a:pPr algn="ctr" indent="0" marL="0">
              <a:buNone/>
            </a:pPr>
            <a:r>
              <a:rPr lang="en-US" sz="1100" dirty="0">
                <a:solidFill>
                  <a:srgbClr val="EAF4FB"/>
                </a:solidFill>
                <a:latin typeface="Calibri" pitchFamily="34" charset="0"/>
                <a:ea typeface="Calibri" pitchFamily="34" charset="-122"/>
                <a:cs typeface="Calibri" pitchFamily="34" charset="-120"/>
              </a:rPr>
              <a:t>9 to 18 months</a:t>
            </a:r>
            <a:endParaRPr lang="en-US" sz="1100" dirty="0"/>
          </a:p>
        </p:txBody>
      </p:sp>
      <p:sp>
        <p:nvSpPr>
          <p:cNvPr id="16" name="Text 14"/>
          <p:cNvSpPr/>
          <p:nvPr/>
        </p:nvSpPr>
        <p:spPr>
          <a:xfrm>
            <a:off x="4685690" y="2916936"/>
            <a:ext cx="2875178" cy="192024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Wealth and broking depth acquisition</a:t>
            </a:r>
            <a:endParaRPr lang="en-US" sz="1150" dirty="0"/>
          </a:p>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Opportunistic AI risk and fraud acqui-hire</a:t>
            </a:r>
            <a:endParaRPr lang="en-US" sz="1150" dirty="0"/>
          </a:p>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First-deal integration fully embedded</a:t>
            </a:r>
            <a:endParaRPr lang="en-US" sz="1150" dirty="0"/>
          </a:p>
        </p:txBody>
      </p:sp>
      <p:sp>
        <p:nvSpPr>
          <p:cNvPr id="17" name="Shape 15"/>
          <p:cNvSpPr/>
          <p:nvPr/>
        </p:nvSpPr>
        <p:spPr>
          <a:xfrm>
            <a:off x="9775698" y="1490472"/>
            <a:ext cx="256032" cy="256032"/>
          </a:xfrm>
          <a:prstGeom prst="ellipse">
            <a:avLst/>
          </a:prstGeom>
          <a:solidFill>
            <a:srgbClr val="12355B"/>
          </a:solidFill>
          <a:ln w="25400">
            <a:solidFill>
              <a:srgbClr val="FFFFFF"/>
            </a:solidFill>
            <a:prstDash val="solid"/>
          </a:ln>
        </p:spPr>
      </p:sp>
      <p:sp>
        <p:nvSpPr>
          <p:cNvPr id="18" name="Shape 16"/>
          <p:cNvSpPr/>
          <p:nvPr/>
        </p:nvSpPr>
        <p:spPr>
          <a:xfrm>
            <a:off x="8182661" y="1783080"/>
            <a:ext cx="3442106" cy="3200400"/>
          </a:xfrm>
          <a:prstGeom prst="roundRect">
            <a:avLst>
              <a:gd name="adj" fmla="val 2286"/>
            </a:avLst>
          </a:prstGeom>
          <a:solidFill>
            <a:srgbClr val="F4F8FC"/>
          </a:solidFill>
          <a:ln w="12700">
            <a:solidFill>
              <a:srgbClr val="D8E2EE"/>
            </a:solidFill>
            <a:prstDash val="solid"/>
          </a:ln>
          <a:effectLst>
            <a:outerShdw sx="100000" sy="100000" kx="0" ky="0" algn="bl" rotWithShape="0" blurRad="114300" dist="38100" dir="5400000">
              <a:srgbClr val="1B2B44">
                <a:alpha val="10000"/>
              </a:srgbClr>
            </a:outerShdw>
          </a:effectLst>
        </p:spPr>
      </p:sp>
      <p:sp>
        <p:nvSpPr>
          <p:cNvPr id="19" name="Shape 17"/>
          <p:cNvSpPr/>
          <p:nvPr/>
        </p:nvSpPr>
        <p:spPr>
          <a:xfrm>
            <a:off x="8383829" y="2002536"/>
            <a:ext cx="3039770" cy="713232"/>
          </a:xfrm>
          <a:prstGeom prst="roundRect">
            <a:avLst>
              <a:gd name="adj" fmla="val 7692"/>
            </a:avLst>
          </a:prstGeom>
          <a:solidFill>
            <a:srgbClr val="12355B"/>
          </a:solidFill>
          <a:ln/>
        </p:spPr>
      </p:sp>
      <p:sp>
        <p:nvSpPr>
          <p:cNvPr id="20" name="Text 18"/>
          <p:cNvSpPr/>
          <p:nvPr/>
        </p:nvSpPr>
        <p:spPr>
          <a:xfrm>
            <a:off x="8383829" y="2075688"/>
            <a:ext cx="3039770" cy="274320"/>
          </a:xfrm>
          <a:prstGeom prst="rect">
            <a:avLst/>
          </a:prstGeom>
          <a:noFill/>
          <a:ln/>
        </p:spPr>
        <p:txBody>
          <a:bodyPr wrap="square" lIns="0" tIns="0" rIns="0" bIns="0" rtlCol="0" anchor="ctr"/>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HORIZON 3</a:t>
            </a:r>
            <a:endParaRPr lang="en-US" sz="1400" dirty="0"/>
          </a:p>
        </p:txBody>
      </p:sp>
      <p:sp>
        <p:nvSpPr>
          <p:cNvPr id="21" name="Text 19"/>
          <p:cNvSpPr/>
          <p:nvPr/>
        </p:nvSpPr>
        <p:spPr>
          <a:xfrm>
            <a:off x="8383829" y="2368296"/>
            <a:ext cx="3039770" cy="274320"/>
          </a:xfrm>
          <a:prstGeom prst="rect">
            <a:avLst/>
          </a:prstGeom>
          <a:noFill/>
          <a:ln/>
        </p:spPr>
        <p:txBody>
          <a:bodyPr wrap="square" lIns="0" tIns="0" rIns="0" bIns="0" rtlCol="0" anchor="ctr"/>
          <a:lstStyle/>
          <a:p>
            <a:pPr algn="ctr" indent="0" marL="0">
              <a:buNone/>
            </a:pPr>
            <a:r>
              <a:rPr lang="en-US" sz="1100" dirty="0">
                <a:solidFill>
                  <a:srgbClr val="EAF4FB"/>
                </a:solidFill>
                <a:latin typeface="Calibri" pitchFamily="34" charset="0"/>
                <a:ea typeface="Calibri" pitchFamily="34" charset="-122"/>
                <a:cs typeface="Calibri" pitchFamily="34" charset="-120"/>
              </a:rPr>
              <a:t>18 to 24 months</a:t>
            </a:r>
            <a:endParaRPr lang="en-US" sz="1100" dirty="0"/>
          </a:p>
        </p:txBody>
      </p:sp>
      <p:sp>
        <p:nvSpPr>
          <p:cNvPr id="22" name="Text 20"/>
          <p:cNvSpPr/>
          <p:nvPr/>
        </p:nvSpPr>
        <p:spPr>
          <a:xfrm>
            <a:off x="8493557" y="2916936"/>
            <a:ext cx="2875178" cy="192024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Insurance distribution optionality</a:t>
            </a:r>
            <a:endParaRPr lang="en-US" sz="1150" dirty="0"/>
          </a:p>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Tuck-ins to close residual gaps</a:t>
            </a:r>
            <a:endParaRPr lang="en-US" sz="1150" dirty="0"/>
          </a:p>
          <a:p>
            <a:pPr marL="177800" indent="-177800">
              <a:lnSpc>
                <a:spcPct val="102000"/>
              </a:lnSpc>
              <a:spcAft>
                <a:spcPts val="1000"/>
              </a:spcAft>
              <a:buSzPct val="100000"/>
              <a:buChar char="•"/>
            </a:pPr>
            <a:r>
              <a:rPr lang="en-US" sz="1150" dirty="0">
                <a:solidFill>
                  <a:srgbClr val="3C4E62"/>
                </a:solidFill>
                <a:latin typeface="Calibri" pitchFamily="34" charset="0"/>
                <a:ea typeface="Calibri" pitchFamily="34" charset="-122"/>
                <a:cs typeface="Calibri" pitchFamily="34" charset="-120"/>
              </a:rPr>
              <a:t>Review program returns with the Board</a:t>
            </a:r>
            <a:endParaRPr lang="en-US" sz="1150" dirty="0"/>
          </a:p>
        </p:txBody>
      </p:sp>
      <p:sp>
        <p:nvSpPr>
          <p:cNvPr id="23" name="Shape 21"/>
          <p:cNvSpPr/>
          <p:nvPr/>
        </p:nvSpPr>
        <p:spPr>
          <a:xfrm>
            <a:off x="566928" y="5248656"/>
            <a:ext cx="11057839" cy="676656"/>
          </a:xfrm>
          <a:prstGeom prst="roundRect">
            <a:avLst>
              <a:gd name="adj" fmla="val 8108"/>
            </a:avLst>
          </a:prstGeom>
          <a:solidFill>
            <a:srgbClr val="E2F6F8"/>
          </a:solidFill>
          <a:ln/>
        </p:spPr>
      </p:sp>
      <p:pic>
        <p:nvPicPr>
          <p:cNvPr id="24" name="Image 0" descr="preencoded.png">    </p:cNvPr>
          <p:cNvPicPr>
            <a:picLocks noChangeAspect="1"/>
          </p:cNvPicPr>
          <p:nvPr/>
        </p:nvPicPr>
        <p:blipFill>
          <a:blip r:embed="rId1"/>
          <a:stretch>
            <a:fillRect/>
          </a:stretch>
        </p:blipFill>
        <p:spPr>
          <a:xfrm>
            <a:off x="786384" y="5422392"/>
            <a:ext cx="329184" cy="329184"/>
          </a:xfrm>
          <a:prstGeom prst="rect">
            <a:avLst/>
          </a:prstGeom>
        </p:spPr>
      </p:pic>
      <p:sp>
        <p:nvSpPr>
          <p:cNvPr id="25" name="Text 22"/>
          <p:cNvSpPr/>
          <p:nvPr/>
        </p:nvSpPr>
        <p:spPr>
          <a:xfrm>
            <a:off x="1243584" y="5248656"/>
            <a:ext cx="10143439" cy="676656"/>
          </a:xfrm>
          <a:prstGeom prst="rect">
            <a:avLst/>
          </a:prstGeom>
          <a:noFill/>
          <a:ln/>
        </p:spPr>
        <p:txBody>
          <a:bodyPr wrap="square" lIns="0" tIns="0" rIns="0" bIns="0" rtlCol="0" anchor="ctr"/>
          <a:lstStyle/>
          <a:p>
            <a:pPr indent="0" marL="0">
              <a:buNone/>
            </a:pPr>
            <a:r>
              <a:rPr lang="en-US" sz="1150" b="1" dirty="0">
                <a:solidFill>
                  <a:srgbClr val="0E8F9C"/>
                </a:solidFill>
                <a:latin typeface="Calibri" pitchFamily="34" charset="0"/>
                <a:ea typeface="Calibri" pitchFamily="34" charset="-122"/>
                <a:cs typeface="Calibri" pitchFamily="34" charset="-120"/>
              </a:rPr>
              <a:t>Discipline:  </a:t>
            </a:r>
            <a:pPr indent="0" marL="0">
              <a:buNone/>
            </a:pPr>
            <a:r>
              <a:rPr lang="en-US" sz="1150" dirty="0">
                <a:solidFill>
                  <a:srgbClr val="2C3E52"/>
                </a:solidFill>
                <a:latin typeface="Calibri" pitchFamily="34" charset="0"/>
                <a:ea typeface="Calibri" pitchFamily="34" charset="-122"/>
                <a:cs typeface="Calibri" pitchFamily="34" charset="-120"/>
              </a:rPr>
              <a:t>at most one to two active integrations at a time. Each deal carries a 100-day integration plan owned jointly by Corp Dev and the line business.</a:t>
            </a:r>
            <a:endParaRPr lang="en-US" sz="1150" dirty="0"/>
          </a:p>
        </p:txBody>
      </p:sp>
      <p:sp>
        <p:nvSpPr>
          <p:cNvPr id="26" name="Text 23"/>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27" name="Text 24"/>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DEAL ECONOMICS  ·  ILLUSTRATIVE</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How the math protects the balance sheet</a:t>
            </a:r>
            <a:endParaRPr lang="en-US" sz="2700" dirty="0"/>
          </a:p>
        </p:txBody>
      </p:sp>
      <p:sp>
        <p:nvSpPr>
          <p:cNvPr id="4" name="Text 2"/>
          <p:cNvSpPr/>
          <p:nvPr/>
        </p:nvSpPr>
        <p:spPr>
          <a:xfrm>
            <a:off x="566928" y="1517904"/>
            <a:ext cx="4023360" cy="274320"/>
          </a:xfrm>
          <a:prstGeom prst="rect">
            <a:avLst/>
          </a:prstGeom>
          <a:noFill/>
          <a:ln/>
        </p:spPr>
        <p:txBody>
          <a:bodyPr wrap="square" lIns="0" tIns="0" rIns="0" bIns="0" rtlCol="0" anchor="ctr"/>
          <a:lstStyle/>
          <a:p>
            <a:pPr indent="0" marL="0">
              <a:buNone/>
            </a:pPr>
            <a:r>
              <a:rPr lang="en-US" sz="1300" b="1" dirty="0">
                <a:solidFill>
                  <a:srgbClr val="12355B"/>
                </a:solidFill>
                <a:latin typeface="Calibri" pitchFamily="34" charset="0"/>
                <a:ea typeface="Calibri" pitchFamily="34" charset="-122"/>
                <a:cs typeface="Calibri" pitchFamily="34" charset="-120"/>
              </a:rPr>
              <a:t>Illustrative funding mix per deal</a:t>
            </a:r>
            <a:endParaRPr lang="en-US" sz="1300" dirty="0"/>
          </a:p>
        </p:txBody>
      </p:sp>
      <p:graphicFrame>
        <p:nvGraphicFramePr>
          <p:cNvPr id="5" name="Chart 0" descr=""/>
          <p:cNvGraphicFramePr/>
          <p:nvPr/>
        </p:nvGraphicFramePr>
        <p:xfrm>
          <a:off x="521208" y="1828800"/>
          <a:ext cx="3977640" cy="2788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66928" y="4617720"/>
            <a:ext cx="3977640" cy="274320"/>
          </a:xfrm>
          <a:prstGeom prst="rect">
            <a:avLst/>
          </a:prstGeom>
          <a:noFill/>
          <a:ln/>
        </p:spPr>
        <p:txBody>
          <a:bodyPr wrap="square" lIns="0" tIns="0" rIns="0" bIns="0" rtlCol="0" anchor="ctr"/>
          <a:lstStyle/>
          <a:p>
            <a:pPr algn="ctr" indent="0" marL="0">
              <a:buNone/>
            </a:pPr>
            <a:r>
              <a:rPr lang="en-US" sz="1000" i="1" dirty="0">
                <a:solidFill>
                  <a:srgbClr val="5E7184"/>
                </a:solidFill>
                <a:latin typeface="Calibri" pitchFamily="34" charset="0"/>
                <a:ea typeface="Calibri" pitchFamily="34" charset="-122"/>
                <a:cs typeface="Calibri" pitchFamily="34" charset="-120"/>
              </a:rPr>
              <a:t>Stock-led to preserve cash and align sellers</a:t>
            </a:r>
            <a:endParaRPr lang="en-US" sz="1000" dirty="0"/>
          </a:p>
        </p:txBody>
      </p:sp>
      <p:sp>
        <p:nvSpPr>
          <p:cNvPr id="7" name="Shape 4"/>
          <p:cNvSpPr/>
          <p:nvPr/>
        </p:nvSpPr>
        <p:spPr>
          <a:xfrm>
            <a:off x="4892040" y="1481328"/>
            <a:ext cx="6732727" cy="1243584"/>
          </a:xfrm>
          <a:prstGeom prst="roundRect">
            <a:avLst>
              <a:gd name="adj" fmla="val 5147"/>
            </a:avLst>
          </a:prstGeom>
          <a:solidFill>
            <a:srgbClr val="F4F8FC"/>
          </a:solidFill>
          <a:ln w="12700">
            <a:solidFill>
              <a:srgbClr val="D8E2EE"/>
            </a:solidFill>
            <a:prstDash val="solid"/>
          </a:ln>
        </p:spPr>
      </p:sp>
      <p:sp>
        <p:nvSpPr>
          <p:cNvPr id="8" name="Shape 5"/>
          <p:cNvSpPr/>
          <p:nvPr/>
        </p:nvSpPr>
        <p:spPr>
          <a:xfrm>
            <a:off x="5111496" y="1737360"/>
            <a:ext cx="640080" cy="640080"/>
          </a:xfrm>
          <a:prstGeom prst="ellipse">
            <a:avLst/>
          </a:prstGeom>
          <a:solidFill>
            <a:srgbClr val="12B5CB"/>
          </a:solidFill>
          <a:ln/>
        </p:spPr>
      </p:sp>
      <p:pic>
        <p:nvPicPr>
          <p:cNvPr id="9" name="Image 0" descr="preencoded.png">    </p:cNvPr>
          <p:cNvPicPr>
            <a:picLocks noChangeAspect="1"/>
          </p:cNvPicPr>
          <p:nvPr/>
        </p:nvPicPr>
        <p:blipFill>
          <a:blip r:embed="rId2"/>
          <a:stretch>
            <a:fillRect/>
          </a:stretch>
        </p:blipFill>
        <p:spPr>
          <a:xfrm>
            <a:off x="5290718" y="1916582"/>
            <a:ext cx="281635" cy="281635"/>
          </a:xfrm>
          <a:prstGeom prst="rect">
            <a:avLst/>
          </a:prstGeom>
        </p:spPr>
      </p:pic>
      <p:sp>
        <p:nvSpPr>
          <p:cNvPr id="10" name="Text 6"/>
          <p:cNvSpPr/>
          <p:nvPr/>
        </p:nvSpPr>
        <p:spPr>
          <a:xfrm>
            <a:off x="5916168" y="1664208"/>
            <a:ext cx="5525719"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Valuation anchors</a:t>
            </a:r>
            <a:endParaRPr lang="en-US" sz="1400" dirty="0"/>
          </a:p>
        </p:txBody>
      </p:sp>
      <p:sp>
        <p:nvSpPr>
          <p:cNvPr id="11" name="Text 7"/>
          <p:cNvSpPr/>
          <p:nvPr/>
        </p:nvSpPr>
        <p:spPr>
          <a:xfrm>
            <a:off x="5916168" y="1956816"/>
            <a:ext cx="5525719" cy="713232"/>
          </a:xfrm>
          <a:prstGeom prst="rect">
            <a:avLst/>
          </a:prstGeom>
          <a:noFill/>
          <a:ln/>
        </p:spPr>
        <p:txBody>
          <a:bodyPr wrap="square" lIns="0" tIns="0" rIns="0" bIns="0" rtlCol="0" anchor="t"/>
          <a:lstStyle/>
          <a:p>
            <a:pPr indent="0" marL="0">
              <a:lnSpc>
                <a:spcPct val="102000"/>
              </a:lnSpc>
              <a:buNone/>
            </a:pPr>
            <a:r>
              <a:rPr lang="en-US" sz="1100" dirty="0">
                <a:solidFill>
                  <a:srgbClr val="44566A"/>
                </a:solidFill>
                <a:latin typeface="Calibri" pitchFamily="34" charset="0"/>
                <a:ea typeface="Calibri" pitchFamily="34" charset="-122"/>
                <a:cs typeface="Calibri" pitchFamily="34" charset="-120"/>
              </a:rPr>
              <a:t>MobiKwik trades near 1.85x sales. Soft-market bolt-ons typically clear at 2x to 5x revenue by growth and margin. Set a firm walk-away price per deal.</a:t>
            </a:r>
            <a:endParaRPr lang="en-US" sz="1100" dirty="0"/>
          </a:p>
        </p:txBody>
      </p:sp>
      <p:sp>
        <p:nvSpPr>
          <p:cNvPr id="12" name="Shape 8"/>
          <p:cNvSpPr/>
          <p:nvPr/>
        </p:nvSpPr>
        <p:spPr>
          <a:xfrm>
            <a:off x="4892040" y="2852928"/>
            <a:ext cx="6732727" cy="1243584"/>
          </a:xfrm>
          <a:prstGeom prst="roundRect">
            <a:avLst>
              <a:gd name="adj" fmla="val 5147"/>
            </a:avLst>
          </a:prstGeom>
          <a:solidFill>
            <a:srgbClr val="F4F8FC"/>
          </a:solidFill>
          <a:ln w="12700">
            <a:solidFill>
              <a:srgbClr val="D8E2EE"/>
            </a:solidFill>
            <a:prstDash val="solid"/>
          </a:ln>
        </p:spPr>
      </p:sp>
      <p:sp>
        <p:nvSpPr>
          <p:cNvPr id="13" name="Shape 9"/>
          <p:cNvSpPr/>
          <p:nvPr/>
        </p:nvSpPr>
        <p:spPr>
          <a:xfrm>
            <a:off x="5111496" y="3108960"/>
            <a:ext cx="640080" cy="640080"/>
          </a:xfrm>
          <a:prstGeom prst="ellipse">
            <a:avLst/>
          </a:prstGeom>
          <a:solidFill>
            <a:srgbClr val="12B5CB"/>
          </a:solidFill>
          <a:ln/>
        </p:spPr>
      </p:sp>
      <p:pic>
        <p:nvPicPr>
          <p:cNvPr id="14" name="Image 1" descr="preencoded.png">    </p:cNvPr>
          <p:cNvPicPr>
            <a:picLocks noChangeAspect="1"/>
          </p:cNvPicPr>
          <p:nvPr/>
        </p:nvPicPr>
        <p:blipFill>
          <a:blip r:embed="rId3"/>
          <a:stretch>
            <a:fillRect/>
          </a:stretch>
        </p:blipFill>
        <p:spPr>
          <a:xfrm>
            <a:off x="5290718" y="3288182"/>
            <a:ext cx="281635" cy="281635"/>
          </a:xfrm>
          <a:prstGeom prst="rect">
            <a:avLst/>
          </a:prstGeom>
        </p:spPr>
      </p:pic>
      <p:sp>
        <p:nvSpPr>
          <p:cNvPr id="15" name="Text 10"/>
          <p:cNvSpPr/>
          <p:nvPr/>
        </p:nvSpPr>
        <p:spPr>
          <a:xfrm>
            <a:off x="5916168" y="3035808"/>
            <a:ext cx="5525719"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Synergy logic</a:t>
            </a:r>
            <a:endParaRPr lang="en-US" sz="1400" dirty="0"/>
          </a:p>
        </p:txBody>
      </p:sp>
      <p:sp>
        <p:nvSpPr>
          <p:cNvPr id="16" name="Text 11"/>
          <p:cNvSpPr/>
          <p:nvPr/>
        </p:nvSpPr>
        <p:spPr>
          <a:xfrm>
            <a:off x="5916168" y="3328416"/>
            <a:ext cx="5525719" cy="713232"/>
          </a:xfrm>
          <a:prstGeom prst="rect">
            <a:avLst/>
          </a:prstGeom>
          <a:noFill/>
          <a:ln/>
        </p:spPr>
        <p:txBody>
          <a:bodyPr wrap="square" lIns="0" tIns="0" rIns="0" bIns="0" rtlCol="0" anchor="t"/>
          <a:lstStyle/>
          <a:p>
            <a:pPr indent="0" marL="0">
              <a:lnSpc>
                <a:spcPct val="102000"/>
              </a:lnSpc>
              <a:buNone/>
            </a:pPr>
            <a:r>
              <a:rPr lang="en-US" sz="1100" dirty="0">
                <a:solidFill>
                  <a:srgbClr val="44566A"/>
                </a:solidFill>
                <a:latin typeface="Calibri" pitchFamily="34" charset="0"/>
                <a:ea typeface="Calibri" pitchFamily="34" charset="-122"/>
                <a:cs typeface="Calibri" pitchFamily="34" charset="-120"/>
              </a:rPr>
              <a:t>Revenue: cross-sell lending on merchant cash flows and investing on the user base. Cost: shared rails, NPCI and PA infrastructure, and common technology.</a:t>
            </a:r>
            <a:endParaRPr lang="en-US" sz="1100" dirty="0"/>
          </a:p>
        </p:txBody>
      </p:sp>
      <p:sp>
        <p:nvSpPr>
          <p:cNvPr id="17" name="Shape 12"/>
          <p:cNvSpPr/>
          <p:nvPr/>
        </p:nvSpPr>
        <p:spPr>
          <a:xfrm>
            <a:off x="4892040" y="4224528"/>
            <a:ext cx="6732727" cy="1243584"/>
          </a:xfrm>
          <a:prstGeom prst="roundRect">
            <a:avLst>
              <a:gd name="adj" fmla="val 5147"/>
            </a:avLst>
          </a:prstGeom>
          <a:solidFill>
            <a:srgbClr val="F4F8FC"/>
          </a:solidFill>
          <a:ln w="12700">
            <a:solidFill>
              <a:srgbClr val="D8E2EE"/>
            </a:solidFill>
            <a:prstDash val="solid"/>
          </a:ln>
        </p:spPr>
      </p:sp>
      <p:sp>
        <p:nvSpPr>
          <p:cNvPr id="18" name="Shape 13"/>
          <p:cNvSpPr/>
          <p:nvPr/>
        </p:nvSpPr>
        <p:spPr>
          <a:xfrm>
            <a:off x="5111496" y="4480560"/>
            <a:ext cx="640080" cy="640080"/>
          </a:xfrm>
          <a:prstGeom prst="ellipse">
            <a:avLst/>
          </a:prstGeom>
          <a:solidFill>
            <a:srgbClr val="12B5CB"/>
          </a:solidFill>
          <a:ln/>
        </p:spPr>
      </p:sp>
      <p:pic>
        <p:nvPicPr>
          <p:cNvPr id="19" name="Image 2" descr="preencoded.png">    </p:cNvPr>
          <p:cNvPicPr>
            <a:picLocks noChangeAspect="1"/>
          </p:cNvPicPr>
          <p:nvPr/>
        </p:nvPicPr>
        <p:blipFill>
          <a:blip r:embed="rId4"/>
          <a:stretch>
            <a:fillRect/>
          </a:stretch>
        </p:blipFill>
        <p:spPr>
          <a:xfrm>
            <a:off x="5290718" y="4659782"/>
            <a:ext cx="281635" cy="281635"/>
          </a:xfrm>
          <a:prstGeom prst="rect">
            <a:avLst/>
          </a:prstGeom>
        </p:spPr>
      </p:pic>
      <p:sp>
        <p:nvSpPr>
          <p:cNvPr id="20" name="Text 14"/>
          <p:cNvSpPr/>
          <p:nvPr/>
        </p:nvSpPr>
        <p:spPr>
          <a:xfrm>
            <a:off x="5916168" y="4407408"/>
            <a:ext cx="5525719" cy="292608"/>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Guardrail restated</a:t>
            </a:r>
            <a:endParaRPr lang="en-US" sz="1400" dirty="0"/>
          </a:p>
        </p:txBody>
      </p:sp>
      <p:sp>
        <p:nvSpPr>
          <p:cNvPr id="21" name="Text 15"/>
          <p:cNvSpPr/>
          <p:nvPr/>
        </p:nvSpPr>
        <p:spPr>
          <a:xfrm>
            <a:off x="5916168" y="4700016"/>
            <a:ext cx="5525719" cy="713232"/>
          </a:xfrm>
          <a:prstGeom prst="rect">
            <a:avLst/>
          </a:prstGeom>
          <a:noFill/>
          <a:ln/>
        </p:spPr>
        <p:txBody>
          <a:bodyPr wrap="square" lIns="0" tIns="0" rIns="0" bIns="0" rtlCol="0" anchor="t"/>
          <a:lstStyle/>
          <a:p>
            <a:pPr indent="0" marL="0">
              <a:lnSpc>
                <a:spcPct val="102000"/>
              </a:lnSpc>
              <a:buNone/>
            </a:pPr>
            <a:r>
              <a:rPr lang="en-US" sz="1100" dirty="0">
                <a:solidFill>
                  <a:srgbClr val="44566A"/>
                </a:solidFill>
                <a:latin typeface="Calibri" pitchFamily="34" charset="0"/>
                <a:ea typeface="Calibri" pitchFamily="34" charset="-122"/>
                <a:cs typeface="Calibri" pitchFamily="34" charset="-120"/>
              </a:rPr>
              <a:t>The group stays EBITDA-positive and the cash buffer is held above a defined floor. No single deal may breach either test.</a:t>
            </a:r>
            <a:endParaRPr lang="en-US" sz="1100" dirty="0"/>
          </a:p>
        </p:txBody>
      </p:sp>
      <p:sp>
        <p:nvSpPr>
          <p:cNvPr id="22" name="Text 16"/>
          <p:cNvSpPr/>
          <p:nvPr/>
        </p:nvSpPr>
        <p:spPr>
          <a:xfrm>
            <a:off x="566928" y="5989320"/>
            <a:ext cx="11057839" cy="274320"/>
          </a:xfrm>
          <a:prstGeom prst="rect">
            <a:avLst/>
          </a:prstGeom>
          <a:noFill/>
          <a:ln/>
        </p:spPr>
        <p:txBody>
          <a:bodyPr wrap="square" lIns="0" tIns="0" rIns="0" bIns="0" rtlCol="0" anchor="ctr"/>
          <a:lstStyle/>
          <a:p>
            <a:pPr indent="0" marL="0">
              <a:buNone/>
            </a:pPr>
            <a:r>
              <a:rPr lang="en-US" sz="900" i="1" dirty="0">
                <a:solidFill>
                  <a:srgbClr val="5E7184"/>
                </a:solidFill>
                <a:latin typeface="Calibri" pitchFamily="34" charset="0"/>
                <a:ea typeface="Calibri" pitchFamily="34" charset="-122"/>
                <a:cs typeface="Calibri" pitchFamily="34" charset="-120"/>
              </a:rPr>
              <a:t>Figures are illustrative and for framework purposes only; based on public market data.</a:t>
            </a:r>
            <a:endParaRPr lang="en-US" sz="900" dirty="0"/>
          </a:p>
        </p:txBody>
      </p:sp>
      <p:sp>
        <p:nvSpPr>
          <p:cNvPr id="23" name="Text 17"/>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24" name="Text 18"/>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RISKS</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Five risks that could derail the program, and how to manage them</a:t>
            </a:r>
            <a:endParaRPr lang="en-US" sz="2700" dirty="0"/>
          </a:p>
        </p:txBody>
      </p:sp>
      <p:sp>
        <p:nvSpPr>
          <p:cNvPr id="4" name="Shape 2"/>
          <p:cNvSpPr/>
          <p:nvPr/>
        </p:nvSpPr>
        <p:spPr>
          <a:xfrm>
            <a:off x="566928" y="1572768"/>
            <a:ext cx="4160520" cy="457200"/>
          </a:xfrm>
          <a:prstGeom prst="rect">
            <a:avLst/>
          </a:prstGeom>
          <a:solidFill>
            <a:srgbClr val="0A2540"/>
          </a:solidFill>
          <a:ln/>
        </p:spPr>
      </p:sp>
      <p:sp>
        <p:nvSpPr>
          <p:cNvPr id="5" name="Shape 3"/>
          <p:cNvSpPr/>
          <p:nvPr/>
        </p:nvSpPr>
        <p:spPr>
          <a:xfrm>
            <a:off x="4727448" y="1572768"/>
            <a:ext cx="6897319" cy="457200"/>
          </a:xfrm>
          <a:prstGeom prst="rect">
            <a:avLst/>
          </a:prstGeom>
          <a:solidFill>
            <a:srgbClr val="12355B"/>
          </a:solidFill>
          <a:ln/>
        </p:spPr>
      </p:sp>
      <p:sp>
        <p:nvSpPr>
          <p:cNvPr id="6" name="Text 4"/>
          <p:cNvSpPr/>
          <p:nvPr/>
        </p:nvSpPr>
        <p:spPr>
          <a:xfrm>
            <a:off x="749808" y="1572768"/>
            <a:ext cx="37947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p>
        </p:txBody>
      </p:sp>
      <p:sp>
        <p:nvSpPr>
          <p:cNvPr id="7" name="Text 5"/>
          <p:cNvSpPr/>
          <p:nvPr/>
        </p:nvSpPr>
        <p:spPr>
          <a:xfrm>
            <a:off x="4910328" y="1572768"/>
            <a:ext cx="6531559" cy="457200"/>
          </a:xfrm>
          <a:prstGeom prst="rect">
            <a:avLst/>
          </a:prstGeom>
          <a:noFill/>
          <a:ln/>
        </p:spPr>
        <p:txBody>
          <a:bodyPr wrap="square" lIns="0" tIns="0" rIns="0" bIns="0" rtlCol="0" anchor="ctr"/>
          <a:lstStyle/>
          <a:p>
            <a:pPr indent="0" marL="0">
              <a:buNone/>
            </a:pPr>
            <a:r>
              <a:rPr lang="en-US" sz="1300" b="1" dirty="0">
                <a:solidFill>
                  <a:srgbClr val="12B5CB"/>
                </a:solidFill>
                <a:latin typeface="Calibri" pitchFamily="34" charset="0"/>
                <a:ea typeface="Calibri" pitchFamily="34" charset="-122"/>
                <a:cs typeface="Calibri" pitchFamily="34" charset="-120"/>
              </a:rPr>
              <a:t>Mitigation</a:t>
            </a:r>
            <a:endParaRPr lang="en-US" sz="1300" dirty="0"/>
          </a:p>
        </p:txBody>
      </p:sp>
      <p:sp>
        <p:nvSpPr>
          <p:cNvPr id="8" name="Shape 6"/>
          <p:cNvSpPr/>
          <p:nvPr/>
        </p:nvSpPr>
        <p:spPr>
          <a:xfrm>
            <a:off x="566928" y="2029968"/>
            <a:ext cx="4160520" cy="768096"/>
          </a:xfrm>
          <a:prstGeom prst="rect">
            <a:avLst/>
          </a:prstGeom>
          <a:solidFill>
            <a:srgbClr val="F4F8FC"/>
          </a:solidFill>
          <a:ln w="9525">
            <a:solidFill>
              <a:srgbClr val="D8E2EE"/>
            </a:solidFill>
            <a:prstDash val="solid"/>
          </a:ln>
        </p:spPr>
      </p:sp>
      <p:sp>
        <p:nvSpPr>
          <p:cNvPr id="9" name="Shape 7"/>
          <p:cNvSpPr/>
          <p:nvPr/>
        </p:nvSpPr>
        <p:spPr>
          <a:xfrm>
            <a:off x="4727448" y="2029968"/>
            <a:ext cx="6897319" cy="768096"/>
          </a:xfrm>
          <a:prstGeom prst="rect">
            <a:avLst/>
          </a:prstGeom>
          <a:solidFill>
            <a:srgbClr val="F4F8FC"/>
          </a:solidFill>
          <a:ln w="9525">
            <a:solidFill>
              <a:srgbClr val="D8E2EE"/>
            </a:solidFill>
            <a:prstDash val="solid"/>
          </a:ln>
        </p:spPr>
      </p:sp>
      <p:pic>
        <p:nvPicPr>
          <p:cNvPr id="10" name="Image 0" descr="preencoded.png">    </p:cNvPr>
          <p:cNvPicPr>
            <a:picLocks noChangeAspect="1"/>
          </p:cNvPicPr>
          <p:nvPr/>
        </p:nvPicPr>
        <p:blipFill>
          <a:blip r:embed="rId1"/>
          <a:stretch>
            <a:fillRect/>
          </a:stretch>
        </p:blipFill>
        <p:spPr>
          <a:xfrm>
            <a:off x="768096" y="2295144"/>
            <a:ext cx="237744" cy="237744"/>
          </a:xfrm>
          <a:prstGeom prst="rect">
            <a:avLst/>
          </a:prstGeom>
        </p:spPr>
      </p:pic>
      <p:sp>
        <p:nvSpPr>
          <p:cNvPr id="11" name="Text 8"/>
          <p:cNvSpPr/>
          <p:nvPr/>
        </p:nvSpPr>
        <p:spPr>
          <a:xfrm>
            <a:off x="1133856" y="2029968"/>
            <a:ext cx="3429000" cy="768096"/>
          </a:xfrm>
          <a:prstGeom prst="rect">
            <a:avLst/>
          </a:prstGeom>
          <a:noFill/>
          <a:ln/>
        </p:spPr>
        <p:txBody>
          <a:bodyPr wrap="square" lIns="0" tIns="0" rIns="0" bIns="0" rtlCol="0" anchor="ctr"/>
          <a:lstStyle/>
          <a:p>
            <a:pPr indent="0" marL="0">
              <a:lnSpc>
                <a:spcPct val="100000"/>
              </a:lnSpc>
              <a:buNone/>
            </a:pPr>
            <a:r>
              <a:rPr lang="en-US" sz="1200" b="1" dirty="0">
                <a:solidFill>
                  <a:srgbClr val="12355B"/>
                </a:solidFill>
                <a:latin typeface="Calibri" pitchFamily="34" charset="0"/>
                <a:ea typeface="Calibri" pitchFamily="34" charset="-122"/>
                <a:cs typeface="Calibri" pitchFamily="34" charset="-120"/>
              </a:rPr>
              <a:t>Profitability relapse</a:t>
            </a:r>
            <a:endParaRPr lang="en-US" sz="1200" dirty="0"/>
          </a:p>
        </p:txBody>
      </p:sp>
      <p:pic>
        <p:nvPicPr>
          <p:cNvPr id="12" name="Image 1" descr="preencoded.png">    </p:cNvPr>
          <p:cNvPicPr>
            <a:picLocks noChangeAspect="1"/>
          </p:cNvPicPr>
          <p:nvPr/>
        </p:nvPicPr>
        <p:blipFill>
          <a:blip r:embed="rId2"/>
          <a:stretch>
            <a:fillRect/>
          </a:stretch>
        </p:blipFill>
        <p:spPr>
          <a:xfrm>
            <a:off x="4928616" y="2295144"/>
            <a:ext cx="237744" cy="237744"/>
          </a:xfrm>
          <a:prstGeom prst="rect">
            <a:avLst/>
          </a:prstGeom>
        </p:spPr>
      </p:pic>
      <p:sp>
        <p:nvSpPr>
          <p:cNvPr id="13" name="Text 9"/>
          <p:cNvSpPr/>
          <p:nvPr/>
        </p:nvSpPr>
        <p:spPr>
          <a:xfrm>
            <a:off x="5294376" y="2029968"/>
            <a:ext cx="6147511" cy="768096"/>
          </a:xfrm>
          <a:prstGeom prst="rect">
            <a:avLst/>
          </a:prstGeom>
          <a:noFill/>
          <a:ln/>
        </p:spPr>
        <p:txBody>
          <a:bodyPr wrap="square" lIns="0" tIns="0" rIns="0" bIns="0" rtlCol="0" anchor="ctr"/>
          <a:lstStyle/>
          <a:p>
            <a:pPr indent="0" marL="0">
              <a:lnSpc>
                <a:spcPct val="102000"/>
              </a:lnSpc>
              <a:buNone/>
            </a:pPr>
            <a:r>
              <a:rPr lang="en-US" sz="1150" dirty="0">
                <a:solidFill>
                  <a:srgbClr val="44566A"/>
                </a:solidFill>
                <a:latin typeface="Calibri" pitchFamily="34" charset="0"/>
                <a:ea typeface="Calibri" pitchFamily="34" charset="-122"/>
                <a:cs typeface="Calibri" pitchFamily="34" charset="-120"/>
              </a:rPr>
              <a:t>Stock-funded deals, an EBITDA-neutral test, and strict sequencing keep the group in the black.</a:t>
            </a:r>
            <a:endParaRPr lang="en-US" sz="1150" dirty="0"/>
          </a:p>
        </p:txBody>
      </p:sp>
      <p:sp>
        <p:nvSpPr>
          <p:cNvPr id="14" name="Shape 10"/>
          <p:cNvSpPr/>
          <p:nvPr/>
        </p:nvSpPr>
        <p:spPr>
          <a:xfrm>
            <a:off x="566928" y="2798064"/>
            <a:ext cx="4160520" cy="768096"/>
          </a:xfrm>
          <a:prstGeom prst="rect">
            <a:avLst/>
          </a:prstGeom>
          <a:solidFill>
            <a:srgbClr val="FFFFFF"/>
          </a:solidFill>
          <a:ln w="9525">
            <a:solidFill>
              <a:srgbClr val="D8E2EE"/>
            </a:solidFill>
            <a:prstDash val="solid"/>
          </a:ln>
        </p:spPr>
      </p:sp>
      <p:sp>
        <p:nvSpPr>
          <p:cNvPr id="15" name="Shape 11"/>
          <p:cNvSpPr/>
          <p:nvPr/>
        </p:nvSpPr>
        <p:spPr>
          <a:xfrm>
            <a:off x="4727448" y="2798064"/>
            <a:ext cx="6897319" cy="768096"/>
          </a:xfrm>
          <a:prstGeom prst="rect">
            <a:avLst/>
          </a:prstGeom>
          <a:solidFill>
            <a:srgbClr val="FFFFFF"/>
          </a:solidFill>
          <a:ln w="9525">
            <a:solidFill>
              <a:srgbClr val="D8E2EE"/>
            </a:solidFill>
            <a:prstDash val="solid"/>
          </a:ln>
        </p:spPr>
      </p:sp>
      <p:pic>
        <p:nvPicPr>
          <p:cNvPr id="16" name="Image 2" descr="preencoded.png">    </p:cNvPr>
          <p:cNvPicPr>
            <a:picLocks noChangeAspect="1"/>
          </p:cNvPicPr>
          <p:nvPr/>
        </p:nvPicPr>
        <p:blipFill>
          <a:blip r:embed="rId3"/>
          <a:stretch>
            <a:fillRect/>
          </a:stretch>
        </p:blipFill>
        <p:spPr>
          <a:xfrm>
            <a:off x="768096" y="3063240"/>
            <a:ext cx="237744" cy="237744"/>
          </a:xfrm>
          <a:prstGeom prst="rect">
            <a:avLst/>
          </a:prstGeom>
        </p:spPr>
      </p:pic>
      <p:sp>
        <p:nvSpPr>
          <p:cNvPr id="17" name="Text 12"/>
          <p:cNvSpPr/>
          <p:nvPr/>
        </p:nvSpPr>
        <p:spPr>
          <a:xfrm>
            <a:off x="1133856" y="2798064"/>
            <a:ext cx="3429000" cy="768096"/>
          </a:xfrm>
          <a:prstGeom prst="rect">
            <a:avLst/>
          </a:prstGeom>
          <a:noFill/>
          <a:ln/>
        </p:spPr>
        <p:txBody>
          <a:bodyPr wrap="square" lIns="0" tIns="0" rIns="0" bIns="0" rtlCol="0" anchor="ctr"/>
          <a:lstStyle/>
          <a:p>
            <a:pPr indent="0" marL="0">
              <a:lnSpc>
                <a:spcPct val="100000"/>
              </a:lnSpc>
              <a:buNone/>
            </a:pPr>
            <a:r>
              <a:rPr lang="en-US" sz="1200" b="1" dirty="0">
                <a:solidFill>
                  <a:srgbClr val="12355B"/>
                </a:solidFill>
                <a:latin typeface="Calibri" pitchFamily="34" charset="0"/>
                <a:ea typeface="Calibri" pitchFamily="34" charset="-122"/>
                <a:cs typeface="Calibri" pitchFamily="34" charset="-120"/>
              </a:rPr>
              <a:t>Thin integration muscle (one prior deal)</a:t>
            </a:r>
            <a:endParaRPr lang="en-US" sz="1200" dirty="0"/>
          </a:p>
        </p:txBody>
      </p:sp>
      <p:pic>
        <p:nvPicPr>
          <p:cNvPr id="18" name="Image 3" descr="preencoded.png">    </p:cNvPr>
          <p:cNvPicPr>
            <a:picLocks noChangeAspect="1"/>
          </p:cNvPicPr>
          <p:nvPr/>
        </p:nvPicPr>
        <p:blipFill>
          <a:blip r:embed="rId4"/>
          <a:stretch>
            <a:fillRect/>
          </a:stretch>
        </p:blipFill>
        <p:spPr>
          <a:xfrm>
            <a:off x="4928616" y="3063240"/>
            <a:ext cx="237744" cy="237744"/>
          </a:xfrm>
          <a:prstGeom prst="rect">
            <a:avLst/>
          </a:prstGeom>
        </p:spPr>
      </p:pic>
      <p:sp>
        <p:nvSpPr>
          <p:cNvPr id="19" name="Text 13"/>
          <p:cNvSpPr/>
          <p:nvPr/>
        </p:nvSpPr>
        <p:spPr>
          <a:xfrm>
            <a:off x="5294376" y="2798064"/>
            <a:ext cx="6147511" cy="768096"/>
          </a:xfrm>
          <a:prstGeom prst="rect">
            <a:avLst/>
          </a:prstGeom>
          <a:noFill/>
          <a:ln/>
        </p:spPr>
        <p:txBody>
          <a:bodyPr wrap="square" lIns="0" tIns="0" rIns="0" bIns="0" rtlCol="0" anchor="ctr"/>
          <a:lstStyle/>
          <a:p>
            <a:pPr indent="0" marL="0">
              <a:lnSpc>
                <a:spcPct val="102000"/>
              </a:lnSpc>
              <a:buNone/>
            </a:pPr>
            <a:r>
              <a:rPr lang="en-US" sz="1150" dirty="0">
                <a:solidFill>
                  <a:srgbClr val="44566A"/>
                </a:solidFill>
                <a:latin typeface="Calibri" pitchFamily="34" charset="0"/>
                <a:ea typeface="Calibri" pitchFamily="34" charset="-122"/>
                <a:cs typeface="Calibri" pitchFamily="34" charset="-120"/>
              </a:rPr>
              <a:t>Cap active integrations; anchor a Corp Dev and integration lead; run a 100-day plan per deal.</a:t>
            </a:r>
            <a:endParaRPr lang="en-US" sz="1150" dirty="0"/>
          </a:p>
        </p:txBody>
      </p:sp>
      <p:sp>
        <p:nvSpPr>
          <p:cNvPr id="20" name="Shape 14"/>
          <p:cNvSpPr/>
          <p:nvPr/>
        </p:nvSpPr>
        <p:spPr>
          <a:xfrm>
            <a:off x="566928" y="3566160"/>
            <a:ext cx="4160520" cy="768096"/>
          </a:xfrm>
          <a:prstGeom prst="rect">
            <a:avLst/>
          </a:prstGeom>
          <a:solidFill>
            <a:srgbClr val="F4F8FC"/>
          </a:solidFill>
          <a:ln w="9525">
            <a:solidFill>
              <a:srgbClr val="D8E2EE"/>
            </a:solidFill>
            <a:prstDash val="solid"/>
          </a:ln>
        </p:spPr>
      </p:sp>
      <p:sp>
        <p:nvSpPr>
          <p:cNvPr id="21" name="Shape 15"/>
          <p:cNvSpPr/>
          <p:nvPr/>
        </p:nvSpPr>
        <p:spPr>
          <a:xfrm>
            <a:off x="4727448" y="3566160"/>
            <a:ext cx="6897319" cy="768096"/>
          </a:xfrm>
          <a:prstGeom prst="rect">
            <a:avLst/>
          </a:prstGeom>
          <a:solidFill>
            <a:srgbClr val="F4F8FC"/>
          </a:solidFill>
          <a:ln w="9525">
            <a:solidFill>
              <a:srgbClr val="D8E2EE"/>
            </a:solidFill>
            <a:prstDash val="solid"/>
          </a:ln>
        </p:spPr>
      </p:sp>
      <p:pic>
        <p:nvPicPr>
          <p:cNvPr id="22" name="Image 4" descr="preencoded.png">    </p:cNvPr>
          <p:cNvPicPr>
            <a:picLocks noChangeAspect="1"/>
          </p:cNvPicPr>
          <p:nvPr/>
        </p:nvPicPr>
        <p:blipFill>
          <a:blip r:embed="rId5"/>
          <a:stretch>
            <a:fillRect/>
          </a:stretch>
        </p:blipFill>
        <p:spPr>
          <a:xfrm>
            <a:off x="768096" y="3831336"/>
            <a:ext cx="237744" cy="237744"/>
          </a:xfrm>
          <a:prstGeom prst="rect">
            <a:avLst/>
          </a:prstGeom>
        </p:spPr>
      </p:pic>
      <p:sp>
        <p:nvSpPr>
          <p:cNvPr id="23" name="Text 16"/>
          <p:cNvSpPr/>
          <p:nvPr/>
        </p:nvSpPr>
        <p:spPr>
          <a:xfrm>
            <a:off x="1133856" y="3566160"/>
            <a:ext cx="3429000" cy="768096"/>
          </a:xfrm>
          <a:prstGeom prst="rect">
            <a:avLst/>
          </a:prstGeom>
          <a:noFill/>
          <a:ln/>
        </p:spPr>
        <p:txBody>
          <a:bodyPr wrap="square" lIns="0" tIns="0" rIns="0" bIns="0" rtlCol="0" anchor="ctr"/>
          <a:lstStyle/>
          <a:p>
            <a:pPr indent="0" marL="0">
              <a:lnSpc>
                <a:spcPct val="100000"/>
              </a:lnSpc>
              <a:buNone/>
            </a:pPr>
            <a:r>
              <a:rPr lang="en-US" sz="1200" b="1" dirty="0">
                <a:solidFill>
                  <a:srgbClr val="12355B"/>
                </a:solidFill>
                <a:latin typeface="Calibri" pitchFamily="34" charset="0"/>
                <a:ea typeface="Calibri" pitchFamily="34" charset="-122"/>
                <a:cs typeface="Calibri" pitchFamily="34" charset="-120"/>
              </a:rPr>
              <a:t>Licence and regulatory transfer (NBFC, PA, SEBI)</a:t>
            </a:r>
            <a:endParaRPr lang="en-US" sz="1200" dirty="0"/>
          </a:p>
        </p:txBody>
      </p:sp>
      <p:pic>
        <p:nvPicPr>
          <p:cNvPr id="24" name="Image 5" descr="preencoded.png">    </p:cNvPr>
          <p:cNvPicPr>
            <a:picLocks noChangeAspect="1"/>
          </p:cNvPicPr>
          <p:nvPr/>
        </p:nvPicPr>
        <p:blipFill>
          <a:blip r:embed="rId6"/>
          <a:stretch>
            <a:fillRect/>
          </a:stretch>
        </p:blipFill>
        <p:spPr>
          <a:xfrm>
            <a:off x="4928616" y="3831336"/>
            <a:ext cx="237744" cy="237744"/>
          </a:xfrm>
          <a:prstGeom prst="rect">
            <a:avLst/>
          </a:prstGeom>
        </p:spPr>
      </p:pic>
      <p:sp>
        <p:nvSpPr>
          <p:cNvPr id="25" name="Text 17"/>
          <p:cNvSpPr/>
          <p:nvPr/>
        </p:nvSpPr>
        <p:spPr>
          <a:xfrm>
            <a:off x="5294376" y="3566160"/>
            <a:ext cx="6147511" cy="768096"/>
          </a:xfrm>
          <a:prstGeom prst="rect">
            <a:avLst/>
          </a:prstGeom>
          <a:noFill/>
          <a:ln/>
        </p:spPr>
        <p:txBody>
          <a:bodyPr wrap="square" lIns="0" tIns="0" rIns="0" bIns="0" rtlCol="0" anchor="ctr"/>
          <a:lstStyle/>
          <a:p>
            <a:pPr indent="0" marL="0">
              <a:lnSpc>
                <a:spcPct val="102000"/>
              </a:lnSpc>
              <a:buNone/>
            </a:pPr>
            <a:r>
              <a:rPr lang="en-US" sz="1150" dirty="0">
                <a:solidFill>
                  <a:srgbClr val="44566A"/>
                </a:solidFill>
                <a:latin typeface="Calibri" pitchFamily="34" charset="0"/>
                <a:ea typeface="Calibri" pitchFamily="34" charset="-122"/>
                <a:cs typeface="Calibri" pitchFamily="34" charset="-120"/>
              </a:rPr>
              <a:t>Run regulatory diligence first; structure as business or asset transfers where that is cleaner.</a:t>
            </a:r>
            <a:endParaRPr lang="en-US" sz="1150" dirty="0"/>
          </a:p>
        </p:txBody>
      </p:sp>
      <p:sp>
        <p:nvSpPr>
          <p:cNvPr id="26" name="Shape 18"/>
          <p:cNvSpPr/>
          <p:nvPr/>
        </p:nvSpPr>
        <p:spPr>
          <a:xfrm>
            <a:off x="566928" y="4334256"/>
            <a:ext cx="4160520" cy="768096"/>
          </a:xfrm>
          <a:prstGeom prst="rect">
            <a:avLst/>
          </a:prstGeom>
          <a:solidFill>
            <a:srgbClr val="FFFFFF"/>
          </a:solidFill>
          <a:ln w="9525">
            <a:solidFill>
              <a:srgbClr val="D8E2EE"/>
            </a:solidFill>
            <a:prstDash val="solid"/>
          </a:ln>
        </p:spPr>
      </p:sp>
      <p:sp>
        <p:nvSpPr>
          <p:cNvPr id="27" name="Shape 19"/>
          <p:cNvSpPr/>
          <p:nvPr/>
        </p:nvSpPr>
        <p:spPr>
          <a:xfrm>
            <a:off x="4727448" y="4334256"/>
            <a:ext cx="6897319" cy="768096"/>
          </a:xfrm>
          <a:prstGeom prst="rect">
            <a:avLst/>
          </a:prstGeom>
          <a:solidFill>
            <a:srgbClr val="FFFFFF"/>
          </a:solidFill>
          <a:ln w="9525">
            <a:solidFill>
              <a:srgbClr val="D8E2EE"/>
            </a:solidFill>
            <a:prstDash val="solid"/>
          </a:ln>
        </p:spPr>
      </p:sp>
      <p:pic>
        <p:nvPicPr>
          <p:cNvPr id="28" name="Image 6" descr="preencoded.png">    </p:cNvPr>
          <p:cNvPicPr>
            <a:picLocks noChangeAspect="1"/>
          </p:cNvPicPr>
          <p:nvPr/>
        </p:nvPicPr>
        <p:blipFill>
          <a:blip r:embed="rId7"/>
          <a:stretch>
            <a:fillRect/>
          </a:stretch>
        </p:blipFill>
        <p:spPr>
          <a:xfrm>
            <a:off x="768096" y="4599432"/>
            <a:ext cx="237744" cy="237744"/>
          </a:xfrm>
          <a:prstGeom prst="rect">
            <a:avLst/>
          </a:prstGeom>
        </p:spPr>
      </p:pic>
      <p:sp>
        <p:nvSpPr>
          <p:cNvPr id="29" name="Text 20"/>
          <p:cNvSpPr/>
          <p:nvPr/>
        </p:nvSpPr>
        <p:spPr>
          <a:xfrm>
            <a:off x="1133856" y="4334256"/>
            <a:ext cx="3429000" cy="768096"/>
          </a:xfrm>
          <a:prstGeom prst="rect">
            <a:avLst/>
          </a:prstGeom>
          <a:noFill/>
          <a:ln/>
        </p:spPr>
        <p:txBody>
          <a:bodyPr wrap="square" lIns="0" tIns="0" rIns="0" bIns="0" rtlCol="0" anchor="ctr"/>
          <a:lstStyle/>
          <a:p>
            <a:pPr indent="0" marL="0">
              <a:lnSpc>
                <a:spcPct val="100000"/>
              </a:lnSpc>
              <a:buNone/>
            </a:pPr>
            <a:r>
              <a:rPr lang="en-US" sz="1200" b="1" dirty="0">
                <a:solidFill>
                  <a:srgbClr val="12355B"/>
                </a:solidFill>
                <a:latin typeface="Calibri" pitchFamily="34" charset="0"/>
                <a:ea typeface="Calibri" pitchFamily="34" charset="-122"/>
                <a:cs typeface="Calibri" pitchFamily="34" charset="-120"/>
              </a:rPr>
              <a:t>Talent flight in acqui-hires</a:t>
            </a:r>
            <a:endParaRPr lang="en-US" sz="1200" dirty="0"/>
          </a:p>
        </p:txBody>
      </p:sp>
      <p:pic>
        <p:nvPicPr>
          <p:cNvPr id="30" name="Image 7" descr="preencoded.png">    </p:cNvPr>
          <p:cNvPicPr>
            <a:picLocks noChangeAspect="1"/>
          </p:cNvPicPr>
          <p:nvPr/>
        </p:nvPicPr>
        <p:blipFill>
          <a:blip r:embed="rId8"/>
          <a:stretch>
            <a:fillRect/>
          </a:stretch>
        </p:blipFill>
        <p:spPr>
          <a:xfrm>
            <a:off x="4928616" y="4599432"/>
            <a:ext cx="237744" cy="237744"/>
          </a:xfrm>
          <a:prstGeom prst="rect">
            <a:avLst/>
          </a:prstGeom>
        </p:spPr>
      </p:pic>
      <p:sp>
        <p:nvSpPr>
          <p:cNvPr id="31" name="Text 21"/>
          <p:cNvSpPr/>
          <p:nvPr/>
        </p:nvSpPr>
        <p:spPr>
          <a:xfrm>
            <a:off x="5294376" y="4334256"/>
            <a:ext cx="6147511" cy="768096"/>
          </a:xfrm>
          <a:prstGeom prst="rect">
            <a:avLst/>
          </a:prstGeom>
          <a:noFill/>
          <a:ln/>
        </p:spPr>
        <p:txBody>
          <a:bodyPr wrap="square" lIns="0" tIns="0" rIns="0" bIns="0" rtlCol="0" anchor="ctr"/>
          <a:lstStyle/>
          <a:p>
            <a:pPr indent="0" marL="0">
              <a:lnSpc>
                <a:spcPct val="102000"/>
              </a:lnSpc>
              <a:buNone/>
            </a:pPr>
            <a:r>
              <a:rPr lang="en-US" sz="1150" dirty="0">
                <a:solidFill>
                  <a:srgbClr val="44566A"/>
                </a:solidFill>
                <a:latin typeface="Calibri" pitchFamily="34" charset="0"/>
                <a:ea typeface="Calibri" pitchFamily="34" charset="-122"/>
                <a:cs typeface="Calibri" pitchFamily="34" charset="-120"/>
              </a:rPr>
              <a:t>Use retention earnouts and founder lock-ins, as worked with the Clearfunds acquisition.</a:t>
            </a:r>
            <a:endParaRPr lang="en-US" sz="1150" dirty="0"/>
          </a:p>
        </p:txBody>
      </p:sp>
      <p:sp>
        <p:nvSpPr>
          <p:cNvPr id="32" name="Shape 22"/>
          <p:cNvSpPr/>
          <p:nvPr/>
        </p:nvSpPr>
        <p:spPr>
          <a:xfrm>
            <a:off x="566928" y="5102352"/>
            <a:ext cx="4160520" cy="768096"/>
          </a:xfrm>
          <a:prstGeom prst="rect">
            <a:avLst/>
          </a:prstGeom>
          <a:solidFill>
            <a:srgbClr val="F4F8FC"/>
          </a:solidFill>
          <a:ln w="9525">
            <a:solidFill>
              <a:srgbClr val="D8E2EE"/>
            </a:solidFill>
            <a:prstDash val="solid"/>
          </a:ln>
        </p:spPr>
      </p:sp>
      <p:sp>
        <p:nvSpPr>
          <p:cNvPr id="33" name="Shape 23"/>
          <p:cNvSpPr/>
          <p:nvPr/>
        </p:nvSpPr>
        <p:spPr>
          <a:xfrm>
            <a:off x="4727448" y="5102352"/>
            <a:ext cx="6897319" cy="768096"/>
          </a:xfrm>
          <a:prstGeom prst="rect">
            <a:avLst/>
          </a:prstGeom>
          <a:solidFill>
            <a:srgbClr val="F4F8FC"/>
          </a:solidFill>
          <a:ln w="9525">
            <a:solidFill>
              <a:srgbClr val="D8E2EE"/>
            </a:solidFill>
            <a:prstDash val="solid"/>
          </a:ln>
        </p:spPr>
      </p:sp>
      <p:pic>
        <p:nvPicPr>
          <p:cNvPr id="34" name="Image 8" descr="preencoded.png">    </p:cNvPr>
          <p:cNvPicPr>
            <a:picLocks noChangeAspect="1"/>
          </p:cNvPicPr>
          <p:nvPr/>
        </p:nvPicPr>
        <p:blipFill>
          <a:blip r:embed="rId9"/>
          <a:stretch>
            <a:fillRect/>
          </a:stretch>
        </p:blipFill>
        <p:spPr>
          <a:xfrm>
            <a:off x="768096" y="5367528"/>
            <a:ext cx="237744" cy="237744"/>
          </a:xfrm>
          <a:prstGeom prst="rect">
            <a:avLst/>
          </a:prstGeom>
        </p:spPr>
      </p:pic>
      <p:sp>
        <p:nvSpPr>
          <p:cNvPr id="35" name="Text 24"/>
          <p:cNvSpPr/>
          <p:nvPr/>
        </p:nvSpPr>
        <p:spPr>
          <a:xfrm>
            <a:off x="1133856" y="5102352"/>
            <a:ext cx="3429000" cy="768096"/>
          </a:xfrm>
          <a:prstGeom prst="rect">
            <a:avLst/>
          </a:prstGeom>
          <a:noFill/>
          <a:ln/>
        </p:spPr>
        <p:txBody>
          <a:bodyPr wrap="square" lIns="0" tIns="0" rIns="0" bIns="0" rtlCol="0" anchor="ctr"/>
          <a:lstStyle/>
          <a:p>
            <a:pPr indent="0" marL="0">
              <a:lnSpc>
                <a:spcPct val="100000"/>
              </a:lnSpc>
              <a:buNone/>
            </a:pPr>
            <a:r>
              <a:rPr lang="en-US" sz="1200" b="1" dirty="0">
                <a:solidFill>
                  <a:srgbClr val="12355B"/>
                </a:solidFill>
                <a:latin typeface="Calibri" pitchFamily="34" charset="0"/>
                <a:ea typeface="Calibri" pitchFamily="34" charset="-122"/>
                <a:cs typeface="Calibri" pitchFamily="34" charset="-120"/>
              </a:rPr>
              <a:t>Overpayment in an illiquid market</a:t>
            </a:r>
            <a:endParaRPr lang="en-US" sz="1200" dirty="0"/>
          </a:p>
        </p:txBody>
      </p:sp>
      <p:pic>
        <p:nvPicPr>
          <p:cNvPr id="36" name="Image 9" descr="preencoded.png">    </p:cNvPr>
          <p:cNvPicPr>
            <a:picLocks noChangeAspect="1"/>
          </p:cNvPicPr>
          <p:nvPr/>
        </p:nvPicPr>
        <p:blipFill>
          <a:blip r:embed="rId10"/>
          <a:stretch>
            <a:fillRect/>
          </a:stretch>
        </p:blipFill>
        <p:spPr>
          <a:xfrm>
            <a:off x="4928616" y="5367528"/>
            <a:ext cx="237744" cy="237744"/>
          </a:xfrm>
          <a:prstGeom prst="rect">
            <a:avLst/>
          </a:prstGeom>
        </p:spPr>
      </p:pic>
      <p:sp>
        <p:nvSpPr>
          <p:cNvPr id="37" name="Text 25"/>
          <p:cNvSpPr/>
          <p:nvPr/>
        </p:nvSpPr>
        <p:spPr>
          <a:xfrm>
            <a:off x="5294376" y="5102352"/>
            <a:ext cx="6147511" cy="768096"/>
          </a:xfrm>
          <a:prstGeom prst="rect">
            <a:avLst/>
          </a:prstGeom>
          <a:noFill/>
          <a:ln/>
        </p:spPr>
        <p:txBody>
          <a:bodyPr wrap="square" lIns="0" tIns="0" rIns="0" bIns="0" rtlCol="0" anchor="ctr"/>
          <a:lstStyle/>
          <a:p>
            <a:pPr indent="0" marL="0">
              <a:lnSpc>
                <a:spcPct val="102000"/>
              </a:lnSpc>
              <a:buNone/>
            </a:pPr>
            <a:r>
              <a:rPr lang="en-US" sz="1150" dirty="0">
                <a:solidFill>
                  <a:srgbClr val="44566A"/>
                </a:solidFill>
                <a:latin typeface="Calibri" pitchFamily="34" charset="0"/>
                <a:ea typeface="Calibri" pitchFamily="34" charset="-122"/>
                <a:cs typeface="Calibri" pitchFamily="34" charset="-120"/>
              </a:rPr>
              <a:t>Hold disciplined multiples and a firm walk-away price; favour strategic fit over auction dynamics.</a:t>
            </a:r>
            <a:endParaRPr lang="en-US" sz="1150" dirty="0"/>
          </a:p>
        </p:txBody>
      </p:sp>
      <p:sp>
        <p:nvSpPr>
          <p:cNvPr id="38" name="Text 26"/>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39" name="Text 27"/>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566928" y="365760"/>
            <a:ext cx="8229600" cy="274320"/>
          </a:xfrm>
          <a:prstGeom prst="rect">
            <a:avLst/>
          </a:prstGeom>
          <a:noFill/>
          <a:ln/>
        </p:spPr>
        <p:txBody>
          <a:bodyPr wrap="square" lIns="0" tIns="0" rIns="0" bIns="0" rtlCol="0" anchor="ctr"/>
          <a:lstStyle/>
          <a:p>
            <a:pPr indent="0" marL="0">
              <a:buNone/>
            </a:pPr>
            <a:r>
              <a:rPr lang="en-US" sz="1150" b="1" spc="250" kern="0" dirty="0">
                <a:solidFill>
                  <a:srgbClr val="12B5CB"/>
                </a:solidFill>
                <a:latin typeface="Calibri" pitchFamily="34" charset="0"/>
                <a:ea typeface="Calibri" pitchFamily="34" charset="-122"/>
                <a:cs typeface="Calibri" pitchFamily="34" charset="-120"/>
              </a:rPr>
              <a:t>RECOMMENDATION</a:t>
            </a:r>
            <a:endParaRPr lang="en-US" sz="1150" dirty="0"/>
          </a:p>
        </p:txBody>
      </p:sp>
      <p:sp>
        <p:nvSpPr>
          <p:cNvPr id="3" name="Text 1"/>
          <p:cNvSpPr/>
          <p:nvPr/>
        </p:nvSpPr>
        <p:spPr>
          <a:xfrm>
            <a:off x="566928" y="621792"/>
            <a:ext cx="11057839" cy="676656"/>
          </a:xfrm>
          <a:prstGeom prst="rect">
            <a:avLst/>
          </a:prstGeom>
          <a:noFill/>
          <a:ln/>
        </p:spPr>
        <p:txBody>
          <a:bodyPr wrap="square" lIns="0" tIns="0" rIns="0" bIns="0" rtlCol="0" anchor="ctr"/>
          <a:lstStyle/>
          <a:p>
            <a:pPr indent="0" marL="0">
              <a:lnSpc>
                <a:spcPct val="98000"/>
              </a:lnSpc>
              <a:buNone/>
            </a:pPr>
            <a:r>
              <a:rPr lang="en-US" sz="2700" b="1" dirty="0">
                <a:solidFill>
                  <a:srgbClr val="FFFFFF"/>
                </a:solidFill>
                <a:latin typeface="Calibri" pitchFamily="34" charset="0"/>
                <a:ea typeface="Calibri" pitchFamily="34" charset="-122"/>
                <a:cs typeface="Calibri" pitchFamily="34" charset="-120"/>
              </a:rPr>
              <a:t>Mandate a focused bolt-on program, and act in the next 90 days</a:t>
            </a:r>
            <a:endParaRPr lang="en-US" sz="2700" dirty="0"/>
          </a:p>
        </p:txBody>
      </p:sp>
      <p:sp>
        <p:nvSpPr>
          <p:cNvPr id="4" name="Shape 2"/>
          <p:cNvSpPr/>
          <p:nvPr/>
        </p:nvSpPr>
        <p:spPr>
          <a:xfrm>
            <a:off x="566928" y="1554480"/>
            <a:ext cx="4572000" cy="4297680"/>
          </a:xfrm>
          <a:prstGeom prst="roundRect">
            <a:avLst>
              <a:gd name="adj" fmla="val 1702"/>
            </a:avLst>
          </a:prstGeom>
          <a:solidFill>
            <a:srgbClr val="0F2D4E"/>
          </a:solidFill>
          <a:ln w="12700">
            <a:solidFill>
              <a:srgbClr val="1E4571"/>
            </a:solidFill>
            <a:prstDash val="solid"/>
          </a:ln>
        </p:spPr>
      </p:sp>
      <p:pic>
        <p:nvPicPr>
          <p:cNvPr id="5" name="Image 0" descr="preencoded.png">    </p:cNvPr>
          <p:cNvPicPr>
            <a:picLocks noChangeAspect="1"/>
          </p:cNvPicPr>
          <p:nvPr/>
        </p:nvPicPr>
        <p:blipFill>
          <a:blip r:embed="rId1"/>
          <a:stretch>
            <a:fillRect/>
          </a:stretch>
        </p:blipFill>
        <p:spPr>
          <a:xfrm>
            <a:off x="877824" y="1828800"/>
            <a:ext cx="566928" cy="566928"/>
          </a:xfrm>
          <a:prstGeom prst="rect">
            <a:avLst/>
          </a:prstGeom>
        </p:spPr>
      </p:pic>
      <p:sp>
        <p:nvSpPr>
          <p:cNvPr id="6" name="Text 3"/>
          <p:cNvSpPr/>
          <p:nvPr/>
        </p:nvSpPr>
        <p:spPr>
          <a:xfrm>
            <a:off x="877824" y="2505456"/>
            <a:ext cx="3950208"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recommendation</a:t>
            </a:r>
            <a:endParaRPr lang="en-US" sz="1600" dirty="0"/>
          </a:p>
        </p:txBody>
      </p:sp>
      <p:sp>
        <p:nvSpPr>
          <p:cNvPr id="7" name="Text 4"/>
          <p:cNvSpPr/>
          <p:nvPr/>
        </p:nvSpPr>
        <p:spPr>
          <a:xfrm>
            <a:off x="877824" y="2852928"/>
            <a:ext cx="3950208" cy="1828800"/>
          </a:xfrm>
          <a:prstGeom prst="rect">
            <a:avLst/>
          </a:prstGeom>
          <a:noFill/>
          <a:ln/>
        </p:spPr>
        <p:txBody>
          <a:bodyPr wrap="square" lIns="0" tIns="0" rIns="0" bIns="0" rtlCol="0" anchor="t"/>
          <a:lstStyle/>
          <a:p>
            <a:pPr indent="0" marL="0">
              <a:lnSpc>
                <a:spcPct val="108000"/>
              </a:lnSpc>
              <a:buNone/>
            </a:pPr>
            <a:r>
              <a:rPr lang="en-US" sz="1250" dirty="0">
                <a:solidFill>
                  <a:srgbClr val="CFE0F0"/>
                </a:solidFill>
                <a:latin typeface="Calibri" pitchFamily="34" charset="0"/>
                <a:ea typeface="Calibri" pitchFamily="34" charset="-122"/>
                <a:cs typeface="Calibri" pitchFamily="34" charset="-120"/>
              </a:rPr>
              <a:t>Use a rare buyer's window to acquire the capability MobiKwik's New Moats need: merchant-acquiring software and devices, lending infrastructure, and broking depth. Fund it mostly with stock, keep tickets small, and protect the FY26 profitability above all.</a:t>
            </a:r>
            <a:endParaRPr lang="en-US" sz="1250" dirty="0"/>
          </a:p>
        </p:txBody>
      </p:sp>
      <p:sp>
        <p:nvSpPr>
          <p:cNvPr id="8" name="Shape 5"/>
          <p:cNvSpPr/>
          <p:nvPr/>
        </p:nvSpPr>
        <p:spPr>
          <a:xfrm>
            <a:off x="877824" y="4956048"/>
            <a:ext cx="3950208" cy="713232"/>
          </a:xfrm>
          <a:prstGeom prst="roundRect">
            <a:avLst>
              <a:gd name="adj" fmla="val 7692"/>
            </a:avLst>
          </a:prstGeom>
          <a:solidFill>
            <a:srgbClr val="12B5CB"/>
          </a:solidFill>
          <a:ln/>
        </p:spPr>
      </p:sp>
      <p:sp>
        <p:nvSpPr>
          <p:cNvPr id="9" name="Text 6"/>
          <p:cNvSpPr/>
          <p:nvPr/>
        </p:nvSpPr>
        <p:spPr>
          <a:xfrm>
            <a:off x="1024128" y="4956048"/>
            <a:ext cx="3657600" cy="713232"/>
          </a:xfrm>
          <a:prstGeom prst="rect">
            <a:avLst/>
          </a:prstGeom>
          <a:noFill/>
          <a:ln/>
        </p:spPr>
        <p:txBody>
          <a:bodyPr wrap="square" lIns="0" tIns="0" rIns="0" bIns="0" rtlCol="0" anchor="ctr"/>
          <a:lstStyle/>
          <a:p>
            <a:pPr indent="0" marL="0">
              <a:lnSpc>
                <a:spcPct val="100000"/>
              </a:lnSpc>
              <a:buNone/>
            </a:pPr>
            <a:r>
              <a:rPr lang="en-US" sz="1150" b="1" dirty="0">
                <a:solidFill>
                  <a:srgbClr val="05303A"/>
                </a:solidFill>
                <a:latin typeface="Calibri" pitchFamily="34" charset="0"/>
                <a:ea typeface="Calibri" pitchFamily="34" charset="-122"/>
                <a:cs typeface="Calibri" pitchFamily="34" charset="-120"/>
              </a:rPr>
              <a:t>Outcome: faster moats, defended profitability, and a repeatable corp-dev engine.</a:t>
            </a:r>
            <a:endParaRPr lang="en-US" sz="1150" dirty="0"/>
          </a:p>
        </p:txBody>
      </p:sp>
      <p:sp>
        <p:nvSpPr>
          <p:cNvPr id="10" name="Text 7"/>
          <p:cNvSpPr/>
          <p:nvPr/>
        </p:nvSpPr>
        <p:spPr>
          <a:xfrm>
            <a:off x="5550408" y="1627632"/>
            <a:ext cx="6074359" cy="310896"/>
          </a:xfrm>
          <a:prstGeom prst="rect">
            <a:avLst/>
          </a:prstGeom>
          <a:noFill/>
          <a:ln/>
        </p:spPr>
        <p:txBody>
          <a:bodyPr wrap="square" lIns="0" tIns="0" rIns="0" bIns="0" rtlCol="0" anchor="ctr"/>
          <a:lstStyle/>
          <a:p>
            <a:pPr indent="0" marL="0">
              <a:buNone/>
            </a:pPr>
            <a:r>
              <a:rPr lang="en-US" sz="1600" b="1" dirty="0">
                <a:solidFill>
                  <a:srgbClr val="12B5CB"/>
                </a:solidFill>
                <a:latin typeface="Calibri" pitchFamily="34" charset="0"/>
                <a:ea typeface="Calibri" pitchFamily="34" charset="-122"/>
                <a:cs typeface="Calibri" pitchFamily="34" charset="-120"/>
              </a:rPr>
              <a:t>The first 90 days</a:t>
            </a:r>
            <a:endParaRPr lang="en-US" sz="1600" dirty="0"/>
          </a:p>
        </p:txBody>
      </p:sp>
      <p:sp>
        <p:nvSpPr>
          <p:cNvPr id="11" name="Shape 8"/>
          <p:cNvSpPr/>
          <p:nvPr/>
        </p:nvSpPr>
        <p:spPr>
          <a:xfrm>
            <a:off x="5550408" y="2084832"/>
            <a:ext cx="457200" cy="457200"/>
          </a:xfrm>
          <a:prstGeom prst="ellipse">
            <a:avLst/>
          </a:prstGeom>
          <a:solidFill>
            <a:srgbClr val="12355B"/>
          </a:solidFill>
          <a:ln w="19050">
            <a:solidFill>
              <a:srgbClr val="12B5CB"/>
            </a:solidFill>
            <a:prstDash val="solid"/>
          </a:ln>
        </p:spPr>
      </p:sp>
      <p:sp>
        <p:nvSpPr>
          <p:cNvPr id="12" name="Text 9"/>
          <p:cNvSpPr/>
          <p:nvPr/>
        </p:nvSpPr>
        <p:spPr>
          <a:xfrm>
            <a:off x="5550408" y="2084832"/>
            <a:ext cx="457200" cy="457200"/>
          </a:xfrm>
          <a:prstGeom prst="rect">
            <a:avLst/>
          </a:prstGeom>
          <a:noFill/>
          <a:ln/>
        </p:spPr>
        <p:txBody>
          <a:bodyPr wrap="square" lIns="0" tIns="0" rIns="0" bIns="0" rtlCol="0" anchor="ctr"/>
          <a:lstStyle/>
          <a:p>
            <a:pPr algn="ctr" indent="0" marL="0">
              <a:buNone/>
            </a:pPr>
            <a:r>
              <a:rPr lang="en-US" sz="1700" b="1" dirty="0">
                <a:solidFill>
                  <a:srgbClr val="12B5CB"/>
                </a:solidFill>
                <a:latin typeface="Calibri" pitchFamily="34" charset="0"/>
                <a:ea typeface="Calibri" pitchFamily="34" charset="-122"/>
                <a:cs typeface="Calibri" pitchFamily="34" charset="-120"/>
              </a:rPr>
              <a:t>1</a:t>
            </a:r>
            <a:endParaRPr lang="en-US" sz="1700" dirty="0"/>
          </a:p>
        </p:txBody>
      </p:sp>
      <p:sp>
        <p:nvSpPr>
          <p:cNvPr id="13" name="Text 10"/>
          <p:cNvSpPr/>
          <p:nvPr/>
        </p:nvSpPr>
        <p:spPr>
          <a:xfrm>
            <a:off x="6208776" y="2048256"/>
            <a:ext cx="5415991" cy="749808"/>
          </a:xfrm>
          <a:prstGeom prst="rect">
            <a:avLst/>
          </a:prstGeom>
          <a:noFill/>
          <a:ln/>
        </p:spPr>
        <p:txBody>
          <a:bodyPr wrap="square" lIns="0" tIns="0" rIns="0" bIns="0" rtlCol="0" anchor="ctr"/>
          <a:lstStyle/>
          <a:p>
            <a:pPr indent="0" marL="0">
              <a:lnSpc>
                <a:spcPct val="104000"/>
              </a:lnSpc>
              <a:buNone/>
            </a:pPr>
            <a:r>
              <a:rPr lang="en-US" sz="1250" dirty="0">
                <a:solidFill>
                  <a:srgbClr val="DCE7F4"/>
                </a:solidFill>
                <a:latin typeface="Calibri" pitchFamily="34" charset="0"/>
                <a:ea typeface="Calibri" pitchFamily="34" charset="-122"/>
                <a:cs typeface="Calibri" pitchFamily="34" charset="-120"/>
              </a:rPr>
              <a:t>Stand up a lightweight Corp Dev cadence reporting to the Founders and CFO.</a:t>
            </a:r>
            <a:endParaRPr lang="en-US" sz="1250" dirty="0"/>
          </a:p>
        </p:txBody>
      </p:sp>
      <p:sp>
        <p:nvSpPr>
          <p:cNvPr id="14" name="Shape 11"/>
          <p:cNvSpPr/>
          <p:nvPr/>
        </p:nvSpPr>
        <p:spPr>
          <a:xfrm>
            <a:off x="5779008" y="2560320"/>
            <a:ext cx="0" cy="292608"/>
          </a:xfrm>
          <a:prstGeom prst="line">
            <a:avLst/>
          </a:prstGeom>
          <a:noFill/>
          <a:ln w="19050">
            <a:solidFill>
              <a:srgbClr val="1E4571"/>
            </a:solidFill>
            <a:prstDash val="solid"/>
          </a:ln>
        </p:spPr>
      </p:sp>
      <p:sp>
        <p:nvSpPr>
          <p:cNvPr id="15" name="Shape 12"/>
          <p:cNvSpPr/>
          <p:nvPr/>
        </p:nvSpPr>
        <p:spPr>
          <a:xfrm>
            <a:off x="5550408" y="2834640"/>
            <a:ext cx="457200" cy="457200"/>
          </a:xfrm>
          <a:prstGeom prst="ellipse">
            <a:avLst/>
          </a:prstGeom>
          <a:solidFill>
            <a:srgbClr val="12355B"/>
          </a:solidFill>
          <a:ln w="19050">
            <a:solidFill>
              <a:srgbClr val="12B5CB"/>
            </a:solidFill>
            <a:prstDash val="solid"/>
          </a:ln>
        </p:spPr>
      </p:sp>
      <p:sp>
        <p:nvSpPr>
          <p:cNvPr id="16" name="Text 13"/>
          <p:cNvSpPr/>
          <p:nvPr/>
        </p:nvSpPr>
        <p:spPr>
          <a:xfrm>
            <a:off x="5550408" y="2834640"/>
            <a:ext cx="457200" cy="457200"/>
          </a:xfrm>
          <a:prstGeom prst="rect">
            <a:avLst/>
          </a:prstGeom>
          <a:noFill/>
          <a:ln/>
        </p:spPr>
        <p:txBody>
          <a:bodyPr wrap="square" lIns="0" tIns="0" rIns="0" bIns="0" rtlCol="0" anchor="ctr"/>
          <a:lstStyle/>
          <a:p>
            <a:pPr algn="ctr" indent="0" marL="0">
              <a:buNone/>
            </a:pPr>
            <a:r>
              <a:rPr lang="en-US" sz="1700" b="1" dirty="0">
                <a:solidFill>
                  <a:srgbClr val="12B5CB"/>
                </a:solidFill>
                <a:latin typeface="Calibri" pitchFamily="34" charset="0"/>
                <a:ea typeface="Calibri" pitchFamily="34" charset="-122"/>
                <a:cs typeface="Calibri" pitchFamily="34" charset="-120"/>
              </a:rPr>
              <a:t>2</a:t>
            </a:r>
            <a:endParaRPr lang="en-US" sz="1700" dirty="0"/>
          </a:p>
        </p:txBody>
      </p:sp>
      <p:sp>
        <p:nvSpPr>
          <p:cNvPr id="17" name="Text 14"/>
          <p:cNvSpPr/>
          <p:nvPr/>
        </p:nvSpPr>
        <p:spPr>
          <a:xfrm>
            <a:off x="6208776" y="2798064"/>
            <a:ext cx="5415991" cy="749808"/>
          </a:xfrm>
          <a:prstGeom prst="rect">
            <a:avLst/>
          </a:prstGeom>
          <a:noFill/>
          <a:ln/>
        </p:spPr>
        <p:txBody>
          <a:bodyPr wrap="square" lIns="0" tIns="0" rIns="0" bIns="0" rtlCol="0" anchor="ctr"/>
          <a:lstStyle/>
          <a:p>
            <a:pPr indent="0" marL="0">
              <a:lnSpc>
                <a:spcPct val="104000"/>
              </a:lnSpc>
              <a:buNone/>
            </a:pPr>
            <a:r>
              <a:rPr lang="en-US" sz="1250" dirty="0">
                <a:solidFill>
                  <a:srgbClr val="DCE7F4"/>
                </a:solidFill>
                <a:latin typeface="Calibri" pitchFamily="34" charset="0"/>
                <a:ea typeface="Calibri" pitchFamily="34" charset="-122"/>
                <a:cs typeface="Calibri" pitchFamily="34" charset="-120"/>
              </a:rPr>
              <a:t>Agree the strategic filter and guardrails with the Board.</a:t>
            </a:r>
            <a:endParaRPr lang="en-US" sz="1250" dirty="0"/>
          </a:p>
        </p:txBody>
      </p:sp>
      <p:sp>
        <p:nvSpPr>
          <p:cNvPr id="18" name="Shape 15"/>
          <p:cNvSpPr/>
          <p:nvPr/>
        </p:nvSpPr>
        <p:spPr>
          <a:xfrm>
            <a:off x="5779008" y="3310128"/>
            <a:ext cx="0" cy="292608"/>
          </a:xfrm>
          <a:prstGeom prst="line">
            <a:avLst/>
          </a:prstGeom>
          <a:noFill/>
          <a:ln w="19050">
            <a:solidFill>
              <a:srgbClr val="1E4571"/>
            </a:solidFill>
            <a:prstDash val="solid"/>
          </a:ln>
        </p:spPr>
      </p:sp>
      <p:sp>
        <p:nvSpPr>
          <p:cNvPr id="19" name="Shape 16"/>
          <p:cNvSpPr/>
          <p:nvPr/>
        </p:nvSpPr>
        <p:spPr>
          <a:xfrm>
            <a:off x="5550408" y="3584448"/>
            <a:ext cx="457200" cy="457200"/>
          </a:xfrm>
          <a:prstGeom prst="ellipse">
            <a:avLst/>
          </a:prstGeom>
          <a:solidFill>
            <a:srgbClr val="12355B"/>
          </a:solidFill>
          <a:ln w="19050">
            <a:solidFill>
              <a:srgbClr val="12B5CB"/>
            </a:solidFill>
            <a:prstDash val="solid"/>
          </a:ln>
        </p:spPr>
      </p:sp>
      <p:sp>
        <p:nvSpPr>
          <p:cNvPr id="20" name="Text 17"/>
          <p:cNvSpPr/>
          <p:nvPr/>
        </p:nvSpPr>
        <p:spPr>
          <a:xfrm>
            <a:off x="5550408" y="3584448"/>
            <a:ext cx="457200" cy="457200"/>
          </a:xfrm>
          <a:prstGeom prst="rect">
            <a:avLst/>
          </a:prstGeom>
          <a:noFill/>
          <a:ln/>
        </p:spPr>
        <p:txBody>
          <a:bodyPr wrap="square" lIns="0" tIns="0" rIns="0" bIns="0" rtlCol="0" anchor="ctr"/>
          <a:lstStyle/>
          <a:p>
            <a:pPr algn="ctr" indent="0" marL="0">
              <a:buNone/>
            </a:pPr>
            <a:r>
              <a:rPr lang="en-US" sz="1700" b="1" dirty="0">
                <a:solidFill>
                  <a:srgbClr val="12B5CB"/>
                </a:solidFill>
                <a:latin typeface="Calibri" pitchFamily="34" charset="0"/>
                <a:ea typeface="Calibri" pitchFamily="34" charset="-122"/>
                <a:cs typeface="Calibri" pitchFamily="34" charset="-120"/>
              </a:rPr>
              <a:t>3</a:t>
            </a:r>
            <a:endParaRPr lang="en-US" sz="1700" dirty="0"/>
          </a:p>
        </p:txBody>
      </p:sp>
      <p:sp>
        <p:nvSpPr>
          <p:cNvPr id="21" name="Text 18"/>
          <p:cNvSpPr/>
          <p:nvPr/>
        </p:nvSpPr>
        <p:spPr>
          <a:xfrm>
            <a:off x="6208776" y="3547872"/>
            <a:ext cx="5415991" cy="749808"/>
          </a:xfrm>
          <a:prstGeom prst="rect">
            <a:avLst/>
          </a:prstGeom>
          <a:noFill/>
          <a:ln/>
        </p:spPr>
        <p:txBody>
          <a:bodyPr wrap="square" lIns="0" tIns="0" rIns="0" bIns="0" rtlCol="0" anchor="ctr"/>
          <a:lstStyle/>
          <a:p>
            <a:pPr indent="0" marL="0">
              <a:lnSpc>
                <a:spcPct val="104000"/>
              </a:lnSpc>
              <a:buNone/>
            </a:pPr>
            <a:r>
              <a:rPr lang="en-US" sz="1250" dirty="0">
                <a:solidFill>
                  <a:srgbClr val="DCE7F4"/>
                </a:solidFill>
                <a:latin typeface="Calibri" pitchFamily="34" charset="0"/>
                <a:ea typeface="Calibri" pitchFamily="34" charset="-122"/>
                <a:cs typeface="Calibri" pitchFamily="34" charset="-120"/>
              </a:rPr>
              <a:t>Build and rank a live target pipeline across the three priority themes.</a:t>
            </a:r>
            <a:endParaRPr lang="en-US" sz="1250" dirty="0"/>
          </a:p>
        </p:txBody>
      </p:sp>
      <p:sp>
        <p:nvSpPr>
          <p:cNvPr id="22" name="Shape 19"/>
          <p:cNvSpPr/>
          <p:nvPr/>
        </p:nvSpPr>
        <p:spPr>
          <a:xfrm>
            <a:off x="5779008" y="4059936"/>
            <a:ext cx="0" cy="292608"/>
          </a:xfrm>
          <a:prstGeom prst="line">
            <a:avLst/>
          </a:prstGeom>
          <a:noFill/>
          <a:ln w="19050">
            <a:solidFill>
              <a:srgbClr val="1E4571"/>
            </a:solidFill>
            <a:prstDash val="solid"/>
          </a:ln>
        </p:spPr>
      </p:sp>
      <p:sp>
        <p:nvSpPr>
          <p:cNvPr id="23" name="Shape 20"/>
          <p:cNvSpPr/>
          <p:nvPr/>
        </p:nvSpPr>
        <p:spPr>
          <a:xfrm>
            <a:off x="5550408" y="4334256"/>
            <a:ext cx="457200" cy="457200"/>
          </a:xfrm>
          <a:prstGeom prst="ellipse">
            <a:avLst/>
          </a:prstGeom>
          <a:solidFill>
            <a:srgbClr val="12355B"/>
          </a:solidFill>
          <a:ln w="19050">
            <a:solidFill>
              <a:srgbClr val="12B5CB"/>
            </a:solidFill>
            <a:prstDash val="solid"/>
          </a:ln>
        </p:spPr>
      </p:sp>
      <p:sp>
        <p:nvSpPr>
          <p:cNvPr id="24" name="Text 21"/>
          <p:cNvSpPr/>
          <p:nvPr/>
        </p:nvSpPr>
        <p:spPr>
          <a:xfrm>
            <a:off x="5550408" y="4334256"/>
            <a:ext cx="457200" cy="457200"/>
          </a:xfrm>
          <a:prstGeom prst="rect">
            <a:avLst/>
          </a:prstGeom>
          <a:noFill/>
          <a:ln/>
        </p:spPr>
        <p:txBody>
          <a:bodyPr wrap="square" lIns="0" tIns="0" rIns="0" bIns="0" rtlCol="0" anchor="ctr"/>
          <a:lstStyle/>
          <a:p>
            <a:pPr algn="ctr" indent="0" marL="0">
              <a:buNone/>
            </a:pPr>
            <a:r>
              <a:rPr lang="en-US" sz="1700" b="1" dirty="0">
                <a:solidFill>
                  <a:srgbClr val="12B5CB"/>
                </a:solidFill>
                <a:latin typeface="Calibri" pitchFamily="34" charset="0"/>
                <a:ea typeface="Calibri" pitchFamily="34" charset="-122"/>
                <a:cs typeface="Calibri" pitchFamily="34" charset="-120"/>
              </a:rPr>
              <a:t>4</a:t>
            </a:r>
            <a:endParaRPr lang="en-US" sz="1700" dirty="0"/>
          </a:p>
        </p:txBody>
      </p:sp>
      <p:sp>
        <p:nvSpPr>
          <p:cNvPr id="25" name="Text 22"/>
          <p:cNvSpPr/>
          <p:nvPr/>
        </p:nvSpPr>
        <p:spPr>
          <a:xfrm>
            <a:off x="6208776" y="4297680"/>
            <a:ext cx="5415991" cy="749808"/>
          </a:xfrm>
          <a:prstGeom prst="rect">
            <a:avLst/>
          </a:prstGeom>
          <a:noFill/>
          <a:ln/>
        </p:spPr>
        <p:txBody>
          <a:bodyPr wrap="square" lIns="0" tIns="0" rIns="0" bIns="0" rtlCol="0" anchor="ctr"/>
          <a:lstStyle/>
          <a:p>
            <a:pPr indent="0" marL="0">
              <a:lnSpc>
                <a:spcPct val="104000"/>
              </a:lnSpc>
              <a:buNone/>
            </a:pPr>
            <a:r>
              <a:rPr lang="en-US" sz="1250" dirty="0">
                <a:solidFill>
                  <a:srgbClr val="DCE7F4"/>
                </a:solidFill>
                <a:latin typeface="Calibri" pitchFamily="34" charset="0"/>
                <a:ea typeface="Calibri" pitchFamily="34" charset="-122"/>
                <a:cs typeface="Calibri" pitchFamily="34" charset="-120"/>
              </a:rPr>
              <a:t>Open outreach and early diligence on two to three Priority 1 and 2 targets.</a:t>
            </a:r>
            <a:endParaRPr lang="en-US" sz="1250" dirty="0"/>
          </a:p>
        </p:txBody>
      </p:sp>
      <p:sp>
        <p:nvSpPr>
          <p:cNvPr id="26" name="Shape 23"/>
          <p:cNvSpPr/>
          <p:nvPr/>
        </p:nvSpPr>
        <p:spPr>
          <a:xfrm>
            <a:off x="5779008" y="4809744"/>
            <a:ext cx="0" cy="292608"/>
          </a:xfrm>
          <a:prstGeom prst="line">
            <a:avLst/>
          </a:prstGeom>
          <a:noFill/>
          <a:ln w="19050">
            <a:solidFill>
              <a:srgbClr val="1E4571"/>
            </a:solidFill>
            <a:prstDash val="solid"/>
          </a:ln>
        </p:spPr>
      </p:sp>
      <p:sp>
        <p:nvSpPr>
          <p:cNvPr id="27" name="Shape 24"/>
          <p:cNvSpPr/>
          <p:nvPr/>
        </p:nvSpPr>
        <p:spPr>
          <a:xfrm>
            <a:off x="5550408" y="5084064"/>
            <a:ext cx="457200" cy="457200"/>
          </a:xfrm>
          <a:prstGeom prst="ellipse">
            <a:avLst/>
          </a:prstGeom>
          <a:solidFill>
            <a:srgbClr val="12355B"/>
          </a:solidFill>
          <a:ln w="19050">
            <a:solidFill>
              <a:srgbClr val="12B5CB"/>
            </a:solidFill>
            <a:prstDash val="solid"/>
          </a:ln>
        </p:spPr>
      </p:sp>
      <p:sp>
        <p:nvSpPr>
          <p:cNvPr id="28" name="Text 25"/>
          <p:cNvSpPr/>
          <p:nvPr/>
        </p:nvSpPr>
        <p:spPr>
          <a:xfrm>
            <a:off x="5550408" y="5084064"/>
            <a:ext cx="457200" cy="457200"/>
          </a:xfrm>
          <a:prstGeom prst="rect">
            <a:avLst/>
          </a:prstGeom>
          <a:noFill/>
          <a:ln/>
        </p:spPr>
        <p:txBody>
          <a:bodyPr wrap="square" lIns="0" tIns="0" rIns="0" bIns="0" rtlCol="0" anchor="ctr"/>
          <a:lstStyle/>
          <a:p>
            <a:pPr algn="ctr" indent="0" marL="0">
              <a:buNone/>
            </a:pPr>
            <a:r>
              <a:rPr lang="en-US" sz="1700" b="1" dirty="0">
                <a:solidFill>
                  <a:srgbClr val="12B5CB"/>
                </a:solidFill>
                <a:latin typeface="Calibri" pitchFamily="34" charset="0"/>
                <a:ea typeface="Calibri" pitchFamily="34" charset="-122"/>
                <a:cs typeface="Calibri" pitchFamily="34" charset="-120"/>
              </a:rPr>
              <a:t>5</a:t>
            </a:r>
            <a:endParaRPr lang="en-US" sz="1700" dirty="0"/>
          </a:p>
        </p:txBody>
      </p:sp>
      <p:sp>
        <p:nvSpPr>
          <p:cNvPr id="29" name="Text 26"/>
          <p:cNvSpPr/>
          <p:nvPr/>
        </p:nvSpPr>
        <p:spPr>
          <a:xfrm>
            <a:off x="6208776" y="5047488"/>
            <a:ext cx="5415991" cy="749808"/>
          </a:xfrm>
          <a:prstGeom prst="rect">
            <a:avLst/>
          </a:prstGeom>
          <a:noFill/>
          <a:ln/>
        </p:spPr>
        <p:txBody>
          <a:bodyPr wrap="square" lIns="0" tIns="0" rIns="0" bIns="0" rtlCol="0" anchor="ctr"/>
          <a:lstStyle/>
          <a:p>
            <a:pPr indent="0" marL="0">
              <a:lnSpc>
                <a:spcPct val="104000"/>
              </a:lnSpc>
              <a:buNone/>
            </a:pPr>
            <a:r>
              <a:rPr lang="en-US" sz="1250" dirty="0">
                <a:solidFill>
                  <a:srgbClr val="DCE7F4"/>
                </a:solidFill>
                <a:latin typeface="Calibri" pitchFamily="34" charset="0"/>
                <a:ea typeface="Calibri" pitchFamily="34" charset="-122"/>
                <a:cs typeface="Calibri" pitchFamily="34" charset="-120"/>
              </a:rPr>
              <a:t>Bring a go or no-go shortlist to the next Board review.</a:t>
            </a:r>
            <a:endParaRPr lang="en-US" sz="1250" dirty="0"/>
          </a:p>
        </p:txBody>
      </p:sp>
      <p:sp>
        <p:nvSpPr>
          <p:cNvPr id="30" name="Text 27"/>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8AA0B8"/>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31" name="Text 28"/>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8AA0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74320"/>
          </a:xfrm>
          <a:prstGeom prst="rect">
            <a:avLst/>
          </a:prstGeom>
          <a:noFill/>
          <a:ln/>
        </p:spPr>
        <p:txBody>
          <a:bodyPr wrap="square" lIns="0" tIns="0" rIns="0" bIns="0" rtlCol="0" anchor="ctr"/>
          <a:lstStyle/>
          <a:p>
            <a:pPr algn="l" indent="0" marL="0">
              <a:buNone/>
            </a:pPr>
            <a:r>
              <a:rPr lang="en-US" sz="1150" b="1" spc="250" kern="0" dirty="0">
                <a:solidFill>
                  <a:srgbClr val="0E8F9C"/>
                </a:solidFill>
                <a:latin typeface="Calibri" pitchFamily="34" charset="0"/>
                <a:ea typeface="Calibri" pitchFamily="34" charset="-122"/>
                <a:cs typeface="Calibri" pitchFamily="34" charset="-120"/>
              </a:rPr>
              <a:t>APPENDIX</a:t>
            </a:r>
            <a:endParaRPr lang="en-US" sz="1150" dirty="0"/>
          </a:p>
        </p:txBody>
      </p:sp>
      <p:sp>
        <p:nvSpPr>
          <p:cNvPr id="3" name="Text 1"/>
          <p:cNvSpPr/>
          <p:nvPr/>
        </p:nvSpPr>
        <p:spPr>
          <a:xfrm>
            <a:off x="566928" y="621792"/>
            <a:ext cx="11057839" cy="658368"/>
          </a:xfrm>
          <a:prstGeom prst="rect">
            <a:avLst/>
          </a:prstGeom>
          <a:noFill/>
          <a:ln/>
        </p:spPr>
        <p:txBody>
          <a:bodyPr wrap="square" lIns="0" tIns="0" rIns="0" bIns="0" rtlCol="0" anchor="t"/>
          <a:lstStyle/>
          <a:p>
            <a:pPr algn="l" indent="0" marL="0">
              <a:lnSpc>
                <a:spcPct val="98000"/>
              </a:lnSpc>
              <a:buNone/>
            </a:pPr>
            <a:r>
              <a:rPr lang="en-US" sz="2700" b="1" dirty="0">
                <a:solidFill>
                  <a:srgbClr val="12355B"/>
                </a:solidFill>
                <a:latin typeface="Calibri" pitchFamily="34" charset="0"/>
                <a:ea typeface="Calibri" pitchFamily="34" charset="-122"/>
                <a:cs typeface="Calibri" pitchFamily="34" charset="-120"/>
              </a:rPr>
              <a:t>Approach, assumptions and sources</a:t>
            </a:r>
            <a:endParaRPr lang="en-US" sz="2700" dirty="0"/>
          </a:p>
        </p:txBody>
      </p:sp>
      <p:sp>
        <p:nvSpPr>
          <p:cNvPr id="4" name="Shape 2"/>
          <p:cNvSpPr/>
          <p:nvPr/>
        </p:nvSpPr>
        <p:spPr>
          <a:xfrm>
            <a:off x="566928" y="1481328"/>
            <a:ext cx="11057839" cy="2286000"/>
          </a:xfrm>
          <a:prstGeom prst="roundRect">
            <a:avLst>
              <a:gd name="adj" fmla="val 2800"/>
            </a:avLst>
          </a:prstGeom>
          <a:solidFill>
            <a:srgbClr val="F4F8FC"/>
          </a:solidFill>
          <a:ln w="12700">
            <a:solidFill>
              <a:srgbClr val="D8E2EE"/>
            </a:solidFill>
            <a:prstDash val="solid"/>
          </a:ln>
        </p:spPr>
      </p:sp>
      <p:sp>
        <p:nvSpPr>
          <p:cNvPr id="5" name="Text 3"/>
          <p:cNvSpPr/>
          <p:nvPr/>
        </p:nvSpPr>
        <p:spPr>
          <a:xfrm>
            <a:off x="877824" y="1700784"/>
            <a:ext cx="10436047" cy="1828800"/>
          </a:xfrm>
          <a:prstGeom prst="rect">
            <a:avLst/>
          </a:prstGeom>
          <a:noFill/>
          <a:ln/>
        </p:spPr>
        <p:txBody>
          <a:bodyPr wrap="square" lIns="0" tIns="0" rIns="0" bIns="0" rtlCol="0" anchor="t"/>
          <a:lstStyle/>
          <a:p>
            <a:pPr marL="203200" indent="-203200">
              <a:lnSpc>
                <a:spcPct val="104000"/>
              </a:lnSpc>
              <a:spcAft>
                <a:spcPts val="1100"/>
              </a:spcAft>
              <a:buSzPct val="100000"/>
              <a:buChar char="•"/>
            </a:pPr>
            <a:r>
              <a:rPr lang="en-US" sz="1200" dirty="0">
                <a:solidFill>
                  <a:srgbClr val="3C4E62"/>
                </a:solidFill>
                <a:latin typeface="Calibri" pitchFamily="34" charset="0"/>
                <a:ea typeface="Calibri" pitchFamily="34" charset="-122"/>
                <a:cs typeface="Calibri" pitchFamily="34" charset="-120"/>
              </a:rPr>
              <a:t>Independent work sample built using only public information: MobiKwik earnings releases and exchange filings (FY26 and quarterly results), investor commentary, and reputable press and analyst sources.</a:t>
            </a:r>
            <a:endParaRPr lang="en-US" sz="1200" dirty="0"/>
          </a:p>
          <a:p>
            <a:pPr marL="203200" indent="-203200">
              <a:lnSpc>
                <a:spcPct val="104000"/>
              </a:lnSpc>
              <a:spcAft>
                <a:spcPts val="1100"/>
              </a:spcAft>
              <a:buSzPct val="100000"/>
              <a:buChar char="•"/>
            </a:pPr>
            <a:r>
              <a:rPr lang="en-US" sz="1200" dirty="0">
                <a:solidFill>
                  <a:srgbClr val="3C4E62"/>
                </a:solidFill>
                <a:latin typeface="Calibri" pitchFamily="34" charset="0"/>
                <a:ea typeface="Calibri" pitchFamily="34" charset="-122"/>
                <a:cs typeface="Calibri" pitchFamily="34" charset="-120"/>
              </a:rPr>
              <a:t>Companies named or referenced (for example, Blostem and Riskcovry) are illustrative candidates assessed only from public information. They are not offers, recommendations to transact, or claims of any non-public knowledge.</a:t>
            </a:r>
            <a:endParaRPr lang="en-US" sz="1200" dirty="0"/>
          </a:p>
          <a:p>
            <a:pPr marL="203200" indent="-203200">
              <a:lnSpc>
                <a:spcPct val="104000"/>
              </a:lnSpc>
              <a:spcAft>
                <a:spcPts val="1100"/>
              </a:spcAft>
              <a:buSzPct val="100000"/>
              <a:buChar char="•"/>
            </a:pPr>
            <a:r>
              <a:rPr lang="en-US" sz="1200" dirty="0">
                <a:solidFill>
                  <a:srgbClr val="3C4E62"/>
                </a:solidFill>
                <a:latin typeface="Calibri" pitchFamily="34" charset="0"/>
                <a:ea typeface="Calibri" pitchFamily="34" charset="-122"/>
                <a:cs typeface="Calibri" pitchFamily="34" charset="-120"/>
              </a:rPr>
              <a:t>Financial figures (revenue multiples, ticket sizes, funding mix and synergy logic) are illustrative and for framework purposes only.</a:t>
            </a:r>
            <a:endParaRPr lang="en-US" sz="1200" dirty="0"/>
          </a:p>
          <a:p>
            <a:pPr marL="203200" indent="-203200">
              <a:lnSpc>
                <a:spcPct val="104000"/>
              </a:lnSpc>
              <a:spcAft>
                <a:spcPts val="1100"/>
              </a:spcAft>
              <a:buSzPct val="100000"/>
              <a:buChar char="•"/>
            </a:pPr>
            <a:r>
              <a:rPr lang="en-US" sz="1200" dirty="0">
                <a:solidFill>
                  <a:srgbClr val="3C4E62"/>
                </a:solidFill>
                <a:latin typeface="Calibri" pitchFamily="34" charset="0"/>
                <a:ea typeface="Calibri" pitchFamily="34" charset="-122"/>
                <a:cs typeface="Calibri" pitchFamily="34" charset="-120"/>
              </a:rPr>
              <a:t>Competitive device estimates (Paytm, PhonePe, BharatPe) are drawn from public industry reporting and are approximate.</a:t>
            </a:r>
            <a:endParaRPr lang="en-US" sz="1200" dirty="0"/>
          </a:p>
        </p:txBody>
      </p:sp>
      <p:sp>
        <p:nvSpPr>
          <p:cNvPr id="6" name="Text 4"/>
          <p:cNvSpPr/>
          <p:nvPr/>
        </p:nvSpPr>
        <p:spPr>
          <a:xfrm>
            <a:off x="566928" y="4041648"/>
            <a:ext cx="8229600" cy="274320"/>
          </a:xfrm>
          <a:prstGeom prst="rect">
            <a:avLst/>
          </a:prstGeom>
          <a:noFill/>
          <a:ln/>
        </p:spPr>
        <p:txBody>
          <a:bodyPr wrap="square" lIns="0" tIns="0" rIns="0" bIns="0" rtlCol="0" anchor="ctr"/>
          <a:lstStyle/>
          <a:p>
            <a:pPr indent="0" marL="0">
              <a:buNone/>
            </a:pPr>
            <a:r>
              <a:rPr lang="en-US" sz="1400" b="1" dirty="0">
                <a:solidFill>
                  <a:srgbClr val="12355B"/>
                </a:solidFill>
                <a:latin typeface="Calibri" pitchFamily="34" charset="0"/>
                <a:ea typeface="Calibri" pitchFamily="34" charset="-122"/>
                <a:cs typeface="Calibri" pitchFamily="34" charset="-120"/>
              </a:rPr>
              <a:t>Key public data points used</a:t>
            </a:r>
            <a:endParaRPr lang="en-US" sz="1400" dirty="0"/>
          </a:p>
        </p:txBody>
      </p:sp>
      <p:sp>
        <p:nvSpPr>
          <p:cNvPr id="7" name="Shape 5"/>
          <p:cNvSpPr/>
          <p:nvPr/>
        </p:nvSpPr>
        <p:spPr>
          <a:xfrm>
            <a:off x="566928" y="4425696"/>
            <a:ext cx="3515258" cy="713232"/>
          </a:xfrm>
          <a:prstGeom prst="roundRect">
            <a:avLst>
              <a:gd name="adj" fmla="val 7692"/>
            </a:avLst>
          </a:prstGeom>
          <a:solidFill>
            <a:srgbClr val="EAF1FA"/>
          </a:solidFill>
          <a:ln/>
        </p:spPr>
      </p:sp>
      <p:sp>
        <p:nvSpPr>
          <p:cNvPr id="8" name="Text 6"/>
          <p:cNvSpPr/>
          <p:nvPr/>
        </p:nvSpPr>
        <p:spPr>
          <a:xfrm>
            <a:off x="749808" y="4517136"/>
            <a:ext cx="3149498" cy="237744"/>
          </a:xfrm>
          <a:prstGeom prst="rect">
            <a:avLst/>
          </a:prstGeom>
          <a:noFill/>
          <a:ln/>
        </p:spPr>
        <p:txBody>
          <a:bodyPr wrap="square" lIns="0" tIns="0" rIns="0" bIns="0" rtlCol="0" anchor="ctr"/>
          <a:lstStyle/>
          <a:p>
            <a:pPr indent="0" marL="0">
              <a:buNone/>
            </a:pPr>
            <a:r>
              <a:rPr lang="en-US" sz="1150" b="1" dirty="0">
                <a:solidFill>
                  <a:srgbClr val="12355B"/>
                </a:solidFill>
                <a:latin typeface="Calibri" pitchFamily="34" charset="0"/>
                <a:ea typeface="Calibri" pitchFamily="34" charset="-122"/>
                <a:cs typeface="Calibri" pitchFamily="34" charset="-120"/>
              </a:rPr>
              <a:t>FY26 revenue</a:t>
            </a:r>
            <a:endParaRPr lang="en-US" sz="1150" dirty="0"/>
          </a:p>
        </p:txBody>
      </p:sp>
      <p:sp>
        <p:nvSpPr>
          <p:cNvPr id="9" name="Text 7"/>
          <p:cNvSpPr/>
          <p:nvPr/>
        </p:nvSpPr>
        <p:spPr>
          <a:xfrm>
            <a:off x="749808" y="4736592"/>
            <a:ext cx="3149498" cy="365760"/>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~Rs 1,119 Cr (consolidated, from operations)</a:t>
            </a:r>
            <a:endParaRPr lang="en-US" sz="950" dirty="0"/>
          </a:p>
        </p:txBody>
      </p:sp>
      <p:sp>
        <p:nvSpPr>
          <p:cNvPr id="10" name="Shape 8"/>
          <p:cNvSpPr/>
          <p:nvPr/>
        </p:nvSpPr>
        <p:spPr>
          <a:xfrm>
            <a:off x="4338218" y="4425696"/>
            <a:ext cx="3515258" cy="713232"/>
          </a:xfrm>
          <a:prstGeom prst="roundRect">
            <a:avLst>
              <a:gd name="adj" fmla="val 7692"/>
            </a:avLst>
          </a:prstGeom>
          <a:solidFill>
            <a:srgbClr val="EAF1FA"/>
          </a:solidFill>
          <a:ln/>
        </p:spPr>
      </p:sp>
      <p:sp>
        <p:nvSpPr>
          <p:cNvPr id="11" name="Text 9"/>
          <p:cNvSpPr/>
          <p:nvPr/>
        </p:nvSpPr>
        <p:spPr>
          <a:xfrm>
            <a:off x="4521098" y="4517136"/>
            <a:ext cx="3149498" cy="237744"/>
          </a:xfrm>
          <a:prstGeom prst="rect">
            <a:avLst/>
          </a:prstGeom>
          <a:noFill/>
          <a:ln/>
        </p:spPr>
        <p:txBody>
          <a:bodyPr wrap="square" lIns="0" tIns="0" rIns="0" bIns="0" rtlCol="0" anchor="ctr"/>
          <a:lstStyle/>
          <a:p>
            <a:pPr indent="0" marL="0">
              <a:buNone/>
            </a:pPr>
            <a:r>
              <a:rPr lang="en-US" sz="1150" b="1" dirty="0">
                <a:solidFill>
                  <a:srgbClr val="12355B"/>
                </a:solidFill>
                <a:latin typeface="Calibri" pitchFamily="34" charset="0"/>
                <a:ea typeface="Calibri" pitchFamily="34" charset="-122"/>
                <a:cs typeface="Calibri" pitchFamily="34" charset="-120"/>
              </a:rPr>
              <a:t>FY26 net loss</a:t>
            </a:r>
            <a:endParaRPr lang="en-US" sz="1150" dirty="0"/>
          </a:p>
        </p:txBody>
      </p:sp>
      <p:sp>
        <p:nvSpPr>
          <p:cNvPr id="12" name="Text 10"/>
          <p:cNvSpPr/>
          <p:nvPr/>
        </p:nvSpPr>
        <p:spPr>
          <a:xfrm>
            <a:off x="4521098" y="4736592"/>
            <a:ext cx="3149498" cy="365760"/>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narrowed to ~Rs 62 Cr; EBITDA near breakeven</a:t>
            </a:r>
            <a:endParaRPr lang="en-US" sz="950" dirty="0"/>
          </a:p>
        </p:txBody>
      </p:sp>
      <p:sp>
        <p:nvSpPr>
          <p:cNvPr id="13" name="Shape 11"/>
          <p:cNvSpPr/>
          <p:nvPr/>
        </p:nvSpPr>
        <p:spPr>
          <a:xfrm>
            <a:off x="8109509" y="4425696"/>
            <a:ext cx="3515258" cy="713232"/>
          </a:xfrm>
          <a:prstGeom prst="roundRect">
            <a:avLst>
              <a:gd name="adj" fmla="val 7692"/>
            </a:avLst>
          </a:prstGeom>
          <a:solidFill>
            <a:srgbClr val="EAF1FA"/>
          </a:solidFill>
          <a:ln/>
        </p:spPr>
      </p:sp>
      <p:sp>
        <p:nvSpPr>
          <p:cNvPr id="14" name="Text 12"/>
          <p:cNvSpPr/>
          <p:nvPr/>
        </p:nvSpPr>
        <p:spPr>
          <a:xfrm>
            <a:off x="8292389" y="4517136"/>
            <a:ext cx="3149498" cy="237744"/>
          </a:xfrm>
          <a:prstGeom prst="rect">
            <a:avLst/>
          </a:prstGeom>
          <a:noFill/>
          <a:ln/>
        </p:spPr>
        <p:txBody>
          <a:bodyPr wrap="square" lIns="0" tIns="0" rIns="0" bIns="0" rtlCol="0" anchor="ctr"/>
          <a:lstStyle/>
          <a:p>
            <a:pPr indent="0" marL="0">
              <a:buNone/>
            </a:pPr>
            <a:r>
              <a:rPr lang="en-US" sz="1150" b="1" dirty="0">
                <a:solidFill>
                  <a:srgbClr val="12355B"/>
                </a:solidFill>
                <a:latin typeface="Calibri" pitchFamily="34" charset="0"/>
                <a:ea typeface="Calibri" pitchFamily="34" charset="-122"/>
                <a:cs typeface="Calibri" pitchFamily="34" charset="-120"/>
              </a:rPr>
              <a:t>Profitability</a:t>
            </a:r>
            <a:endParaRPr lang="en-US" sz="1150" dirty="0"/>
          </a:p>
        </p:txBody>
      </p:sp>
      <p:sp>
        <p:nvSpPr>
          <p:cNvPr id="15" name="Text 13"/>
          <p:cNvSpPr/>
          <p:nvPr/>
        </p:nvSpPr>
        <p:spPr>
          <a:xfrm>
            <a:off x="8292389" y="4736592"/>
            <a:ext cx="3149498" cy="365760"/>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positive in H2 FY26 (Q3 and Q4)</a:t>
            </a:r>
            <a:endParaRPr lang="en-US" sz="950" dirty="0"/>
          </a:p>
        </p:txBody>
      </p:sp>
      <p:sp>
        <p:nvSpPr>
          <p:cNvPr id="16" name="Shape 14"/>
          <p:cNvSpPr/>
          <p:nvPr/>
        </p:nvSpPr>
        <p:spPr>
          <a:xfrm>
            <a:off x="566928" y="5266944"/>
            <a:ext cx="3515258" cy="713232"/>
          </a:xfrm>
          <a:prstGeom prst="roundRect">
            <a:avLst>
              <a:gd name="adj" fmla="val 7692"/>
            </a:avLst>
          </a:prstGeom>
          <a:solidFill>
            <a:srgbClr val="EAF1FA"/>
          </a:solidFill>
          <a:ln/>
        </p:spPr>
      </p:sp>
      <p:sp>
        <p:nvSpPr>
          <p:cNvPr id="17" name="Text 15"/>
          <p:cNvSpPr/>
          <p:nvPr/>
        </p:nvSpPr>
        <p:spPr>
          <a:xfrm>
            <a:off x="749808" y="5358384"/>
            <a:ext cx="3149498" cy="237744"/>
          </a:xfrm>
          <a:prstGeom prst="rect">
            <a:avLst/>
          </a:prstGeom>
          <a:noFill/>
          <a:ln/>
        </p:spPr>
        <p:txBody>
          <a:bodyPr wrap="square" lIns="0" tIns="0" rIns="0" bIns="0" rtlCol="0" anchor="ctr"/>
          <a:lstStyle/>
          <a:p>
            <a:pPr indent="0" marL="0">
              <a:buNone/>
            </a:pPr>
            <a:r>
              <a:rPr lang="en-US" sz="1150" b="1" dirty="0">
                <a:solidFill>
                  <a:srgbClr val="12355B"/>
                </a:solidFill>
                <a:latin typeface="Calibri" pitchFamily="34" charset="0"/>
                <a:ea typeface="Calibri" pitchFamily="34" charset="-122"/>
                <a:cs typeface="Calibri" pitchFamily="34" charset="-120"/>
              </a:rPr>
              <a:t>Scale</a:t>
            </a:r>
            <a:endParaRPr lang="en-US" sz="1150" dirty="0"/>
          </a:p>
        </p:txBody>
      </p:sp>
      <p:sp>
        <p:nvSpPr>
          <p:cNvPr id="18" name="Text 16"/>
          <p:cNvSpPr/>
          <p:nvPr/>
        </p:nvSpPr>
        <p:spPr>
          <a:xfrm>
            <a:off x="749808" y="5577840"/>
            <a:ext cx="3149498" cy="365760"/>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186.6M users; 4.79M merchants</a:t>
            </a:r>
            <a:endParaRPr lang="en-US" sz="950" dirty="0"/>
          </a:p>
        </p:txBody>
      </p:sp>
      <p:sp>
        <p:nvSpPr>
          <p:cNvPr id="19" name="Shape 17"/>
          <p:cNvSpPr/>
          <p:nvPr/>
        </p:nvSpPr>
        <p:spPr>
          <a:xfrm>
            <a:off x="4338218" y="5266944"/>
            <a:ext cx="3515258" cy="713232"/>
          </a:xfrm>
          <a:prstGeom prst="roundRect">
            <a:avLst>
              <a:gd name="adj" fmla="val 7692"/>
            </a:avLst>
          </a:prstGeom>
          <a:solidFill>
            <a:srgbClr val="EAF1FA"/>
          </a:solidFill>
          <a:ln/>
        </p:spPr>
      </p:sp>
      <p:sp>
        <p:nvSpPr>
          <p:cNvPr id="20" name="Text 18"/>
          <p:cNvSpPr/>
          <p:nvPr/>
        </p:nvSpPr>
        <p:spPr>
          <a:xfrm>
            <a:off x="4521098" y="5358384"/>
            <a:ext cx="3149498" cy="237744"/>
          </a:xfrm>
          <a:prstGeom prst="rect">
            <a:avLst/>
          </a:prstGeom>
          <a:noFill/>
          <a:ln/>
        </p:spPr>
        <p:txBody>
          <a:bodyPr wrap="square" lIns="0" tIns="0" rIns="0" bIns="0" rtlCol="0" anchor="ctr"/>
          <a:lstStyle/>
          <a:p>
            <a:pPr indent="0" marL="0">
              <a:buNone/>
            </a:pPr>
            <a:r>
              <a:rPr lang="en-US" sz="1150" b="1" dirty="0">
                <a:solidFill>
                  <a:srgbClr val="12355B"/>
                </a:solidFill>
                <a:latin typeface="Calibri" pitchFamily="34" charset="0"/>
                <a:ea typeface="Calibri" pitchFamily="34" charset="-122"/>
                <a:cs typeface="Calibri" pitchFamily="34" charset="-120"/>
              </a:rPr>
              <a:t>Licences</a:t>
            </a:r>
            <a:endParaRPr lang="en-US" sz="1150" dirty="0"/>
          </a:p>
        </p:txBody>
      </p:sp>
      <p:sp>
        <p:nvSpPr>
          <p:cNvPr id="21" name="Text 19"/>
          <p:cNvSpPr/>
          <p:nvPr/>
        </p:nvSpPr>
        <p:spPr>
          <a:xfrm>
            <a:off x="4521098" y="5577840"/>
            <a:ext cx="3149498" cy="365760"/>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NBFC and offline PA secured in FY26; SEBI broking held</a:t>
            </a:r>
            <a:endParaRPr lang="en-US" sz="950" dirty="0"/>
          </a:p>
        </p:txBody>
      </p:sp>
      <p:sp>
        <p:nvSpPr>
          <p:cNvPr id="22" name="Shape 20"/>
          <p:cNvSpPr/>
          <p:nvPr/>
        </p:nvSpPr>
        <p:spPr>
          <a:xfrm>
            <a:off x="8109509" y="5266944"/>
            <a:ext cx="3515258" cy="713232"/>
          </a:xfrm>
          <a:prstGeom prst="roundRect">
            <a:avLst>
              <a:gd name="adj" fmla="val 7692"/>
            </a:avLst>
          </a:prstGeom>
          <a:solidFill>
            <a:srgbClr val="EAF1FA"/>
          </a:solidFill>
          <a:ln/>
        </p:spPr>
      </p:sp>
      <p:sp>
        <p:nvSpPr>
          <p:cNvPr id="23" name="Text 21"/>
          <p:cNvSpPr/>
          <p:nvPr/>
        </p:nvSpPr>
        <p:spPr>
          <a:xfrm>
            <a:off x="8292389" y="5358384"/>
            <a:ext cx="3149498" cy="237744"/>
          </a:xfrm>
          <a:prstGeom prst="rect">
            <a:avLst/>
          </a:prstGeom>
          <a:noFill/>
          <a:ln/>
        </p:spPr>
        <p:txBody>
          <a:bodyPr wrap="square" lIns="0" tIns="0" rIns="0" bIns="0" rtlCol="0" anchor="ctr"/>
          <a:lstStyle/>
          <a:p>
            <a:pPr indent="0" marL="0">
              <a:buNone/>
            </a:pPr>
            <a:r>
              <a:rPr lang="en-US" sz="1150" b="1" dirty="0">
                <a:solidFill>
                  <a:srgbClr val="12355B"/>
                </a:solidFill>
                <a:latin typeface="Calibri" pitchFamily="34" charset="0"/>
                <a:ea typeface="Calibri" pitchFamily="34" charset="-122"/>
                <a:cs typeface="Calibri" pitchFamily="34" charset="-120"/>
              </a:rPr>
              <a:t>Listing</a:t>
            </a:r>
            <a:endParaRPr lang="en-US" sz="1150" dirty="0"/>
          </a:p>
        </p:txBody>
      </p:sp>
      <p:sp>
        <p:nvSpPr>
          <p:cNvPr id="24" name="Text 22"/>
          <p:cNvSpPr/>
          <p:nvPr/>
        </p:nvSpPr>
        <p:spPr>
          <a:xfrm>
            <a:off x="8292389" y="5577840"/>
            <a:ext cx="3149498" cy="365760"/>
          </a:xfrm>
          <a:prstGeom prst="rect">
            <a:avLst/>
          </a:prstGeom>
          <a:noFill/>
          <a:ln/>
        </p:spPr>
        <p:txBody>
          <a:bodyPr wrap="square" lIns="0" tIns="0" rIns="0" bIns="0" rtlCol="0" anchor="t"/>
          <a:lstStyle/>
          <a:p>
            <a:pPr indent="0" marL="0">
              <a:lnSpc>
                <a:spcPct val="100000"/>
              </a:lnSpc>
              <a:buNone/>
            </a:pPr>
            <a:r>
              <a:rPr lang="en-US" sz="950" dirty="0">
                <a:solidFill>
                  <a:srgbClr val="5E7184"/>
                </a:solidFill>
                <a:latin typeface="Calibri" pitchFamily="34" charset="0"/>
                <a:ea typeface="Calibri" pitchFamily="34" charset="-122"/>
                <a:cs typeface="Calibri" pitchFamily="34" charset="-120"/>
              </a:rPr>
              <a:t>NSE and BSE, December 2024</a:t>
            </a:r>
            <a:endParaRPr lang="en-US" sz="950" dirty="0"/>
          </a:p>
        </p:txBody>
      </p:sp>
      <p:sp>
        <p:nvSpPr>
          <p:cNvPr id="25" name="Text 23"/>
          <p:cNvSpPr/>
          <p:nvPr/>
        </p:nvSpPr>
        <p:spPr>
          <a:xfrm>
            <a:off x="566928" y="6473952"/>
            <a:ext cx="7315200" cy="274320"/>
          </a:xfrm>
          <a:prstGeom prst="rect">
            <a:avLst/>
          </a:prstGeom>
          <a:noFill/>
          <a:ln/>
        </p:spPr>
        <p:txBody>
          <a:bodyPr wrap="square" lIns="0" tIns="0" rIns="0" bIns="0" rtlCol="0" anchor="ctr"/>
          <a:lstStyle/>
          <a:p>
            <a:pPr algn="l" indent="0" marL="0">
              <a:buNone/>
            </a:pPr>
            <a:r>
              <a:rPr lang="en-US" sz="850" dirty="0">
                <a:solidFill>
                  <a:srgbClr val="5E7184"/>
                </a:solidFill>
                <a:latin typeface="Calibri" pitchFamily="34" charset="0"/>
                <a:ea typeface="Calibri" pitchFamily="34" charset="-122"/>
                <a:cs typeface="Calibri" pitchFamily="34" charset="-120"/>
              </a:rPr>
              <a:t>Illustrative work sample  ·  public information only</a:t>
            </a:r>
            <a:endParaRPr lang="en-US" sz="850" dirty="0"/>
          </a:p>
        </p:txBody>
      </p:sp>
      <p:sp>
        <p:nvSpPr>
          <p:cNvPr id="26" name="Text 24"/>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5E718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MobiKwik M&amp;A Strategy</dc:title>
  <dc:subject>PptxGenJS Presentation</dc:subject>
  <dc:creator>Application work sample</dc:creator>
  <cp:lastModifiedBy>Application work sample</cp:lastModifiedBy>
  <cp:revision>1</cp:revision>
  <dcterms:created xsi:type="dcterms:W3CDTF">2026-06-23T06:09:58Z</dcterms:created>
  <dcterms:modified xsi:type="dcterms:W3CDTF">2026-06-23T06:09:58Z</dcterms:modified>
</cp:coreProperties>
</file>