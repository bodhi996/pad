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3.xml" ContentType="application/vnd.openxmlformats-officedocument.drawingml.chart+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rts/chart4.xml" ContentType="application/vnd.openxmlformats-officedocument.drawingml.chart+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rts/chart5.xml" ContentType="application/vnd.openxmlformats-officedocument.drawingml.chart+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p:scale>
          <a:sx n="99" d="100"/>
          <a:sy n="99" d="100"/>
        </p:scale>
        <p:origin x="68" y="31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doughnutChart>
        <c:varyColors val="1"/>
        <c:ser>
          <c:idx val="0"/>
          <c:order val="0"/>
          <c:tx>
            <c:strRef>
              <c:f>Sheet1!$B$1</c:f>
              <c:strCache>
                <c:ptCount val="1"/>
                <c:pt idx="0">
                  <c:v>FY24 Revenue (₹ Cr)</c:v>
                </c:pt>
              </c:strCache>
            </c:strRef>
          </c:tx>
          <c:spPr>
            <a:solidFill>
              <a:schemeClr val="accent1"/>
            </a:solidFill>
            <a:ln w="9525" cap="flat">
              <a:solidFill>
                <a:srgbClr val="F9F9F9"/>
              </a:solidFill>
              <a:prstDash val="solid"/>
              <a:round/>
            </a:ln>
            <a:effectLst/>
          </c:spPr>
          <c:dPt>
            <c:idx val="0"/>
            <c:bubble3D val="0"/>
            <c:spPr>
              <a:solidFill>
                <a:srgbClr val="16A34A"/>
              </a:solidFill>
              <a:effectLst/>
            </c:spPr>
            <c:extLst>
              <c:ext xmlns:c16="http://schemas.microsoft.com/office/drawing/2014/chart" uri="{C3380CC4-5D6E-409C-BE32-E72D297353CC}">
                <c16:uniqueId val="{00000001-0F1F-4FF4-8973-7CC7F6243CC6}"/>
              </c:ext>
            </c:extLst>
          </c:dPt>
          <c:dPt>
            <c:idx val="1"/>
            <c:bubble3D val="0"/>
            <c:spPr>
              <a:solidFill>
                <a:srgbClr val="0F3D2E"/>
              </a:solidFill>
              <a:effectLst/>
            </c:spPr>
            <c:extLst>
              <c:ext xmlns:c16="http://schemas.microsoft.com/office/drawing/2014/chart" uri="{C3380CC4-5D6E-409C-BE32-E72D297353CC}">
                <c16:uniqueId val="{00000003-0F1F-4FF4-8973-7CC7F6243CC6}"/>
              </c:ext>
            </c:extLst>
          </c:dPt>
          <c:dLbls>
            <c:dLbl>
              <c:idx val="0"/>
              <c:numFmt formatCode="0%" sourceLinked="0"/>
              <c:spPr/>
              <c:txPr>
                <a:bodyPr/>
                <a:lstStyle/>
                <a:p>
                  <a:pPr>
                    <a:defRPr sz="1000" b="0" i="0" u="none" strike="noStrike">
                      <a:solidFill>
                        <a:srgbClr val="FFFFFF"/>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1-0F1F-4FF4-8973-7CC7F6243CC6}"/>
                </c:ext>
              </c:extLst>
            </c:dLbl>
            <c:dLbl>
              <c:idx val="1"/>
              <c:numFmt formatCode="0%" sourceLinked="0"/>
              <c:spPr/>
              <c:txPr>
                <a:bodyPr/>
                <a:lstStyle/>
                <a:p>
                  <a:pPr>
                    <a:defRPr sz="1000" b="0" i="0" u="none" strike="noStrike">
                      <a:solidFill>
                        <a:srgbClr val="FFFFFF"/>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3-0F1F-4FF4-8973-7CC7F6243CC6}"/>
                </c:ext>
              </c:extLst>
            </c:dLbl>
            <c:numFmt formatCode="0%" sourceLinked="0"/>
            <c:spPr>
              <a:noFill/>
              <a:ln>
                <a:noFill/>
              </a:ln>
              <a:effectLst/>
            </c:spPr>
            <c:txPr>
              <a:bodyPr/>
              <a:lstStyle/>
              <a:p>
                <a:pPr>
                  <a:defRPr sz="1800" b="0" i="0" u="none" strike="noStrike">
                    <a:solidFill>
                      <a:srgbClr val="000000"/>
                    </a:solidFill>
                    <a:latin typeface="Arial"/>
                  </a:defRPr>
                </a:pPr>
                <a:endParaRPr lang="en-US"/>
              </a:p>
            </c:txPr>
            <c:showLegendKey val="0"/>
            <c:showVal val="0"/>
            <c:showCatName val="1"/>
            <c:showSerName val="0"/>
            <c:showPercent val="1"/>
            <c:showBubbleSize val="0"/>
            <c:showLeaderLines val="0"/>
            <c:extLst>
              <c:ext xmlns:c15="http://schemas.microsoft.com/office/drawing/2012/chart" uri="{CE6537A1-D6FC-4f65-9D91-7224C49458BB}"/>
            </c:extLst>
          </c:dLbls>
          <c:cat>
            <c:strRef>
              <c:f>Sheet1!$A$2:$A$3</c:f>
              <c:strCache>
                <c:ptCount val="2"/>
                <c:pt idx="0">
                  <c:v>DITP (Digital Infra &amp; Tx Platform)</c:v>
                </c:pt>
                <c:pt idx="1">
                  <c:v>IAP (Issuing &amp; Acquiring)</c:v>
                </c:pt>
              </c:strCache>
            </c:strRef>
          </c:cat>
          <c:val>
            <c:numRef>
              <c:f>Sheet1!$B$2:$B$3</c:f>
              <c:numCache>
                <c:formatCode>General</c:formatCode>
                <c:ptCount val="2"/>
                <c:pt idx="0">
                  <c:v>1276</c:v>
                </c:pt>
                <c:pt idx="1">
                  <c:v>493</c:v>
                </c:pt>
              </c:numCache>
            </c:numRef>
          </c:val>
          <c:extLst>
            <c:ext xmlns:c16="http://schemas.microsoft.com/office/drawing/2014/chart" uri="{C3380CC4-5D6E-409C-BE32-E72D297353CC}">
              <c16:uniqueId val="{00000004-0F1F-4FF4-8973-7CC7F6243CC6}"/>
            </c:ext>
          </c:extLst>
        </c:ser>
        <c:dLbls>
          <c:showLegendKey val="0"/>
          <c:showVal val="0"/>
          <c:showCatName val="0"/>
          <c:showSerName val="0"/>
          <c:showPercent val="0"/>
          <c:showBubbleSize val="0"/>
          <c:showLeaderLines val="0"/>
        </c:dLbls>
        <c:firstSliceAng val="0"/>
        <c:holeSize val="60"/>
      </c:doughnutChart>
      <c:spPr>
        <a:solidFill>
          <a:srgbClr val="FFFFFF"/>
        </a:solidFill>
        <a:ln>
          <a:noFill/>
        </a:ln>
        <a:effectLst/>
      </c:spPr>
    </c:plotArea>
    <c:legend>
      <c:legendPos val="b"/>
      <c:overlay val="0"/>
      <c:txPr>
        <a:bodyPr/>
        <a:lstStyle/>
        <a:p>
          <a:pPr>
            <a:defRPr sz="900">
              <a:solidFill>
                <a:srgbClr val="334155"/>
              </a:solidFill>
              <a:latin typeface="Calibri"/>
              <a:cs typeface="Calibri"/>
            </a:defRPr>
          </a:pPr>
          <a:endParaRPr lang="en-US"/>
        </a:p>
      </c:txPr>
    </c:legend>
    <c:plotVisOnly val="1"/>
    <c:dispBlanksAs val="span"/>
    <c:showDLblsOverMax val="1"/>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Revenue (₹ Cr)</c:v>
                </c:pt>
              </c:strCache>
            </c:strRef>
          </c:tx>
          <c:spPr>
            <a:solidFill>
              <a:srgbClr val="16A34A"/>
            </a:solidFill>
            <a:effectLst/>
          </c:spPr>
          <c:invertIfNegative val="0"/>
          <c:dLbls>
            <c:numFmt formatCode="#,##0" sourceLinked="0"/>
            <c:spPr>
              <a:noFill/>
              <a:ln>
                <a:noFill/>
              </a:ln>
              <a:effectLst/>
            </c:spPr>
            <c:txPr>
              <a:bodyPr/>
              <a:lstStyle/>
              <a:p>
                <a:pPr>
                  <a:defRPr sz="900" b="0" i="0" u="none" strike="noStrike">
                    <a:solidFill>
                      <a:srgbClr val="0F172A"/>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In-store POS</c:v>
                </c:pt>
                <c:pt idx="1">
                  <c:v>Qwikcilver prepaid</c:v>
                </c:pt>
                <c:pt idx="2">
                  <c:v>Affordability/EMI</c:v>
                </c:pt>
                <c:pt idx="3">
                  <c:v>Online (PL Online + QFix)</c:v>
                </c:pt>
                <c:pt idx="4">
                  <c:v>Credit+ (issuing)</c:v>
                </c:pt>
                <c:pt idx="5">
                  <c:v>Mosambee (bank channel)</c:v>
                </c:pt>
                <c:pt idx="6">
                  <c:v>Setu APIs</c:v>
                </c:pt>
                <c:pt idx="7">
                  <c:v>Saluto/Engage Hub</c:v>
                </c:pt>
              </c:strCache>
            </c:strRef>
          </c:cat>
          <c:val>
            <c:numRef>
              <c:f>Sheet1!$B$2:$B$9</c:f>
              <c:numCache>
                <c:formatCode>General</c:formatCode>
                <c:ptCount val="8"/>
                <c:pt idx="0">
                  <c:v>695</c:v>
                </c:pt>
                <c:pt idx="1">
                  <c:v>380</c:v>
                </c:pt>
                <c:pt idx="2">
                  <c:v>230</c:v>
                </c:pt>
                <c:pt idx="3">
                  <c:v>230</c:v>
                </c:pt>
                <c:pt idx="4">
                  <c:v>95</c:v>
                </c:pt>
                <c:pt idx="5">
                  <c:v>75</c:v>
                </c:pt>
                <c:pt idx="6">
                  <c:v>80</c:v>
                </c:pt>
                <c:pt idx="7">
                  <c:v>22</c:v>
                </c:pt>
              </c:numCache>
            </c:numRef>
          </c:val>
          <c:extLst>
            <c:ext xmlns:c16="http://schemas.microsoft.com/office/drawing/2014/chart" uri="{C3380CC4-5D6E-409C-BE32-E72D297353CC}">
              <c16:uniqueId val="{00000000-078C-4EE6-BE01-B4AE7D2BC77A}"/>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E2E8F0"/>
            </a:solidFill>
            <a:prstDash val="solid"/>
            <a:round/>
          </a:ln>
        </c:spPr>
        <c:txPr>
          <a:bodyPr/>
          <a:lstStyle/>
          <a:p>
            <a:pPr>
              <a:defRPr sz="900" b="0" i="0" u="none" strike="noStrike">
                <a:solidFill>
                  <a:srgbClr val="64748B"/>
                </a:solidFill>
                <a:latin typeface="Calibri"/>
              </a:defRPr>
            </a:pPr>
            <a:endParaRPr lang="en-US"/>
          </a:p>
        </c:txPr>
        <c:crossAx val="2094734552"/>
        <c:crosses val="autoZero"/>
        <c:auto val="1"/>
        <c:lblAlgn val="ctr"/>
        <c:lblOffset val="100"/>
        <c:noMultiLvlLbl val="1"/>
      </c:catAx>
      <c:valAx>
        <c:axId val="2094734552"/>
        <c:scaling>
          <c:orientation val="minMax"/>
        </c:scaling>
        <c:delete val="0"/>
        <c:axPos val="b"/>
        <c:majorGridlines>
          <c:spPr>
            <a:ln w="6350" cap="flat">
              <a:solidFill>
                <a:srgbClr val="E2E8F0"/>
              </a:solidFill>
              <a:prstDash val="solid"/>
              <a:round/>
            </a:ln>
          </c:spPr>
        </c:majorGridlines>
        <c:numFmt formatCode="General" sourceLinked="0"/>
        <c:majorTickMark val="out"/>
        <c:minorTickMark val="none"/>
        <c:tickLblPos val="low"/>
        <c:spPr>
          <a:ln w="12700" cap="flat">
            <a:solidFill>
              <a:srgbClr val="E2E8F0"/>
            </a:solidFill>
            <a:prstDash val="solid"/>
            <a:round/>
          </a:ln>
        </c:spPr>
        <c:txPr>
          <a:bodyPr/>
          <a:lstStyle/>
          <a:p>
            <a:pPr>
              <a:defRPr sz="800" b="0" i="0" u="none" strike="noStrike">
                <a:solidFill>
                  <a:srgbClr val="64748B"/>
                </a:solidFill>
                <a:latin typeface="Calibri"/>
              </a:defRPr>
            </a:pPr>
            <a:endParaRPr lang="en-US"/>
          </a:p>
        </c:txPr>
        <c:crossAx val="2094734554"/>
        <c:crosses val="autoZero"/>
        <c:crossBetween val="between"/>
      </c:valAx>
      <c:spPr>
        <a:solidFill>
          <a:srgbClr val="FFFFFF"/>
        </a:solid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Top 10 customers (% of revenue)</c:v>
                </c:pt>
              </c:strCache>
            </c:strRef>
          </c:tx>
          <c:spPr>
            <a:ln w="31750" cap="flat">
              <a:solidFill>
                <a:srgbClr val="16A34A"/>
              </a:solidFill>
              <a:prstDash val="solid"/>
              <a:round/>
            </a:ln>
            <a:effectLst/>
          </c:spPr>
          <c:marker>
            <c:symbol val="circle"/>
            <c:size val="6"/>
            <c:spPr>
              <a:solidFill>
                <a:srgbClr val="16A34A"/>
              </a:solidFill>
              <a:ln w="9525" cap="flat">
                <a:solidFill>
                  <a:srgbClr val="16A34A"/>
                </a:solidFill>
                <a:prstDash val="solid"/>
                <a:round/>
              </a:ln>
              <a:effectLst/>
            </c:spPr>
          </c:marker>
          <c:dLbls>
            <c:numFmt formatCode="0.0&quot;%&quot;" sourceLinked="0"/>
            <c:spPr>
              <a:noFill/>
              <a:ln>
                <a:noFill/>
              </a:ln>
              <a:effectLst/>
            </c:spPr>
            <c:txPr>
              <a:bodyPr/>
              <a:lstStyle/>
              <a:p>
                <a:pPr>
                  <a:defRPr sz="800" b="0" i="0" u="none" strike="noStrike">
                    <a:solidFill>
                      <a:srgbClr val="0F172A"/>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FY24</c:v>
                </c:pt>
                <c:pt idx="1">
                  <c:v>9M FY25</c:v>
                </c:pt>
                <c:pt idx="2">
                  <c:v>FY25</c:v>
                </c:pt>
                <c:pt idx="3">
                  <c:v>Q1 FY26</c:v>
                </c:pt>
              </c:strCache>
            </c:strRef>
          </c:cat>
          <c:val>
            <c:numRef>
              <c:f>Sheet1!$B$2:$B$5</c:f>
              <c:numCache>
                <c:formatCode>General</c:formatCode>
                <c:ptCount val="4"/>
                <c:pt idx="0">
                  <c:v>35.24</c:v>
                </c:pt>
                <c:pt idx="1">
                  <c:v>31.02</c:v>
                </c:pt>
                <c:pt idx="2">
                  <c:v>30.95</c:v>
                </c:pt>
                <c:pt idx="3">
                  <c:v>29.3</c:v>
                </c:pt>
              </c:numCache>
            </c:numRef>
          </c:val>
          <c:smooth val="1"/>
          <c:extLst>
            <c:ext xmlns:c16="http://schemas.microsoft.com/office/drawing/2014/chart" uri="{C3380CC4-5D6E-409C-BE32-E72D297353CC}">
              <c16:uniqueId val="{00000000-392B-4779-A7AE-E244A06FAFB3}"/>
            </c:ext>
          </c:extLst>
        </c:ser>
        <c:ser>
          <c:idx val="1"/>
          <c:order val="1"/>
          <c:tx>
            <c:strRef>
              <c:f>Sheet1!$C$1</c:f>
              <c:strCache>
                <c:ptCount val="1"/>
                <c:pt idx="0">
                  <c:v>Top 5 customers (% of revenue)</c:v>
                </c:pt>
              </c:strCache>
            </c:strRef>
          </c:tx>
          <c:spPr>
            <a:ln w="31750" cap="flat">
              <a:solidFill>
                <a:srgbClr val="0F3D2E"/>
              </a:solidFill>
              <a:prstDash val="solid"/>
              <a:round/>
            </a:ln>
            <a:effectLst/>
          </c:spPr>
          <c:marker>
            <c:symbol val="circle"/>
            <c:size val="6"/>
            <c:spPr>
              <a:solidFill>
                <a:srgbClr val="0F3D2E"/>
              </a:solidFill>
              <a:ln w="9525" cap="flat">
                <a:solidFill>
                  <a:srgbClr val="0F3D2E"/>
                </a:solidFill>
                <a:prstDash val="solid"/>
                <a:round/>
              </a:ln>
              <a:effectLst/>
            </c:spPr>
          </c:marker>
          <c:dLbls>
            <c:numFmt formatCode="0.0&quot;%&quot;" sourceLinked="0"/>
            <c:spPr>
              <a:noFill/>
              <a:ln>
                <a:noFill/>
              </a:ln>
              <a:effectLst/>
            </c:spPr>
            <c:txPr>
              <a:bodyPr/>
              <a:lstStyle/>
              <a:p>
                <a:pPr>
                  <a:defRPr sz="800" b="0" i="0" u="none" strike="noStrike">
                    <a:solidFill>
                      <a:srgbClr val="0F172A"/>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FY24</c:v>
                </c:pt>
                <c:pt idx="1">
                  <c:v>9M FY25</c:v>
                </c:pt>
                <c:pt idx="2">
                  <c:v>FY25</c:v>
                </c:pt>
                <c:pt idx="3">
                  <c:v>Q1 FY26</c:v>
                </c:pt>
              </c:strCache>
            </c:strRef>
          </c:cat>
          <c:val>
            <c:numRef>
              <c:f>Sheet1!$C$2:$C$5</c:f>
              <c:numCache>
                <c:formatCode>General</c:formatCode>
                <c:ptCount val="4"/>
                <c:pt idx="0">
                  <c:v>27.83</c:v>
                </c:pt>
                <c:pt idx="1">
                  <c:v>24</c:v>
                </c:pt>
                <c:pt idx="2">
                  <c:v>22.3</c:v>
                </c:pt>
                <c:pt idx="3">
                  <c:v>21</c:v>
                </c:pt>
              </c:numCache>
            </c:numRef>
          </c:val>
          <c:smooth val="1"/>
          <c:extLst>
            <c:ext xmlns:c16="http://schemas.microsoft.com/office/drawing/2014/chart" uri="{C3380CC4-5D6E-409C-BE32-E72D297353CC}">
              <c16:uniqueId val="{00000001-392B-4779-A7AE-E244A06FAFB3}"/>
            </c:ext>
          </c:extLst>
        </c:ser>
        <c:ser>
          <c:idx val="2"/>
          <c:order val="2"/>
          <c:tx>
            <c:strRef>
              <c:f>Sheet1!$D$1</c:f>
              <c:strCache>
                <c:ptCount val="1"/>
                <c:pt idx="0">
                  <c:v>Largest single customer (% of revenue)</c:v>
                </c:pt>
              </c:strCache>
            </c:strRef>
          </c:tx>
          <c:spPr>
            <a:ln w="31750" cap="flat">
              <a:solidFill>
                <a:srgbClr val="D97706"/>
              </a:solidFill>
              <a:prstDash val="solid"/>
              <a:round/>
            </a:ln>
            <a:effectLst/>
          </c:spPr>
          <c:marker>
            <c:symbol val="circle"/>
            <c:size val="6"/>
            <c:spPr>
              <a:solidFill>
                <a:srgbClr val="D97706"/>
              </a:solidFill>
              <a:ln w="9525" cap="flat">
                <a:solidFill>
                  <a:srgbClr val="D97706"/>
                </a:solidFill>
                <a:prstDash val="solid"/>
                <a:round/>
              </a:ln>
              <a:effectLst/>
            </c:spPr>
          </c:marker>
          <c:dLbls>
            <c:numFmt formatCode="0.0&quot;%&quot;" sourceLinked="0"/>
            <c:spPr>
              <a:noFill/>
              <a:ln>
                <a:noFill/>
              </a:ln>
              <a:effectLst/>
            </c:spPr>
            <c:txPr>
              <a:bodyPr/>
              <a:lstStyle/>
              <a:p>
                <a:pPr>
                  <a:defRPr sz="800" b="0" i="0" u="none" strike="noStrike">
                    <a:solidFill>
                      <a:srgbClr val="0F172A"/>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FY24</c:v>
                </c:pt>
                <c:pt idx="1">
                  <c:v>9M FY25</c:v>
                </c:pt>
                <c:pt idx="2">
                  <c:v>FY25</c:v>
                </c:pt>
                <c:pt idx="3">
                  <c:v>Q1 FY26</c:v>
                </c:pt>
              </c:strCache>
            </c:strRef>
          </c:cat>
          <c:val>
            <c:numRef>
              <c:f>Sheet1!$D$2:$D$5</c:f>
              <c:numCache>
                <c:formatCode>General</c:formatCode>
                <c:ptCount val="4"/>
                <c:pt idx="0">
                  <c:v>13.4</c:v>
                </c:pt>
                <c:pt idx="1">
                  <c:v>8.48</c:v>
                </c:pt>
                <c:pt idx="2">
                  <c:v>8.5</c:v>
                </c:pt>
                <c:pt idx="3">
                  <c:v>8.1999999999999993</c:v>
                </c:pt>
              </c:numCache>
            </c:numRef>
          </c:val>
          <c:smooth val="1"/>
          <c:extLst>
            <c:ext xmlns:c16="http://schemas.microsoft.com/office/drawing/2014/chart" uri="{C3380CC4-5D6E-409C-BE32-E72D297353CC}">
              <c16:uniqueId val="{00000002-392B-4779-A7AE-E244A06FAFB3}"/>
            </c:ext>
          </c:extLst>
        </c:ser>
        <c:dLbls>
          <c:showLegendKey val="0"/>
          <c:showVal val="1"/>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E2E8F0"/>
            </a:solidFill>
            <a:prstDash val="solid"/>
            <a:round/>
          </a:ln>
        </c:spPr>
        <c:txPr>
          <a:bodyPr/>
          <a:lstStyle/>
          <a:p>
            <a:pPr>
              <a:defRPr sz="1000" b="0" i="0" u="none" strike="noStrike">
                <a:solidFill>
                  <a:srgbClr val="64748B"/>
                </a:solidFill>
                <a:latin typeface="Calibri"/>
              </a:defRPr>
            </a:pPr>
            <a:endParaRPr lang="en-US"/>
          </a:p>
        </c:txPr>
        <c:crossAx val="2094734552"/>
        <c:crosses val="autoZero"/>
        <c:auto val="1"/>
        <c:lblAlgn val="ctr"/>
        <c:lblOffset val="100"/>
        <c:noMultiLvlLbl val="1"/>
      </c:catAx>
      <c:valAx>
        <c:axId val="2094734552"/>
        <c:scaling>
          <c:orientation val="minMax"/>
          <c:max val="40"/>
          <c:min val="0"/>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E2E8F0"/>
            </a:solidFill>
            <a:prstDash val="solid"/>
            <a:round/>
          </a:ln>
        </c:spPr>
        <c:txPr>
          <a:bodyPr/>
          <a:lstStyle/>
          <a:p>
            <a:pPr>
              <a:defRPr sz="900" b="0" i="0" u="none" strike="noStrike">
                <a:solidFill>
                  <a:srgbClr val="64748B"/>
                </a:solidFill>
                <a:latin typeface="Calibri"/>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900">
              <a:solidFill>
                <a:srgbClr val="334155"/>
              </a:solidFill>
              <a:latin typeface="Calibri"/>
              <a:cs typeface="Calibri"/>
            </a:defRPr>
          </a:pPr>
          <a:endParaRPr lang="en-US"/>
        </a:p>
      </c:txPr>
    </c:legend>
    <c:plotVisOnly val="1"/>
    <c:dispBlanksAs val="span"/>
    <c:showDLblsOverMax val="1"/>
  </c:chart>
  <c:spPr>
    <a:solidFill>
      <a:srgbClr val="FFFFFF"/>
    </a:solid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stacked"/>
        <c:varyColors val="0"/>
        <c:ser>
          <c:idx val="0"/>
          <c:order val="0"/>
          <c:tx>
            <c:strRef>
              <c:f>Sheet1!$B$1</c:f>
              <c:strCache>
                <c:ptCount val="1"/>
                <c:pt idx="0">
                  <c:v>Existing Riskcovry book</c:v>
                </c:pt>
              </c:strCache>
            </c:strRef>
          </c:tx>
          <c:spPr>
            <a:solidFill>
              <a:srgbClr val="64748B"/>
            </a:solidFill>
            <a:effectLst/>
          </c:spPr>
          <c:invertIfNegative val="0"/>
          <c:dLbls>
            <c:numFmt formatCode="#,##0" sourceLinked="0"/>
            <c:spPr>
              <a:noFill/>
              <a:ln>
                <a:noFill/>
              </a:ln>
              <a:effectLst/>
            </c:spPr>
            <c:txPr>
              <a:bodyPr/>
              <a:lstStyle/>
              <a:p>
                <a:pPr>
                  <a:defRPr sz="800" b="0" i="0" u="none" strike="noStrike">
                    <a:solidFill>
                      <a:srgbClr val="FFFFFF"/>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FY27</c:v>
                </c:pt>
                <c:pt idx="1">
                  <c:v>FY28</c:v>
                </c:pt>
                <c:pt idx="2">
                  <c:v>FY29</c:v>
                </c:pt>
              </c:strCache>
            </c:strRef>
          </c:cat>
          <c:val>
            <c:numRef>
              <c:f>Sheet1!$B$2:$B$4</c:f>
              <c:numCache>
                <c:formatCode>General</c:formatCode>
                <c:ptCount val="3"/>
                <c:pt idx="0">
                  <c:v>100</c:v>
                </c:pt>
                <c:pt idx="1">
                  <c:v>140</c:v>
                </c:pt>
                <c:pt idx="2">
                  <c:v>185</c:v>
                </c:pt>
              </c:numCache>
            </c:numRef>
          </c:val>
          <c:extLst>
            <c:ext xmlns:c16="http://schemas.microsoft.com/office/drawing/2014/chart" uri="{C3380CC4-5D6E-409C-BE32-E72D297353CC}">
              <c16:uniqueId val="{00000000-53BD-4208-867A-54CEB230FED9}"/>
            </c:ext>
          </c:extLst>
        </c:ser>
        <c:ser>
          <c:idx val="1"/>
          <c:order val="1"/>
          <c:tx>
            <c:strRef>
              <c:f>Sheet1!$C$1</c:f>
              <c:strCache>
                <c:ptCount val="1"/>
                <c:pt idx="0">
                  <c:v>POS warranty + device protection</c:v>
                </c:pt>
              </c:strCache>
            </c:strRef>
          </c:tx>
          <c:spPr>
            <a:solidFill>
              <a:srgbClr val="16A34A"/>
            </a:solidFill>
            <a:effectLst/>
          </c:spPr>
          <c:invertIfNegative val="0"/>
          <c:dLbls>
            <c:numFmt formatCode="#,##0" sourceLinked="0"/>
            <c:spPr>
              <a:noFill/>
              <a:ln>
                <a:noFill/>
              </a:ln>
              <a:effectLst/>
            </c:spPr>
            <c:txPr>
              <a:bodyPr/>
              <a:lstStyle/>
              <a:p>
                <a:pPr>
                  <a:defRPr sz="800" b="0" i="0" u="none" strike="noStrike">
                    <a:solidFill>
                      <a:srgbClr val="FFFFFF"/>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FY27</c:v>
                </c:pt>
                <c:pt idx="1">
                  <c:v>FY28</c:v>
                </c:pt>
                <c:pt idx="2">
                  <c:v>FY29</c:v>
                </c:pt>
              </c:strCache>
            </c:strRef>
          </c:cat>
          <c:val>
            <c:numRef>
              <c:f>Sheet1!$C$2:$C$4</c:f>
              <c:numCache>
                <c:formatCode>General</c:formatCode>
                <c:ptCount val="3"/>
                <c:pt idx="0">
                  <c:v>13</c:v>
                </c:pt>
                <c:pt idx="1">
                  <c:v>87</c:v>
                </c:pt>
                <c:pt idx="2">
                  <c:v>192</c:v>
                </c:pt>
              </c:numCache>
            </c:numRef>
          </c:val>
          <c:extLst>
            <c:ext xmlns:c16="http://schemas.microsoft.com/office/drawing/2014/chart" uri="{C3380CC4-5D6E-409C-BE32-E72D297353CC}">
              <c16:uniqueId val="{00000001-53BD-4208-867A-54CEB230FED9}"/>
            </c:ext>
          </c:extLst>
        </c:ser>
        <c:ser>
          <c:idx val="2"/>
          <c:order val="2"/>
          <c:tx>
            <c:strRef>
              <c:f>Sheet1!$D$1</c:f>
              <c:strCache>
                <c:ptCount val="1"/>
                <c:pt idx="0">
                  <c:v>Credit-shield on EMI</c:v>
                </c:pt>
              </c:strCache>
            </c:strRef>
          </c:tx>
          <c:spPr>
            <a:solidFill>
              <a:srgbClr val="0F3D2E"/>
            </a:solidFill>
            <a:effectLst/>
          </c:spPr>
          <c:invertIfNegative val="0"/>
          <c:dLbls>
            <c:numFmt formatCode="#,##0" sourceLinked="0"/>
            <c:spPr>
              <a:noFill/>
              <a:ln>
                <a:noFill/>
              </a:ln>
              <a:effectLst/>
            </c:spPr>
            <c:txPr>
              <a:bodyPr/>
              <a:lstStyle/>
              <a:p>
                <a:pPr>
                  <a:defRPr sz="800" b="0" i="0" u="none" strike="noStrike">
                    <a:solidFill>
                      <a:srgbClr val="FFFFFF"/>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FY27</c:v>
                </c:pt>
                <c:pt idx="1">
                  <c:v>FY28</c:v>
                </c:pt>
                <c:pt idx="2">
                  <c:v>FY29</c:v>
                </c:pt>
              </c:strCache>
            </c:strRef>
          </c:cat>
          <c:val>
            <c:numRef>
              <c:f>Sheet1!$D$2:$D$4</c:f>
              <c:numCache>
                <c:formatCode>General</c:formatCode>
                <c:ptCount val="3"/>
                <c:pt idx="0">
                  <c:v>17</c:v>
                </c:pt>
                <c:pt idx="1">
                  <c:v>43</c:v>
                </c:pt>
                <c:pt idx="2">
                  <c:v>83</c:v>
                </c:pt>
              </c:numCache>
            </c:numRef>
          </c:val>
          <c:extLst>
            <c:ext xmlns:c16="http://schemas.microsoft.com/office/drawing/2014/chart" uri="{C3380CC4-5D6E-409C-BE32-E72D297353CC}">
              <c16:uniqueId val="{00000002-53BD-4208-867A-54CEB230FED9}"/>
            </c:ext>
          </c:extLst>
        </c:ser>
        <c:ser>
          <c:idx val="3"/>
          <c:order val="3"/>
          <c:tx>
            <c:strRef>
              <c:f>Sheet1!$E$1</c:f>
              <c:strCache>
                <c:ptCount val="1"/>
                <c:pt idx="0">
                  <c:v>Bancassurance SaaS (Setu banks)</c:v>
                </c:pt>
              </c:strCache>
            </c:strRef>
          </c:tx>
          <c:spPr>
            <a:solidFill>
              <a:srgbClr val="86EFAC"/>
            </a:solidFill>
            <a:effectLst/>
          </c:spPr>
          <c:invertIfNegative val="0"/>
          <c:dLbls>
            <c:dLbl>
              <c:idx val="0"/>
              <c:layout>
                <c:manualLayout>
                  <c:x val="-2.0729684908789387E-3"/>
                  <c:y val="-3.2467532467532464E-2"/>
                </c:manualLayout>
              </c:layout>
              <c:numFmt formatCode="#,##0" sourceLinked="0"/>
              <c:spPr>
                <a:noFill/>
                <a:ln>
                  <a:noFill/>
                </a:ln>
                <a:effectLst/>
              </c:spPr>
              <c:txPr>
                <a:bodyPr/>
                <a:lstStyle/>
                <a:p>
                  <a:pPr>
                    <a:defRPr sz="800" b="0" i="0" u="none" strike="noStrike">
                      <a:solidFill>
                        <a:schemeClr val="tx1"/>
                      </a:solidFill>
                      <a:latin typeface="Aria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53BD-4208-867A-54CEB230FED9}"/>
                </c:ext>
              </c:extLst>
            </c:dLbl>
            <c:numFmt formatCode="#,##0" sourceLinked="0"/>
            <c:spPr>
              <a:noFill/>
              <a:ln>
                <a:noFill/>
              </a:ln>
              <a:effectLst/>
            </c:spPr>
            <c:txPr>
              <a:bodyPr/>
              <a:lstStyle/>
              <a:p>
                <a:pPr>
                  <a:defRPr sz="800" b="0" i="0" u="none" strike="noStrike">
                    <a:solidFill>
                      <a:srgbClr val="FFFFFF"/>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FY27</c:v>
                </c:pt>
                <c:pt idx="1">
                  <c:v>FY28</c:v>
                </c:pt>
                <c:pt idx="2">
                  <c:v>FY29</c:v>
                </c:pt>
              </c:strCache>
            </c:strRef>
          </c:cat>
          <c:val>
            <c:numRef>
              <c:f>Sheet1!$E$2:$E$4</c:f>
              <c:numCache>
                <c:formatCode>General</c:formatCode>
                <c:ptCount val="3"/>
                <c:pt idx="0">
                  <c:v>8</c:v>
                </c:pt>
                <c:pt idx="1">
                  <c:v>30</c:v>
                </c:pt>
                <c:pt idx="2">
                  <c:v>55</c:v>
                </c:pt>
              </c:numCache>
            </c:numRef>
          </c:val>
          <c:extLst>
            <c:ext xmlns:c16="http://schemas.microsoft.com/office/drawing/2014/chart" uri="{C3380CC4-5D6E-409C-BE32-E72D297353CC}">
              <c16:uniqueId val="{00000003-53BD-4208-867A-54CEB230FED9}"/>
            </c:ext>
          </c:extLst>
        </c:ser>
        <c:ser>
          <c:idx val="4"/>
          <c:order val="4"/>
          <c:tx>
            <c:strRef>
              <c:f>Sheet1!$F$1</c:f>
              <c:strCache>
                <c:ptCount val="1"/>
                <c:pt idx="0">
                  <c:v>International (Credit+ banks)</c:v>
                </c:pt>
              </c:strCache>
            </c:strRef>
          </c:tx>
          <c:spPr>
            <a:solidFill>
              <a:srgbClr val="D97706"/>
            </a:solidFill>
            <a:effectLst/>
          </c:spPr>
          <c:invertIfNegative val="0"/>
          <c:dLbls>
            <c:dLbl>
              <c:idx val="0"/>
              <c:delete val="1"/>
              <c:extLst>
                <c:ext xmlns:c15="http://schemas.microsoft.com/office/drawing/2012/chart" uri="{CE6537A1-D6FC-4f65-9D91-7224C49458BB}"/>
                <c:ext xmlns:c16="http://schemas.microsoft.com/office/drawing/2014/chart" uri="{C3380CC4-5D6E-409C-BE32-E72D297353CC}">
                  <c16:uniqueId val="{00000006-53BD-4208-867A-54CEB230FED9}"/>
                </c:ext>
              </c:extLst>
            </c:dLbl>
            <c:dLbl>
              <c:idx val="1"/>
              <c:layout>
                <c:manualLayout>
                  <c:x val="0"/>
                  <c:y val="-3.6075036075036142E-2"/>
                </c:manualLayout>
              </c:layout>
              <c:numFmt formatCode="#,##0" sourceLinked="0"/>
              <c:spPr>
                <a:noFill/>
                <a:ln>
                  <a:noFill/>
                </a:ln>
                <a:effectLst/>
              </c:spPr>
              <c:txPr>
                <a:bodyPr/>
                <a:lstStyle/>
                <a:p>
                  <a:pPr>
                    <a:defRPr sz="800" b="0" i="0" u="none" strike="noStrike">
                      <a:solidFill>
                        <a:schemeClr val="tx1"/>
                      </a:solidFill>
                      <a:latin typeface="Aria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53BD-4208-867A-54CEB230FED9}"/>
                </c:ext>
              </c:extLst>
            </c:dLbl>
            <c:numFmt formatCode="#,##0" sourceLinked="0"/>
            <c:spPr>
              <a:noFill/>
              <a:ln>
                <a:noFill/>
              </a:ln>
              <a:effectLst/>
            </c:spPr>
            <c:txPr>
              <a:bodyPr/>
              <a:lstStyle/>
              <a:p>
                <a:pPr>
                  <a:defRPr sz="800" b="0" i="0" u="none" strike="noStrike">
                    <a:solidFill>
                      <a:srgbClr val="FFFFFF"/>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FY27</c:v>
                </c:pt>
                <c:pt idx="1">
                  <c:v>FY28</c:v>
                </c:pt>
                <c:pt idx="2">
                  <c:v>FY29</c:v>
                </c:pt>
              </c:strCache>
            </c:strRef>
          </c:cat>
          <c:val>
            <c:numRef>
              <c:f>Sheet1!$F$2:$F$4</c:f>
              <c:numCache>
                <c:formatCode>General</c:formatCode>
                <c:ptCount val="3"/>
                <c:pt idx="0">
                  <c:v>0</c:v>
                </c:pt>
                <c:pt idx="1">
                  <c:v>8</c:v>
                </c:pt>
                <c:pt idx="2">
                  <c:v>25</c:v>
                </c:pt>
              </c:numCache>
            </c:numRef>
          </c:val>
          <c:extLst>
            <c:ext xmlns:c16="http://schemas.microsoft.com/office/drawing/2014/chart" uri="{C3380CC4-5D6E-409C-BE32-E72D297353CC}">
              <c16:uniqueId val="{00000004-53BD-4208-867A-54CEB230FED9}"/>
            </c:ext>
          </c:extLst>
        </c:ser>
        <c:dLbls>
          <c:showLegendKey val="0"/>
          <c:showVal val="1"/>
          <c:showCatName val="0"/>
          <c:showSerName val="0"/>
          <c:showPercent val="0"/>
          <c:showBubbleSize val="0"/>
        </c:dLbls>
        <c:gapWidth val="50"/>
        <c:overlap val="10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E2E8F0"/>
            </a:solidFill>
            <a:prstDash val="solid"/>
            <a:round/>
          </a:ln>
        </c:spPr>
        <c:txPr>
          <a:bodyPr/>
          <a:lstStyle/>
          <a:p>
            <a:pPr>
              <a:defRPr sz="1000" b="0" i="0" u="none" strike="noStrike">
                <a:solidFill>
                  <a:srgbClr val="64748B"/>
                </a:solidFill>
                <a:latin typeface="Calibri"/>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E2E8F0"/>
            </a:solidFill>
            <a:prstDash val="solid"/>
            <a:round/>
          </a:ln>
        </c:spPr>
        <c:txPr>
          <a:bodyPr/>
          <a:lstStyle/>
          <a:p>
            <a:pPr>
              <a:defRPr sz="800" b="0" i="0" u="none" strike="noStrike">
                <a:solidFill>
                  <a:srgbClr val="64748B"/>
                </a:solidFill>
                <a:latin typeface="Calibri"/>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900">
              <a:solidFill>
                <a:srgbClr val="334155"/>
              </a:solidFill>
              <a:latin typeface="Calibri"/>
              <a:cs typeface="Calibri"/>
            </a:defRPr>
          </a:pPr>
          <a:endParaRPr lang="en-US"/>
        </a:p>
      </c:txPr>
    </c:legend>
    <c:plotVisOnly val="1"/>
    <c:dispBlanksAs val="span"/>
    <c:showDLblsOverMax val="1"/>
  </c:chart>
  <c:spPr>
    <a:solidFill>
      <a:srgbClr val="FFFFFF"/>
    </a:solid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stacked"/>
        <c:varyColors val="0"/>
        <c:ser>
          <c:idx val="0"/>
          <c:order val="0"/>
          <c:tx>
            <c:strRef>
              <c:f>Sheet1!$B$1</c:f>
              <c:strCache>
                <c:ptCount val="1"/>
                <c:pt idx="0">
                  <c:v>Existing WebEngage book</c:v>
                </c:pt>
              </c:strCache>
            </c:strRef>
          </c:tx>
          <c:spPr>
            <a:solidFill>
              <a:srgbClr val="64748B"/>
            </a:solidFill>
            <a:effectLst/>
          </c:spPr>
          <c:invertIfNegative val="0"/>
          <c:dLbls>
            <c:numFmt formatCode="#,##0" sourceLinked="0"/>
            <c:spPr>
              <a:noFill/>
              <a:ln>
                <a:noFill/>
              </a:ln>
              <a:effectLst/>
            </c:spPr>
            <c:txPr>
              <a:bodyPr/>
              <a:lstStyle/>
              <a:p>
                <a:pPr>
                  <a:defRPr sz="800" b="0" i="0" u="none" strike="noStrike">
                    <a:solidFill>
                      <a:schemeClr val="tx1"/>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FY27</c:v>
                </c:pt>
                <c:pt idx="1">
                  <c:v>FY28</c:v>
                </c:pt>
                <c:pt idx="2">
                  <c:v>FY29</c:v>
                </c:pt>
              </c:strCache>
            </c:strRef>
          </c:cat>
          <c:val>
            <c:numRef>
              <c:f>Sheet1!$B$2:$B$4</c:f>
              <c:numCache>
                <c:formatCode>General</c:formatCode>
                <c:ptCount val="3"/>
                <c:pt idx="0">
                  <c:v>180</c:v>
                </c:pt>
                <c:pt idx="1">
                  <c:v>215</c:v>
                </c:pt>
                <c:pt idx="2">
                  <c:v>245</c:v>
                </c:pt>
              </c:numCache>
            </c:numRef>
          </c:val>
          <c:extLst>
            <c:ext xmlns:c16="http://schemas.microsoft.com/office/drawing/2014/chart" uri="{C3380CC4-5D6E-409C-BE32-E72D297353CC}">
              <c16:uniqueId val="{00000000-CA85-483D-B383-04B54B528572}"/>
            </c:ext>
          </c:extLst>
        </c:ser>
        <c:ser>
          <c:idx val="1"/>
          <c:order val="1"/>
          <c:tx>
            <c:strRef>
              <c:f>Sheet1!$C$1</c:f>
              <c:strCache>
                <c:ptCount val="1"/>
                <c:pt idx="0">
                  <c:v>Bundled top-10 wallet uplift</c:v>
                </c:pt>
              </c:strCache>
            </c:strRef>
          </c:tx>
          <c:spPr>
            <a:solidFill>
              <a:srgbClr val="16A34A"/>
            </a:solidFill>
            <a:effectLst/>
          </c:spPr>
          <c:invertIfNegative val="0"/>
          <c:dLbls>
            <c:numFmt formatCode="#,##0" sourceLinked="0"/>
            <c:spPr>
              <a:noFill/>
              <a:ln>
                <a:noFill/>
              </a:ln>
              <a:effectLst/>
            </c:spPr>
            <c:txPr>
              <a:bodyPr/>
              <a:lstStyle/>
              <a:p>
                <a:pPr>
                  <a:defRPr sz="800" b="0" i="0" u="none" strike="noStrike">
                    <a:solidFill>
                      <a:schemeClr val="tx1"/>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FY27</c:v>
                </c:pt>
                <c:pt idx="1">
                  <c:v>FY28</c:v>
                </c:pt>
                <c:pt idx="2">
                  <c:v>FY29</c:v>
                </c:pt>
              </c:strCache>
            </c:strRef>
          </c:cat>
          <c:val>
            <c:numRef>
              <c:f>Sheet1!$C$2:$C$4</c:f>
              <c:numCache>
                <c:formatCode>General</c:formatCode>
                <c:ptCount val="3"/>
                <c:pt idx="0">
                  <c:v>25</c:v>
                </c:pt>
                <c:pt idx="1">
                  <c:v>60</c:v>
                </c:pt>
                <c:pt idx="2">
                  <c:v>110</c:v>
                </c:pt>
              </c:numCache>
            </c:numRef>
          </c:val>
          <c:extLst>
            <c:ext xmlns:c16="http://schemas.microsoft.com/office/drawing/2014/chart" uri="{C3380CC4-5D6E-409C-BE32-E72D297353CC}">
              <c16:uniqueId val="{00000001-CA85-483D-B383-04B54B528572}"/>
            </c:ext>
          </c:extLst>
        </c:ser>
        <c:ser>
          <c:idx val="2"/>
          <c:order val="2"/>
          <c:tx>
            <c:strRef>
              <c:f>Sheet1!$D$1</c:f>
              <c:strCache>
                <c:ptCount val="1"/>
                <c:pt idx="0">
                  <c:v>Pine Labs cross-sell (BFSI engagement layer)</c:v>
                </c:pt>
              </c:strCache>
            </c:strRef>
          </c:tx>
          <c:spPr>
            <a:solidFill>
              <a:srgbClr val="0F3D2E"/>
            </a:solidFill>
            <a:effectLst/>
          </c:spPr>
          <c:invertIfNegative val="0"/>
          <c:dLbls>
            <c:numFmt formatCode="#,##0" sourceLinked="0"/>
            <c:spPr>
              <a:noFill/>
              <a:ln>
                <a:noFill/>
              </a:ln>
              <a:effectLst/>
            </c:spPr>
            <c:txPr>
              <a:bodyPr/>
              <a:lstStyle/>
              <a:p>
                <a:pPr>
                  <a:defRPr sz="800" b="0" i="0" u="none" strike="noStrike">
                    <a:solidFill>
                      <a:schemeClr val="bg1"/>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FY27</c:v>
                </c:pt>
                <c:pt idx="1">
                  <c:v>FY28</c:v>
                </c:pt>
                <c:pt idx="2">
                  <c:v>FY29</c:v>
                </c:pt>
              </c:strCache>
            </c:strRef>
          </c:cat>
          <c:val>
            <c:numRef>
              <c:f>Sheet1!$D$2:$D$4</c:f>
              <c:numCache>
                <c:formatCode>General</c:formatCode>
                <c:ptCount val="3"/>
                <c:pt idx="0">
                  <c:v>10</c:v>
                </c:pt>
                <c:pt idx="1">
                  <c:v>35</c:v>
                </c:pt>
                <c:pt idx="2">
                  <c:v>75</c:v>
                </c:pt>
              </c:numCache>
            </c:numRef>
          </c:val>
          <c:extLst>
            <c:ext xmlns:c16="http://schemas.microsoft.com/office/drawing/2014/chart" uri="{C3380CC4-5D6E-409C-BE32-E72D297353CC}">
              <c16:uniqueId val="{00000002-CA85-483D-B383-04B54B528572}"/>
            </c:ext>
          </c:extLst>
        </c:ser>
        <c:ser>
          <c:idx val="3"/>
          <c:order val="3"/>
          <c:tx>
            <c:strRef>
              <c:f>Sheet1!$E$1</c:f>
              <c:strCache>
                <c:ptCount val="1"/>
                <c:pt idx="0">
                  <c:v>Setu API revenue cross-pull</c:v>
                </c:pt>
              </c:strCache>
            </c:strRef>
          </c:tx>
          <c:spPr>
            <a:solidFill>
              <a:srgbClr val="86EFAC"/>
            </a:solidFill>
            <a:effectLst/>
          </c:spPr>
          <c:invertIfNegative val="0"/>
          <c:dLbls>
            <c:numFmt formatCode="#,##0" sourceLinked="0"/>
            <c:spPr>
              <a:noFill/>
              <a:ln>
                <a:noFill/>
              </a:ln>
              <a:effectLst/>
            </c:spPr>
            <c:txPr>
              <a:bodyPr/>
              <a:lstStyle/>
              <a:p>
                <a:pPr>
                  <a:defRPr sz="800" b="0" i="0" u="none" strike="noStrike">
                    <a:solidFill>
                      <a:schemeClr val="tx1"/>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FY27</c:v>
                </c:pt>
                <c:pt idx="1">
                  <c:v>FY28</c:v>
                </c:pt>
                <c:pt idx="2">
                  <c:v>FY29</c:v>
                </c:pt>
              </c:strCache>
            </c:strRef>
          </c:cat>
          <c:val>
            <c:numRef>
              <c:f>Sheet1!$E$2:$E$4</c:f>
              <c:numCache>
                <c:formatCode>General</c:formatCode>
                <c:ptCount val="3"/>
                <c:pt idx="0">
                  <c:v>5</c:v>
                </c:pt>
                <c:pt idx="1">
                  <c:v>15</c:v>
                </c:pt>
                <c:pt idx="2">
                  <c:v>30</c:v>
                </c:pt>
              </c:numCache>
            </c:numRef>
          </c:val>
          <c:extLst>
            <c:ext xmlns:c16="http://schemas.microsoft.com/office/drawing/2014/chart" uri="{C3380CC4-5D6E-409C-BE32-E72D297353CC}">
              <c16:uniqueId val="{00000003-CA85-483D-B383-04B54B528572}"/>
            </c:ext>
          </c:extLst>
        </c:ser>
        <c:dLbls>
          <c:showLegendKey val="0"/>
          <c:showVal val="1"/>
          <c:showCatName val="0"/>
          <c:showSerName val="0"/>
          <c:showPercent val="0"/>
          <c:showBubbleSize val="0"/>
        </c:dLbls>
        <c:gapWidth val="50"/>
        <c:overlap val="10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E2E8F0"/>
            </a:solidFill>
            <a:prstDash val="solid"/>
            <a:round/>
          </a:ln>
        </c:spPr>
        <c:txPr>
          <a:bodyPr/>
          <a:lstStyle/>
          <a:p>
            <a:pPr>
              <a:defRPr sz="1000" b="0" i="0" u="none" strike="noStrike">
                <a:solidFill>
                  <a:srgbClr val="64748B"/>
                </a:solidFill>
                <a:latin typeface="Calibri"/>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E2E8F0"/>
            </a:solidFill>
            <a:prstDash val="solid"/>
            <a:round/>
          </a:ln>
        </c:spPr>
        <c:txPr>
          <a:bodyPr/>
          <a:lstStyle/>
          <a:p>
            <a:pPr>
              <a:defRPr sz="800" b="0" i="0" u="none" strike="noStrike">
                <a:solidFill>
                  <a:srgbClr val="64748B"/>
                </a:solidFill>
                <a:latin typeface="Calibri"/>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900">
              <a:solidFill>
                <a:srgbClr val="334155"/>
              </a:solidFill>
              <a:latin typeface="Calibri"/>
              <a:cs typeface="Calibri"/>
            </a:defRPr>
          </a:pPr>
          <a:endParaRPr lang="en-US"/>
        </a:p>
      </c:txPr>
    </c:legend>
    <c:plotVisOnly val="1"/>
    <c:dispBlanksAs val="span"/>
    <c:showDLblsOverMax val="1"/>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211981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2.jpeg"/><Relationship Id="rId4" Type="http://schemas.openxmlformats.org/officeDocument/2006/relationships/chart" Target="../charts/chart2.xml"/></Relationships>
</file>

<file path=ppt/slides/_rels/slide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2.jpeg"/><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11.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12.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13.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1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3D2E"/>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16A34A"/>
          </a:solidFill>
          <a:ln/>
        </p:spPr>
        <p:txBody>
          <a:bodyPr/>
          <a:lstStyle/>
          <a:p>
            <a:endParaRPr lang="en-US"/>
          </a:p>
        </p:txBody>
      </p:sp>
      <p:sp>
        <p:nvSpPr>
          <p:cNvPr id="5" name="Shape 3"/>
          <p:cNvSpPr/>
          <p:nvPr/>
        </p:nvSpPr>
        <p:spPr>
          <a:xfrm>
            <a:off x="640080" y="2377440"/>
            <a:ext cx="64008" cy="640080"/>
          </a:xfrm>
          <a:prstGeom prst="rect">
            <a:avLst/>
          </a:prstGeom>
          <a:solidFill>
            <a:srgbClr val="16A34A"/>
          </a:solidFill>
          <a:ln/>
        </p:spPr>
        <p:txBody>
          <a:bodyPr/>
          <a:lstStyle/>
          <a:p>
            <a:endParaRPr lang="en-US"/>
          </a:p>
        </p:txBody>
      </p:sp>
      <p:sp>
        <p:nvSpPr>
          <p:cNvPr id="6" name="Text 4"/>
          <p:cNvSpPr/>
          <p:nvPr/>
        </p:nvSpPr>
        <p:spPr>
          <a:xfrm>
            <a:off x="868680" y="2331720"/>
            <a:ext cx="9144000" cy="365760"/>
          </a:xfrm>
          <a:prstGeom prst="rect">
            <a:avLst/>
          </a:prstGeom>
          <a:noFill/>
          <a:ln/>
        </p:spPr>
        <p:txBody>
          <a:bodyPr wrap="square" lIns="0" tIns="0" rIns="0" bIns="0" rtlCol="0" anchor="ctr"/>
          <a:lstStyle/>
          <a:p>
            <a:pPr marL="0" indent="0">
              <a:buNone/>
            </a:pPr>
            <a:r>
              <a:rPr lang="en-US" sz="1200" b="1" kern="0" spc="100" dirty="0">
                <a:solidFill>
                  <a:srgbClr val="86EFAC"/>
                </a:solidFill>
                <a:latin typeface="Calibri" pitchFamily="34" charset="0"/>
                <a:ea typeface="Calibri" pitchFamily="34" charset="-122"/>
                <a:cs typeface="Calibri" pitchFamily="34" charset="-120"/>
              </a:rPr>
              <a:t>CORPORATE DEVELOPMENT PROPOSAL</a:t>
            </a:r>
            <a:endParaRPr lang="en-US" sz="1200" spc="100" dirty="0"/>
          </a:p>
        </p:txBody>
      </p:sp>
      <p:sp>
        <p:nvSpPr>
          <p:cNvPr id="7" name="Text 5"/>
          <p:cNvSpPr/>
          <p:nvPr/>
        </p:nvSpPr>
        <p:spPr>
          <a:xfrm>
            <a:off x="868680" y="2743200"/>
            <a:ext cx="10515600" cy="1645920"/>
          </a:xfrm>
          <a:prstGeom prst="rect">
            <a:avLst/>
          </a:prstGeom>
          <a:noFill/>
          <a:ln/>
        </p:spPr>
        <p:txBody>
          <a:bodyPr wrap="square" lIns="0" tIns="0" rIns="0" bIns="0" rtlCol="0" anchor="ctr"/>
          <a:lstStyle/>
          <a:p>
            <a:pPr marL="0" indent="0">
              <a:buNone/>
            </a:pPr>
            <a:r>
              <a:rPr lang="en-US" sz="4000" b="1" dirty="0">
                <a:solidFill>
                  <a:srgbClr val="FFFFFF"/>
                </a:solidFill>
                <a:latin typeface="Calibri" pitchFamily="34" charset="0"/>
                <a:ea typeface="Calibri" pitchFamily="34" charset="-122"/>
                <a:cs typeface="Calibri" pitchFamily="34" charset="-120"/>
              </a:rPr>
              <a:t>Expanding Value-Added Services</a:t>
            </a:r>
            <a:endParaRPr lang="en-US" sz="4000" dirty="0"/>
          </a:p>
          <a:p>
            <a:pPr marL="0" indent="0">
              <a:buNone/>
            </a:pPr>
            <a:r>
              <a:rPr lang="en-US" sz="4000" b="1" dirty="0">
                <a:solidFill>
                  <a:srgbClr val="FFFFFF"/>
                </a:solidFill>
                <a:latin typeface="Calibri" pitchFamily="34" charset="0"/>
                <a:ea typeface="Calibri" pitchFamily="34" charset="-122"/>
                <a:cs typeface="Calibri" pitchFamily="34" charset="-120"/>
              </a:rPr>
              <a:t>Through Two Horizontal-SaaS Tuck-Ins</a:t>
            </a:r>
            <a:endParaRPr lang="en-US" sz="4000" dirty="0"/>
          </a:p>
        </p:txBody>
      </p:sp>
      <p:sp>
        <p:nvSpPr>
          <p:cNvPr id="8" name="Text 6"/>
          <p:cNvSpPr/>
          <p:nvPr/>
        </p:nvSpPr>
        <p:spPr>
          <a:xfrm>
            <a:off x="868680" y="4434840"/>
            <a:ext cx="10515600" cy="457200"/>
          </a:xfrm>
          <a:prstGeom prst="rect">
            <a:avLst/>
          </a:prstGeom>
          <a:noFill/>
          <a:ln/>
        </p:spPr>
        <p:txBody>
          <a:bodyPr wrap="square" lIns="0" tIns="0" rIns="0" bIns="0" rtlCol="0" anchor="ctr"/>
          <a:lstStyle/>
          <a:p>
            <a:pPr marL="0" indent="0">
              <a:buNone/>
            </a:pPr>
            <a:r>
              <a:rPr lang="en-US" sz="1700" i="1" dirty="0">
                <a:solidFill>
                  <a:srgbClr val="86EFAC"/>
                </a:solidFill>
                <a:latin typeface="Calibri" pitchFamily="34" charset="0"/>
                <a:ea typeface="Calibri" pitchFamily="34" charset="-122"/>
                <a:cs typeface="Calibri" pitchFamily="34" charset="-120"/>
              </a:rPr>
              <a:t>Riskcovry  |  WebEngage  —  ~$130M combined, ₹790 Cr incremental revenue by FY29</a:t>
            </a:r>
            <a:endParaRPr lang="en-US" sz="1700" dirty="0"/>
          </a:p>
        </p:txBody>
      </p:sp>
      <p:sp>
        <p:nvSpPr>
          <p:cNvPr id="9" name="Shape 7"/>
          <p:cNvSpPr/>
          <p:nvPr/>
        </p:nvSpPr>
        <p:spPr>
          <a:xfrm>
            <a:off x="868680" y="5852160"/>
            <a:ext cx="10515600" cy="13716"/>
          </a:xfrm>
          <a:prstGeom prst="rect">
            <a:avLst/>
          </a:prstGeom>
          <a:solidFill>
            <a:srgbClr val="16A34A"/>
          </a:solidFill>
          <a:ln/>
        </p:spPr>
        <p:txBody>
          <a:bodyPr/>
          <a:lstStyle/>
          <a:p>
            <a:endParaRPr lang="en-US"/>
          </a:p>
        </p:txBody>
      </p:sp>
      <p:sp>
        <p:nvSpPr>
          <p:cNvPr id="10" name="Text 8"/>
          <p:cNvSpPr/>
          <p:nvPr/>
        </p:nvSpPr>
        <p:spPr>
          <a:xfrm>
            <a:off x="868680" y="5943600"/>
            <a:ext cx="6400800" cy="274320"/>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Prepared for the Corporate Development team and Investment Committee</a:t>
            </a:r>
            <a:endParaRPr lang="en-US" sz="1100" dirty="0"/>
          </a:p>
        </p:txBody>
      </p:sp>
      <p:sp>
        <p:nvSpPr>
          <p:cNvPr id="11" name="Text 9"/>
          <p:cNvSpPr/>
          <p:nvPr/>
        </p:nvSpPr>
        <p:spPr>
          <a:xfrm>
            <a:off x="868680" y="6199632"/>
            <a:ext cx="6400800" cy="274320"/>
          </a:xfrm>
          <a:prstGeom prst="rect">
            <a:avLst/>
          </a:prstGeom>
          <a:noFill/>
          <a:ln/>
        </p:spPr>
        <p:txBody>
          <a:bodyPr wrap="square" lIns="0" tIns="0" rIns="0" bIns="0" rtlCol="0" anchor="ctr"/>
          <a:lstStyle/>
          <a:p>
            <a:pPr marL="0" indent="0">
              <a:buNone/>
            </a:pPr>
            <a:r>
              <a:rPr lang="en-US" sz="1000" i="1" dirty="0">
                <a:solidFill>
                  <a:srgbClr val="86EFAC"/>
                </a:solidFill>
                <a:latin typeface="Calibri" pitchFamily="34" charset="0"/>
                <a:ea typeface="Calibri" pitchFamily="34" charset="-122"/>
                <a:cs typeface="Calibri" pitchFamily="34" charset="-120"/>
              </a:rPr>
              <a:t>Discussion draft  •  Not for circulation</a:t>
            </a:r>
            <a:endParaRPr lang="en-US" sz="1000" dirty="0"/>
          </a:p>
        </p:txBody>
      </p:sp>
      <p:sp>
        <p:nvSpPr>
          <p:cNvPr id="12" name="Text 10"/>
          <p:cNvSpPr/>
          <p:nvPr/>
        </p:nvSpPr>
        <p:spPr>
          <a:xfrm>
            <a:off x="7315200" y="5943600"/>
            <a:ext cx="4023360" cy="274320"/>
          </a:xfrm>
          <a:prstGeom prst="rect">
            <a:avLst/>
          </a:prstGeom>
          <a:noFill/>
          <a:ln/>
        </p:spPr>
        <p:txBody>
          <a:bodyPr wrap="square" lIns="0" tIns="0" rIns="0" bIns="0" rtlCol="0" anchor="ctr"/>
          <a:lstStyle/>
          <a:p>
            <a:pPr marL="0" indent="0" algn="r">
              <a:buNone/>
            </a:pPr>
            <a:r>
              <a:rPr lang="en-US" sz="1100" dirty="0">
                <a:solidFill>
                  <a:srgbClr val="FFFFFF"/>
                </a:solidFill>
                <a:latin typeface="Calibri" pitchFamily="34" charset="0"/>
                <a:ea typeface="Calibri" pitchFamily="34" charset="-122"/>
                <a:cs typeface="Calibri" pitchFamily="34" charset="-120"/>
              </a:rPr>
              <a:t>November 2025</a:t>
            </a:r>
            <a:endParaRPr lang="en-US" sz="1100" dirty="0"/>
          </a:p>
        </p:txBody>
      </p:sp>
      <p:sp>
        <p:nvSpPr>
          <p:cNvPr id="13" name="Text 11"/>
          <p:cNvSpPr/>
          <p:nvPr/>
        </p:nvSpPr>
        <p:spPr>
          <a:xfrm>
            <a:off x="7315200" y="6199632"/>
            <a:ext cx="4023360" cy="274320"/>
          </a:xfrm>
          <a:prstGeom prst="rect">
            <a:avLst/>
          </a:prstGeom>
          <a:noFill/>
          <a:ln/>
        </p:spPr>
        <p:txBody>
          <a:bodyPr wrap="square" lIns="0" tIns="0" rIns="0" bIns="0" rtlCol="0" anchor="ctr"/>
          <a:lstStyle/>
          <a:p>
            <a:pPr marL="0" indent="0" algn="r">
              <a:buNone/>
            </a:pPr>
            <a:r>
              <a:rPr lang="en-US" sz="1000" i="1" dirty="0">
                <a:solidFill>
                  <a:srgbClr val="86EFAC"/>
                </a:solidFill>
                <a:latin typeface="Calibri" pitchFamily="34" charset="0"/>
                <a:ea typeface="Calibri" pitchFamily="34" charset="-122"/>
                <a:cs typeface="Calibri" pitchFamily="34" charset="-120"/>
              </a:rPr>
              <a:t>Strictly Confidential</a:t>
            </a:r>
            <a:endParaRPr lang="en-US" sz="1000" dirty="0"/>
          </a:p>
        </p:txBody>
      </p:sp>
      <p:pic>
        <p:nvPicPr>
          <p:cNvPr id="1026" name="Picture 2" descr="PYMNTS | Pine Labs Archives | PYMNTS.com">
            <a:extLst>
              <a:ext uri="{FF2B5EF4-FFF2-40B4-BE49-F238E27FC236}">
                <a16:creationId xmlns:a16="http://schemas.microsoft.com/office/drawing/2014/main" id="{697E26A7-3F0F-5C7B-1D95-F6F9DD2005B9}"/>
              </a:ext>
            </a:extLst>
          </p:cNvPr>
          <p:cNvPicPr>
            <a:picLocks noChangeAspect="1" noChangeArrowheads="1"/>
          </p:cNvPicPr>
          <p:nvPr/>
        </p:nvPicPr>
        <p:blipFill>
          <a:blip r:embed="rId3">
            <a:clrChange>
              <a:clrFrom>
                <a:srgbClr val="113222"/>
              </a:clrFrom>
              <a:clrTo>
                <a:srgbClr val="113222">
                  <a:alpha val="0"/>
                </a:srgbClr>
              </a:clrTo>
            </a:clrChange>
            <a:extLst>
              <a:ext uri="{28A0092B-C50C-407E-A947-70E740481C1C}">
                <a14:useLocalDpi xmlns:a14="http://schemas.microsoft.com/office/drawing/2010/main" val="0"/>
              </a:ext>
            </a:extLst>
          </a:blip>
          <a:srcRect/>
          <a:stretch>
            <a:fillRect/>
          </a:stretch>
        </p:blipFill>
        <p:spPr bwMode="auto">
          <a:xfrm>
            <a:off x="640079" y="338328"/>
            <a:ext cx="1790829" cy="107899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16A34A"/>
          </a:solidFill>
          <a:ln/>
        </p:spPr>
        <p:txBody>
          <a:bodyPr/>
          <a:lstStyle/>
          <a:p>
            <a:endParaRPr lang="en-US"/>
          </a:p>
        </p:txBody>
      </p:sp>
      <p:sp>
        <p:nvSpPr>
          <p:cNvPr id="3" name="Text 1"/>
          <p:cNvSpPr/>
          <p:nvPr/>
        </p:nvSpPr>
        <p:spPr>
          <a:xfrm>
            <a:off x="457200" y="201168"/>
            <a:ext cx="10058400" cy="256032"/>
          </a:xfrm>
          <a:prstGeom prst="rect">
            <a:avLst/>
          </a:prstGeom>
          <a:noFill/>
          <a:ln/>
        </p:spPr>
        <p:txBody>
          <a:bodyPr wrap="square" lIns="0" tIns="0" rIns="0" bIns="0" rtlCol="0" anchor="ctr"/>
          <a:lstStyle/>
          <a:p>
            <a:pPr marL="0" indent="0">
              <a:buNone/>
            </a:pPr>
            <a:r>
              <a:rPr lang="en-US" sz="900" b="1" kern="0" spc="100" dirty="0">
                <a:solidFill>
                  <a:srgbClr val="16A34A"/>
                </a:solidFill>
                <a:latin typeface="Calibri" pitchFamily="34" charset="0"/>
                <a:ea typeface="Calibri" pitchFamily="34" charset="-122"/>
                <a:cs typeface="Calibri" pitchFamily="34" charset="-120"/>
              </a:rPr>
              <a:t>EXECUTIVE SUMMARY</a:t>
            </a:r>
            <a:endParaRPr lang="en-US" sz="900" spc="100" dirty="0"/>
          </a:p>
        </p:txBody>
      </p:sp>
      <p:sp>
        <p:nvSpPr>
          <p:cNvPr id="4" name="Text 2"/>
          <p:cNvSpPr/>
          <p:nvPr/>
        </p:nvSpPr>
        <p:spPr>
          <a:xfrm>
            <a:off x="457200" y="457200"/>
            <a:ext cx="11247120" cy="731520"/>
          </a:xfrm>
          <a:prstGeom prst="rect">
            <a:avLst/>
          </a:prstGeom>
          <a:noFill/>
          <a:ln/>
        </p:spPr>
        <p:txBody>
          <a:bodyPr wrap="square" lIns="0" tIns="0" rIns="0" bIns="0" rtlCol="0" anchor="ctr"/>
          <a:lstStyle/>
          <a:p>
            <a:pPr marL="0" indent="0">
              <a:buNone/>
            </a:pPr>
            <a:r>
              <a:rPr lang="en-US" sz="2200" b="1" dirty="0">
                <a:solidFill>
                  <a:srgbClr val="0F172A"/>
                </a:solidFill>
                <a:latin typeface="Calibri" pitchFamily="34" charset="0"/>
                <a:ea typeface="Calibri" pitchFamily="34" charset="-122"/>
                <a:cs typeface="Calibri" pitchFamily="34" charset="-120"/>
              </a:rPr>
              <a:t>Two SaaS tuck-ins (~$130M) lift VAS revenue by ₹790 Cr and EBITDA by ~₹245 Cr by FY29</a:t>
            </a:r>
            <a:endParaRPr lang="en-US" sz="2200" dirty="0"/>
          </a:p>
        </p:txBody>
      </p:sp>
      <p:sp>
        <p:nvSpPr>
          <p:cNvPr id="5" name="Shape 3"/>
          <p:cNvSpPr/>
          <p:nvPr/>
        </p:nvSpPr>
        <p:spPr>
          <a:xfrm>
            <a:off x="457200" y="1188720"/>
            <a:ext cx="11247120" cy="13716"/>
          </a:xfrm>
          <a:prstGeom prst="rect">
            <a:avLst/>
          </a:prstGeom>
          <a:solidFill>
            <a:srgbClr val="E2E8F0"/>
          </a:solidFill>
          <a:ln/>
        </p:spPr>
        <p:txBody>
          <a:bodyPr/>
          <a:lstStyle/>
          <a:p>
            <a:endParaRPr lang="en-US"/>
          </a:p>
        </p:txBody>
      </p:sp>
      <p:sp>
        <p:nvSpPr>
          <p:cNvPr id="6" name="Text 4"/>
          <p:cNvSpPr/>
          <p:nvPr/>
        </p:nvSpPr>
        <p:spPr>
          <a:xfrm>
            <a:off x="457200" y="6492240"/>
            <a:ext cx="6400800" cy="256032"/>
          </a:xfrm>
          <a:prstGeom prst="rect">
            <a:avLst/>
          </a:prstGeom>
          <a:noFill/>
          <a:ln/>
        </p:spPr>
        <p:txBody>
          <a:bodyPr wrap="square" lIns="0" tIns="0" rIns="0" bIns="0" rtlCol="0" anchor="ctr"/>
          <a:lstStyle/>
          <a:p>
            <a:pPr marL="0" indent="0">
              <a:buNone/>
            </a:pPr>
            <a:r>
              <a:rPr lang="en-US" sz="900" i="1" dirty="0">
                <a:solidFill>
                  <a:srgbClr val="64748B"/>
                </a:solidFill>
                <a:latin typeface="Calibri" pitchFamily="34" charset="0"/>
                <a:ea typeface="Calibri" pitchFamily="34" charset="-122"/>
                <a:cs typeface="Calibri" pitchFamily="34" charset="-120"/>
              </a:rPr>
              <a:t>Pine Labs — Corporate Development</a:t>
            </a:r>
            <a:endParaRPr lang="en-US" sz="900" dirty="0"/>
          </a:p>
        </p:txBody>
      </p:sp>
      <p:sp>
        <p:nvSpPr>
          <p:cNvPr id="7" name="Text 5"/>
          <p:cNvSpPr/>
          <p:nvPr/>
        </p:nvSpPr>
        <p:spPr>
          <a:xfrm>
            <a:off x="6858000" y="6492240"/>
            <a:ext cx="2743200" cy="256032"/>
          </a:xfrm>
          <a:prstGeom prst="rect">
            <a:avLst/>
          </a:prstGeom>
          <a:noFill/>
          <a:ln/>
        </p:spPr>
        <p:txBody>
          <a:bodyPr wrap="square" lIns="0" tIns="0" rIns="0" bIns="0" rtlCol="0" anchor="ctr"/>
          <a:lstStyle/>
          <a:p>
            <a:pPr marL="0" indent="0" algn="ctr">
              <a:buNone/>
            </a:pPr>
            <a:r>
              <a:rPr lang="en-US" sz="900" i="1" dirty="0">
                <a:solidFill>
                  <a:srgbClr val="64748B"/>
                </a:solidFill>
                <a:latin typeface="Calibri" pitchFamily="34" charset="0"/>
                <a:ea typeface="Calibri" pitchFamily="34" charset="-122"/>
                <a:cs typeface="Calibri" pitchFamily="34" charset="-120"/>
              </a:rPr>
              <a:t>Strictly Confidential</a:t>
            </a:r>
            <a:endParaRPr lang="en-US" sz="900" dirty="0"/>
          </a:p>
        </p:txBody>
      </p:sp>
      <p:sp>
        <p:nvSpPr>
          <p:cNvPr id="8" name="Text 6"/>
          <p:cNvSpPr/>
          <p:nvPr/>
        </p:nvSpPr>
        <p:spPr>
          <a:xfrm>
            <a:off x="10515600" y="6492240"/>
            <a:ext cx="1188720" cy="256032"/>
          </a:xfrm>
          <a:prstGeom prst="rect">
            <a:avLst/>
          </a:prstGeom>
          <a:noFill/>
          <a:ln/>
        </p:spPr>
        <p:txBody>
          <a:bodyPr wrap="square" lIns="0" tIns="0" rIns="0" bIns="0" rtlCol="0" anchor="ctr"/>
          <a:lstStyle/>
          <a:p>
            <a:pPr marL="0" indent="0" algn="r">
              <a:buNone/>
            </a:pPr>
            <a:r>
              <a:rPr lang="en-US" sz="900" b="1" dirty="0">
                <a:solidFill>
                  <a:srgbClr val="64748B"/>
                </a:solidFill>
                <a:latin typeface="Calibri" pitchFamily="34" charset="0"/>
                <a:ea typeface="Calibri" pitchFamily="34" charset="-122"/>
                <a:cs typeface="Calibri" pitchFamily="34" charset="-120"/>
              </a:rPr>
              <a:t>2</a:t>
            </a:r>
            <a:endParaRPr lang="en-US" sz="900" dirty="0"/>
          </a:p>
        </p:txBody>
      </p:sp>
      <p:sp>
        <p:nvSpPr>
          <p:cNvPr id="9" name="Shape 7"/>
          <p:cNvSpPr/>
          <p:nvPr/>
        </p:nvSpPr>
        <p:spPr>
          <a:xfrm>
            <a:off x="457200" y="1417320"/>
            <a:ext cx="3611880" cy="411480"/>
          </a:xfrm>
          <a:prstGeom prst="rect">
            <a:avLst/>
          </a:prstGeom>
          <a:solidFill>
            <a:srgbClr val="0B1A14"/>
          </a:solidFill>
          <a:ln/>
        </p:spPr>
        <p:txBody>
          <a:bodyPr/>
          <a:lstStyle/>
          <a:p>
            <a:endParaRPr lang="en-US"/>
          </a:p>
        </p:txBody>
      </p:sp>
      <p:sp>
        <p:nvSpPr>
          <p:cNvPr id="10" name="Text 8"/>
          <p:cNvSpPr/>
          <p:nvPr/>
        </p:nvSpPr>
        <p:spPr>
          <a:xfrm>
            <a:off x="621792" y="1417320"/>
            <a:ext cx="3337560" cy="411480"/>
          </a:xfrm>
          <a:prstGeom prst="rect">
            <a:avLst/>
          </a:prstGeom>
          <a:noFill/>
          <a:ln/>
        </p:spPr>
        <p:txBody>
          <a:bodyPr wrap="square" lIns="0" tIns="0" rIns="0" bIns="0" rtlCol="0" anchor="ctr"/>
          <a:lstStyle/>
          <a:p>
            <a:pPr marL="0" indent="0">
              <a:buNone/>
            </a:pPr>
            <a:r>
              <a:rPr lang="en-US" sz="1100" b="1" kern="0" spc="100" dirty="0">
                <a:solidFill>
                  <a:srgbClr val="86EFAC"/>
                </a:solidFill>
                <a:latin typeface="Calibri" pitchFamily="34" charset="0"/>
                <a:ea typeface="Calibri" pitchFamily="34" charset="-122"/>
                <a:cs typeface="Calibri" pitchFamily="34" charset="-120"/>
              </a:rPr>
              <a:t>01    THE PROBLEM</a:t>
            </a:r>
            <a:endParaRPr lang="en-US" sz="1100" spc="100" dirty="0"/>
          </a:p>
        </p:txBody>
      </p:sp>
      <p:sp>
        <p:nvSpPr>
          <p:cNvPr id="11" name="Shape 9"/>
          <p:cNvSpPr/>
          <p:nvPr/>
        </p:nvSpPr>
        <p:spPr>
          <a:xfrm>
            <a:off x="457200" y="1828800"/>
            <a:ext cx="3611880" cy="4526280"/>
          </a:xfrm>
          <a:prstGeom prst="rect">
            <a:avLst/>
          </a:prstGeom>
          <a:solidFill>
            <a:srgbClr val="F8FAFC"/>
          </a:solidFill>
          <a:ln w="6350">
            <a:solidFill>
              <a:srgbClr val="E2E8F0"/>
            </a:solidFill>
            <a:prstDash val="solid"/>
          </a:ln>
        </p:spPr>
        <p:txBody>
          <a:bodyPr/>
          <a:lstStyle/>
          <a:p>
            <a:endParaRPr lang="en-US"/>
          </a:p>
        </p:txBody>
      </p:sp>
      <p:sp>
        <p:nvSpPr>
          <p:cNvPr id="12" name="Text 10"/>
          <p:cNvSpPr/>
          <p:nvPr/>
        </p:nvSpPr>
        <p:spPr>
          <a:xfrm>
            <a:off x="658368" y="1965960"/>
            <a:ext cx="3200400" cy="548640"/>
          </a:xfrm>
          <a:prstGeom prst="rect">
            <a:avLst/>
          </a:prstGeom>
          <a:noFill/>
          <a:ln/>
        </p:spPr>
        <p:txBody>
          <a:bodyPr wrap="square" lIns="0" tIns="0" rIns="0" bIns="0" rtlCol="0" anchor="ctr"/>
          <a:lstStyle/>
          <a:p>
            <a:pPr marL="0" indent="0">
              <a:buNone/>
            </a:pPr>
            <a:r>
              <a:rPr lang="en-US" sz="1600" b="1" dirty="0">
                <a:solidFill>
                  <a:srgbClr val="0F172A"/>
                </a:solidFill>
                <a:latin typeface="Calibri" pitchFamily="34" charset="0"/>
                <a:ea typeface="Calibri" pitchFamily="34" charset="-122"/>
                <a:cs typeface="Calibri" pitchFamily="34" charset="-120"/>
              </a:rPr>
              <a:t>75% of terminals are commodity</a:t>
            </a:r>
            <a:endParaRPr lang="en-US" sz="1600" dirty="0"/>
          </a:p>
        </p:txBody>
      </p:sp>
      <p:sp>
        <p:nvSpPr>
          <p:cNvPr id="13" name="Text 11"/>
          <p:cNvSpPr/>
          <p:nvPr/>
        </p:nvSpPr>
        <p:spPr>
          <a:xfrm>
            <a:off x="658368" y="2468880"/>
            <a:ext cx="3200400" cy="3749040"/>
          </a:xfrm>
          <a:prstGeom prst="rect">
            <a:avLst/>
          </a:prstGeom>
          <a:noFill/>
          <a:ln/>
        </p:spPr>
        <p:txBody>
          <a:bodyPr wrap="square" lIns="0" tIns="0" rIns="0" bIns="0" rtlCol="0" anchor="t"/>
          <a:lstStyle/>
          <a:p>
            <a:pPr marL="0" indent="0">
              <a:spcAft>
                <a:spcPts val="600"/>
              </a:spcAft>
              <a:buNone/>
            </a:pPr>
            <a:r>
              <a:rPr lang="en-US" sz="1100" dirty="0">
                <a:solidFill>
                  <a:srgbClr val="334155"/>
                </a:solidFill>
                <a:latin typeface="Calibri" pitchFamily="34" charset="0"/>
                <a:ea typeface="Calibri" pitchFamily="34" charset="-122"/>
                <a:cs typeface="Calibri" pitchFamily="34" charset="-120"/>
              </a:rPr>
              <a:t>Of 1.9M deployed terminals, only ~25% earn VAS revenue. Core payments fees compress under UPI (~89% of digital tx volume), while only VAS preserves 75–85% contribution margins.</a:t>
            </a:r>
            <a:endParaRPr lang="en-US" sz="1100" dirty="0"/>
          </a:p>
          <a:p>
            <a:pPr marL="0" indent="0">
              <a:spcAft>
                <a:spcPts val="600"/>
              </a:spcAft>
              <a:buNone/>
            </a:pPr>
            <a:endParaRPr lang="en-US" sz="1100" dirty="0"/>
          </a:p>
          <a:p>
            <a:pPr marL="0" indent="0">
              <a:spcAft>
                <a:spcPts val="600"/>
              </a:spcAft>
              <a:buNone/>
            </a:pPr>
            <a:r>
              <a:rPr lang="en-US" sz="1100" dirty="0">
                <a:solidFill>
                  <a:srgbClr val="334155"/>
                </a:solidFill>
                <a:latin typeface="Calibri" pitchFamily="34" charset="0"/>
                <a:ea typeface="Calibri" pitchFamily="34" charset="-122"/>
                <a:cs typeface="Calibri" pitchFamily="34" charset="-120"/>
              </a:rPr>
              <a:t>Pine Labs has built world-class distribution — but is monetizing it as a payment-acceptance utility, not a software platform.</a:t>
            </a:r>
            <a:endParaRPr lang="en-US" sz="1100" dirty="0"/>
          </a:p>
          <a:p>
            <a:pPr marL="0" indent="0">
              <a:spcAft>
                <a:spcPts val="600"/>
              </a:spcAft>
              <a:buNone/>
            </a:pPr>
            <a:endParaRPr lang="en-US" sz="1100" dirty="0"/>
          </a:p>
          <a:p>
            <a:pPr marL="0" indent="0">
              <a:spcAft>
                <a:spcPts val="600"/>
              </a:spcAft>
              <a:buNone/>
            </a:pPr>
            <a:r>
              <a:rPr lang="en-US" sz="1100" dirty="0">
                <a:solidFill>
                  <a:srgbClr val="334155"/>
                </a:solidFill>
                <a:latin typeface="Calibri" pitchFamily="34" charset="0"/>
                <a:ea typeface="Calibri" pitchFamily="34" charset="-122"/>
                <a:cs typeface="Calibri" pitchFamily="34" charset="-120"/>
              </a:rPr>
              <a:t>Top 10 customers = 31% of revenue. If we lose share with any of them, the impact is disproportionate.</a:t>
            </a:r>
            <a:endParaRPr lang="en-US" sz="1100" dirty="0"/>
          </a:p>
        </p:txBody>
      </p:sp>
      <p:sp>
        <p:nvSpPr>
          <p:cNvPr id="14" name="Shape 12"/>
          <p:cNvSpPr/>
          <p:nvPr/>
        </p:nvSpPr>
        <p:spPr>
          <a:xfrm>
            <a:off x="4233672" y="1417320"/>
            <a:ext cx="3611880" cy="411480"/>
          </a:xfrm>
          <a:prstGeom prst="rect">
            <a:avLst/>
          </a:prstGeom>
          <a:solidFill>
            <a:srgbClr val="16A34A"/>
          </a:solidFill>
          <a:ln/>
        </p:spPr>
        <p:txBody>
          <a:bodyPr/>
          <a:lstStyle/>
          <a:p>
            <a:endParaRPr lang="en-US"/>
          </a:p>
        </p:txBody>
      </p:sp>
      <p:sp>
        <p:nvSpPr>
          <p:cNvPr id="15" name="Text 13"/>
          <p:cNvSpPr/>
          <p:nvPr/>
        </p:nvSpPr>
        <p:spPr>
          <a:xfrm>
            <a:off x="4398264" y="1417320"/>
            <a:ext cx="3337560" cy="411480"/>
          </a:xfrm>
          <a:prstGeom prst="rect">
            <a:avLst/>
          </a:prstGeom>
          <a:noFill/>
          <a:ln/>
        </p:spPr>
        <p:txBody>
          <a:bodyPr wrap="square" lIns="0" tIns="0" rIns="0" bIns="0" rtlCol="0" anchor="ctr"/>
          <a:lstStyle/>
          <a:p>
            <a:pPr marL="0" indent="0">
              <a:buNone/>
            </a:pPr>
            <a:r>
              <a:rPr lang="en-US" sz="1100" b="1" kern="0" spc="100" dirty="0">
                <a:solidFill>
                  <a:srgbClr val="FFFFFF"/>
                </a:solidFill>
                <a:latin typeface="Calibri" pitchFamily="34" charset="0"/>
                <a:ea typeface="Calibri" pitchFamily="34" charset="-122"/>
                <a:cs typeface="Calibri" pitchFamily="34" charset="-120"/>
              </a:rPr>
              <a:t>02    THE PROPOSAL</a:t>
            </a:r>
            <a:endParaRPr lang="en-US" sz="1100" spc="100" dirty="0"/>
          </a:p>
        </p:txBody>
      </p:sp>
      <p:sp>
        <p:nvSpPr>
          <p:cNvPr id="16" name="Shape 14"/>
          <p:cNvSpPr/>
          <p:nvPr/>
        </p:nvSpPr>
        <p:spPr>
          <a:xfrm>
            <a:off x="4233672" y="1828800"/>
            <a:ext cx="3611880" cy="4526280"/>
          </a:xfrm>
          <a:prstGeom prst="rect">
            <a:avLst/>
          </a:prstGeom>
          <a:solidFill>
            <a:srgbClr val="FFFFFF"/>
          </a:solidFill>
          <a:ln w="15875">
            <a:solidFill>
              <a:srgbClr val="16A34A"/>
            </a:solidFill>
            <a:prstDash val="solid"/>
          </a:ln>
        </p:spPr>
        <p:txBody>
          <a:bodyPr/>
          <a:lstStyle/>
          <a:p>
            <a:endParaRPr lang="en-US"/>
          </a:p>
        </p:txBody>
      </p:sp>
      <p:sp>
        <p:nvSpPr>
          <p:cNvPr id="17" name="Text 15"/>
          <p:cNvSpPr/>
          <p:nvPr/>
        </p:nvSpPr>
        <p:spPr>
          <a:xfrm>
            <a:off x="4434840" y="1984248"/>
            <a:ext cx="3200400" cy="1463040"/>
          </a:xfrm>
          <a:prstGeom prst="rect">
            <a:avLst/>
          </a:prstGeom>
          <a:noFill/>
          <a:ln/>
        </p:spPr>
        <p:txBody>
          <a:bodyPr wrap="square" lIns="0" tIns="0" rIns="0" bIns="0" rtlCol="0" anchor="t"/>
          <a:lstStyle/>
          <a:p>
            <a:pPr marL="0" indent="0">
              <a:buNone/>
            </a:pPr>
            <a:r>
              <a:rPr lang="en-US" sz="1400" b="1" dirty="0">
                <a:solidFill>
                  <a:srgbClr val="0F172A"/>
                </a:solidFill>
                <a:latin typeface="Calibri" pitchFamily="34" charset="0"/>
                <a:ea typeface="Calibri" pitchFamily="34" charset="-122"/>
                <a:cs typeface="Calibri" pitchFamily="34" charset="-120"/>
              </a:rPr>
              <a:t>Riskcovry</a:t>
            </a:r>
            <a:r>
              <a:rPr lang="en-US" sz="1100" dirty="0">
                <a:solidFill>
                  <a:srgbClr val="334155"/>
                </a:solidFill>
                <a:latin typeface="Calibri" pitchFamily="34" charset="0"/>
                <a:ea typeface="Calibri" pitchFamily="34" charset="-122"/>
                <a:cs typeface="Calibri" pitchFamily="34" charset="-120"/>
              </a:rPr>
              <a:t>  •  Embedded insurance API</a:t>
            </a:r>
            <a:endParaRPr lang="en-US" sz="1400" dirty="0"/>
          </a:p>
          <a:p>
            <a:pPr marL="0" indent="0">
              <a:buNone/>
            </a:pPr>
            <a:r>
              <a:rPr lang="en-US" sz="400" dirty="0">
                <a:solidFill>
                  <a:srgbClr val="000000"/>
                </a:solidFill>
                <a:latin typeface="Calibri" pitchFamily="34" charset="0"/>
                <a:ea typeface="Calibri" pitchFamily="34" charset="-122"/>
                <a:cs typeface="Calibri" pitchFamily="34" charset="-120"/>
              </a:rPr>
              <a:t> </a:t>
            </a:r>
            <a:endParaRPr lang="en-US" sz="1400" dirty="0"/>
          </a:p>
          <a:p>
            <a:pPr marL="0" indent="0">
              <a:buNone/>
            </a:pPr>
            <a:r>
              <a:rPr lang="en-US" sz="1000" b="1" dirty="0">
                <a:solidFill>
                  <a:srgbClr val="334155"/>
                </a:solidFill>
                <a:latin typeface="Calibri" pitchFamily="34" charset="0"/>
                <a:ea typeface="Calibri" pitchFamily="34" charset="-122"/>
                <a:cs typeface="Calibri" pitchFamily="34" charset="-120"/>
              </a:rPr>
              <a:t>Ticket: </a:t>
            </a:r>
            <a:r>
              <a:rPr lang="en-US" sz="1000" dirty="0">
                <a:solidFill>
                  <a:srgbClr val="0F172A"/>
                </a:solidFill>
                <a:latin typeface="Calibri" pitchFamily="34" charset="0"/>
                <a:ea typeface="Calibri" pitchFamily="34" charset="-122"/>
                <a:cs typeface="Calibri" pitchFamily="34" charset="-120"/>
              </a:rPr>
              <a:t>$50–80M cash</a:t>
            </a:r>
            <a:endParaRPr lang="en-US" sz="1400" dirty="0"/>
          </a:p>
          <a:p>
            <a:pPr marL="0" indent="0">
              <a:buNone/>
            </a:pPr>
            <a:r>
              <a:rPr lang="en-US" sz="1000" b="1" dirty="0">
                <a:solidFill>
                  <a:srgbClr val="334155"/>
                </a:solidFill>
                <a:latin typeface="Calibri" pitchFamily="34" charset="0"/>
                <a:ea typeface="Calibri" pitchFamily="34" charset="-122"/>
                <a:cs typeface="Calibri" pitchFamily="34" charset="-120"/>
              </a:rPr>
              <a:t>Attaches to: </a:t>
            </a:r>
            <a:r>
              <a:rPr lang="en-US" sz="1000" dirty="0">
                <a:solidFill>
                  <a:srgbClr val="0F172A"/>
                </a:solidFill>
                <a:latin typeface="Calibri" pitchFamily="34" charset="0"/>
                <a:ea typeface="Calibri" pitchFamily="34" charset="-122"/>
                <a:cs typeface="Calibri" pitchFamily="34" charset="-120"/>
              </a:rPr>
              <a:t>Affordability / POS / Setu</a:t>
            </a:r>
            <a:endParaRPr lang="en-US" sz="1400" dirty="0"/>
          </a:p>
          <a:p>
            <a:pPr marL="0" indent="0">
              <a:buNone/>
            </a:pPr>
            <a:r>
              <a:rPr lang="en-US" sz="1000" b="1" dirty="0">
                <a:solidFill>
                  <a:srgbClr val="334155"/>
                </a:solidFill>
                <a:latin typeface="Calibri" pitchFamily="34" charset="0"/>
                <a:ea typeface="Calibri" pitchFamily="34" charset="-122"/>
                <a:cs typeface="Calibri" pitchFamily="34" charset="-120"/>
              </a:rPr>
              <a:t>Y3 revenue: </a:t>
            </a:r>
            <a:r>
              <a:rPr lang="en-US" sz="1000" dirty="0">
                <a:solidFill>
                  <a:srgbClr val="0F172A"/>
                </a:solidFill>
                <a:latin typeface="Calibri" pitchFamily="34" charset="0"/>
                <a:ea typeface="Calibri" pitchFamily="34" charset="-122"/>
                <a:cs typeface="Calibri" pitchFamily="34" charset="-120"/>
              </a:rPr>
              <a:t>₹540 Cr   |   EBITDA: ~₹150 Cr</a:t>
            </a:r>
            <a:endParaRPr lang="en-US" sz="1400" dirty="0"/>
          </a:p>
        </p:txBody>
      </p:sp>
      <p:sp>
        <p:nvSpPr>
          <p:cNvPr id="18" name="Shape 16"/>
          <p:cNvSpPr/>
          <p:nvPr/>
        </p:nvSpPr>
        <p:spPr>
          <a:xfrm>
            <a:off x="4434840" y="3657600"/>
            <a:ext cx="3200400" cy="10973"/>
          </a:xfrm>
          <a:prstGeom prst="rect">
            <a:avLst/>
          </a:prstGeom>
          <a:solidFill>
            <a:srgbClr val="E2E8F0"/>
          </a:solidFill>
          <a:ln/>
        </p:spPr>
        <p:txBody>
          <a:bodyPr/>
          <a:lstStyle/>
          <a:p>
            <a:endParaRPr lang="en-US"/>
          </a:p>
        </p:txBody>
      </p:sp>
      <p:sp>
        <p:nvSpPr>
          <p:cNvPr id="19" name="Text 17"/>
          <p:cNvSpPr/>
          <p:nvPr/>
        </p:nvSpPr>
        <p:spPr>
          <a:xfrm>
            <a:off x="4434840" y="3840480"/>
            <a:ext cx="3200400" cy="1463040"/>
          </a:xfrm>
          <a:prstGeom prst="rect">
            <a:avLst/>
          </a:prstGeom>
          <a:noFill/>
          <a:ln/>
        </p:spPr>
        <p:txBody>
          <a:bodyPr wrap="square" lIns="0" tIns="0" rIns="0" bIns="0" rtlCol="0" anchor="t"/>
          <a:lstStyle/>
          <a:p>
            <a:pPr marL="0" indent="0">
              <a:buNone/>
            </a:pPr>
            <a:r>
              <a:rPr lang="en-US" sz="1400" b="1" dirty="0">
                <a:solidFill>
                  <a:srgbClr val="0F172A"/>
                </a:solidFill>
                <a:latin typeface="Calibri" pitchFamily="34" charset="0"/>
                <a:ea typeface="Calibri" pitchFamily="34" charset="-122"/>
                <a:cs typeface="Calibri" pitchFamily="34" charset="-120"/>
              </a:rPr>
              <a:t>WebEngage</a:t>
            </a:r>
            <a:r>
              <a:rPr lang="en-US" sz="1100" dirty="0">
                <a:solidFill>
                  <a:srgbClr val="334155"/>
                </a:solidFill>
                <a:latin typeface="Calibri" pitchFamily="34" charset="0"/>
                <a:ea typeface="Calibri" pitchFamily="34" charset="-122"/>
                <a:cs typeface="Calibri" pitchFamily="34" charset="-120"/>
              </a:rPr>
              <a:t>  •  Marketing automation / CDP</a:t>
            </a:r>
            <a:endParaRPr lang="en-US" sz="1400" dirty="0"/>
          </a:p>
          <a:p>
            <a:pPr marL="0" indent="0">
              <a:buNone/>
            </a:pPr>
            <a:r>
              <a:rPr lang="en-US" sz="400" dirty="0">
                <a:solidFill>
                  <a:srgbClr val="000000"/>
                </a:solidFill>
                <a:latin typeface="Calibri" pitchFamily="34" charset="0"/>
                <a:ea typeface="Calibri" pitchFamily="34" charset="-122"/>
                <a:cs typeface="Calibri" pitchFamily="34" charset="-120"/>
              </a:rPr>
              <a:t> </a:t>
            </a:r>
            <a:endParaRPr lang="en-US" sz="1400" dirty="0"/>
          </a:p>
          <a:p>
            <a:pPr marL="0" indent="0">
              <a:buNone/>
            </a:pPr>
            <a:r>
              <a:rPr lang="en-US" sz="1000" b="1" dirty="0">
                <a:solidFill>
                  <a:srgbClr val="334155"/>
                </a:solidFill>
                <a:latin typeface="Calibri" pitchFamily="34" charset="0"/>
                <a:ea typeface="Calibri" pitchFamily="34" charset="-122"/>
                <a:cs typeface="Calibri" pitchFamily="34" charset="-120"/>
              </a:rPr>
              <a:t>Ticket: </a:t>
            </a:r>
            <a:r>
              <a:rPr lang="en-US" sz="1000" dirty="0">
                <a:solidFill>
                  <a:srgbClr val="0F172A"/>
                </a:solidFill>
                <a:latin typeface="Calibri" pitchFamily="34" charset="0"/>
                <a:ea typeface="Calibri" pitchFamily="34" charset="-122"/>
                <a:cs typeface="Calibri" pitchFamily="34" charset="-120"/>
              </a:rPr>
              <a:t>$70–78M cash</a:t>
            </a:r>
            <a:endParaRPr lang="en-US" sz="1400" dirty="0"/>
          </a:p>
          <a:p>
            <a:pPr marL="0" indent="0">
              <a:buNone/>
            </a:pPr>
            <a:r>
              <a:rPr lang="en-US" sz="1000" b="1" dirty="0">
                <a:solidFill>
                  <a:srgbClr val="334155"/>
                </a:solidFill>
                <a:latin typeface="Calibri" pitchFamily="34" charset="0"/>
                <a:ea typeface="Calibri" pitchFamily="34" charset="-122"/>
                <a:cs typeface="Calibri" pitchFamily="34" charset="-120"/>
              </a:rPr>
              <a:t>Attaches to: </a:t>
            </a:r>
            <a:r>
              <a:rPr lang="en-US" sz="1000" dirty="0">
                <a:solidFill>
                  <a:srgbClr val="0F172A"/>
                </a:solidFill>
                <a:latin typeface="Calibri" pitchFamily="34" charset="0"/>
                <a:ea typeface="Calibri" pitchFamily="34" charset="-122"/>
                <a:cs typeface="Calibri" pitchFamily="34" charset="-120"/>
              </a:rPr>
              <a:t>Top 10 enterprise accounts</a:t>
            </a:r>
            <a:endParaRPr lang="en-US" sz="1400" dirty="0"/>
          </a:p>
          <a:p>
            <a:pPr marL="0" indent="0">
              <a:buNone/>
            </a:pPr>
            <a:r>
              <a:rPr lang="en-US" sz="1000" b="1" dirty="0">
                <a:solidFill>
                  <a:srgbClr val="334155"/>
                </a:solidFill>
                <a:latin typeface="Calibri" pitchFamily="34" charset="0"/>
                <a:ea typeface="Calibri" pitchFamily="34" charset="-122"/>
                <a:cs typeface="Calibri" pitchFamily="34" charset="-120"/>
              </a:rPr>
              <a:t>Y3 revenue: </a:t>
            </a:r>
            <a:r>
              <a:rPr lang="en-US" sz="1000" dirty="0">
                <a:solidFill>
                  <a:srgbClr val="0F172A"/>
                </a:solidFill>
                <a:latin typeface="Calibri" pitchFamily="34" charset="0"/>
                <a:ea typeface="Calibri" pitchFamily="34" charset="-122"/>
                <a:cs typeface="Calibri" pitchFamily="34" charset="-120"/>
              </a:rPr>
              <a:t>₹247 Cr   |   EBITDA: ~₹95 Cr</a:t>
            </a:r>
            <a:endParaRPr lang="en-US" sz="1400" dirty="0"/>
          </a:p>
        </p:txBody>
      </p:sp>
      <p:sp>
        <p:nvSpPr>
          <p:cNvPr id="20" name="Shape 18"/>
          <p:cNvSpPr/>
          <p:nvPr/>
        </p:nvSpPr>
        <p:spPr>
          <a:xfrm>
            <a:off x="8010144" y="1417320"/>
            <a:ext cx="3611880" cy="411480"/>
          </a:xfrm>
          <a:prstGeom prst="rect">
            <a:avLst/>
          </a:prstGeom>
          <a:solidFill>
            <a:srgbClr val="0B1A14"/>
          </a:solidFill>
          <a:ln/>
        </p:spPr>
        <p:txBody>
          <a:bodyPr/>
          <a:lstStyle/>
          <a:p>
            <a:endParaRPr lang="en-US"/>
          </a:p>
        </p:txBody>
      </p:sp>
      <p:sp>
        <p:nvSpPr>
          <p:cNvPr id="21" name="Text 19"/>
          <p:cNvSpPr/>
          <p:nvPr/>
        </p:nvSpPr>
        <p:spPr>
          <a:xfrm>
            <a:off x="8174736" y="1417320"/>
            <a:ext cx="3337560" cy="411480"/>
          </a:xfrm>
          <a:prstGeom prst="rect">
            <a:avLst/>
          </a:prstGeom>
          <a:noFill/>
          <a:ln/>
        </p:spPr>
        <p:txBody>
          <a:bodyPr wrap="square" lIns="0" tIns="0" rIns="0" bIns="0" rtlCol="0" anchor="ctr"/>
          <a:lstStyle/>
          <a:p>
            <a:pPr marL="0" indent="0">
              <a:buNone/>
            </a:pPr>
            <a:r>
              <a:rPr lang="en-US" sz="1100" b="1" kern="0" spc="100" dirty="0">
                <a:solidFill>
                  <a:srgbClr val="86EFAC"/>
                </a:solidFill>
                <a:latin typeface="Calibri" pitchFamily="34" charset="0"/>
                <a:ea typeface="Calibri" pitchFamily="34" charset="-122"/>
                <a:cs typeface="Calibri" pitchFamily="34" charset="-120"/>
              </a:rPr>
              <a:t>03    THE IMPACT (FY29)</a:t>
            </a:r>
            <a:endParaRPr lang="en-US" sz="1100" spc="100" dirty="0"/>
          </a:p>
        </p:txBody>
      </p:sp>
      <p:sp>
        <p:nvSpPr>
          <p:cNvPr id="22" name="Shape 20"/>
          <p:cNvSpPr/>
          <p:nvPr/>
        </p:nvSpPr>
        <p:spPr>
          <a:xfrm>
            <a:off x="8010144" y="1828800"/>
            <a:ext cx="3611880" cy="4526280"/>
          </a:xfrm>
          <a:prstGeom prst="rect">
            <a:avLst/>
          </a:prstGeom>
          <a:solidFill>
            <a:srgbClr val="F8FAFC"/>
          </a:solidFill>
          <a:ln w="6350">
            <a:solidFill>
              <a:srgbClr val="E2E8F0"/>
            </a:solidFill>
            <a:prstDash val="solid"/>
          </a:ln>
        </p:spPr>
        <p:txBody>
          <a:bodyPr/>
          <a:lstStyle/>
          <a:p>
            <a:endParaRPr lang="en-US"/>
          </a:p>
        </p:txBody>
      </p:sp>
      <p:sp>
        <p:nvSpPr>
          <p:cNvPr id="23" name="Text 21"/>
          <p:cNvSpPr/>
          <p:nvPr/>
        </p:nvSpPr>
        <p:spPr>
          <a:xfrm>
            <a:off x="8211312" y="2011680"/>
            <a:ext cx="1554480" cy="502920"/>
          </a:xfrm>
          <a:prstGeom prst="rect">
            <a:avLst/>
          </a:prstGeom>
          <a:noFill/>
          <a:ln/>
        </p:spPr>
        <p:txBody>
          <a:bodyPr wrap="square" lIns="0" tIns="0" rIns="0" bIns="0" rtlCol="0" anchor="ctr"/>
          <a:lstStyle/>
          <a:p>
            <a:pPr marL="0" indent="0">
              <a:buNone/>
            </a:pPr>
            <a:r>
              <a:rPr lang="en-US" sz="2400" b="1" dirty="0">
                <a:solidFill>
                  <a:srgbClr val="16A34A"/>
                </a:solidFill>
                <a:latin typeface="Calibri" pitchFamily="34" charset="0"/>
                <a:ea typeface="Calibri" pitchFamily="34" charset="-122"/>
                <a:cs typeface="Calibri" pitchFamily="34" charset="-120"/>
              </a:rPr>
              <a:t>₹790 Cr</a:t>
            </a:r>
            <a:endParaRPr lang="en-US" sz="2400" dirty="0"/>
          </a:p>
        </p:txBody>
      </p:sp>
      <p:sp>
        <p:nvSpPr>
          <p:cNvPr id="24" name="Text 22"/>
          <p:cNvSpPr/>
          <p:nvPr/>
        </p:nvSpPr>
        <p:spPr>
          <a:xfrm>
            <a:off x="9793224" y="2029968"/>
            <a:ext cx="1600200" cy="256032"/>
          </a:xfrm>
          <a:prstGeom prst="rect">
            <a:avLst/>
          </a:prstGeom>
          <a:noFill/>
          <a:ln/>
        </p:spPr>
        <p:txBody>
          <a:bodyPr wrap="square" lIns="0" tIns="0" rIns="0" bIns="0" rtlCol="0" anchor="ctr"/>
          <a:lstStyle/>
          <a:p>
            <a:pPr marL="0" indent="0">
              <a:buNone/>
            </a:pPr>
            <a:r>
              <a:rPr lang="en-US" sz="1100" b="1" dirty="0">
                <a:solidFill>
                  <a:srgbClr val="0F172A"/>
                </a:solidFill>
                <a:latin typeface="Calibri" pitchFamily="34" charset="0"/>
                <a:ea typeface="Calibri" pitchFamily="34" charset="-122"/>
                <a:cs typeface="Calibri" pitchFamily="34" charset="-120"/>
              </a:rPr>
              <a:t>incremental revenue</a:t>
            </a:r>
            <a:endParaRPr lang="en-US" sz="1100" dirty="0"/>
          </a:p>
        </p:txBody>
      </p:sp>
      <p:sp>
        <p:nvSpPr>
          <p:cNvPr id="25" name="Text 23"/>
          <p:cNvSpPr/>
          <p:nvPr/>
        </p:nvSpPr>
        <p:spPr>
          <a:xfrm>
            <a:off x="9793224" y="2267712"/>
            <a:ext cx="1600200" cy="237744"/>
          </a:xfrm>
          <a:prstGeom prst="rect">
            <a:avLst/>
          </a:prstGeom>
          <a:noFill/>
          <a:ln/>
        </p:spPr>
        <p:txBody>
          <a:bodyPr wrap="square" lIns="0" tIns="0" rIns="0" bIns="0" rtlCol="0" anchor="ctr"/>
          <a:lstStyle/>
          <a:p>
            <a:pPr marL="0" indent="0">
              <a:buNone/>
            </a:pPr>
            <a:r>
              <a:rPr lang="en-US" sz="950" i="1" dirty="0">
                <a:solidFill>
                  <a:srgbClr val="64748B"/>
                </a:solidFill>
                <a:latin typeface="Calibri" pitchFamily="34" charset="0"/>
                <a:ea typeface="Calibri" pitchFamily="34" charset="-122"/>
                <a:cs typeface="Calibri" pitchFamily="34" charset="-120"/>
              </a:rPr>
              <a:t>+18% vs FY29 base</a:t>
            </a:r>
            <a:endParaRPr lang="en-US" sz="950" dirty="0"/>
          </a:p>
        </p:txBody>
      </p:sp>
      <p:sp>
        <p:nvSpPr>
          <p:cNvPr id="26" name="Text 24"/>
          <p:cNvSpPr/>
          <p:nvPr/>
        </p:nvSpPr>
        <p:spPr>
          <a:xfrm>
            <a:off x="8211312" y="2724912"/>
            <a:ext cx="1554480" cy="502920"/>
          </a:xfrm>
          <a:prstGeom prst="rect">
            <a:avLst/>
          </a:prstGeom>
          <a:noFill/>
          <a:ln/>
        </p:spPr>
        <p:txBody>
          <a:bodyPr wrap="square" lIns="0" tIns="0" rIns="0" bIns="0" rtlCol="0" anchor="ctr"/>
          <a:lstStyle/>
          <a:p>
            <a:pPr marL="0" indent="0">
              <a:buNone/>
            </a:pPr>
            <a:r>
              <a:rPr lang="en-US" sz="2400" b="1" dirty="0">
                <a:solidFill>
                  <a:srgbClr val="16A34A"/>
                </a:solidFill>
                <a:latin typeface="Calibri" pitchFamily="34" charset="0"/>
                <a:ea typeface="Calibri" pitchFamily="34" charset="-122"/>
                <a:cs typeface="Calibri" pitchFamily="34" charset="-120"/>
              </a:rPr>
              <a:t>₹245 Cr</a:t>
            </a:r>
            <a:endParaRPr lang="en-US" sz="2400" dirty="0"/>
          </a:p>
        </p:txBody>
      </p:sp>
      <p:sp>
        <p:nvSpPr>
          <p:cNvPr id="27" name="Text 25"/>
          <p:cNvSpPr/>
          <p:nvPr/>
        </p:nvSpPr>
        <p:spPr>
          <a:xfrm>
            <a:off x="9793224" y="2743200"/>
            <a:ext cx="1600200" cy="256032"/>
          </a:xfrm>
          <a:prstGeom prst="rect">
            <a:avLst/>
          </a:prstGeom>
          <a:noFill/>
          <a:ln/>
        </p:spPr>
        <p:txBody>
          <a:bodyPr wrap="square" lIns="0" tIns="0" rIns="0" bIns="0" rtlCol="0" anchor="ctr"/>
          <a:lstStyle/>
          <a:p>
            <a:pPr marL="0" indent="0">
              <a:buNone/>
            </a:pPr>
            <a:r>
              <a:rPr lang="en-US" sz="1100" b="1" dirty="0">
                <a:solidFill>
                  <a:srgbClr val="0F172A"/>
                </a:solidFill>
                <a:latin typeface="Calibri" pitchFamily="34" charset="0"/>
                <a:ea typeface="Calibri" pitchFamily="34" charset="-122"/>
                <a:cs typeface="Calibri" pitchFamily="34" charset="-120"/>
              </a:rPr>
              <a:t>incremental EBITDA</a:t>
            </a:r>
            <a:endParaRPr lang="en-US" sz="1100" dirty="0"/>
          </a:p>
        </p:txBody>
      </p:sp>
      <p:sp>
        <p:nvSpPr>
          <p:cNvPr id="28" name="Text 26"/>
          <p:cNvSpPr/>
          <p:nvPr/>
        </p:nvSpPr>
        <p:spPr>
          <a:xfrm>
            <a:off x="9793224" y="2980944"/>
            <a:ext cx="1600200" cy="237744"/>
          </a:xfrm>
          <a:prstGeom prst="rect">
            <a:avLst/>
          </a:prstGeom>
          <a:noFill/>
          <a:ln/>
        </p:spPr>
        <p:txBody>
          <a:bodyPr wrap="square" lIns="0" tIns="0" rIns="0" bIns="0" rtlCol="0" anchor="ctr"/>
          <a:lstStyle/>
          <a:p>
            <a:pPr marL="0" indent="0">
              <a:buNone/>
            </a:pPr>
            <a:r>
              <a:rPr lang="en-US" sz="950" i="1" dirty="0">
                <a:solidFill>
                  <a:srgbClr val="64748B"/>
                </a:solidFill>
                <a:latin typeface="Calibri" pitchFamily="34" charset="0"/>
                <a:ea typeface="Calibri" pitchFamily="34" charset="-122"/>
                <a:cs typeface="Calibri" pitchFamily="34" charset="-120"/>
              </a:rPr>
              <a:t>+200 bps margin</a:t>
            </a:r>
            <a:endParaRPr lang="en-US" sz="950" dirty="0"/>
          </a:p>
        </p:txBody>
      </p:sp>
      <p:sp>
        <p:nvSpPr>
          <p:cNvPr id="29" name="Text 27"/>
          <p:cNvSpPr/>
          <p:nvPr/>
        </p:nvSpPr>
        <p:spPr>
          <a:xfrm>
            <a:off x="8211312" y="3438144"/>
            <a:ext cx="1554480" cy="502920"/>
          </a:xfrm>
          <a:prstGeom prst="rect">
            <a:avLst/>
          </a:prstGeom>
          <a:noFill/>
          <a:ln/>
        </p:spPr>
        <p:txBody>
          <a:bodyPr wrap="square" lIns="0" tIns="0" rIns="0" bIns="0" rtlCol="0" anchor="ctr"/>
          <a:lstStyle/>
          <a:p>
            <a:pPr marL="0" indent="0">
              <a:buNone/>
            </a:pPr>
            <a:r>
              <a:rPr lang="en-US" sz="2400" b="1" dirty="0">
                <a:solidFill>
                  <a:srgbClr val="16A34A"/>
                </a:solidFill>
                <a:latin typeface="Calibri" pitchFamily="34" charset="0"/>
                <a:ea typeface="Calibri" pitchFamily="34" charset="-122"/>
                <a:cs typeface="Calibri" pitchFamily="34" charset="-120"/>
              </a:rPr>
              <a:t>3.5×</a:t>
            </a:r>
            <a:endParaRPr lang="en-US" sz="2400" dirty="0"/>
          </a:p>
        </p:txBody>
      </p:sp>
      <p:sp>
        <p:nvSpPr>
          <p:cNvPr id="30" name="Text 28"/>
          <p:cNvSpPr/>
          <p:nvPr/>
        </p:nvSpPr>
        <p:spPr>
          <a:xfrm>
            <a:off x="9793224" y="3456432"/>
            <a:ext cx="1600200" cy="256032"/>
          </a:xfrm>
          <a:prstGeom prst="rect">
            <a:avLst/>
          </a:prstGeom>
          <a:noFill/>
          <a:ln/>
        </p:spPr>
        <p:txBody>
          <a:bodyPr wrap="square" lIns="0" tIns="0" rIns="0" bIns="0" rtlCol="0" anchor="ctr"/>
          <a:lstStyle/>
          <a:p>
            <a:pPr marL="0" indent="0">
              <a:buNone/>
            </a:pPr>
            <a:r>
              <a:rPr lang="en-US" sz="1100" b="1" dirty="0">
                <a:solidFill>
                  <a:srgbClr val="0F172A"/>
                </a:solidFill>
                <a:latin typeface="Calibri" pitchFamily="34" charset="0"/>
                <a:ea typeface="Calibri" pitchFamily="34" charset="-122"/>
                <a:cs typeface="Calibri" pitchFamily="34" charset="-120"/>
              </a:rPr>
              <a:t>ROIC on $130M deployed</a:t>
            </a:r>
            <a:endParaRPr lang="en-US" sz="1100" dirty="0"/>
          </a:p>
        </p:txBody>
      </p:sp>
      <p:sp>
        <p:nvSpPr>
          <p:cNvPr id="31" name="Text 29"/>
          <p:cNvSpPr/>
          <p:nvPr/>
        </p:nvSpPr>
        <p:spPr>
          <a:xfrm>
            <a:off x="9793224" y="3694176"/>
            <a:ext cx="1600200" cy="237744"/>
          </a:xfrm>
          <a:prstGeom prst="rect">
            <a:avLst/>
          </a:prstGeom>
          <a:noFill/>
          <a:ln/>
        </p:spPr>
        <p:txBody>
          <a:bodyPr wrap="square" lIns="0" tIns="0" rIns="0" bIns="0" rtlCol="0" anchor="ctr"/>
          <a:lstStyle/>
          <a:p>
            <a:pPr marL="0" indent="0">
              <a:buNone/>
            </a:pPr>
            <a:r>
              <a:rPr lang="en-US" sz="950" i="1" dirty="0">
                <a:solidFill>
                  <a:srgbClr val="64748B"/>
                </a:solidFill>
                <a:latin typeface="Calibri" pitchFamily="34" charset="0"/>
                <a:ea typeface="Calibri" pitchFamily="34" charset="-122"/>
                <a:cs typeface="Calibri" pitchFamily="34" charset="-120"/>
              </a:rPr>
              <a:t>~3-yr EBITDA payback</a:t>
            </a:r>
            <a:endParaRPr lang="en-US" sz="950" dirty="0"/>
          </a:p>
        </p:txBody>
      </p:sp>
      <p:sp>
        <p:nvSpPr>
          <p:cNvPr id="32" name="Text 30"/>
          <p:cNvSpPr/>
          <p:nvPr/>
        </p:nvSpPr>
        <p:spPr>
          <a:xfrm>
            <a:off x="8211312" y="4151376"/>
            <a:ext cx="1554480" cy="502920"/>
          </a:xfrm>
          <a:prstGeom prst="rect">
            <a:avLst/>
          </a:prstGeom>
          <a:noFill/>
          <a:ln/>
        </p:spPr>
        <p:txBody>
          <a:bodyPr wrap="square" lIns="0" tIns="0" rIns="0" bIns="0" rtlCol="0" anchor="ctr"/>
          <a:lstStyle/>
          <a:p>
            <a:pPr marL="0" indent="0">
              <a:buNone/>
            </a:pPr>
            <a:r>
              <a:rPr lang="en-US" sz="2400" b="1" dirty="0">
                <a:solidFill>
                  <a:srgbClr val="16A34A"/>
                </a:solidFill>
                <a:latin typeface="Calibri" pitchFamily="34" charset="0"/>
                <a:ea typeface="Calibri" pitchFamily="34" charset="-122"/>
                <a:cs typeface="Calibri" pitchFamily="34" charset="-120"/>
              </a:rPr>
              <a:t>₹575 Cr</a:t>
            </a:r>
            <a:endParaRPr lang="en-US" sz="2400" dirty="0"/>
          </a:p>
        </p:txBody>
      </p:sp>
      <p:sp>
        <p:nvSpPr>
          <p:cNvPr id="33" name="Text 31"/>
          <p:cNvSpPr/>
          <p:nvPr/>
        </p:nvSpPr>
        <p:spPr>
          <a:xfrm>
            <a:off x="9793224" y="4169664"/>
            <a:ext cx="1600200" cy="256032"/>
          </a:xfrm>
          <a:prstGeom prst="rect">
            <a:avLst/>
          </a:prstGeom>
          <a:noFill/>
          <a:ln/>
        </p:spPr>
        <p:txBody>
          <a:bodyPr wrap="square" lIns="0" tIns="0" rIns="0" bIns="0" rtlCol="0" anchor="ctr"/>
          <a:lstStyle/>
          <a:p>
            <a:pPr marL="0" indent="0">
              <a:buNone/>
            </a:pPr>
            <a:r>
              <a:rPr lang="en-US" sz="1100" b="1" dirty="0">
                <a:solidFill>
                  <a:srgbClr val="0F172A"/>
                </a:solidFill>
                <a:latin typeface="Calibri" pitchFamily="34" charset="0"/>
                <a:ea typeface="Calibri" pitchFamily="34" charset="-122"/>
                <a:cs typeface="Calibri" pitchFamily="34" charset="-120"/>
              </a:rPr>
              <a:t>wallet share with top 10</a:t>
            </a:r>
            <a:endParaRPr lang="en-US" sz="1100" dirty="0"/>
          </a:p>
        </p:txBody>
      </p:sp>
      <p:sp>
        <p:nvSpPr>
          <p:cNvPr id="34" name="Text 32"/>
          <p:cNvSpPr/>
          <p:nvPr/>
        </p:nvSpPr>
        <p:spPr>
          <a:xfrm>
            <a:off x="9793224" y="4407408"/>
            <a:ext cx="1600200" cy="237744"/>
          </a:xfrm>
          <a:prstGeom prst="rect">
            <a:avLst/>
          </a:prstGeom>
          <a:noFill/>
          <a:ln/>
        </p:spPr>
        <p:txBody>
          <a:bodyPr wrap="square" lIns="0" tIns="0" rIns="0" bIns="0" rtlCol="0" anchor="ctr"/>
          <a:lstStyle/>
          <a:p>
            <a:pPr marL="0" indent="0">
              <a:buNone/>
            </a:pPr>
            <a:r>
              <a:rPr lang="en-US" sz="950" i="1" dirty="0">
                <a:solidFill>
                  <a:srgbClr val="64748B"/>
                </a:solidFill>
                <a:latin typeface="Calibri" pitchFamily="34" charset="0"/>
                <a:ea typeface="Calibri" pitchFamily="34" charset="-122"/>
                <a:cs typeface="Calibri" pitchFamily="34" charset="-120"/>
              </a:rPr>
              <a:t>from ₹375 Cr today (+53%)</a:t>
            </a:r>
            <a:endParaRPr lang="en-US" sz="950" dirty="0"/>
          </a:p>
        </p:txBody>
      </p:sp>
      <p:sp>
        <p:nvSpPr>
          <p:cNvPr id="35" name="Shape 33"/>
          <p:cNvSpPr/>
          <p:nvPr/>
        </p:nvSpPr>
        <p:spPr>
          <a:xfrm>
            <a:off x="457200" y="6035040"/>
            <a:ext cx="11247120" cy="411480"/>
          </a:xfrm>
          <a:prstGeom prst="rect">
            <a:avLst/>
          </a:prstGeom>
          <a:solidFill>
            <a:srgbClr val="0B1A14"/>
          </a:solidFill>
          <a:ln/>
        </p:spPr>
        <p:txBody>
          <a:bodyPr/>
          <a:lstStyle/>
          <a:p>
            <a:endParaRPr lang="en-US"/>
          </a:p>
        </p:txBody>
      </p:sp>
      <p:sp>
        <p:nvSpPr>
          <p:cNvPr id="36" name="Shape 34"/>
          <p:cNvSpPr/>
          <p:nvPr/>
        </p:nvSpPr>
        <p:spPr>
          <a:xfrm>
            <a:off x="457200" y="6035040"/>
            <a:ext cx="73152" cy="411480"/>
          </a:xfrm>
          <a:prstGeom prst="rect">
            <a:avLst/>
          </a:prstGeom>
          <a:solidFill>
            <a:srgbClr val="16A34A"/>
          </a:solidFill>
          <a:ln/>
        </p:spPr>
        <p:txBody>
          <a:bodyPr/>
          <a:lstStyle/>
          <a:p>
            <a:endParaRPr lang="en-US"/>
          </a:p>
        </p:txBody>
      </p:sp>
      <p:sp>
        <p:nvSpPr>
          <p:cNvPr id="37" name="Text 35"/>
          <p:cNvSpPr/>
          <p:nvPr/>
        </p:nvSpPr>
        <p:spPr>
          <a:xfrm>
            <a:off x="685800" y="6035040"/>
            <a:ext cx="10972800" cy="411480"/>
          </a:xfrm>
          <a:prstGeom prst="rect">
            <a:avLst/>
          </a:prstGeom>
          <a:noFill/>
          <a:ln/>
        </p:spPr>
        <p:txBody>
          <a:bodyPr wrap="square" lIns="0" tIns="0" rIns="0" bIns="0" rtlCol="0" anchor="ctr"/>
          <a:lstStyle/>
          <a:p>
            <a:pPr marL="0" indent="0">
              <a:buNone/>
            </a:pPr>
            <a:r>
              <a:rPr lang="en-US" sz="1100" b="1" i="1" dirty="0">
                <a:solidFill>
                  <a:srgbClr val="FFFFFF"/>
                </a:solidFill>
                <a:latin typeface="Calibri" pitchFamily="34" charset="0"/>
                <a:ea typeface="Calibri" pitchFamily="34" charset="-122"/>
                <a:cs typeface="Calibri" pitchFamily="34" charset="-120"/>
              </a:rPr>
              <a:t>Cleanest available path to expand VAS into the existing book — no balance sheet, no vertical lock-in, no credit risk.</a:t>
            </a:r>
            <a:endParaRPr lang="en-US" sz="1100" dirty="0"/>
          </a:p>
        </p:txBody>
      </p:sp>
      <p:pic>
        <p:nvPicPr>
          <p:cNvPr id="5122" name="Picture 2" descr="Pine Labs Launches Paper POS, a Merged QR Product to Accept Payments via  UPI and Bharat QR Apps">
            <a:extLst>
              <a:ext uri="{FF2B5EF4-FFF2-40B4-BE49-F238E27FC236}">
                <a16:creationId xmlns:a16="http://schemas.microsoft.com/office/drawing/2014/main" id="{BF16D929-DF42-D74D-F877-4E4308D94E6F}"/>
              </a:ext>
            </a:extLst>
          </p:cNvPr>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1177016" y="-102584"/>
            <a:ext cx="1115568" cy="58451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16A34A"/>
          </a:solidFill>
          <a:ln/>
        </p:spPr>
        <p:txBody>
          <a:bodyPr/>
          <a:lstStyle/>
          <a:p>
            <a:endParaRPr lang="en-US"/>
          </a:p>
        </p:txBody>
      </p:sp>
      <p:sp>
        <p:nvSpPr>
          <p:cNvPr id="3" name="Text 1"/>
          <p:cNvSpPr/>
          <p:nvPr/>
        </p:nvSpPr>
        <p:spPr>
          <a:xfrm>
            <a:off x="457200" y="201168"/>
            <a:ext cx="10058400" cy="256032"/>
          </a:xfrm>
          <a:prstGeom prst="rect">
            <a:avLst/>
          </a:prstGeom>
          <a:noFill/>
          <a:ln/>
        </p:spPr>
        <p:txBody>
          <a:bodyPr wrap="square" lIns="0" tIns="0" rIns="0" bIns="0" rtlCol="0" anchor="ctr"/>
          <a:lstStyle/>
          <a:p>
            <a:pPr marL="0" indent="0">
              <a:buNone/>
            </a:pPr>
            <a:r>
              <a:rPr lang="en-US" sz="900" b="1" kern="0" spc="100" dirty="0">
                <a:solidFill>
                  <a:srgbClr val="16A34A"/>
                </a:solidFill>
                <a:latin typeface="Calibri" pitchFamily="34" charset="0"/>
                <a:ea typeface="Calibri" pitchFamily="34" charset="-122"/>
                <a:cs typeface="Calibri" pitchFamily="34" charset="-120"/>
              </a:rPr>
              <a:t>BUSINESS MODEL</a:t>
            </a:r>
            <a:endParaRPr lang="en-US" sz="900" spc="100" dirty="0"/>
          </a:p>
        </p:txBody>
      </p:sp>
      <p:sp>
        <p:nvSpPr>
          <p:cNvPr id="4" name="Text 2"/>
          <p:cNvSpPr/>
          <p:nvPr/>
        </p:nvSpPr>
        <p:spPr>
          <a:xfrm>
            <a:off x="457200" y="457200"/>
            <a:ext cx="11247120" cy="731520"/>
          </a:xfrm>
          <a:prstGeom prst="rect">
            <a:avLst/>
          </a:prstGeom>
          <a:noFill/>
          <a:ln/>
        </p:spPr>
        <p:txBody>
          <a:bodyPr wrap="square" lIns="0" tIns="0" rIns="0" bIns="0" rtlCol="0" anchor="ctr"/>
          <a:lstStyle/>
          <a:p>
            <a:pPr marL="0" indent="0">
              <a:buNone/>
            </a:pPr>
            <a:r>
              <a:rPr lang="en-US" sz="2200" b="1" dirty="0">
                <a:solidFill>
                  <a:srgbClr val="0F172A"/>
                </a:solidFill>
                <a:latin typeface="Calibri" pitchFamily="34" charset="0"/>
                <a:ea typeface="Calibri" pitchFamily="34" charset="-122"/>
                <a:cs typeface="Calibri" pitchFamily="34" charset="-120"/>
              </a:rPr>
              <a:t>Pine Labs runs on two engines — only one earns software-grade margins at scale</a:t>
            </a:r>
            <a:endParaRPr lang="en-US" sz="2200" dirty="0"/>
          </a:p>
        </p:txBody>
      </p:sp>
      <p:sp>
        <p:nvSpPr>
          <p:cNvPr id="5" name="Shape 3"/>
          <p:cNvSpPr/>
          <p:nvPr/>
        </p:nvSpPr>
        <p:spPr>
          <a:xfrm>
            <a:off x="457200" y="1188720"/>
            <a:ext cx="11247120" cy="13716"/>
          </a:xfrm>
          <a:prstGeom prst="rect">
            <a:avLst/>
          </a:prstGeom>
          <a:solidFill>
            <a:srgbClr val="E2E8F0"/>
          </a:solidFill>
          <a:ln/>
        </p:spPr>
        <p:txBody>
          <a:bodyPr/>
          <a:lstStyle/>
          <a:p>
            <a:endParaRPr lang="en-US"/>
          </a:p>
        </p:txBody>
      </p:sp>
      <p:sp>
        <p:nvSpPr>
          <p:cNvPr id="6" name="Text 4"/>
          <p:cNvSpPr/>
          <p:nvPr/>
        </p:nvSpPr>
        <p:spPr>
          <a:xfrm>
            <a:off x="457200" y="6492240"/>
            <a:ext cx="6400800" cy="256032"/>
          </a:xfrm>
          <a:prstGeom prst="rect">
            <a:avLst/>
          </a:prstGeom>
          <a:noFill/>
          <a:ln/>
        </p:spPr>
        <p:txBody>
          <a:bodyPr wrap="square" lIns="0" tIns="0" rIns="0" bIns="0" rtlCol="0" anchor="ctr"/>
          <a:lstStyle/>
          <a:p>
            <a:pPr marL="0" indent="0">
              <a:buNone/>
            </a:pPr>
            <a:r>
              <a:rPr lang="en-US" sz="900" i="1" dirty="0">
                <a:solidFill>
                  <a:srgbClr val="64748B"/>
                </a:solidFill>
                <a:latin typeface="Calibri" pitchFamily="34" charset="0"/>
                <a:ea typeface="Calibri" pitchFamily="34" charset="-122"/>
                <a:cs typeface="Calibri" pitchFamily="34" charset="-120"/>
              </a:rPr>
              <a:t>Pine Labs — Corporate Development</a:t>
            </a:r>
            <a:endParaRPr lang="en-US" sz="900" dirty="0"/>
          </a:p>
        </p:txBody>
      </p:sp>
      <p:sp>
        <p:nvSpPr>
          <p:cNvPr id="7" name="Text 5"/>
          <p:cNvSpPr/>
          <p:nvPr/>
        </p:nvSpPr>
        <p:spPr>
          <a:xfrm>
            <a:off x="6858000" y="6492240"/>
            <a:ext cx="2743200" cy="256032"/>
          </a:xfrm>
          <a:prstGeom prst="rect">
            <a:avLst/>
          </a:prstGeom>
          <a:noFill/>
          <a:ln/>
        </p:spPr>
        <p:txBody>
          <a:bodyPr wrap="square" lIns="0" tIns="0" rIns="0" bIns="0" rtlCol="0" anchor="ctr"/>
          <a:lstStyle/>
          <a:p>
            <a:pPr marL="0" indent="0" algn="ctr">
              <a:buNone/>
            </a:pPr>
            <a:r>
              <a:rPr lang="en-US" sz="900" i="1" dirty="0">
                <a:solidFill>
                  <a:srgbClr val="64748B"/>
                </a:solidFill>
                <a:latin typeface="Calibri" pitchFamily="34" charset="0"/>
                <a:ea typeface="Calibri" pitchFamily="34" charset="-122"/>
                <a:cs typeface="Calibri" pitchFamily="34" charset="-120"/>
              </a:rPr>
              <a:t>Strictly Confidential</a:t>
            </a:r>
            <a:endParaRPr lang="en-US" sz="900" dirty="0"/>
          </a:p>
        </p:txBody>
      </p:sp>
      <p:sp>
        <p:nvSpPr>
          <p:cNvPr id="8" name="Text 6"/>
          <p:cNvSpPr/>
          <p:nvPr/>
        </p:nvSpPr>
        <p:spPr>
          <a:xfrm>
            <a:off x="10515600" y="6492240"/>
            <a:ext cx="1188720" cy="256032"/>
          </a:xfrm>
          <a:prstGeom prst="rect">
            <a:avLst/>
          </a:prstGeom>
          <a:noFill/>
          <a:ln/>
        </p:spPr>
        <p:txBody>
          <a:bodyPr wrap="square" lIns="0" tIns="0" rIns="0" bIns="0" rtlCol="0" anchor="ctr"/>
          <a:lstStyle/>
          <a:p>
            <a:pPr marL="0" indent="0" algn="r">
              <a:buNone/>
            </a:pPr>
            <a:r>
              <a:rPr lang="en-US" sz="900" b="1" dirty="0">
                <a:solidFill>
                  <a:srgbClr val="64748B"/>
                </a:solidFill>
                <a:latin typeface="Calibri" pitchFamily="34" charset="0"/>
                <a:ea typeface="Calibri" pitchFamily="34" charset="-122"/>
                <a:cs typeface="Calibri" pitchFamily="34" charset="-120"/>
              </a:rPr>
              <a:t>3</a:t>
            </a:r>
            <a:endParaRPr lang="en-US" sz="900" dirty="0"/>
          </a:p>
        </p:txBody>
      </p:sp>
      <p:sp>
        <p:nvSpPr>
          <p:cNvPr id="9" name="Shape 7"/>
          <p:cNvSpPr/>
          <p:nvPr/>
        </p:nvSpPr>
        <p:spPr>
          <a:xfrm>
            <a:off x="457200" y="1417320"/>
            <a:ext cx="5486400" cy="502920"/>
          </a:xfrm>
          <a:prstGeom prst="rect">
            <a:avLst/>
          </a:prstGeom>
          <a:solidFill>
            <a:srgbClr val="334155"/>
          </a:solidFill>
          <a:ln/>
        </p:spPr>
        <p:txBody>
          <a:bodyPr/>
          <a:lstStyle/>
          <a:p>
            <a:endParaRPr lang="en-US"/>
          </a:p>
        </p:txBody>
      </p:sp>
      <p:sp>
        <p:nvSpPr>
          <p:cNvPr id="10" name="Text 8"/>
          <p:cNvSpPr/>
          <p:nvPr/>
        </p:nvSpPr>
        <p:spPr>
          <a:xfrm>
            <a:off x="685800" y="1417320"/>
            <a:ext cx="5120640" cy="502920"/>
          </a:xfrm>
          <a:prstGeom prst="rect">
            <a:avLst/>
          </a:prstGeom>
          <a:noFill/>
          <a:ln/>
        </p:spPr>
        <p:txBody>
          <a:bodyPr wrap="square" lIns="0" tIns="0" rIns="0" bIns="0" rtlCol="0" anchor="ctr"/>
          <a:lstStyle/>
          <a:p>
            <a:pPr marL="0" indent="0">
              <a:buNone/>
            </a:pPr>
            <a:r>
              <a:rPr lang="en-US" sz="1300" b="1" kern="0" spc="100" dirty="0">
                <a:solidFill>
                  <a:srgbClr val="FFFFFF"/>
                </a:solidFill>
                <a:latin typeface="Calibri" pitchFamily="34" charset="0"/>
                <a:ea typeface="Calibri" pitchFamily="34" charset="-122"/>
                <a:cs typeface="Calibri" pitchFamily="34" charset="-120"/>
              </a:rPr>
              <a:t>TRANSACTION SERVICES</a:t>
            </a:r>
            <a:endParaRPr lang="en-US" sz="1300" spc="100" dirty="0"/>
          </a:p>
        </p:txBody>
      </p:sp>
      <p:sp>
        <p:nvSpPr>
          <p:cNvPr id="11" name="Text 9"/>
          <p:cNvSpPr/>
          <p:nvPr/>
        </p:nvSpPr>
        <p:spPr>
          <a:xfrm>
            <a:off x="685800" y="1417320"/>
            <a:ext cx="5120640" cy="502920"/>
          </a:xfrm>
          <a:prstGeom prst="rect">
            <a:avLst/>
          </a:prstGeom>
          <a:noFill/>
          <a:ln/>
        </p:spPr>
        <p:txBody>
          <a:bodyPr wrap="square" lIns="0" tIns="0" rIns="0" bIns="0" rtlCol="0" anchor="ctr"/>
          <a:lstStyle/>
          <a:p>
            <a:pPr marL="0" indent="0" algn="r">
              <a:buNone/>
            </a:pPr>
            <a:r>
              <a:rPr lang="en-US" sz="1000" i="1" dirty="0">
                <a:solidFill>
                  <a:srgbClr val="86EFAC"/>
                </a:solidFill>
                <a:latin typeface="Calibri" pitchFamily="34" charset="0"/>
                <a:ea typeface="Calibri" pitchFamily="34" charset="-122"/>
                <a:cs typeface="Calibri" pitchFamily="34" charset="-120"/>
              </a:rPr>
              <a:t>commodity layer</a:t>
            </a:r>
            <a:endParaRPr lang="en-US" sz="1000" dirty="0"/>
          </a:p>
        </p:txBody>
      </p:sp>
      <p:sp>
        <p:nvSpPr>
          <p:cNvPr id="12" name="Shape 10"/>
          <p:cNvSpPr/>
          <p:nvPr/>
        </p:nvSpPr>
        <p:spPr>
          <a:xfrm>
            <a:off x="457200" y="1920240"/>
            <a:ext cx="5486400" cy="4160520"/>
          </a:xfrm>
          <a:prstGeom prst="rect">
            <a:avLst/>
          </a:prstGeom>
          <a:solidFill>
            <a:srgbClr val="FFFFFF"/>
          </a:solidFill>
          <a:ln w="6350">
            <a:solidFill>
              <a:srgbClr val="E2E8F0"/>
            </a:solidFill>
            <a:prstDash val="solid"/>
          </a:ln>
        </p:spPr>
        <p:txBody>
          <a:bodyPr/>
          <a:lstStyle/>
          <a:p>
            <a:endParaRPr lang="en-US"/>
          </a:p>
        </p:txBody>
      </p:sp>
      <p:sp>
        <p:nvSpPr>
          <p:cNvPr id="13" name="Text 11"/>
          <p:cNvSpPr/>
          <p:nvPr/>
        </p:nvSpPr>
        <p:spPr>
          <a:xfrm>
            <a:off x="685800" y="2057400"/>
            <a:ext cx="5029200" cy="274320"/>
          </a:xfrm>
          <a:prstGeom prst="rect">
            <a:avLst/>
          </a:prstGeom>
          <a:noFill/>
          <a:ln/>
        </p:spPr>
        <p:txBody>
          <a:bodyPr wrap="square" lIns="0" tIns="0" rIns="0" bIns="0" rtlCol="0" anchor="ctr"/>
          <a:lstStyle/>
          <a:p>
            <a:pPr marL="0" indent="0">
              <a:buNone/>
            </a:pPr>
            <a:r>
              <a:rPr lang="en-US" sz="1000" b="1" kern="0" spc="100" dirty="0">
                <a:solidFill>
                  <a:srgbClr val="16A34A"/>
                </a:solidFill>
                <a:latin typeface="Calibri" pitchFamily="34" charset="0"/>
                <a:ea typeface="Calibri" pitchFamily="34" charset="-122"/>
                <a:cs typeface="Calibri" pitchFamily="34" charset="-120"/>
              </a:rPr>
              <a:t>What it is</a:t>
            </a:r>
            <a:endParaRPr lang="en-US" sz="1000" spc="100" dirty="0"/>
          </a:p>
        </p:txBody>
      </p:sp>
      <p:sp>
        <p:nvSpPr>
          <p:cNvPr id="14" name="Text 12"/>
          <p:cNvSpPr/>
          <p:nvPr/>
        </p:nvSpPr>
        <p:spPr>
          <a:xfrm>
            <a:off x="685800" y="2331720"/>
            <a:ext cx="5029200" cy="502920"/>
          </a:xfrm>
          <a:prstGeom prst="rect">
            <a:avLst/>
          </a:prstGeom>
          <a:noFill/>
          <a:ln/>
        </p:spPr>
        <p:txBody>
          <a:bodyPr wrap="square" lIns="0" tIns="0" rIns="0" bIns="0" rtlCol="0" anchor="t"/>
          <a:lstStyle/>
          <a:p>
            <a:pPr marL="0" indent="0">
              <a:buNone/>
            </a:pPr>
            <a:r>
              <a:rPr lang="en-US" sz="1100" dirty="0">
                <a:solidFill>
                  <a:srgbClr val="0F172A"/>
                </a:solidFill>
                <a:latin typeface="Calibri" pitchFamily="34" charset="0"/>
                <a:ea typeface="Calibri" pitchFamily="34" charset="-122"/>
                <a:cs typeface="Calibri" pitchFamily="34" charset="-120"/>
              </a:rPr>
              <a:t>POS terminal rental, payment processing, online gateway, BBPS, card-issuing infra (Credit+)</a:t>
            </a:r>
            <a:endParaRPr lang="en-US" sz="1100" dirty="0"/>
          </a:p>
        </p:txBody>
      </p:sp>
      <p:sp>
        <p:nvSpPr>
          <p:cNvPr id="15" name="Text 13"/>
          <p:cNvSpPr/>
          <p:nvPr/>
        </p:nvSpPr>
        <p:spPr>
          <a:xfrm>
            <a:off x="685800" y="2926080"/>
            <a:ext cx="5029200" cy="274320"/>
          </a:xfrm>
          <a:prstGeom prst="rect">
            <a:avLst/>
          </a:prstGeom>
          <a:noFill/>
          <a:ln/>
        </p:spPr>
        <p:txBody>
          <a:bodyPr wrap="square" lIns="0" tIns="0" rIns="0" bIns="0" rtlCol="0" anchor="ctr"/>
          <a:lstStyle/>
          <a:p>
            <a:pPr marL="0" indent="0">
              <a:buNone/>
            </a:pPr>
            <a:r>
              <a:rPr lang="en-US" sz="1000" b="1" kern="0" spc="100" dirty="0">
                <a:solidFill>
                  <a:srgbClr val="16A34A"/>
                </a:solidFill>
                <a:latin typeface="Calibri" pitchFamily="34" charset="0"/>
                <a:ea typeface="Calibri" pitchFamily="34" charset="-122"/>
                <a:cs typeface="Calibri" pitchFamily="34" charset="-120"/>
              </a:rPr>
              <a:t>How it earns</a:t>
            </a:r>
            <a:endParaRPr lang="en-US" sz="1000" spc="100" dirty="0"/>
          </a:p>
        </p:txBody>
      </p:sp>
      <p:sp>
        <p:nvSpPr>
          <p:cNvPr id="16" name="Text 14"/>
          <p:cNvSpPr/>
          <p:nvPr/>
        </p:nvSpPr>
        <p:spPr>
          <a:xfrm>
            <a:off x="685800" y="3200400"/>
            <a:ext cx="5029200" cy="457200"/>
          </a:xfrm>
          <a:prstGeom prst="rect">
            <a:avLst/>
          </a:prstGeom>
          <a:noFill/>
          <a:ln/>
        </p:spPr>
        <p:txBody>
          <a:bodyPr wrap="square" lIns="0" tIns="0" rIns="0" bIns="0" rtlCol="0" anchor="t"/>
          <a:lstStyle/>
          <a:p>
            <a:pPr marL="0" indent="0">
              <a:buNone/>
            </a:pPr>
            <a:r>
              <a:rPr lang="en-US" sz="1100" dirty="0">
                <a:solidFill>
                  <a:srgbClr val="0F172A"/>
                </a:solidFill>
                <a:latin typeface="Calibri" pitchFamily="34" charset="0"/>
                <a:ea typeface="Calibri" pitchFamily="34" charset="-122"/>
                <a:cs typeface="Calibri" pitchFamily="34" charset="-120"/>
              </a:rPr>
              <a:t>Monthly rental + per-tx MDR, primarily passed through to networks &amp; banks</a:t>
            </a:r>
            <a:endParaRPr lang="en-US" sz="1100" dirty="0"/>
          </a:p>
        </p:txBody>
      </p:sp>
      <p:sp>
        <p:nvSpPr>
          <p:cNvPr id="17" name="Text 15"/>
          <p:cNvSpPr/>
          <p:nvPr/>
        </p:nvSpPr>
        <p:spPr>
          <a:xfrm>
            <a:off x="685800" y="3749040"/>
            <a:ext cx="5029200" cy="274320"/>
          </a:xfrm>
          <a:prstGeom prst="rect">
            <a:avLst/>
          </a:prstGeom>
          <a:noFill/>
          <a:ln/>
        </p:spPr>
        <p:txBody>
          <a:bodyPr wrap="square" lIns="0" tIns="0" rIns="0" bIns="0" rtlCol="0" anchor="ctr"/>
          <a:lstStyle/>
          <a:p>
            <a:pPr marL="0" indent="0">
              <a:buNone/>
            </a:pPr>
            <a:r>
              <a:rPr lang="en-US" sz="1000" b="1" kern="0" spc="100" dirty="0">
                <a:solidFill>
                  <a:srgbClr val="16A34A"/>
                </a:solidFill>
                <a:latin typeface="Calibri" pitchFamily="34" charset="0"/>
                <a:ea typeface="Calibri" pitchFamily="34" charset="-122"/>
                <a:cs typeface="Calibri" pitchFamily="34" charset="-120"/>
              </a:rPr>
              <a:t>Margin profile</a:t>
            </a:r>
            <a:endParaRPr lang="en-US" sz="1000" spc="100" dirty="0"/>
          </a:p>
        </p:txBody>
      </p:sp>
      <p:sp>
        <p:nvSpPr>
          <p:cNvPr id="18" name="Shape 16"/>
          <p:cNvSpPr/>
          <p:nvPr/>
        </p:nvSpPr>
        <p:spPr>
          <a:xfrm>
            <a:off x="685800" y="4114800"/>
            <a:ext cx="4389120" cy="274320"/>
          </a:xfrm>
          <a:prstGeom prst="rect">
            <a:avLst/>
          </a:prstGeom>
          <a:solidFill>
            <a:srgbClr val="F1F5F9"/>
          </a:solidFill>
          <a:ln/>
        </p:spPr>
        <p:txBody>
          <a:bodyPr/>
          <a:lstStyle/>
          <a:p>
            <a:endParaRPr lang="en-US"/>
          </a:p>
        </p:txBody>
      </p:sp>
      <p:sp>
        <p:nvSpPr>
          <p:cNvPr id="19" name="Shape 17"/>
          <p:cNvSpPr/>
          <p:nvPr/>
        </p:nvSpPr>
        <p:spPr>
          <a:xfrm>
            <a:off x="685800" y="4114800"/>
            <a:ext cx="2414016" cy="274320"/>
          </a:xfrm>
          <a:prstGeom prst="rect">
            <a:avLst/>
          </a:prstGeom>
          <a:solidFill>
            <a:srgbClr val="334155"/>
          </a:solidFill>
          <a:ln/>
        </p:spPr>
        <p:txBody>
          <a:bodyPr/>
          <a:lstStyle/>
          <a:p>
            <a:endParaRPr lang="en-US"/>
          </a:p>
        </p:txBody>
      </p:sp>
      <p:sp>
        <p:nvSpPr>
          <p:cNvPr id="20" name="Text 18"/>
          <p:cNvSpPr/>
          <p:nvPr/>
        </p:nvSpPr>
        <p:spPr>
          <a:xfrm>
            <a:off x="685800" y="4114800"/>
            <a:ext cx="4389120" cy="274320"/>
          </a:xfrm>
          <a:prstGeom prst="rect">
            <a:avLst/>
          </a:prstGeom>
          <a:noFill/>
          <a:ln/>
        </p:spPr>
        <p:txBody>
          <a:bodyPr wrap="square" lIns="0" tIns="0" rIns="0" bIns="0" rtlCol="0" anchor="ctr"/>
          <a:lstStyle/>
          <a:p>
            <a:pPr marL="0" indent="0" algn="ctr">
              <a:buNone/>
            </a:pPr>
            <a:r>
              <a:rPr lang="en-US" sz="1000" b="1" dirty="0">
                <a:solidFill>
                  <a:schemeClr val="accent1">
                    <a:lumMod val="60000"/>
                    <a:lumOff val="40000"/>
                  </a:schemeClr>
                </a:solidFill>
                <a:latin typeface="Calibri" pitchFamily="34" charset="0"/>
                <a:ea typeface="Calibri" pitchFamily="34" charset="-122"/>
                <a:cs typeface="Calibri" pitchFamily="34" charset="-120"/>
              </a:rPr>
              <a:t>~55% contribution</a:t>
            </a:r>
            <a:endParaRPr lang="en-US" sz="1000" dirty="0">
              <a:solidFill>
                <a:schemeClr val="accent1">
                  <a:lumMod val="60000"/>
                  <a:lumOff val="40000"/>
                </a:schemeClr>
              </a:solidFill>
            </a:endParaRPr>
          </a:p>
        </p:txBody>
      </p:sp>
      <p:sp>
        <p:nvSpPr>
          <p:cNvPr id="21" name="Text 19"/>
          <p:cNvSpPr/>
          <p:nvPr/>
        </p:nvSpPr>
        <p:spPr>
          <a:xfrm>
            <a:off x="685800" y="4572000"/>
            <a:ext cx="5029200" cy="274320"/>
          </a:xfrm>
          <a:prstGeom prst="rect">
            <a:avLst/>
          </a:prstGeom>
          <a:noFill/>
          <a:ln/>
        </p:spPr>
        <p:txBody>
          <a:bodyPr wrap="square" lIns="0" tIns="0" rIns="0" bIns="0" rtlCol="0" anchor="ctr"/>
          <a:lstStyle/>
          <a:p>
            <a:pPr marL="0" indent="0">
              <a:buNone/>
            </a:pPr>
            <a:r>
              <a:rPr lang="en-US" sz="1000" b="1" kern="0" spc="100" dirty="0">
                <a:solidFill>
                  <a:srgbClr val="DC2626"/>
                </a:solidFill>
                <a:latin typeface="Calibri" pitchFamily="34" charset="0"/>
                <a:ea typeface="Calibri" pitchFamily="34" charset="-122"/>
                <a:cs typeface="Calibri" pitchFamily="34" charset="-120"/>
              </a:rPr>
              <a:t>Threats</a:t>
            </a:r>
            <a:endParaRPr lang="en-US" sz="1000" spc="100" dirty="0"/>
          </a:p>
        </p:txBody>
      </p:sp>
      <p:sp>
        <p:nvSpPr>
          <p:cNvPr id="22" name="Text 20"/>
          <p:cNvSpPr/>
          <p:nvPr/>
        </p:nvSpPr>
        <p:spPr>
          <a:xfrm>
            <a:off x="685800" y="4846320"/>
            <a:ext cx="5029200" cy="1097280"/>
          </a:xfrm>
          <a:prstGeom prst="rect">
            <a:avLst/>
          </a:prstGeom>
          <a:noFill/>
          <a:ln/>
        </p:spPr>
        <p:txBody>
          <a:bodyPr wrap="square" lIns="0" tIns="0" rIns="0" bIns="0" rtlCol="0" anchor="t"/>
          <a:lstStyle/>
          <a:p>
            <a:pPr marL="0" indent="0">
              <a:spcAft>
                <a:spcPts val="200"/>
              </a:spcAft>
              <a:buNone/>
            </a:pPr>
            <a:r>
              <a:rPr lang="en-US" sz="1050" dirty="0">
                <a:solidFill>
                  <a:srgbClr val="334155"/>
                </a:solidFill>
                <a:latin typeface="Calibri" pitchFamily="34" charset="0"/>
                <a:ea typeface="Calibri" pitchFamily="34" charset="-122"/>
                <a:cs typeface="Calibri" pitchFamily="34" charset="-120"/>
              </a:rPr>
              <a:t>•  UPI cannibalization of card MDR (~89% of digital tx today)</a:t>
            </a:r>
            <a:endParaRPr lang="en-US" sz="1050" dirty="0"/>
          </a:p>
          <a:p>
            <a:pPr marL="0" indent="0">
              <a:spcAft>
                <a:spcPts val="200"/>
              </a:spcAft>
              <a:buNone/>
            </a:pPr>
            <a:r>
              <a:rPr lang="en-US" sz="1050" dirty="0">
                <a:solidFill>
                  <a:srgbClr val="334155"/>
                </a:solidFill>
                <a:latin typeface="Calibri" pitchFamily="34" charset="0"/>
                <a:ea typeface="Calibri" pitchFamily="34" charset="-122"/>
                <a:cs typeface="Calibri" pitchFamily="34" charset="-120"/>
              </a:rPr>
              <a:t>•  RBI MDR caps &amp; zero-MDR for RuPay/UPI</a:t>
            </a:r>
            <a:endParaRPr lang="en-US" sz="1050" dirty="0"/>
          </a:p>
          <a:p>
            <a:pPr marL="0" indent="0">
              <a:spcAft>
                <a:spcPts val="200"/>
              </a:spcAft>
              <a:buNone/>
            </a:pPr>
            <a:r>
              <a:rPr lang="en-US" sz="1050" dirty="0">
                <a:solidFill>
                  <a:srgbClr val="334155"/>
                </a:solidFill>
                <a:latin typeface="Calibri" pitchFamily="34" charset="0"/>
                <a:ea typeface="Calibri" pitchFamily="34" charset="-122"/>
                <a:cs typeface="Calibri" pitchFamily="34" charset="-120"/>
              </a:rPr>
              <a:t>•  Razorpay / M2P / Cashfree price competition</a:t>
            </a:r>
            <a:endParaRPr lang="en-US" sz="1050" dirty="0"/>
          </a:p>
        </p:txBody>
      </p:sp>
      <p:sp>
        <p:nvSpPr>
          <p:cNvPr id="23" name="Shape 21"/>
          <p:cNvSpPr/>
          <p:nvPr/>
        </p:nvSpPr>
        <p:spPr>
          <a:xfrm>
            <a:off x="6217920" y="1417320"/>
            <a:ext cx="5486400" cy="502920"/>
          </a:xfrm>
          <a:prstGeom prst="rect">
            <a:avLst/>
          </a:prstGeom>
          <a:solidFill>
            <a:srgbClr val="16A34A"/>
          </a:solidFill>
          <a:ln/>
        </p:spPr>
        <p:txBody>
          <a:bodyPr/>
          <a:lstStyle/>
          <a:p>
            <a:endParaRPr lang="en-US"/>
          </a:p>
        </p:txBody>
      </p:sp>
      <p:sp>
        <p:nvSpPr>
          <p:cNvPr id="24" name="Text 22"/>
          <p:cNvSpPr/>
          <p:nvPr/>
        </p:nvSpPr>
        <p:spPr>
          <a:xfrm>
            <a:off x="6446520" y="1417320"/>
            <a:ext cx="5120640" cy="502920"/>
          </a:xfrm>
          <a:prstGeom prst="rect">
            <a:avLst/>
          </a:prstGeom>
          <a:noFill/>
          <a:ln/>
        </p:spPr>
        <p:txBody>
          <a:bodyPr wrap="square" lIns="0" tIns="0" rIns="0" bIns="0" rtlCol="0" anchor="ctr"/>
          <a:lstStyle/>
          <a:p>
            <a:pPr marL="0" indent="0">
              <a:buNone/>
            </a:pPr>
            <a:r>
              <a:rPr lang="en-US" sz="1300" b="1" kern="0" spc="100" dirty="0">
                <a:solidFill>
                  <a:srgbClr val="FFFFFF"/>
                </a:solidFill>
                <a:latin typeface="Calibri" pitchFamily="34" charset="0"/>
                <a:ea typeface="Calibri" pitchFamily="34" charset="-122"/>
                <a:cs typeface="Calibri" pitchFamily="34" charset="-120"/>
              </a:rPr>
              <a:t>VALUE-ADDED SERVICES</a:t>
            </a:r>
            <a:endParaRPr lang="en-US" sz="1300" spc="100" dirty="0"/>
          </a:p>
        </p:txBody>
      </p:sp>
      <p:sp>
        <p:nvSpPr>
          <p:cNvPr id="25" name="Text 23"/>
          <p:cNvSpPr/>
          <p:nvPr/>
        </p:nvSpPr>
        <p:spPr>
          <a:xfrm>
            <a:off x="6446520" y="1417320"/>
            <a:ext cx="5120640" cy="502920"/>
          </a:xfrm>
          <a:prstGeom prst="rect">
            <a:avLst/>
          </a:prstGeom>
          <a:noFill/>
          <a:ln/>
        </p:spPr>
        <p:txBody>
          <a:bodyPr wrap="square" lIns="0" tIns="0" rIns="0" bIns="0" rtlCol="0" anchor="ctr"/>
          <a:lstStyle/>
          <a:p>
            <a:pPr marL="0" indent="0" algn="r">
              <a:buNone/>
            </a:pPr>
            <a:r>
              <a:rPr lang="en-US" sz="1000" i="1" dirty="0">
                <a:solidFill>
                  <a:srgbClr val="86EFAC"/>
                </a:solidFill>
                <a:latin typeface="Calibri" pitchFamily="34" charset="0"/>
                <a:ea typeface="Calibri" pitchFamily="34" charset="-122"/>
                <a:cs typeface="Calibri" pitchFamily="34" charset="-120"/>
              </a:rPr>
              <a:t>software layer</a:t>
            </a:r>
            <a:endParaRPr lang="en-US" sz="1000" dirty="0"/>
          </a:p>
        </p:txBody>
      </p:sp>
      <p:sp>
        <p:nvSpPr>
          <p:cNvPr id="26" name="Shape 24"/>
          <p:cNvSpPr/>
          <p:nvPr/>
        </p:nvSpPr>
        <p:spPr>
          <a:xfrm>
            <a:off x="6217920" y="1920240"/>
            <a:ext cx="5486400" cy="4160520"/>
          </a:xfrm>
          <a:prstGeom prst="rect">
            <a:avLst/>
          </a:prstGeom>
          <a:solidFill>
            <a:srgbClr val="FFFFFF"/>
          </a:solidFill>
          <a:ln w="15875">
            <a:solidFill>
              <a:srgbClr val="16A34A"/>
            </a:solidFill>
            <a:prstDash val="solid"/>
          </a:ln>
        </p:spPr>
        <p:txBody>
          <a:bodyPr/>
          <a:lstStyle/>
          <a:p>
            <a:endParaRPr lang="en-US"/>
          </a:p>
        </p:txBody>
      </p:sp>
      <p:sp>
        <p:nvSpPr>
          <p:cNvPr id="27" name="Text 25"/>
          <p:cNvSpPr/>
          <p:nvPr/>
        </p:nvSpPr>
        <p:spPr>
          <a:xfrm>
            <a:off x="6446520" y="2057400"/>
            <a:ext cx="5029200" cy="274320"/>
          </a:xfrm>
          <a:prstGeom prst="rect">
            <a:avLst/>
          </a:prstGeom>
          <a:noFill/>
          <a:ln/>
        </p:spPr>
        <p:txBody>
          <a:bodyPr wrap="square" lIns="0" tIns="0" rIns="0" bIns="0" rtlCol="0" anchor="ctr"/>
          <a:lstStyle/>
          <a:p>
            <a:pPr marL="0" indent="0">
              <a:buNone/>
            </a:pPr>
            <a:r>
              <a:rPr lang="en-US" sz="1000" b="1" kern="0" spc="100" dirty="0">
                <a:solidFill>
                  <a:srgbClr val="16A34A"/>
                </a:solidFill>
                <a:latin typeface="Calibri" pitchFamily="34" charset="0"/>
                <a:ea typeface="Calibri" pitchFamily="34" charset="-122"/>
                <a:cs typeface="Calibri" pitchFamily="34" charset="-120"/>
              </a:rPr>
              <a:t>What it is</a:t>
            </a:r>
            <a:endParaRPr lang="en-US" sz="1000" spc="100" dirty="0"/>
          </a:p>
        </p:txBody>
      </p:sp>
      <p:sp>
        <p:nvSpPr>
          <p:cNvPr id="28" name="Text 26"/>
          <p:cNvSpPr/>
          <p:nvPr/>
        </p:nvSpPr>
        <p:spPr>
          <a:xfrm>
            <a:off x="6446520" y="2331720"/>
            <a:ext cx="5029200" cy="502920"/>
          </a:xfrm>
          <a:prstGeom prst="rect">
            <a:avLst/>
          </a:prstGeom>
          <a:noFill/>
          <a:ln/>
        </p:spPr>
        <p:txBody>
          <a:bodyPr wrap="square" lIns="0" tIns="0" rIns="0" bIns="0" rtlCol="0" anchor="t"/>
          <a:lstStyle/>
          <a:p>
            <a:pPr marL="0" indent="0">
              <a:buNone/>
            </a:pPr>
            <a:r>
              <a:rPr lang="en-US" sz="1100" dirty="0">
                <a:solidFill>
                  <a:srgbClr val="0F172A"/>
                </a:solidFill>
                <a:latin typeface="Calibri" pitchFamily="34" charset="0"/>
                <a:ea typeface="Calibri" pitchFamily="34" charset="-122"/>
                <a:cs typeface="Calibri" pitchFamily="34" charset="-120"/>
              </a:rPr>
              <a:t>Affordability (EMI/BNPL), Qwikcilver prepaid, Setu APIs, Credit+, Engage Hub, extended warranty, Pay Later</a:t>
            </a:r>
            <a:endParaRPr lang="en-US" sz="1100" dirty="0"/>
          </a:p>
        </p:txBody>
      </p:sp>
      <p:sp>
        <p:nvSpPr>
          <p:cNvPr id="29" name="Text 27"/>
          <p:cNvSpPr/>
          <p:nvPr/>
        </p:nvSpPr>
        <p:spPr>
          <a:xfrm>
            <a:off x="6446520" y="2926080"/>
            <a:ext cx="5029200" cy="274320"/>
          </a:xfrm>
          <a:prstGeom prst="rect">
            <a:avLst/>
          </a:prstGeom>
          <a:noFill/>
          <a:ln/>
        </p:spPr>
        <p:txBody>
          <a:bodyPr wrap="square" lIns="0" tIns="0" rIns="0" bIns="0" rtlCol="0" anchor="ctr"/>
          <a:lstStyle/>
          <a:p>
            <a:pPr marL="0" indent="0">
              <a:buNone/>
            </a:pPr>
            <a:r>
              <a:rPr lang="en-US" sz="1000" b="1" kern="0" spc="100" dirty="0">
                <a:solidFill>
                  <a:srgbClr val="16A34A"/>
                </a:solidFill>
                <a:latin typeface="Calibri" pitchFamily="34" charset="0"/>
                <a:ea typeface="Calibri" pitchFamily="34" charset="-122"/>
                <a:cs typeface="Calibri" pitchFamily="34" charset="-120"/>
              </a:rPr>
              <a:t>How it earns</a:t>
            </a:r>
            <a:endParaRPr lang="en-US" sz="1000" spc="100" dirty="0"/>
          </a:p>
        </p:txBody>
      </p:sp>
      <p:sp>
        <p:nvSpPr>
          <p:cNvPr id="30" name="Text 28"/>
          <p:cNvSpPr/>
          <p:nvPr/>
        </p:nvSpPr>
        <p:spPr>
          <a:xfrm>
            <a:off x="6446520" y="3200400"/>
            <a:ext cx="5029200" cy="457200"/>
          </a:xfrm>
          <a:prstGeom prst="rect">
            <a:avLst/>
          </a:prstGeom>
          <a:noFill/>
          <a:ln/>
        </p:spPr>
        <p:txBody>
          <a:bodyPr wrap="square" lIns="0" tIns="0" rIns="0" bIns="0" rtlCol="0" anchor="t"/>
          <a:lstStyle/>
          <a:p>
            <a:pPr marL="0" indent="0">
              <a:buNone/>
            </a:pPr>
            <a:r>
              <a:rPr lang="en-US" sz="1100" dirty="0">
                <a:solidFill>
                  <a:srgbClr val="0F172A"/>
                </a:solidFill>
                <a:latin typeface="Calibri" pitchFamily="34" charset="0"/>
                <a:ea typeface="Calibri" pitchFamily="34" charset="-122"/>
                <a:cs typeface="Calibri" pitchFamily="34" charset="-120"/>
              </a:rPr>
              <a:t>SaaS subscriptions, per-EMI orchestration fees, float, breakage, per-card-month licensing</a:t>
            </a:r>
            <a:endParaRPr lang="en-US" sz="1100" dirty="0"/>
          </a:p>
        </p:txBody>
      </p:sp>
      <p:sp>
        <p:nvSpPr>
          <p:cNvPr id="31" name="Text 29"/>
          <p:cNvSpPr/>
          <p:nvPr/>
        </p:nvSpPr>
        <p:spPr>
          <a:xfrm>
            <a:off x="6446520" y="3749040"/>
            <a:ext cx="5029200" cy="274320"/>
          </a:xfrm>
          <a:prstGeom prst="rect">
            <a:avLst/>
          </a:prstGeom>
          <a:noFill/>
          <a:ln/>
        </p:spPr>
        <p:txBody>
          <a:bodyPr wrap="square" lIns="0" tIns="0" rIns="0" bIns="0" rtlCol="0" anchor="ctr"/>
          <a:lstStyle/>
          <a:p>
            <a:pPr marL="0" indent="0">
              <a:buNone/>
            </a:pPr>
            <a:r>
              <a:rPr lang="en-US" sz="1000" b="1" kern="0" spc="100" dirty="0">
                <a:solidFill>
                  <a:srgbClr val="16A34A"/>
                </a:solidFill>
                <a:latin typeface="Calibri" pitchFamily="34" charset="0"/>
                <a:ea typeface="Calibri" pitchFamily="34" charset="-122"/>
                <a:cs typeface="Calibri" pitchFamily="34" charset="-120"/>
              </a:rPr>
              <a:t>Margin profile</a:t>
            </a:r>
            <a:endParaRPr lang="en-US" sz="1000" spc="100" dirty="0"/>
          </a:p>
        </p:txBody>
      </p:sp>
      <p:sp>
        <p:nvSpPr>
          <p:cNvPr id="32" name="Shape 30"/>
          <p:cNvSpPr/>
          <p:nvPr/>
        </p:nvSpPr>
        <p:spPr>
          <a:xfrm>
            <a:off x="6446520" y="4114800"/>
            <a:ext cx="4389120" cy="274320"/>
          </a:xfrm>
          <a:prstGeom prst="rect">
            <a:avLst/>
          </a:prstGeom>
          <a:solidFill>
            <a:srgbClr val="F1F5F9"/>
          </a:solidFill>
          <a:ln/>
        </p:spPr>
        <p:txBody>
          <a:bodyPr/>
          <a:lstStyle/>
          <a:p>
            <a:endParaRPr lang="en-US"/>
          </a:p>
        </p:txBody>
      </p:sp>
      <p:sp>
        <p:nvSpPr>
          <p:cNvPr id="33" name="Shape 31"/>
          <p:cNvSpPr/>
          <p:nvPr/>
        </p:nvSpPr>
        <p:spPr>
          <a:xfrm>
            <a:off x="6446520" y="4114800"/>
            <a:ext cx="3599078" cy="274320"/>
          </a:xfrm>
          <a:prstGeom prst="rect">
            <a:avLst/>
          </a:prstGeom>
          <a:solidFill>
            <a:srgbClr val="16A34A"/>
          </a:solidFill>
          <a:ln/>
        </p:spPr>
        <p:txBody>
          <a:bodyPr/>
          <a:lstStyle/>
          <a:p>
            <a:endParaRPr lang="en-US"/>
          </a:p>
        </p:txBody>
      </p:sp>
      <p:sp>
        <p:nvSpPr>
          <p:cNvPr id="34" name="Text 32"/>
          <p:cNvSpPr/>
          <p:nvPr/>
        </p:nvSpPr>
        <p:spPr>
          <a:xfrm>
            <a:off x="6446520" y="4114800"/>
            <a:ext cx="4389120"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~80% contribution</a:t>
            </a:r>
            <a:endParaRPr lang="en-US" sz="1000" dirty="0"/>
          </a:p>
        </p:txBody>
      </p:sp>
      <p:sp>
        <p:nvSpPr>
          <p:cNvPr id="35" name="Text 33"/>
          <p:cNvSpPr/>
          <p:nvPr/>
        </p:nvSpPr>
        <p:spPr>
          <a:xfrm>
            <a:off x="6446520" y="4572000"/>
            <a:ext cx="5029200" cy="274320"/>
          </a:xfrm>
          <a:prstGeom prst="rect">
            <a:avLst/>
          </a:prstGeom>
          <a:noFill/>
          <a:ln/>
        </p:spPr>
        <p:txBody>
          <a:bodyPr wrap="square" lIns="0" tIns="0" rIns="0" bIns="0" rtlCol="0" anchor="ctr"/>
          <a:lstStyle/>
          <a:p>
            <a:pPr marL="0" indent="0">
              <a:buNone/>
            </a:pPr>
            <a:r>
              <a:rPr lang="en-US" sz="1000" b="1" kern="0" spc="100" dirty="0">
                <a:solidFill>
                  <a:srgbClr val="16A34A"/>
                </a:solidFill>
                <a:latin typeface="Calibri" pitchFamily="34" charset="0"/>
                <a:ea typeface="Calibri" pitchFamily="34" charset="-122"/>
                <a:cs typeface="Calibri" pitchFamily="34" charset="-120"/>
              </a:rPr>
              <a:t>Strategic value</a:t>
            </a:r>
            <a:endParaRPr lang="en-US" sz="1000" spc="100" dirty="0"/>
          </a:p>
        </p:txBody>
      </p:sp>
      <p:sp>
        <p:nvSpPr>
          <p:cNvPr id="36" name="Text 34"/>
          <p:cNvSpPr/>
          <p:nvPr/>
        </p:nvSpPr>
        <p:spPr>
          <a:xfrm>
            <a:off x="6446520" y="4846320"/>
            <a:ext cx="5029200" cy="1097280"/>
          </a:xfrm>
          <a:prstGeom prst="rect">
            <a:avLst/>
          </a:prstGeom>
          <a:noFill/>
          <a:ln/>
        </p:spPr>
        <p:txBody>
          <a:bodyPr wrap="square" lIns="0" tIns="0" rIns="0" bIns="0" rtlCol="0" anchor="t"/>
          <a:lstStyle/>
          <a:p>
            <a:pPr marL="0" indent="0">
              <a:spcAft>
                <a:spcPts val="200"/>
              </a:spcAft>
              <a:buNone/>
            </a:pPr>
            <a:r>
              <a:rPr lang="en-US" sz="1050" dirty="0">
                <a:solidFill>
                  <a:srgbClr val="334155"/>
                </a:solidFill>
                <a:latin typeface="Calibri" pitchFamily="34" charset="0"/>
                <a:ea typeface="Calibri" pitchFamily="34" charset="-122"/>
                <a:cs typeface="Calibri" pitchFamily="34" charset="-120"/>
              </a:rPr>
              <a:t>•  Insulated from UPI / MDR compression</a:t>
            </a:r>
            <a:endParaRPr lang="en-US" sz="1050" dirty="0"/>
          </a:p>
          <a:p>
            <a:pPr marL="0" indent="0">
              <a:spcAft>
                <a:spcPts val="200"/>
              </a:spcAft>
              <a:buNone/>
            </a:pPr>
            <a:r>
              <a:rPr lang="en-US" sz="1050" dirty="0">
                <a:solidFill>
                  <a:srgbClr val="334155"/>
                </a:solidFill>
                <a:latin typeface="Calibri" pitchFamily="34" charset="0"/>
                <a:ea typeface="Calibri" pitchFamily="34" charset="-122"/>
                <a:cs typeface="Calibri" pitchFamily="34" charset="-120"/>
              </a:rPr>
              <a:t>•  Drives multi-year merchant lock-in &amp; switching cost</a:t>
            </a:r>
            <a:endParaRPr lang="en-US" sz="1050" dirty="0"/>
          </a:p>
          <a:p>
            <a:pPr marL="0" indent="0">
              <a:spcAft>
                <a:spcPts val="200"/>
              </a:spcAft>
              <a:buNone/>
            </a:pPr>
            <a:r>
              <a:rPr lang="en-US" sz="1050" dirty="0">
                <a:solidFill>
                  <a:srgbClr val="334155"/>
                </a:solidFill>
                <a:latin typeface="Calibri" pitchFamily="34" charset="0"/>
                <a:ea typeface="Calibri" pitchFamily="34" charset="-122"/>
                <a:cs typeface="Calibri" pitchFamily="34" charset="-120"/>
              </a:rPr>
              <a:t>•  Software-multiple revenue: re-rates valuation</a:t>
            </a:r>
            <a:endParaRPr lang="en-US" sz="1050" dirty="0"/>
          </a:p>
        </p:txBody>
      </p:sp>
      <p:sp>
        <p:nvSpPr>
          <p:cNvPr id="37" name="Shape 35"/>
          <p:cNvSpPr/>
          <p:nvPr/>
        </p:nvSpPr>
        <p:spPr>
          <a:xfrm>
            <a:off x="457200" y="6172200"/>
            <a:ext cx="11247120" cy="292608"/>
          </a:xfrm>
          <a:prstGeom prst="rect">
            <a:avLst/>
          </a:prstGeom>
          <a:solidFill>
            <a:srgbClr val="F8FAFC"/>
          </a:solidFill>
          <a:ln w="6350">
            <a:solidFill>
              <a:srgbClr val="E2E8F0"/>
            </a:solidFill>
            <a:prstDash val="solid"/>
          </a:ln>
        </p:spPr>
        <p:txBody>
          <a:bodyPr/>
          <a:lstStyle/>
          <a:p>
            <a:endParaRPr lang="en-US"/>
          </a:p>
        </p:txBody>
      </p:sp>
      <p:sp>
        <p:nvSpPr>
          <p:cNvPr id="38" name="Shape 36"/>
          <p:cNvSpPr/>
          <p:nvPr/>
        </p:nvSpPr>
        <p:spPr>
          <a:xfrm>
            <a:off x="457200" y="6172200"/>
            <a:ext cx="73152" cy="292608"/>
          </a:xfrm>
          <a:prstGeom prst="rect">
            <a:avLst/>
          </a:prstGeom>
          <a:solidFill>
            <a:srgbClr val="16A34A"/>
          </a:solidFill>
          <a:ln/>
        </p:spPr>
        <p:txBody>
          <a:bodyPr/>
          <a:lstStyle/>
          <a:p>
            <a:endParaRPr lang="en-US"/>
          </a:p>
        </p:txBody>
      </p:sp>
      <p:sp>
        <p:nvSpPr>
          <p:cNvPr id="39" name="Text 37"/>
          <p:cNvSpPr/>
          <p:nvPr/>
        </p:nvSpPr>
        <p:spPr>
          <a:xfrm>
            <a:off x="685800" y="6172200"/>
            <a:ext cx="10972800" cy="292608"/>
          </a:xfrm>
          <a:prstGeom prst="rect">
            <a:avLst/>
          </a:prstGeom>
          <a:noFill/>
          <a:ln/>
        </p:spPr>
        <p:txBody>
          <a:bodyPr wrap="square" lIns="0" tIns="0" rIns="0" bIns="0" rtlCol="0" anchor="ctr"/>
          <a:lstStyle/>
          <a:p>
            <a:pPr marL="0" indent="0">
              <a:buNone/>
            </a:pPr>
            <a:r>
              <a:rPr lang="en-US" sz="1050" i="1" dirty="0">
                <a:solidFill>
                  <a:srgbClr val="0F172A"/>
                </a:solidFill>
                <a:latin typeface="Calibri" pitchFamily="34" charset="0"/>
                <a:ea typeface="Calibri" pitchFamily="34" charset="-122"/>
                <a:cs typeface="Calibri" pitchFamily="34" charset="-120"/>
              </a:rPr>
              <a:t>Implication: every rupee shifted from transaction fees to VAS adds ~25 paise of incremental EBITDA — the single highest-impact mix shift available.</a:t>
            </a:r>
            <a:endParaRPr lang="en-US" sz="1050" dirty="0"/>
          </a:p>
        </p:txBody>
      </p:sp>
      <p:pic>
        <p:nvPicPr>
          <p:cNvPr id="40" name="Picture 2" descr="Pine Labs Launches Paper POS, a Merged QR Product to Accept Payments via  UPI and Bharat QR Apps">
            <a:extLst>
              <a:ext uri="{FF2B5EF4-FFF2-40B4-BE49-F238E27FC236}">
                <a16:creationId xmlns:a16="http://schemas.microsoft.com/office/drawing/2014/main" id="{0FDC6E2E-3E10-7AB6-3A05-BCE648E6B58E}"/>
              </a:ext>
            </a:extLst>
          </p:cNvPr>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1177016" y="-102584"/>
            <a:ext cx="1115568" cy="58451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16A34A"/>
          </a:solidFill>
          <a:ln/>
        </p:spPr>
        <p:txBody>
          <a:bodyPr/>
          <a:lstStyle/>
          <a:p>
            <a:endParaRPr lang="en-US"/>
          </a:p>
        </p:txBody>
      </p:sp>
      <p:sp>
        <p:nvSpPr>
          <p:cNvPr id="3" name="Text 1"/>
          <p:cNvSpPr/>
          <p:nvPr/>
        </p:nvSpPr>
        <p:spPr>
          <a:xfrm>
            <a:off x="457200" y="201168"/>
            <a:ext cx="10058400" cy="256032"/>
          </a:xfrm>
          <a:prstGeom prst="rect">
            <a:avLst/>
          </a:prstGeom>
          <a:noFill/>
          <a:ln/>
        </p:spPr>
        <p:txBody>
          <a:bodyPr wrap="square" lIns="0" tIns="0" rIns="0" bIns="0" rtlCol="0" anchor="ctr"/>
          <a:lstStyle/>
          <a:p>
            <a:pPr marL="0" indent="0">
              <a:buNone/>
            </a:pPr>
            <a:r>
              <a:rPr lang="en-US" sz="900" b="1" kern="0" spc="100" dirty="0">
                <a:solidFill>
                  <a:srgbClr val="16A34A"/>
                </a:solidFill>
                <a:latin typeface="Calibri" pitchFamily="34" charset="0"/>
                <a:ea typeface="Calibri" pitchFamily="34" charset="-122"/>
                <a:cs typeface="Calibri" pitchFamily="34" charset="-120"/>
              </a:rPr>
              <a:t>REVENUE BREAKDOWN — FY24</a:t>
            </a:r>
            <a:endParaRPr lang="en-US" sz="900" spc="100" dirty="0"/>
          </a:p>
        </p:txBody>
      </p:sp>
      <p:sp>
        <p:nvSpPr>
          <p:cNvPr id="4" name="Text 2"/>
          <p:cNvSpPr/>
          <p:nvPr/>
        </p:nvSpPr>
        <p:spPr>
          <a:xfrm>
            <a:off x="457200" y="457200"/>
            <a:ext cx="11247120" cy="731520"/>
          </a:xfrm>
          <a:prstGeom prst="rect">
            <a:avLst/>
          </a:prstGeom>
          <a:noFill/>
          <a:ln/>
        </p:spPr>
        <p:txBody>
          <a:bodyPr wrap="square" lIns="0" tIns="0" rIns="0" bIns="0" rtlCol="0" anchor="ctr"/>
          <a:lstStyle/>
          <a:p>
            <a:pPr marL="0" indent="0">
              <a:buNone/>
            </a:pPr>
            <a:r>
              <a:rPr lang="en-US" sz="2200" b="1" dirty="0">
                <a:solidFill>
                  <a:srgbClr val="0F172A"/>
                </a:solidFill>
                <a:latin typeface="Calibri" pitchFamily="34" charset="0"/>
                <a:ea typeface="Calibri" pitchFamily="34" charset="-122"/>
                <a:cs typeface="Calibri" pitchFamily="34" charset="-120"/>
              </a:rPr>
              <a:t>₹1,770 Cr revenue: 72% DITP / 28% IAP — but the margin profile inverts the picture</a:t>
            </a:r>
            <a:endParaRPr lang="en-US" sz="2200" dirty="0"/>
          </a:p>
        </p:txBody>
      </p:sp>
      <p:sp>
        <p:nvSpPr>
          <p:cNvPr id="5" name="Shape 3"/>
          <p:cNvSpPr/>
          <p:nvPr/>
        </p:nvSpPr>
        <p:spPr>
          <a:xfrm>
            <a:off x="457200" y="1188720"/>
            <a:ext cx="11247120" cy="13716"/>
          </a:xfrm>
          <a:prstGeom prst="rect">
            <a:avLst/>
          </a:prstGeom>
          <a:solidFill>
            <a:srgbClr val="E2E8F0"/>
          </a:solidFill>
          <a:ln/>
        </p:spPr>
        <p:txBody>
          <a:bodyPr/>
          <a:lstStyle/>
          <a:p>
            <a:endParaRPr lang="en-US"/>
          </a:p>
        </p:txBody>
      </p:sp>
      <p:sp>
        <p:nvSpPr>
          <p:cNvPr id="6" name="Text 4"/>
          <p:cNvSpPr/>
          <p:nvPr/>
        </p:nvSpPr>
        <p:spPr>
          <a:xfrm>
            <a:off x="457200" y="6492240"/>
            <a:ext cx="6400800" cy="256032"/>
          </a:xfrm>
          <a:prstGeom prst="rect">
            <a:avLst/>
          </a:prstGeom>
          <a:noFill/>
          <a:ln/>
        </p:spPr>
        <p:txBody>
          <a:bodyPr wrap="square" lIns="0" tIns="0" rIns="0" bIns="0" rtlCol="0" anchor="ctr"/>
          <a:lstStyle/>
          <a:p>
            <a:pPr marL="0" indent="0">
              <a:buNone/>
            </a:pPr>
            <a:r>
              <a:rPr lang="en-US" sz="900" i="1" dirty="0">
                <a:solidFill>
                  <a:srgbClr val="64748B"/>
                </a:solidFill>
                <a:latin typeface="Calibri" pitchFamily="34" charset="0"/>
                <a:ea typeface="Calibri" pitchFamily="34" charset="-122"/>
                <a:cs typeface="Calibri" pitchFamily="34" charset="-120"/>
              </a:rPr>
              <a:t>Pine Labs — Corporate Development</a:t>
            </a:r>
            <a:endParaRPr lang="en-US" sz="900" dirty="0"/>
          </a:p>
        </p:txBody>
      </p:sp>
      <p:sp>
        <p:nvSpPr>
          <p:cNvPr id="7" name="Text 5"/>
          <p:cNvSpPr/>
          <p:nvPr/>
        </p:nvSpPr>
        <p:spPr>
          <a:xfrm>
            <a:off x="6858000" y="6492240"/>
            <a:ext cx="2743200" cy="256032"/>
          </a:xfrm>
          <a:prstGeom prst="rect">
            <a:avLst/>
          </a:prstGeom>
          <a:noFill/>
          <a:ln/>
        </p:spPr>
        <p:txBody>
          <a:bodyPr wrap="square" lIns="0" tIns="0" rIns="0" bIns="0" rtlCol="0" anchor="ctr"/>
          <a:lstStyle/>
          <a:p>
            <a:pPr marL="0" indent="0" algn="ctr">
              <a:buNone/>
            </a:pPr>
            <a:r>
              <a:rPr lang="en-US" sz="900" i="1" dirty="0">
                <a:solidFill>
                  <a:srgbClr val="64748B"/>
                </a:solidFill>
                <a:latin typeface="Calibri" pitchFamily="34" charset="0"/>
                <a:ea typeface="Calibri" pitchFamily="34" charset="-122"/>
                <a:cs typeface="Calibri" pitchFamily="34" charset="-120"/>
              </a:rPr>
              <a:t>Strictly Confidential</a:t>
            </a:r>
            <a:endParaRPr lang="en-US" sz="900" dirty="0"/>
          </a:p>
        </p:txBody>
      </p:sp>
      <p:sp>
        <p:nvSpPr>
          <p:cNvPr id="8" name="Text 6"/>
          <p:cNvSpPr/>
          <p:nvPr/>
        </p:nvSpPr>
        <p:spPr>
          <a:xfrm>
            <a:off x="10515600" y="6492240"/>
            <a:ext cx="1188720" cy="256032"/>
          </a:xfrm>
          <a:prstGeom prst="rect">
            <a:avLst/>
          </a:prstGeom>
          <a:noFill/>
          <a:ln/>
        </p:spPr>
        <p:txBody>
          <a:bodyPr wrap="square" lIns="0" tIns="0" rIns="0" bIns="0" rtlCol="0" anchor="ctr"/>
          <a:lstStyle/>
          <a:p>
            <a:pPr marL="0" indent="0" algn="r">
              <a:buNone/>
            </a:pPr>
            <a:r>
              <a:rPr lang="en-US" sz="900" b="1" dirty="0">
                <a:solidFill>
                  <a:srgbClr val="64748B"/>
                </a:solidFill>
                <a:latin typeface="Calibri" pitchFamily="34" charset="0"/>
                <a:ea typeface="Calibri" pitchFamily="34" charset="-122"/>
                <a:cs typeface="Calibri" pitchFamily="34" charset="-120"/>
              </a:rPr>
              <a:t>4</a:t>
            </a:r>
            <a:endParaRPr lang="en-US" sz="900" dirty="0"/>
          </a:p>
        </p:txBody>
      </p:sp>
      <p:sp>
        <p:nvSpPr>
          <p:cNvPr id="9" name="Text 7"/>
          <p:cNvSpPr/>
          <p:nvPr/>
        </p:nvSpPr>
        <p:spPr>
          <a:xfrm>
            <a:off x="502920" y="1417320"/>
            <a:ext cx="3657600" cy="274320"/>
          </a:xfrm>
          <a:prstGeom prst="rect">
            <a:avLst/>
          </a:prstGeom>
          <a:noFill/>
          <a:ln/>
        </p:spPr>
        <p:txBody>
          <a:bodyPr wrap="square" lIns="0" tIns="0" rIns="0" bIns="0" rtlCol="0" anchor="ctr"/>
          <a:lstStyle/>
          <a:p>
            <a:pPr marL="0" indent="0">
              <a:buNone/>
            </a:pPr>
            <a:r>
              <a:rPr lang="en-US" sz="1000" b="1" kern="0" spc="100" dirty="0">
                <a:solidFill>
                  <a:srgbClr val="0F172A"/>
                </a:solidFill>
                <a:latin typeface="Calibri" pitchFamily="34" charset="0"/>
                <a:ea typeface="Calibri" pitchFamily="34" charset="-122"/>
                <a:cs typeface="Calibri" pitchFamily="34" charset="-120"/>
              </a:rPr>
              <a:t>By reporting segment</a:t>
            </a:r>
            <a:endParaRPr lang="en-US" sz="1000" spc="100" dirty="0"/>
          </a:p>
        </p:txBody>
      </p:sp>
      <p:sp>
        <p:nvSpPr>
          <p:cNvPr id="10" name="Shape 8"/>
          <p:cNvSpPr/>
          <p:nvPr/>
        </p:nvSpPr>
        <p:spPr>
          <a:xfrm>
            <a:off x="502920" y="1691640"/>
            <a:ext cx="3657600" cy="13716"/>
          </a:xfrm>
          <a:prstGeom prst="rect">
            <a:avLst/>
          </a:prstGeom>
          <a:solidFill>
            <a:srgbClr val="E2E8F0"/>
          </a:solidFill>
          <a:ln/>
        </p:spPr>
        <p:txBody>
          <a:bodyPr/>
          <a:lstStyle/>
          <a:p>
            <a:endParaRPr lang="en-US"/>
          </a:p>
        </p:txBody>
      </p:sp>
      <p:graphicFrame>
        <p:nvGraphicFramePr>
          <p:cNvPr id="11" name="Chart 0"/>
          <p:cNvGraphicFramePr/>
          <p:nvPr/>
        </p:nvGraphicFramePr>
        <p:xfrm>
          <a:off x="502920" y="1783080"/>
          <a:ext cx="3657600" cy="2743200"/>
        </p:xfrm>
        <a:graphic>
          <a:graphicData uri="http://schemas.openxmlformats.org/drawingml/2006/chart">
            <c:chart xmlns:c="http://schemas.openxmlformats.org/drawingml/2006/chart" xmlns:r="http://schemas.openxmlformats.org/officeDocument/2006/relationships" r:id="rId3"/>
          </a:graphicData>
        </a:graphic>
      </p:graphicFrame>
      <p:sp>
        <p:nvSpPr>
          <p:cNvPr id="12" name="Text 9"/>
          <p:cNvSpPr/>
          <p:nvPr/>
        </p:nvSpPr>
        <p:spPr>
          <a:xfrm>
            <a:off x="1325880" y="2697480"/>
            <a:ext cx="2011680" cy="365760"/>
          </a:xfrm>
          <a:prstGeom prst="rect">
            <a:avLst/>
          </a:prstGeom>
          <a:noFill/>
          <a:ln/>
        </p:spPr>
        <p:txBody>
          <a:bodyPr wrap="square" lIns="0" tIns="0" rIns="0" bIns="0" rtlCol="0" anchor="ctr"/>
          <a:lstStyle/>
          <a:p>
            <a:pPr marL="0" indent="0" algn="ctr">
              <a:buNone/>
            </a:pPr>
            <a:r>
              <a:rPr lang="en-US" sz="1700" b="1" dirty="0">
                <a:solidFill>
                  <a:srgbClr val="0F172A"/>
                </a:solidFill>
                <a:latin typeface="Calibri" pitchFamily="34" charset="0"/>
                <a:ea typeface="Calibri" pitchFamily="34" charset="-122"/>
                <a:cs typeface="Calibri" pitchFamily="34" charset="-120"/>
              </a:rPr>
              <a:t>₹1,770 Cr</a:t>
            </a:r>
            <a:endParaRPr lang="en-US" sz="1700" dirty="0"/>
          </a:p>
        </p:txBody>
      </p:sp>
      <p:sp>
        <p:nvSpPr>
          <p:cNvPr id="13" name="Text 10"/>
          <p:cNvSpPr/>
          <p:nvPr/>
        </p:nvSpPr>
        <p:spPr>
          <a:xfrm>
            <a:off x="1325880" y="3035808"/>
            <a:ext cx="2011680" cy="228600"/>
          </a:xfrm>
          <a:prstGeom prst="rect">
            <a:avLst/>
          </a:prstGeom>
          <a:noFill/>
          <a:ln/>
        </p:spPr>
        <p:txBody>
          <a:bodyPr wrap="square" lIns="0" tIns="0" rIns="0" bIns="0" rtlCol="0" anchor="ctr"/>
          <a:lstStyle/>
          <a:p>
            <a:pPr marL="0" indent="0" algn="ctr">
              <a:buNone/>
            </a:pPr>
            <a:r>
              <a:rPr lang="en-US" sz="900" dirty="0">
                <a:solidFill>
                  <a:srgbClr val="64748B"/>
                </a:solidFill>
                <a:latin typeface="Calibri" pitchFamily="34" charset="0"/>
                <a:ea typeface="Calibri" pitchFamily="34" charset="-122"/>
                <a:cs typeface="Calibri" pitchFamily="34" charset="-120"/>
              </a:rPr>
              <a:t>Total FY24</a:t>
            </a:r>
            <a:endParaRPr lang="en-US" sz="900" dirty="0"/>
          </a:p>
        </p:txBody>
      </p:sp>
      <p:sp>
        <p:nvSpPr>
          <p:cNvPr id="14" name="Text 11"/>
          <p:cNvSpPr/>
          <p:nvPr/>
        </p:nvSpPr>
        <p:spPr>
          <a:xfrm>
            <a:off x="4434840" y="1417320"/>
            <a:ext cx="4023360" cy="274320"/>
          </a:xfrm>
          <a:prstGeom prst="rect">
            <a:avLst/>
          </a:prstGeom>
          <a:noFill/>
          <a:ln/>
        </p:spPr>
        <p:txBody>
          <a:bodyPr wrap="square" lIns="0" tIns="0" rIns="0" bIns="0" rtlCol="0" anchor="ctr"/>
          <a:lstStyle/>
          <a:p>
            <a:pPr marL="0" indent="0">
              <a:buNone/>
            </a:pPr>
            <a:r>
              <a:rPr lang="en-US" sz="1000" b="1" kern="0" spc="100" dirty="0">
                <a:solidFill>
                  <a:srgbClr val="0F172A"/>
                </a:solidFill>
                <a:latin typeface="Calibri" pitchFamily="34" charset="0"/>
                <a:ea typeface="Calibri" pitchFamily="34" charset="-122"/>
                <a:cs typeface="Calibri" pitchFamily="34" charset="-120"/>
              </a:rPr>
              <a:t>By business line (est., ₹ Cr)</a:t>
            </a:r>
            <a:endParaRPr lang="en-US" sz="1000" spc="100" dirty="0"/>
          </a:p>
        </p:txBody>
      </p:sp>
      <p:sp>
        <p:nvSpPr>
          <p:cNvPr id="15" name="Shape 12"/>
          <p:cNvSpPr/>
          <p:nvPr/>
        </p:nvSpPr>
        <p:spPr>
          <a:xfrm>
            <a:off x="4434840" y="1691640"/>
            <a:ext cx="4023360" cy="13716"/>
          </a:xfrm>
          <a:prstGeom prst="rect">
            <a:avLst/>
          </a:prstGeom>
          <a:solidFill>
            <a:srgbClr val="E2E8F0"/>
          </a:solidFill>
          <a:ln/>
        </p:spPr>
        <p:txBody>
          <a:bodyPr/>
          <a:lstStyle/>
          <a:p>
            <a:endParaRPr lang="en-US"/>
          </a:p>
        </p:txBody>
      </p:sp>
      <p:graphicFrame>
        <p:nvGraphicFramePr>
          <p:cNvPr id="16" name="Chart 1"/>
          <p:cNvGraphicFramePr/>
          <p:nvPr/>
        </p:nvGraphicFramePr>
        <p:xfrm>
          <a:off x="4434840" y="1783080"/>
          <a:ext cx="4023360" cy="3931920"/>
        </p:xfrm>
        <a:graphic>
          <a:graphicData uri="http://schemas.openxmlformats.org/drawingml/2006/chart">
            <c:chart xmlns:c="http://schemas.openxmlformats.org/drawingml/2006/chart" xmlns:r="http://schemas.openxmlformats.org/officeDocument/2006/relationships" r:id="rId4"/>
          </a:graphicData>
        </a:graphic>
      </p:graphicFrame>
      <p:sp>
        <p:nvSpPr>
          <p:cNvPr id="17" name="Text 13"/>
          <p:cNvSpPr/>
          <p:nvPr/>
        </p:nvSpPr>
        <p:spPr>
          <a:xfrm>
            <a:off x="8732520" y="1417320"/>
            <a:ext cx="3017520" cy="274320"/>
          </a:xfrm>
          <a:prstGeom prst="rect">
            <a:avLst/>
          </a:prstGeom>
          <a:noFill/>
          <a:ln/>
        </p:spPr>
        <p:txBody>
          <a:bodyPr wrap="square" lIns="0" tIns="0" rIns="0" bIns="0" rtlCol="0" anchor="ctr"/>
          <a:lstStyle/>
          <a:p>
            <a:pPr marL="0" indent="0">
              <a:buNone/>
            </a:pPr>
            <a:r>
              <a:rPr lang="en-US" sz="1000" b="1" kern="0" spc="100" dirty="0">
                <a:solidFill>
                  <a:srgbClr val="0F172A"/>
                </a:solidFill>
                <a:latin typeface="Calibri" pitchFamily="34" charset="0"/>
                <a:ea typeface="Calibri" pitchFamily="34" charset="-122"/>
                <a:cs typeface="Calibri" pitchFamily="34" charset="-120"/>
              </a:rPr>
              <a:t>By revenue character (₹ Cr, margin shaded)</a:t>
            </a:r>
            <a:endParaRPr lang="en-US" sz="1000" spc="100" dirty="0"/>
          </a:p>
        </p:txBody>
      </p:sp>
      <p:sp>
        <p:nvSpPr>
          <p:cNvPr id="18" name="Shape 14"/>
          <p:cNvSpPr/>
          <p:nvPr/>
        </p:nvSpPr>
        <p:spPr>
          <a:xfrm>
            <a:off x="8732520" y="1691640"/>
            <a:ext cx="3017520" cy="13716"/>
          </a:xfrm>
          <a:prstGeom prst="rect">
            <a:avLst/>
          </a:prstGeom>
          <a:solidFill>
            <a:srgbClr val="E2E8F0"/>
          </a:solidFill>
          <a:ln/>
        </p:spPr>
        <p:txBody>
          <a:bodyPr/>
          <a:lstStyle/>
          <a:p>
            <a:endParaRPr lang="en-US"/>
          </a:p>
        </p:txBody>
      </p:sp>
      <p:sp>
        <p:nvSpPr>
          <p:cNvPr id="19" name="Text 15"/>
          <p:cNvSpPr/>
          <p:nvPr/>
        </p:nvSpPr>
        <p:spPr>
          <a:xfrm>
            <a:off x="8732520" y="1819656"/>
            <a:ext cx="1463040" cy="400050"/>
          </a:xfrm>
          <a:prstGeom prst="rect">
            <a:avLst/>
          </a:prstGeom>
          <a:noFill/>
          <a:ln/>
        </p:spPr>
        <p:txBody>
          <a:bodyPr wrap="square" lIns="0" tIns="0" rIns="0" bIns="0" rtlCol="0" anchor="ctr"/>
          <a:lstStyle/>
          <a:p>
            <a:pPr marL="0" indent="0">
              <a:buNone/>
            </a:pPr>
            <a:r>
              <a:rPr lang="en-US" sz="850" dirty="0">
                <a:solidFill>
                  <a:srgbClr val="334155"/>
                </a:solidFill>
                <a:latin typeface="Calibri" pitchFamily="34" charset="0"/>
                <a:ea typeface="Calibri" pitchFamily="34" charset="-122"/>
                <a:cs typeface="Calibri" pitchFamily="34" charset="-120"/>
              </a:rPr>
              <a:t>Subscription / SaaS</a:t>
            </a:r>
            <a:endParaRPr lang="en-US" sz="850" dirty="0"/>
          </a:p>
        </p:txBody>
      </p:sp>
      <p:sp>
        <p:nvSpPr>
          <p:cNvPr id="20" name="Shape 16"/>
          <p:cNvSpPr/>
          <p:nvPr/>
        </p:nvSpPr>
        <p:spPr>
          <a:xfrm>
            <a:off x="10213848" y="1874520"/>
            <a:ext cx="777240" cy="290322"/>
          </a:xfrm>
          <a:prstGeom prst="rect">
            <a:avLst/>
          </a:prstGeom>
          <a:solidFill>
            <a:srgbClr val="16A34A"/>
          </a:solidFill>
          <a:ln/>
        </p:spPr>
        <p:txBody>
          <a:bodyPr/>
          <a:lstStyle/>
          <a:p>
            <a:endParaRPr lang="en-US"/>
          </a:p>
        </p:txBody>
      </p:sp>
      <p:sp>
        <p:nvSpPr>
          <p:cNvPr id="21" name="Text 17"/>
          <p:cNvSpPr/>
          <p:nvPr/>
        </p:nvSpPr>
        <p:spPr>
          <a:xfrm>
            <a:off x="11027664" y="1819656"/>
            <a:ext cx="320040" cy="400050"/>
          </a:xfrm>
          <a:prstGeom prst="rect">
            <a:avLst/>
          </a:prstGeom>
          <a:noFill/>
          <a:ln/>
        </p:spPr>
        <p:txBody>
          <a:bodyPr wrap="square" lIns="0" tIns="0" rIns="0" bIns="0" rtlCol="0" anchor="ctr"/>
          <a:lstStyle/>
          <a:p>
            <a:pPr marL="0" indent="0">
              <a:buNone/>
            </a:pPr>
            <a:r>
              <a:rPr lang="en-US" sz="900" b="1" dirty="0">
                <a:solidFill>
                  <a:srgbClr val="0F172A"/>
                </a:solidFill>
                <a:latin typeface="Calibri" pitchFamily="34" charset="0"/>
                <a:ea typeface="Calibri" pitchFamily="34" charset="-122"/>
                <a:cs typeface="Calibri" pitchFamily="34" charset="-120"/>
              </a:rPr>
              <a:t>510</a:t>
            </a:r>
            <a:endParaRPr lang="en-US" sz="900" dirty="0"/>
          </a:p>
        </p:txBody>
      </p:sp>
      <p:sp>
        <p:nvSpPr>
          <p:cNvPr id="22" name="Text 18"/>
          <p:cNvSpPr/>
          <p:nvPr/>
        </p:nvSpPr>
        <p:spPr>
          <a:xfrm>
            <a:off x="11365992" y="1819656"/>
            <a:ext cx="384048" cy="400050"/>
          </a:xfrm>
          <a:prstGeom prst="rect">
            <a:avLst/>
          </a:prstGeom>
          <a:noFill/>
          <a:ln/>
        </p:spPr>
        <p:txBody>
          <a:bodyPr wrap="square" lIns="0" tIns="0" rIns="0" bIns="0" rtlCol="0" anchor="ctr"/>
          <a:lstStyle/>
          <a:p>
            <a:pPr marL="0" indent="0" algn="r">
              <a:buNone/>
            </a:pPr>
            <a:r>
              <a:rPr lang="en-US" sz="800" i="1" dirty="0">
                <a:solidFill>
                  <a:srgbClr val="64748B"/>
                </a:solidFill>
                <a:latin typeface="Calibri" pitchFamily="34" charset="0"/>
                <a:ea typeface="Calibri" pitchFamily="34" charset="-122"/>
                <a:cs typeface="Calibri" pitchFamily="34" charset="-120"/>
              </a:rPr>
              <a:t>85% margin</a:t>
            </a:r>
            <a:endParaRPr lang="en-US" sz="800" dirty="0"/>
          </a:p>
        </p:txBody>
      </p:sp>
      <p:sp>
        <p:nvSpPr>
          <p:cNvPr id="23" name="Text 19"/>
          <p:cNvSpPr/>
          <p:nvPr/>
        </p:nvSpPr>
        <p:spPr>
          <a:xfrm>
            <a:off x="8732520" y="2311146"/>
            <a:ext cx="1463040" cy="400050"/>
          </a:xfrm>
          <a:prstGeom prst="rect">
            <a:avLst/>
          </a:prstGeom>
          <a:noFill/>
          <a:ln/>
        </p:spPr>
        <p:txBody>
          <a:bodyPr wrap="square" lIns="0" tIns="0" rIns="0" bIns="0" rtlCol="0" anchor="ctr"/>
          <a:lstStyle/>
          <a:p>
            <a:pPr marL="0" indent="0">
              <a:buNone/>
            </a:pPr>
            <a:r>
              <a:rPr lang="en-US" sz="850" dirty="0">
                <a:solidFill>
                  <a:srgbClr val="334155"/>
                </a:solidFill>
                <a:latin typeface="Calibri" pitchFamily="34" charset="0"/>
                <a:ea typeface="Calibri" pitchFamily="34" charset="-122"/>
                <a:cs typeface="Calibri" pitchFamily="34" charset="-120"/>
              </a:rPr>
              <a:t>Per-tx processing fee</a:t>
            </a:r>
            <a:endParaRPr lang="en-US" sz="850" dirty="0"/>
          </a:p>
        </p:txBody>
      </p:sp>
      <p:sp>
        <p:nvSpPr>
          <p:cNvPr id="24" name="Shape 20"/>
          <p:cNvSpPr/>
          <p:nvPr/>
        </p:nvSpPr>
        <p:spPr>
          <a:xfrm>
            <a:off x="10213848" y="2366010"/>
            <a:ext cx="655320" cy="290322"/>
          </a:xfrm>
          <a:prstGeom prst="rect">
            <a:avLst/>
          </a:prstGeom>
          <a:solidFill>
            <a:srgbClr val="0F3D2E"/>
          </a:solidFill>
          <a:ln/>
        </p:spPr>
        <p:txBody>
          <a:bodyPr/>
          <a:lstStyle/>
          <a:p>
            <a:endParaRPr lang="en-US"/>
          </a:p>
        </p:txBody>
      </p:sp>
      <p:sp>
        <p:nvSpPr>
          <p:cNvPr id="25" name="Text 21"/>
          <p:cNvSpPr/>
          <p:nvPr/>
        </p:nvSpPr>
        <p:spPr>
          <a:xfrm>
            <a:off x="10905744" y="2311146"/>
            <a:ext cx="320040" cy="400050"/>
          </a:xfrm>
          <a:prstGeom prst="rect">
            <a:avLst/>
          </a:prstGeom>
          <a:noFill/>
          <a:ln/>
        </p:spPr>
        <p:txBody>
          <a:bodyPr wrap="square" lIns="0" tIns="0" rIns="0" bIns="0" rtlCol="0" anchor="ctr"/>
          <a:lstStyle/>
          <a:p>
            <a:pPr marL="0" indent="0">
              <a:buNone/>
            </a:pPr>
            <a:r>
              <a:rPr lang="en-US" sz="900" b="1" dirty="0">
                <a:solidFill>
                  <a:srgbClr val="0F172A"/>
                </a:solidFill>
                <a:latin typeface="Calibri" pitchFamily="34" charset="0"/>
                <a:ea typeface="Calibri" pitchFamily="34" charset="-122"/>
                <a:cs typeface="Calibri" pitchFamily="34" charset="-120"/>
              </a:rPr>
              <a:t>430</a:t>
            </a:r>
            <a:endParaRPr lang="en-US" sz="900" dirty="0"/>
          </a:p>
        </p:txBody>
      </p:sp>
      <p:sp>
        <p:nvSpPr>
          <p:cNvPr id="26" name="Text 22"/>
          <p:cNvSpPr/>
          <p:nvPr/>
        </p:nvSpPr>
        <p:spPr>
          <a:xfrm>
            <a:off x="11365992" y="2311146"/>
            <a:ext cx="384048" cy="400050"/>
          </a:xfrm>
          <a:prstGeom prst="rect">
            <a:avLst/>
          </a:prstGeom>
          <a:noFill/>
          <a:ln/>
        </p:spPr>
        <p:txBody>
          <a:bodyPr wrap="square" lIns="0" tIns="0" rIns="0" bIns="0" rtlCol="0" anchor="ctr"/>
          <a:lstStyle/>
          <a:p>
            <a:pPr marL="0" indent="0" algn="r">
              <a:buNone/>
            </a:pPr>
            <a:r>
              <a:rPr lang="en-US" sz="800" i="1" dirty="0">
                <a:solidFill>
                  <a:srgbClr val="64748B"/>
                </a:solidFill>
                <a:latin typeface="Calibri" pitchFamily="34" charset="0"/>
                <a:ea typeface="Calibri" pitchFamily="34" charset="-122"/>
                <a:cs typeface="Calibri" pitchFamily="34" charset="-120"/>
              </a:rPr>
              <a:t>75% margin</a:t>
            </a:r>
            <a:endParaRPr lang="en-US" sz="800" dirty="0"/>
          </a:p>
        </p:txBody>
      </p:sp>
      <p:sp>
        <p:nvSpPr>
          <p:cNvPr id="27" name="Text 23"/>
          <p:cNvSpPr/>
          <p:nvPr/>
        </p:nvSpPr>
        <p:spPr>
          <a:xfrm>
            <a:off x="8732520" y="2802636"/>
            <a:ext cx="1463040" cy="400050"/>
          </a:xfrm>
          <a:prstGeom prst="rect">
            <a:avLst/>
          </a:prstGeom>
          <a:noFill/>
          <a:ln/>
        </p:spPr>
        <p:txBody>
          <a:bodyPr wrap="square" lIns="0" tIns="0" rIns="0" bIns="0" rtlCol="0" anchor="ctr"/>
          <a:lstStyle/>
          <a:p>
            <a:pPr marL="0" indent="0">
              <a:buNone/>
            </a:pPr>
            <a:r>
              <a:rPr lang="en-US" sz="850" dirty="0">
                <a:solidFill>
                  <a:srgbClr val="334155"/>
                </a:solidFill>
                <a:latin typeface="Calibri" pitchFamily="34" charset="0"/>
                <a:ea typeface="Calibri" pitchFamily="34" charset="-122"/>
                <a:cs typeface="Calibri" pitchFamily="34" charset="-120"/>
              </a:rPr>
              <a:t>EMI orchestration</a:t>
            </a:r>
            <a:endParaRPr lang="en-US" sz="850" dirty="0"/>
          </a:p>
        </p:txBody>
      </p:sp>
      <p:sp>
        <p:nvSpPr>
          <p:cNvPr id="28" name="Shape 24"/>
          <p:cNvSpPr/>
          <p:nvPr/>
        </p:nvSpPr>
        <p:spPr>
          <a:xfrm>
            <a:off x="10213848" y="2857500"/>
            <a:ext cx="350520" cy="290322"/>
          </a:xfrm>
          <a:prstGeom prst="rect">
            <a:avLst/>
          </a:prstGeom>
          <a:solidFill>
            <a:srgbClr val="16A34A"/>
          </a:solidFill>
          <a:ln/>
        </p:spPr>
        <p:txBody>
          <a:bodyPr/>
          <a:lstStyle/>
          <a:p>
            <a:endParaRPr lang="en-US"/>
          </a:p>
        </p:txBody>
      </p:sp>
      <p:sp>
        <p:nvSpPr>
          <p:cNvPr id="29" name="Text 25"/>
          <p:cNvSpPr/>
          <p:nvPr/>
        </p:nvSpPr>
        <p:spPr>
          <a:xfrm>
            <a:off x="10600944" y="2802636"/>
            <a:ext cx="320040" cy="400050"/>
          </a:xfrm>
          <a:prstGeom prst="rect">
            <a:avLst/>
          </a:prstGeom>
          <a:noFill/>
          <a:ln/>
        </p:spPr>
        <p:txBody>
          <a:bodyPr wrap="square" lIns="0" tIns="0" rIns="0" bIns="0" rtlCol="0" anchor="ctr"/>
          <a:lstStyle/>
          <a:p>
            <a:pPr marL="0" indent="0">
              <a:buNone/>
            </a:pPr>
            <a:r>
              <a:rPr lang="en-US" sz="900" b="1" dirty="0">
                <a:solidFill>
                  <a:srgbClr val="0F172A"/>
                </a:solidFill>
                <a:latin typeface="Calibri" pitchFamily="34" charset="0"/>
                <a:ea typeface="Calibri" pitchFamily="34" charset="-122"/>
                <a:cs typeface="Calibri" pitchFamily="34" charset="-120"/>
              </a:rPr>
              <a:t>230</a:t>
            </a:r>
            <a:endParaRPr lang="en-US" sz="900" dirty="0"/>
          </a:p>
        </p:txBody>
      </p:sp>
      <p:sp>
        <p:nvSpPr>
          <p:cNvPr id="30" name="Text 26"/>
          <p:cNvSpPr/>
          <p:nvPr/>
        </p:nvSpPr>
        <p:spPr>
          <a:xfrm>
            <a:off x="11365992" y="2802636"/>
            <a:ext cx="384048" cy="400050"/>
          </a:xfrm>
          <a:prstGeom prst="rect">
            <a:avLst/>
          </a:prstGeom>
          <a:noFill/>
          <a:ln/>
        </p:spPr>
        <p:txBody>
          <a:bodyPr wrap="square" lIns="0" tIns="0" rIns="0" bIns="0" rtlCol="0" anchor="ctr"/>
          <a:lstStyle/>
          <a:p>
            <a:pPr marL="0" indent="0" algn="r">
              <a:buNone/>
            </a:pPr>
            <a:r>
              <a:rPr lang="en-US" sz="800" i="1" dirty="0">
                <a:solidFill>
                  <a:srgbClr val="64748B"/>
                </a:solidFill>
                <a:latin typeface="Calibri" pitchFamily="34" charset="0"/>
                <a:ea typeface="Calibri" pitchFamily="34" charset="-122"/>
                <a:cs typeface="Calibri" pitchFamily="34" charset="-120"/>
              </a:rPr>
              <a:t>80% margin</a:t>
            </a:r>
            <a:endParaRPr lang="en-US" sz="800" dirty="0"/>
          </a:p>
        </p:txBody>
      </p:sp>
      <p:sp>
        <p:nvSpPr>
          <p:cNvPr id="31" name="Text 27"/>
          <p:cNvSpPr/>
          <p:nvPr/>
        </p:nvSpPr>
        <p:spPr>
          <a:xfrm>
            <a:off x="8732520" y="3294126"/>
            <a:ext cx="1463040" cy="400050"/>
          </a:xfrm>
          <a:prstGeom prst="rect">
            <a:avLst/>
          </a:prstGeom>
          <a:noFill/>
          <a:ln/>
        </p:spPr>
        <p:txBody>
          <a:bodyPr wrap="square" lIns="0" tIns="0" rIns="0" bIns="0" rtlCol="0" anchor="ctr"/>
          <a:lstStyle/>
          <a:p>
            <a:pPr marL="0" indent="0">
              <a:buNone/>
            </a:pPr>
            <a:r>
              <a:rPr lang="en-US" sz="850" dirty="0">
                <a:solidFill>
                  <a:srgbClr val="334155"/>
                </a:solidFill>
                <a:latin typeface="Calibri" pitchFamily="34" charset="0"/>
                <a:ea typeface="Calibri" pitchFamily="34" charset="-122"/>
                <a:cs typeface="Calibri" pitchFamily="34" charset="-120"/>
              </a:rPr>
              <a:t>Card loading / prog mgmt</a:t>
            </a:r>
            <a:endParaRPr lang="en-US" sz="850" dirty="0"/>
          </a:p>
        </p:txBody>
      </p:sp>
      <p:sp>
        <p:nvSpPr>
          <p:cNvPr id="32" name="Shape 28"/>
          <p:cNvSpPr/>
          <p:nvPr/>
        </p:nvSpPr>
        <p:spPr>
          <a:xfrm>
            <a:off x="10213848" y="3348990"/>
            <a:ext cx="327660" cy="290322"/>
          </a:xfrm>
          <a:prstGeom prst="rect">
            <a:avLst/>
          </a:prstGeom>
          <a:solidFill>
            <a:srgbClr val="0F3D2E"/>
          </a:solidFill>
          <a:ln/>
        </p:spPr>
        <p:txBody>
          <a:bodyPr/>
          <a:lstStyle/>
          <a:p>
            <a:endParaRPr lang="en-US"/>
          </a:p>
        </p:txBody>
      </p:sp>
      <p:sp>
        <p:nvSpPr>
          <p:cNvPr id="33" name="Text 29"/>
          <p:cNvSpPr/>
          <p:nvPr/>
        </p:nvSpPr>
        <p:spPr>
          <a:xfrm>
            <a:off x="10578084" y="3294126"/>
            <a:ext cx="320040" cy="400050"/>
          </a:xfrm>
          <a:prstGeom prst="rect">
            <a:avLst/>
          </a:prstGeom>
          <a:noFill/>
          <a:ln/>
        </p:spPr>
        <p:txBody>
          <a:bodyPr wrap="square" lIns="0" tIns="0" rIns="0" bIns="0" rtlCol="0" anchor="ctr"/>
          <a:lstStyle/>
          <a:p>
            <a:pPr marL="0" indent="0">
              <a:buNone/>
            </a:pPr>
            <a:r>
              <a:rPr lang="en-US" sz="900" b="1" dirty="0">
                <a:solidFill>
                  <a:srgbClr val="0F172A"/>
                </a:solidFill>
                <a:latin typeface="Calibri" pitchFamily="34" charset="0"/>
                <a:ea typeface="Calibri" pitchFamily="34" charset="-122"/>
                <a:cs typeface="Calibri" pitchFamily="34" charset="-120"/>
              </a:rPr>
              <a:t>215</a:t>
            </a:r>
            <a:endParaRPr lang="en-US" sz="900" dirty="0"/>
          </a:p>
        </p:txBody>
      </p:sp>
      <p:sp>
        <p:nvSpPr>
          <p:cNvPr id="34" name="Text 30"/>
          <p:cNvSpPr/>
          <p:nvPr/>
        </p:nvSpPr>
        <p:spPr>
          <a:xfrm>
            <a:off x="11365992" y="3294126"/>
            <a:ext cx="384048" cy="400050"/>
          </a:xfrm>
          <a:prstGeom prst="rect">
            <a:avLst/>
          </a:prstGeom>
          <a:noFill/>
          <a:ln/>
        </p:spPr>
        <p:txBody>
          <a:bodyPr wrap="square" lIns="0" tIns="0" rIns="0" bIns="0" rtlCol="0" anchor="ctr"/>
          <a:lstStyle/>
          <a:p>
            <a:pPr marL="0" indent="0" algn="r">
              <a:buNone/>
            </a:pPr>
            <a:r>
              <a:rPr lang="en-US" sz="800" i="1" dirty="0">
                <a:solidFill>
                  <a:srgbClr val="64748B"/>
                </a:solidFill>
                <a:latin typeface="Calibri" pitchFamily="34" charset="0"/>
                <a:ea typeface="Calibri" pitchFamily="34" charset="-122"/>
                <a:cs typeface="Calibri" pitchFamily="34" charset="-120"/>
              </a:rPr>
              <a:t>75% margin</a:t>
            </a:r>
            <a:endParaRPr lang="en-US" sz="800" dirty="0"/>
          </a:p>
        </p:txBody>
      </p:sp>
      <p:sp>
        <p:nvSpPr>
          <p:cNvPr id="35" name="Text 31"/>
          <p:cNvSpPr/>
          <p:nvPr/>
        </p:nvSpPr>
        <p:spPr>
          <a:xfrm>
            <a:off x="8732520" y="3785616"/>
            <a:ext cx="1463040" cy="400050"/>
          </a:xfrm>
          <a:prstGeom prst="rect">
            <a:avLst/>
          </a:prstGeom>
          <a:noFill/>
          <a:ln/>
        </p:spPr>
        <p:txBody>
          <a:bodyPr wrap="square" lIns="0" tIns="0" rIns="0" bIns="0" rtlCol="0" anchor="ctr"/>
          <a:lstStyle/>
          <a:p>
            <a:pPr marL="0" indent="0">
              <a:buNone/>
            </a:pPr>
            <a:r>
              <a:rPr lang="en-US" sz="850" dirty="0">
                <a:solidFill>
                  <a:srgbClr val="334155"/>
                </a:solidFill>
                <a:latin typeface="Calibri" pitchFamily="34" charset="0"/>
                <a:ea typeface="Calibri" pitchFamily="34" charset="-122"/>
                <a:cs typeface="Calibri" pitchFamily="34" charset="-120"/>
              </a:rPr>
              <a:t>Float + breakage</a:t>
            </a:r>
            <a:endParaRPr lang="en-US" sz="850" dirty="0"/>
          </a:p>
        </p:txBody>
      </p:sp>
      <p:sp>
        <p:nvSpPr>
          <p:cNvPr id="36" name="Shape 32"/>
          <p:cNvSpPr/>
          <p:nvPr/>
        </p:nvSpPr>
        <p:spPr>
          <a:xfrm>
            <a:off x="10213848" y="3840480"/>
            <a:ext cx="251460" cy="290322"/>
          </a:xfrm>
          <a:prstGeom prst="rect">
            <a:avLst/>
          </a:prstGeom>
          <a:solidFill>
            <a:srgbClr val="16A34A"/>
          </a:solidFill>
          <a:ln/>
        </p:spPr>
        <p:txBody>
          <a:bodyPr/>
          <a:lstStyle/>
          <a:p>
            <a:endParaRPr lang="en-US"/>
          </a:p>
        </p:txBody>
      </p:sp>
      <p:sp>
        <p:nvSpPr>
          <p:cNvPr id="37" name="Text 33"/>
          <p:cNvSpPr/>
          <p:nvPr/>
        </p:nvSpPr>
        <p:spPr>
          <a:xfrm>
            <a:off x="10501884" y="3785616"/>
            <a:ext cx="320040" cy="400050"/>
          </a:xfrm>
          <a:prstGeom prst="rect">
            <a:avLst/>
          </a:prstGeom>
          <a:noFill/>
          <a:ln/>
        </p:spPr>
        <p:txBody>
          <a:bodyPr wrap="square" lIns="0" tIns="0" rIns="0" bIns="0" rtlCol="0" anchor="ctr"/>
          <a:lstStyle/>
          <a:p>
            <a:pPr marL="0" indent="0">
              <a:buNone/>
            </a:pPr>
            <a:r>
              <a:rPr lang="en-US" sz="900" b="1" dirty="0">
                <a:solidFill>
                  <a:srgbClr val="0F172A"/>
                </a:solidFill>
                <a:latin typeface="Calibri" pitchFamily="34" charset="0"/>
                <a:ea typeface="Calibri" pitchFamily="34" charset="-122"/>
                <a:cs typeface="Calibri" pitchFamily="34" charset="-120"/>
              </a:rPr>
              <a:t>165</a:t>
            </a:r>
            <a:endParaRPr lang="en-US" sz="900" dirty="0"/>
          </a:p>
        </p:txBody>
      </p:sp>
      <p:sp>
        <p:nvSpPr>
          <p:cNvPr id="38" name="Text 34"/>
          <p:cNvSpPr/>
          <p:nvPr/>
        </p:nvSpPr>
        <p:spPr>
          <a:xfrm>
            <a:off x="11365992" y="3785616"/>
            <a:ext cx="384048" cy="400050"/>
          </a:xfrm>
          <a:prstGeom prst="rect">
            <a:avLst/>
          </a:prstGeom>
          <a:noFill/>
          <a:ln/>
        </p:spPr>
        <p:txBody>
          <a:bodyPr wrap="square" lIns="0" tIns="0" rIns="0" bIns="0" rtlCol="0" anchor="ctr"/>
          <a:lstStyle/>
          <a:p>
            <a:pPr marL="0" indent="0" algn="r">
              <a:buNone/>
            </a:pPr>
            <a:r>
              <a:rPr lang="en-US" sz="800" i="1" dirty="0">
                <a:solidFill>
                  <a:srgbClr val="64748B"/>
                </a:solidFill>
                <a:latin typeface="Calibri" pitchFamily="34" charset="0"/>
                <a:ea typeface="Calibri" pitchFamily="34" charset="-122"/>
                <a:cs typeface="Calibri" pitchFamily="34" charset="-120"/>
              </a:rPr>
              <a:t>99% margin</a:t>
            </a:r>
            <a:endParaRPr lang="en-US" sz="800" dirty="0"/>
          </a:p>
        </p:txBody>
      </p:sp>
      <p:sp>
        <p:nvSpPr>
          <p:cNvPr id="39" name="Text 35"/>
          <p:cNvSpPr/>
          <p:nvPr/>
        </p:nvSpPr>
        <p:spPr>
          <a:xfrm>
            <a:off x="8732520" y="4277106"/>
            <a:ext cx="1463040" cy="400050"/>
          </a:xfrm>
          <a:prstGeom prst="rect">
            <a:avLst/>
          </a:prstGeom>
          <a:noFill/>
          <a:ln/>
        </p:spPr>
        <p:txBody>
          <a:bodyPr wrap="square" lIns="0" tIns="0" rIns="0" bIns="0" rtlCol="0" anchor="ctr"/>
          <a:lstStyle/>
          <a:p>
            <a:pPr marL="0" indent="0">
              <a:buNone/>
            </a:pPr>
            <a:r>
              <a:rPr lang="en-US" sz="850" dirty="0">
                <a:solidFill>
                  <a:srgbClr val="334155"/>
                </a:solidFill>
                <a:latin typeface="Calibri" pitchFamily="34" charset="0"/>
                <a:ea typeface="Calibri" pitchFamily="34" charset="-122"/>
                <a:cs typeface="Calibri" pitchFamily="34" charset="-120"/>
              </a:rPr>
              <a:t>Credit+ per-card-month</a:t>
            </a:r>
            <a:endParaRPr lang="en-US" sz="850" dirty="0"/>
          </a:p>
        </p:txBody>
      </p:sp>
      <p:sp>
        <p:nvSpPr>
          <p:cNvPr id="40" name="Shape 36"/>
          <p:cNvSpPr/>
          <p:nvPr/>
        </p:nvSpPr>
        <p:spPr>
          <a:xfrm>
            <a:off x="10213848" y="4331970"/>
            <a:ext cx="129540" cy="290322"/>
          </a:xfrm>
          <a:prstGeom prst="rect">
            <a:avLst/>
          </a:prstGeom>
          <a:solidFill>
            <a:srgbClr val="0F3D2E"/>
          </a:solidFill>
          <a:ln/>
        </p:spPr>
        <p:txBody>
          <a:bodyPr/>
          <a:lstStyle/>
          <a:p>
            <a:endParaRPr lang="en-US"/>
          </a:p>
        </p:txBody>
      </p:sp>
      <p:sp>
        <p:nvSpPr>
          <p:cNvPr id="41" name="Text 37"/>
          <p:cNvSpPr/>
          <p:nvPr/>
        </p:nvSpPr>
        <p:spPr>
          <a:xfrm>
            <a:off x="10379964" y="4277106"/>
            <a:ext cx="320040" cy="400050"/>
          </a:xfrm>
          <a:prstGeom prst="rect">
            <a:avLst/>
          </a:prstGeom>
          <a:noFill/>
          <a:ln/>
        </p:spPr>
        <p:txBody>
          <a:bodyPr wrap="square" lIns="0" tIns="0" rIns="0" bIns="0" rtlCol="0" anchor="ctr"/>
          <a:lstStyle/>
          <a:p>
            <a:pPr marL="0" indent="0">
              <a:buNone/>
            </a:pPr>
            <a:r>
              <a:rPr lang="en-US" sz="900" b="1" dirty="0">
                <a:solidFill>
                  <a:srgbClr val="0F172A"/>
                </a:solidFill>
                <a:latin typeface="Calibri" pitchFamily="34" charset="0"/>
                <a:ea typeface="Calibri" pitchFamily="34" charset="-122"/>
                <a:cs typeface="Calibri" pitchFamily="34" charset="-120"/>
              </a:rPr>
              <a:t>85</a:t>
            </a:r>
            <a:endParaRPr lang="en-US" sz="900" dirty="0"/>
          </a:p>
        </p:txBody>
      </p:sp>
      <p:sp>
        <p:nvSpPr>
          <p:cNvPr id="42" name="Text 38"/>
          <p:cNvSpPr/>
          <p:nvPr/>
        </p:nvSpPr>
        <p:spPr>
          <a:xfrm>
            <a:off x="11365992" y="4277106"/>
            <a:ext cx="384048" cy="400050"/>
          </a:xfrm>
          <a:prstGeom prst="rect">
            <a:avLst/>
          </a:prstGeom>
          <a:noFill/>
          <a:ln/>
        </p:spPr>
        <p:txBody>
          <a:bodyPr wrap="square" lIns="0" tIns="0" rIns="0" bIns="0" rtlCol="0" anchor="ctr"/>
          <a:lstStyle/>
          <a:p>
            <a:pPr marL="0" indent="0" algn="r">
              <a:buNone/>
            </a:pPr>
            <a:r>
              <a:rPr lang="en-US" sz="800" i="1" dirty="0">
                <a:solidFill>
                  <a:srgbClr val="64748B"/>
                </a:solidFill>
                <a:latin typeface="Calibri" pitchFamily="34" charset="0"/>
                <a:ea typeface="Calibri" pitchFamily="34" charset="-122"/>
                <a:cs typeface="Calibri" pitchFamily="34" charset="-120"/>
              </a:rPr>
              <a:t>70% margin</a:t>
            </a:r>
            <a:endParaRPr lang="en-US" sz="800" dirty="0"/>
          </a:p>
        </p:txBody>
      </p:sp>
      <p:sp>
        <p:nvSpPr>
          <p:cNvPr id="43" name="Text 39"/>
          <p:cNvSpPr/>
          <p:nvPr/>
        </p:nvSpPr>
        <p:spPr>
          <a:xfrm>
            <a:off x="8732520" y="4768596"/>
            <a:ext cx="1463040" cy="400050"/>
          </a:xfrm>
          <a:prstGeom prst="rect">
            <a:avLst/>
          </a:prstGeom>
          <a:noFill/>
          <a:ln/>
        </p:spPr>
        <p:txBody>
          <a:bodyPr wrap="square" lIns="0" tIns="0" rIns="0" bIns="0" rtlCol="0" anchor="ctr"/>
          <a:lstStyle/>
          <a:p>
            <a:pPr marL="0" indent="0">
              <a:buNone/>
            </a:pPr>
            <a:r>
              <a:rPr lang="en-US" sz="850" dirty="0">
                <a:solidFill>
                  <a:srgbClr val="334155"/>
                </a:solidFill>
                <a:latin typeface="Calibri" pitchFamily="34" charset="0"/>
                <a:ea typeface="Calibri" pitchFamily="34" charset="-122"/>
                <a:cs typeface="Calibri" pitchFamily="34" charset="-120"/>
              </a:rPr>
              <a:t>Setu API consumption</a:t>
            </a:r>
            <a:endParaRPr lang="en-US" sz="850" dirty="0"/>
          </a:p>
        </p:txBody>
      </p:sp>
      <p:sp>
        <p:nvSpPr>
          <p:cNvPr id="44" name="Shape 40"/>
          <p:cNvSpPr/>
          <p:nvPr/>
        </p:nvSpPr>
        <p:spPr>
          <a:xfrm>
            <a:off x="10213848" y="4823460"/>
            <a:ext cx="121920" cy="290322"/>
          </a:xfrm>
          <a:prstGeom prst="rect">
            <a:avLst/>
          </a:prstGeom>
          <a:solidFill>
            <a:srgbClr val="16A34A"/>
          </a:solidFill>
          <a:ln/>
        </p:spPr>
        <p:txBody>
          <a:bodyPr/>
          <a:lstStyle/>
          <a:p>
            <a:endParaRPr lang="en-US"/>
          </a:p>
        </p:txBody>
      </p:sp>
      <p:sp>
        <p:nvSpPr>
          <p:cNvPr id="45" name="Text 41"/>
          <p:cNvSpPr/>
          <p:nvPr/>
        </p:nvSpPr>
        <p:spPr>
          <a:xfrm>
            <a:off x="10372344" y="4768596"/>
            <a:ext cx="320040" cy="400050"/>
          </a:xfrm>
          <a:prstGeom prst="rect">
            <a:avLst/>
          </a:prstGeom>
          <a:noFill/>
          <a:ln/>
        </p:spPr>
        <p:txBody>
          <a:bodyPr wrap="square" lIns="0" tIns="0" rIns="0" bIns="0" rtlCol="0" anchor="ctr"/>
          <a:lstStyle/>
          <a:p>
            <a:pPr marL="0" indent="0">
              <a:buNone/>
            </a:pPr>
            <a:r>
              <a:rPr lang="en-US" sz="900" b="1" dirty="0">
                <a:solidFill>
                  <a:srgbClr val="0F172A"/>
                </a:solidFill>
                <a:latin typeface="Calibri" pitchFamily="34" charset="0"/>
                <a:ea typeface="Calibri" pitchFamily="34" charset="-122"/>
                <a:cs typeface="Calibri" pitchFamily="34" charset="-120"/>
              </a:rPr>
              <a:t>80</a:t>
            </a:r>
            <a:endParaRPr lang="en-US" sz="900" dirty="0"/>
          </a:p>
        </p:txBody>
      </p:sp>
      <p:sp>
        <p:nvSpPr>
          <p:cNvPr id="46" name="Text 42"/>
          <p:cNvSpPr/>
          <p:nvPr/>
        </p:nvSpPr>
        <p:spPr>
          <a:xfrm>
            <a:off x="11365992" y="4768596"/>
            <a:ext cx="384048" cy="400050"/>
          </a:xfrm>
          <a:prstGeom prst="rect">
            <a:avLst/>
          </a:prstGeom>
          <a:noFill/>
          <a:ln/>
        </p:spPr>
        <p:txBody>
          <a:bodyPr wrap="square" lIns="0" tIns="0" rIns="0" bIns="0" rtlCol="0" anchor="ctr"/>
          <a:lstStyle/>
          <a:p>
            <a:pPr marL="0" indent="0" algn="r">
              <a:buNone/>
            </a:pPr>
            <a:r>
              <a:rPr lang="en-US" sz="800" i="1" dirty="0">
                <a:solidFill>
                  <a:srgbClr val="64748B"/>
                </a:solidFill>
                <a:latin typeface="Calibri" pitchFamily="34" charset="0"/>
                <a:ea typeface="Calibri" pitchFamily="34" charset="-122"/>
                <a:cs typeface="Calibri" pitchFamily="34" charset="-120"/>
              </a:rPr>
              <a:t>80% margin</a:t>
            </a:r>
            <a:endParaRPr lang="en-US" sz="800" dirty="0"/>
          </a:p>
        </p:txBody>
      </p:sp>
      <p:sp>
        <p:nvSpPr>
          <p:cNvPr id="47" name="Text 43"/>
          <p:cNvSpPr/>
          <p:nvPr/>
        </p:nvSpPr>
        <p:spPr>
          <a:xfrm>
            <a:off x="8732520" y="5260086"/>
            <a:ext cx="1463040" cy="400050"/>
          </a:xfrm>
          <a:prstGeom prst="rect">
            <a:avLst/>
          </a:prstGeom>
          <a:noFill/>
          <a:ln/>
        </p:spPr>
        <p:txBody>
          <a:bodyPr wrap="square" lIns="0" tIns="0" rIns="0" bIns="0" rtlCol="0" anchor="ctr"/>
          <a:lstStyle/>
          <a:p>
            <a:pPr marL="0" indent="0">
              <a:buNone/>
            </a:pPr>
            <a:r>
              <a:rPr lang="en-US" sz="850" dirty="0">
                <a:solidFill>
                  <a:srgbClr val="334155"/>
                </a:solidFill>
                <a:latin typeface="Calibri" pitchFamily="34" charset="0"/>
                <a:ea typeface="Calibri" pitchFamily="34" charset="-122"/>
                <a:cs typeface="Calibri" pitchFamily="34" charset="-120"/>
              </a:rPr>
              <a:t>Services / one-time</a:t>
            </a:r>
            <a:endParaRPr lang="en-US" sz="850" dirty="0"/>
          </a:p>
        </p:txBody>
      </p:sp>
      <p:sp>
        <p:nvSpPr>
          <p:cNvPr id="48" name="Shape 44"/>
          <p:cNvSpPr/>
          <p:nvPr/>
        </p:nvSpPr>
        <p:spPr>
          <a:xfrm>
            <a:off x="10213848" y="5314950"/>
            <a:ext cx="99060" cy="290322"/>
          </a:xfrm>
          <a:prstGeom prst="rect">
            <a:avLst/>
          </a:prstGeom>
          <a:solidFill>
            <a:srgbClr val="64748B"/>
          </a:solidFill>
          <a:ln/>
        </p:spPr>
        <p:txBody>
          <a:bodyPr/>
          <a:lstStyle/>
          <a:p>
            <a:endParaRPr lang="en-US"/>
          </a:p>
        </p:txBody>
      </p:sp>
      <p:sp>
        <p:nvSpPr>
          <p:cNvPr id="49" name="Text 45"/>
          <p:cNvSpPr/>
          <p:nvPr/>
        </p:nvSpPr>
        <p:spPr>
          <a:xfrm>
            <a:off x="10349484" y="5260086"/>
            <a:ext cx="320040" cy="400050"/>
          </a:xfrm>
          <a:prstGeom prst="rect">
            <a:avLst/>
          </a:prstGeom>
          <a:noFill/>
          <a:ln/>
        </p:spPr>
        <p:txBody>
          <a:bodyPr wrap="square" lIns="0" tIns="0" rIns="0" bIns="0" rtlCol="0" anchor="ctr"/>
          <a:lstStyle/>
          <a:p>
            <a:pPr marL="0" indent="0">
              <a:buNone/>
            </a:pPr>
            <a:r>
              <a:rPr lang="en-US" sz="900" b="1" dirty="0">
                <a:solidFill>
                  <a:srgbClr val="0F172A"/>
                </a:solidFill>
                <a:latin typeface="Calibri" pitchFamily="34" charset="0"/>
                <a:ea typeface="Calibri" pitchFamily="34" charset="-122"/>
                <a:cs typeface="Calibri" pitchFamily="34" charset="-120"/>
              </a:rPr>
              <a:t>65</a:t>
            </a:r>
            <a:endParaRPr lang="en-US" sz="900" dirty="0"/>
          </a:p>
        </p:txBody>
      </p:sp>
      <p:sp>
        <p:nvSpPr>
          <p:cNvPr id="50" name="Text 46"/>
          <p:cNvSpPr/>
          <p:nvPr/>
        </p:nvSpPr>
        <p:spPr>
          <a:xfrm>
            <a:off x="11365992" y="5260086"/>
            <a:ext cx="384048" cy="400050"/>
          </a:xfrm>
          <a:prstGeom prst="rect">
            <a:avLst/>
          </a:prstGeom>
          <a:noFill/>
          <a:ln/>
        </p:spPr>
        <p:txBody>
          <a:bodyPr wrap="square" lIns="0" tIns="0" rIns="0" bIns="0" rtlCol="0" anchor="ctr"/>
          <a:lstStyle/>
          <a:p>
            <a:pPr marL="0" indent="0" algn="r">
              <a:buNone/>
            </a:pPr>
            <a:r>
              <a:rPr lang="en-US" sz="800" i="1" dirty="0">
                <a:solidFill>
                  <a:srgbClr val="64748B"/>
                </a:solidFill>
                <a:latin typeface="Calibri" pitchFamily="34" charset="0"/>
                <a:ea typeface="Calibri" pitchFamily="34" charset="-122"/>
                <a:cs typeface="Calibri" pitchFamily="34" charset="-120"/>
              </a:rPr>
              <a:t>35% margin</a:t>
            </a:r>
            <a:endParaRPr lang="en-US" sz="800" dirty="0"/>
          </a:p>
        </p:txBody>
      </p:sp>
      <p:sp>
        <p:nvSpPr>
          <p:cNvPr id="51" name="Shape 47"/>
          <p:cNvSpPr/>
          <p:nvPr/>
        </p:nvSpPr>
        <p:spPr>
          <a:xfrm>
            <a:off x="457200" y="5852160"/>
            <a:ext cx="11247120" cy="457200"/>
          </a:xfrm>
          <a:prstGeom prst="rect">
            <a:avLst/>
          </a:prstGeom>
          <a:solidFill>
            <a:srgbClr val="F8FAFC"/>
          </a:solidFill>
          <a:ln w="6350">
            <a:solidFill>
              <a:srgbClr val="E2E8F0"/>
            </a:solidFill>
            <a:prstDash val="solid"/>
          </a:ln>
        </p:spPr>
        <p:txBody>
          <a:bodyPr/>
          <a:lstStyle/>
          <a:p>
            <a:endParaRPr lang="en-US"/>
          </a:p>
        </p:txBody>
      </p:sp>
      <p:sp>
        <p:nvSpPr>
          <p:cNvPr id="52" name="Shape 48"/>
          <p:cNvSpPr/>
          <p:nvPr/>
        </p:nvSpPr>
        <p:spPr>
          <a:xfrm>
            <a:off x="457200" y="5852160"/>
            <a:ext cx="73152" cy="457200"/>
          </a:xfrm>
          <a:prstGeom prst="rect">
            <a:avLst/>
          </a:prstGeom>
          <a:solidFill>
            <a:srgbClr val="16A34A"/>
          </a:solidFill>
          <a:ln/>
        </p:spPr>
        <p:txBody>
          <a:bodyPr/>
          <a:lstStyle/>
          <a:p>
            <a:endParaRPr lang="en-US"/>
          </a:p>
        </p:txBody>
      </p:sp>
      <p:sp>
        <p:nvSpPr>
          <p:cNvPr id="53" name="Text 49"/>
          <p:cNvSpPr/>
          <p:nvPr/>
        </p:nvSpPr>
        <p:spPr>
          <a:xfrm>
            <a:off x="685800" y="5852160"/>
            <a:ext cx="10972800" cy="457200"/>
          </a:xfrm>
          <a:prstGeom prst="rect">
            <a:avLst/>
          </a:prstGeom>
          <a:noFill/>
          <a:ln/>
        </p:spPr>
        <p:txBody>
          <a:bodyPr wrap="square" lIns="0" tIns="0" rIns="0" bIns="0" rtlCol="0" anchor="ctr"/>
          <a:lstStyle/>
          <a:p>
            <a:pPr marL="0" indent="0">
              <a:buNone/>
            </a:pPr>
            <a:r>
              <a:rPr lang="en-US" sz="1100" b="1" kern="0" spc="100" dirty="0">
                <a:solidFill>
                  <a:srgbClr val="16A34A"/>
                </a:solidFill>
                <a:latin typeface="Calibri" pitchFamily="34" charset="0"/>
                <a:ea typeface="Calibri" pitchFamily="34" charset="-122"/>
                <a:cs typeface="Calibri" pitchFamily="34" charset="-120"/>
              </a:rPr>
              <a:t>Insight  </a:t>
            </a:r>
            <a:r>
              <a:rPr lang="en-US" sz="1050" spc="100" dirty="0">
                <a:solidFill>
                  <a:srgbClr val="0F172A"/>
                </a:solidFill>
                <a:latin typeface="Calibri" pitchFamily="34" charset="0"/>
                <a:ea typeface="Calibri" pitchFamily="34" charset="-122"/>
                <a:cs typeface="Calibri" pitchFamily="34" charset="-120"/>
              </a:rPr>
              <a:t>Float + breakage (~₹165 Cr at ~99% margin) and EMI orchestration (~₹230 Cr at ~80%) generate disproportionate EBITDA. IAP is 28% of revenue but contributes a meaningfully larger share of profit — and is the model VAS expansion must replicate.</a:t>
            </a:r>
            <a:endParaRPr lang="en-US" sz="1100" spc="100" dirty="0"/>
          </a:p>
        </p:txBody>
      </p:sp>
      <p:pic>
        <p:nvPicPr>
          <p:cNvPr id="54" name="Picture 2" descr="Pine Labs Launches Paper POS, a Merged QR Product to Accept Payments via  UPI and Bharat QR Apps">
            <a:extLst>
              <a:ext uri="{FF2B5EF4-FFF2-40B4-BE49-F238E27FC236}">
                <a16:creationId xmlns:a16="http://schemas.microsoft.com/office/drawing/2014/main" id="{3E6EF771-ED46-A968-5715-C38DCAEA9055}"/>
              </a:ext>
            </a:extLst>
          </p:cNvPr>
          <p:cNvPicPr>
            <a:picLocks noChangeAspect="1" noChangeArrowheads="1"/>
          </p:cNvPicPr>
          <p:nvPr/>
        </p:nvPicPr>
        <p:blipFill>
          <a:blip r:embed="rId5">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1177016" y="-102584"/>
            <a:ext cx="1115568" cy="58451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16A34A"/>
          </a:solidFill>
          <a:ln/>
        </p:spPr>
        <p:txBody>
          <a:bodyPr/>
          <a:lstStyle/>
          <a:p>
            <a:endParaRPr lang="en-US"/>
          </a:p>
        </p:txBody>
      </p:sp>
      <p:sp>
        <p:nvSpPr>
          <p:cNvPr id="3" name="Text 1"/>
          <p:cNvSpPr/>
          <p:nvPr/>
        </p:nvSpPr>
        <p:spPr>
          <a:xfrm>
            <a:off x="457200" y="201168"/>
            <a:ext cx="10058400" cy="256032"/>
          </a:xfrm>
          <a:prstGeom prst="rect">
            <a:avLst/>
          </a:prstGeom>
          <a:noFill/>
          <a:ln/>
        </p:spPr>
        <p:txBody>
          <a:bodyPr wrap="square" lIns="0" tIns="0" rIns="0" bIns="0" rtlCol="0" anchor="ctr"/>
          <a:lstStyle/>
          <a:p>
            <a:pPr marL="0" indent="0">
              <a:buNone/>
            </a:pPr>
            <a:r>
              <a:rPr lang="en-US" sz="900" b="1" kern="0" spc="100" dirty="0">
                <a:solidFill>
                  <a:srgbClr val="16A34A"/>
                </a:solidFill>
                <a:latin typeface="Calibri" pitchFamily="34" charset="0"/>
                <a:ea typeface="Calibri" pitchFamily="34" charset="-122"/>
                <a:cs typeface="Calibri" pitchFamily="34" charset="-120"/>
              </a:rPr>
              <a:t>THE CORE PROBLEM</a:t>
            </a:r>
            <a:endParaRPr lang="en-US" sz="900" spc="100" dirty="0"/>
          </a:p>
        </p:txBody>
      </p:sp>
      <p:sp>
        <p:nvSpPr>
          <p:cNvPr id="4" name="Text 2"/>
          <p:cNvSpPr/>
          <p:nvPr/>
        </p:nvSpPr>
        <p:spPr>
          <a:xfrm>
            <a:off x="457200" y="457200"/>
            <a:ext cx="11247120" cy="731520"/>
          </a:xfrm>
          <a:prstGeom prst="rect">
            <a:avLst/>
          </a:prstGeom>
          <a:noFill/>
          <a:ln/>
        </p:spPr>
        <p:txBody>
          <a:bodyPr wrap="square" lIns="0" tIns="0" rIns="0" bIns="0" rtlCol="0" anchor="ctr"/>
          <a:lstStyle/>
          <a:p>
            <a:pPr marL="0" indent="0">
              <a:buNone/>
            </a:pPr>
            <a:r>
              <a:rPr lang="en-US" sz="2200" b="1" dirty="0">
                <a:solidFill>
                  <a:srgbClr val="0F172A"/>
                </a:solidFill>
                <a:latin typeface="Calibri" pitchFamily="34" charset="0"/>
                <a:ea typeface="Calibri" pitchFamily="34" charset="-122"/>
                <a:cs typeface="Calibri" pitchFamily="34" charset="-120"/>
              </a:rPr>
              <a:t>75% of 1.9M terminals generate zero VAS — the single largest internal lever</a:t>
            </a:r>
            <a:endParaRPr lang="en-US" sz="2200" dirty="0"/>
          </a:p>
        </p:txBody>
      </p:sp>
      <p:sp>
        <p:nvSpPr>
          <p:cNvPr id="5" name="Shape 3"/>
          <p:cNvSpPr/>
          <p:nvPr/>
        </p:nvSpPr>
        <p:spPr>
          <a:xfrm>
            <a:off x="457200" y="1188720"/>
            <a:ext cx="11247120" cy="13716"/>
          </a:xfrm>
          <a:prstGeom prst="rect">
            <a:avLst/>
          </a:prstGeom>
          <a:solidFill>
            <a:srgbClr val="E2E8F0"/>
          </a:solidFill>
          <a:ln/>
        </p:spPr>
        <p:txBody>
          <a:bodyPr/>
          <a:lstStyle/>
          <a:p>
            <a:endParaRPr lang="en-US"/>
          </a:p>
        </p:txBody>
      </p:sp>
      <p:sp>
        <p:nvSpPr>
          <p:cNvPr id="6" name="Text 4"/>
          <p:cNvSpPr/>
          <p:nvPr/>
        </p:nvSpPr>
        <p:spPr>
          <a:xfrm>
            <a:off x="457200" y="6492240"/>
            <a:ext cx="6400800" cy="256032"/>
          </a:xfrm>
          <a:prstGeom prst="rect">
            <a:avLst/>
          </a:prstGeom>
          <a:noFill/>
          <a:ln/>
        </p:spPr>
        <p:txBody>
          <a:bodyPr wrap="square" lIns="0" tIns="0" rIns="0" bIns="0" rtlCol="0" anchor="ctr"/>
          <a:lstStyle/>
          <a:p>
            <a:pPr marL="0" indent="0">
              <a:buNone/>
            </a:pPr>
            <a:r>
              <a:rPr lang="en-US" sz="900" i="1" dirty="0">
                <a:solidFill>
                  <a:srgbClr val="64748B"/>
                </a:solidFill>
                <a:latin typeface="Calibri" pitchFamily="34" charset="0"/>
                <a:ea typeface="Calibri" pitchFamily="34" charset="-122"/>
                <a:cs typeface="Calibri" pitchFamily="34" charset="-120"/>
              </a:rPr>
              <a:t>Pine Labs — Corporate Development</a:t>
            </a:r>
            <a:endParaRPr lang="en-US" sz="900" dirty="0"/>
          </a:p>
        </p:txBody>
      </p:sp>
      <p:sp>
        <p:nvSpPr>
          <p:cNvPr id="7" name="Text 5"/>
          <p:cNvSpPr/>
          <p:nvPr/>
        </p:nvSpPr>
        <p:spPr>
          <a:xfrm>
            <a:off x="6858000" y="6492240"/>
            <a:ext cx="2743200" cy="256032"/>
          </a:xfrm>
          <a:prstGeom prst="rect">
            <a:avLst/>
          </a:prstGeom>
          <a:noFill/>
          <a:ln/>
        </p:spPr>
        <p:txBody>
          <a:bodyPr wrap="square" lIns="0" tIns="0" rIns="0" bIns="0" rtlCol="0" anchor="ctr"/>
          <a:lstStyle/>
          <a:p>
            <a:pPr marL="0" indent="0" algn="ctr">
              <a:buNone/>
            </a:pPr>
            <a:r>
              <a:rPr lang="en-US" sz="900" i="1" dirty="0">
                <a:solidFill>
                  <a:srgbClr val="64748B"/>
                </a:solidFill>
                <a:latin typeface="Calibri" pitchFamily="34" charset="0"/>
                <a:ea typeface="Calibri" pitchFamily="34" charset="-122"/>
                <a:cs typeface="Calibri" pitchFamily="34" charset="-120"/>
              </a:rPr>
              <a:t>Strictly Confidential</a:t>
            </a:r>
            <a:endParaRPr lang="en-US" sz="900" dirty="0"/>
          </a:p>
        </p:txBody>
      </p:sp>
      <p:sp>
        <p:nvSpPr>
          <p:cNvPr id="8" name="Text 6"/>
          <p:cNvSpPr/>
          <p:nvPr/>
        </p:nvSpPr>
        <p:spPr>
          <a:xfrm>
            <a:off x="10515600" y="6492240"/>
            <a:ext cx="1188720" cy="256032"/>
          </a:xfrm>
          <a:prstGeom prst="rect">
            <a:avLst/>
          </a:prstGeom>
          <a:noFill/>
          <a:ln/>
        </p:spPr>
        <p:txBody>
          <a:bodyPr wrap="square" lIns="0" tIns="0" rIns="0" bIns="0" rtlCol="0" anchor="ctr"/>
          <a:lstStyle/>
          <a:p>
            <a:pPr marL="0" indent="0" algn="r">
              <a:buNone/>
            </a:pPr>
            <a:r>
              <a:rPr lang="en-US" sz="900" b="1" dirty="0">
                <a:solidFill>
                  <a:srgbClr val="64748B"/>
                </a:solidFill>
                <a:latin typeface="Calibri" pitchFamily="34" charset="0"/>
                <a:ea typeface="Calibri" pitchFamily="34" charset="-122"/>
                <a:cs typeface="Calibri" pitchFamily="34" charset="-120"/>
              </a:rPr>
              <a:t>5</a:t>
            </a:r>
            <a:endParaRPr lang="en-US" sz="900" dirty="0"/>
          </a:p>
        </p:txBody>
      </p:sp>
      <p:sp>
        <p:nvSpPr>
          <p:cNvPr id="9" name="Shape 7"/>
          <p:cNvSpPr/>
          <p:nvPr/>
        </p:nvSpPr>
        <p:spPr>
          <a:xfrm>
            <a:off x="502920" y="1463040"/>
            <a:ext cx="4937760" cy="4617720"/>
          </a:xfrm>
          <a:prstGeom prst="rect">
            <a:avLst/>
          </a:prstGeom>
          <a:solidFill>
            <a:srgbClr val="F8FAFC"/>
          </a:solidFill>
          <a:ln w="6350">
            <a:solidFill>
              <a:srgbClr val="E2E8F0"/>
            </a:solidFill>
            <a:prstDash val="solid"/>
          </a:ln>
        </p:spPr>
        <p:txBody>
          <a:bodyPr/>
          <a:lstStyle/>
          <a:p>
            <a:endParaRPr lang="en-US"/>
          </a:p>
        </p:txBody>
      </p:sp>
      <p:sp>
        <p:nvSpPr>
          <p:cNvPr id="10" name="Text 8"/>
          <p:cNvSpPr/>
          <p:nvPr/>
        </p:nvSpPr>
        <p:spPr>
          <a:xfrm>
            <a:off x="731520" y="1600200"/>
            <a:ext cx="4480560" cy="274320"/>
          </a:xfrm>
          <a:prstGeom prst="rect">
            <a:avLst/>
          </a:prstGeom>
          <a:noFill/>
          <a:ln/>
        </p:spPr>
        <p:txBody>
          <a:bodyPr wrap="square" lIns="0" tIns="0" rIns="0" bIns="0" rtlCol="0" anchor="ctr"/>
          <a:lstStyle/>
          <a:p>
            <a:pPr marL="0" indent="0">
              <a:buNone/>
            </a:pPr>
            <a:r>
              <a:rPr lang="en-US" sz="1000" b="1" kern="0" spc="100" dirty="0">
                <a:solidFill>
                  <a:srgbClr val="0F172A"/>
                </a:solidFill>
                <a:latin typeface="Calibri" pitchFamily="34" charset="0"/>
                <a:ea typeface="Calibri" pitchFamily="34" charset="-122"/>
                <a:cs typeface="Calibri" pitchFamily="34" charset="-120"/>
              </a:rPr>
              <a:t>Pine Labs deployed terminal base</a:t>
            </a:r>
            <a:endParaRPr lang="en-US" sz="1000" spc="100" dirty="0"/>
          </a:p>
        </p:txBody>
      </p:sp>
      <p:sp>
        <p:nvSpPr>
          <p:cNvPr id="11" name="Text 9"/>
          <p:cNvSpPr/>
          <p:nvPr/>
        </p:nvSpPr>
        <p:spPr>
          <a:xfrm>
            <a:off x="731520" y="1847088"/>
            <a:ext cx="4480560" cy="228600"/>
          </a:xfrm>
          <a:prstGeom prst="rect">
            <a:avLst/>
          </a:prstGeom>
          <a:noFill/>
          <a:ln/>
        </p:spPr>
        <p:txBody>
          <a:bodyPr wrap="square" lIns="0" tIns="0" rIns="0" bIns="0" rtlCol="0" anchor="ctr"/>
          <a:lstStyle/>
          <a:p>
            <a:pPr marL="0" indent="0">
              <a:buNone/>
            </a:pPr>
            <a:r>
              <a:rPr lang="en-US" sz="850" i="1" dirty="0">
                <a:solidFill>
                  <a:srgbClr val="64748B"/>
                </a:solidFill>
                <a:latin typeface="Calibri" pitchFamily="34" charset="0"/>
                <a:ea typeface="Calibri" pitchFamily="34" charset="-122"/>
                <a:cs typeface="Calibri" pitchFamily="34" charset="-120"/>
              </a:rPr>
              <a:t>each square = ~19,000 terminals  ·  100 squares = 1.9M</a:t>
            </a:r>
            <a:endParaRPr lang="en-US" sz="850" dirty="0"/>
          </a:p>
        </p:txBody>
      </p:sp>
      <p:sp>
        <p:nvSpPr>
          <p:cNvPr id="12" name="Shape 10"/>
          <p:cNvSpPr/>
          <p:nvPr/>
        </p:nvSpPr>
        <p:spPr>
          <a:xfrm>
            <a:off x="1252728" y="2176272"/>
            <a:ext cx="310896" cy="310896"/>
          </a:xfrm>
          <a:prstGeom prst="rect">
            <a:avLst/>
          </a:prstGeom>
          <a:solidFill>
            <a:srgbClr val="16A34A"/>
          </a:solidFill>
          <a:ln/>
        </p:spPr>
        <p:txBody>
          <a:bodyPr/>
          <a:lstStyle/>
          <a:p>
            <a:endParaRPr lang="en-US"/>
          </a:p>
        </p:txBody>
      </p:sp>
      <p:sp>
        <p:nvSpPr>
          <p:cNvPr id="13" name="Shape 11"/>
          <p:cNvSpPr/>
          <p:nvPr/>
        </p:nvSpPr>
        <p:spPr>
          <a:xfrm>
            <a:off x="1600200" y="2176272"/>
            <a:ext cx="310896" cy="310896"/>
          </a:xfrm>
          <a:prstGeom prst="rect">
            <a:avLst/>
          </a:prstGeom>
          <a:solidFill>
            <a:srgbClr val="16A34A"/>
          </a:solidFill>
          <a:ln/>
        </p:spPr>
        <p:txBody>
          <a:bodyPr/>
          <a:lstStyle/>
          <a:p>
            <a:endParaRPr lang="en-US"/>
          </a:p>
        </p:txBody>
      </p:sp>
      <p:sp>
        <p:nvSpPr>
          <p:cNvPr id="14" name="Shape 12"/>
          <p:cNvSpPr/>
          <p:nvPr/>
        </p:nvSpPr>
        <p:spPr>
          <a:xfrm>
            <a:off x="1947672" y="2176272"/>
            <a:ext cx="310896" cy="310896"/>
          </a:xfrm>
          <a:prstGeom prst="rect">
            <a:avLst/>
          </a:prstGeom>
          <a:solidFill>
            <a:srgbClr val="16A34A"/>
          </a:solidFill>
          <a:ln/>
        </p:spPr>
        <p:txBody>
          <a:bodyPr/>
          <a:lstStyle/>
          <a:p>
            <a:endParaRPr lang="en-US"/>
          </a:p>
        </p:txBody>
      </p:sp>
      <p:sp>
        <p:nvSpPr>
          <p:cNvPr id="15" name="Shape 13"/>
          <p:cNvSpPr/>
          <p:nvPr/>
        </p:nvSpPr>
        <p:spPr>
          <a:xfrm>
            <a:off x="2295144" y="2176272"/>
            <a:ext cx="310896" cy="310896"/>
          </a:xfrm>
          <a:prstGeom prst="rect">
            <a:avLst/>
          </a:prstGeom>
          <a:solidFill>
            <a:srgbClr val="16A34A"/>
          </a:solidFill>
          <a:ln/>
        </p:spPr>
        <p:txBody>
          <a:bodyPr/>
          <a:lstStyle/>
          <a:p>
            <a:endParaRPr lang="en-US"/>
          </a:p>
        </p:txBody>
      </p:sp>
      <p:sp>
        <p:nvSpPr>
          <p:cNvPr id="16" name="Shape 14"/>
          <p:cNvSpPr/>
          <p:nvPr/>
        </p:nvSpPr>
        <p:spPr>
          <a:xfrm>
            <a:off x="2642616" y="2176272"/>
            <a:ext cx="310896" cy="310896"/>
          </a:xfrm>
          <a:prstGeom prst="rect">
            <a:avLst/>
          </a:prstGeom>
          <a:solidFill>
            <a:srgbClr val="16A34A"/>
          </a:solidFill>
          <a:ln/>
        </p:spPr>
        <p:txBody>
          <a:bodyPr/>
          <a:lstStyle/>
          <a:p>
            <a:endParaRPr lang="en-US"/>
          </a:p>
        </p:txBody>
      </p:sp>
      <p:sp>
        <p:nvSpPr>
          <p:cNvPr id="17" name="Shape 15"/>
          <p:cNvSpPr/>
          <p:nvPr/>
        </p:nvSpPr>
        <p:spPr>
          <a:xfrm>
            <a:off x="2990088" y="2176272"/>
            <a:ext cx="310896" cy="310896"/>
          </a:xfrm>
          <a:prstGeom prst="rect">
            <a:avLst/>
          </a:prstGeom>
          <a:solidFill>
            <a:srgbClr val="16A34A"/>
          </a:solidFill>
          <a:ln/>
        </p:spPr>
        <p:txBody>
          <a:bodyPr/>
          <a:lstStyle/>
          <a:p>
            <a:endParaRPr lang="en-US"/>
          </a:p>
        </p:txBody>
      </p:sp>
      <p:sp>
        <p:nvSpPr>
          <p:cNvPr id="18" name="Shape 16"/>
          <p:cNvSpPr/>
          <p:nvPr/>
        </p:nvSpPr>
        <p:spPr>
          <a:xfrm>
            <a:off x="3337560" y="2176272"/>
            <a:ext cx="310896" cy="310896"/>
          </a:xfrm>
          <a:prstGeom prst="rect">
            <a:avLst/>
          </a:prstGeom>
          <a:solidFill>
            <a:srgbClr val="16A34A"/>
          </a:solidFill>
          <a:ln/>
        </p:spPr>
        <p:txBody>
          <a:bodyPr/>
          <a:lstStyle/>
          <a:p>
            <a:endParaRPr lang="en-US"/>
          </a:p>
        </p:txBody>
      </p:sp>
      <p:sp>
        <p:nvSpPr>
          <p:cNvPr id="19" name="Shape 17"/>
          <p:cNvSpPr/>
          <p:nvPr/>
        </p:nvSpPr>
        <p:spPr>
          <a:xfrm>
            <a:off x="3685032" y="2176272"/>
            <a:ext cx="310896" cy="310896"/>
          </a:xfrm>
          <a:prstGeom prst="rect">
            <a:avLst/>
          </a:prstGeom>
          <a:solidFill>
            <a:srgbClr val="16A34A"/>
          </a:solidFill>
          <a:ln/>
        </p:spPr>
        <p:txBody>
          <a:bodyPr/>
          <a:lstStyle/>
          <a:p>
            <a:endParaRPr lang="en-US"/>
          </a:p>
        </p:txBody>
      </p:sp>
      <p:sp>
        <p:nvSpPr>
          <p:cNvPr id="20" name="Shape 18"/>
          <p:cNvSpPr/>
          <p:nvPr/>
        </p:nvSpPr>
        <p:spPr>
          <a:xfrm>
            <a:off x="4032504" y="2176272"/>
            <a:ext cx="310896" cy="310896"/>
          </a:xfrm>
          <a:prstGeom prst="rect">
            <a:avLst/>
          </a:prstGeom>
          <a:solidFill>
            <a:srgbClr val="CBD5E1"/>
          </a:solidFill>
          <a:ln/>
        </p:spPr>
        <p:txBody>
          <a:bodyPr/>
          <a:lstStyle/>
          <a:p>
            <a:endParaRPr lang="en-US"/>
          </a:p>
        </p:txBody>
      </p:sp>
      <p:sp>
        <p:nvSpPr>
          <p:cNvPr id="21" name="Shape 19"/>
          <p:cNvSpPr/>
          <p:nvPr/>
        </p:nvSpPr>
        <p:spPr>
          <a:xfrm>
            <a:off x="4379976" y="2176272"/>
            <a:ext cx="310896" cy="310896"/>
          </a:xfrm>
          <a:prstGeom prst="rect">
            <a:avLst/>
          </a:prstGeom>
          <a:solidFill>
            <a:srgbClr val="CBD5E1"/>
          </a:solidFill>
          <a:ln/>
        </p:spPr>
        <p:txBody>
          <a:bodyPr/>
          <a:lstStyle/>
          <a:p>
            <a:endParaRPr lang="en-US"/>
          </a:p>
        </p:txBody>
      </p:sp>
      <p:sp>
        <p:nvSpPr>
          <p:cNvPr id="22" name="Shape 20"/>
          <p:cNvSpPr/>
          <p:nvPr/>
        </p:nvSpPr>
        <p:spPr>
          <a:xfrm>
            <a:off x="1252728" y="2523744"/>
            <a:ext cx="310896" cy="310896"/>
          </a:xfrm>
          <a:prstGeom prst="rect">
            <a:avLst/>
          </a:prstGeom>
          <a:solidFill>
            <a:srgbClr val="16A34A"/>
          </a:solidFill>
          <a:ln/>
        </p:spPr>
        <p:txBody>
          <a:bodyPr/>
          <a:lstStyle/>
          <a:p>
            <a:endParaRPr lang="en-US"/>
          </a:p>
        </p:txBody>
      </p:sp>
      <p:sp>
        <p:nvSpPr>
          <p:cNvPr id="23" name="Shape 21"/>
          <p:cNvSpPr/>
          <p:nvPr/>
        </p:nvSpPr>
        <p:spPr>
          <a:xfrm>
            <a:off x="1600200" y="2523744"/>
            <a:ext cx="310896" cy="310896"/>
          </a:xfrm>
          <a:prstGeom prst="rect">
            <a:avLst/>
          </a:prstGeom>
          <a:solidFill>
            <a:srgbClr val="16A34A"/>
          </a:solidFill>
          <a:ln/>
        </p:spPr>
        <p:txBody>
          <a:bodyPr/>
          <a:lstStyle/>
          <a:p>
            <a:endParaRPr lang="en-US"/>
          </a:p>
        </p:txBody>
      </p:sp>
      <p:sp>
        <p:nvSpPr>
          <p:cNvPr id="24" name="Shape 22"/>
          <p:cNvSpPr/>
          <p:nvPr/>
        </p:nvSpPr>
        <p:spPr>
          <a:xfrm>
            <a:off x="1947672" y="2523744"/>
            <a:ext cx="310896" cy="310896"/>
          </a:xfrm>
          <a:prstGeom prst="rect">
            <a:avLst/>
          </a:prstGeom>
          <a:solidFill>
            <a:srgbClr val="16A34A"/>
          </a:solidFill>
          <a:ln/>
        </p:spPr>
        <p:txBody>
          <a:bodyPr/>
          <a:lstStyle/>
          <a:p>
            <a:endParaRPr lang="en-US"/>
          </a:p>
        </p:txBody>
      </p:sp>
      <p:sp>
        <p:nvSpPr>
          <p:cNvPr id="25" name="Shape 23"/>
          <p:cNvSpPr/>
          <p:nvPr/>
        </p:nvSpPr>
        <p:spPr>
          <a:xfrm>
            <a:off x="2295144" y="2523744"/>
            <a:ext cx="310896" cy="310896"/>
          </a:xfrm>
          <a:prstGeom prst="rect">
            <a:avLst/>
          </a:prstGeom>
          <a:solidFill>
            <a:srgbClr val="16A34A"/>
          </a:solidFill>
          <a:ln/>
        </p:spPr>
        <p:txBody>
          <a:bodyPr/>
          <a:lstStyle/>
          <a:p>
            <a:endParaRPr lang="en-US"/>
          </a:p>
        </p:txBody>
      </p:sp>
      <p:sp>
        <p:nvSpPr>
          <p:cNvPr id="26" name="Shape 24"/>
          <p:cNvSpPr/>
          <p:nvPr/>
        </p:nvSpPr>
        <p:spPr>
          <a:xfrm>
            <a:off x="2642616" y="2523744"/>
            <a:ext cx="310896" cy="310896"/>
          </a:xfrm>
          <a:prstGeom prst="rect">
            <a:avLst/>
          </a:prstGeom>
          <a:solidFill>
            <a:srgbClr val="CBD5E1"/>
          </a:solidFill>
          <a:ln/>
        </p:spPr>
        <p:txBody>
          <a:bodyPr/>
          <a:lstStyle/>
          <a:p>
            <a:endParaRPr lang="en-US"/>
          </a:p>
        </p:txBody>
      </p:sp>
      <p:sp>
        <p:nvSpPr>
          <p:cNvPr id="27" name="Shape 25"/>
          <p:cNvSpPr/>
          <p:nvPr/>
        </p:nvSpPr>
        <p:spPr>
          <a:xfrm>
            <a:off x="2990088" y="2523744"/>
            <a:ext cx="310896" cy="310896"/>
          </a:xfrm>
          <a:prstGeom prst="rect">
            <a:avLst/>
          </a:prstGeom>
          <a:solidFill>
            <a:srgbClr val="16A34A"/>
          </a:solidFill>
          <a:ln/>
        </p:spPr>
        <p:txBody>
          <a:bodyPr/>
          <a:lstStyle/>
          <a:p>
            <a:endParaRPr lang="en-US"/>
          </a:p>
        </p:txBody>
      </p:sp>
      <p:sp>
        <p:nvSpPr>
          <p:cNvPr id="28" name="Shape 26"/>
          <p:cNvSpPr/>
          <p:nvPr/>
        </p:nvSpPr>
        <p:spPr>
          <a:xfrm>
            <a:off x="3337560" y="2523744"/>
            <a:ext cx="310896" cy="310896"/>
          </a:xfrm>
          <a:prstGeom prst="rect">
            <a:avLst/>
          </a:prstGeom>
          <a:solidFill>
            <a:srgbClr val="16A34A"/>
          </a:solidFill>
          <a:ln/>
        </p:spPr>
        <p:txBody>
          <a:bodyPr/>
          <a:lstStyle/>
          <a:p>
            <a:endParaRPr lang="en-US"/>
          </a:p>
        </p:txBody>
      </p:sp>
      <p:sp>
        <p:nvSpPr>
          <p:cNvPr id="29" name="Shape 27"/>
          <p:cNvSpPr/>
          <p:nvPr/>
        </p:nvSpPr>
        <p:spPr>
          <a:xfrm>
            <a:off x="3685032" y="2523744"/>
            <a:ext cx="310896" cy="310896"/>
          </a:xfrm>
          <a:prstGeom prst="rect">
            <a:avLst/>
          </a:prstGeom>
          <a:solidFill>
            <a:srgbClr val="16A34A"/>
          </a:solidFill>
          <a:ln/>
        </p:spPr>
        <p:txBody>
          <a:bodyPr/>
          <a:lstStyle/>
          <a:p>
            <a:endParaRPr lang="en-US"/>
          </a:p>
        </p:txBody>
      </p:sp>
      <p:sp>
        <p:nvSpPr>
          <p:cNvPr id="30" name="Shape 28"/>
          <p:cNvSpPr/>
          <p:nvPr/>
        </p:nvSpPr>
        <p:spPr>
          <a:xfrm>
            <a:off x="4032504" y="2523744"/>
            <a:ext cx="310896" cy="310896"/>
          </a:xfrm>
          <a:prstGeom prst="rect">
            <a:avLst/>
          </a:prstGeom>
          <a:solidFill>
            <a:srgbClr val="CBD5E1"/>
          </a:solidFill>
          <a:ln/>
        </p:spPr>
        <p:txBody>
          <a:bodyPr/>
          <a:lstStyle/>
          <a:p>
            <a:endParaRPr lang="en-US"/>
          </a:p>
        </p:txBody>
      </p:sp>
      <p:sp>
        <p:nvSpPr>
          <p:cNvPr id="31" name="Shape 29"/>
          <p:cNvSpPr/>
          <p:nvPr/>
        </p:nvSpPr>
        <p:spPr>
          <a:xfrm>
            <a:off x="4379976" y="2523744"/>
            <a:ext cx="310896" cy="310896"/>
          </a:xfrm>
          <a:prstGeom prst="rect">
            <a:avLst/>
          </a:prstGeom>
          <a:solidFill>
            <a:srgbClr val="CBD5E1"/>
          </a:solidFill>
          <a:ln/>
        </p:spPr>
        <p:txBody>
          <a:bodyPr/>
          <a:lstStyle/>
          <a:p>
            <a:endParaRPr lang="en-US"/>
          </a:p>
        </p:txBody>
      </p:sp>
      <p:sp>
        <p:nvSpPr>
          <p:cNvPr id="32" name="Shape 30"/>
          <p:cNvSpPr/>
          <p:nvPr/>
        </p:nvSpPr>
        <p:spPr>
          <a:xfrm>
            <a:off x="1252728" y="2871216"/>
            <a:ext cx="310896" cy="310896"/>
          </a:xfrm>
          <a:prstGeom prst="rect">
            <a:avLst/>
          </a:prstGeom>
          <a:solidFill>
            <a:srgbClr val="16A34A"/>
          </a:solidFill>
          <a:ln/>
        </p:spPr>
        <p:txBody>
          <a:bodyPr/>
          <a:lstStyle/>
          <a:p>
            <a:endParaRPr lang="en-US"/>
          </a:p>
        </p:txBody>
      </p:sp>
      <p:sp>
        <p:nvSpPr>
          <p:cNvPr id="33" name="Shape 31"/>
          <p:cNvSpPr/>
          <p:nvPr/>
        </p:nvSpPr>
        <p:spPr>
          <a:xfrm>
            <a:off x="1600200" y="2871216"/>
            <a:ext cx="310896" cy="310896"/>
          </a:xfrm>
          <a:prstGeom prst="rect">
            <a:avLst/>
          </a:prstGeom>
          <a:solidFill>
            <a:srgbClr val="16A34A"/>
          </a:solidFill>
          <a:ln/>
        </p:spPr>
        <p:txBody>
          <a:bodyPr/>
          <a:lstStyle/>
          <a:p>
            <a:endParaRPr lang="en-US"/>
          </a:p>
        </p:txBody>
      </p:sp>
      <p:sp>
        <p:nvSpPr>
          <p:cNvPr id="34" name="Shape 32"/>
          <p:cNvSpPr/>
          <p:nvPr/>
        </p:nvSpPr>
        <p:spPr>
          <a:xfrm>
            <a:off x="1947672" y="2871216"/>
            <a:ext cx="310896" cy="310896"/>
          </a:xfrm>
          <a:prstGeom prst="rect">
            <a:avLst/>
          </a:prstGeom>
          <a:solidFill>
            <a:srgbClr val="16A34A"/>
          </a:solidFill>
          <a:ln/>
        </p:spPr>
        <p:txBody>
          <a:bodyPr/>
          <a:lstStyle/>
          <a:p>
            <a:endParaRPr lang="en-US"/>
          </a:p>
        </p:txBody>
      </p:sp>
      <p:sp>
        <p:nvSpPr>
          <p:cNvPr id="35" name="Shape 33"/>
          <p:cNvSpPr/>
          <p:nvPr/>
        </p:nvSpPr>
        <p:spPr>
          <a:xfrm>
            <a:off x="2295144" y="2871216"/>
            <a:ext cx="310896" cy="310896"/>
          </a:xfrm>
          <a:prstGeom prst="rect">
            <a:avLst/>
          </a:prstGeom>
          <a:solidFill>
            <a:srgbClr val="CBD5E1"/>
          </a:solidFill>
          <a:ln/>
        </p:spPr>
        <p:txBody>
          <a:bodyPr/>
          <a:lstStyle/>
          <a:p>
            <a:endParaRPr lang="en-US"/>
          </a:p>
        </p:txBody>
      </p:sp>
      <p:sp>
        <p:nvSpPr>
          <p:cNvPr id="36" name="Shape 34"/>
          <p:cNvSpPr/>
          <p:nvPr/>
        </p:nvSpPr>
        <p:spPr>
          <a:xfrm>
            <a:off x="2642616" y="2871216"/>
            <a:ext cx="310896" cy="310896"/>
          </a:xfrm>
          <a:prstGeom prst="rect">
            <a:avLst/>
          </a:prstGeom>
          <a:solidFill>
            <a:srgbClr val="CBD5E1"/>
          </a:solidFill>
          <a:ln/>
        </p:spPr>
        <p:txBody>
          <a:bodyPr/>
          <a:lstStyle/>
          <a:p>
            <a:endParaRPr lang="en-US"/>
          </a:p>
        </p:txBody>
      </p:sp>
      <p:sp>
        <p:nvSpPr>
          <p:cNvPr id="37" name="Shape 35"/>
          <p:cNvSpPr/>
          <p:nvPr/>
        </p:nvSpPr>
        <p:spPr>
          <a:xfrm>
            <a:off x="2990088" y="2871216"/>
            <a:ext cx="310896" cy="310896"/>
          </a:xfrm>
          <a:prstGeom prst="rect">
            <a:avLst/>
          </a:prstGeom>
          <a:solidFill>
            <a:srgbClr val="16A34A"/>
          </a:solidFill>
          <a:ln/>
        </p:spPr>
        <p:txBody>
          <a:bodyPr/>
          <a:lstStyle/>
          <a:p>
            <a:endParaRPr lang="en-US"/>
          </a:p>
        </p:txBody>
      </p:sp>
      <p:sp>
        <p:nvSpPr>
          <p:cNvPr id="38" name="Shape 36"/>
          <p:cNvSpPr/>
          <p:nvPr/>
        </p:nvSpPr>
        <p:spPr>
          <a:xfrm>
            <a:off x="3337560" y="2871216"/>
            <a:ext cx="310896" cy="310896"/>
          </a:xfrm>
          <a:prstGeom prst="rect">
            <a:avLst/>
          </a:prstGeom>
          <a:solidFill>
            <a:srgbClr val="16A34A"/>
          </a:solidFill>
          <a:ln/>
        </p:spPr>
        <p:txBody>
          <a:bodyPr/>
          <a:lstStyle/>
          <a:p>
            <a:endParaRPr lang="en-US"/>
          </a:p>
        </p:txBody>
      </p:sp>
      <p:sp>
        <p:nvSpPr>
          <p:cNvPr id="39" name="Shape 37"/>
          <p:cNvSpPr/>
          <p:nvPr/>
        </p:nvSpPr>
        <p:spPr>
          <a:xfrm>
            <a:off x="3685032" y="2871216"/>
            <a:ext cx="310896" cy="310896"/>
          </a:xfrm>
          <a:prstGeom prst="rect">
            <a:avLst/>
          </a:prstGeom>
          <a:solidFill>
            <a:srgbClr val="CBD5E1"/>
          </a:solidFill>
          <a:ln/>
        </p:spPr>
        <p:txBody>
          <a:bodyPr/>
          <a:lstStyle/>
          <a:p>
            <a:endParaRPr lang="en-US"/>
          </a:p>
        </p:txBody>
      </p:sp>
      <p:sp>
        <p:nvSpPr>
          <p:cNvPr id="40" name="Shape 38"/>
          <p:cNvSpPr/>
          <p:nvPr/>
        </p:nvSpPr>
        <p:spPr>
          <a:xfrm>
            <a:off x="4032504" y="2871216"/>
            <a:ext cx="310896" cy="310896"/>
          </a:xfrm>
          <a:prstGeom prst="rect">
            <a:avLst/>
          </a:prstGeom>
          <a:solidFill>
            <a:srgbClr val="CBD5E1"/>
          </a:solidFill>
          <a:ln/>
        </p:spPr>
        <p:txBody>
          <a:bodyPr/>
          <a:lstStyle/>
          <a:p>
            <a:endParaRPr lang="en-US"/>
          </a:p>
        </p:txBody>
      </p:sp>
      <p:sp>
        <p:nvSpPr>
          <p:cNvPr id="41" name="Shape 39"/>
          <p:cNvSpPr/>
          <p:nvPr/>
        </p:nvSpPr>
        <p:spPr>
          <a:xfrm>
            <a:off x="4379976" y="2871216"/>
            <a:ext cx="310896" cy="310896"/>
          </a:xfrm>
          <a:prstGeom prst="rect">
            <a:avLst/>
          </a:prstGeom>
          <a:solidFill>
            <a:srgbClr val="CBD5E1"/>
          </a:solidFill>
          <a:ln/>
        </p:spPr>
        <p:txBody>
          <a:bodyPr/>
          <a:lstStyle/>
          <a:p>
            <a:endParaRPr lang="en-US"/>
          </a:p>
        </p:txBody>
      </p:sp>
      <p:sp>
        <p:nvSpPr>
          <p:cNvPr id="42" name="Shape 40"/>
          <p:cNvSpPr/>
          <p:nvPr/>
        </p:nvSpPr>
        <p:spPr>
          <a:xfrm>
            <a:off x="1252728" y="3218688"/>
            <a:ext cx="310896" cy="310896"/>
          </a:xfrm>
          <a:prstGeom prst="rect">
            <a:avLst/>
          </a:prstGeom>
          <a:solidFill>
            <a:srgbClr val="16A34A"/>
          </a:solidFill>
          <a:ln/>
        </p:spPr>
        <p:txBody>
          <a:bodyPr/>
          <a:lstStyle/>
          <a:p>
            <a:endParaRPr lang="en-US"/>
          </a:p>
        </p:txBody>
      </p:sp>
      <p:sp>
        <p:nvSpPr>
          <p:cNvPr id="43" name="Shape 41"/>
          <p:cNvSpPr/>
          <p:nvPr/>
        </p:nvSpPr>
        <p:spPr>
          <a:xfrm>
            <a:off x="1600200" y="3218688"/>
            <a:ext cx="310896" cy="310896"/>
          </a:xfrm>
          <a:prstGeom prst="rect">
            <a:avLst/>
          </a:prstGeom>
          <a:solidFill>
            <a:srgbClr val="16A34A"/>
          </a:solidFill>
          <a:ln/>
        </p:spPr>
        <p:txBody>
          <a:bodyPr/>
          <a:lstStyle/>
          <a:p>
            <a:endParaRPr lang="en-US"/>
          </a:p>
        </p:txBody>
      </p:sp>
      <p:sp>
        <p:nvSpPr>
          <p:cNvPr id="44" name="Shape 42"/>
          <p:cNvSpPr/>
          <p:nvPr/>
        </p:nvSpPr>
        <p:spPr>
          <a:xfrm>
            <a:off x="1947672" y="3218688"/>
            <a:ext cx="310896" cy="310896"/>
          </a:xfrm>
          <a:prstGeom prst="rect">
            <a:avLst/>
          </a:prstGeom>
          <a:solidFill>
            <a:srgbClr val="CBD5E1"/>
          </a:solidFill>
          <a:ln/>
        </p:spPr>
        <p:txBody>
          <a:bodyPr/>
          <a:lstStyle/>
          <a:p>
            <a:endParaRPr lang="en-US"/>
          </a:p>
        </p:txBody>
      </p:sp>
      <p:sp>
        <p:nvSpPr>
          <p:cNvPr id="45" name="Shape 43"/>
          <p:cNvSpPr/>
          <p:nvPr/>
        </p:nvSpPr>
        <p:spPr>
          <a:xfrm>
            <a:off x="2295144" y="3218688"/>
            <a:ext cx="310896" cy="310896"/>
          </a:xfrm>
          <a:prstGeom prst="rect">
            <a:avLst/>
          </a:prstGeom>
          <a:solidFill>
            <a:srgbClr val="CBD5E1"/>
          </a:solidFill>
          <a:ln/>
        </p:spPr>
        <p:txBody>
          <a:bodyPr/>
          <a:lstStyle/>
          <a:p>
            <a:endParaRPr lang="en-US"/>
          </a:p>
        </p:txBody>
      </p:sp>
      <p:sp>
        <p:nvSpPr>
          <p:cNvPr id="46" name="Shape 44"/>
          <p:cNvSpPr/>
          <p:nvPr/>
        </p:nvSpPr>
        <p:spPr>
          <a:xfrm>
            <a:off x="2642616" y="3218688"/>
            <a:ext cx="310896" cy="310896"/>
          </a:xfrm>
          <a:prstGeom prst="rect">
            <a:avLst/>
          </a:prstGeom>
          <a:solidFill>
            <a:srgbClr val="CBD5E1"/>
          </a:solidFill>
          <a:ln/>
        </p:spPr>
        <p:txBody>
          <a:bodyPr/>
          <a:lstStyle/>
          <a:p>
            <a:endParaRPr lang="en-US"/>
          </a:p>
        </p:txBody>
      </p:sp>
      <p:sp>
        <p:nvSpPr>
          <p:cNvPr id="47" name="Shape 45"/>
          <p:cNvSpPr/>
          <p:nvPr/>
        </p:nvSpPr>
        <p:spPr>
          <a:xfrm>
            <a:off x="2990088" y="3218688"/>
            <a:ext cx="310896" cy="310896"/>
          </a:xfrm>
          <a:prstGeom prst="rect">
            <a:avLst/>
          </a:prstGeom>
          <a:solidFill>
            <a:srgbClr val="CBD5E1"/>
          </a:solidFill>
          <a:ln/>
        </p:spPr>
        <p:txBody>
          <a:bodyPr/>
          <a:lstStyle/>
          <a:p>
            <a:endParaRPr lang="en-US"/>
          </a:p>
        </p:txBody>
      </p:sp>
      <p:sp>
        <p:nvSpPr>
          <p:cNvPr id="48" name="Shape 46"/>
          <p:cNvSpPr/>
          <p:nvPr/>
        </p:nvSpPr>
        <p:spPr>
          <a:xfrm>
            <a:off x="3337560" y="3218688"/>
            <a:ext cx="310896" cy="310896"/>
          </a:xfrm>
          <a:prstGeom prst="rect">
            <a:avLst/>
          </a:prstGeom>
          <a:solidFill>
            <a:srgbClr val="CBD5E1"/>
          </a:solidFill>
          <a:ln/>
        </p:spPr>
        <p:txBody>
          <a:bodyPr/>
          <a:lstStyle/>
          <a:p>
            <a:endParaRPr lang="en-US"/>
          </a:p>
        </p:txBody>
      </p:sp>
      <p:sp>
        <p:nvSpPr>
          <p:cNvPr id="49" name="Shape 47"/>
          <p:cNvSpPr/>
          <p:nvPr/>
        </p:nvSpPr>
        <p:spPr>
          <a:xfrm>
            <a:off x="3685032" y="3218688"/>
            <a:ext cx="310896" cy="310896"/>
          </a:xfrm>
          <a:prstGeom prst="rect">
            <a:avLst/>
          </a:prstGeom>
          <a:solidFill>
            <a:srgbClr val="CBD5E1"/>
          </a:solidFill>
          <a:ln/>
        </p:spPr>
        <p:txBody>
          <a:bodyPr/>
          <a:lstStyle/>
          <a:p>
            <a:endParaRPr lang="en-US"/>
          </a:p>
        </p:txBody>
      </p:sp>
      <p:sp>
        <p:nvSpPr>
          <p:cNvPr id="50" name="Shape 48"/>
          <p:cNvSpPr/>
          <p:nvPr/>
        </p:nvSpPr>
        <p:spPr>
          <a:xfrm>
            <a:off x="4032504" y="3218688"/>
            <a:ext cx="310896" cy="310896"/>
          </a:xfrm>
          <a:prstGeom prst="rect">
            <a:avLst/>
          </a:prstGeom>
          <a:solidFill>
            <a:srgbClr val="CBD5E1"/>
          </a:solidFill>
          <a:ln/>
        </p:spPr>
        <p:txBody>
          <a:bodyPr/>
          <a:lstStyle/>
          <a:p>
            <a:endParaRPr lang="en-US"/>
          </a:p>
        </p:txBody>
      </p:sp>
      <p:sp>
        <p:nvSpPr>
          <p:cNvPr id="51" name="Shape 49"/>
          <p:cNvSpPr/>
          <p:nvPr/>
        </p:nvSpPr>
        <p:spPr>
          <a:xfrm>
            <a:off x="4379976" y="3218688"/>
            <a:ext cx="310896" cy="310896"/>
          </a:xfrm>
          <a:prstGeom prst="rect">
            <a:avLst/>
          </a:prstGeom>
          <a:solidFill>
            <a:srgbClr val="CBD5E1"/>
          </a:solidFill>
          <a:ln/>
        </p:spPr>
        <p:txBody>
          <a:bodyPr/>
          <a:lstStyle/>
          <a:p>
            <a:endParaRPr lang="en-US"/>
          </a:p>
        </p:txBody>
      </p:sp>
      <p:sp>
        <p:nvSpPr>
          <p:cNvPr id="52" name="Shape 50"/>
          <p:cNvSpPr/>
          <p:nvPr/>
        </p:nvSpPr>
        <p:spPr>
          <a:xfrm>
            <a:off x="1252728" y="3566160"/>
            <a:ext cx="310896" cy="310896"/>
          </a:xfrm>
          <a:prstGeom prst="rect">
            <a:avLst/>
          </a:prstGeom>
          <a:solidFill>
            <a:srgbClr val="16A34A"/>
          </a:solidFill>
          <a:ln/>
        </p:spPr>
        <p:txBody>
          <a:bodyPr/>
          <a:lstStyle/>
          <a:p>
            <a:endParaRPr lang="en-US"/>
          </a:p>
        </p:txBody>
      </p:sp>
      <p:sp>
        <p:nvSpPr>
          <p:cNvPr id="53" name="Shape 51"/>
          <p:cNvSpPr/>
          <p:nvPr/>
        </p:nvSpPr>
        <p:spPr>
          <a:xfrm>
            <a:off x="1600200" y="3566160"/>
            <a:ext cx="310896" cy="310896"/>
          </a:xfrm>
          <a:prstGeom prst="rect">
            <a:avLst/>
          </a:prstGeom>
          <a:solidFill>
            <a:srgbClr val="CBD5E1"/>
          </a:solidFill>
          <a:ln/>
        </p:spPr>
        <p:txBody>
          <a:bodyPr/>
          <a:lstStyle/>
          <a:p>
            <a:endParaRPr lang="en-US"/>
          </a:p>
        </p:txBody>
      </p:sp>
      <p:sp>
        <p:nvSpPr>
          <p:cNvPr id="54" name="Shape 52"/>
          <p:cNvSpPr/>
          <p:nvPr/>
        </p:nvSpPr>
        <p:spPr>
          <a:xfrm>
            <a:off x="1947672" y="3566160"/>
            <a:ext cx="310896" cy="310896"/>
          </a:xfrm>
          <a:prstGeom prst="rect">
            <a:avLst/>
          </a:prstGeom>
          <a:solidFill>
            <a:srgbClr val="CBD5E1"/>
          </a:solidFill>
          <a:ln/>
        </p:spPr>
        <p:txBody>
          <a:bodyPr/>
          <a:lstStyle/>
          <a:p>
            <a:endParaRPr lang="en-US"/>
          </a:p>
        </p:txBody>
      </p:sp>
      <p:sp>
        <p:nvSpPr>
          <p:cNvPr id="55" name="Shape 53"/>
          <p:cNvSpPr/>
          <p:nvPr/>
        </p:nvSpPr>
        <p:spPr>
          <a:xfrm>
            <a:off x="2295144" y="3566160"/>
            <a:ext cx="310896" cy="310896"/>
          </a:xfrm>
          <a:prstGeom prst="rect">
            <a:avLst/>
          </a:prstGeom>
          <a:solidFill>
            <a:srgbClr val="CBD5E1"/>
          </a:solidFill>
          <a:ln/>
        </p:spPr>
        <p:txBody>
          <a:bodyPr/>
          <a:lstStyle/>
          <a:p>
            <a:endParaRPr lang="en-US"/>
          </a:p>
        </p:txBody>
      </p:sp>
      <p:sp>
        <p:nvSpPr>
          <p:cNvPr id="56" name="Shape 54"/>
          <p:cNvSpPr/>
          <p:nvPr/>
        </p:nvSpPr>
        <p:spPr>
          <a:xfrm>
            <a:off x="2642616" y="3566160"/>
            <a:ext cx="310896" cy="310896"/>
          </a:xfrm>
          <a:prstGeom prst="rect">
            <a:avLst/>
          </a:prstGeom>
          <a:solidFill>
            <a:srgbClr val="CBD5E1"/>
          </a:solidFill>
          <a:ln/>
        </p:spPr>
        <p:txBody>
          <a:bodyPr/>
          <a:lstStyle/>
          <a:p>
            <a:endParaRPr lang="en-US"/>
          </a:p>
        </p:txBody>
      </p:sp>
      <p:sp>
        <p:nvSpPr>
          <p:cNvPr id="57" name="Shape 55"/>
          <p:cNvSpPr/>
          <p:nvPr/>
        </p:nvSpPr>
        <p:spPr>
          <a:xfrm>
            <a:off x="2990088" y="3566160"/>
            <a:ext cx="310896" cy="310896"/>
          </a:xfrm>
          <a:prstGeom prst="rect">
            <a:avLst/>
          </a:prstGeom>
          <a:solidFill>
            <a:srgbClr val="CBD5E1"/>
          </a:solidFill>
          <a:ln/>
        </p:spPr>
        <p:txBody>
          <a:bodyPr/>
          <a:lstStyle/>
          <a:p>
            <a:endParaRPr lang="en-US"/>
          </a:p>
        </p:txBody>
      </p:sp>
      <p:sp>
        <p:nvSpPr>
          <p:cNvPr id="58" name="Shape 56"/>
          <p:cNvSpPr/>
          <p:nvPr/>
        </p:nvSpPr>
        <p:spPr>
          <a:xfrm>
            <a:off x="3337560" y="3566160"/>
            <a:ext cx="310896" cy="310896"/>
          </a:xfrm>
          <a:prstGeom prst="rect">
            <a:avLst/>
          </a:prstGeom>
          <a:solidFill>
            <a:srgbClr val="CBD5E1"/>
          </a:solidFill>
          <a:ln/>
        </p:spPr>
        <p:txBody>
          <a:bodyPr/>
          <a:lstStyle/>
          <a:p>
            <a:endParaRPr lang="en-US"/>
          </a:p>
        </p:txBody>
      </p:sp>
      <p:sp>
        <p:nvSpPr>
          <p:cNvPr id="59" name="Shape 57"/>
          <p:cNvSpPr/>
          <p:nvPr/>
        </p:nvSpPr>
        <p:spPr>
          <a:xfrm>
            <a:off x="3685032" y="3566160"/>
            <a:ext cx="310896" cy="310896"/>
          </a:xfrm>
          <a:prstGeom prst="rect">
            <a:avLst/>
          </a:prstGeom>
          <a:solidFill>
            <a:srgbClr val="CBD5E1"/>
          </a:solidFill>
          <a:ln/>
        </p:spPr>
        <p:txBody>
          <a:bodyPr/>
          <a:lstStyle/>
          <a:p>
            <a:endParaRPr lang="en-US"/>
          </a:p>
        </p:txBody>
      </p:sp>
      <p:sp>
        <p:nvSpPr>
          <p:cNvPr id="60" name="Shape 58"/>
          <p:cNvSpPr/>
          <p:nvPr/>
        </p:nvSpPr>
        <p:spPr>
          <a:xfrm>
            <a:off x="4032504" y="3566160"/>
            <a:ext cx="310896" cy="310896"/>
          </a:xfrm>
          <a:prstGeom prst="rect">
            <a:avLst/>
          </a:prstGeom>
          <a:solidFill>
            <a:srgbClr val="CBD5E1"/>
          </a:solidFill>
          <a:ln/>
        </p:spPr>
        <p:txBody>
          <a:bodyPr/>
          <a:lstStyle/>
          <a:p>
            <a:endParaRPr lang="en-US"/>
          </a:p>
        </p:txBody>
      </p:sp>
      <p:sp>
        <p:nvSpPr>
          <p:cNvPr id="61" name="Shape 59"/>
          <p:cNvSpPr/>
          <p:nvPr/>
        </p:nvSpPr>
        <p:spPr>
          <a:xfrm>
            <a:off x="4379976" y="3566160"/>
            <a:ext cx="310896" cy="310896"/>
          </a:xfrm>
          <a:prstGeom prst="rect">
            <a:avLst/>
          </a:prstGeom>
          <a:solidFill>
            <a:srgbClr val="CBD5E1"/>
          </a:solidFill>
          <a:ln/>
        </p:spPr>
        <p:txBody>
          <a:bodyPr/>
          <a:lstStyle/>
          <a:p>
            <a:endParaRPr lang="en-US"/>
          </a:p>
        </p:txBody>
      </p:sp>
      <p:sp>
        <p:nvSpPr>
          <p:cNvPr id="62" name="Shape 60"/>
          <p:cNvSpPr/>
          <p:nvPr/>
        </p:nvSpPr>
        <p:spPr>
          <a:xfrm>
            <a:off x="1252728" y="3913632"/>
            <a:ext cx="310896" cy="310896"/>
          </a:xfrm>
          <a:prstGeom prst="rect">
            <a:avLst/>
          </a:prstGeom>
          <a:solidFill>
            <a:srgbClr val="16A34A"/>
          </a:solidFill>
          <a:ln/>
        </p:spPr>
        <p:txBody>
          <a:bodyPr/>
          <a:lstStyle/>
          <a:p>
            <a:endParaRPr lang="en-US"/>
          </a:p>
        </p:txBody>
      </p:sp>
      <p:sp>
        <p:nvSpPr>
          <p:cNvPr id="63" name="Shape 61"/>
          <p:cNvSpPr/>
          <p:nvPr/>
        </p:nvSpPr>
        <p:spPr>
          <a:xfrm>
            <a:off x="1600200" y="3913632"/>
            <a:ext cx="310896" cy="310896"/>
          </a:xfrm>
          <a:prstGeom prst="rect">
            <a:avLst/>
          </a:prstGeom>
          <a:solidFill>
            <a:srgbClr val="CBD5E1"/>
          </a:solidFill>
          <a:ln/>
        </p:spPr>
        <p:txBody>
          <a:bodyPr/>
          <a:lstStyle/>
          <a:p>
            <a:endParaRPr lang="en-US"/>
          </a:p>
        </p:txBody>
      </p:sp>
      <p:sp>
        <p:nvSpPr>
          <p:cNvPr id="64" name="Shape 62"/>
          <p:cNvSpPr/>
          <p:nvPr/>
        </p:nvSpPr>
        <p:spPr>
          <a:xfrm>
            <a:off x="1947672" y="3913632"/>
            <a:ext cx="310896" cy="310896"/>
          </a:xfrm>
          <a:prstGeom prst="rect">
            <a:avLst/>
          </a:prstGeom>
          <a:solidFill>
            <a:srgbClr val="CBD5E1"/>
          </a:solidFill>
          <a:ln/>
        </p:spPr>
        <p:txBody>
          <a:bodyPr/>
          <a:lstStyle/>
          <a:p>
            <a:endParaRPr lang="en-US"/>
          </a:p>
        </p:txBody>
      </p:sp>
      <p:sp>
        <p:nvSpPr>
          <p:cNvPr id="65" name="Shape 63"/>
          <p:cNvSpPr/>
          <p:nvPr/>
        </p:nvSpPr>
        <p:spPr>
          <a:xfrm>
            <a:off x="2295144" y="3913632"/>
            <a:ext cx="310896" cy="310896"/>
          </a:xfrm>
          <a:prstGeom prst="rect">
            <a:avLst/>
          </a:prstGeom>
          <a:solidFill>
            <a:srgbClr val="CBD5E1"/>
          </a:solidFill>
          <a:ln/>
        </p:spPr>
        <p:txBody>
          <a:bodyPr/>
          <a:lstStyle/>
          <a:p>
            <a:endParaRPr lang="en-US"/>
          </a:p>
        </p:txBody>
      </p:sp>
      <p:sp>
        <p:nvSpPr>
          <p:cNvPr id="66" name="Shape 64"/>
          <p:cNvSpPr/>
          <p:nvPr/>
        </p:nvSpPr>
        <p:spPr>
          <a:xfrm>
            <a:off x="2642616" y="3913632"/>
            <a:ext cx="310896" cy="310896"/>
          </a:xfrm>
          <a:prstGeom prst="rect">
            <a:avLst/>
          </a:prstGeom>
          <a:solidFill>
            <a:srgbClr val="CBD5E1"/>
          </a:solidFill>
          <a:ln/>
        </p:spPr>
        <p:txBody>
          <a:bodyPr/>
          <a:lstStyle/>
          <a:p>
            <a:endParaRPr lang="en-US"/>
          </a:p>
        </p:txBody>
      </p:sp>
      <p:sp>
        <p:nvSpPr>
          <p:cNvPr id="67" name="Shape 65"/>
          <p:cNvSpPr/>
          <p:nvPr/>
        </p:nvSpPr>
        <p:spPr>
          <a:xfrm>
            <a:off x="2990088" y="3913632"/>
            <a:ext cx="310896" cy="310896"/>
          </a:xfrm>
          <a:prstGeom prst="rect">
            <a:avLst/>
          </a:prstGeom>
          <a:solidFill>
            <a:srgbClr val="CBD5E1"/>
          </a:solidFill>
          <a:ln/>
        </p:spPr>
        <p:txBody>
          <a:bodyPr/>
          <a:lstStyle/>
          <a:p>
            <a:endParaRPr lang="en-US"/>
          </a:p>
        </p:txBody>
      </p:sp>
      <p:sp>
        <p:nvSpPr>
          <p:cNvPr id="68" name="Shape 66"/>
          <p:cNvSpPr/>
          <p:nvPr/>
        </p:nvSpPr>
        <p:spPr>
          <a:xfrm>
            <a:off x="3337560" y="3913632"/>
            <a:ext cx="310896" cy="310896"/>
          </a:xfrm>
          <a:prstGeom prst="rect">
            <a:avLst/>
          </a:prstGeom>
          <a:solidFill>
            <a:srgbClr val="CBD5E1"/>
          </a:solidFill>
          <a:ln/>
        </p:spPr>
        <p:txBody>
          <a:bodyPr/>
          <a:lstStyle/>
          <a:p>
            <a:endParaRPr lang="en-US"/>
          </a:p>
        </p:txBody>
      </p:sp>
      <p:sp>
        <p:nvSpPr>
          <p:cNvPr id="69" name="Shape 67"/>
          <p:cNvSpPr/>
          <p:nvPr/>
        </p:nvSpPr>
        <p:spPr>
          <a:xfrm>
            <a:off x="3685032" y="3913632"/>
            <a:ext cx="310896" cy="310896"/>
          </a:xfrm>
          <a:prstGeom prst="rect">
            <a:avLst/>
          </a:prstGeom>
          <a:solidFill>
            <a:srgbClr val="CBD5E1"/>
          </a:solidFill>
          <a:ln/>
        </p:spPr>
        <p:txBody>
          <a:bodyPr/>
          <a:lstStyle/>
          <a:p>
            <a:endParaRPr lang="en-US"/>
          </a:p>
        </p:txBody>
      </p:sp>
      <p:sp>
        <p:nvSpPr>
          <p:cNvPr id="70" name="Shape 68"/>
          <p:cNvSpPr/>
          <p:nvPr/>
        </p:nvSpPr>
        <p:spPr>
          <a:xfrm>
            <a:off x="4032504" y="3913632"/>
            <a:ext cx="310896" cy="310896"/>
          </a:xfrm>
          <a:prstGeom prst="rect">
            <a:avLst/>
          </a:prstGeom>
          <a:solidFill>
            <a:srgbClr val="CBD5E1"/>
          </a:solidFill>
          <a:ln/>
        </p:spPr>
        <p:txBody>
          <a:bodyPr/>
          <a:lstStyle/>
          <a:p>
            <a:endParaRPr lang="en-US"/>
          </a:p>
        </p:txBody>
      </p:sp>
      <p:sp>
        <p:nvSpPr>
          <p:cNvPr id="71" name="Shape 69"/>
          <p:cNvSpPr/>
          <p:nvPr/>
        </p:nvSpPr>
        <p:spPr>
          <a:xfrm>
            <a:off x="4379976" y="3913632"/>
            <a:ext cx="310896" cy="310896"/>
          </a:xfrm>
          <a:prstGeom prst="rect">
            <a:avLst/>
          </a:prstGeom>
          <a:solidFill>
            <a:srgbClr val="CBD5E1"/>
          </a:solidFill>
          <a:ln/>
        </p:spPr>
        <p:txBody>
          <a:bodyPr/>
          <a:lstStyle/>
          <a:p>
            <a:endParaRPr lang="en-US"/>
          </a:p>
        </p:txBody>
      </p:sp>
      <p:sp>
        <p:nvSpPr>
          <p:cNvPr id="72" name="Shape 70"/>
          <p:cNvSpPr/>
          <p:nvPr/>
        </p:nvSpPr>
        <p:spPr>
          <a:xfrm>
            <a:off x="1252728" y="4261104"/>
            <a:ext cx="310896" cy="310896"/>
          </a:xfrm>
          <a:prstGeom prst="rect">
            <a:avLst/>
          </a:prstGeom>
          <a:solidFill>
            <a:srgbClr val="CBD5E1"/>
          </a:solidFill>
          <a:ln/>
        </p:spPr>
        <p:txBody>
          <a:bodyPr/>
          <a:lstStyle/>
          <a:p>
            <a:endParaRPr lang="en-US"/>
          </a:p>
        </p:txBody>
      </p:sp>
      <p:sp>
        <p:nvSpPr>
          <p:cNvPr id="73" name="Shape 71"/>
          <p:cNvSpPr/>
          <p:nvPr/>
        </p:nvSpPr>
        <p:spPr>
          <a:xfrm>
            <a:off x="1600200" y="4261104"/>
            <a:ext cx="310896" cy="310896"/>
          </a:xfrm>
          <a:prstGeom prst="rect">
            <a:avLst/>
          </a:prstGeom>
          <a:solidFill>
            <a:srgbClr val="CBD5E1"/>
          </a:solidFill>
          <a:ln/>
        </p:spPr>
        <p:txBody>
          <a:bodyPr/>
          <a:lstStyle/>
          <a:p>
            <a:endParaRPr lang="en-US"/>
          </a:p>
        </p:txBody>
      </p:sp>
      <p:sp>
        <p:nvSpPr>
          <p:cNvPr id="74" name="Shape 72"/>
          <p:cNvSpPr/>
          <p:nvPr/>
        </p:nvSpPr>
        <p:spPr>
          <a:xfrm>
            <a:off x="1947672" y="4261104"/>
            <a:ext cx="310896" cy="310896"/>
          </a:xfrm>
          <a:prstGeom prst="rect">
            <a:avLst/>
          </a:prstGeom>
          <a:solidFill>
            <a:srgbClr val="CBD5E1"/>
          </a:solidFill>
          <a:ln/>
        </p:spPr>
        <p:txBody>
          <a:bodyPr/>
          <a:lstStyle/>
          <a:p>
            <a:endParaRPr lang="en-US"/>
          </a:p>
        </p:txBody>
      </p:sp>
      <p:sp>
        <p:nvSpPr>
          <p:cNvPr id="75" name="Shape 73"/>
          <p:cNvSpPr/>
          <p:nvPr/>
        </p:nvSpPr>
        <p:spPr>
          <a:xfrm>
            <a:off x="2295144" y="4261104"/>
            <a:ext cx="310896" cy="310896"/>
          </a:xfrm>
          <a:prstGeom prst="rect">
            <a:avLst/>
          </a:prstGeom>
          <a:solidFill>
            <a:srgbClr val="CBD5E1"/>
          </a:solidFill>
          <a:ln/>
        </p:spPr>
        <p:txBody>
          <a:bodyPr/>
          <a:lstStyle/>
          <a:p>
            <a:endParaRPr lang="en-US"/>
          </a:p>
        </p:txBody>
      </p:sp>
      <p:sp>
        <p:nvSpPr>
          <p:cNvPr id="76" name="Shape 74"/>
          <p:cNvSpPr/>
          <p:nvPr/>
        </p:nvSpPr>
        <p:spPr>
          <a:xfrm>
            <a:off x="2642616" y="4261104"/>
            <a:ext cx="310896" cy="310896"/>
          </a:xfrm>
          <a:prstGeom prst="rect">
            <a:avLst/>
          </a:prstGeom>
          <a:solidFill>
            <a:srgbClr val="CBD5E1"/>
          </a:solidFill>
          <a:ln/>
        </p:spPr>
        <p:txBody>
          <a:bodyPr/>
          <a:lstStyle/>
          <a:p>
            <a:endParaRPr lang="en-US"/>
          </a:p>
        </p:txBody>
      </p:sp>
      <p:sp>
        <p:nvSpPr>
          <p:cNvPr id="77" name="Shape 75"/>
          <p:cNvSpPr/>
          <p:nvPr/>
        </p:nvSpPr>
        <p:spPr>
          <a:xfrm>
            <a:off x="2990088" y="4261104"/>
            <a:ext cx="310896" cy="310896"/>
          </a:xfrm>
          <a:prstGeom prst="rect">
            <a:avLst/>
          </a:prstGeom>
          <a:solidFill>
            <a:srgbClr val="CBD5E1"/>
          </a:solidFill>
          <a:ln/>
        </p:spPr>
        <p:txBody>
          <a:bodyPr/>
          <a:lstStyle/>
          <a:p>
            <a:endParaRPr lang="en-US"/>
          </a:p>
        </p:txBody>
      </p:sp>
      <p:sp>
        <p:nvSpPr>
          <p:cNvPr id="78" name="Shape 76"/>
          <p:cNvSpPr/>
          <p:nvPr/>
        </p:nvSpPr>
        <p:spPr>
          <a:xfrm>
            <a:off x="3337560" y="4261104"/>
            <a:ext cx="310896" cy="310896"/>
          </a:xfrm>
          <a:prstGeom prst="rect">
            <a:avLst/>
          </a:prstGeom>
          <a:solidFill>
            <a:srgbClr val="CBD5E1"/>
          </a:solidFill>
          <a:ln/>
        </p:spPr>
        <p:txBody>
          <a:bodyPr/>
          <a:lstStyle/>
          <a:p>
            <a:endParaRPr lang="en-US"/>
          </a:p>
        </p:txBody>
      </p:sp>
      <p:sp>
        <p:nvSpPr>
          <p:cNvPr id="79" name="Shape 77"/>
          <p:cNvSpPr/>
          <p:nvPr/>
        </p:nvSpPr>
        <p:spPr>
          <a:xfrm>
            <a:off x="3685032" y="4261104"/>
            <a:ext cx="310896" cy="310896"/>
          </a:xfrm>
          <a:prstGeom prst="rect">
            <a:avLst/>
          </a:prstGeom>
          <a:solidFill>
            <a:srgbClr val="CBD5E1"/>
          </a:solidFill>
          <a:ln/>
        </p:spPr>
        <p:txBody>
          <a:bodyPr/>
          <a:lstStyle/>
          <a:p>
            <a:endParaRPr lang="en-US"/>
          </a:p>
        </p:txBody>
      </p:sp>
      <p:sp>
        <p:nvSpPr>
          <p:cNvPr id="80" name="Shape 78"/>
          <p:cNvSpPr/>
          <p:nvPr/>
        </p:nvSpPr>
        <p:spPr>
          <a:xfrm>
            <a:off x="4032504" y="4261104"/>
            <a:ext cx="310896" cy="310896"/>
          </a:xfrm>
          <a:prstGeom prst="rect">
            <a:avLst/>
          </a:prstGeom>
          <a:solidFill>
            <a:srgbClr val="CBD5E1"/>
          </a:solidFill>
          <a:ln/>
        </p:spPr>
        <p:txBody>
          <a:bodyPr/>
          <a:lstStyle/>
          <a:p>
            <a:endParaRPr lang="en-US"/>
          </a:p>
        </p:txBody>
      </p:sp>
      <p:sp>
        <p:nvSpPr>
          <p:cNvPr id="81" name="Shape 79"/>
          <p:cNvSpPr/>
          <p:nvPr/>
        </p:nvSpPr>
        <p:spPr>
          <a:xfrm>
            <a:off x="4379976" y="4261104"/>
            <a:ext cx="310896" cy="310896"/>
          </a:xfrm>
          <a:prstGeom prst="rect">
            <a:avLst/>
          </a:prstGeom>
          <a:solidFill>
            <a:srgbClr val="CBD5E1"/>
          </a:solidFill>
          <a:ln/>
        </p:spPr>
        <p:txBody>
          <a:bodyPr/>
          <a:lstStyle/>
          <a:p>
            <a:endParaRPr lang="en-US"/>
          </a:p>
        </p:txBody>
      </p:sp>
      <p:sp>
        <p:nvSpPr>
          <p:cNvPr id="82" name="Shape 80"/>
          <p:cNvSpPr/>
          <p:nvPr/>
        </p:nvSpPr>
        <p:spPr>
          <a:xfrm>
            <a:off x="1252728" y="4608576"/>
            <a:ext cx="310896" cy="310896"/>
          </a:xfrm>
          <a:prstGeom prst="rect">
            <a:avLst/>
          </a:prstGeom>
          <a:solidFill>
            <a:srgbClr val="CBD5E1"/>
          </a:solidFill>
          <a:ln/>
        </p:spPr>
        <p:txBody>
          <a:bodyPr/>
          <a:lstStyle/>
          <a:p>
            <a:endParaRPr lang="en-US"/>
          </a:p>
        </p:txBody>
      </p:sp>
      <p:sp>
        <p:nvSpPr>
          <p:cNvPr id="83" name="Shape 81"/>
          <p:cNvSpPr/>
          <p:nvPr/>
        </p:nvSpPr>
        <p:spPr>
          <a:xfrm>
            <a:off x="1600200" y="4608576"/>
            <a:ext cx="310896" cy="310896"/>
          </a:xfrm>
          <a:prstGeom prst="rect">
            <a:avLst/>
          </a:prstGeom>
          <a:solidFill>
            <a:srgbClr val="CBD5E1"/>
          </a:solidFill>
          <a:ln/>
        </p:spPr>
        <p:txBody>
          <a:bodyPr/>
          <a:lstStyle/>
          <a:p>
            <a:endParaRPr lang="en-US"/>
          </a:p>
        </p:txBody>
      </p:sp>
      <p:sp>
        <p:nvSpPr>
          <p:cNvPr id="84" name="Shape 82"/>
          <p:cNvSpPr/>
          <p:nvPr/>
        </p:nvSpPr>
        <p:spPr>
          <a:xfrm>
            <a:off x="1947672" y="4608576"/>
            <a:ext cx="310896" cy="310896"/>
          </a:xfrm>
          <a:prstGeom prst="rect">
            <a:avLst/>
          </a:prstGeom>
          <a:solidFill>
            <a:srgbClr val="CBD5E1"/>
          </a:solidFill>
          <a:ln/>
        </p:spPr>
        <p:txBody>
          <a:bodyPr/>
          <a:lstStyle/>
          <a:p>
            <a:endParaRPr lang="en-US"/>
          </a:p>
        </p:txBody>
      </p:sp>
      <p:sp>
        <p:nvSpPr>
          <p:cNvPr id="85" name="Shape 83"/>
          <p:cNvSpPr/>
          <p:nvPr/>
        </p:nvSpPr>
        <p:spPr>
          <a:xfrm>
            <a:off x="2295144" y="4608576"/>
            <a:ext cx="310896" cy="310896"/>
          </a:xfrm>
          <a:prstGeom prst="rect">
            <a:avLst/>
          </a:prstGeom>
          <a:solidFill>
            <a:srgbClr val="CBD5E1"/>
          </a:solidFill>
          <a:ln/>
        </p:spPr>
        <p:txBody>
          <a:bodyPr/>
          <a:lstStyle/>
          <a:p>
            <a:endParaRPr lang="en-US"/>
          </a:p>
        </p:txBody>
      </p:sp>
      <p:sp>
        <p:nvSpPr>
          <p:cNvPr id="86" name="Shape 84"/>
          <p:cNvSpPr/>
          <p:nvPr/>
        </p:nvSpPr>
        <p:spPr>
          <a:xfrm>
            <a:off x="2642616" y="4608576"/>
            <a:ext cx="310896" cy="310896"/>
          </a:xfrm>
          <a:prstGeom prst="rect">
            <a:avLst/>
          </a:prstGeom>
          <a:solidFill>
            <a:srgbClr val="CBD5E1"/>
          </a:solidFill>
          <a:ln/>
        </p:spPr>
        <p:txBody>
          <a:bodyPr/>
          <a:lstStyle/>
          <a:p>
            <a:endParaRPr lang="en-US"/>
          </a:p>
        </p:txBody>
      </p:sp>
      <p:sp>
        <p:nvSpPr>
          <p:cNvPr id="87" name="Shape 85"/>
          <p:cNvSpPr/>
          <p:nvPr/>
        </p:nvSpPr>
        <p:spPr>
          <a:xfrm>
            <a:off x="2990088" y="4608576"/>
            <a:ext cx="310896" cy="310896"/>
          </a:xfrm>
          <a:prstGeom prst="rect">
            <a:avLst/>
          </a:prstGeom>
          <a:solidFill>
            <a:srgbClr val="CBD5E1"/>
          </a:solidFill>
          <a:ln/>
        </p:spPr>
        <p:txBody>
          <a:bodyPr/>
          <a:lstStyle/>
          <a:p>
            <a:endParaRPr lang="en-US"/>
          </a:p>
        </p:txBody>
      </p:sp>
      <p:sp>
        <p:nvSpPr>
          <p:cNvPr id="88" name="Shape 86"/>
          <p:cNvSpPr/>
          <p:nvPr/>
        </p:nvSpPr>
        <p:spPr>
          <a:xfrm>
            <a:off x="3337560" y="4608576"/>
            <a:ext cx="310896" cy="310896"/>
          </a:xfrm>
          <a:prstGeom prst="rect">
            <a:avLst/>
          </a:prstGeom>
          <a:solidFill>
            <a:srgbClr val="CBD5E1"/>
          </a:solidFill>
          <a:ln/>
        </p:spPr>
        <p:txBody>
          <a:bodyPr/>
          <a:lstStyle/>
          <a:p>
            <a:endParaRPr lang="en-US"/>
          </a:p>
        </p:txBody>
      </p:sp>
      <p:sp>
        <p:nvSpPr>
          <p:cNvPr id="89" name="Shape 87"/>
          <p:cNvSpPr/>
          <p:nvPr/>
        </p:nvSpPr>
        <p:spPr>
          <a:xfrm>
            <a:off x="3685032" y="4608576"/>
            <a:ext cx="310896" cy="310896"/>
          </a:xfrm>
          <a:prstGeom prst="rect">
            <a:avLst/>
          </a:prstGeom>
          <a:solidFill>
            <a:srgbClr val="CBD5E1"/>
          </a:solidFill>
          <a:ln/>
        </p:spPr>
        <p:txBody>
          <a:bodyPr/>
          <a:lstStyle/>
          <a:p>
            <a:endParaRPr lang="en-US"/>
          </a:p>
        </p:txBody>
      </p:sp>
      <p:sp>
        <p:nvSpPr>
          <p:cNvPr id="90" name="Shape 88"/>
          <p:cNvSpPr/>
          <p:nvPr/>
        </p:nvSpPr>
        <p:spPr>
          <a:xfrm>
            <a:off x="4032504" y="4608576"/>
            <a:ext cx="310896" cy="310896"/>
          </a:xfrm>
          <a:prstGeom prst="rect">
            <a:avLst/>
          </a:prstGeom>
          <a:solidFill>
            <a:srgbClr val="CBD5E1"/>
          </a:solidFill>
          <a:ln/>
        </p:spPr>
        <p:txBody>
          <a:bodyPr/>
          <a:lstStyle/>
          <a:p>
            <a:endParaRPr lang="en-US"/>
          </a:p>
        </p:txBody>
      </p:sp>
      <p:sp>
        <p:nvSpPr>
          <p:cNvPr id="91" name="Shape 89"/>
          <p:cNvSpPr/>
          <p:nvPr/>
        </p:nvSpPr>
        <p:spPr>
          <a:xfrm>
            <a:off x="4379976" y="4608576"/>
            <a:ext cx="310896" cy="310896"/>
          </a:xfrm>
          <a:prstGeom prst="rect">
            <a:avLst/>
          </a:prstGeom>
          <a:solidFill>
            <a:srgbClr val="CBD5E1"/>
          </a:solidFill>
          <a:ln/>
        </p:spPr>
        <p:txBody>
          <a:bodyPr/>
          <a:lstStyle/>
          <a:p>
            <a:endParaRPr lang="en-US"/>
          </a:p>
        </p:txBody>
      </p:sp>
      <p:sp>
        <p:nvSpPr>
          <p:cNvPr id="92" name="Shape 90"/>
          <p:cNvSpPr/>
          <p:nvPr/>
        </p:nvSpPr>
        <p:spPr>
          <a:xfrm>
            <a:off x="1252728" y="4956048"/>
            <a:ext cx="310896" cy="310896"/>
          </a:xfrm>
          <a:prstGeom prst="rect">
            <a:avLst/>
          </a:prstGeom>
          <a:solidFill>
            <a:srgbClr val="CBD5E1"/>
          </a:solidFill>
          <a:ln/>
        </p:spPr>
        <p:txBody>
          <a:bodyPr/>
          <a:lstStyle/>
          <a:p>
            <a:endParaRPr lang="en-US"/>
          </a:p>
        </p:txBody>
      </p:sp>
      <p:sp>
        <p:nvSpPr>
          <p:cNvPr id="93" name="Shape 91"/>
          <p:cNvSpPr/>
          <p:nvPr/>
        </p:nvSpPr>
        <p:spPr>
          <a:xfrm>
            <a:off x="1600200" y="4956048"/>
            <a:ext cx="310896" cy="310896"/>
          </a:xfrm>
          <a:prstGeom prst="rect">
            <a:avLst/>
          </a:prstGeom>
          <a:solidFill>
            <a:srgbClr val="CBD5E1"/>
          </a:solidFill>
          <a:ln/>
        </p:spPr>
        <p:txBody>
          <a:bodyPr/>
          <a:lstStyle/>
          <a:p>
            <a:endParaRPr lang="en-US"/>
          </a:p>
        </p:txBody>
      </p:sp>
      <p:sp>
        <p:nvSpPr>
          <p:cNvPr id="94" name="Shape 92"/>
          <p:cNvSpPr/>
          <p:nvPr/>
        </p:nvSpPr>
        <p:spPr>
          <a:xfrm>
            <a:off x="1947672" y="4956048"/>
            <a:ext cx="310896" cy="310896"/>
          </a:xfrm>
          <a:prstGeom prst="rect">
            <a:avLst/>
          </a:prstGeom>
          <a:solidFill>
            <a:srgbClr val="CBD5E1"/>
          </a:solidFill>
          <a:ln/>
        </p:spPr>
        <p:txBody>
          <a:bodyPr/>
          <a:lstStyle/>
          <a:p>
            <a:endParaRPr lang="en-US"/>
          </a:p>
        </p:txBody>
      </p:sp>
      <p:sp>
        <p:nvSpPr>
          <p:cNvPr id="95" name="Shape 93"/>
          <p:cNvSpPr/>
          <p:nvPr/>
        </p:nvSpPr>
        <p:spPr>
          <a:xfrm>
            <a:off x="2295144" y="4956048"/>
            <a:ext cx="310896" cy="310896"/>
          </a:xfrm>
          <a:prstGeom prst="rect">
            <a:avLst/>
          </a:prstGeom>
          <a:solidFill>
            <a:srgbClr val="CBD5E1"/>
          </a:solidFill>
          <a:ln/>
        </p:spPr>
        <p:txBody>
          <a:bodyPr/>
          <a:lstStyle/>
          <a:p>
            <a:endParaRPr lang="en-US"/>
          </a:p>
        </p:txBody>
      </p:sp>
      <p:sp>
        <p:nvSpPr>
          <p:cNvPr id="96" name="Shape 94"/>
          <p:cNvSpPr/>
          <p:nvPr/>
        </p:nvSpPr>
        <p:spPr>
          <a:xfrm>
            <a:off x="2642616" y="4956048"/>
            <a:ext cx="310896" cy="310896"/>
          </a:xfrm>
          <a:prstGeom prst="rect">
            <a:avLst/>
          </a:prstGeom>
          <a:solidFill>
            <a:srgbClr val="CBD5E1"/>
          </a:solidFill>
          <a:ln/>
        </p:spPr>
        <p:txBody>
          <a:bodyPr/>
          <a:lstStyle/>
          <a:p>
            <a:endParaRPr lang="en-US"/>
          </a:p>
        </p:txBody>
      </p:sp>
      <p:sp>
        <p:nvSpPr>
          <p:cNvPr id="97" name="Shape 95"/>
          <p:cNvSpPr/>
          <p:nvPr/>
        </p:nvSpPr>
        <p:spPr>
          <a:xfrm>
            <a:off x="2990088" y="4956048"/>
            <a:ext cx="310896" cy="310896"/>
          </a:xfrm>
          <a:prstGeom prst="rect">
            <a:avLst/>
          </a:prstGeom>
          <a:solidFill>
            <a:srgbClr val="CBD5E1"/>
          </a:solidFill>
          <a:ln/>
        </p:spPr>
        <p:txBody>
          <a:bodyPr/>
          <a:lstStyle/>
          <a:p>
            <a:endParaRPr lang="en-US"/>
          </a:p>
        </p:txBody>
      </p:sp>
      <p:sp>
        <p:nvSpPr>
          <p:cNvPr id="98" name="Shape 96"/>
          <p:cNvSpPr/>
          <p:nvPr/>
        </p:nvSpPr>
        <p:spPr>
          <a:xfrm>
            <a:off x="3337560" y="4956048"/>
            <a:ext cx="310896" cy="310896"/>
          </a:xfrm>
          <a:prstGeom prst="rect">
            <a:avLst/>
          </a:prstGeom>
          <a:solidFill>
            <a:srgbClr val="CBD5E1"/>
          </a:solidFill>
          <a:ln/>
        </p:spPr>
        <p:txBody>
          <a:bodyPr/>
          <a:lstStyle/>
          <a:p>
            <a:endParaRPr lang="en-US"/>
          </a:p>
        </p:txBody>
      </p:sp>
      <p:sp>
        <p:nvSpPr>
          <p:cNvPr id="99" name="Shape 97"/>
          <p:cNvSpPr/>
          <p:nvPr/>
        </p:nvSpPr>
        <p:spPr>
          <a:xfrm>
            <a:off x="3685032" y="4956048"/>
            <a:ext cx="310896" cy="310896"/>
          </a:xfrm>
          <a:prstGeom prst="rect">
            <a:avLst/>
          </a:prstGeom>
          <a:solidFill>
            <a:srgbClr val="CBD5E1"/>
          </a:solidFill>
          <a:ln/>
        </p:spPr>
        <p:txBody>
          <a:bodyPr/>
          <a:lstStyle/>
          <a:p>
            <a:endParaRPr lang="en-US"/>
          </a:p>
        </p:txBody>
      </p:sp>
      <p:sp>
        <p:nvSpPr>
          <p:cNvPr id="100" name="Shape 98"/>
          <p:cNvSpPr/>
          <p:nvPr/>
        </p:nvSpPr>
        <p:spPr>
          <a:xfrm>
            <a:off x="4032504" y="4956048"/>
            <a:ext cx="310896" cy="310896"/>
          </a:xfrm>
          <a:prstGeom prst="rect">
            <a:avLst/>
          </a:prstGeom>
          <a:solidFill>
            <a:srgbClr val="CBD5E1"/>
          </a:solidFill>
          <a:ln/>
        </p:spPr>
        <p:txBody>
          <a:bodyPr/>
          <a:lstStyle/>
          <a:p>
            <a:endParaRPr lang="en-US"/>
          </a:p>
        </p:txBody>
      </p:sp>
      <p:sp>
        <p:nvSpPr>
          <p:cNvPr id="101" name="Shape 99"/>
          <p:cNvSpPr/>
          <p:nvPr/>
        </p:nvSpPr>
        <p:spPr>
          <a:xfrm>
            <a:off x="4379976" y="4956048"/>
            <a:ext cx="310896" cy="310896"/>
          </a:xfrm>
          <a:prstGeom prst="rect">
            <a:avLst/>
          </a:prstGeom>
          <a:solidFill>
            <a:srgbClr val="CBD5E1"/>
          </a:solidFill>
          <a:ln/>
        </p:spPr>
        <p:txBody>
          <a:bodyPr/>
          <a:lstStyle/>
          <a:p>
            <a:endParaRPr lang="en-US"/>
          </a:p>
        </p:txBody>
      </p:sp>
      <p:sp>
        <p:nvSpPr>
          <p:cNvPr id="102" name="Shape 100"/>
          <p:cNvSpPr/>
          <p:nvPr/>
        </p:nvSpPr>
        <p:spPr>
          <a:xfrm>
            <a:off x="1252728" y="5303520"/>
            <a:ext cx="310896" cy="310896"/>
          </a:xfrm>
          <a:prstGeom prst="rect">
            <a:avLst/>
          </a:prstGeom>
          <a:solidFill>
            <a:srgbClr val="CBD5E1"/>
          </a:solidFill>
          <a:ln/>
        </p:spPr>
        <p:txBody>
          <a:bodyPr/>
          <a:lstStyle/>
          <a:p>
            <a:endParaRPr lang="en-US"/>
          </a:p>
        </p:txBody>
      </p:sp>
      <p:sp>
        <p:nvSpPr>
          <p:cNvPr id="103" name="Shape 101"/>
          <p:cNvSpPr/>
          <p:nvPr/>
        </p:nvSpPr>
        <p:spPr>
          <a:xfrm>
            <a:off x="1600200" y="5303520"/>
            <a:ext cx="310896" cy="310896"/>
          </a:xfrm>
          <a:prstGeom prst="rect">
            <a:avLst/>
          </a:prstGeom>
          <a:solidFill>
            <a:srgbClr val="CBD5E1"/>
          </a:solidFill>
          <a:ln/>
        </p:spPr>
        <p:txBody>
          <a:bodyPr/>
          <a:lstStyle/>
          <a:p>
            <a:endParaRPr lang="en-US"/>
          </a:p>
        </p:txBody>
      </p:sp>
      <p:sp>
        <p:nvSpPr>
          <p:cNvPr id="104" name="Shape 102"/>
          <p:cNvSpPr/>
          <p:nvPr/>
        </p:nvSpPr>
        <p:spPr>
          <a:xfrm>
            <a:off x="1947672" y="5303520"/>
            <a:ext cx="310896" cy="310896"/>
          </a:xfrm>
          <a:prstGeom prst="rect">
            <a:avLst/>
          </a:prstGeom>
          <a:solidFill>
            <a:srgbClr val="CBD5E1"/>
          </a:solidFill>
          <a:ln/>
        </p:spPr>
        <p:txBody>
          <a:bodyPr/>
          <a:lstStyle/>
          <a:p>
            <a:endParaRPr lang="en-US"/>
          </a:p>
        </p:txBody>
      </p:sp>
      <p:sp>
        <p:nvSpPr>
          <p:cNvPr id="105" name="Shape 103"/>
          <p:cNvSpPr/>
          <p:nvPr/>
        </p:nvSpPr>
        <p:spPr>
          <a:xfrm>
            <a:off x="2295144" y="5303520"/>
            <a:ext cx="310896" cy="310896"/>
          </a:xfrm>
          <a:prstGeom prst="rect">
            <a:avLst/>
          </a:prstGeom>
          <a:solidFill>
            <a:srgbClr val="CBD5E1"/>
          </a:solidFill>
          <a:ln/>
        </p:spPr>
        <p:txBody>
          <a:bodyPr/>
          <a:lstStyle/>
          <a:p>
            <a:endParaRPr lang="en-US"/>
          </a:p>
        </p:txBody>
      </p:sp>
      <p:sp>
        <p:nvSpPr>
          <p:cNvPr id="106" name="Shape 104"/>
          <p:cNvSpPr/>
          <p:nvPr/>
        </p:nvSpPr>
        <p:spPr>
          <a:xfrm>
            <a:off x="2642616" y="5303520"/>
            <a:ext cx="310896" cy="310896"/>
          </a:xfrm>
          <a:prstGeom prst="rect">
            <a:avLst/>
          </a:prstGeom>
          <a:solidFill>
            <a:srgbClr val="CBD5E1"/>
          </a:solidFill>
          <a:ln/>
        </p:spPr>
        <p:txBody>
          <a:bodyPr/>
          <a:lstStyle/>
          <a:p>
            <a:endParaRPr lang="en-US"/>
          </a:p>
        </p:txBody>
      </p:sp>
      <p:sp>
        <p:nvSpPr>
          <p:cNvPr id="107" name="Shape 105"/>
          <p:cNvSpPr/>
          <p:nvPr/>
        </p:nvSpPr>
        <p:spPr>
          <a:xfrm>
            <a:off x="2990088" y="5303520"/>
            <a:ext cx="310896" cy="310896"/>
          </a:xfrm>
          <a:prstGeom prst="rect">
            <a:avLst/>
          </a:prstGeom>
          <a:solidFill>
            <a:srgbClr val="CBD5E1"/>
          </a:solidFill>
          <a:ln/>
        </p:spPr>
        <p:txBody>
          <a:bodyPr/>
          <a:lstStyle/>
          <a:p>
            <a:endParaRPr lang="en-US"/>
          </a:p>
        </p:txBody>
      </p:sp>
      <p:sp>
        <p:nvSpPr>
          <p:cNvPr id="108" name="Shape 106"/>
          <p:cNvSpPr/>
          <p:nvPr/>
        </p:nvSpPr>
        <p:spPr>
          <a:xfrm>
            <a:off x="3337560" y="5303520"/>
            <a:ext cx="310896" cy="310896"/>
          </a:xfrm>
          <a:prstGeom prst="rect">
            <a:avLst/>
          </a:prstGeom>
          <a:solidFill>
            <a:srgbClr val="CBD5E1"/>
          </a:solidFill>
          <a:ln/>
        </p:spPr>
        <p:txBody>
          <a:bodyPr/>
          <a:lstStyle/>
          <a:p>
            <a:endParaRPr lang="en-US"/>
          </a:p>
        </p:txBody>
      </p:sp>
      <p:sp>
        <p:nvSpPr>
          <p:cNvPr id="109" name="Shape 107"/>
          <p:cNvSpPr/>
          <p:nvPr/>
        </p:nvSpPr>
        <p:spPr>
          <a:xfrm>
            <a:off x="3685032" y="5303520"/>
            <a:ext cx="310896" cy="310896"/>
          </a:xfrm>
          <a:prstGeom prst="rect">
            <a:avLst/>
          </a:prstGeom>
          <a:solidFill>
            <a:srgbClr val="CBD5E1"/>
          </a:solidFill>
          <a:ln/>
        </p:spPr>
        <p:txBody>
          <a:bodyPr/>
          <a:lstStyle/>
          <a:p>
            <a:endParaRPr lang="en-US"/>
          </a:p>
        </p:txBody>
      </p:sp>
      <p:sp>
        <p:nvSpPr>
          <p:cNvPr id="110" name="Shape 108"/>
          <p:cNvSpPr/>
          <p:nvPr/>
        </p:nvSpPr>
        <p:spPr>
          <a:xfrm>
            <a:off x="4032504" y="5303520"/>
            <a:ext cx="310896" cy="310896"/>
          </a:xfrm>
          <a:prstGeom prst="rect">
            <a:avLst/>
          </a:prstGeom>
          <a:solidFill>
            <a:srgbClr val="CBD5E1"/>
          </a:solidFill>
          <a:ln/>
        </p:spPr>
        <p:txBody>
          <a:bodyPr/>
          <a:lstStyle/>
          <a:p>
            <a:endParaRPr lang="en-US"/>
          </a:p>
        </p:txBody>
      </p:sp>
      <p:sp>
        <p:nvSpPr>
          <p:cNvPr id="111" name="Shape 109"/>
          <p:cNvSpPr/>
          <p:nvPr/>
        </p:nvSpPr>
        <p:spPr>
          <a:xfrm>
            <a:off x="4379976" y="5303520"/>
            <a:ext cx="310896" cy="310896"/>
          </a:xfrm>
          <a:prstGeom prst="rect">
            <a:avLst/>
          </a:prstGeom>
          <a:solidFill>
            <a:srgbClr val="CBD5E1"/>
          </a:solidFill>
          <a:ln/>
        </p:spPr>
        <p:txBody>
          <a:bodyPr/>
          <a:lstStyle/>
          <a:p>
            <a:endParaRPr lang="en-US"/>
          </a:p>
        </p:txBody>
      </p:sp>
      <p:sp>
        <p:nvSpPr>
          <p:cNvPr id="112" name="Shape 110"/>
          <p:cNvSpPr/>
          <p:nvPr/>
        </p:nvSpPr>
        <p:spPr>
          <a:xfrm>
            <a:off x="1252728" y="5760720"/>
            <a:ext cx="146304" cy="146304"/>
          </a:xfrm>
          <a:prstGeom prst="rect">
            <a:avLst/>
          </a:prstGeom>
          <a:solidFill>
            <a:srgbClr val="16A34A"/>
          </a:solidFill>
          <a:ln/>
        </p:spPr>
        <p:txBody>
          <a:bodyPr/>
          <a:lstStyle/>
          <a:p>
            <a:endParaRPr lang="en-US"/>
          </a:p>
        </p:txBody>
      </p:sp>
      <p:sp>
        <p:nvSpPr>
          <p:cNvPr id="113" name="Text 111"/>
          <p:cNvSpPr/>
          <p:nvPr/>
        </p:nvSpPr>
        <p:spPr>
          <a:xfrm>
            <a:off x="1453896" y="5715000"/>
            <a:ext cx="1828800" cy="228600"/>
          </a:xfrm>
          <a:prstGeom prst="rect">
            <a:avLst/>
          </a:prstGeom>
          <a:noFill/>
          <a:ln/>
        </p:spPr>
        <p:txBody>
          <a:bodyPr wrap="square" lIns="0" tIns="0" rIns="0" bIns="0" rtlCol="0" anchor="ctr"/>
          <a:lstStyle/>
          <a:p>
            <a:pPr marL="0" indent="0">
              <a:buNone/>
            </a:pPr>
            <a:r>
              <a:rPr lang="en-US" sz="850" dirty="0">
                <a:solidFill>
                  <a:srgbClr val="0F172A"/>
                </a:solidFill>
                <a:latin typeface="Calibri" pitchFamily="34" charset="0"/>
                <a:ea typeface="Calibri" pitchFamily="34" charset="-122"/>
                <a:cs typeface="Calibri" pitchFamily="34" charset="-120"/>
              </a:rPr>
              <a:t>VAS-active (~25%, ~475K terminals)</a:t>
            </a:r>
            <a:endParaRPr lang="en-US" sz="850" dirty="0"/>
          </a:p>
        </p:txBody>
      </p:sp>
      <p:sp>
        <p:nvSpPr>
          <p:cNvPr id="114" name="Shape 112"/>
          <p:cNvSpPr/>
          <p:nvPr/>
        </p:nvSpPr>
        <p:spPr>
          <a:xfrm>
            <a:off x="3172968" y="5760720"/>
            <a:ext cx="146304" cy="146304"/>
          </a:xfrm>
          <a:prstGeom prst="rect">
            <a:avLst/>
          </a:prstGeom>
          <a:solidFill>
            <a:srgbClr val="CBD5E1"/>
          </a:solidFill>
          <a:ln/>
        </p:spPr>
        <p:txBody>
          <a:bodyPr/>
          <a:lstStyle/>
          <a:p>
            <a:endParaRPr lang="en-US"/>
          </a:p>
        </p:txBody>
      </p:sp>
      <p:sp>
        <p:nvSpPr>
          <p:cNvPr id="115" name="Text 113"/>
          <p:cNvSpPr/>
          <p:nvPr/>
        </p:nvSpPr>
        <p:spPr>
          <a:xfrm>
            <a:off x="3374136" y="5715000"/>
            <a:ext cx="1828800" cy="228600"/>
          </a:xfrm>
          <a:prstGeom prst="rect">
            <a:avLst/>
          </a:prstGeom>
          <a:noFill/>
          <a:ln/>
        </p:spPr>
        <p:txBody>
          <a:bodyPr wrap="square" lIns="0" tIns="0" rIns="0" bIns="0" rtlCol="0" anchor="ctr"/>
          <a:lstStyle/>
          <a:p>
            <a:pPr marL="0" indent="0">
              <a:buNone/>
            </a:pPr>
            <a:r>
              <a:rPr lang="en-US" sz="850" dirty="0">
                <a:solidFill>
                  <a:srgbClr val="0F172A"/>
                </a:solidFill>
                <a:latin typeface="Calibri" pitchFamily="34" charset="0"/>
                <a:ea typeface="Calibri" pitchFamily="34" charset="-122"/>
                <a:cs typeface="Calibri" pitchFamily="34" charset="-120"/>
              </a:rPr>
              <a:t>Commodity acceptance (~75%, ~1.43M)</a:t>
            </a:r>
            <a:endParaRPr lang="en-US" sz="850" dirty="0"/>
          </a:p>
        </p:txBody>
      </p:sp>
      <p:sp>
        <p:nvSpPr>
          <p:cNvPr id="116" name="Shape 114"/>
          <p:cNvSpPr/>
          <p:nvPr/>
        </p:nvSpPr>
        <p:spPr>
          <a:xfrm>
            <a:off x="5669280" y="1463040"/>
            <a:ext cx="6035040" cy="960120"/>
          </a:xfrm>
          <a:prstGeom prst="rect">
            <a:avLst/>
          </a:prstGeom>
          <a:solidFill>
            <a:srgbClr val="0B1A14"/>
          </a:solidFill>
          <a:ln/>
        </p:spPr>
        <p:txBody>
          <a:bodyPr/>
          <a:lstStyle/>
          <a:p>
            <a:endParaRPr lang="en-US"/>
          </a:p>
        </p:txBody>
      </p:sp>
      <p:sp>
        <p:nvSpPr>
          <p:cNvPr id="117" name="Shape 115"/>
          <p:cNvSpPr/>
          <p:nvPr/>
        </p:nvSpPr>
        <p:spPr>
          <a:xfrm>
            <a:off x="5669280" y="1463040"/>
            <a:ext cx="91440" cy="960120"/>
          </a:xfrm>
          <a:prstGeom prst="rect">
            <a:avLst/>
          </a:prstGeom>
          <a:solidFill>
            <a:srgbClr val="16A34A"/>
          </a:solidFill>
          <a:ln/>
        </p:spPr>
        <p:txBody>
          <a:bodyPr/>
          <a:lstStyle/>
          <a:p>
            <a:endParaRPr lang="en-US"/>
          </a:p>
        </p:txBody>
      </p:sp>
      <p:sp>
        <p:nvSpPr>
          <p:cNvPr id="118" name="Text 116"/>
          <p:cNvSpPr/>
          <p:nvPr/>
        </p:nvSpPr>
        <p:spPr>
          <a:xfrm>
            <a:off x="5943600" y="1508760"/>
            <a:ext cx="5577840" cy="50292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₹400–600 Cr</a:t>
            </a:r>
            <a:endParaRPr lang="en-US" sz="2800" dirty="0"/>
          </a:p>
        </p:txBody>
      </p:sp>
      <p:sp>
        <p:nvSpPr>
          <p:cNvPr id="119" name="Text 117"/>
          <p:cNvSpPr/>
          <p:nvPr/>
        </p:nvSpPr>
        <p:spPr>
          <a:xfrm>
            <a:off x="5943600" y="1947672"/>
            <a:ext cx="5577840" cy="457200"/>
          </a:xfrm>
          <a:prstGeom prst="rect">
            <a:avLst/>
          </a:prstGeom>
          <a:noFill/>
          <a:ln/>
        </p:spPr>
        <p:txBody>
          <a:bodyPr wrap="square" lIns="0" tIns="0" rIns="0" bIns="0" rtlCol="0" anchor="t"/>
          <a:lstStyle/>
          <a:p>
            <a:pPr marL="0" indent="0">
              <a:buNone/>
            </a:pPr>
            <a:r>
              <a:rPr lang="en-US" sz="1050" i="1" dirty="0">
                <a:solidFill>
                  <a:srgbClr val="86EFAC"/>
                </a:solidFill>
                <a:latin typeface="Calibri" pitchFamily="34" charset="0"/>
                <a:ea typeface="Calibri" pitchFamily="34" charset="-122"/>
                <a:cs typeface="Calibri" pitchFamily="34" charset="-120"/>
              </a:rPr>
              <a:t>Incremental recurring revenue if half of the 75% non-VAS terminals are converted — at 75–85% contribution margin</a:t>
            </a:r>
            <a:endParaRPr lang="en-US" sz="1050" dirty="0"/>
          </a:p>
        </p:txBody>
      </p:sp>
      <p:sp>
        <p:nvSpPr>
          <p:cNvPr id="120" name="Text 118"/>
          <p:cNvSpPr/>
          <p:nvPr/>
        </p:nvSpPr>
        <p:spPr>
          <a:xfrm>
            <a:off x="5669280" y="2606040"/>
            <a:ext cx="6035040" cy="274320"/>
          </a:xfrm>
          <a:prstGeom prst="rect">
            <a:avLst/>
          </a:prstGeom>
          <a:noFill/>
          <a:ln/>
        </p:spPr>
        <p:txBody>
          <a:bodyPr wrap="square" lIns="0" tIns="0" rIns="0" bIns="0" rtlCol="0" anchor="ctr"/>
          <a:lstStyle/>
          <a:p>
            <a:pPr marL="0" indent="0">
              <a:buNone/>
            </a:pPr>
            <a:r>
              <a:rPr lang="en-US" sz="1000" b="1" kern="0" spc="100" dirty="0">
                <a:solidFill>
                  <a:srgbClr val="16A34A"/>
                </a:solidFill>
                <a:latin typeface="Calibri" pitchFamily="34" charset="0"/>
                <a:ea typeface="Calibri" pitchFamily="34" charset="-122"/>
                <a:cs typeface="Calibri" pitchFamily="34" charset="-120"/>
              </a:rPr>
              <a:t>Why the gap exists</a:t>
            </a:r>
            <a:endParaRPr lang="en-US" sz="1000" spc="100" dirty="0"/>
          </a:p>
        </p:txBody>
      </p:sp>
      <p:sp>
        <p:nvSpPr>
          <p:cNvPr id="121" name="Shape 119"/>
          <p:cNvSpPr/>
          <p:nvPr/>
        </p:nvSpPr>
        <p:spPr>
          <a:xfrm>
            <a:off x="5715000" y="2999232"/>
            <a:ext cx="137160" cy="137160"/>
          </a:xfrm>
          <a:prstGeom prst="ellipse">
            <a:avLst/>
          </a:prstGeom>
          <a:solidFill>
            <a:srgbClr val="16A34A"/>
          </a:solidFill>
          <a:ln/>
        </p:spPr>
        <p:txBody>
          <a:bodyPr/>
          <a:lstStyle/>
          <a:p>
            <a:endParaRPr lang="en-US"/>
          </a:p>
        </p:txBody>
      </p:sp>
      <p:sp>
        <p:nvSpPr>
          <p:cNvPr id="122" name="Text 120"/>
          <p:cNvSpPr/>
          <p:nvPr/>
        </p:nvSpPr>
        <p:spPr>
          <a:xfrm>
            <a:off x="5961888" y="2926080"/>
            <a:ext cx="1691640" cy="292608"/>
          </a:xfrm>
          <a:prstGeom prst="rect">
            <a:avLst/>
          </a:prstGeom>
          <a:noFill/>
          <a:ln/>
        </p:spPr>
        <p:txBody>
          <a:bodyPr wrap="square" lIns="0" tIns="0" rIns="0" bIns="0" rtlCol="0" anchor="ctr"/>
          <a:lstStyle/>
          <a:p>
            <a:pPr marL="0" indent="0">
              <a:buNone/>
            </a:pPr>
            <a:r>
              <a:rPr lang="en-US" sz="1050" b="1" dirty="0">
                <a:solidFill>
                  <a:srgbClr val="0F172A"/>
                </a:solidFill>
                <a:latin typeface="Calibri" pitchFamily="34" charset="0"/>
                <a:ea typeface="Calibri" pitchFamily="34" charset="-122"/>
                <a:cs typeface="Calibri" pitchFamily="34" charset="-120"/>
              </a:rPr>
              <a:t>Product fit</a:t>
            </a:r>
            <a:endParaRPr lang="en-US" sz="1050" dirty="0"/>
          </a:p>
        </p:txBody>
      </p:sp>
      <p:sp>
        <p:nvSpPr>
          <p:cNvPr id="123" name="Text 121"/>
          <p:cNvSpPr/>
          <p:nvPr/>
        </p:nvSpPr>
        <p:spPr>
          <a:xfrm>
            <a:off x="7680960" y="2926080"/>
            <a:ext cx="3977640" cy="548640"/>
          </a:xfrm>
          <a:prstGeom prst="rect">
            <a:avLst/>
          </a:prstGeom>
          <a:noFill/>
          <a:ln/>
        </p:spPr>
        <p:txBody>
          <a:bodyPr wrap="square" lIns="0" tIns="0" rIns="0" bIns="0" rtlCol="0" anchor="ctr"/>
          <a:lstStyle/>
          <a:p>
            <a:pPr marL="0" indent="0">
              <a:buNone/>
            </a:pPr>
            <a:r>
              <a:rPr lang="en-US" sz="1000" dirty="0">
                <a:solidFill>
                  <a:srgbClr val="334155"/>
                </a:solidFill>
                <a:latin typeface="Calibri" pitchFamily="34" charset="0"/>
                <a:ea typeface="Calibri" pitchFamily="34" charset="-122"/>
                <a:cs typeface="Calibri" pitchFamily="34" charset="-120"/>
              </a:rPr>
              <a:t>Today's VAS (EMI, gift cards, warranty) doesn't suit Tier-3 outlets, pharma, kirana, services</a:t>
            </a:r>
            <a:endParaRPr lang="en-US" sz="1000" dirty="0"/>
          </a:p>
        </p:txBody>
      </p:sp>
      <p:sp>
        <p:nvSpPr>
          <p:cNvPr id="124" name="Shape 122"/>
          <p:cNvSpPr/>
          <p:nvPr/>
        </p:nvSpPr>
        <p:spPr>
          <a:xfrm>
            <a:off x="5715000" y="3566160"/>
            <a:ext cx="137160" cy="137160"/>
          </a:xfrm>
          <a:prstGeom prst="ellipse">
            <a:avLst/>
          </a:prstGeom>
          <a:solidFill>
            <a:srgbClr val="16A34A"/>
          </a:solidFill>
          <a:ln/>
        </p:spPr>
        <p:txBody>
          <a:bodyPr/>
          <a:lstStyle/>
          <a:p>
            <a:endParaRPr lang="en-US"/>
          </a:p>
        </p:txBody>
      </p:sp>
      <p:sp>
        <p:nvSpPr>
          <p:cNvPr id="125" name="Text 123"/>
          <p:cNvSpPr/>
          <p:nvPr/>
        </p:nvSpPr>
        <p:spPr>
          <a:xfrm>
            <a:off x="5961888" y="3493008"/>
            <a:ext cx="1691640" cy="292608"/>
          </a:xfrm>
          <a:prstGeom prst="rect">
            <a:avLst/>
          </a:prstGeom>
          <a:noFill/>
          <a:ln/>
        </p:spPr>
        <p:txBody>
          <a:bodyPr wrap="square" lIns="0" tIns="0" rIns="0" bIns="0" rtlCol="0" anchor="ctr"/>
          <a:lstStyle/>
          <a:p>
            <a:pPr marL="0" indent="0">
              <a:buNone/>
            </a:pPr>
            <a:r>
              <a:rPr lang="en-US" sz="1050" b="1" dirty="0">
                <a:solidFill>
                  <a:srgbClr val="0F172A"/>
                </a:solidFill>
                <a:latin typeface="Calibri" pitchFamily="34" charset="0"/>
                <a:ea typeface="Calibri" pitchFamily="34" charset="-122"/>
                <a:cs typeface="Calibri" pitchFamily="34" charset="-120"/>
              </a:rPr>
              <a:t>Sales incentives</a:t>
            </a:r>
            <a:endParaRPr lang="en-US" sz="1050" dirty="0"/>
          </a:p>
        </p:txBody>
      </p:sp>
      <p:sp>
        <p:nvSpPr>
          <p:cNvPr id="126" name="Text 124"/>
          <p:cNvSpPr/>
          <p:nvPr/>
        </p:nvSpPr>
        <p:spPr>
          <a:xfrm>
            <a:off x="7680960" y="3493008"/>
            <a:ext cx="3977640" cy="548640"/>
          </a:xfrm>
          <a:prstGeom prst="rect">
            <a:avLst/>
          </a:prstGeom>
          <a:noFill/>
          <a:ln/>
        </p:spPr>
        <p:txBody>
          <a:bodyPr wrap="square" lIns="0" tIns="0" rIns="0" bIns="0" rtlCol="0" anchor="ctr"/>
          <a:lstStyle/>
          <a:p>
            <a:pPr marL="0" indent="0">
              <a:buNone/>
            </a:pPr>
            <a:r>
              <a:rPr lang="en-US" sz="1000" dirty="0">
                <a:solidFill>
                  <a:srgbClr val="334155"/>
                </a:solidFill>
                <a:latin typeface="Calibri" pitchFamily="34" charset="0"/>
                <a:ea typeface="Calibri" pitchFamily="34" charset="-122"/>
                <a:cs typeface="Calibri" pitchFamily="34" charset="-120"/>
              </a:rPr>
              <a:t>Field force is paid for terminal deployment, not VAS attach — no follow-through motion</a:t>
            </a:r>
            <a:endParaRPr lang="en-US" sz="1000" dirty="0"/>
          </a:p>
        </p:txBody>
      </p:sp>
      <p:sp>
        <p:nvSpPr>
          <p:cNvPr id="127" name="Shape 125"/>
          <p:cNvSpPr/>
          <p:nvPr/>
        </p:nvSpPr>
        <p:spPr>
          <a:xfrm>
            <a:off x="5715000" y="4133088"/>
            <a:ext cx="137160" cy="137160"/>
          </a:xfrm>
          <a:prstGeom prst="ellipse">
            <a:avLst/>
          </a:prstGeom>
          <a:solidFill>
            <a:srgbClr val="16A34A"/>
          </a:solidFill>
          <a:ln/>
        </p:spPr>
        <p:txBody>
          <a:bodyPr/>
          <a:lstStyle/>
          <a:p>
            <a:endParaRPr lang="en-US"/>
          </a:p>
        </p:txBody>
      </p:sp>
      <p:sp>
        <p:nvSpPr>
          <p:cNvPr id="128" name="Text 126"/>
          <p:cNvSpPr/>
          <p:nvPr/>
        </p:nvSpPr>
        <p:spPr>
          <a:xfrm>
            <a:off x="5961888" y="4059936"/>
            <a:ext cx="1691640" cy="292608"/>
          </a:xfrm>
          <a:prstGeom prst="rect">
            <a:avLst/>
          </a:prstGeom>
          <a:noFill/>
          <a:ln/>
        </p:spPr>
        <p:txBody>
          <a:bodyPr wrap="square" lIns="0" tIns="0" rIns="0" bIns="0" rtlCol="0" anchor="ctr"/>
          <a:lstStyle/>
          <a:p>
            <a:pPr marL="0" indent="0">
              <a:buNone/>
            </a:pPr>
            <a:r>
              <a:rPr lang="en-US" sz="1050" b="1" dirty="0">
                <a:solidFill>
                  <a:srgbClr val="0F172A"/>
                </a:solidFill>
                <a:latin typeface="Calibri" pitchFamily="34" charset="0"/>
                <a:ea typeface="Calibri" pitchFamily="34" charset="-122"/>
                <a:cs typeface="Calibri" pitchFamily="34" charset="-120"/>
              </a:rPr>
              <a:t>Activation friction</a:t>
            </a:r>
            <a:endParaRPr lang="en-US" sz="1050" dirty="0"/>
          </a:p>
        </p:txBody>
      </p:sp>
      <p:sp>
        <p:nvSpPr>
          <p:cNvPr id="129" name="Text 127"/>
          <p:cNvSpPr/>
          <p:nvPr/>
        </p:nvSpPr>
        <p:spPr>
          <a:xfrm>
            <a:off x="7680960" y="4059936"/>
            <a:ext cx="3977640" cy="548640"/>
          </a:xfrm>
          <a:prstGeom prst="rect">
            <a:avLst/>
          </a:prstGeom>
          <a:noFill/>
          <a:ln/>
        </p:spPr>
        <p:txBody>
          <a:bodyPr wrap="square" lIns="0" tIns="0" rIns="0" bIns="0" rtlCol="0" anchor="ctr"/>
          <a:lstStyle/>
          <a:p>
            <a:pPr marL="0" indent="0">
              <a:buNone/>
            </a:pPr>
            <a:r>
              <a:rPr lang="en-US" sz="1000" dirty="0">
                <a:solidFill>
                  <a:srgbClr val="334155"/>
                </a:solidFill>
                <a:latin typeface="Calibri" pitchFamily="34" charset="0"/>
                <a:ea typeface="Calibri" pitchFamily="34" charset="-122"/>
                <a:cs typeface="Calibri" pitchFamily="34" charset="-120"/>
              </a:rPr>
              <a:t>VAS often needs merchant paperwork/training; default is opt-in, not opt-out</a:t>
            </a:r>
            <a:endParaRPr lang="en-US" sz="1000" dirty="0"/>
          </a:p>
        </p:txBody>
      </p:sp>
      <p:sp>
        <p:nvSpPr>
          <p:cNvPr id="130" name="Shape 128"/>
          <p:cNvSpPr/>
          <p:nvPr/>
        </p:nvSpPr>
        <p:spPr>
          <a:xfrm>
            <a:off x="5715000" y="4700016"/>
            <a:ext cx="137160" cy="137160"/>
          </a:xfrm>
          <a:prstGeom prst="ellipse">
            <a:avLst/>
          </a:prstGeom>
          <a:solidFill>
            <a:srgbClr val="16A34A"/>
          </a:solidFill>
          <a:ln/>
        </p:spPr>
        <p:txBody>
          <a:bodyPr/>
          <a:lstStyle/>
          <a:p>
            <a:endParaRPr lang="en-US"/>
          </a:p>
        </p:txBody>
      </p:sp>
      <p:sp>
        <p:nvSpPr>
          <p:cNvPr id="131" name="Text 129"/>
          <p:cNvSpPr/>
          <p:nvPr/>
        </p:nvSpPr>
        <p:spPr>
          <a:xfrm>
            <a:off x="5961888" y="4626864"/>
            <a:ext cx="1691640" cy="292608"/>
          </a:xfrm>
          <a:prstGeom prst="rect">
            <a:avLst/>
          </a:prstGeom>
          <a:noFill/>
          <a:ln/>
        </p:spPr>
        <p:txBody>
          <a:bodyPr wrap="square" lIns="0" tIns="0" rIns="0" bIns="0" rtlCol="0" anchor="ctr"/>
          <a:lstStyle/>
          <a:p>
            <a:pPr marL="0" indent="0">
              <a:buNone/>
            </a:pPr>
            <a:r>
              <a:rPr lang="en-US" sz="1050" b="1" dirty="0">
                <a:solidFill>
                  <a:srgbClr val="0F172A"/>
                </a:solidFill>
                <a:latin typeface="Calibri" pitchFamily="34" charset="0"/>
                <a:ea typeface="Calibri" pitchFamily="34" charset="-122"/>
                <a:cs typeface="Calibri" pitchFamily="34" charset="-120"/>
              </a:rPr>
              <a:t>Data dormancy</a:t>
            </a:r>
            <a:endParaRPr lang="en-US" sz="1050" dirty="0"/>
          </a:p>
        </p:txBody>
      </p:sp>
      <p:sp>
        <p:nvSpPr>
          <p:cNvPr id="132" name="Text 130"/>
          <p:cNvSpPr/>
          <p:nvPr/>
        </p:nvSpPr>
        <p:spPr>
          <a:xfrm>
            <a:off x="7680960" y="4626864"/>
            <a:ext cx="3977640" cy="548640"/>
          </a:xfrm>
          <a:prstGeom prst="rect">
            <a:avLst/>
          </a:prstGeom>
          <a:noFill/>
          <a:ln/>
        </p:spPr>
        <p:txBody>
          <a:bodyPr wrap="square" lIns="0" tIns="0" rIns="0" bIns="0" rtlCol="0" anchor="ctr"/>
          <a:lstStyle/>
          <a:p>
            <a:pPr marL="0" indent="0">
              <a:buNone/>
            </a:pPr>
            <a:r>
              <a:rPr lang="en-US" sz="1000" dirty="0">
                <a:solidFill>
                  <a:srgbClr val="334155"/>
                </a:solidFill>
                <a:latin typeface="Calibri" pitchFamily="34" charset="0"/>
                <a:ea typeface="Calibri" pitchFamily="34" charset="-122"/>
                <a:cs typeface="Calibri" pitchFamily="34" charset="-120"/>
              </a:rPr>
              <a:t>Daily tx data isn't operationalized to push the right VAS to the right merchant</a:t>
            </a:r>
            <a:endParaRPr lang="en-US" sz="1000" dirty="0"/>
          </a:p>
        </p:txBody>
      </p:sp>
      <p:sp>
        <p:nvSpPr>
          <p:cNvPr id="133" name="Shape 131"/>
          <p:cNvSpPr/>
          <p:nvPr/>
        </p:nvSpPr>
        <p:spPr>
          <a:xfrm>
            <a:off x="5715000" y="5266944"/>
            <a:ext cx="137160" cy="137160"/>
          </a:xfrm>
          <a:prstGeom prst="ellipse">
            <a:avLst/>
          </a:prstGeom>
          <a:solidFill>
            <a:srgbClr val="16A34A"/>
          </a:solidFill>
          <a:ln/>
        </p:spPr>
        <p:txBody>
          <a:bodyPr/>
          <a:lstStyle/>
          <a:p>
            <a:endParaRPr lang="en-US"/>
          </a:p>
        </p:txBody>
      </p:sp>
      <p:sp>
        <p:nvSpPr>
          <p:cNvPr id="134" name="Text 132"/>
          <p:cNvSpPr/>
          <p:nvPr/>
        </p:nvSpPr>
        <p:spPr>
          <a:xfrm>
            <a:off x="5961888" y="5193792"/>
            <a:ext cx="1691640" cy="292608"/>
          </a:xfrm>
          <a:prstGeom prst="rect">
            <a:avLst/>
          </a:prstGeom>
          <a:noFill/>
          <a:ln/>
        </p:spPr>
        <p:txBody>
          <a:bodyPr wrap="square" lIns="0" tIns="0" rIns="0" bIns="0" rtlCol="0" anchor="ctr"/>
          <a:lstStyle/>
          <a:p>
            <a:pPr marL="0" indent="0">
              <a:buNone/>
            </a:pPr>
            <a:r>
              <a:rPr lang="en-US" sz="1050" b="1" dirty="0">
                <a:solidFill>
                  <a:srgbClr val="0F172A"/>
                </a:solidFill>
                <a:latin typeface="Calibri" pitchFamily="34" charset="0"/>
                <a:ea typeface="Calibri" pitchFamily="34" charset="-122"/>
                <a:cs typeface="Calibri" pitchFamily="34" charset="-120"/>
              </a:rPr>
              <a:t>Sub-commission economics</a:t>
            </a:r>
            <a:endParaRPr lang="en-US" sz="1050" dirty="0"/>
          </a:p>
        </p:txBody>
      </p:sp>
      <p:sp>
        <p:nvSpPr>
          <p:cNvPr id="135" name="Text 133"/>
          <p:cNvSpPr/>
          <p:nvPr/>
        </p:nvSpPr>
        <p:spPr>
          <a:xfrm>
            <a:off x="7680960" y="5193792"/>
            <a:ext cx="3977640" cy="548640"/>
          </a:xfrm>
          <a:prstGeom prst="rect">
            <a:avLst/>
          </a:prstGeom>
          <a:noFill/>
          <a:ln/>
        </p:spPr>
        <p:txBody>
          <a:bodyPr wrap="square" lIns="0" tIns="0" rIns="0" bIns="0" rtlCol="0" anchor="ctr"/>
          <a:lstStyle/>
          <a:p>
            <a:pPr marL="0" indent="0">
              <a:buNone/>
            </a:pPr>
            <a:r>
              <a:rPr lang="en-US" sz="1000" dirty="0">
                <a:solidFill>
                  <a:srgbClr val="334155"/>
                </a:solidFill>
                <a:latin typeface="Calibri" pitchFamily="34" charset="0"/>
                <a:ea typeface="Calibri" pitchFamily="34" charset="-122"/>
                <a:cs typeface="Calibri" pitchFamily="34" charset="-120"/>
              </a:rPr>
              <a:t>Existing warranty / insurance riders pay Pine Labs a sub-commission, not full distributor take</a:t>
            </a:r>
            <a:endParaRPr lang="en-US" sz="1000" dirty="0"/>
          </a:p>
        </p:txBody>
      </p:sp>
      <p:sp>
        <p:nvSpPr>
          <p:cNvPr id="136" name="Shape 134"/>
          <p:cNvSpPr/>
          <p:nvPr/>
        </p:nvSpPr>
        <p:spPr>
          <a:xfrm>
            <a:off x="457200" y="6172200"/>
            <a:ext cx="11247120" cy="292608"/>
          </a:xfrm>
          <a:prstGeom prst="rect">
            <a:avLst/>
          </a:prstGeom>
          <a:solidFill>
            <a:srgbClr val="F8FAFC"/>
          </a:solidFill>
          <a:ln w="6350">
            <a:solidFill>
              <a:srgbClr val="E2E8F0"/>
            </a:solidFill>
            <a:prstDash val="solid"/>
          </a:ln>
        </p:spPr>
        <p:txBody>
          <a:bodyPr/>
          <a:lstStyle/>
          <a:p>
            <a:endParaRPr lang="en-US"/>
          </a:p>
        </p:txBody>
      </p:sp>
      <p:sp>
        <p:nvSpPr>
          <p:cNvPr id="137" name="Shape 135"/>
          <p:cNvSpPr/>
          <p:nvPr/>
        </p:nvSpPr>
        <p:spPr>
          <a:xfrm>
            <a:off x="457200" y="6172200"/>
            <a:ext cx="73152" cy="292608"/>
          </a:xfrm>
          <a:prstGeom prst="rect">
            <a:avLst/>
          </a:prstGeom>
          <a:solidFill>
            <a:srgbClr val="16A34A"/>
          </a:solidFill>
          <a:ln/>
        </p:spPr>
        <p:txBody>
          <a:bodyPr/>
          <a:lstStyle/>
          <a:p>
            <a:endParaRPr lang="en-US"/>
          </a:p>
        </p:txBody>
      </p:sp>
      <p:sp>
        <p:nvSpPr>
          <p:cNvPr id="138" name="Text 136"/>
          <p:cNvSpPr/>
          <p:nvPr/>
        </p:nvSpPr>
        <p:spPr>
          <a:xfrm>
            <a:off x="685800" y="6172200"/>
            <a:ext cx="10972800" cy="292608"/>
          </a:xfrm>
          <a:prstGeom prst="rect">
            <a:avLst/>
          </a:prstGeom>
          <a:noFill/>
          <a:ln/>
        </p:spPr>
        <p:txBody>
          <a:bodyPr wrap="square" lIns="0" tIns="0" rIns="0" bIns="0" rtlCol="0" anchor="ctr"/>
          <a:lstStyle/>
          <a:p>
            <a:pPr marL="0" indent="0">
              <a:buNone/>
            </a:pPr>
            <a:r>
              <a:rPr lang="en-US" sz="1050" i="1" dirty="0">
                <a:solidFill>
                  <a:srgbClr val="0F172A"/>
                </a:solidFill>
                <a:latin typeface="Calibri" pitchFamily="34" charset="0"/>
                <a:ea typeface="Calibri" pitchFamily="34" charset="-122"/>
                <a:cs typeface="Calibri" pitchFamily="34" charset="-120"/>
              </a:rPr>
              <a:t>This is a product-strategy problem, not a sales problem — Pine Labs needs the right VAS for the merchants currently earning none.</a:t>
            </a:r>
            <a:endParaRPr lang="en-US" sz="1050" dirty="0"/>
          </a:p>
        </p:txBody>
      </p:sp>
      <p:pic>
        <p:nvPicPr>
          <p:cNvPr id="139" name="Picture 2" descr="Pine Labs Launches Paper POS, a Merged QR Product to Accept Payments via  UPI and Bharat QR Apps">
            <a:extLst>
              <a:ext uri="{FF2B5EF4-FFF2-40B4-BE49-F238E27FC236}">
                <a16:creationId xmlns:a16="http://schemas.microsoft.com/office/drawing/2014/main" id="{A9A52CD4-F920-4D98-F8C2-25223DA9E31B}"/>
              </a:ext>
            </a:extLst>
          </p:cNvPr>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1177016" y="-102584"/>
            <a:ext cx="1115568" cy="58451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16A34A"/>
          </a:solidFill>
          <a:ln/>
        </p:spPr>
        <p:txBody>
          <a:bodyPr/>
          <a:lstStyle/>
          <a:p>
            <a:endParaRPr lang="en-US"/>
          </a:p>
        </p:txBody>
      </p:sp>
      <p:sp>
        <p:nvSpPr>
          <p:cNvPr id="3" name="Text 1"/>
          <p:cNvSpPr/>
          <p:nvPr/>
        </p:nvSpPr>
        <p:spPr>
          <a:xfrm>
            <a:off x="457200" y="201168"/>
            <a:ext cx="10058400" cy="256032"/>
          </a:xfrm>
          <a:prstGeom prst="rect">
            <a:avLst/>
          </a:prstGeom>
          <a:noFill/>
          <a:ln/>
        </p:spPr>
        <p:txBody>
          <a:bodyPr wrap="square" lIns="0" tIns="0" rIns="0" bIns="0" rtlCol="0" anchor="ctr"/>
          <a:lstStyle/>
          <a:p>
            <a:pPr marL="0" indent="0">
              <a:buNone/>
            </a:pPr>
            <a:r>
              <a:rPr lang="en-US" sz="900" b="1" kern="0" spc="100" dirty="0">
                <a:solidFill>
                  <a:srgbClr val="16A34A"/>
                </a:solidFill>
                <a:latin typeface="Calibri" pitchFamily="34" charset="0"/>
                <a:ea typeface="Calibri" pitchFamily="34" charset="-122"/>
                <a:cs typeface="Calibri" pitchFamily="34" charset="-120"/>
              </a:rPr>
              <a:t>CUSTOMER CONCENTRATION</a:t>
            </a:r>
            <a:endParaRPr lang="en-US" sz="900" spc="100" dirty="0"/>
          </a:p>
        </p:txBody>
      </p:sp>
      <p:sp>
        <p:nvSpPr>
          <p:cNvPr id="4" name="Text 2"/>
          <p:cNvSpPr/>
          <p:nvPr/>
        </p:nvSpPr>
        <p:spPr>
          <a:xfrm>
            <a:off x="457200" y="457200"/>
            <a:ext cx="11247120" cy="731520"/>
          </a:xfrm>
          <a:prstGeom prst="rect">
            <a:avLst/>
          </a:prstGeom>
          <a:noFill/>
          <a:ln/>
        </p:spPr>
        <p:txBody>
          <a:bodyPr wrap="square" lIns="0" tIns="0" rIns="0" bIns="0" rtlCol="0" anchor="ctr"/>
          <a:lstStyle/>
          <a:p>
            <a:pPr marL="0" indent="0">
              <a:buNone/>
            </a:pPr>
            <a:r>
              <a:rPr lang="en-US" sz="2200" b="1" dirty="0">
                <a:solidFill>
                  <a:srgbClr val="0F172A"/>
                </a:solidFill>
                <a:latin typeface="Calibri" pitchFamily="34" charset="0"/>
                <a:ea typeface="Calibri" pitchFamily="34" charset="-122"/>
                <a:cs typeface="Calibri" pitchFamily="34" charset="-120"/>
              </a:rPr>
              <a:t>Top 10 customers = 31% of revenue — the highest-ROI place to deploy new VAS</a:t>
            </a:r>
            <a:endParaRPr lang="en-US" sz="2200" dirty="0"/>
          </a:p>
        </p:txBody>
      </p:sp>
      <p:sp>
        <p:nvSpPr>
          <p:cNvPr id="5" name="Shape 3"/>
          <p:cNvSpPr/>
          <p:nvPr/>
        </p:nvSpPr>
        <p:spPr>
          <a:xfrm>
            <a:off x="457200" y="1188720"/>
            <a:ext cx="11247120" cy="13716"/>
          </a:xfrm>
          <a:prstGeom prst="rect">
            <a:avLst/>
          </a:prstGeom>
          <a:solidFill>
            <a:srgbClr val="E2E8F0"/>
          </a:solidFill>
          <a:ln/>
        </p:spPr>
        <p:txBody>
          <a:bodyPr/>
          <a:lstStyle/>
          <a:p>
            <a:endParaRPr lang="en-US"/>
          </a:p>
        </p:txBody>
      </p:sp>
      <p:sp>
        <p:nvSpPr>
          <p:cNvPr id="6" name="Text 4"/>
          <p:cNvSpPr/>
          <p:nvPr/>
        </p:nvSpPr>
        <p:spPr>
          <a:xfrm>
            <a:off x="457200" y="6492240"/>
            <a:ext cx="6400800" cy="256032"/>
          </a:xfrm>
          <a:prstGeom prst="rect">
            <a:avLst/>
          </a:prstGeom>
          <a:noFill/>
          <a:ln/>
        </p:spPr>
        <p:txBody>
          <a:bodyPr wrap="square" lIns="0" tIns="0" rIns="0" bIns="0" rtlCol="0" anchor="ctr"/>
          <a:lstStyle/>
          <a:p>
            <a:pPr marL="0" indent="0">
              <a:buNone/>
            </a:pPr>
            <a:r>
              <a:rPr lang="en-US" sz="900" i="1" dirty="0">
                <a:solidFill>
                  <a:srgbClr val="64748B"/>
                </a:solidFill>
                <a:latin typeface="Calibri" pitchFamily="34" charset="0"/>
                <a:ea typeface="Calibri" pitchFamily="34" charset="-122"/>
                <a:cs typeface="Calibri" pitchFamily="34" charset="-120"/>
              </a:rPr>
              <a:t>Pine Labs — Corporate Development</a:t>
            </a:r>
            <a:endParaRPr lang="en-US" sz="900" dirty="0"/>
          </a:p>
        </p:txBody>
      </p:sp>
      <p:sp>
        <p:nvSpPr>
          <p:cNvPr id="7" name="Text 5"/>
          <p:cNvSpPr/>
          <p:nvPr/>
        </p:nvSpPr>
        <p:spPr>
          <a:xfrm>
            <a:off x="6858000" y="6492240"/>
            <a:ext cx="2743200" cy="256032"/>
          </a:xfrm>
          <a:prstGeom prst="rect">
            <a:avLst/>
          </a:prstGeom>
          <a:noFill/>
          <a:ln/>
        </p:spPr>
        <p:txBody>
          <a:bodyPr wrap="square" lIns="0" tIns="0" rIns="0" bIns="0" rtlCol="0" anchor="ctr"/>
          <a:lstStyle/>
          <a:p>
            <a:pPr marL="0" indent="0" algn="ctr">
              <a:buNone/>
            </a:pPr>
            <a:r>
              <a:rPr lang="en-US" sz="900" i="1" dirty="0">
                <a:solidFill>
                  <a:srgbClr val="64748B"/>
                </a:solidFill>
                <a:latin typeface="Calibri" pitchFamily="34" charset="0"/>
                <a:ea typeface="Calibri" pitchFamily="34" charset="-122"/>
                <a:cs typeface="Calibri" pitchFamily="34" charset="-120"/>
              </a:rPr>
              <a:t>Strictly Confidential</a:t>
            </a:r>
            <a:endParaRPr lang="en-US" sz="900" dirty="0"/>
          </a:p>
        </p:txBody>
      </p:sp>
      <p:sp>
        <p:nvSpPr>
          <p:cNvPr id="8" name="Text 6"/>
          <p:cNvSpPr/>
          <p:nvPr/>
        </p:nvSpPr>
        <p:spPr>
          <a:xfrm>
            <a:off x="10515600" y="6492240"/>
            <a:ext cx="1188720" cy="256032"/>
          </a:xfrm>
          <a:prstGeom prst="rect">
            <a:avLst/>
          </a:prstGeom>
          <a:noFill/>
          <a:ln/>
        </p:spPr>
        <p:txBody>
          <a:bodyPr wrap="square" lIns="0" tIns="0" rIns="0" bIns="0" rtlCol="0" anchor="ctr"/>
          <a:lstStyle/>
          <a:p>
            <a:pPr marL="0" indent="0" algn="r">
              <a:buNone/>
            </a:pPr>
            <a:r>
              <a:rPr lang="en-US" sz="900" b="1" dirty="0">
                <a:solidFill>
                  <a:srgbClr val="64748B"/>
                </a:solidFill>
                <a:latin typeface="Calibri" pitchFamily="34" charset="0"/>
                <a:ea typeface="Calibri" pitchFamily="34" charset="-122"/>
                <a:cs typeface="Calibri" pitchFamily="34" charset="-120"/>
              </a:rPr>
              <a:t>6</a:t>
            </a:r>
            <a:endParaRPr lang="en-US" sz="900" dirty="0"/>
          </a:p>
        </p:txBody>
      </p:sp>
      <p:sp>
        <p:nvSpPr>
          <p:cNvPr id="9" name="Text 7"/>
          <p:cNvSpPr/>
          <p:nvPr/>
        </p:nvSpPr>
        <p:spPr>
          <a:xfrm>
            <a:off x="502920" y="1417320"/>
            <a:ext cx="5486400" cy="274320"/>
          </a:xfrm>
          <a:prstGeom prst="rect">
            <a:avLst/>
          </a:prstGeom>
          <a:noFill/>
          <a:ln/>
        </p:spPr>
        <p:txBody>
          <a:bodyPr wrap="square" lIns="0" tIns="0" rIns="0" bIns="0" rtlCol="0" anchor="ctr"/>
          <a:lstStyle/>
          <a:p>
            <a:pPr marL="0" indent="0">
              <a:buNone/>
            </a:pPr>
            <a:r>
              <a:rPr lang="en-US" sz="1000" b="1" kern="0" spc="100" dirty="0">
                <a:solidFill>
                  <a:srgbClr val="0F172A"/>
                </a:solidFill>
                <a:latin typeface="Calibri" pitchFamily="34" charset="0"/>
                <a:ea typeface="Calibri" pitchFamily="34" charset="-122"/>
                <a:cs typeface="Calibri" pitchFamily="34" charset="-120"/>
              </a:rPr>
              <a:t>Top-customer concentration is falling — but remains material</a:t>
            </a:r>
            <a:endParaRPr lang="en-US" sz="1000" spc="100" dirty="0"/>
          </a:p>
        </p:txBody>
      </p:sp>
      <p:sp>
        <p:nvSpPr>
          <p:cNvPr id="10" name="Shape 8"/>
          <p:cNvSpPr/>
          <p:nvPr/>
        </p:nvSpPr>
        <p:spPr>
          <a:xfrm>
            <a:off x="502920" y="1691640"/>
            <a:ext cx="5486400" cy="13716"/>
          </a:xfrm>
          <a:prstGeom prst="rect">
            <a:avLst/>
          </a:prstGeom>
          <a:solidFill>
            <a:srgbClr val="E2E8F0"/>
          </a:solidFill>
          <a:ln/>
        </p:spPr>
        <p:txBody>
          <a:bodyPr/>
          <a:lstStyle/>
          <a:p>
            <a:endParaRPr lang="en-US"/>
          </a:p>
        </p:txBody>
      </p:sp>
      <p:graphicFrame>
        <p:nvGraphicFramePr>
          <p:cNvPr id="11" name="Chart 0"/>
          <p:cNvGraphicFramePr/>
          <p:nvPr/>
        </p:nvGraphicFramePr>
        <p:xfrm>
          <a:off x="502920" y="1783080"/>
          <a:ext cx="5486400" cy="3657600"/>
        </p:xfrm>
        <a:graphic>
          <a:graphicData uri="http://schemas.openxmlformats.org/drawingml/2006/chart">
            <c:chart xmlns:c="http://schemas.openxmlformats.org/drawingml/2006/chart" xmlns:r="http://schemas.openxmlformats.org/officeDocument/2006/relationships" r:id="rId3"/>
          </a:graphicData>
        </a:graphic>
      </p:graphicFrame>
      <p:sp>
        <p:nvSpPr>
          <p:cNvPr id="12" name="Text 9"/>
          <p:cNvSpPr/>
          <p:nvPr/>
        </p:nvSpPr>
        <p:spPr>
          <a:xfrm>
            <a:off x="6263640" y="1417320"/>
            <a:ext cx="5486400" cy="274320"/>
          </a:xfrm>
          <a:prstGeom prst="rect">
            <a:avLst/>
          </a:prstGeom>
          <a:noFill/>
          <a:ln/>
        </p:spPr>
        <p:txBody>
          <a:bodyPr wrap="square" lIns="0" tIns="0" rIns="0" bIns="0" rtlCol="0" anchor="ctr"/>
          <a:lstStyle/>
          <a:p>
            <a:pPr marL="0" indent="0">
              <a:buNone/>
            </a:pPr>
            <a:r>
              <a:rPr lang="en-US" sz="1000" b="1" kern="0" spc="100" dirty="0">
                <a:solidFill>
                  <a:srgbClr val="0F172A"/>
                </a:solidFill>
                <a:latin typeface="Calibri" pitchFamily="34" charset="0"/>
                <a:ea typeface="Calibri" pitchFamily="34" charset="-122"/>
                <a:cs typeface="Calibri" pitchFamily="34" charset="-120"/>
              </a:rPr>
              <a:t>Likely composition of the top 10 (not publicly disclosed)</a:t>
            </a:r>
            <a:endParaRPr lang="en-US" sz="1000" spc="100" dirty="0"/>
          </a:p>
        </p:txBody>
      </p:sp>
      <p:sp>
        <p:nvSpPr>
          <p:cNvPr id="13" name="Shape 10"/>
          <p:cNvSpPr/>
          <p:nvPr/>
        </p:nvSpPr>
        <p:spPr>
          <a:xfrm>
            <a:off x="6263640" y="1691640"/>
            <a:ext cx="5486400" cy="13716"/>
          </a:xfrm>
          <a:prstGeom prst="rect">
            <a:avLst/>
          </a:prstGeom>
          <a:solidFill>
            <a:srgbClr val="E2E8F0"/>
          </a:solidFill>
          <a:ln/>
        </p:spPr>
        <p:txBody>
          <a:bodyPr/>
          <a:lstStyle/>
          <a:p>
            <a:endParaRPr lang="en-US"/>
          </a:p>
        </p:txBody>
      </p:sp>
      <p:sp>
        <p:nvSpPr>
          <p:cNvPr id="14" name="Shape 11"/>
          <p:cNvSpPr/>
          <p:nvPr/>
        </p:nvSpPr>
        <p:spPr>
          <a:xfrm>
            <a:off x="6263640" y="1783080"/>
            <a:ext cx="5486400" cy="1097280"/>
          </a:xfrm>
          <a:prstGeom prst="rect">
            <a:avLst/>
          </a:prstGeom>
          <a:solidFill>
            <a:srgbClr val="FFFFFF"/>
          </a:solidFill>
          <a:ln w="6350">
            <a:solidFill>
              <a:srgbClr val="E2E8F0"/>
            </a:solidFill>
            <a:prstDash val="solid"/>
          </a:ln>
        </p:spPr>
        <p:txBody>
          <a:bodyPr/>
          <a:lstStyle/>
          <a:p>
            <a:endParaRPr lang="en-US"/>
          </a:p>
        </p:txBody>
      </p:sp>
      <p:sp>
        <p:nvSpPr>
          <p:cNvPr id="15" name="Shape 12"/>
          <p:cNvSpPr/>
          <p:nvPr/>
        </p:nvSpPr>
        <p:spPr>
          <a:xfrm>
            <a:off x="6263640" y="1783080"/>
            <a:ext cx="73152" cy="1097280"/>
          </a:xfrm>
          <a:prstGeom prst="rect">
            <a:avLst/>
          </a:prstGeom>
          <a:solidFill>
            <a:srgbClr val="16A34A"/>
          </a:solidFill>
          <a:ln/>
        </p:spPr>
        <p:txBody>
          <a:bodyPr/>
          <a:lstStyle/>
          <a:p>
            <a:endParaRPr lang="en-US"/>
          </a:p>
        </p:txBody>
      </p:sp>
      <p:sp>
        <p:nvSpPr>
          <p:cNvPr id="16" name="Text 13"/>
          <p:cNvSpPr/>
          <p:nvPr/>
        </p:nvSpPr>
        <p:spPr>
          <a:xfrm>
            <a:off x="6464808" y="1856232"/>
            <a:ext cx="5120640" cy="274320"/>
          </a:xfrm>
          <a:prstGeom prst="rect">
            <a:avLst/>
          </a:prstGeom>
          <a:noFill/>
          <a:ln/>
        </p:spPr>
        <p:txBody>
          <a:bodyPr wrap="square" lIns="0" tIns="0" rIns="0" bIns="0" rtlCol="0" anchor="ctr"/>
          <a:lstStyle/>
          <a:p>
            <a:pPr marL="0" indent="0">
              <a:buNone/>
            </a:pPr>
            <a:r>
              <a:rPr lang="en-US" sz="1100" b="1" kern="0" spc="100" dirty="0">
                <a:solidFill>
                  <a:srgbClr val="0F172A"/>
                </a:solidFill>
                <a:latin typeface="Calibri" pitchFamily="34" charset="0"/>
                <a:ea typeface="Calibri" pitchFamily="34" charset="-122"/>
                <a:cs typeface="Calibri" pitchFamily="34" charset="-120"/>
              </a:rPr>
              <a:t>BANKS — 4 to 5 of top 10</a:t>
            </a:r>
            <a:endParaRPr lang="en-US" sz="1100" spc="100" dirty="0"/>
          </a:p>
        </p:txBody>
      </p:sp>
      <p:sp>
        <p:nvSpPr>
          <p:cNvPr id="17" name="Text 14"/>
          <p:cNvSpPr/>
          <p:nvPr/>
        </p:nvSpPr>
        <p:spPr>
          <a:xfrm>
            <a:off x="6464808" y="2148840"/>
            <a:ext cx="5120640" cy="292608"/>
          </a:xfrm>
          <a:prstGeom prst="rect">
            <a:avLst/>
          </a:prstGeom>
          <a:noFill/>
          <a:ln/>
        </p:spPr>
        <p:txBody>
          <a:bodyPr wrap="square" lIns="0" tIns="0" rIns="0" bIns="0" rtlCol="0" anchor="ctr"/>
          <a:lstStyle/>
          <a:p>
            <a:pPr marL="0" indent="0">
              <a:buNone/>
            </a:pPr>
            <a:r>
              <a:rPr lang="en-US" sz="950" i="1" dirty="0">
                <a:solidFill>
                  <a:srgbClr val="64748B"/>
                </a:solidFill>
                <a:latin typeface="Calibri" pitchFamily="34" charset="0"/>
                <a:ea typeface="Calibri" pitchFamily="34" charset="-122"/>
                <a:cs typeface="Calibri" pitchFamily="34" charset="-120"/>
              </a:rPr>
              <a:t>Credit+ card processing, EMI routing, Mosambee distribution, Setu APIs</a:t>
            </a:r>
            <a:endParaRPr lang="en-US" sz="950" dirty="0"/>
          </a:p>
        </p:txBody>
      </p:sp>
      <p:sp>
        <p:nvSpPr>
          <p:cNvPr id="18" name="Text 15"/>
          <p:cNvSpPr/>
          <p:nvPr/>
        </p:nvSpPr>
        <p:spPr>
          <a:xfrm>
            <a:off x="6464808" y="2468880"/>
            <a:ext cx="5120640" cy="365760"/>
          </a:xfrm>
          <a:prstGeom prst="rect">
            <a:avLst/>
          </a:prstGeom>
          <a:noFill/>
          <a:ln/>
        </p:spPr>
        <p:txBody>
          <a:bodyPr wrap="square" lIns="0" tIns="0" rIns="0" bIns="0" rtlCol="0" anchor="ctr"/>
          <a:lstStyle/>
          <a:p>
            <a:pPr marL="0" indent="0">
              <a:buNone/>
            </a:pPr>
            <a:r>
              <a:rPr lang="en-US" sz="1000" dirty="0">
                <a:solidFill>
                  <a:srgbClr val="334155"/>
                </a:solidFill>
                <a:latin typeface="Calibri" pitchFamily="34" charset="0"/>
                <a:ea typeface="Calibri" pitchFamily="34" charset="-122"/>
                <a:cs typeface="Calibri" pitchFamily="34" charset="-120"/>
              </a:rPr>
              <a:t>HDFC Bank (anchor)  ·  Axis  ·  ICICI  ·  SBI Card  ·  Kotak / IndusInd</a:t>
            </a:r>
            <a:endParaRPr lang="en-US" sz="1000" dirty="0"/>
          </a:p>
        </p:txBody>
      </p:sp>
      <p:sp>
        <p:nvSpPr>
          <p:cNvPr id="19" name="Shape 16"/>
          <p:cNvSpPr/>
          <p:nvPr/>
        </p:nvSpPr>
        <p:spPr>
          <a:xfrm>
            <a:off x="6263640" y="2990088"/>
            <a:ext cx="5486400" cy="1097280"/>
          </a:xfrm>
          <a:prstGeom prst="rect">
            <a:avLst/>
          </a:prstGeom>
          <a:solidFill>
            <a:srgbClr val="FFFFFF"/>
          </a:solidFill>
          <a:ln w="6350">
            <a:solidFill>
              <a:srgbClr val="E2E8F0"/>
            </a:solidFill>
            <a:prstDash val="solid"/>
          </a:ln>
        </p:spPr>
        <p:txBody>
          <a:bodyPr/>
          <a:lstStyle/>
          <a:p>
            <a:endParaRPr lang="en-US"/>
          </a:p>
        </p:txBody>
      </p:sp>
      <p:sp>
        <p:nvSpPr>
          <p:cNvPr id="20" name="Shape 17"/>
          <p:cNvSpPr/>
          <p:nvPr/>
        </p:nvSpPr>
        <p:spPr>
          <a:xfrm>
            <a:off x="6263640" y="2990088"/>
            <a:ext cx="73152" cy="1097280"/>
          </a:xfrm>
          <a:prstGeom prst="rect">
            <a:avLst/>
          </a:prstGeom>
          <a:solidFill>
            <a:srgbClr val="0F3D2E"/>
          </a:solidFill>
          <a:ln/>
        </p:spPr>
        <p:txBody>
          <a:bodyPr/>
          <a:lstStyle/>
          <a:p>
            <a:endParaRPr lang="en-US"/>
          </a:p>
        </p:txBody>
      </p:sp>
      <p:sp>
        <p:nvSpPr>
          <p:cNvPr id="21" name="Text 18"/>
          <p:cNvSpPr/>
          <p:nvPr/>
        </p:nvSpPr>
        <p:spPr>
          <a:xfrm>
            <a:off x="6464808" y="3063240"/>
            <a:ext cx="5120640" cy="274320"/>
          </a:xfrm>
          <a:prstGeom prst="rect">
            <a:avLst/>
          </a:prstGeom>
          <a:noFill/>
          <a:ln/>
        </p:spPr>
        <p:txBody>
          <a:bodyPr wrap="square" lIns="0" tIns="0" rIns="0" bIns="0" rtlCol="0" anchor="ctr"/>
          <a:lstStyle/>
          <a:p>
            <a:pPr marL="0" indent="0">
              <a:buNone/>
            </a:pPr>
            <a:r>
              <a:rPr lang="en-US" sz="1100" b="1" kern="0" spc="100" dirty="0">
                <a:solidFill>
                  <a:srgbClr val="0F172A"/>
                </a:solidFill>
                <a:latin typeface="Calibri" pitchFamily="34" charset="0"/>
                <a:ea typeface="Calibri" pitchFamily="34" charset="-122"/>
                <a:cs typeface="Calibri" pitchFamily="34" charset="-120"/>
              </a:rPr>
              <a:t>RETAILERS — 3 to 4 of top 10</a:t>
            </a:r>
            <a:endParaRPr lang="en-US" sz="1100" spc="100" dirty="0"/>
          </a:p>
        </p:txBody>
      </p:sp>
      <p:sp>
        <p:nvSpPr>
          <p:cNvPr id="22" name="Text 19"/>
          <p:cNvSpPr/>
          <p:nvPr/>
        </p:nvSpPr>
        <p:spPr>
          <a:xfrm>
            <a:off x="6464808" y="3355848"/>
            <a:ext cx="5120640" cy="292608"/>
          </a:xfrm>
          <a:prstGeom prst="rect">
            <a:avLst/>
          </a:prstGeom>
          <a:noFill/>
          <a:ln/>
        </p:spPr>
        <p:txBody>
          <a:bodyPr wrap="square" lIns="0" tIns="0" rIns="0" bIns="0" rtlCol="0" anchor="ctr"/>
          <a:lstStyle/>
          <a:p>
            <a:pPr marL="0" indent="0">
              <a:buNone/>
            </a:pPr>
            <a:r>
              <a:rPr lang="en-US" sz="950" i="1" dirty="0">
                <a:solidFill>
                  <a:srgbClr val="64748B"/>
                </a:solidFill>
                <a:latin typeface="Calibri" pitchFamily="34" charset="0"/>
                <a:ea typeface="Calibri" pitchFamily="34" charset="-122"/>
                <a:cs typeface="Calibri" pitchFamily="34" charset="-120"/>
              </a:rPr>
              <a:t>POS rental + transaction fees + EMI + Qwikcilver gift programs</a:t>
            </a:r>
            <a:endParaRPr lang="en-US" sz="950" dirty="0"/>
          </a:p>
        </p:txBody>
      </p:sp>
      <p:sp>
        <p:nvSpPr>
          <p:cNvPr id="23" name="Text 20"/>
          <p:cNvSpPr/>
          <p:nvPr/>
        </p:nvSpPr>
        <p:spPr>
          <a:xfrm>
            <a:off x="6464808" y="3675888"/>
            <a:ext cx="5120640" cy="365760"/>
          </a:xfrm>
          <a:prstGeom prst="rect">
            <a:avLst/>
          </a:prstGeom>
          <a:noFill/>
          <a:ln/>
        </p:spPr>
        <p:txBody>
          <a:bodyPr wrap="square" lIns="0" tIns="0" rIns="0" bIns="0" rtlCol="0" anchor="ctr"/>
          <a:lstStyle/>
          <a:p>
            <a:pPr marL="0" indent="0">
              <a:buNone/>
            </a:pPr>
            <a:r>
              <a:rPr lang="en-US" sz="1000" dirty="0">
                <a:solidFill>
                  <a:srgbClr val="334155"/>
                </a:solidFill>
                <a:latin typeface="Calibri" pitchFamily="34" charset="0"/>
                <a:ea typeface="Calibri" pitchFamily="34" charset="-122"/>
                <a:cs typeface="Calibri" pitchFamily="34" charset="-120"/>
              </a:rPr>
              <a:t>Croma (Tata, 10+ yrs)  ·  Reliance Retail  ·  Trent / Shoppers Stop  ·  Apple ARs</a:t>
            </a:r>
            <a:endParaRPr lang="en-US" sz="1000" dirty="0"/>
          </a:p>
        </p:txBody>
      </p:sp>
      <p:sp>
        <p:nvSpPr>
          <p:cNvPr id="24" name="Shape 21"/>
          <p:cNvSpPr/>
          <p:nvPr/>
        </p:nvSpPr>
        <p:spPr>
          <a:xfrm>
            <a:off x="6263640" y="4197096"/>
            <a:ext cx="5486400" cy="1097280"/>
          </a:xfrm>
          <a:prstGeom prst="rect">
            <a:avLst/>
          </a:prstGeom>
          <a:solidFill>
            <a:srgbClr val="FFFFFF"/>
          </a:solidFill>
          <a:ln w="6350">
            <a:solidFill>
              <a:srgbClr val="E2E8F0"/>
            </a:solidFill>
            <a:prstDash val="solid"/>
          </a:ln>
        </p:spPr>
        <p:txBody>
          <a:bodyPr/>
          <a:lstStyle/>
          <a:p>
            <a:endParaRPr lang="en-US"/>
          </a:p>
        </p:txBody>
      </p:sp>
      <p:sp>
        <p:nvSpPr>
          <p:cNvPr id="25" name="Shape 22"/>
          <p:cNvSpPr/>
          <p:nvPr/>
        </p:nvSpPr>
        <p:spPr>
          <a:xfrm>
            <a:off x="6263640" y="4197096"/>
            <a:ext cx="73152" cy="1097280"/>
          </a:xfrm>
          <a:prstGeom prst="rect">
            <a:avLst/>
          </a:prstGeom>
          <a:solidFill>
            <a:srgbClr val="D97706"/>
          </a:solidFill>
          <a:ln/>
        </p:spPr>
        <p:txBody>
          <a:bodyPr/>
          <a:lstStyle/>
          <a:p>
            <a:endParaRPr lang="en-US"/>
          </a:p>
        </p:txBody>
      </p:sp>
      <p:sp>
        <p:nvSpPr>
          <p:cNvPr id="26" name="Text 23"/>
          <p:cNvSpPr/>
          <p:nvPr/>
        </p:nvSpPr>
        <p:spPr>
          <a:xfrm>
            <a:off x="6464808" y="4270248"/>
            <a:ext cx="5120640" cy="274320"/>
          </a:xfrm>
          <a:prstGeom prst="rect">
            <a:avLst/>
          </a:prstGeom>
          <a:noFill/>
          <a:ln/>
        </p:spPr>
        <p:txBody>
          <a:bodyPr wrap="square" lIns="0" tIns="0" rIns="0" bIns="0" rtlCol="0" anchor="ctr"/>
          <a:lstStyle/>
          <a:p>
            <a:pPr marL="0" indent="0">
              <a:buNone/>
            </a:pPr>
            <a:r>
              <a:rPr lang="en-US" sz="1100" b="1" kern="0" spc="100" dirty="0">
                <a:solidFill>
                  <a:srgbClr val="0F172A"/>
                </a:solidFill>
                <a:latin typeface="Calibri" pitchFamily="34" charset="0"/>
                <a:ea typeface="Calibri" pitchFamily="34" charset="-122"/>
                <a:cs typeface="Calibri" pitchFamily="34" charset="-120"/>
              </a:rPr>
              <a:t>CONSUMER BRANDS — 1 to 2 of top 10</a:t>
            </a:r>
            <a:endParaRPr lang="en-US" sz="1100" spc="100" dirty="0"/>
          </a:p>
        </p:txBody>
      </p:sp>
      <p:sp>
        <p:nvSpPr>
          <p:cNvPr id="27" name="Text 24"/>
          <p:cNvSpPr/>
          <p:nvPr/>
        </p:nvSpPr>
        <p:spPr>
          <a:xfrm>
            <a:off x="6464808" y="4562856"/>
            <a:ext cx="5120640" cy="292608"/>
          </a:xfrm>
          <a:prstGeom prst="rect">
            <a:avLst/>
          </a:prstGeom>
          <a:noFill/>
          <a:ln/>
        </p:spPr>
        <p:txBody>
          <a:bodyPr wrap="square" lIns="0" tIns="0" rIns="0" bIns="0" rtlCol="0" anchor="ctr"/>
          <a:lstStyle/>
          <a:p>
            <a:pPr marL="0" indent="0">
              <a:buNone/>
            </a:pPr>
            <a:r>
              <a:rPr lang="en-US" sz="950" i="1" dirty="0">
                <a:solidFill>
                  <a:srgbClr val="64748B"/>
                </a:solidFill>
                <a:latin typeface="Calibri" pitchFamily="34" charset="0"/>
                <a:ea typeface="Calibri" pitchFamily="34" charset="-122"/>
                <a:cs typeface="Calibri" pitchFamily="34" charset="-120"/>
              </a:rPr>
              <a:t>Corporate prepaid programs through Qwikcilver</a:t>
            </a:r>
            <a:endParaRPr lang="en-US" sz="950" dirty="0"/>
          </a:p>
        </p:txBody>
      </p:sp>
      <p:sp>
        <p:nvSpPr>
          <p:cNvPr id="28" name="Text 25"/>
          <p:cNvSpPr/>
          <p:nvPr/>
        </p:nvSpPr>
        <p:spPr>
          <a:xfrm>
            <a:off x="6464808" y="4882896"/>
            <a:ext cx="5120640" cy="365760"/>
          </a:xfrm>
          <a:prstGeom prst="rect">
            <a:avLst/>
          </a:prstGeom>
          <a:noFill/>
          <a:ln/>
        </p:spPr>
        <p:txBody>
          <a:bodyPr wrap="square" lIns="0" tIns="0" rIns="0" bIns="0" rtlCol="0" anchor="ctr"/>
          <a:lstStyle/>
          <a:p>
            <a:pPr marL="0" indent="0">
              <a:buNone/>
            </a:pPr>
            <a:r>
              <a:rPr lang="en-US" sz="1000" dirty="0">
                <a:solidFill>
                  <a:srgbClr val="334155"/>
                </a:solidFill>
                <a:latin typeface="Calibri" pitchFamily="34" charset="0"/>
                <a:ea typeface="Calibri" pitchFamily="34" charset="-122"/>
                <a:cs typeface="Calibri" pitchFamily="34" charset="-120"/>
              </a:rPr>
              <a:t>Amazon India  ·  Flipkart  ·  Tata Group prepaid programs</a:t>
            </a:r>
            <a:endParaRPr lang="en-US" sz="1000" dirty="0"/>
          </a:p>
        </p:txBody>
      </p:sp>
      <p:sp>
        <p:nvSpPr>
          <p:cNvPr id="29" name="Shape 26"/>
          <p:cNvSpPr/>
          <p:nvPr/>
        </p:nvSpPr>
        <p:spPr>
          <a:xfrm>
            <a:off x="457200" y="6172200"/>
            <a:ext cx="11247120" cy="292608"/>
          </a:xfrm>
          <a:prstGeom prst="rect">
            <a:avLst/>
          </a:prstGeom>
          <a:solidFill>
            <a:srgbClr val="F8FAFC"/>
          </a:solidFill>
          <a:ln w="6350">
            <a:solidFill>
              <a:srgbClr val="E2E8F0"/>
            </a:solidFill>
            <a:prstDash val="solid"/>
          </a:ln>
        </p:spPr>
        <p:txBody>
          <a:bodyPr/>
          <a:lstStyle/>
          <a:p>
            <a:endParaRPr lang="en-US"/>
          </a:p>
        </p:txBody>
      </p:sp>
      <p:sp>
        <p:nvSpPr>
          <p:cNvPr id="30" name="Shape 27"/>
          <p:cNvSpPr/>
          <p:nvPr/>
        </p:nvSpPr>
        <p:spPr>
          <a:xfrm>
            <a:off x="457200" y="6172200"/>
            <a:ext cx="73152" cy="292608"/>
          </a:xfrm>
          <a:prstGeom prst="rect">
            <a:avLst/>
          </a:prstGeom>
          <a:solidFill>
            <a:srgbClr val="16A34A"/>
          </a:solidFill>
          <a:ln/>
        </p:spPr>
        <p:txBody>
          <a:bodyPr/>
          <a:lstStyle/>
          <a:p>
            <a:endParaRPr lang="en-US"/>
          </a:p>
        </p:txBody>
      </p:sp>
      <p:sp>
        <p:nvSpPr>
          <p:cNvPr id="31" name="Text 28"/>
          <p:cNvSpPr/>
          <p:nvPr/>
        </p:nvSpPr>
        <p:spPr>
          <a:xfrm>
            <a:off x="685800" y="6172200"/>
            <a:ext cx="10972800" cy="292608"/>
          </a:xfrm>
          <a:prstGeom prst="rect">
            <a:avLst/>
          </a:prstGeom>
          <a:noFill/>
          <a:ln/>
        </p:spPr>
        <p:txBody>
          <a:bodyPr wrap="square" lIns="0" tIns="0" rIns="0" bIns="0" rtlCol="0" anchor="ctr"/>
          <a:lstStyle/>
          <a:p>
            <a:pPr marL="0" indent="0">
              <a:buNone/>
            </a:pPr>
            <a:r>
              <a:rPr lang="en-US" sz="1050" i="1" dirty="0">
                <a:solidFill>
                  <a:srgbClr val="0F172A"/>
                </a:solidFill>
                <a:latin typeface="Calibri" pitchFamily="34" charset="0"/>
                <a:ea typeface="Calibri" pitchFamily="34" charset="-122"/>
                <a:cs typeface="Calibri" pitchFamily="34" charset="-120"/>
              </a:rPr>
              <a:t>Lowest-CAC, highest-LTV expansion is selling new VAS into these existing 10 accounts — both target deals are designed around this overlap.</a:t>
            </a:r>
            <a:endParaRPr lang="en-US" sz="1050" dirty="0"/>
          </a:p>
        </p:txBody>
      </p:sp>
      <p:pic>
        <p:nvPicPr>
          <p:cNvPr id="32" name="Picture 2" descr="Pine Labs Launches Paper POS, a Merged QR Product to Accept Payments via  UPI and Bharat QR Apps">
            <a:extLst>
              <a:ext uri="{FF2B5EF4-FFF2-40B4-BE49-F238E27FC236}">
                <a16:creationId xmlns:a16="http://schemas.microsoft.com/office/drawing/2014/main" id="{CC4A7EF2-123F-5C3D-826C-76247398BFFE}"/>
              </a:ext>
            </a:extLst>
          </p:cNvPr>
          <p:cNvPicPr>
            <a:picLocks noChangeAspect="1" noChangeArrowheads="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1177016" y="-102584"/>
            <a:ext cx="1115568" cy="58451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16A34A"/>
          </a:solidFill>
          <a:ln/>
        </p:spPr>
        <p:txBody>
          <a:bodyPr/>
          <a:lstStyle/>
          <a:p>
            <a:endParaRPr lang="en-US"/>
          </a:p>
        </p:txBody>
      </p:sp>
      <p:sp>
        <p:nvSpPr>
          <p:cNvPr id="3" name="Text 1"/>
          <p:cNvSpPr/>
          <p:nvPr/>
        </p:nvSpPr>
        <p:spPr>
          <a:xfrm>
            <a:off x="457200" y="201168"/>
            <a:ext cx="10058400" cy="256032"/>
          </a:xfrm>
          <a:prstGeom prst="rect">
            <a:avLst/>
          </a:prstGeom>
          <a:noFill/>
          <a:ln/>
        </p:spPr>
        <p:txBody>
          <a:bodyPr wrap="square" lIns="0" tIns="0" rIns="0" bIns="0" rtlCol="0" anchor="ctr"/>
          <a:lstStyle/>
          <a:p>
            <a:pPr marL="0" indent="0">
              <a:buNone/>
            </a:pPr>
            <a:r>
              <a:rPr lang="en-US" sz="900" b="1" kern="0" spc="100" dirty="0">
                <a:solidFill>
                  <a:srgbClr val="16A34A"/>
                </a:solidFill>
                <a:latin typeface="Calibri" pitchFamily="34" charset="0"/>
                <a:ea typeface="Calibri" pitchFamily="34" charset="-122"/>
                <a:cs typeface="Calibri" pitchFamily="34" charset="-120"/>
              </a:rPr>
              <a:t>STRATEGIC FRAME</a:t>
            </a:r>
            <a:endParaRPr lang="en-US" sz="900" spc="100" dirty="0"/>
          </a:p>
        </p:txBody>
      </p:sp>
      <p:sp>
        <p:nvSpPr>
          <p:cNvPr id="4" name="Text 2"/>
          <p:cNvSpPr/>
          <p:nvPr/>
        </p:nvSpPr>
        <p:spPr>
          <a:xfrm>
            <a:off x="457200" y="457200"/>
            <a:ext cx="11247120" cy="731520"/>
          </a:xfrm>
          <a:prstGeom prst="rect">
            <a:avLst/>
          </a:prstGeom>
          <a:noFill/>
          <a:ln/>
        </p:spPr>
        <p:txBody>
          <a:bodyPr wrap="square" lIns="0" tIns="0" rIns="0" bIns="0" rtlCol="0" anchor="ctr"/>
          <a:lstStyle/>
          <a:p>
            <a:pPr marL="0" indent="0">
              <a:buNone/>
            </a:pPr>
            <a:r>
              <a:rPr lang="en-US" sz="2200" b="1" dirty="0">
                <a:solidFill>
                  <a:srgbClr val="0F172A"/>
                </a:solidFill>
                <a:latin typeface="Calibri" pitchFamily="34" charset="0"/>
                <a:ea typeface="Calibri" pitchFamily="34" charset="-122"/>
                <a:cs typeface="Calibri" pitchFamily="34" charset="-120"/>
              </a:rPr>
              <a:t>The cleanest growth lever: new VAS products into existing top-10 accounts</a:t>
            </a:r>
            <a:endParaRPr lang="en-US" sz="2200" dirty="0"/>
          </a:p>
        </p:txBody>
      </p:sp>
      <p:sp>
        <p:nvSpPr>
          <p:cNvPr id="5" name="Shape 3"/>
          <p:cNvSpPr/>
          <p:nvPr/>
        </p:nvSpPr>
        <p:spPr>
          <a:xfrm>
            <a:off x="457200" y="1188720"/>
            <a:ext cx="11247120" cy="13716"/>
          </a:xfrm>
          <a:prstGeom prst="rect">
            <a:avLst/>
          </a:prstGeom>
          <a:solidFill>
            <a:srgbClr val="E2E8F0"/>
          </a:solidFill>
          <a:ln/>
        </p:spPr>
        <p:txBody>
          <a:bodyPr/>
          <a:lstStyle/>
          <a:p>
            <a:endParaRPr lang="en-US"/>
          </a:p>
        </p:txBody>
      </p:sp>
      <p:sp>
        <p:nvSpPr>
          <p:cNvPr id="6" name="Text 4"/>
          <p:cNvSpPr/>
          <p:nvPr/>
        </p:nvSpPr>
        <p:spPr>
          <a:xfrm>
            <a:off x="457200" y="6492240"/>
            <a:ext cx="6400800" cy="256032"/>
          </a:xfrm>
          <a:prstGeom prst="rect">
            <a:avLst/>
          </a:prstGeom>
          <a:noFill/>
          <a:ln/>
        </p:spPr>
        <p:txBody>
          <a:bodyPr wrap="square" lIns="0" tIns="0" rIns="0" bIns="0" rtlCol="0" anchor="ctr"/>
          <a:lstStyle/>
          <a:p>
            <a:pPr marL="0" indent="0">
              <a:buNone/>
            </a:pPr>
            <a:r>
              <a:rPr lang="en-US" sz="900" i="1" dirty="0">
                <a:solidFill>
                  <a:srgbClr val="64748B"/>
                </a:solidFill>
                <a:latin typeface="Calibri" pitchFamily="34" charset="0"/>
                <a:ea typeface="Calibri" pitchFamily="34" charset="-122"/>
                <a:cs typeface="Calibri" pitchFamily="34" charset="-120"/>
              </a:rPr>
              <a:t>Pine Labs — Corporate Development</a:t>
            </a:r>
            <a:endParaRPr lang="en-US" sz="900" dirty="0"/>
          </a:p>
        </p:txBody>
      </p:sp>
      <p:sp>
        <p:nvSpPr>
          <p:cNvPr id="7" name="Text 5"/>
          <p:cNvSpPr/>
          <p:nvPr/>
        </p:nvSpPr>
        <p:spPr>
          <a:xfrm>
            <a:off x="6858000" y="6492240"/>
            <a:ext cx="2743200" cy="256032"/>
          </a:xfrm>
          <a:prstGeom prst="rect">
            <a:avLst/>
          </a:prstGeom>
          <a:noFill/>
          <a:ln/>
        </p:spPr>
        <p:txBody>
          <a:bodyPr wrap="square" lIns="0" tIns="0" rIns="0" bIns="0" rtlCol="0" anchor="ctr"/>
          <a:lstStyle/>
          <a:p>
            <a:pPr marL="0" indent="0" algn="ctr">
              <a:buNone/>
            </a:pPr>
            <a:r>
              <a:rPr lang="en-US" sz="900" i="1" dirty="0">
                <a:solidFill>
                  <a:srgbClr val="64748B"/>
                </a:solidFill>
                <a:latin typeface="Calibri" pitchFamily="34" charset="0"/>
                <a:ea typeface="Calibri" pitchFamily="34" charset="-122"/>
                <a:cs typeface="Calibri" pitchFamily="34" charset="-120"/>
              </a:rPr>
              <a:t>Strictly Confidential</a:t>
            </a:r>
            <a:endParaRPr lang="en-US" sz="900" dirty="0"/>
          </a:p>
        </p:txBody>
      </p:sp>
      <p:sp>
        <p:nvSpPr>
          <p:cNvPr id="8" name="Text 6"/>
          <p:cNvSpPr/>
          <p:nvPr/>
        </p:nvSpPr>
        <p:spPr>
          <a:xfrm>
            <a:off x="10515600" y="6492240"/>
            <a:ext cx="1188720" cy="256032"/>
          </a:xfrm>
          <a:prstGeom prst="rect">
            <a:avLst/>
          </a:prstGeom>
          <a:noFill/>
          <a:ln/>
        </p:spPr>
        <p:txBody>
          <a:bodyPr wrap="square" lIns="0" tIns="0" rIns="0" bIns="0" rtlCol="0" anchor="ctr"/>
          <a:lstStyle/>
          <a:p>
            <a:pPr marL="0" indent="0" algn="r">
              <a:buNone/>
            </a:pPr>
            <a:r>
              <a:rPr lang="en-US" sz="900" b="1" dirty="0">
                <a:solidFill>
                  <a:srgbClr val="64748B"/>
                </a:solidFill>
                <a:latin typeface="Calibri" pitchFamily="34" charset="0"/>
                <a:ea typeface="Calibri" pitchFamily="34" charset="-122"/>
                <a:cs typeface="Calibri" pitchFamily="34" charset="-120"/>
              </a:rPr>
              <a:t>7</a:t>
            </a:r>
            <a:endParaRPr lang="en-US" sz="900" dirty="0"/>
          </a:p>
        </p:txBody>
      </p:sp>
      <p:sp>
        <p:nvSpPr>
          <p:cNvPr id="9" name="Text 7"/>
          <p:cNvSpPr/>
          <p:nvPr/>
        </p:nvSpPr>
        <p:spPr>
          <a:xfrm>
            <a:off x="502920" y="1554480"/>
            <a:ext cx="868680" cy="365760"/>
          </a:xfrm>
          <a:prstGeom prst="rect">
            <a:avLst/>
          </a:prstGeom>
          <a:noFill/>
          <a:ln/>
        </p:spPr>
        <p:txBody>
          <a:bodyPr wrap="square" lIns="0" tIns="0" rIns="0" bIns="0" rtlCol="0" anchor="ctr"/>
          <a:lstStyle/>
          <a:p>
            <a:pPr marL="0" indent="0" algn="r">
              <a:buNone/>
            </a:pPr>
            <a:r>
              <a:rPr lang="en-US" sz="1100" b="1" dirty="0">
                <a:solidFill>
                  <a:srgbClr val="0F172A"/>
                </a:solidFill>
                <a:latin typeface="Calibri" pitchFamily="34" charset="0"/>
                <a:ea typeface="Calibri" pitchFamily="34" charset="-122"/>
                <a:cs typeface="Calibri" pitchFamily="34" charset="-120"/>
              </a:rPr>
              <a:t>New</a:t>
            </a:r>
            <a:endParaRPr lang="en-US" sz="1100" dirty="0"/>
          </a:p>
        </p:txBody>
      </p:sp>
      <p:sp>
        <p:nvSpPr>
          <p:cNvPr id="10" name="Text 8"/>
          <p:cNvSpPr/>
          <p:nvPr/>
        </p:nvSpPr>
        <p:spPr>
          <a:xfrm>
            <a:off x="502920" y="5486400"/>
            <a:ext cx="868680" cy="365760"/>
          </a:xfrm>
          <a:prstGeom prst="rect">
            <a:avLst/>
          </a:prstGeom>
          <a:noFill/>
          <a:ln/>
        </p:spPr>
        <p:txBody>
          <a:bodyPr wrap="square" lIns="0" tIns="0" rIns="0" bIns="0" rtlCol="0" anchor="ctr"/>
          <a:lstStyle/>
          <a:p>
            <a:pPr marL="0" indent="0" algn="r">
              <a:buNone/>
            </a:pPr>
            <a:r>
              <a:rPr lang="en-US" sz="1100" b="1" dirty="0">
                <a:solidFill>
                  <a:srgbClr val="0F172A"/>
                </a:solidFill>
                <a:latin typeface="Calibri" pitchFamily="34" charset="0"/>
                <a:ea typeface="Calibri" pitchFamily="34" charset="-122"/>
                <a:cs typeface="Calibri" pitchFamily="34" charset="-120"/>
              </a:rPr>
              <a:t>Existing</a:t>
            </a:r>
            <a:endParaRPr lang="en-US" sz="1100" dirty="0"/>
          </a:p>
        </p:txBody>
      </p:sp>
      <p:sp>
        <p:nvSpPr>
          <p:cNvPr id="11" name="Text 9"/>
          <p:cNvSpPr/>
          <p:nvPr/>
        </p:nvSpPr>
        <p:spPr>
          <a:xfrm>
            <a:off x="45720" y="2788920"/>
            <a:ext cx="365760" cy="1828800"/>
          </a:xfrm>
          <a:prstGeom prst="rect">
            <a:avLst/>
          </a:prstGeom>
          <a:noFill/>
          <a:ln/>
        </p:spPr>
        <p:txBody>
          <a:bodyPr wrap="square" lIns="0" tIns="0" rIns="0" bIns="0" rtlCol="0" anchor="ctr"/>
          <a:lstStyle/>
          <a:p>
            <a:pPr marL="0" indent="0" algn="ctr">
              <a:buNone/>
            </a:pPr>
            <a:r>
              <a:rPr lang="en-US" sz="900" b="1" kern="0" spc="300" dirty="0">
                <a:solidFill>
                  <a:srgbClr val="64748B"/>
                </a:solidFill>
                <a:latin typeface="Calibri" pitchFamily="34" charset="0"/>
                <a:ea typeface="Calibri" pitchFamily="34" charset="-122"/>
                <a:cs typeface="Calibri" pitchFamily="34" charset="-120"/>
              </a:rPr>
              <a:t>P</a:t>
            </a:r>
            <a:endParaRPr lang="en-US" sz="900" dirty="0"/>
          </a:p>
          <a:p>
            <a:pPr marL="0" indent="0" algn="ctr">
              <a:buNone/>
            </a:pPr>
            <a:r>
              <a:rPr lang="en-US" sz="900" b="1" kern="0" spc="300" dirty="0">
                <a:solidFill>
                  <a:srgbClr val="64748B"/>
                </a:solidFill>
                <a:latin typeface="Calibri" pitchFamily="34" charset="0"/>
                <a:ea typeface="Calibri" pitchFamily="34" charset="-122"/>
                <a:cs typeface="Calibri" pitchFamily="34" charset="-120"/>
              </a:rPr>
              <a:t>R</a:t>
            </a:r>
            <a:endParaRPr lang="en-US" sz="900" dirty="0"/>
          </a:p>
          <a:p>
            <a:pPr marL="0" indent="0" algn="ctr">
              <a:buNone/>
            </a:pPr>
            <a:r>
              <a:rPr lang="en-US" sz="900" b="1" kern="0" spc="300" dirty="0">
                <a:solidFill>
                  <a:srgbClr val="64748B"/>
                </a:solidFill>
                <a:latin typeface="Calibri" pitchFamily="34" charset="0"/>
                <a:ea typeface="Calibri" pitchFamily="34" charset="-122"/>
                <a:cs typeface="Calibri" pitchFamily="34" charset="-120"/>
              </a:rPr>
              <a:t>O</a:t>
            </a:r>
            <a:endParaRPr lang="en-US" sz="900" dirty="0"/>
          </a:p>
          <a:p>
            <a:pPr marL="0" indent="0" algn="ctr">
              <a:buNone/>
            </a:pPr>
            <a:r>
              <a:rPr lang="en-US" sz="900" b="1" kern="0" spc="300" dirty="0">
                <a:solidFill>
                  <a:srgbClr val="64748B"/>
                </a:solidFill>
                <a:latin typeface="Calibri" pitchFamily="34" charset="0"/>
                <a:ea typeface="Calibri" pitchFamily="34" charset="-122"/>
                <a:cs typeface="Calibri" pitchFamily="34" charset="-120"/>
              </a:rPr>
              <a:t>D</a:t>
            </a:r>
            <a:endParaRPr lang="en-US" sz="900" dirty="0"/>
          </a:p>
          <a:p>
            <a:pPr marL="0" indent="0" algn="ctr">
              <a:buNone/>
            </a:pPr>
            <a:r>
              <a:rPr lang="en-US" sz="900" b="1" kern="0" spc="300" dirty="0">
                <a:solidFill>
                  <a:srgbClr val="64748B"/>
                </a:solidFill>
                <a:latin typeface="Calibri" pitchFamily="34" charset="0"/>
                <a:ea typeface="Calibri" pitchFamily="34" charset="-122"/>
                <a:cs typeface="Calibri" pitchFamily="34" charset="-120"/>
              </a:rPr>
              <a:t>U</a:t>
            </a:r>
            <a:endParaRPr lang="en-US" sz="900" dirty="0"/>
          </a:p>
          <a:p>
            <a:pPr marL="0" indent="0" algn="ctr">
              <a:buNone/>
            </a:pPr>
            <a:r>
              <a:rPr lang="en-US" sz="900" b="1" kern="0" spc="300" dirty="0">
                <a:solidFill>
                  <a:srgbClr val="64748B"/>
                </a:solidFill>
                <a:latin typeface="Calibri" pitchFamily="34" charset="0"/>
                <a:ea typeface="Calibri" pitchFamily="34" charset="-122"/>
                <a:cs typeface="Calibri" pitchFamily="34" charset="-120"/>
              </a:rPr>
              <a:t>C</a:t>
            </a:r>
            <a:endParaRPr lang="en-US" sz="900" dirty="0"/>
          </a:p>
          <a:p>
            <a:pPr marL="0" indent="0" algn="ctr">
              <a:buNone/>
            </a:pPr>
            <a:r>
              <a:rPr lang="en-US" sz="900" b="1" kern="0" spc="300" dirty="0">
                <a:solidFill>
                  <a:srgbClr val="64748B"/>
                </a:solidFill>
                <a:latin typeface="Calibri" pitchFamily="34" charset="0"/>
                <a:ea typeface="Calibri" pitchFamily="34" charset="-122"/>
                <a:cs typeface="Calibri" pitchFamily="34" charset="-120"/>
              </a:rPr>
              <a:t>T</a:t>
            </a:r>
            <a:endParaRPr lang="en-US" sz="900" dirty="0"/>
          </a:p>
        </p:txBody>
      </p:sp>
      <p:sp>
        <p:nvSpPr>
          <p:cNvPr id="12" name="Text 10"/>
          <p:cNvSpPr/>
          <p:nvPr/>
        </p:nvSpPr>
        <p:spPr>
          <a:xfrm>
            <a:off x="1463040" y="5897880"/>
            <a:ext cx="3108960" cy="274320"/>
          </a:xfrm>
          <a:prstGeom prst="rect">
            <a:avLst/>
          </a:prstGeom>
          <a:noFill/>
          <a:ln/>
        </p:spPr>
        <p:txBody>
          <a:bodyPr wrap="square" lIns="0" tIns="0" rIns="0" bIns="0" rtlCol="0" anchor="ctr"/>
          <a:lstStyle/>
          <a:p>
            <a:pPr marL="0" indent="0" algn="ctr">
              <a:buNone/>
            </a:pPr>
            <a:r>
              <a:rPr lang="en-US" sz="1100" b="1" dirty="0">
                <a:solidFill>
                  <a:srgbClr val="0F172A"/>
                </a:solidFill>
                <a:latin typeface="Calibri" pitchFamily="34" charset="0"/>
                <a:ea typeface="Calibri" pitchFamily="34" charset="-122"/>
                <a:cs typeface="Calibri" pitchFamily="34" charset="-120"/>
              </a:rPr>
              <a:t>Existing</a:t>
            </a:r>
            <a:endParaRPr lang="en-US" sz="1100" dirty="0"/>
          </a:p>
        </p:txBody>
      </p:sp>
      <p:sp>
        <p:nvSpPr>
          <p:cNvPr id="13" name="Text 11"/>
          <p:cNvSpPr/>
          <p:nvPr/>
        </p:nvSpPr>
        <p:spPr>
          <a:xfrm>
            <a:off x="4572000" y="5897880"/>
            <a:ext cx="3108960" cy="274320"/>
          </a:xfrm>
          <a:prstGeom prst="rect">
            <a:avLst/>
          </a:prstGeom>
          <a:noFill/>
          <a:ln/>
        </p:spPr>
        <p:txBody>
          <a:bodyPr wrap="square" lIns="0" tIns="0" rIns="0" bIns="0" rtlCol="0" anchor="ctr"/>
          <a:lstStyle/>
          <a:p>
            <a:pPr marL="0" indent="0" algn="ctr">
              <a:buNone/>
            </a:pPr>
            <a:r>
              <a:rPr lang="en-US" sz="1100" b="1" dirty="0">
                <a:solidFill>
                  <a:srgbClr val="0F172A"/>
                </a:solidFill>
                <a:latin typeface="Calibri" pitchFamily="34" charset="0"/>
                <a:ea typeface="Calibri" pitchFamily="34" charset="-122"/>
                <a:cs typeface="Calibri" pitchFamily="34" charset="-120"/>
              </a:rPr>
              <a:t>New</a:t>
            </a:r>
            <a:endParaRPr lang="en-US" sz="1100" dirty="0"/>
          </a:p>
        </p:txBody>
      </p:sp>
      <p:sp>
        <p:nvSpPr>
          <p:cNvPr id="14" name="Text 12"/>
          <p:cNvSpPr/>
          <p:nvPr/>
        </p:nvSpPr>
        <p:spPr>
          <a:xfrm>
            <a:off x="1463040" y="6217920"/>
            <a:ext cx="6217920" cy="274320"/>
          </a:xfrm>
          <a:prstGeom prst="rect">
            <a:avLst/>
          </a:prstGeom>
          <a:noFill/>
          <a:ln/>
        </p:spPr>
        <p:txBody>
          <a:bodyPr wrap="square" lIns="0" tIns="0" rIns="0" bIns="0" rtlCol="0" anchor="ctr"/>
          <a:lstStyle/>
          <a:p>
            <a:pPr marL="0" indent="0" algn="ctr">
              <a:buNone/>
            </a:pPr>
            <a:r>
              <a:rPr lang="en-US" sz="900" b="1" kern="0" spc="400" dirty="0">
                <a:solidFill>
                  <a:srgbClr val="64748B"/>
                </a:solidFill>
                <a:latin typeface="Calibri" pitchFamily="34" charset="0"/>
                <a:ea typeface="Calibri" pitchFamily="34" charset="-122"/>
                <a:cs typeface="Calibri" pitchFamily="34" charset="-120"/>
              </a:rPr>
              <a:t>CUSTOMER</a:t>
            </a:r>
            <a:endParaRPr lang="en-US" sz="900" dirty="0"/>
          </a:p>
        </p:txBody>
      </p:sp>
      <p:sp>
        <p:nvSpPr>
          <p:cNvPr id="15" name="Shape 13"/>
          <p:cNvSpPr/>
          <p:nvPr/>
        </p:nvSpPr>
        <p:spPr>
          <a:xfrm>
            <a:off x="1463040" y="3703320"/>
            <a:ext cx="3108960" cy="2148840"/>
          </a:xfrm>
          <a:prstGeom prst="rect">
            <a:avLst/>
          </a:prstGeom>
          <a:solidFill>
            <a:srgbClr val="F8FAFC"/>
          </a:solidFill>
          <a:ln w="6350">
            <a:solidFill>
              <a:srgbClr val="E2E8F0"/>
            </a:solidFill>
            <a:prstDash val="solid"/>
          </a:ln>
        </p:spPr>
        <p:txBody>
          <a:bodyPr/>
          <a:lstStyle/>
          <a:p>
            <a:endParaRPr lang="en-US"/>
          </a:p>
        </p:txBody>
      </p:sp>
      <p:sp>
        <p:nvSpPr>
          <p:cNvPr id="16" name="Text 14"/>
          <p:cNvSpPr/>
          <p:nvPr/>
        </p:nvSpPr>
        <p:spPr>
          <a:xfrm>
            <a:off x="1600200" y="3840480"/>
            <a:ext cx="2834640" cy="274320"/>
          </a:xfrm>
          <a:prstGeom prst="rect">
            <a:avLst/>
          </a:prstGeom>
          <a:noFill/>
          <a:ln/>
        </p:spPr>
        <p:txBody>
          <a:bodyPr wrap="square" lIns="0" tIns="0" rIns="0" bIns="0" rtlCol="0" anchor="ctr"/>
          <a:lstStyle/>
          <a:p>
            <a:pPr marL="0" indent="0">
              <a:buNone/>
            </a:pPr>
            <a:r>
              <a:rPr lang="en-US" sz="1000" b="1" kern="0" spc="100" dirty="0">
                <a:solidFill>
                  <a:srgbClr val="334155"/>
                </a:solidFill>
                <a:latin typeface="Calibri" pitchFamily="34" charset="0"/>
                <a:ea typeface="Calibri" pitchFamily="34" charset="-122"/>
                <a:cs typeface="Calibri" pitchFamily="34" charset="-120"/>
              </a:rPr>
              <a:t>PENETRATE</a:t>
            </a:r>
            <a:endParaRPr lang="en-US" sz="1000" spc="100" dirty="0"/>
          </a:p>
        </p:txBody>
      </p:sp>
      <p:sp>
        <p:nvSpPr>
          <p:cNvPr id="17" name="Text 15"/>
          <p:cNvSpPr/>
          <p:nvPr/>
        </p:nvSpPr>
        <p:spPr>
          <a:xfrm>
            <a:off x="1600200" y="4160520"/>
            <a:ext cx="2834640" cy="548640"/>
          </a:xfrm>
          <a:prstGeom prst="rect">
            <a:avLst/>
          </a:prstGeom>
          <a:noFill/>
          <a:ln/>
        </p:spPr>
        <p:txBody>
          <a:bodyPr wrap="square" lIns="0" tIns="0" rIns="0" bIns="0" rtlCol="0" anchor="ctr"/>
          <a:lstStyle/>
          <a:p>
            <a:pPr marL="0" indent="0">
              <a:buNone/>
            </a:pPr>
            <a:r>
              <a:rPr lang="en-US" sz="1000" dirty="0">
                <a:solidFill>
                  <a:srgbClr val="334155"/>
                </a:solidFill>
                <a:latin typeface="Calibri" pitchFamily="34" charset="0"/>
                <a:ea typeface="Calibri" pitchFamily="34" charset="-122"/>
                <a:cs typeface="Calibri" pitchFamily="34" charset="-120"/>
              </a:rPr>
              <a:t>Sell more of today's payments to same customers</a:t>
            </a:r>
            <a:endParaRPr lang="en-US" sz="1000" dirty="0"/>
          </a:p>
        </p:txBody>
      </p:sp>
      <p:sp>
        <p:nvSpPr>
          <p:cNvPr id="18" name="Text 16"/>
          <p:cNvSpPr/>
          <p:nvPr/>
        </p:nvSpPr>
        <p:spPr>
          <a:xfrm>
            <a:off x="1600200" y="4800600"/>
            <a:ext cx="2834640" cy="548640"/>
          </a:xfrm>
          <a:prstGeom prst="rect">
            <a:avLst/>
          </a:prstGeom>
          <a:noFill/>
          <a:ln/>
        </p:spPr>
        <p:txBody>
          <a:bodyPr wrap="square" lIns="0" tIns="0" rIns="0" bIns="0" rtlCol="0" anchor="ctr"/>
          <a:lstStyle/>
          <a:p>
            <a:pPr marL="0" indent="0">
              <a:buNone/>
            </a:pPr>
            <a:r>
              <a:rPr lang="en-US" sz="900" i="1" dirty="0">
                <a:solidFill>
                  <a:srgbClr val="DC2626"/>
                </a:solidFill>
                <a:latin typeface="Calibri" pitchFamily="34" charset="0"/>
                <a:ea typeface="Calibri" pitchFamily="34" charset="-122"/>
                <a:cs typeface="Calibri" pitchFamily="34" charset="-120"/>
              </a:rPr>
              <a:t>Already 75-85% saturated; UPI compresses upside</a:t>
            </a:r>
            <a:endParaRPr lang="en-US" sz="900" dirty="0"/>
          </a:p>
        </p:txBody>
      </p:sp>
      <p:sp>
        <p:nvSpPr>
          <p:cNvPr id="19" name="Shape 17"/>
          <p:cNvSpPr/>
          <p:nvPr/>
        </p:nvSpPr>
        <p:spPr>
          <a:xfrm>
            <a:off x="4572000" y="3703320"/>
            <a:ext cx="3108960" cy="2148840"/>
          </a:xfrm>
          <a:prstGeom prst="rect">
            <a:avLst/>
          </a:prstGeom>
          <a:solidFill>
            <a:srgbClr val="F8FAFC"/>
          </a:solidFill>
          <a:ln w="6350">
            <a:solidFill>
              <a:srgbClr val="E2E8F0"/>
            </a:solidFill>
            <a:prstDash val="solid"/>
          </a:ln>
        </p:spPr>
        <p:txBody>
          <a:bodyPr/>
          <a:lstStyle/>
          <a:p>
            <a:endParaRPr lang="en-US"/>
          </a:p>
        </p:txBody>
      </p:sp>
      <p:sp>
        <p:nvSpPr>
          <p:cNvPr id="20" name="Text 18"/>
          <p:cNvSpPr/>
          <p:nvPr/>
        </p:nvSpPr>
        <p:spPr>
          <a:xfrm>
            <a:off x="4709160" y="3840480"/>
            <a:ext cx="2834640" cy="274320"/>
          </a:xfrm>
          <a:prstGeom prst="rect">
            <a:avLst/>
          </a:prstGeom>
          <a:noFill/>
          <a:ln/>
        </p:spPr>
        <p:txBody>
          <a:bodyPr wrap="square" lIns="0" tIns="0" rIns="0" bIns="0" rtlCol="0" anchor="ctr"/>
          <a:lstStyle/>
          <a:p>
            <a:pPr marL="0" indent="0">
              <a:buNone/>
            </a:pPr>
            <a:r>
              <a:rPr lang="en-US" sz="1000" b="1" kern="0" spc="100" dirty="0">
                <a:solidFill>
                  <a:srgbClr val="334155"/>
                </a:solidFill>
                <a:latin typeface="Calibri" pitchFamily="34" charset="0"/>
                <a:ea typeface="Calibri" pitchFamily="34" charset="-122"/>
                <a:cs typeface="Calibri" pitchFamily="34" charset="-120"/>
              </a:rPr>
              <a:t>ACQUIRE</a:t>
            </a:r>
            <a:endParaRPr lang="en-US" sz="1000" spc="100" dirty="0"/>
          </a:p>
        </p:txBody>
      </p:sp>
      <p:sp>
        <p:nvSpPr>
          <p:cNvPr id="21" name="Text 19"/>
          <p:cNvSpPr/>
          <p:nvPr/>
        </p:nvSpPr>
        <p:spPr>
          <a:xfrm>
            <a:off x="4709160" y="4160520"/>
            <a:ext cx="2834640" cy="548640"/>
          </a:xfrm>
          <a:prstGeom prst="rect">
            <a:avLst/>
          </a:prstGeom>
          <a:noFill/>
          <a:ln/>
        </p:spPr>
        <p:txBody>
          <a:bodyPr wrap="square" lIns="0" tIns="0" rIns="0" bIns="0" rtlCol="0" anchor="ctr"/>
          <a:lstStyle/>
          <a:p>
            <a:pPr marL="0" indent="0">
              <a:buNone/>
            </a:pPr>
            <a:r>
              <a:rPr lang="en-US" sz="1000" dirty="0">
                <a:solidFill>
                  <a:srgbClr val="334155"/>
                </a:solidFill>
                <a:latin typeface="Calibri" pitchFamily="34" charset="0"/>
                <a:ea typeface="Calibri" pitchFamily="34" charset="-122"/>
                <a:cs typeface="Calibri" pitchFamily="34" charset="-120"/>
              </a:rPr>
              <a:t>Add new merchants on existing terminals/products</a:t>
            </a:r>
            <a:endParaRPr lang="en-US" sz="1000" dirty="0"/>
          </a:p>
        </p:txBody>
      </p:sp>
      <p:sp>
        <p:nvSpPr>
          <p:cNvPr id="22" name="Text 20"/>
          <p:cNvSpPr/>
          <p:nvPr/>
        </p:nvSpPr>
        <p:spPr>
          <a:xfrm>
            <a:off x="4709160" y="4800600"/>
            <a:ext cx="2834640" cy="548640"/>
          </a:xfrm>
          <a:prstGeom prst="rect">
            <a:avLst/>
          </a:prstGeom>
          <a:noFill/>
          <a:ln/>
        </p:spPr>
        <p:txBody>
          <a:bodyPr wrap="square" lIns="0" tIns="0" rIns="0" bIns="0" rtlCol="0" anchor="ctr"/>
          <a:lstStyle/>
          <a:p>
            <a:pPr marL="0" indent="0">
              <a:buNone/>
            </a:pPr>
            <a:r>
              <a:rPr lang="en-US" sz="900" i="1" dirty="0">
                <a:solidFill>
                  <a:srgbClr val="DC2626"/>
                </a:solidFill>
                <a:latin typeface="Calibri" pitchFamily="34" charset="0"/>
                <a:ea typeface="Calibri" pitchFamily="34" charset="-122"/>
                <a:cs typeface="Calibri" pitchFamily="34" charset="-120"/>
              </a:rPr>
              <a:t>CAC-heavy; Razorpay/M2P/Cashfree compete on price</a:t>
            </a:r>
            <a:endParaRPr lang="en-US" sz="900" dirty="0"/>
          </a:p>
        </p:txBody>
      </p:sp>
      <p:sp>
        <p:nvSpPr>
          <p:cNvPr id="23" name="Shape 21"/>
          <p:cNvSpPr/>
          <p:nvPr/>
        </p:nvSpPr>
        <p:spPr>
          <a:xfrm>
            <a:off x="1463040" y="1554480"/>
            <a:ext cx="3108960" cy="2148840"/>
          </a:xfrm>
          <a:prstGeom prst="rect">
            <a:avLst/>
          </a:prstGeom>
          <a:solidFill>
            <a:srgbClr val="16A34A"/>
          </a:solidFill>
          <a:ln w="25400">
            <a:solidFill>
              <a:srgbClr val="16A34A"/>
            </a:solidFill>
            <a:prstDash val="solid"/>
          </a:ln>
        </p:spPr>
        <p:txBody>
          <a:bodyPr/>
          <a:lstStyle/>
          <a:p>
            <a:endParaRPr lang="en-US"/>
          </a:p>
        </p:txBody>
      </p:sp>
      <p:sp>
        <p:nvSpPr>
          <p:cNvPr id="24" name="Text 22"/>
          <p:cNvSpPr/>
          <p:nvPr/>
        </p:nvSpPr>
        <p:spPr>
          <a:xfrm>
            <a:off x="1600200" y="1691640"/>
            <a:ext cx="2834640" cy="274320"/>
          </a:xfrm>
          <a:prstGeom prst="rect">
            <a:avLst/>
          </a:prstGeom>
          <a:noFill/>
          <a:ln/>
        </p:spPr>
        <p:txBody>
          <a:bodyPr wrap="square" lIns="0" tIns="0" rIns="0" bIns="0" rtlCol="0" anchor="ctr"/>
          <a:lstStyle/>
          <a:p>
            <a:pPr marL="0" indent="0">
              <a:buNone/>
            </a:pPr>
            <a:r>
              <a:rPr lang="en-US" sz="1100" b="1" kern="0" spc="100" dirty="0">
                <a:solidFill>
                  <a:srgbClr val="FFFFFF"/>
                </a:solidFill>
                <a:latin typeface="Calibri" pitchFamily="34" charset="0"/>
                <a:ea typeface="Calibri" pitchFamily="34" charset="-122"/>
                <a:cs typeface="Calibri" pitchFamily="34" charset="-120"/>
              </a:rPr>
              <a:t>DEEPEN  ★</a:t>
            </a:r>
            <a:endParaRPr lang="en-US" sz="1100" spc="100" dirty="0"/>
          </a:p>
        </p:txBody>
      </p:sp>
      <p:sp>
        <p:nvSpPr>
          <p:cNvPr id="25" name="Text 23"/>
          <p:cNvSpPr/>
          <p:nvPr/>
        </p:nvSpPr>
        <p:spPr>
          <a:xfrm>
            <a:off x="1600200" y="2011680"/>
            <a:ext cx="2834640" cy="45720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New VAS into existing top-10 accounts</a:t>
            </a:r>
            <a:endParaRPr lang="en-US" sz="1100" dirty="0"/>
          </a:p>
        </p:txBody>
      </p:sp>
      <p:sp>
        <p:nvSpPr>
          <p:cNvPr id="26" name="Text 24"/>
          <p:cNvSpPr/>
          <p:nvPr/>
        </p:nvSpPr>
        <p:spPr>
          <a:xfrm>
            <a:off x="1600200" y="2514600"/>
            <a:ext cx="2834640" cy="1097280"/>
          </a:xfrm>
          <a:prstGeom prst="rect">
            <a:avLst/>
          </a:prstGeom>
          <a:noFill/>
          <a:ln/>
        </p:spPr>
        <p:txBody>
          <a:bodyPr wrap="square" lIns="0" tIns="0" rIns="0" bIns="0" rtlCol="0" anchor="t"/>
          <a:lstStyle/>
          <a:p>
            <a:pPr marL="0" indent="0">
              <a:buNone/>
            </a:pPr>
            <a:r>
              <a:rPr lang="en-US" sz="1000" i="1" dirty="0">
                <a:solidFill>
                  <a:srgbClr val="86EFAC"/>
                </a:solidFill>
                <a:latin typeface="Calibri" pitchFamily="34" charset="0"/>
                <a:ea typeface="Calibri" pitchFamily="34" charset="-122"/>
                <a:cs typeface="Calibri" pitchFamily="34" charset="-120"/>
              </a:rPr>
              <a:t>CAC ≈ 0  ·  bundling deepens moat  ·  highest LTV impact  ·  best fit to ~$60-80M envelope</a:t>
            </a:r>
            <a:endParaRPr lang="en-US" sz="1000" dirty="0"/>
          </a:p>
        </p:txBody>
      </p:sp>
      <p:sp>
        <p:nvSpPr>
          <p:cNvPr id="27" name="Shape 25"/>
          <p:cNvSpPr/>
          <p:nvPr/>
        </p:nvSpPr>
        <p:spPr>
          <a:xfrm>
            <a:off x="4572000" y="1554480"/>
            <a:ext cx="3108960" cy="2148840"/>
          </a:xfrm>
          <a:prstGeom prst="rect">
            <a:avLst/>
          </a:prstGeom>
          <a:solidFill>
            <a:srgbClr val="F1F5F9"/>
          </a:solidFill>
          <a:ln w="6350">
            <a:solidFill>
              <a:srgbClr val="E2E8F0"/>
            </a:solidFill>
            <a:prstDash val="solid"/>
          </a:ln>
        </p:spPr>
        <p:txBody>
          <a:bodyPr/>
          <a:lstStyle/>
          <a:p>
            <a:endParaRPr lang="en-US"/>
          </a:p>
        </p:txBody>
      </p:sp>
      <p:sp>
        <p:nvSpPr>
          <p:cNvPr id="28" name="Text 26"/>
          <p:cNvSpPr/>
          <p:nvPr/>
        </p:nvSpPr>
        <p:spPr>
          <a:xfrm>
            <a:off x="4709160" y="1691640"/>
            <a:ext cx="2834640" cy="274320"/>
          </a:xfrm>
          <a:prstGeom prst="rect">
            <a:avLst/>
          </a:prstGeom>
          <a:noFill/>
          <a:ln/>
        </p:spPr>
        <p:txBody>
          <a:bodyPr wrap="square" lIns="0" tIns="0" rIns="0" bIns="0" rtlCol="0" anchor="ctr"/>
          <a:lstStyle/>
          <a:p>
            <a:pPr marL="0" indent="0">
              <a:buNone/>
            </a:pPr>
            <a:r>
              <a:rPr lang="en-US" sz="1000" b="1" kern="0" spc="100" dirty="0">
                <a:solidFill>
                  <a:srgbClr val="334155"/>
                </a:solidFill>
                <a:latin typeface="Calibri" pitchFamily="34" charset="0"/>
                <a:ea typeface="Calibri" pitchFamily="34" charset="-122"/>
                <a:cs typeface="Calibri" pitchFamily="34" charset="-120"/>
              </a:rPr>
              <a:t>DIVERSIFY</a:t>
            </a:r>
            <a:endParaRPr lang="en-US" sz="1000" spc="100" dirty="0"/>
          </a:p>
        </p:txBody>
      </p:sp>
      <p:sp>
        <p:nvSpPr>
          <p:cNvPr id="29" name="Text 27"/>
          <p:cNvSpPr/>
          <p:nvPr/>
        </p:nvSpPr>
        <p:spPr>
          <a:xfrm>
            <a:off x="4709160" y="2011680"/>
            <a:ext cx="2834640" cy="594360"/>
          </a:xfrm>
          <a:prstGeom prst="rect">
            <a:avLst/>
          </a:prstGeom>
          <a:noFill/>
          <a:ln/>
        </p:spPr>
        <p:txBody>
          <a:bodyPr wrap="square" lIns="0" tIns="0" rIns="0" bIns="0" rtlCol="0" anchor="ctr"/>
          <a:lstStyle/>
          <a:p>
            <a:pPr marL="0" indent="0">
              <a:buNone/>
            </a:pPr>
            <a:r>
              <a:rPr lang="en-US" sz="1000" dirty="0">
                <a:solidFill>
                  <a:srgbClr val="334155"/>
                </a:solidFill>
                <a:latin typeface="Calibri" pitchFamily="34" charset="0"/>
                <a:ea typeface="Calibri" pitchFamily="34" charset="-122"/>
                <a:cs typeface="Calibri" pitchFamily="34" charset="-120"/>
              </a:rPr>
              <a:t>New products to new customers (e.g. SME credit, vertical SaaS)</a:t>
            </a:r>
            <a:endParaRPr lang="en-US" sz="1000" dirty="0"/>
          </a:p>
        </p:txBody>
      </p:sp>
      <p:sp>
        <p:nvSpPr>
          <p:cNvPr id="30" name="Text 28"/>
          <p:cNvSpPr/>
          <p:nvPr/>
        </p:nvSpPr>
        <p:spPr>
          <a:xfrm>
            <a:off x="4709160" y="2697480"/>
            <a:ext cx="2834640" cy="502920"/>
          </a:xfrm>
          <a:prstGeom prst="rect">
            <a:avLst/>
          </a:prstGeom>
          <a:noFill/>
          <a:ln/>
        </p:spPr>
        <p:txBody>
          <a:bodyPr wrap="square" lIns="0" tIns="0" rIns="0" bIns="0" rtlCol="0" anchor="ctr"/>
          <a:lstStyle/>
          <a:p>
            <a:pPr marL="0" indent="0">
              <a:buNone/>
            </a:pPr>
            <a:r>
              <a:rPr lang="en-US" sz="900" i="1" dirty="0">
                <a:solidFill>
                  <a:srgbClr val="D97706"/>
                </a:solidFill>
                <a:latin typeface="Calibri" pitchFamily="34" charset="0"/>
                <a:ea typeface="Calibri" pitchFamily="34" charset="-122"/>
                <a:cs typeface="Calibri" pitchFamily="34" charset="-120"/>
              </a:rPr>
              <a:t>Larger long-term option; out of scope here (see Section 5)</a:t>
            </a:r>
            <a:endParaRPr lang="en-US" sz="900" dirty="0"/>
          </a:p>
        </p:txBody>
      </p:sp>
      <p:sp>
        <p:nvSpPr>
          <p:cNvPr id="31" name="Text 29"/>
          <p:cNvSpPr/>
          <p:nvPr/>
        </p:nvSpPr>
        <p:spPr>
          <a:xfrm>
            <a:off x="8229600" y="1554480"/>
            <a:ext cx="3474720" cy="274320"/>
          </a:xfrm>
          <a:prstGeom prst="rect">
            <a:avLst/>
          </a:prstGeom>
          <a:noFill/>
          <a:ln/>
        </p:spPr>
        <p:txBody>
          <a:bodyPr wrap="square" lIns="0" tIns="0" rIns="0" bIns="0" rtlCol="0" anchor="ctr"/>
          <a:lstStyle/>
          <a:p>
            <a:pPr marL="0" indent="0">
              <a:buNone/>
            </a:pPr>
            <a:r>
              <a:rPr lang="en-US" sz="1000" b="1" kern="0" spc="100" dirty="0">
                <a:solidFill>
                  <a:srgbClr val="16A34A"/>
                </a:solidFill>
                <a:latin typeface="Calibri" pitchFamily="34" charset="0"/>
                <a:ea typeface="Calibri" pitchFamily="34" charset="-122"/>
                <a:cs typeface="Calibri" pitchFamily="34" charset="-120"/>
              </a:rPr>
              <a:t>Filter applied to every target</a:t>
            </a:r>
            <a:endParaRPr lang="en-US" sz="1000" spc="100" dirty="0"/>
          </a:p>
        </p:txBody>
      </p:sp>
      <p:sp>
        <p:nvSpPr>
          <p:cNvPr id="32" name="Shape 30"/>
          <p:cNvSpPr/>
          <p:nvPr/>
        </p:nvSpPr>
        <p:spPr>
          <a:xfrm>
            <a:off x="8229600" y="1828800"/>
            <a:ext cx="3474720" cy="13716"/>
          </a:xfrm>
          <a:prstGeom prst="rect">
            <a:avLst/>
          </a:prstGeom>
          <a:solidFill>
            <a:srgbClr val="E2E8F0"/>
          </a:solidFill>
          <a:ln/>
        </p:spPr>
        <p:txBody>
          <a:bodyPr/>
          <a:lstStyle/>
          <a:p>
            <a:endParaRPr lang="en-US"/>
          </a:p>
        </p:txBody>
      </p:sp>
      <p:sp>
        <p:nvSpPr>
          <p:cNvPr id="33" name="Shape 31"/>
          <p:cNvSpPr/>
          <p:nvPr/>
        </p:nvSpPr>
        <p:spPr>
          <a:xfrm>
            <a:off x="8229600" y="2057400"/>
            <a:ext cx="365760" cy="365760"/>
          </a:xfrm>
          <a:prstGeom prst="ellipse">
            <a:avLst/>
          </a:prstGeom>
          <a:solidFill>
            <a:srgbClr val="16A34A"/>
          </a:solidFill>
          <a:ln/>
        </p:spPr>
        <p:txBody>
          <a:bodyPr/>
          <a:lstStyle/>
          <a:p>
            <a:endParaRPr lang="en-US"/>
          </a:p>
        </p:txBody>
      </p:sp>
      <p:sp>
        <p:nvSpPr>
          <p:cNvPr id="34" name="Text 32"/>
          <p:cNvSpPr/>
          <p:nvPr/>
        </p:nvSpPr>
        <p:spPr>
          <a:xfrm>
            <a:off x="8229600" y="2057400"/>
            <a:ext cx="365760" cy="36576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35" name="Text 33"/>
          <p:cNvSpPr/>
          <p:nvPr/>
        </p:nvSpPr>
        <p:spPr>
          <a:xfrm>
            <a:off x="8732520" y="2011680"/>
            <a:ext cx="3017520" cy="274320"/>
          </a:xfrm>
          <a:prstGeom prst="rect">
            <a:avLst/>
          </a:prstGeom>
          <a:noFill/>
          <a:ln/>
        </p:spPr>
        <p:txBody>
          <a:bodyPr wrap="square" lIns="0" tIns="0" rIns="0" bIns="0" rtlCol="0" anchor="ctr"/>
          <a:lstStyle/>
          <a:p>
            <a:pPr marL="0" indent="0">
              <a:buNone/>
            </a:pPr>
            <a:r>
              <a:rPr lang="en-US" sz="1100" b="1" dirty="0">
                <a:solidFill>
                  <a:srgbClr val="0F172A"/>
                </a:solidFill>
                <a:latin typeface="Calibri" pitchFamily="34" charset="0"/>
                <a:ea typeface="Calibri" pitchFamily="34" charset="-122"/>
                <a:cs typeface="Calibri" pitchFamily="34" charset="-120"/>
              </a:rPr>
              <a:t>Horizontal SaaS</a:t>
            </a:r>
            <a:endParaRPr lang="en-US" sz="1100" dirty="0"/>
          </a:p>
        </p:txBody>
      </p:sp>
      <p:sp>
        <p:nvSpPr>
          <p:cNvPr id="36" name="Text 34"/>
          <p:cNvSpPr/>
          <p:nvPr/>
        </p:nvSpPr>
        <p:spPr>
          <a:xfrm>
            <a:off x="8732520" y="2286000"/>
            <a:ext cx="3017520" cy="548640"/>
          </a:xfrm>
          <a:prstGeom prst="rect">
            <a:avLst/>
          </a:prstGeom>
          <a:noFill/>
          <a:ln/>
        </p:spPr>
        <p:txBody>
          <a:bodyPr wrap="square" lIns="0" tIns="0" rIns="0" bIns="0" rtlCol="0" anchor="ctr"/>
          <a:lstStyle/>
          <a:p>
            <a:pPr marL="0" indent="0">
              <a:buNone/>
            </a:pPr>
            <a:r>
              <a:rPr lang="en-US" sz="950" dirty="0">
                <a:solidFill>
                  <a:srgbClr val="334155"/>
                </a:solidFill>
                <a:latin typeface="Calibri" pitchFamily="34" charset="0"/>
                <a:ea typeface="Calibri" pitchFamily="34" charset="-122"/>
                <a:cs typeface="Calibri" pitchFamily="34" charset="-120"/>
              </a:rPr>
              <a:t>No vertical lock-in; serves multiple Pine Labs customer types</a:t>
            </a:r>
            <a:endParaRPr lang="en-US" sz="950" dirty="0"/>
          </a:p>
        </p:txBody>
      </p:sp>
      <p:sp>
        <p:nvSpPr>
          <p:cNvPr id="37" name="Shape 35"/>
          <p:cNvSpPr/>
          <p:nvPr/>
        </p:nvSpPr>
        <p:spPr>
          <a:xfrm>
            <a:off x="8229600" y="2926080"/>
            <a:ext cx="365760" cy="365760"/>
          </a:xfrm>
          <a:prstGeom prst="ellipse">
            <a:avLst/>
          </a:prstGeom>
          <a:solidFill>
            <a:srgbClr val="16A34A"/>
          </a:solidFill>
          <a:ln/>
        </p:spPr>
        <p:txBody>
          <a:bodyPr/>
          <a:lstStyle/>
          <a:p>
            <a:endParaRPr lang="en-US"/>
          </a:p>
        </p:txBody>
      </p:sp>
      <p:sp>
        <p:nvSpPr>
          <p:cNvPr id="38" name="Text 36"/>
          <p:cNvSpPr/>
          <p:nvPr/>
        </p:nvSpPr>
        <p:spPr>
          <a:xfrm>
            <a:off x="8229600" y="2926080"/>
            <a:ext cx="365760" cy="36576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9" name="Text 37"/>
          <p:cNvSpPr/>
          <p:nvPr/>
        </p:nvSpPr>
        <p:spPr>
          <a:xfrm>
            <a:off x="8732520" y="2880360"/>
            <a:ext cx="3017520" cy="274320"/>
          </a:xfrm>
          <a:prstGeom prst="rect">
            <a:avLst/>
          </a:prstGeom>
          <a:noFill/>
          <a:ln/>
        </p:spPr>
        <p:txBody>
          <a:bodyPr wrap="square" lIns="0" tIns="0" rIns="0" bIns="0" rtlCol="0" anchor="ctr"/>
          <a:lstStyle/>
          <a:p>
            <a:pPr marL="0" indent="0">
              <a:buNone/>
            </a:pPr>
            <a:r>
              <a:rPr lang="en-US" sz="1100" b="1" dirty="0">
                <a:solidFill>
                  <a:srgbClr val="0F172A"/>
                </a:solidFill>
                <a:latin typeface="Calibri" pitchFamily="34" charset="0"/>
                <a:ea typeface="Calibri" pitchFamily="34" charset="-122"/>
                <a:cs typeface="Calibri" pitchFamily="34" charset="-120"/>
              </a:rPr>
              <a:t>No balance sheet</a:t>
            </a:r>
            <a:endParaRPr lang="en-US" sz="1100" dirty="0"/>
          </a:p>
        </p:txBody>
      </p:sp>
      <p:sp>
        <p:nvSpPr>
          <p:cNvPr id="40" name="Text 38"/>
          <p:cNvSpPr/>
          <p:nvPr/>
        </p:nvSpPr>
        <p:spPr>
          <a:xfrm>
            <a:off x="8732520" y="3154680"/>
            <a:ext cx="3017520" cy="548640"/>
          </a:xfrm>
          <a:prstGeom prst="rect">
            <a:avLst/>
          </a:prstGeom>
          <a:noFill/>
          <a:ln/>
        </p:spPr>
        <p:txBody>
          <a:bodyPr wrap="square" lIns="0" tIns="0" rIns="0" bIns="0" rtlCol="0" anchor="ctr"/>
          <a:lstStyle/>
          <a:p>
            <a:pPr marL="0" indent="0">
              <a:buNone/>
            </a:pPr>
            <a:r>
              <a:rPr lang="en-US" sz="950" dirty="0">
                <a:solidFill>
                  <a:srgbClr val="334155"/>
                </a:solidFill>
                <a:latin typeface="Calibri" pitchFamily="34" charset="0"/>
                <a:ea typeface="Calibri" pitchFamily="34" charset="-122"/>
                <a:cs typeface="Calibri" pitchFamily="34" charset="-120"/>
              </a:rPr>
              <a:t>No NBFC, no credit risk — per Amrish's BT interview</a:t>
            </a:r>
            <a:endParaRPr lang="en-US" sz="950" dirty="0"/>
          </a:p>
        </p:txBody>
      </p:sp>
      <p:sp>
        <p:nvSpPr>
          <p:cNvPr id="41" name="Shape 39"/>
          <p:cNvSpPr/>
          <p:nvPr/>
        </p:nvSpPr>
        <p:spPr>
          <a:xfrm>
            <a:off x="8229600" y="3794760"/>
            <a:ext cx="365760" cy="365760"/>
          </a:xfrm>
          <a:prstGeom prst="ellipse">
            <a:avLst/>
          </a:prstGeom>
          <a:solidFill>
            <a:srgbClr val="16A34A"/>
          </a:solidFill>
          <a:ln/>
        </p:spPr>
        <p:txBody>
          <a:bodyPr/>
          <a:lstStyle/>
          <a:p>
            <a:endParaRPr lang="en-US"/>
          </a:p>
        </p:txBody>
      </p:sp>
      <p:sp>
        <p:nvSpPr>
          <p:cNvPr id="42" name="Text 40"/>
          <p:cNvSpPr/>
          <p:nvPr/>
        </p:nvSpPr>
        <p:spPr>
          <a:xfrm>
            <a:off x="8229600" y="3794760"/>
            <a:ext cx="365760" cy="36576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3" name="Text 41"/>
          <p:cNvSpPr/>
          <p:nvPr/>
        </p:nvSpPr>
        <p:spPr>
          <a:xfrm>
            <a:off x="8732520" y="3749040"/>
            <a:ext cx="3017520" cy="274320"/>
          </a:xfrm>
          <a:prstGeom prst="rect">
            <a:avLst/>
          </a:prstGeom>
          <a:noFill/>
          <a:ln/>
        </p:spPr>
        <p:txBody>
          <a:bodyPr wrap="square" lIns="0" tIns="0" rIns="0" bIns="0" rtlCol="0" anchor="ctr"/>
          <a:lstStyle/>
          <a:p>
            <a:pPr marL="0" indent="0">
              <a:buNone/>
            </a:pPr>
            <a:r>
              <a:rPr lang="en-US" sz="1100" b="1" dirty="0">
                <a:solidFill>
                  <a:srgbClr val="0F172A"/>
                </a:solidFill>
                <a:latin typeface="Calibri" pitchFamily="34" charset="0"/>
                <a:ea typeface="Calibri" pitchFamily="34" charset="-122"/>
                <a:cs typeface="Calibri" pitchFamily="34" charset="-120"/>
              </a:rPr>
              <a:t>Inside $60–80M envelope</a:t>
            </a:r>
            <a:endParaRPr lang="en-US" sz="1100" dirty="0"/>
          </a:p>
        </p:txBody>
      </p:sp>
      <p:sp>
        <p:nvSpPr>
          <p:cNvPr id="44" name="Text 42"/>
          <p:cNvSpPr/>
          <p:nvPr/>
        </p:nvSpPr>
        <p:spPr>
          <a:xfrm>
            <a:off x="8732520" y="4023360"/>
            <a:ext cx="3017520" cy="548640"/>
          </a:xfrm>
          <a:prstGeom prst="rect">
            <a:avLst/>
          </a:prstGeom>
          <a:noFill/>
          <a:ln/>
        </p:spPr>
        <p:txBody>
          <a:bodyPr wrap="square" lIns="0" tIns="0" rIns="0" bIns="0" rtlCol="0" anchor="ctr"/>
          <a:lstStyle/>
          <a:p>
            <a:pPr marL="0" indent="0">
              <a:buNone/>
            </a:pPr>
            <a:r>
              <a:rPr lang="en-US" sz="950" dirty="0">
                <a:solidFill>
                  <a:srgbClr val="334155"/>
                </a:solidFill>
                <a:latin typeface="Calibri" pitchFamily="34" charset="0"/>
                <a:ea typeface="Calibri" pitchFamily="34" charset="-122"/>
                <a:cs typeface="Calibri" pitchFamily="34" charset="-120"/>
              </a:rPr>
              <a:t>Cash-only; no IPO equity dilution year 1</a:t>
            </a:r>
            <a:endParaRPr lang="en-US" sz="950" dirty="0"/>
          </a:p>
        </p:txBody>
      </p:sp>
      <p:sp>
        <p:nvSpPr>
          <p:cNvPr id="45" name="Shape 43"/>
          <p:cNvSpPr/>
          <p:nvPr/>
        </p:nvSpPr>
        <p:spPr>
          <a:xfrm>
            <a:off x="8229600" y="4663440"/>
            <a:ext cx="365760" cy="365760"/>
          </a:xfrm>
          <a:prstGeom prst="ellipse">
            <a:avLst/>
          </a:prstGeom>
          <a:solidFill>
            <a:srgbClr val="16A34A"/>
          </a:solidFill>
          <a:ln/>
        </p:spPr>
        <p:txBody>
          <a:bodyPr/>
          <a:lstStyle/>
          <a:p>
            <a:endParaRPr lang="en-US"/>
          </a:p>
        </p:txBody>
      </p:sp>
      <p:sp>
        <p:nvSpPr>
          <p:cNvPr id="46" name="Text 44"/>
          <p:cNvSpPr/>
          <p:nvPr/>
        </p:nvSpPr>
        <p:spPr>
          <a:xfrm>
            <a:off x="8229600" y="4663440"/>
            <a:ext cx="365760" cy="36576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47" name="Text 45"/>
          <p:cNvSpPr/>
          <p:nvPr/>
        </p:nvSpPr>
        <p:spPr>
          <a:xfrm>
            <a:off x="8732520" y="4617720"/>
            <a:ext cx="3017520" cy="274320"/>
          </a:xfrm>
          <a:prstGeom prst="rect">
            <a:avLst/>
          </a:prstGeom>
          <a:noFill/>
          <a:ln/>
        </p:spPr>
        <p:txBody>
          <a:bodyPr wrap="square" lIns="0" tIns="0" rIns="0" bIns="0" rtlCol="0" anchor="ctr"/>
          <a:lstStyle/>
          <a:p>
            <a:pPr marL="0" indent="0">
              <a:buNone/>
            </a:pPr>
            <a:r>
              <a:rPr lang="en-US" sz="1100" b="1" dirty="0">
                <a:solidFill>
                  <a:srgbClr val="0F172A"/>
                </a:solidFill>
                <a:latin typeface="Calibri" pitchFamily="34" charset="0"/>
                <a:ea typeface="Calibri" pitchFamily="34" charset="-122"/>
                <a:cs typeface="Calibri" pitchFamily="34" charset="-120"/>
              </a:rPr>
              <a:t>Top-10 customer overlap</a:t>
            </a:r>
            <a:endParaRPr lang="en-US" sz="1100" dirty="0"/>
          </a:p>
        </p:txBody>
      </p:sp>
      <p:sp>
        <p:nvSpPr>
          <p:cNvPr id="48" name="Text 46"/>
          <p:cNvSpPr/>
          <p:nvPr/>
        </p:nvSpPr>
        <p:spPr>
          <a:xfrm>
            <a:off x="8732520" y="4892040"/>
            <a:ext cx="3017520" cy="548640"/>
          </a:xfrm>
          <a:prstGeom prst="rect">
            <a:avLst/>
          </a:prstGeom>
          <a:noFill/>
          <a:ln/>
        </p:spPr>
        <p:txBody>
          <a:bodyPr wrap="square" lIns="0" tIns="0" rIns="0" bIns="0" rtlCol="0" anchor="ctr"/>
          <a:lstStyle/>
          <a:p>
            <a:pPr marL="0" indent="0">
              <a:buNone/>
            </a:pPr>
            <a:r>
              <a:rPr lang="en-US" sz="950" dirty="0">
                <a:solidFill>
                  <a:srgbClr val="334155"/>
                </a:solidFill>
                <a:latin typeface="Calibri" pitchFamily="34" charset="0"/>
                <a:ea typeface="Calibri" pitchFamily="34" charset="-122"/>
                <a:cs typeface="Calibri" pitchFamily="34" charset="-120"/>
              </a:rPr>
              <a:t>Deal must deepen moat with the accounts that drive 31% of revenue</a:t>
            </a:r>
            <a:endParaRPr lang="en-US" sz="950" dirty="0"/>
          </a:p>
        </p:txBody>
      </p:sp>
      <p:sp>
        <p:nvSpPr>
          <p:cNvPr id="49" name="Shape 47"/>
          <p:cNvSpPr/>
          <p:nvPr/>
        </p:nvSpPr>
        <p:spPr>
          <a:xfrm>
            <a:off x="8229600" y="5532120"/>
            <a:ext cx="365760" cy="365760"/>
          </a:xfrm>
          <a:prstGeom prst="ellipse">
            <a:avLst/>
          </a:prstGeom>
          <a:solidFill>
            <a:srgbClr val="16A34A"/>
          </a:solidFill>
          <a:ln/>
        </p:spPr>
        <p:txBody>
          <a:bodyPr/>
          <a:lstStyle/>
          <a:p>
            <a:endParaRPr lang="en-US"/>
          </a:p>
        </p:txBody>
      </p:sp>
      <p:sp>
        <p:nvSpPr>
          <p:cNvPr id="50" name="Text 48"/>
          <p:cNvSpPr/>
          <p:nvPr/>
        </p:nvSpPr>
        <p:spPr>
          <a:xfrm>
            <a:off x="8229600" y="5532120"/>
            <a:ext cx="365760" cy="36576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51" name="Text 49"/>
          <p:cNvSpPr/>
          <p:nvPr/>
        </p:nvSpPr>
        <p:spPr>
          <a:xfrm>
            <a:off x="8732520" y="5486400"/>
            <a:ext cx="3017520" cy="274320"/>
          </a:xfrm>
          <a:prstGeom prst="rect">
            <a:avLst/>
          </a:prstGeom>
          <a:noFill/>
          <a:ln/>
        </p:spPr>
        <p:txBody>
          <a:bodyPr wrap="square" lIns="0" tIns="0" rIns="0" bIns="0" rtlCol="0" anchor="ctr"/>
          <a:lstStyle/>
          <a:p>
            <a:pPr marL="0" indent="0">
              <a:buNone/>
            </a:pPr>
            <a:r>
              <a:rPr lang="en-US" sz="1100" b="1" dirty="0">
                <a:solidFill>
                  <a:srgbClr val="0F172A"/>
                </a:solidFill>
                <a:latin typeface="Calibri" pitchFamily="34" charset="0"/>
                <a:ea typeface="Calibri" pitchFamily="34" charset="-122"/>
                <a:cs typeface="Calibri" pitchFamily="34" charset="-120"/>
              </a:rPr>
              <a:t>Auto-attach mechanic</a:t>
            </a:r>
            <a:endParaRPr lang="en-US" sz="1100" dirty="0"/>
          </a:p>
        </p:txBody>
      </p:sp>
      <p:sp>
        <p:nvSpPr>
          <p:cNvPr id="52" name="Text 50"/>
          <p:cNvSpPr/>
          <p:nvPr/>
        </p:nvSpPr>
        <p:spPr>
          <a:xfrm>
            <a:off x="8732520" y="5760720"/>
            <a:ext cx="3017520" cy="548640"/>
          </a:xfrm>
          <a:prstGeom prst="rect">
            <a:avLst/>
          </a:prstGeom>
          <a:noFill/>
          <a:ln/>
        </p:spPr>
        <p:txBody>
          <a:bodyPr wrap="square" lIns="0" tIns="0" rIns="0" bIns="0" rtlCol="0" anchor="ctr"/>
          <a:lstStyle/>
          <a:p>
            <a:pPr marL="0" indent="0">
              <a:buNone/>
            </a:pPr>
            <a:r>
              <a:rPr lang="en-US" sz="950" dirty="0">
                <a:solidFill>
                  <a:srgbClr val="334155"/>
                </a:solidFill>
                <a:latin typeface="Calibri" pitchFamily="34" charset="0"/>
                <a:ea typeface="Calibri" pitchFamily="34" charset="-122"/>
                <a:cs typeface="Calibri" pitchFamily="34" charset="-120"/>
              </a:rPr>
              <a:t>Cross-sell must work at the tech layer, not require field-sales lift</a:t>
            </a:r>
            <a:endParaRPr lang="en-US" sz="950" dirty="0"/>
          </a:p>
        </p:txBody>
      </p:sp>
      <p:pic>
        <p:nvPicPr>
          <p:cNvPr id="53" name="Picture 2" descr="Pine Labs Launches Paper POS, a Merged QR Product to Accept Payments via  UPI and Bharat QR Apps">
            <a:extLst>
              <a:ext uri="{FF2B5EF4-FFF2-40B4-BE49-F238E27FC236}">
                <a16:creationId xmlns:a16="http://schemas.microsoft.com/office/drawing/2014/main" id="{E981B140-EB2E-3682-4030-1544E7FF6C26}"/>
              </a:ext>
            </a:extLst>
          </p:cNvPr>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1177016" y="-102584"/>
            <a:ext cx="1115568" cy="58451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F3D2E"/>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16A34A"/>
          </a:solidFill>
          <a:ln/>
        </p:spPr>
        <p:txBody>
          <a:bodyPr/>
          <a:lstStyle/>
          <a:p>
            <a:endParaRPr lang="en-US"/>
          </a:p>
        </p:txBody>
      </p:sp>
      <p:sp>
        <p:nvSpPr>
          <p:cNvPr id="3" name="Text 1"/>
          <p:cNvSpPr/>
          <p:nvPr/>
        </p:nvSpPr>
        <p:spPr>
          <a:xfrm>
            <a:off x="914400" y="2560320"/>
            <a:ext cx="7315200" cy="365760"/>
          </a:xfrm>
          <a:prstGeom prst="rect">
            <a:avLst/>
          </a:prstGeom>
          <a:noFill/>
          <a:ln/>
        </p:spPr>
        <p:txBody>
          <a:bodyPr wrap="square" lIns="0" tIns="0" rIns="0" bIns="0" rtlCol="0" anchor="ctr"/>
          <a:lstStyle/>
          <a:p>
            <a:pPr marL="0" indent="0">
              <a:buNone/>
            </a:pPr>
            <a:r>
              <a:rPr lang="en-US" sz="1100" b="1" kern="0" spc="100" dirty="0">
                <a:solidFill>
                  <a:srgbClr val="86EFAC"/>
                </a:solidFill>
                <a:latin typeface="Calibri" pitchFamily="34" charset="0"/>
                <a:ea typeface="Calibri" pitchFamily="34" charset="-122"/>
                <a:cs typeface="Calibri" pitchFamily="34" charset="-120"/>
              </a:rPr>
              <a:t>SECTION 01</a:t>
            </a:r>
            <a:endParaRPr lang="en-US" sz="1100" spc="100" dirty="0"/>
          </a:p>
        </p:txBody>
      </p:sp>
      <p:sp>
        <p:nvSpPr>
          <p:cNvPr id="4" name="Text 2"/>
          <p:cNvSpPr/>
          <p:nvPr/>
        </p:nvSpPr>
        <p:spPr>
          <a:xfrm>
            <a:off x="914400" y="2971800"/>
            <a:ext cx="10332720" cy="1280160"/>
          </a:xfrm>
          <a:prstGeom prst="rect">
            <a:avLst/>
          </a:prstGeom>
          <a:noFill/>
          <a:ln/>
        </p:spPr>
        <p:txBody>
          <a:bodyPr wrap="square" lIns="0" tIns="0" rIns="0" bIns="0" rtlCol="0" anchor="ctr"/>
          <a:lstStyle/>
          <a:p>
            <a:pPr marL="0" indent="0">
              <a:buNone/>
            </a:pPr>
            <a:r>
              <a:rPr lang="en-US" sz="4200" b="1" dirty="0">
                <a:solidFill>
                  <a:srgbClr val="FFFFFF"/>
                </a:solidFill>
                <a:latin typeface="Calibri" pitchFamily="34" charset="0"/>
                <a:ea typeface="Calibri" pitchFamily="34" charset="-122"/>
                <a:cs typeface="Calibri" pitchFamily="34" charset="-120"/>
              </a:rPr>
              <a:t>The Two Recommended Tuck-Ins</a:t>
            </a:r>
            <a:endParaRPr lang="en-US" sz="4200" dirty="0"/>
          </a:p>
        </p:txBody>
      </p:sp>
      <p:sp>
        <p:nvSpPr>
          <p:cNvPr id="5" name="Shape 3"/>
          <p:cNvSpPr/>
          <p:nvPr/>
        </p:nvSpPr>
        <p:spPr>
          <a:xfrm>
            <a:off x="914400" y="4251960"/>
            <a:ext cx="548640" cy="36576"/>
          </a:xfrm>
          <a:prstGeom prst="rect">
            <a:avLst/>
          </a:prstGeom>
          <a:solidFill>
            <a:srgbClr val="16A34A"/>
          </a:solidFill>
          <a:ln/>
        </p:spPr>
        <p:txBody>
          <a:bodyPr/>
          <a:lstStyle/>
          <a:p>
            <a:endParaRPr lang="en-US"/>
          </a:p>
        </p:txBody>
      </p:sp>
      <p:sp>
        <p:nvSpPr>
          <p:cNvPr id="6" name="Text 4"/>
          <p:cNvSpPr/>
          <p:nvPr/>
        </p:nvSpPr>
        <p:spPr>
          <a:xfrm>
            <a:off x="914400" y="4389120"/>
            <a:ext cx="10332720" cy="914400"/>
          </a:xfrm>
          <a:prstGeom prst="rect">
            <a:avLst/>
          </a:prstGeom>
          <a:noFill/>
          <a:ln/>
        </p:spPr>
        <p:txBody>
          <a:bodyPr wrap="square" lIns="0" tIns="0" rIns="0" bIns="0" rtlCol="0" anchor="ctr"/>
          <a:lstStyle/>
          <a:p>
            <a:pPr marL="0" indent="0">
              <a:buNone/>
            </a:pPr>
            <a:r>
              <a:rPr lang="en-US" sz="1600" i="1" dirty="0">
                <a:solidFill>
                  <a:srgbClr val="86EFAC"/>
                </a:solidFill>
                <a:latin typeface="Calibri" pitchFamily="34" charset="0"/>
                <a:ea typeface="Calibri" pitchFamily="34" charset="-122"/>
                <a:cs typeface="Calibri" pitchFamily="34" charset="-120"/>
              </a:rPr>
              <a:t>Riskcovry + WebEngage — both inside the $60-80M envelope, both targeted at the top 10</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16A34A"/>
          </a:solidFill>
          <a:ln/>
        </p:spPr>
        <p:txBody>
          <a:bodyPr/>
          <a:lstStyle/>
          <a:p>
            <a:endParaRPr lang="en-US"/>
          </a:p>
        </p:txBody>
      </p:sp>
      <p:sp>
        <p:nvSpPr>
          <p:cNvPr id="3" name="Text 1"/>
          <p:cNvSpPr/>
          <p:nvPr/>
        </p:nvSpPr>
        <p:spPr>
          <a:xfrm>
            <a:off x="457200" y="201168"/>
            <a:ext cx="10058400" cy="256032"/>
          </a:xfrm>
          <a:prstGeom prst="rect">
            <a:avLst/>
          </a:prstGeom>
          <a:noFill/>
          <a:ln/>
        </p:spPr>
        <p:txBody>
          <a:bodyPr wrap="square" lIns="0" tIns="0" rIns="0" bIns="0" rtlCol="0" anchor="ctr"/>
          <a:lstStyle/>
          <a:p>
            <a:pPr marL="0" indent="0">
              <a:buNone/>
            </a:pPr>
            <a:r>
              <a:rPr lang="en-US" sz="900" b="1" kern="0" spc="100" dirty="0">
                <a:solidFill>
                  <a:srgbClr val="16A34A"/>
                </a:solidFill>
                <a:latin typeface="Calibri" pitchFamily="34" charset="0"/>
                <a:ea typeface="Calibri" pitchFamily="34" charset="-122"/>
                <a:cs typeface="Calibri" pitchFamily="34" charset="-120"/>
              </a:rPr>
              <a:t>RECOMMENDATION SNAPSHOT</a:t>
            </a:r>
            <a:endParaRPr lang="en-US" sz="900" spc="100" dirty="0"/>
          </a:p>
        </p:txBody>
      </p:sp>
      <p:sp>
        <p:nvSpPr>
          <p:cNvPr id="4" name="Text 2"/>
          <p:cNvSpPr/>
          <p:nvPr/>
        </p:nvSpPr>
        <p:spPr>
          <a:xfrm>
            <a:off x="457200" y="457200"/>
            <a:ext cx="11247120" cy="731520"/>
          </a:xfrm>
          <a:prstGeom prst="rect">
            <a:avLst/>
          </a:prstGeom>
          <a:noFill/>
          <a:ln/>
        </p:spPr>
        <p:txBody>
          <a:bodyPr wrap="square" lIns="0" tIns="0" rIns="0" bIns="0" rtlCol="0" anchor="ctr"/>
          <a:lstStyle/>
          <a:p>
            <a:pPr marL="0" indent="0">
              <a:buNone/>
            </a:pPr>
            <a:r>
              <a:rPr lang="en-US" sz="2200" b="1" dirty="0">
                <a:solidFill>
                  <a:srgbClr val="0F172A"/>
                </a:solidFill>
                <a:latin typeface="Calibri" pitchFamily="34" charset="0"/>
                <a:ea typeface="Calibri" pitchFamily="34" charset="-122"/>
                <a:cs typeface="Calibri" pitchFamily="34" charset="-120"/>
              </a:rPr>
              <a:t>Two complementary acquisitions, both VAS-accretive, both inside the IPO cash envelope</a:t>
            </a:r>
            <a:endParaRPr lang="en-US" sz="2200" dirty="0"/>
          </a:p>
        </p:txBody>
      </p:sp>
      <p:sp>
        <p:nvSpPr>
          <p:cNvPr id="5" name="Shape 3"/>
          <p:cNvSpPr/>
          <p:nvPr/>
        </p:nvSpPr>
        <p:spPr>
          <a:xfrm>
            <a:off x="457200" y="1188720"/>
            <a:ext cx="11247120" cy="13716"/>
          </a:xfrm>
          <a:prstGeom prst="rect">
            <a:avLst/>
          </a:prstGeom>
          <a:solidFill>
            <a:srgbClr val="E2E8F0"/>
          </a:solidFill>
          <a:ln/>
        </p:spPr>
        <p:txBody>
          <a:bodyPr/>
          <a:lstStyle/>
          <a:p>
            <a:endParaRPr lang="en-US"/>
          </a:p>
        </p:txBody>
      </p:sp>
      <p:sp>
        <p:nvSpPr>
          <p:cNvPr id="6" name="Text 4"/>
          <p:cNvSpPr/>
          <p:nvPr/>
        </p:nvSpPr>
        <p:spPr>
          <a:xfrm>
            <a:off x="457200" y="6492240"/>
            <a:ext cx="6400800" cy="256032"/>
          </a:xfrm>
          <a:prstGeom prst="rect">
            <a:avLst/>
          </a:prstGeom>
          <a:noFill/>
          <a:ln/>
        </p:spPr>
        <p:txBody>
          <a:bodyPr wrap="square" lIns="0" tIns="0" rIns="0" bIns="0" rtlCol="0" anchor="ctr"/>
          <a:lstStyle/>
          <a:p>
            <a:pPr marL="0" indent="0">
              <a:buNone/>
            </a:pPr>
            <a:r>
              <a:rPr lang="en-US" sz="900" i="1" dirty="0">
                <a:solidFill>
                  <a:srgbClr val="64748B"/>
                </a:solidFill>
                <a:latin typeface="Calibri" pitchFamily="34" charset="0"/>
                <a:ea typeface="Calibri" pitchFamily="34" charset="-122"/>
                <a:cs typeface="Calibri" pitchFamily="34" charset="-120"/>
              </a:rPr>
              <a:t>Pine Labs — Corporate Development</a:t>
            </a:r>
            <a:endParaRPr lang="en-US" sz="900" dirty="0"/>
          </a:p>
        </p:txBody>
      </p:sp>
      <p:sp>
        <p:nvSpPr>
          <p:cNvPr id="7" name="Text 5"/>
          <p:cNvSpPr/>
          <p:nvPr/>
        </p:nvSpPr>
        <p:spPr>
          <a:xfrm>
            <a:off x="6858000" y="6492240"/>
            <a:ext cx="2743200" cy="256032"/>
          </a:xfrm>
          <a:prstGeom prst="rect">
            <a:avLst/>
          </a:prstGeom>
          <a:noFill/>
          <a:ln/>
        </p:spPr>
        <p:txBody>
          <a:bodyPr wrap="square" lIns="0" tIns="0" rIns="0" bIns="0" rtlCol="0" anchor="ctr"/>
          <a:lstStyle/>
          <a:p>
            <a:pPr marL="0" indent="0" algn="ctr">
              <a:buNone/>
            </a:pPr>
            <a:r>
              <a:rPr lang="en-US" sz="900" i="1" dirty="0">
                <a:solidFill>
                  <a:srgbClr val="64748B"/>
                </a:solidFill>
                <a:latin typeface="Calibri" pitchFamily="34" charset="0"/>
                <a:ea typeface="Calibri" pitchFamily="34" charset="-122"/>
                <a:cs typeface="Calibri" pitchFamily="34" charset="-120"/>
              </a:rPr>
              <a:t>Strictly Confidential</a:t>
            </a:r>
            <a:endParaRPr lang="en-US" sz="900" dirty="0"/>
          </a:p>
        </p:txBody>
      </p:sp>
      <p:sp>
        <p:nvSpPr>
          <p:cNvPr id="8" name="Text 6"/>
          <p:cNvSpPr/>
          <p:nvPr/>
        </p:nvSpPr>
        <p:spPr>
          <a:xfrm>
            <a:off x="10515600" y="6492240"/>
            <a:ext cx="1188720" cy="256032"/>
          </a:xfrm>
          <a:prstGeom prst="rect">
            <a:avLst/>
          </a:prstGeom>
          <a:noFill/>
          <a:ln/>
        </p:spPr>
        <p:txBody>
          <a:bodyPr wrap="square" lIns="0" tIns="0" rIns="0" bIns="0" rtlCol="0" anchor="ctr"/>
          <a:lstStyle/>
          <a:p>
            <a:pPr marL="0" indent="0" algn="r">
              <a:buNone/>
            </a:pPr>
            <a:r>
              <a:rPr lang="en-US" sz="900" b="1" dirty="0">
                <a:solidFill>
                  <a:srgbClr val="64748B"/>
                </a:solidFill>
                <a:latin typeface="Calibri" pitchFamily="34" charset="0"/>
                <a:ea typeface="Calibri" pitchFamily="34" charset="-122"/>
                <a:cs typeface="Calibri" pitchFamily="34" charset="-120"/>
              </a:rPr>
              <a:t>9</a:t>
            </a:r>
            <a:endParaRPr lang="en-US" sz="900" dirty="0"/>
          </a:p>
        </p:txBody>
      </p:sp>
      <p:sp>
        <p:nvSpPr>
          <p:cNvPr id="9" name="Shape 7"/>
          <p:cNvSpPr/>
          <p:nvPr/>
        </p:nvSpPr>
        <p:spPr>
          <a:xfrm>
            <a:off x="457200" y="1417320"/>
            <a:ext cx="5486400" cy="777240"/>
          </a:xfrm>
          <a:prstGeom prst="rect">
            <a:avLst/>
          </a:prstGeom>
          <a:solidFill>
            <a:srgbClr val="0F3D2E"/>
          </a:solidFill>
          <a:ln/>
        </p:spPr>
        <p:txBody>
          <a:bodyPr/>
          <a:lstStyle/>
          <a:p>
            <a:endParaRPr lang="en-US"/>
          </a:p>
        </p:txBody>
      </p:sp>
      <p:sp>
        <p:nvSpPr>
          <p:cNvPr id="12" name="Text 10"/>
          <p:cNvSpPr/>
          <p:nvPr/>
        </p:nvSpPr>
        <p:spPr>
          <a:xfrm>
            <a:off x="2084832" y="1481328"/>
            <a:ext cx="3703320" cy="384048"/>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Riskcovry</a:t>
            </a:r>
            <a:endParaRPr lang="en-US" sz="2000" dirty="0"/>
          </a:p>
        </p:txBody>
      </p:sp>
      <p:sp>
        <p:nvSpPr>
          <p:cNvPr id="13" name="Text 11"/>
          <p:cNvSpPr/>
          <p:nvPr/>
        </p:nvSpPr>
        <p:spPr>
          <a:xfrm>
            <a:off x="2084832" y="1856232"/>
            <a:ext cx="3703320" cy="292608"/>
          </a:xfrm>
          <a:prstGeom prst="rect">
            <a:avLst/>
          </a:prstGeom>
          <a:noFill/>
          <a:ln/>
        </p:spPr>
        <p:txBody>
          <a:bodyPr wrap="square" lIns="0" tIns="0" rIns="0" bIns="0" rtlCol="0" anchor="ctr"/>
          <a:lstStyle/>
          <a:p>
            <a:pPr marL="0" indent="0">
              <a:buNone/>
            </a:pPr>
            <a:r>
              <a:rPr lang="en-US" sz="1100" i="1" dirty="0">
                <a:solidFill>
                  <a:srgbClr val="86EFAC"/>
                </a:solidFill>
                <a:latin typeface="Calibri" pitchFamily="34" charset="0"/>
                <a:ea typeface="Calibri" pitchFamily="34" charset="-122"/>
                <a:cs typeface="Calibri" pitchFamily="34" charset="-120"/>
              </a:rPr>
              <a:t>Embedded insurance API · Corporate-Agent licence</a:t>
            </a:r>
            <a:endParaRPr lang="en-US" sz="1100" dirty="0"/>
          </a:p>
        </p:txBody>
      </p:sp>
      <p:sp>
        <p:nvSpPr>
          <p:cNvPr id="14" name="Shape 12"/>
          <p:cNvSpPr/>
          <p:nvPr/>
        </p:nvSpPr>
        <p:spPr>
          <a:xfrm>
            <a:off x="457200" y="2194560"/>
            <a:ext cx="5486400" cy="3977640"/>
          </a:xfrm>
          <a:prstGeom prst="rect">
            <a:avLst/>
          </a:prstGeom>
          <a:solidFill>
            <a:srgbClr val="FFFFFF"/>
          </a:solidFill>
          <a:ln w="6350">
            <a:solidFill>
              <a:srgbClr val="E2E8F0"/>
            </a:solidFill>
            <a:prstDash val="solid"/>
          </a:ln>
        </p:spPr>
        <p:txBody>
          <a:bodyPr/>
          <a:lstStyle/>
          <a:p>
            <a:endParaRPr lang="en-US"/>
          </a:p>
        </p:txBody>
      </p:sp>
      <p:sp>
        <p:nvSpPr>
          <p:cNvPr id="15" name="Text 13"/>
          <p:cNvSpPr/>
          <p:nvPr/>
        </p:nvSpPr>
        <p:spPr>
          <a:xfrm>
            <a:off x="685800" y="2331720"/>
            <a:ext cx="1828800" cy="483326"/>
          </a:xfrm>
          <a:prstGeom prst="rect">
            <a:avLst/>
          </a:prstGeom>
          <a:noFill/>
          <a:ln/>
        </p:spPr>
        <p:txBody>
          <a:bodyPr wrap="square" lIns="0" tIns="0" rIns="0" bIns="0" rtlCol="0" anchor="t"/>
          <a:lstStyle/>
          <a:p>
            <a:pPr marL="0" indent="0">
              <a:buNone/>
            </a:pPr>
            <a:r>
              <a:rPr lang="en-US" sz="950" b="1" kern="0" spc="100" dirty="0">
                <a:solidFill>
                  <a:srgbClr val="64748B"/>
                </a:solidFill>
                <a:latin typeface="Calibri" pitchFamily="34" charset="0"/>
                <a:ea typeface="Calibri" pitchFamily="34" charset="-122"/>
                <a:cs typeface="Calibri" pitchFamily="34" charset="-120"/>
              </a:rPr>
              <a:t>TICKET (CASH)</a:t>
            </a:r>
            <a:endParaRPr lang="en-US" sz="950" spc="100" dirty="0"/>
          </a:p>
        </p:txBody>
      </p:sp>
      <p:sp>
        <p:nvSpPr>
          <p:cNvPr id="16" name="Text 14"/>
          <p:cNvSpPr/>
          <p:nvPr/>
        </p:nvSpPr>
        <p:spPr>
          <a:xfrm>
            <a:off x="2560320" y="2331720"/>
            <a:ext cx="3200400" cy="483326"/>
          </a:xfrm>
          <a:prstGeom prst="rect">
            <a:avLst/>
          </a:prstGeom>
          <a:noFill/>
          <a:ln/>
        </p:spPr>
        <p:txBody>
          <a:bodyPr wrap="square" lIns="0" tIns="0" rIns="0" bIns="0" rtlCol="0" anchor="t"/>
          <a:lstStyle/>
          <a:p>
            <a:pPr marL="0" indent="0">
              <a:buNone/>
            </a:pPr>
            <a:r>
              <a:rPr lang="en-US" sz="1050" dirty="0">
                <a:solidFill>
                  <a:srgbClr val="0F172A"/>
                </a:solidFill>
                <a:latin typeface="Calibri" pitchFamily="34" charset="0"/>
                <a:ea typeface="Calibri" pitchFamily="34" charset="-122"/>
                <a:cs typeface="Calibri" pitchFamily="34" charset="-120"/>
              </a:rPr>
              <a:t>$50–80M  (single-asset, low equity needed)</a:t>
            </a:r>
            <a:endParaRPr lang="en-US" sz="1050" dirty="0"/>
          </a:p>
        </p:txBody>
      </p:sp>
      <p:sp>
        <p:nvSpPr>
          <p:cNvPr id="17" name="Shape 15"/>
          <p:cNvSpPr/>
          <p:nvPr/>
        </p:nvSpPr>
        <p:spPr>
          <a:xfrm>
            <a:off x="685800" y="2824190"/>
            <a:ext cx="5029200" cy="7315"/>
          </a:xfrm>
          <a:prstGeom prst="rect">
            <a:avLst/>
          </a:prstGeom>
          <a:solidFill>
            <a:srgbClr val="E2E8F0"/>
          </a:solidFill>
          <a:ln/>
        </p:spPr>
        <p:txBody>
          <a:bodyPr/>
          <a:lstStyle/>
          <a:p>
            <a:endParaRPr lang="en-US"/>
          </a:p>
        </p:txBody>
      </p:sp>
      <p:sp>
        <p:nvSpPr>
          <p:cNvPr id="18" name="Text 16"/>
          <p:cNvSpPr/>
          <p:nvPr/>
        </p:nvSpPr>
        <p:spPr>
          <a:xfrm>
            <a:off x="685800" y="2860766"/>
            <a:ext cx="1828800" cy="483326"/>
          </a:xfrm>
          <a:prstGeom prst="rect">
            <a:avLst/>
          </a:prstGeom>
          <a:noFill/>
          <a:ln/>
        </p:spPr>
        <p:txBody>
          <a:bodyPr wrap="square" lIns="0" tIns="0" rIns="0" bIns="0" rtlCol="0" anchor="t"/>
          <a:lstStyle/>
          <a:p>
            <a:pPr marL="0" indent="0">
              <a:buNone/>
            </a:pPr>
            <a:r>
              <a:rPr lang="en-US" sz="950" b="1" kern="0" spc="100" dirty="0">
                <a:solidFill>
                  <a:srgbClr val="64748B"/>
                </a:solidFill>
                <a:latin typeface="Calibri" pitchFamily="34" charset="0"/>
                <a:ea typeface="Calibri" pitchFamily="34" charset="-122"/>
                <a:cs typeface="Calibri" pitchFamily="34" charset="-120"/>
              </a:rPr>
              <a:t>FY25 REVENUE</a:t>
            </a:r>
            <a:endParaRPr lang="en-US" sz="950" spc="100" dirty="0"/>
          </a:p>
        </p:txBody>
      </p:sp>
      <p:sp>
        <p:nvSpPr>
          <p:cNvPr id="19" name="Text 17"/>
          <p:cNvSpPr/>
          <p:nvPr/>
        </p:nvSpPr>
        <p:spPr>
          <a:xfrm>
            <a:off x="2560320" y="2860766"/>
            <a:ext cx="3200400" cy="483326"/>
          </a:xfrm>
          <a:prstGeom prst="rect">
            <a:avLst/>
          </a:prstGeom>
          <a:noFill/>
          <a:ln/>
        </p:spPr>
        <p:txBody>
          <a:bodyPr wrap="square" lIns="0" tIns="0" rIns="0" bIns="0" rtlCol="0" anchor="t"/>
          <a:lstStyle/>
          <a:p>
            <a:pPr marL="0" indent="0">
              <a:buNone/>
            </a:pPr>
            <a:r>
              <a:rPr lang="en-US" sz="1050" dirty="0">
                <a:solidFill>
                  <a:srgbClr val="0F172A"/>
                </a:solidFill>
                <a:latin typeface="Calibri" pitchFamily="34" charset="0"/>
                <a:ea typeface="Calibri" pitchFamily="34" charset="-122"/>
                <a:cs typeface="Calibri" pitchFamily="34" charset="-120"/>
              </a:rPr>
              <a:t>₹46 Cr  ·  ~₹1,500 Cr GWP processed</a:t>
            </a:r>
            <a:endParaRPr lang="en-US" sz="1050" dirty="0"/>
          </a:p>
        </p:txBody>
      </p:sp>
      <p:sp>
        <p:nvSpPr>
          <p:cNvPr id="20" name="Shape 18"/>
          <p:cNvSpPr/>
          <p:nvPr/>
        </p:nvSpPr>
        <p:spPr>
          <a:xfrm>
            <a:off x="685800" y="3353235"/>
            <a:ext cx="5029200" cy="7315"/>
          </a:xfrm>
          <a:prstGeom prst="rect">
            <a:avLst/>
          </a:prstGeom>
          <a:solidFill>
            <a:srgbClr val="E2E8F0"/>
          </a:solidFill>
          <a:ln/>
        </p:spPr>
        <p:txBody>
          <a:bodyPr/>
          <a:lstStyle/>
          <a:p>
            <a:endParaRPr lang="en-US"/>
          </a:p>
        </p:txBody>
      </p:sp>
      <p:sp>
        <p:nvSpPr>
          <p:cNvPr id="21" name="Text 19"/>
          <p:cNvSpPr/>
          <p:nvPr/>
        </p:nvSpPr>
        <p:spPr>
          <a:xfrm>
            <a:off x="685800" y="3389811"/>
            <a:ext cx="1828800" cy="483326"/>
          </a:xfrm>
          <a:prstGeom prst="rect">
            <a:avLst/>
          </a:prstGeom>
          <a:noFill/>
          <a:ln/>
        </p:spPr>
        <p:txBody>
          <a:bodyPr wrap="square" lIns="0" tIns="0" rIns="0" bIns="0" rtlCol="0" anchor="t"/>
          <a:lstStyle/>
          <a:p>
            <a:pPr marL="0" indent="0">
              <a:buNone/>
            </a:pPr>
            <a:r>
              <a:rPr lang="en-US" sz="950" b="1" kern="0" spc="100" dirty="0">
                <a:solidFill>
                  <a:srgbClr val="64748B"/>
                </a:solidFill>
                <a:latin typeface="Calibri" pitchFamily="34" charset="0"/>
                <a:ea typeface="Calibri" pitchFamily="34" charset="-122"/>
                <a:cs typeface="Calibri" pitchFamily="34" charset="-120"/>
              </a:rPr>
              <a:t>WHAT WE BUY</a:t>
            </a:r>
            <a:endParaRPr lang="en-US" sz="950" spc="100" dirty="0"/>
          </a:p>
        </p:txBody>
      </p:sp>
      <p:sp>
        <p:nvSpPr>
          <p:cNvPr id="22" name="Text 20"/>
          <p:cNvSpPr/>
          <p:nvPr/>
        </p:nvSpPr>
        <p:spPr>
          <a:xfrm>
            <a:off x="2560320" y="3389811"/>
            <a:ext cx="3200400" cy="483326"/>
          </a:xfrm>
          <a:prstGeom prst="rect">
            <a:avLst/>
          </a:prstGeom>
          <a:noFill/>
          <a:ln/>
        </p:spPr>
        <p:txBody>
          <a:bodyPr wrap="square" lIns="0" tIns="0" rIns="0" bIns="0" rtlCol="0" anchor="t"/>
          <a:lstStyle/>
          <a:p>
            <a:pPr marL="0" indent="0">
              <a:buNone/>
            </a:pPr>
            <a:r>
              <a:rPr lang="en-US" sz="1050" dirty="0">
                <a:solidFill>
                  <a:srgbClr val="0F172A"/>
                </a:solidFill>
                <a:latin typeface="Calibri" pitchFamily="34" charset="0"/>
                <a:ea typeface="Calibri" pitchFamily="34" charset="-122"/>
                <a:cs typeface="Calibri" pitchFamily="34" charset="-120"/>
              </a:rPr>
              <a:t>40+ pre-integrated insurer connections, 150+ IRDAI-approved products, LendPro for credit-linked insurance, Corporate-Agent licence</a:t>
            </a:r>
            <a:endParaRPr lang="en-US" sz="1050" dirty="0"/>
          </a:p>
        </p:txBody>
      </p:sp>
      <p:sp>
        <p:nvSpPr>
          <p:cNvPr id="23" name="Shape 21"/>
          <p:cNvSpPr/>
          <p:nvPr/>
        </p:nvSpPr>
        <p:spPr>
          <a:xfrm>
            <a:off x="685800" y="3882281"/>
            <a:ext cx="5029200" cy="7315"/>
          </a:xfrm>
          <a:prstGeom prst="rect">
            <a:avLst/>
          </a:prstGeom>
          <a:solidFill>
            <a:srgbClr val="E2E8F0"/>
          </a:solidFill>
          <a:ln/>
        </p:spPr>
        <p:txBody>
          <a:bodyPr/>
          <a:lstStyle/>
          <a:p>
            <a:endParaRPr lang="en-US"/>
          </a:p>
        </p:txBody>
      </p:sp>
      <p:sp>
        <p:nvSpPr>
          <p:cNvPr id="24" name="Text 22"/>
          <p:cNvSpPr/>
          <p:nvPr/>
        </p:nvSpPr>
        <p:spPr>
          <a:xfrm>
            <a:off x="685800" y="3918857"/>
            <a:ext cx="1828800" cy="483326"/>
          </a:xfrm>
          <a:prstGeom prst="rect">
            <a:avLst/>
          </a:prstGeom>
          <a:noFill/>
          <a:ln/>
        </p:spPr>
        <p:txBody>
          <a:bodyPr wrap="square" lIns="0" tIns="0" rIns="0" bIns="0" rtlCol="0" anchor="t"/>
          <a:lstStyle/>
          <a:p>
            <a:pPr marL="0" indent="0">
              <a:buNone/>
            </a:pPr>
            <a:r>
              <a:rPr lang="en-US" sz="950" b="1" kern="0" spc="100" dirty="0">
                <a:solidFill>
                  <a:srgbClr val="64748B"/>
                </a:solidFill>
                <a:latin typeface="Calibri" pitchFamily="34" charset="0"/>
                <a:ea typeface="Calibri" pitchFamily="34" charset="-122"/>
                <a:cs typeface="Calibri" pitchFamily="34" charset="-120"/>
              </a:rPr>
              <a:t>WHERE IT ATTACHES</a:t>
            </a:r>
            <a:endParaRPr lang="en-US" sz="950" spc="100" dirty="0"/>
          </a:p>
        </p:txBody>
      </p:sp>
      <p:sp>
        <p:nvSpPr>
          <p:cNvPr id="25" name="Text 23"/>
          <p:cNvSpPr/>
          <p:nvPr/>
        </p:nvSpPr>
        <p:spPr>
          <a:xfrm>
            <a:off x="2560320" y="3918857"/>
            <a:ext cx="3200400" cy="483326"/>
          </a:xfrm>
          <a:prstGeom prst="rect">
            <a:avLst/>
          </a:prstGeom>
          <a:noFill/>
          <a:ln/>
        </p:spPr>
        <p:txBody>
          <a:bodyPr wrap="square" lIns="0" tIns="0" rIns="0" bIns="0" rtlCol="0" anchor="t"/>
          <a:lstStyle/>
          <a:p>
            <a:pPr marL="0" indent="0">
              <a:buNone/>
            </a:pPr>
            <a:r>
              <a:rPr lang="en-US" sz="1050" dirty="0">
                <a:solidFill>
                  <a:srgbClr val="0F172A"/>
                </a:solidFill>
                <a:latin typeface="Calibri" pitchFamily="34" charset="0"/>
                <a:ea typeface="Calibri" pitchFamily="34" charset="-122"/>
                <a:cs typeface="Calibri" pitchFamily="34" charset="-120"/>
              </a:rPr>
              <a:t>Affordability EMI · POS (warranty) · Setu bank cust. base · Credit+ int'l</a:t>
            </a:r>
            <a:endParaRPr lang="en-US" sz="1050" dirty="0"/>
          </a:p>
        </p:txBody>
      </p:sp>
      <p:sp>
        <p:nvSpPr>
          <p:cNvPr id="26" name="Shape 24"/>
          <p:cNvSpPr/>
          <p:nvPr/>
        </p:nvSpPr>
        <p:spPr>
          <a:xfrm>
            <a:off x="685800" y="4411327"/>
            <a:ext cx="5029200" cy="7315"/>
          </a:xfrm>
          <a:prstGeom prst="rect">
            <a:avLst/>
          </a:prstGeom>
          <a:solidFill>
            <a:srgbClr val="E2E8F0"/>
          </a:solidFill>
          <a:ln/>
        </p:spPr>
        <p:txBody>
          <a:bodyPr/>
          <a:lstStyle/>
          <a:p>
            <a:endParaRPr lang="en-US"/>
          </a:p>
        </p:txBody>
      </p:sp>
      <p:sp>
        <p:nvSpPr>
          <p:cNvPr id="27" name="Text 25"/>
          <p:cNvSpPr/>
          <p:nvPr/>
        </p:nvSpPr>
        <p:spPr>
          <a:xfrm>
            <a:off x="685800" y="4447903"/>
            <a:ext cx="1828800" cy="483326"/>
          </a:xfrm>
          <a:prstGeom prst="rect">
            <a:avLst/>
          </a:prstGeom>
          <a:noFill/>
          <a:ln/>
        </p:spPr>
        <p:txBody>
          <a:bodyPr wrap="square" lIns="0" tIns="0" rIns="0" bIns="0" rtlCol="0" anchor="t"/>
          <a:lstStyle/>
          <a:p>
            <a:pPr marL="0" indent="0">
              <a:buNone/>
            </a:pPr>
            <a:r>
              <a:rPr lang="en-US" sz="950" b="1" kern="0" spc="100" dirty="0">
                <a:solidFill>
                  <a:srgbClr val="64748B"/>
                </a:solidFill>
                <a:latin typeface="Calibri" pitchFamily="34" charset="0"/>
                <a:ea typeface="Calibri" pitchFamily="34" charset="-122"/>
                <a:cs typeface="Calibri" pitchFamily="34" charset="-120"/>
              </a:rPr>
              <a:t>TYPE OF VAS</a:t>
            </a:r>
            <a:endParaRPr lang="en-US" sz="950" spc="100" dirty="0"/>
          </a:p>
        </p:txBody>
      </p:sp>
      <p:sp>
        <p:nvSpPr>
          <p:cNvPr id="28" name="Text 26"/>
          <p:cNvSpPr/>
          <p:nvPr/>
        </p:nvSpPr>
        <p:spPr>
          <a:xfrm>
            <a:off x="2560320" y="4447903"/>
            <a:ext cx="3200400" cy="483326"/>
          </a:xfrm>
          <a:prstGeom prst="rect">
            <a:avLst/>
          </a:prstGeom>
          <a:noFill/>
          <a:ln/>
        </p:spPr>
        <p:txBody>
          <a:bodyPr wrap="square" lIns="0" tIns="0" rIns="0" bIns="0" rtlCol="0" anchor="t"/>
          <a:lstStyle/>
          <a:p>
            <a:pPr marL="0" indent="0">
              <a:buNone/>
            </a:pPr>
            <a:r>
              <a:rPr lang="en-US" sz="1050" dirty="0">
                <a:solidFill>
                  <a:srgbClr val="0F172A"/>
                </a:solidFill>
                <a:latin typeface="Calibri" pitchFamily="34" charset="0"/>
                <a:ea typeface="Calibri" pitchFamily="34" charset="-122"/>
                <a:cs typeface="Calibri" pitchFamily="34" charset="-120"/>
              </a:rPr>
              <a:t>Per-tx insurance commission, bancassurance SaaS, credit-shield bundling</a:t>
            </a:r>
            <a:endParaRPr lang="en-US" sz="1050" dirty="0"/>
          </a:p>
        </p:txBody>
      </p:sp>
      <p:sp>
        <p:nvSpPr>
          <p:cNvPr id="29" name="Shape 27"/>
          <p:cNvSpPr/>
          <p:nvPr/>
        </p:nvSpPr>
        <p:spPr>
          <a:xfrm>
            <a:off x="685800" y="4940373"/>
            <a:ext cx="5029200" cy="7315"/>
          </a:xfrm>
          <a:prstGeom prst="rect">
            <a:avLst/>
          </a:prstGeom>
          <a:solidFill>
            <a:srgbClr val="E2E8F0"/>
          </a:solidFill>
          <a:ln/>
        </p:spPr>
        <p:txBody>
          <a:bodyPr/>
          <a:lstStyle/>
          <a:p>
            <a:endParaRPr lang="en-US"/>
          </a:p>
        </p:txBody>
      </p:sp>
      <p:sp>
        <p:nvSpPr>
          <p:cNvPr id="30" name="Text 28"/>
          <p:cNvSpPr/>
          <p:nvPr/>
        </p:nvSpPr>
        <p:spPr>
          <a:xfrm>
            <a:off x="685800" y="4976949"/>
            <a:ext cx="1828800" cy="483326"/>
          </a:xfrm>
          <a:prstGeom prst="rect">
            <a:avLst/>
          </a:prstGeom>
          <a:noFill/>
          <a:ln/>
        </p:spPr>
        <p:txBody>
          <a:bodyPr wrap="square" lIns="0" tIns="0" rIns="0" bIns="0" rtlCol="0" anchor="t"/>
          <a:lstStyle/>
          <a:p>
            <a:pPr marL="0" indent="0">
              <a:buNone/>
            </a:pPr>
            <a:r>
              <a:rPr lang="en-US" sz="950" b="1" kern="0" spc="100" dirty="0">
                <a:solidFill>
                  <a:srgbClr val="64748B"/>
                </a:solidFill>
                <a:latin typeface="Calibri" pitchFamily="34" charset="0"/>
                <a:ea typeface="Calibri" pitchFamily="34" charset="-122"/>
                <a:cs typeface="Calibri" pitchFamily="34" charset="-120"/>
              </a:rPr>
              <a:t>Y3 (FY29) REVENUE</a:t>
            </a:r>
            <a:endParaRPr lang="en-US" sz="950" spc="100" dirty="0"/>
          </a:p>
        </p:txBody>
      </p:sp>
      <p:sp>
        <p:nvSpPr>
          <p:cNvPr id="31" name="Text 29"/>
          <p:cNvSpPr/>
          <p:nvPr/>
        </p:nvSpPr>
        <p:spPr>
          <a:xfrm>
            <a:off x="2560320" y="4976949"/>
            <a:ext cx="3200400" cy="483326"/>
          </a:xfrm>
          <a:prstGeom prst="rect">
            <a:avLst/>
          </a:prstGeom>
          <a:noFill/>
          <a:ln/>
        </p:spPr>
        <p:txBody>
          <a:bodyPr wrap="square" lIns="0" tIns="0" rIns="0" bIns="0" rtlCol="0" anchor="t"/>
          <a:lstStyle/>
          <a:p>
            <a:pPr marL="0" indent="0">
              <a:buNone/>
            </a:pPr>
            <a:r>
              <a:rPr lang="en-US" sz="1050" dirty="0">
                <a:solidFill>
                  <a:srgbClr val="0F172A"/>
                </a:solidFill>
                <a:latin typeface="Calibri" pitchFamily="34" charset="0"/>
                <a:ea typeface="Calibri" pitchFamily="34" charset="-122"/>
                <a:cs typeface="Calibri" pitchFamily="34" charset="-120"/>
              </a:rPr>
              <a:t>₹540 Cr  (incl. standalone trajectory ₹185 Cr + cross-sell ₹355 Cr)</a:t>
            </a:r>
            <a:endParaRPr lang="en-US" sz="1050" dirty="0"/>
          </a:p>
        </p:txBody>
      </p:sp>
      <p:sp>
        <p:nvSpPr>
          <p:cNvPr id="32" name="Shape 30"/>
          <p:cNvSpPr/>
          <p:nvPr/>
        </p:nvSpPr>
        <p:spPr>
          <a:xfrm>
            <a:off x="685800" y="5469418"/>
            <a:ext cx="5029200" cy="7315"/>
          </a:xfrm>
          <a:prstGeom prst="rect">
            <a:avLst/>
          </a:prstGeom>
          <a:solidFill>
            <a:srgbClr val="E2E8F0"/>
          </a:solidFill>
          <a:ln/>
        </p:spPr>
        <p:txBody>
          <a:bodyPr/>
          <a:lstStyle/>
          <a:p>
            <a:endParaRPr lang="en-US"/>
          </a:p>
        </p:txBody>
      </p:sp>
      <p:sp>
        <p:nvSpPr>
          <p:cNvPr id="33" name="Text 31"/>
          <p:cNvSpPr/>
          <p:nvPr/>
        </p:nvSpPr>
        <p:spPr>
          <a:xfrm>
            <a:off x="685800" y="5505994"/>
            <a:ext cx="1828800" cy="483326"/>
          </a:xfrm>
          <a:prstGeom prst="rect">
            <a:avLst/>
          </a:prstGeom>
          <a:noFill/>
          <a:ln/>
        </p:spPr>
        <p:txBody>
          <a:bodyPr wrap="square" lIns="0" tIns="0" rIns="0" bIns="0" rtlCol="0" anchor="t"/>
          <a:lstStyle/>
          <a:p>
            <a:pPr marL="0" indent="0">
              <a:buNone/>
            </a:pPr>
            <a:r>
              <a:rPr lang="en-US" sz="950" b="1" kern="0" spc="100" dirty="0">
                <a:solidFill>
                  <a:srgbClr val="64748B"/>
                </a:solidFill>
                <a:latin typeface="Calibri" pitchFamily="34" charset="0"/>
                <a:ea typeface="Calibri" pitchFamily="34" charset="-122"/>
                <a:cs typeface="Calibri" pitchFamily="34" charset="-120"/>
              </a:rPr>
              <a:t>Y3 EBITDA</a:t>
            </a:r>
            <a:endParaRPr lang="en-US" sz="950" spc="100" dirty="0"/>
          </a:p>
        </p:txBody>
      </p:sp>
      <p:sp>
        <p:nvSpPr>
          <p:cNvPr id="34" name="Text 32"/>
          <p:cNvSpPr/>
          <p:nvPr/>
        </p:nvSpPr>
        <p:spPr>
          <a:xfrm>
            <a:off x="2560320" y="5505994"/>
            <a:ext cx="3200400" cy="483326"/>
          </a:xfrm>
          <a:prstGeom prst="rect">
            <a:avLst/>
          </a:prstGeom>
          <a:noFill/>
          <a:ln/>
        </p:spPr>
        <p:txBody>
          <a:bodyPr wrap="square" lIns="0" tIns="0" rIns="0" bIns="0" rtlCol="0" anchor="t"/>
          <a:lstStyle/>
          <a:p>
            <a:pPr marL="0" indent="0">
              <a:buNone/>
            </a:pPr>
            <a:r>
              <a:rPr lang="en-US" sz="1050" dirty="0">
                <a:solidFill>
                  <a:srgbClr val="0F172A"/>
                </a:solidFill>
                <a:latin typeface="Calibri" pitchFamily="34" charset="0"/>
                <a:ea typeface="Calibri" pitchFamily="34" charset="-122"/>
                <a:cs typeface="Calibri" pitchFamily="34" charset="-120"/>
              </a:rPr>
              <a:t>~₹150 Cr  ·  3-yr EBITDA payback</a:t>
            </a:r>
            <a:endParaRPr lang="en-US" sz="1050" dirty="0"/>
          </a:p>
        </p:txBody>
      </p:sp>
      <p:sp>
        <p:nvSpPr>
          <p:cNvPr id="35" name="Shape 33"/>
          <p:cNvSpPr/>
          <p:nvPr/>
        </p:nvSpPr>
        <p:spPr>
          <a:xfrm>
            <a:off x="685800" y="5998464"/>
            <a:ext cx="5029200" cy="7315"/>
          </a:xfrm>
          <a:prstGeom prst="rect">
            <a:avLst/>
          </a:prstGeom>
          <a:solidFill>
            <a:srgbClr val="E2E8F0"/>
          </a:solidFill>
          <a:ln/>
        </p:spPr>
        <p:txBody>
          <a:bodyPr/>
          <a:lstStyle/>
          <a:p>
            <a:endParaRPr lang="en-US"/>
          </a:p>
        </p:txBody>
      </p:sp>
      <p:sp>
        <p:nvSpPr>
          <p:cNvPr id="36" name="Shape 34"/>
          <p:cNvSpPr/>
          <p:nvPr/>
        </p:nvSpPr>
        <p:spPr>
          <a:xfrm>
            <a:off x="6217920" y="1417320"/>
            <a:ext cx="5486400" cy="777240"/>
          </a:xfrm>
          <a:prstGeom prst="rect">
            <a:avLst/>
          </a:prstGeom>
          <a:solidFill>
            <a:srgbClr val="0B1A14"/>
          </a:solidFill>
          <a:ln/>
        </p:spPr>
        <p:txBody>
          <a:bodyPr/>
          <a:lstStyle/>
          <a:p>
            <a:endParaRPr lang="en-US"/>
          </a:p>
        </p:txBody>
      </p:sp>
      <p:sp>
        <p:nvSpPr>
          <p:cNvPr id="39" name="Text 37"/>
          <p:cNvSpPr/>
          <p:nvPr/>
        </p:nvSpPr>
        <p:spPr>
          <a:xfrm>
            <a:off x="7845552" y="1481328"/>
            <a:ext cx="3703320" cy="384048"/>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WebEngage</a:t>
            </a:r>
            <a:endParaRPr lang="en-US" sz="2000" dirty="0"/>
          </a:p>
        </p:txBody>
      </p:sp>
      <p:sp>
        <p:nvSpPr>
          <p:cNvPr id="40" name="Text 38"/>
          <p:cNvSpPr/>
          <p:nvPr/>
        </p:nvSpPr>
        <p:spPr>
          <a:xfrm>
            <a:off x="7845552" y="1856232"/>
            <a:ext cx="3703320" cy="292608"/>
          </a:xfrm>
          <a:prstGeom prst="rect">
            <a:avLst/>
          </a:prstGeom>
          <a:noFill/>
          <a:ln/>
        </p:spPr>
        <p:txBody>
          <a:bodyPr wrap="square" lIns="0" tIns="0" rIns="0" bIns="0" rtlCol="0" anchor="ctr"/>
          <a:lstStyle/>
          <a:p>
            <a:pPr marL="0" indent="0">
              <a:buNone/>
            </a:pPr>
            <a:r>
              <a:rPr lang="en-US" sz="1100" i="1" dirty="0">
                <a:solidFill>
                  <a:srgbClr val="86EFAC"/>
                </a:solidFill>
                <a:latin typeface="Calibri" pitchFamily="34" charset="0"/>
                <a:ea typeface="Calibri" pitchFamily="34" charset="-122"/>
                <a:cs typeface="Calibri" pitchFamily="34" charset="-120"/>
              </a:rPr>
              <a:t>Marketing automation / Customer Data Platform</a:t>
            </a:r>
            <a:endParaRPr lang="en-US" sz="1100" dirty="0"/>
          </a:p>
        </p:txBody>
      </p:sp>
      <p:sp>
        <p:nvSpPr>
          <p:cNvPr id="41" name="Shape 39"/>
          <p:cNvSpPr/>
          <p:nvPr/>
        </p:nvSpPr>
        <p:spPr>
          <a:xfrm>
            <a:off x="6217920" y="2194560"/>
            <a:ext cx="5486400" cy="3977640"/>
          </a:xfrm>
          <a:prstGeom prst="rect">
            <a:avLst/>
          </a:prstGeom>
          <a:solidFill>
            <a:srgbClr val="FFFFFF"/>
          </a:solidFill>
          <a:ln w="6350">
            <a:solidFill>
              <a:srgbClr val="E2E8F0"/>
            </a:solidFill>
            <a:prstDash val="solid"/>
          </a:ln>
        </p:spPr>
        <p:txBody>
          <a:bodyPr/>
          <a:lstStyle/>
          <a:p>
            <a:endParaRPr lang="en-US"/>
          </a:p>
        </p:txBody>
      </p:sp>
      <p:sp>
        <p:nvSpPr>
          <p:cNvPr id="42" name="Text 40"/>
          <p:cNvSpPr/>
          <p:nvPr/>
        </p:nvSpPr>
        <p:spPr>
          <a:xfrm>
            <a:off x="6446520" y="2331720"/>
            <a:ext cx="1828800" cy="483326"/>
          </a:xfrm>
          <a:prstGeom prst="rect">
            <a:avLst/>
          </a:prstGeom>
          <a:noFill/>
          <a:ln/>
        </p:spPr>
        <p:txBody>
          <a:bodyPr wrap="square" lIns="0" tIns="0" rIns="0" bIns="0" rtlCol="0" anchor="t"/>
          <a:lstStyle/>
          <a:p>
            <a:pPr marL="0" indent="0">
              <a:buNone/>
            </a:pPr>
            <a:r>
              <a:rPr lang="en-US" sz="950" b="1" kern="0" spc="100" dirty="0">
                <a:solidFill>
                  <a:srgbClr val="64748B"/>
                </a:solidFill>
                <a:latin typeface="Calibri" pitchFamily="34" charset="0"/>
                <a:ea typeface="Calibri" pitchFamily="34" charset="-122"/>
                <a:cs typeface="Calibri" pitchFamily="34" charset="-120"/>
              </a:rPr>
              <a:t>TICKET (CASH)</a:t>
            </a:r>
            <a:endParaRPr lang="en-US" sz="950" spc="100" dirty="0"/>
          </a:p>
        </p:txBody>
      </p:sp>
      <p:sp>
        <p:nvSpPr>
          <p:cNvPr id="43" name="Text 41"/>
          <p:cNvSpPr/>
          <p:nvPr/>
        </p:nvSpPr>
        <p:spPr>
          <a:xfrm>
            <a:off x="8321040" y="2331720"/>
            <a:ext cx="3200400" cy="483326"/>
          </a:xfrm>
          <a:prstGeom prst="rect">
            <a:avLst/>
          </a:prstGeom>
          <a:noFill/>
          <a:ln/>
        </p:spPr>
        <p:txBody>
          <a:bodyPr wrap="square" lIns="0" tIns="0" rIns="0" bIns="0" rtlCol="0" anchor="t"/>
          <a:lstStyle/>
          <a:p>
            <a:pPr marL="0" indent="0">
              <a:buNone/>
            </a:pPr>
            <a:r>
              <a:rPr lang="en-US" sz="1050" dirty="0">
                <a:solidFill>
                  <a:srgbClr val="0F172A"/>
                </a:solidFill>
                <a:latin typeface="Calibri" pitchFamily="34" charset="0"/>
                <a:ea typeface="Calibri" pitchFamily="34" charset="-122"/>
                <a:cs typeface="Calibri" pitchFamily="34" charset="-120"/>
              </a:rPr>
              <a:t>$70–78M  (all-cash within envelope)</a:t>
            </a:r>
            <a:endParaRPr lang="en-US" sz="1050" dirty="0"/>
          </a:p>
        </p:txBody>
      </p:sp>
      <p:sp>
        <p:nvSpPr>
          <p:cNvPr id="44" name="Shape 42"/>
          <p:cNvSpPr/>
          <p:nvPr/>
        </p:nvSpPr>
        <p:spPr>
          <a:xfrm>
            <a:off x="6446520" y="2824190"/>
            <a:ext cx="5029200" cy="7315"/>
          </a:xfrm>
          <a:prstGeom prst="rect">
            <a:avLst/>
          </a:prstGeom>
          <a:solidFill>
            <a:srgbClr val="E2E8F0"/>
          </a:solidFill>
          <a:ln/>
        </p:spPr>
        <p:txBody>
          <a:bodyPr/>
          <a:lstStyle/>
          <a:p>
            <a:endParaRPr lang="en-US"/>
          </a:p>
        </p:txBody>
      </p:sp>
      <p:sp>
        <p:nvSpPr>
          <p:cNvPr id="45" name="Text 43"/>
          <p:cNvSpPr/>
          <p:nvPr/>
        </p:nvSpPr>
        <p:spPr>
          <a:xfrm>
            <a:off x="6446520" y="2860766"/>
            <a:ext cx="1828800" cy="483326"/>
          </a:xfrm>
          <a:prstGeom prst="rect">
            <a:avLst/>
          </a:prstGeom>
          <a:noFill/>
          <a:ln/>
        </p:spPr>
        <p:txBody>
          <a:bodyPr wrap="square" lIns="0" tIns="0" rIns="0" bIns="0" rtlCol="0" anchor="t"/>
          <a:lstStyle/>
          <a:p>
            <a:pPr marL="0" indent="0">
              <a:buNone/>
            </a:pPr>
            <a:r>
              <a:rPr lang="en-US" sz="950" b="1" kern="0" spc="100" dirty="0">
                <a:solidFill>
                  <a:srgbClr val="64748B"/>
                </a:solidFill>
                <a:latin typeface="Calibri" pitchFamily="34" charset="0"/>
                <a:ea typeface="Calibri" pitchFamily="34" charset="-122"/>
                <a:cs typeface="Calibri" pitchFamily="34" charset="-120"/>
              </a:rPr>
              <a:t>FY25 REVENUE</a:t>
            </a:r>
            <a:endParaRPr lang="en-US" sz="950" spc="100" dirty="0"/>
          </a:p>
        </p:txBody>
      </p:sp>
      <p:sp>
        <p:nvSpPr>
          <p:cNvPr id="46" name="Text 44"/>
          <p:cNvSpPr/>
          <p:nvPr/>
        </p:nvSpPr>
        <p:spPr>
          <a:xfrm>
            <a:off x="8321040" y="2860766"/>
            <a:ext cx="3200400" cy="483326"/>
          </a:xfrm>
          <a:prstGeom prst="rect">
            <a:avLst/>
          </a:prstGeom>
          <a:noFill/>
          <a:ln/>
        </p:spPr>
        <p:txBody>
          <a:bodyPr wrap="square" lIns="0" tIns="0" rIns="0" bIns="0" rtlCol="0" anchor="t"/>
          <a:lstStyle/>
          <a:p>
            <a:pPr marL="0" indent="0">
              <a:buNone/>
            </a:pPr>
            <a:r>
              <a:rPr lang="en-US" sz="1050" dirty="0">
                <a:solidFill>
                  <a:srgbClr val="0F172A"/>
                </a:solidFill>
                <a:latin typeface="Calibri" pitchFamily="34" charset="0"/>
                <a:ea typeface="Calibri" pitchFamily="34" charset="-122"/>
                <a:cs typeface="Calibri" pitchFamily="34" charset="-120"/>
              </a:rPr>
              <a:t>~₹150 Cr  ·  500+ enterprise customers</a:t>
            </a:r>
            <a:endParaRPr lang="en-US" sz="1050" dirty="0"/>
          </a:p>
        </p:txBody>
      </p:sp>
      <p:sp>
        <p:nvSpPr>
          <p:cNvPr id="47" name="Shape 45"/>
          <p:cNvSpPr/>
          <p:nvPr/>
        </p:nvSpPr>
        <p:spPr>
          <a:xfrm>
            <a:off x="6446520" y="3353235"/>
            <a:ext cx="5029200" cy="7315"/>
          </a:xfrm>
          <a:prstGeom prst="rect">
            <a:avLst/>
          </a:prstGeom>
          <a:solidFill>
            <a:srgbClr val="E2E8F0"/>
          </a:solidFill>
          <a:ln/>
        </p:spPr>
        <p:txBody>
          <a:bodyPr/>
          <a:lstStyle/>
          <a:p>
            <a:endParaRPr lang="en-US"/>
          </a:p>
        </p:txBody>
      </p:sp>
      <p:sp>
        <p:nvSpPr>
          <p:cNvPr id="48" name="Text 46"/>
          <p:cNvSpPr/>
          <p:nvPr/>
        </p:nvSpPr>
        <p:spPr>
          <a:xfrm>
            <a:off x="6446520" y="3389811"/>
            <a:ext cx="1828800" cy="483326"/>
          </a:xfrm>
          <a:prstGeom prst="rect">
            <a:avLst/>
          </a:prstGeom>
          <a:noFill/>
          <a:ln/>
        </p:spPr>
        <p:txBody>
          <a:bodyPr wrap="square" lIns="0" tIns="0" rIns="0" bIns="0" rtlCol="0" anchor="t"/>
          <a:lstStyle/>
          <a:p>
            <a:pPr marL="0" indent="0">
              <a:buNone/>
            </a:pPr>
            <a:r>
              <a:rPr lang="en-US" sz="950" b="1" kern="0" spc="100" dirty="0">
                <a:solidFill>
                  <a:srgbClr val="64748B"/>
                </a:solidFill>
                <a:latin typeface="Calibri" pitchFamily="34" charset="0"/>
                <a:ea typeface="Calibri" pitchFamily="34" charset="-122"/>
                <a:cs typeface="Calibri" pitchFamily="34" charset="-120"/>
              </a:rPr>
              <a:t>WHAT WE BUY</a:t>
            </a:r>
            <a:endParaRPr lang="en-US" sz="950" spc="100" dirty="0"/>
          </a:p>
        </p:txBody>
      </p:sp>
      <p:sp>
        <p:nvSpPr>
          <p:cNvPr id="49" name="Text 47"/>
          <p:cNvSpPr/>
          <p:nvPr/>
        </p:nvSpPr>
        <p:spPr>
          <a:xfrm>
            <a:off x="8321040" y="3389811"/>
            <a:ext cx="3200400" cy="483326"/>
          </a:xfrm>
          <a:prstGeom prst="rect">
            <a:avLst/>
          </a:prstGeom>
          <a:noFill/>
          <a:ln/>
        </p:spPr>
        <p:txBody>
          <a:bodyPr wrap="square" lIns="0" tIns="0" rIns="0" bIns="0" rtlCol="0" anchor="t"/>
          <a:lstStyle/>
          <a:p>
            <a:pPr marL="0" indent="0">
              <a:buNone/>
            </a:pPr>
            <a:r>
              <a:rPr lang="en-US" sz="1050" dirty="0">
                <a:solidFill>
                  <a:srgbClr val="0F172A"/>
                </a:solidFill>
                <a:latin typeface="Calibri" pitchFamily="34" charset="0"/>
                <a:ea typeface="Calibri" pitchFamily="34" charset="-122"/>
                <a:cs typeface="Calibri" pitchFamily="34" charset="-120"/>
              </a:rPr>
              <a:t>Enterprise CDP, journey orchestration, omnichannel messaging, retention analytics — used by retail, BFSI, e-commerce, F&amp;B chains</a:t>
            </a:r>
            <a:endParaRPr lang="en-US" sz="1050" dirty="0"/>
          </a:p>
        </p:txBody>
      </p:sp>
      <p:sp>
        <p:nvSpPr>
          <p:cNvPr id="50" name="Shape 48"/>
          <p:cNvSpPr/>
          <p:nvPr/>
        </p:nvSpPr>
        <p:spPr>
          <a:xfrm>
            <a:off x="6446520" y="3882281"/>
            <a:ext cx="5029200" cy="7315"/>
          </a:xfrm>
          <a:prstGeom prst="rect">
            <a:avLst/>
          </a:prstGeom>
          <a:solidFill>
            <a:srgbClr val="E2E8F0"/>
          </a:solidFill>
          <a:ln/>
        </p:spPr>
        <p:txBody>
          <a:bodyPr/>
          <a:lstStyle/>
          <a:p>
            <a:endParaRPr lang="en-US"/>
          </a:p>
        </p:txBody>
      </p:sp>
      <p:sp>
        <p:nvSpPr>
          <p:cNvPr id="51" name="Text 49"/>
          <p:cNvSpPr/>
          <p:nvPr/>
        </p:nvSpPr>
        <p:spPr>
          <a:xfrm>
            <a:off x="6446520" y="3918857"/>
            <a:ext cx="1828800" cy="483326"/>
          </a:xfrm>
          <a:prstGeom prst="rect">
            <a:avLst/>
          </a:prstGeom>
          <a:noFill/>
          <a:ln/>
        </p:spPr>
        <p:txBody>
          <a:bodyPr wrap="square" lIns="0" tIns="0" rIns="0" bIns="0" rtlCol="0" anchor="t"/>
          <a:lstStyle/>
          <a:p>
            <a:pPr marL="0" indent="0">
              <a:buNone/>
            </a:pPr>
            <a:r>
              <a:rPr lang="en-US" sz="950" b="1" kern="0" spc="100" dirty="0">
                <a:solidFill>
                  <a:srgbClr val="64748B"/>
                </a:solidFill>
                <a:latin typeface="Calibri" pitchFamily="34" charset="0"/>
                <a:ea typeface="Calibri" pitchFamily="34" charset="-122"/>
                <a:cs typeface="Calibri" pitchFamily="34" charset="-120"/>
              </a:rPr>
              <a:t>WHERE IT ATTACHES</a:t>
            </a:r>
            <a:endParaRPr lang="en-US" sz="950" spc="100" dirty="0"/>
          </a:p>
        </p:txBody>
      </p:sp>
      <p:sp>
        <p:nvSpPr>
          <p:cNvPr id="52" name="Text 50"/>
          <p:cNvSpPr/>
          <p:nvPr/>
        </p:nvSpPr>
        <p:spPr>
          <a:xfrm>
            <a:off x="8321040" y="3918857"/>
            <a:ext cx="3200400" cy="483326"/>
          </a:xfrm>
          <a:prstGeom prst="rect">
            <a:avLst/>
          </a:prstGeom>
          <a:noFill/>
          <a:ln/>
        </p:spPr>
        <p:txBody>
          <a:bodyPr wrap="square" lIns="0" tIns="0" rIns="0" bIns="0" rtlCol="0" anchor="t"/>
          <a:lstStyle/>
          <a:p>
            <a:pPr marL="0" indent="0">
              <a:buNone/>
            </a:pPr>
            <a:r>
              <a:rPr lang="en-US" sz="1050" dirty="0">
                <a:solidFill>
                  <a:srgbClr val="0F172A"/>
                </a:solidFill>
                <a:latin typeface="Calibri" pitchFamily="34" charset="0"/>
                <a:ea typeface="Calibri" pitchFamily="34" charset="-122"/>
                <a:cs typeface="Calibri" pitchFamily="34" charset="-120"/>
              </a:rPr>
              <a:t>Top 10 enterprise accounts (banks + retailers + brands) — incumbent in 6 of likely top 10</a:t>
            </a:r>
            <a:endParaRPr lang="en-US" sz="1050" dirty="0"/>
          </a:p>
        </p:txBody>
      </p:sp>
      <p:sp>
        <p:nvSpPr>
          <p:cNvPr id="53" name="Shape 51"/>
          <p:cNvSpPr/>
          <p:nvPr/>
        </p:nvSpPr>
        <p:spPr>
          <a:xfrm>
            <a:off x="6446520" y="4411327"/>
            <a:ext cx="5029200" cy="7315"/>
          </a:xfrm>
          <a:prstGeom prst="rect">
            <a:avLst/>
          </a:prstGeom>
          <a:solidFill>
            <a:srgbClr val="E2E8F0"/>
          </a:solidFill>
          <a:ln/>
        </p:spPr>
        <p:txBody>
          <a:bodyPr/>
          <a:lstStyle/>
          <a:p>
            <a:endParaRPr lang="en-US"/>
          </a:p>
        </p:txBody>
      </p:sp>
      <p:sp>
        <p:nvSpPr>
          <p:cNvPr id="54" name="Text 52"/>
          <p:cNvSpPr/>
          <p:nvPr/>
        </p:nvSpPr>
        <p:spPr>
          <a:xfrm>
            <a:off x="6446520" y="4447903"/>
            <a:ext cx="1828800" cy="483326"/>
          </a:xfrm>
          <a:prstGeom prst="rect">
            <a:avLst/>
          </a:prstGeom>
          <a:noFill/>
          <a:ln/>
        </p:spPr>
        <p:txBody>
          <a:bodyPr wrap="square" lIns="0" tIns="0" rIns="0" bIns="0" rtlCol="0" anchor="t"/>
          <a:lstStyle/>
          <a:p>
            <a:pPr marL="0" indent="0">
              <a:buNone/>
            </a:pPr>
            <a:r>
              <a:rPr lang="en-US" sz="950" b="1" kern="0" spc="100" dirty="0">
                <a:solidFill>
                  <a:srgbClr val="64748B"/>
                </a:solidFill>
                <a:latin typeface="Calibri" pitchFamily="34" charset="0"/>
                <a:ea typeface="Calibri" pitchFamily="34" charset="-122"/>
                <a:cs typeface="Calibri" pitchFamily="34" charset="-120"/>
              </a:rPr>
              <a:t>TYPE OF VAS</a:t>
            </a:r>
            <a:endParaRPr lang="en-US" sz="950" spc="100" dirty="0"/>
          </a:p>
        </p:txBody>
      </p:sp>
      <p:sp>
        <p:nvSpPr>
          <p:cNvPr id="55" name="Text 53"/>
          <p:cNvSpPr/>
          <p:nvPr/>
        </p:nvSpPr>
        <p:spPr>
          <a:xfrm>
            <a:off x="8321040" y="4447903"/>
            <a:ext cx="3200400" cy="483326"/>
          </a:xfrm>
          <a:prstGeom prst="rect">
            <a:avLst/>
          </a:prstGeom>
          <a:noFill/>
          <a:ln/>
        </p:spPr>
        <p:txBody>
          <a:bodyPr wrap="square" lIns="0" tIns="0" rIns="0" bIns="0" rtlCol="0" anchor="t"/>
          <a:lstStyle/>
          <a:p>
            <a:pPr marL="0" indent="0">
              <a:buNone/>
            </a:pPr>
            <a:r>
              <a:rPr lang="en-US" sz="1050" dirty="0">
                <a:solidFill>
                  <a:srgbClr val="0F172A"/>
                </a:solidFill>
                <a:latin typeface="Calibri" pitchFamily="34" charset="0"/>
                <a:ea typeface="Calibri" pitchFamily="34" charset="-122"/>
                <a:cs typeface="Calibri" pitchFamily="34" charset="-120"/>
              </a:rPr>
              <a:t>SaaS subscription per merchant + usage-based messaging revenue</a:t>
            </a:r>
            <a:endParaRPr lang="en-US" sz="1050" dirty="0"/>
          </a:p>
        </p:txBody>
      </p:sp>
      <p:sp>
        <p:nvSpPr>
          <p:cNvPr id="56" name="Shape 54"/>
          <p:cNvSpPr/>
          <p:nvPr/>
        </p:nvSpPr>
        <p:spPr>
          <a:xfrm>
            <a:off x="6446520" y="4940373"/>
            <a:ext cx="5029200" cy="7315"/>
          </a:xfrm>
          <a:prstGeom prst="rect">
            <a:avLst/>
          </a:prstGeom>
          <a:solidFill>
            <a:srgbClr val="E2E8F0"/>
          </a:solidFill>
          <a:ln/>
        </p:spPr>
        <p:txBody>
          <a:bodyPr/>
          <a:lstStyle/>
          <a:p>
            <a:endParaRPr lang="en-US"/>
          </a:p>
        </p:txBody>
      </p:sp>
      <p:sp>
        <p:nvSpPr>
          <p:cNvPr id="57" name="Text 55"/>
          <p:cNvSpPr/>
          <p:nvPr/>
        </p:nvSpPr>
        <p:spPr>
          <a:xfrm>
            <a:off x="6446520" y="4976949"/>
            <a:ext cx="1828800" cy="483326"/>
          </a:xfrm>
          <a:prstGeom prst="rect">
            <a:avLst/>
          </a:prstGeom>
          <a:noFill/>
          <a:ln/>
        </p:spPr>
        <p:txBody>
          <a:bodyPr wrap="square" lIns="0" tIns="0" rIns="0" bIns="0" rtlCol="0" anchor="t"/>
          <a:lstStyle/>
          <a:p>
            <a:pPr marL="0" indent="0">
              <a:buNone/>
            </a:pPr>
            <a:r>
              <a:rPr lang="en-US" sz="950" b="1" kern="0" spc="100" dirty="0">
                <a:solidFill>
                  <a:srgbClr val="64748B"/>
                </a:solidFill>
                <a:latin typeface="Calibri" pitchFamily="34" charset="0"/>
                <a:ea typeface="Calibri" pitchFamily="34" charset="-122"/>
                <a:cs typeface="Calibri" pitchFamily="34" charset="-120"/>
              </a:rPr>
              <a:t>Y3 (FY29) REVENUE</a:t>
            </a:r>
            <a:endParaRPr lang="en-US" sz="950" spc="100" dirty="0"/>
          </a:p>
        </p:txBody>
      </p:sp>
      <p:sp>
        <p:nvSpPr>
          <p:cNvPr id="58" name="Text 56"/>
          <p:cNvSpPr/>
          <p:nvPr/>
        </p:nvSpPr>
        <p:spPr>
          <a:xfrm>
            <a:off x="8321040" y="4976949"/>
            <a:ext cx="3200400" cy="483326"/>
          </a:xfrm>
          <a:prstGeom prst="rect">
            <a:avLst/>
          </a:prstGeom>
          <a:noFill/>
          <a:ln/>
        </p:spPr>
        <p:txBody>
          <a:bodyPr wrap="square" lIns="0" tIns="0" rIns="0" bIns="0" rtlCol="0" anchor="t"/>
          <a:lstStyle/>
          <a:p>
            <a:pPr marL="0" indent="0">
              <a:buNone/>
            </a:pPr>
            <a:r>
              <a:rPr lang="en-US" sz="1050" dirty="0">
                <a:solidFill>
                  <a:srgbClr val="0F172A"/>
                </a:solidFill>
                <a:latin typeface="Calibri" pitchFamily="34" charset="0"/>
                <a:ea typeface="Calibri" pitchFamily="34" charset="-122"/>
                <a:cs typeface="Calibri" pitchFamily="34" charset="-120"/>
              </a:rPr>
              <a:t>₹247 Cr  (incl. standalone trajectory ₹140 Cr + cross-sell ₹107 Cr)</a:t>
            </a:r>
            <a:endParaRPr lang="en-US" sz="1050" dirty="0"/>
          </a:p>
        </p:txBody>
      </p:sp>
      <p:sp>
        <p:nvSpPr>
          <p:cNvPr id="59" name="Shape 57"/>
          <p:cNvSpPr/>
          <p:nvPr/>
        </p:nvSpPr>
        <p:spPr>
          <a:xfrm>
            <a:off x="6446520" y="5469418"/>
            <a:ext cx="5029200" cy="7315"/>
          </a:xfrm>
          <a:prstGeom prst="rect">
            <a:avLst/>
          </a:prstGeom>
          <a:solidFill>
            <a:srgbClr val="E2E8F0"/>
          </a:solidFill>
          <a:ln/>
        </p:spPr>
        <p:txBody>
          <a:bodyPr/>
          <a:lstStyle/>
          <a:p>
            <a:endParaRPr lang="en-US"/>
          </a:p>
        </p:txBody>
      </p:sp>
      <p:sp>
        <p:nvSpPr>
          <p:cNvPr id="60" name="Text 58"/>
          <p:cNvSpPr/>
          <p:nvPr/>
        </p:nvSpPr>
        <p:spPr>
          <a:xfrm>
            <a:off x="6446520" y="5505994"/>
            <a:ext cx="1828800" cy="483326"/>
          </a:xfrm>
          <a:prstGeom prst="rect">
            <a:avLst/>
          </a:prstGeom>
          <a:noFill/>
          <a:ln/>
        </p:spPr>
        <p:txBody>
          <a:bodyPr wrap="square" lIns="0" tIns="0" rIns="0" bIns="0" rtlCol="0" anchor="t"/>
          <a:lstStyle/>
          <a:p>
            <a:pPr marL="0" indent="0">
              <a:buNone/>
            </a:pPr>
            <a:r>
              <a:rPr lang="en-US" sz="950" b="1" kern="0" spc="100" dirty="0">
                <a:solidFill>
                  <a:srgbClr val="64748B"/>
                </a:solidFill>
                <a:latin typeface="Calibri" pitchFamily="34" charset="0"/>
                <a:ea typeface="Calibri" pitchFamily="34" charset="-122"/>
                <a:cs typeface="Calibri" pitchFamily="34" charset="-120"/>
              </a:rPr>
              <a:t>Y3 EBITDA</a:t>
            </a:r>
            <a:endParaRPr lang="en-US" sz="950" spc="100" dirty="0"/>
          </a:p>
        </p:txBody>
      </p:sp>
      <p:sp>
        <p:nvSpPr>
          <p:cNvPr id="61" name="Text 59"/>
          <p:cNvSpPr/>
          <p:nvPr/>
        </p:nvSpPr>
        <p:spPr>
          <a:xfrm>
            <a:off x="8321040" y="5505994"/>
            <a:ext cx="3200400" cy="483326"/>
          </a:xfrm>
          <a:prstGeom prst="rect">
            <a:avLst/>
          </a:prstGeom>
          <a:noFill/>
          <a:ln/>
        </p:spPr>
        <p:txBody>
          <a:bodyPr wrap="square" lIns="0" tIns="0" rIns="0" bIns="0" rtlCol="0" anchor="t"/>
          <a:lstStyle/>
          <a:p>
            <a:pPr marL="0" indent="0">
              <a:buNone/>
            </a:pPr>
            <a:r>
              <a:rPr lang="en-US" sz="1050" dirty="0">
                <a:solidFill>
                  <a:srgbClr val="0F172A"/>
                </a:solidFill>
                <a:latin typeface="Calibri" pitchFamily="34" charset="0"/>
                <a:ea typeface="Calibri" pitchFamily="34" charset="-122"/>
                <a:cs typeface="Calibri" pitchFamily="34" charset="-120"/>
              </a:rPr>
              <a:t>~₹95 Cr  ·  4-yr EBITDA payback</a:t>
            </a:r>
            <a:endParaRPr lang="en-US" sz="1050" dirty="0"/>
          </a:p>
        </p:txBody>
      </p:sp>
      <p:sp>
        <p:nvSpPr>
          <p:cNvPr id="62" name="Shape 60"/>
          <p:cNvSpPr/>
          <p:nvPr/>
        </p:nvSpPr>
        <p:spPr>
          <a:xfrm>
            <a:off x="6446520" y="5998464"/>
            <a:ext cx="5029200" cy="7315"/>
          </a:xfrm>
          <a:prstGeom prst="rect">
            <a:avLst/>
          </a:prstGeom>
          <a:solidFill>
            <a:srgbClr val="E2E8F0"/>
          </a:solidFill>
          <a:ln/>
        </p:spPr>
        <p:txBody>
          <a:bodyPr/>
          <a:lstStyle/>
          <a:p>
            <a:endParaRPr lang="en-US"/>
          </a:p>
        </p:txBody>
      </p:sp>
      <p:sp>
        <p:nvSpPr>
          <p:cNvPr id="63" name="Shape 61"/>
          <p:cNvSpPr/>
          <p:nvPr/>
        </p:nvSpPr>
        <p:spPr>
          <a:xfrm>
            <a:off x="457200" y="6217920"/>
            <a:ext cx="11247120" cy="292608"/>
          </a:xfrm>
          <a:prstGeom prst="rect">
            <a:avLst/>
          </a:prstGeom>
          <a:solidFill>
            <a:srgbClr val="F8FAFC"/>
          </a:solidFill>
          <a:ln w="6350">
            <a:solidFill>
              <a:srgbClr val="E2E8F0"/>
            </a:solidFill>
            <a:prstDash val="solid"/>
          </a:ln>
        </p:spPr>
        <p:txBody>
          <a:bodyPr/>
          <a:lstStyle/>
          <a:p>
            <a:endParaRPr lang="en-US"/>
          </a:p>
        </p:txBody>
      </p:sp>
      <p:sp>
        <p:nvSpPr>
          <p:cNvPr id="64" name="Shape 62"/>
          <p:cNvSpPr/>
          <p:nvPr/>
        </p:nvSpPr>
        <p:spPr>
          <a:xfrm>
            <a:off x="457200" y="6217920"/>
            <a:ext cx="73152" cy="292608"/>
          </a:xfrm>
          <a:prstGeom prst="rect">
            <a:avLst/>
          </a:prstGeom>
          <a:solidFill>
            <a:srgbClr val="16A34A"/>
          </a:solidFill>
          <a:ln/>
        </p:spPr>
        <p:txBody>
          <a:bodyPr/>
          <a:lstStyle/>
          <a:p>
            <a:endParaRPr lang="en-US"/>
          </a:p>
        </p:txBody>
      </p:sp>
      <p:sp>
        <p:nvSpPr>
          <p:cNvPr id="65" name="Text 63"/>
          <p:cNvSpPr/>
          <p:nvPr/>
        </p:nvSpPr>
        <p:spPr>
          <a:xfrm>
            <a:off x="685800" y="6217920"/>
            <a:ext cx="10972800" cy="292608"/>
          </a:xfrm>
          <a:prstGeom prst="rect">
            <a:avLst/>
          </a:prstGeom>
          <a:noFill/>
          <a:ln/>
        </p:spPr>
        <p:txBody>
          <a:bodyPr wrap="square" lIns="0" tIns="0" rIns="0" bIns="0" rtlCol="0" anchor="ctr"/>
          <a:lstStyle/>
          <a:p>
            <a:pPr marL="0" indent="0">
              <a:buNone/>
            </a:pPr>
            <a:r>
              <a:rPr lang="en-US" sz="1050" i="1" dirty="0">
                <a:solidFill>
                  <a:srgbClr val="0F172A"/>
                </a:solidFill>
                <a:latin typeface="Calibri" pitchFamily="34" charset="0"/>
                <a:ea typeface="Calibri" pitchFamily="34" charset="-122"/>
                <a:cs typeface="Calibri" pitchFamily="34" charset="-120"/>
              </a:rPr>
              <a:t>Targets are complementary — Riskcovry attaches at the transaction layer (auto), WebEngage attaches at the enterprise-account layer (bundled sale).</a:t>
            </a:r>
            <a:endParaRPr lang="en-US" sz="1050" dirty="0"/>
          </a:p>
        </p:txBody>
      </p:sp>
      <p:pic>
        <p:nvPicPr>
          <p:cNvPr id="2054" name="Picture 6" descr="About Us | Riskcovry">
            <a:extLst>
              <a:ext uri="{FF2B5EF4-FFF2-40B4-BE49-F238E27FC236}">
                <a16:creationId xmlns:a16="http://schemas.microsoft.com/office/drawing/2014/main" id="{4F8C7937-3413-1C79-02FE-8C13CD99419B}"/>
              </a:ext>
            </a:extLst>
          </p:cNvPr>
          <p:cNvPicPr>
            <a:picLocks noChangeAspect="1" noChangeArrowheads="1"/>
          </p:cNvPicPr>
          <p:nvPr/>
        </p:nvPicPr>
        <p:blipFill rotWithShape="1">
          <a:blip r:embed="rId3">
            <a:clrChange>
              <a:clrFrom>
                <a:srgbClr val="002F78"/>
              </a:clrFrom>
              <a:clrTo>
                <a:srgbClr val="002F78">
                  <a:alpha val="0"/>
                </a:srgbClr>
              </a:clrTo>
            </a:clrChange>
            <a:extLst>
              <a:ext uri="{28A0092B-C50C-407E-A947-70E740481C1C}">
                <a14:useLocalDpi xmlns:a14="http://schemas.microsoft.com/office/drawing/2010/main" val="0"/>
              </a:ext>
            </a:extLst>
          </a:blip>
          <a:srcRect l="18667" t="44057" r="47333" b="42065"/>
          <a:stretch>
            <a:fillRect/>
          </a:stretch>
        </p:blipFill>
        <p:spPr bwMode="auto">
          <a:xfrm>
            <a:off x="637032" y="1685108"/>
            <a:ext cx="1267969" cy="271708"/>
          </a:xfrm>
          <a:prstGeom prst="rect">
            <a:avLst/>
          </a:prstGeom>
          <a:noFill/>
          <a:extLst>
            <a:ext uri="{909E8E84-426E-40DD-AFC4-6F175D3DCCD1}">
              <a14:hiddenFill xmlns:a14="http://schemas.microsoft.com/office/drawing/2010/main">
                <a:solidFill>
                  <a:srgbClr val="FFFFFF"/>
                </a:solidFill>
              </a14:hiddenFill>
            </a:ext>
          </a:extLst>
        </p:spPr>
      </p:pic>
      <p:pic>
        <p:nvPicPr>
          <p:cNvPr id="68" name="Picture 67">
            <a:extLst>
              <a:ext uri="{FF2B5EF4-FFF2-40B4-BE49-F238E27FC236}">
                <a16:creationId xmlns:a16="http://schemas.microsoft.com/office/drawing/2014/main" id="{84CC75E8-ECC9-3AFB-C055-640C047B5803}"/>
              </a:ext>
            </a:extLst>
          </p:cNvPr>
          <p:cNvPicPr>
            <a:picLocks noChangeAspect="1"/>
          </p:cNvPicPr>
          <p:nvPr/>
        </p:nvPicPr>
        <p:blipFill>
          <a:blip r:embed="rId4">
            <a:clrChange>
              <a:clrFrom>
                <a:srgbClr val="0C6DCE"/>
              </a:clrFrom>
              <a:clrTo>
                <a:srgbClr val="0C6DCE">
                  <a:alpha val="0"/>
                </a:srgbClr>
              </a:clrTo>
            </a:clrChange>
          </a:blip>
          <a:stretch>
            <a:fillRect/>
          </a:stretch>
        </p:blipFill>
        <p:spPr>
          <a:xfrm>
            <a:off x="6611112" y="1167297"/>
            <a:ext cx="1188720" cy="1188720"/>
          </a:xfrm>
          <a:prstGeom prst="rect">
            <a:avLst/>
          </a:prstGeom>
        </p:spPr>
      </p:pic>
      <p:pic>
        <p:nvPicPr>
          <p:cNvPr id="69" name="Picture 2" descr="Pine Labs Launches Paper POS, a Merged QR Product to Accept Payments via  UPI and Bharat QR Apps">
            <a:extLst>
              <a:ext uri="{FF2B5EF4-FFF2-40B4-BE49-F238E27FC236}">
                <a16:creationId xmlns:a16="http://schemas.microsoft.com/office/drawing/2014/main" id="{6317C5D9-139C-B4CE-D57C-9951A24EB0B4}"/>
              </a:ext>
            </a:extLst>
          </p:cNvPr>
          <p:cNvPicPr>
            <a:picLocks noChangeAspect="1" noChangeArrowheads="1"/>
          </p:cNvPicPr>
          <p:nvPr/>
        </p:nvPicPr>
        <p:blipFill>
          <a:blip r:embed="rId5">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1177016" y="-102584"/>
            <a:ext cx="1115568" cy="58451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16A34A"/>
          </a:solidFill>
          <a:ln/>
        </p:spPr>
        <p:txBody>
          <a:bodyPr/>
          <a:lstStyle/>
          <a:p>
            <a:endParaRPr lang="en-US"/>
          </a:p>
        </p:txBody>
      </p:sp>
      <p:sp>
        <p:nvSpPr>
          <p:cNvPr id="3" name="Text 1"/>
          <p:cNvSpPr/>
          <p:nvPr/>
        </p:nvSpPr>
        <p:spPr>
          <a:xfrm>
            <a:off x="457200" y="201168"/>
            <a:ext cx="10058400" cy="256032"/>
          </a:xfrm>
          <a:prstGeom prst="rect">
            <a:avLst/>
          </a:prstGeom>
          <a:noFill/>
          <a:ln/>
        </p:spPr>
        <p:txBody>
          <a:bodyPr wrap="square" lIns="0" tIns="0" rIns="0" bIns="0" rtlCol="0" anchor="ctr"/>
          <a:lstStyle/>
          <a:p>
            <a:pPr marL="0" indent="0">
              <a:buNone/>
            </a:pPr>
            <a:r>
              <a:rPr lang="en-US" sz="900" b="1" kern="0" spc="100" dirty="0">
                <a:solidFill>
                  <a:srgbClr val="16A34A"/>
                </a:solidFill>
                <a:latin typeface="Calibri" pitchFamily="34" charset="0"/>
                <a:ea typeface="Calibri" pitchFamily="34" charset="-122"/>
                <a:cs typeface="Calibri" pitchFamily="34" charset="-120"/>
              </a:rPr>
              <a:t>TARGET #1 — RISKCOVRY</a:t>
            </a:r>
            <a:endParaRPr lang="en-US" sz="900" spc="100" dirty="0"/>
          </a:p>
        </p:txBody>
      </p:sp>
      <p:sp>
        <p:nvSpPr>
          <p:cNvPr id="4" name="Text 2"/>
          <p:cNvSpPr/>
          <p:nvPr/>
        </p:nvSpPr>
        <p:spPr>
          <a:xfrm>
            <a:off x="457200" y="457200"/>
            <a:ext cx="11247120" cy="731520"/>
          </a:xfrm>
          <a:prstGeom prst="rect">
            <a:avLst/>
          </a:prstGeom>
          <a:noFill/>
          <a:ln/>
        </p:spPr>
        <p:txBody>
          <a:bodyPr wrap="square" lIns="0" tIns="0" rIns="0" bIns="0" rtlCol="0" anchor="ctr"/>
          <a:lstStyle/>
          <a:p>
            <a:pPr marL="0" indent="0">
              <a:buNone/>
            </a:pPr>
            <a:r>
              <a:rPr lang="en-US" sz="2200" b="1" dirty="0">
                <a:solidFill>
                  <a:srgbClr val="0F172A"/>
                </a:solidFill>
                <a:latin typeface="Calibri" pitchFamily="34" charset="0"/>
                <a:ea typeface="Calibri" pitchFamily="34" charset="-122"/>
                <a:cs typeface="Calibri" pitchFamily="34" charset="-120"/>
              </a:rPr>
              <a:t>Embedded-insurance shelf that rides every Pine Labs EMI, POS, and bank-API transaction</a:t>
            </a:r>
            <a:endParaRPr lang="en-US" sz="2200" dirty="0"/>
          </a:p>
        </p:txBody>
      </p:sp>
      <p:sp>
        <p:nvSpPr>
          <p:cNvPr id="5" name="Shape 3"/>
          <p:cNvSpPr/>
          <p:nvPr/>
        </p:nvSpPr>
        <p:spPr>
          <a:xfrm>
            <a:off x="457200" y="1188720"/>
            <a:ext cx="11247120" cy="13716"/>
          </a:xfrm>
          <a:prstGeom prst="rect">
            <a:avLst/>
          </a:prstGeom>
          <a:solidFill>
            <a:srgbClr val="E2E8F0"/>
          </a:solidFill>
          <a:ln/>
        </p:spPr>
        <p:txBody>
          <a:bodyPr/>
          <a:lstStyle/>
          <a:p>
            <a:endParaRPr lang="en-US"/>
          </a:p>
        </p:txBody>
      </p:sp>
      <p:sp>
        <p:nvSpPr>
          <p:cNvPr id="6" name="Text 4"/>
          <p:cNvSpPr/>
          <p:nvPr/>
        </p:nvSpPr>
        <p:spPr>
          <a:xfrm>
            <a:off x="457200" y="6492240"/>
            <a:ext cx="6400800" cy="256032"/>
          </a:xfrm>
          <a:prstGeom prst="rect">
            <a:avLst/>
          </a:prstGeom>
          <a:noFill/>
          <a:ln/>
        </p:spPr>
        <p:txBody>
          <a:bodyPr wrap="square" lIns="0" tIns="0" rIns="0" bIns="0" rtlCol="0" anchor="ctr"/>
          <a:lstStyle/>
          <a:p>
            <a:pPr marL="0" indent="0">
              <a:buNone/>
            </a:pPr>
            <a:r>
              <a:rPr lang="en-US" sz="900" i="1" dirty="0">
                <a:solidFill>
                  <a:srgbClr val="64748B"/>
                </a:solidFill>
                <a:latin typeface="Calibri" pitchFamily="34" charset="0"/>
                <a:ea typeface="Calibri" pitchFamily="34" charset="-122"/>
                <a:cs typeface="Calibri" pitchFamily="34" charset="-120"/>
              </a:rPr>
              <a:t>Pine Labs — Corporate Development</a:t>
            </a:r>
            <a:endParaRPr lang="en-US" sz="900" dirty="0"/>
          </a:p>
        </p:txBody>
      </p:sp>
      <p:sp>
        <p:nvSpPr>
          <p:cNvPr id="7" name="Text 5"/>
          <p:cNvSpPr/>
          <p:nvPr/>
        </p:nvSpPr>
        <p:spPr>
          <a:xfrm>
            <a:off x="6858000" y="6492240"/>
            <a:ext cx="2743200" cy="256032"/>
          </a:xfrm>
          <a:prstGeom prst="rect">
            <a:avLst/>
          </a:prstGeom>
          <a:noFill/>
          <a:ln/>
        </p:spPr>
        <p:txBody>
          <a:bodyPr wrap="square" lIns="0" tIns="0" rIns="0" bIns="0" rtlCol="0" anchor="ctr"/>
          <a:lstStyle/>
          <a:p>
            <a:pPr marL="0" indent="0" algn="ctr">
              <a:buNone/>
            </a:pPr>
            <a:r>
              <a:rPr lang="en-US" sz="900" i="1" dirty="0">
                <a:solidFill>
                  <a:srgbClr val="64748B"/>
                </a:solidFill>
                <a:latin typeface="Calibri" pitchFamily="34" charset="0"/>
                <a:ea typeface="Calibri" pitchFamily="34" charset="-122"/>
                <a:cs typeface="Calibri" pitchFamily="34" charset="-120"/>
              </a:rPr>
              <a:t>Strictly Confidential</a:t>
            </a:r>
            <a:endParaRPr lang="en-US" sz="900" dirty="0"/>
          </a:p>
        </p:txBody>
      </p:sp>
      <p:sp>
        <p:nvSpPr>
          <p:cNvPr id="8" name="Text 6"/>
          <p:cNvSpPr/>
          <p:nvPr/>
        </p:nvSpPr>
        <p:spPr>
          <a:xfrm>
            <a:off x="10515600" y="6492240"/>
            <a:ext cx="1188720" cy="256032"/>
          </a:xfrm>
          <a:prstGeom prst="rect">
            <a:avLst/>
          </a:prstGeom>
          <a:noFill/>
          <a:ln/>
        </p:spPr>
        <p:txBody>
          <a:bodyPr wrap="square" lIns="0" tIns="0" rIns="0" bIns="0" rtlCol="0" anchor="ctr"/>
          <a:lstStyle/>
          <a:p>
            <a:pPr marL="0" indent="0" algn="r">
              <a:buNone/>
            </a:pPr>
            <a:r>
              <a:rPr lang="en-US" sz="900" b="1" dirty="0">
                <a:solidFill>
                  <a:srgbClr val="64748B"/>
                </a:solidFill>
                <a:latin typeface="Calibri" pitchFamily="34" charset="0"/>
                <a:ea typeface="Calibri" pitchFamily="34" charset="-122"/>
                <a:cs typeface="Calibri" pitchFamily="34" charset="-120"/>
              </a:rPr>
              <a:t>10</a:t>
            </a:r>
            <a:endParaRPr lang="en-US" sz="900" dirty="0"/>
          </a:p>
        </p:txBody>
      </p:sp>
      <p:sp>
        <p:nvSpPr>
          <p:cNvPr id="9" name="Shape 7"/>
          <p:cNvSpPr/>
          <p:nvPr/>
        </p:nvSpPr>
        <p:spPr>
          <a:xfrm>
            <a:off x="502920" y="1417320"/>
            <a:ext cx="4846320" cy="4754880"/>
          </a:xfrm>
          <a:prstGeom prst="rect">
            <a:avLst/>
          </a:prstGeom>
          <a:solidFill>
            <a:srgbClr val="F8FAFC"/>
          </a:solidFill>
          <a:ln w="6350">
            <a:solidFill>
              <a:srgbClr val="E2E8F0"/>
            </a:solidFill>
            <a:prstDash val="solid"/>
          </a:ln>
        </p:spPr>
        <p:txBody>
          <a:bodyPr/>
          <a:lstStyle/>
          <a:p>
            <a:endParaRPr lang="en-US"/>
          </a:p>
        </p:txBody>
      </p:sp>
      <p:sp>
        <p:nvSpPr>
          <p:cNvPr id="10" name="Shape 8"/>
          <p:cNvSpPr/>
          <p:nvPr/>
        </p:nvSpPr>
        <p:spPr>
          <a:xfrm>
            <a:off x="502920" y="1417320"/>
            <a:ext cx="4846320" cy="457200"/>
          </a:xfrm>
          <a:prstGeom prst="rect">
            <a:avLst/>
          </a:prstGeom>
          <a:solidFill>
            <a:srgbClr val="0F3D2E"/>
          </a:solidFill>
          <a:ln/>
        </p:spPr>
        <p:txBody>
          <a:bodyPr/>
          <a:lstStyle/>
          <a:p>
            <a:endParaRPr lang="en-US"/>
          </a:p>
        </p:txBody>
      </p:sp>
      <p:sp>
        <p:nvSpPr>
          <p:cNvPr id="11" name="Text 9"/>
          <p:cNvSpPr/>
          <p:nvPr/>
        </p:nvSpPr>
        <p:spPr>
          <a:xfrm>
            <a:off x="685800" y="1417320"/>
            <a:ext cx="4480560" cy="457200"/>
          </a:xfrm>
          <a:prstGeom prst="rect">
            <a:avLst/>
          </a:prstGeom>
          <a:noFill/>
          <a:ln/>
        </p:spPr>
        <p:txBody>
          <a:bodyPr wrap="square" lIns="0" tIns="0" rIns="0" bIns="0" rtlCol="0" anchor="ctr"/>
          <a:lstStyle/>
          <a:p>
            <a:pPr marL="0" indent="0">
              <a:buNone/>
            </a:pPr>
            <a:r>
              <a:rPr lang="en-US" sz="1100" b="1" kern="0" spc="400" dirty="0">
                <a:solidFill>
                  <a:srgbClr val="FFFFFF"/>
                </a:solidFill>
                <a:latin typeface="Calibri" pitchFamily="34" charset="0"/>
                <a:ea typeface="Calibri" pitchFamily="34" charset="-122"/>
                <a:cs typeface="Calibri" pitchFamily="34" charset="-120"/>
              </a:rPr>
              <a:t>COMPANY PROFILE</a:t>
            </a:r>
            <a:endParaRPr lang="en-US" sz="1100" dirty="0"/>
          </a:p>
        </p:txBody>
      </p:sp>
      <p:sp>
        <p:nvSpPr>
          <p:cNvPr id="14" name="Text 12"/>
          <p:cNvSpPr/>
          <p:nvPr/>
        </p:nvSpPr>
        <p:spPr>
          <a:xfrm>
            <a:off x="731520" y="2788920"/>
            <a:ext cx="1645920" cy="384048"/>
          </a:xfrm>
          <a:prstGeom prst="rect">
            <a:avLst/>
          </a:prstGeom>
          <a:noFill/>
          <a:ln/>
        </p:spPr>
        <p:txBody>
          <a:bodyPr wrap="square" lIns="0" tIns="0" rIns="0" bIns="0" rtlCol="0" anchor="t"/>
          <a:lstStyle/>
          <a:p>
            <a:pPr marL="0" indent="0">
              <a:buNone/>
            </a:pPr>
            <a:r>
              <a:rPr lang="en-US" sz="950" b="1" kern="0" spc="100" dirty="0">
                <a:solidFill>
                  <a:srgbClr val="64748B"/>
                </a:solidFill>
                <a:latin typeface="Calibri" pitchFamily="34" charset="0"/>
                <a:ea typeface="Calibri" pitchFamily="34" charset="-122"/>
                <a:cs typeface="Calibri" pitchFamily="34" charset="-120"/>
              </a:rPr>
              <a:t>Founded</a:t>
            </a:r>
            <a:endParaRPr lang="en-US" sz="950" spc="100" dirty="0"/>
          </a:p>
        </p:txBody>
      </p:sp>
      <p:sp>
        <p:nvSpPr>
          <p:cNvPr id="15" name="Text 13"/>
          <p:cNvSpPr/>
          <p:nvPr/>
        </p:nvSpPr>
        <p:spPr>
          <a:xfrm>
            <a:off x="2423160" y="2788920"/>
            <a:ext cx="2697480" cy="384048"/>
          </a:xfrm>
          <a:prstGeom prst="rect">
            <a:avLst/>
          </a:prstGeom>
          <a:noFill/>
          <a:ln/>
        </p:spPr>
        <p:txBody>
          <a:bodyPr wrap="square" lIns="0" tIns="0" rIns="0" bIns="0" rtlCol="0" anchor="t"/>
          <a:lstStyle/>
          <a:p>
            <a:pPr marL="0" indent="0">
              <a:buNone/>
            </a:pPr>
            <a:r>
              <a:rPr lang="en-US" sz="1050" dirty="0">
                <a:solidFill>
                  <a:srgbClr val="0F172A"/>
                </a:solidFill>
                <a:latin typeface="Calibri" pitchFamily="34" charset="0"/>
                <a:ea typeface="Calibri" pitchFamily="34" charset="-122"/>
                <a:cs typeface="Calibri" pitchFamily="34" charset="-120"/>
              </a:rPr>
              <a:t>2018, Mumbai</a:t>
            </a:r>
            <a:endParaRPr lang="en-US" sz="1050" dirty="0"/>
          </a:p>
        </p:txBody>
      </p:sp>
      <p:sp>
        <p:nvSpPr>
          <p:cNvPr id="16" name="Text 14"/>
          <p:cNvSpPr/>
          <p:nvPr/>
        </p:nvSpPr>
        <p:spPr>
          <a:xfrm>
            <a:off x="731520" y="3200400"/>
            <a:ext cx="1645920" cy="384048"/>
          </a:xfrm>
          <a:prstGeom prst="rect">
            <a:avLst/>
          </a:prstGeom>
          <a:noFill/>
          <a:ln/>
        </p:spPr>
        <p:txBody>
          <a:bodyPr wrap="square" lIns="0" tIns="0" rIns="0" bIns="0" rtlCol="0" anchor="t"/>
          <a:lstStyle/>
          <a:p>
            <a:pPr marL="0" indent="0">
              <a:buNone/>
            </a:pPr>
            <a:r>
              <a:rPr lang="en-US" sz="950" b="1" kern="0" spc="100" dirty="0">
                <a:solidFill>
                  <a:srgbClr val="64748B"/>
                </a:solidFill>
                <a:latin typeface="Calibri" pitchFamily="34" charset="0"/>
                <a:ea typeface="Calibri" pitchFamily="34" charset="-122"/>
                <a:cs typeface="Calibri" pitchFamily="34" charset="-120"/>
              </a:rPr>
              <a:t>Funding raised</a:t>
            </a:r>
            <a:endParaRPr lang="en-US" sz="950" spc="100" dirty="0"/>
          </a:p>
        </p:txBody>
      </p:sp>
      <p:sp>
        <p:nvSpPr>
          <p:cNvPr id="17" name="Text 15"/>
          <p:cNvSpPr/>
          <p:nvPr/>
        </p:nvSpPr>
        <p:spPr>
          <a:xfrm>
            <a:off x="2423160" y="3200400"/>
            <a:ext cx="2697480" cy="384048"/>
          </a:xfrm>
          <a:prstGeom prst="rect">
            <a:avLst/>
          </a:prstGeom>
          <a:noFill/>
          <a:ln/>
        </p:spPr>
        <p:txBody>
          <a:bodyPr wrap="square" lIns="0" tIns="0" rIns="0" bIns="0" rtlCol="0" anchor="t"/>
          <a:lstStyle/>
          <a:p>
            <a:pPr marL="0" indent="0">
              <a:buNone/>
            </a:pPr>
            <a:r>
              <a:rPr lang="en-US" sz="1050" dirty="0">
                <a:solidFill>
                  <a:srgbClr val="0F172A"/>
                </a:solidFill>
                <a:latin typeface="Calibri" pitchFamily="34" charset="0"/>
                <a:ea typeface="Calibri" pitchFamily="34" charset="-122"/>
                <a:cs typeface="Calibri" pitchFamily="34" charset="-120"/>
              </a:rPr>
              <a:t>$14.4M across 5 rounds (latest a $4.5M bridge, Jan 2024)</a:t>
            </a:r>
            <a:endParaRPr lang="en-US" sz="1050" dirty="0"/>
          </a:p>
        </p:txBody>
      </p:sp>
      <p:sp>
        <p:nvSpPr>
          <p:cNvPr id="18" name="Text 16"/>
          <p:cNvSpPr/>
          <p:nvPr/>
        </p:nvSpPr>
        <p:spPr>
          <a:xfrm>
            <a:off x="731520" y="3611880"/>
            <a:ext cx="1645920" cy="384048"/>
          </a:xfrm>
          <a:prstGeom prst="rect">
            <a:avLst/>
          </a:prstGeom>
          <a:noFill/>
          <a:ln/>
        </p:spPr>
        <p:txBody>
          <a:bodyPr wrap="square" lIns="0" tIns="0" rIns="0" bIns="0" rtlCol="0" anchor="t"/>
          <a:lstStyle/>
          <a:p>
            <a:pPr marL="0" indent="0">
              <a:buNone/>
            </a:pPr>
            <a:r>
              <a:rPr lang="en-US" sz="950" b="1" kern="0" spc="100" dirty="0">
                <a:solidFill>
                  <a:srgbClr val="64748B"/>
                </a:solidFill>
                <a:latin typeface="Calibri" pitchFamily="34" charset="0"/>
                <a:ea typeface="Calibri" pitchFamily="34" charset="-122"/>
                <a:cs typeface="Calibri" pitchFamily="34" charset="-120"/>
              </a:rPr>
              <a:t>FY25 revenue</a:t>
            </a:r>
            <a:endParaRPr lang="en-US" sz="950" spc="100" dirty="0"/>
          </a:p>
        </p:txBody>
      </p:sp>
      <p:sp>
        <p:nvSpPr>
          <p:cNvPr id="19" name="Text 17"/>
          <p:cNvSpPr/>
          <p:nvPr/>
        </p:nvSpPr>
        <p:spPr>
          <a:xfrm>
            <a:off x="2423160" y="3611880"/>
            <a:ext cx="2697480" cy="384048"/>
          </a:xfrm>
          <a:prstGeom prst="rect">
            <a:avLst/>
          </a:prstGeom>
          <a:noFill/>
          <a:ln/>
        </p:spPr>
        <p:txBody>
          <a:bodyPr wrap="square" lIns="0" tIns="0" rIns="0" bIns="0" rtlCol="0" anchor="t"/>
          <a:lstStyle/>
          <a:p>
            <a:pPr marL="0" indent="0">
              <a:buNone/>
            </a:pPr>
            <a:r>
              <a:rPr lang="en-US" sz="1050" dirty="0">
                <a:solidFill>
                  <a:srgbClr val="0F172A"/>
                </a:solidFill>
                <a:latin typeface="Calibri" pitchFamily="34" charset="0"/>
                <a:ea typeface="Calibri" pitchFamily="34" charset="-122"/>
                <a:cs typeface="Calibri" pitchFamily="34" charset="-120"/>
              </a:rPr>
              <a:t>₹46 Cr (~5x FY23–24)</a:t>
            </a:r>
            <a:endParaRPr lang="en-US" sz="1050" dirty="0"/>
          </a:p>
        </p:txBody>
      </p:sp>
      <p:sp>
        <p:nvSpPr>
          <p:cNvPr id="20" name="Text 18"/>
          <p:cNvSpPr/>
          <p:nvPr/>
        </p:nvSpPr>
        <p:spPr>
          <a:xfrm>
            <a:off x="731520" y="4023360"/>
            <a:ext cx="1645920" cy="384048"/>
          </a:xfrm>
          <a:prstGeom prst="rect">
            <a:avLst/>
          </a:prstGeom>
          <a:noFill/>
          <a:ln/>
        </p:spPr>
        <p:txBody>
          <a:bodyPr wrap="square" lIns="0" tIns="0" rIns="0" bIns="0" rtlCol="0" anchor="t"/>
          <a:lstStyle/>
          <a:p>
            <a:pPr marL="0" indent="0">
              <a:buNone/>
            </a:pPr>
            <a:r>
              <a:rPr lang="en-US" sz="950" b="1" kern="0" spc="100" dirty="0">
                <a:solidFill>
                  <a:srgbClr val="64748B"/>
                </a:solidFill>
                <a:latin typeface="Calibri" pitchFamily="34" charset="0"/>
                <a:ea typeface="Calibri" pitchFamily="34" charset="-122"/>
                <a:cs typeface="Calibri" pitchFamily="34" charset="-120"/>
              </a:rPr>
              <a:t>GWP processed FY25</a:t>
            </a:r>
            <a:endParaRPr lang="en-US" sz="950" spc="100" dirty="0"/>
          </a:p>
        </p:txBody>
      </p:sp>
      <p:sp>
        <p:nvSpPr>
          <p:cNvPr id="21" name="Text 19"/>
          <p:cNvSpPr/>
          <p:nvPr/>
        </p:nvSpPr>
        <p:spPr>
          <a:xfrm>
            <a:off x="2423160" y="4023360"/>
            <a:ext cx="2697480" cy="384048"/>
          </a:xfrm>
          <a:prstGeom prst="rect">
            <a:avLst/>
          </a:prstGeom>
          <a:noFill/>
          <a:ln/>
        </p:spPr>
        <p:txBody>
          <a:bodyPr wrap="square" lIns="0" tIns="0" rIns="0" bIns="0" rtlCol="0" anchor="t"/>
          <a:lstStyle/>
          <a:p>
            <a:pPr marL="0" indent="0">
              <a:buNone/>
            </a:pPr>
            <a:r>
              <a:rPr lang="en-US" sz="1050" dirty="0">
                <a:solidFill>
                  <a:srgbClr val="0F172A"/>
                </a:solidFill>
                <a:latin typeface="Calibri" pitchFamily="34" charset="0"/>
                <a:ea typeface="Calibri" pitchFamily="34" charset="-122"/>
                <a:cs typeface="Calibri" pitchFamily="34" charset="-120"/>
              </a:rPr>
              <a:t>~₹1,500 Cr</a:t>
            </a:r>
            <a:endParaRPr lang="en-US" sz="1050" dirty="0"/>
          </a:p>
        </p:txBody>
      </p:sp>
      <p:sp>
        <p:nvSpPr>
          <p:cNvPr id="22" name="Text 20"/>
          <p:cNvSpPr/>
          <p:nvPr/>
        </p:nvSpPr>
        <p:spPr>
          <a:xfrm>
            <a:off x="731520" y="4434840"/>
            <a:ext cx="1645920" cy="384048"/>
          </a:xfrm>
          <a:prstGeom prst="rect">
            <a:avLst/>
          </a:prstGeom>
          <a:noFill/>
          <a:ln/>
        </p:spPr>
        <p:txBody>
          <a:bodyPr wrap="square" lIns="0" tIns="0" rIns="0" bIns="0" rtlCol="0" anchor="t"/>
          <a:lstStyle/>
          <a:p>
            <a:pPr marL="0" indent="0">
              <a:buNone/>
            </a:pPr>
            <a:r>
              <a:rPr lang="en-US" sz="950" b="1" kern="0" spc="100" dirty="0">
                <a:solidFill>
                  <a:srgbClr val="64748B"/>
                </a:solidFill>
                <a:latin typeface="Calibri" pitchFamily="34" charset="0"/>
                <a:ea typeface="Calibri" pitchFamily="34" charset="-122"/>
                <a:cs typeface="Calibri" pitchFamily="34" charset="-120"/>
              </a:rPr>
              <a:t>Customers</a:t>
            </a:r>
            <a:endParaRPr lang="en-US" sz="950" spc="100" dirty="0"/>
          </a:p>
        </p:txBody>
      </p:sp>
      <p:sp>
        <p:nvSpPr>
          <p:cNvPr id="23" name="Text 21"/>
          <p:cNvSpPr/>
          <p:nvPr/>
        </p:nvSpPr>
        <p:spPr>
          <a:xfrm>
            <a:off x="2423160" y="4434840"/>
            <a:ext cx="2697480" cy="384048"/>
          </a:xfrm>
          <a:prstGeom prst="rect">
            <a:avLst/>
          </a:prstGeom>
          <a:noFill/>
          <a:ln/>
        </p:spPr>
        <p:txBody>
          <a:bodyPr wrap="square" lIns="0" tIns="0" rIns="0" bIns="0" rtlCol="0" anchor="t"/>
          <a:lstStyle/>
          <a:p>
            <a:pPr marL="0" indent="0">
              <a:buNone/>
            </a:pPr>
            <a:r>
              <a:rPr lang="en-US" sz="1050" dirty="0">
                <a:solidFill>
                  <a:srgbClr val="0F172A"/>
                </a:solidFill>
                <a:latin typeface="Calibri" pitchFamily="34" charset="0"/>
                <a:ea typeface="Calibri" pitchFamily="34" charset="-122"/>
                <a:cs typeface="Calibri" pitchFamily="34" charset="-120"/>
              </a:rPr>
              <a:t>~40 BFSI (banks, NBFCs, HFCs, brokers, fintechs)</a:t>
            </a:r>
            <a:endParaRPr lang="en-US" sz="1050" dirty="0"/>
          </a:p>
        </p:txBody>
      </p:sp>
      <p:sp>
        <p:nvSpPr>
          <p:cNvPr id="24" name="Text 22"/>
          <p:cNvSpPr/>
          <p:nvPr/>
        </p:nvSpPr>
        <p:spPr>
          <a:xfrm>
            <a:off x="731520" y="4846320"/>
            <a:ext cx="1645920" cy="384048"/>
          </a:xfrm>
          <a:prstGeom prst="rect">
            <a:avLst/>
          </a:prstGeom>
          <a:noFill/>
          <a:ln/>
        </p:spPr>
        <p:txBody>
          <a:bodyPr wrap="square" lIns="0" tIns="0" rIns="0" bIns="0" rtlCol="0" anchor="t"/>
          <a:lstStyle/>
          <a:p>
            <a:pPr marL="0" indent="0">
              <a:buNone/>
            </a:pPr>
            <a:r>
              <a:rPr lang="en-US" sz="950" b="1" kern="0" spc="100" dirty="0">
                <a:solidFill>
                  <a:srgbClr val="64748B"/>
                </a:solidFill>
                <a:latin typeface="Calibri" pitchFamily="34" charset="0"/>
                <a:ea typeface="Calibri" pitchFamily="34" charset="-122"/>
                <a:cs typeface="Calibri" pitchFamily="34" charset="-120"/>
              </a:rPr>
              <a:t>Insurer integrations</a:t>
            </a:r>
            <a:endParaRPr lang="en-US" sz="950" spc="100" dirty="0"/>
          </a:p>
        </p:txBody>
      </p:sp>
      <p:sp>
        <p:nvSpPr>
          <p:cNvPr id="25" name="Text 23"/>
          <p:cNvSpPr/>
          <p:nvPr/>
        </p:nvSpPr>
        <p:spPr>
          <a:xfrm>
            <a:off x="2423160" y="4846320"/>
            <a:ext cx="2697480" cy="384048"/>
          </a:xfrm>
          <a:prstGeom prst="rect">
            <a:avLst/>
          </a:prstGeom>
          <a:noFill/>
          <a:ln/>
        </p:spPr>
        <p:txBody>
          <a:bodyPr wrap="square" lIns="0" tIns="0" rIns="0" bIns="0" rtlCol="0" anchor="t"/>
          <a:lstStyle/>
          <a:p>
            <a:pPr marL="0" indent="0">
              <a:buNone/>
            </a:pPr>
            <a:r>
              <a:rPr lang="en-US" sz="1050" dirty="0">
                <a:solidFill>
                  <a:srgbClr val="0F172A"/>
                </a:solidFill>
                <a:latin typeface="Calibri" pitchFamily="34" charset="0"/>
                <a:ea typeface="Calibri" pitchFamily="34" charset="-122"/>
                <a:cs typeface="Calibri" pitchFamily="34" charset="-120"/>
              </a:rPr>
              <a:t>40+ insurers, 150+ pre-approved products</a:t>
            </a:r>
            <a:endParaRPr lang="en-US" sz="1050" dirty="0"/>
          </a:p>
        </p:txBody>
      </p:sp>
      <p:sp>
        <p:nvSpPr>
          <p:cNvPr id="26" name="Text 24"/>
          <p:cNvSpPr/>
          <p:nvPr/>
        </p:nvSpPr>
        <p:spPr>
          <a:xfrm>
            <a:off x="731520" y="5257800"/>
            <a:ext cx="1645920" cy="384048"/>
          </a:xfrm>
          <a:prstGeom prst="rect">
            <a:avLst/>
          </a:prstGeom>
          <a:noFill/>
          <a:ln/>
        </p:spPr>
        <p:txBody>
          <a:bodyPr wrap="square" lIns="0" tIns="0" rIns="0" bIns="0" rtlCol="0" anchor="t"/>
          <a:lstStyle/>
          <a:p>
            <a:pPr marL="0" indent="0">
              <a:buNone/>
            </a:pPr>
            <a:r>
              <a:rPr lang="en-US" sz="950" b="1" kern="0" spc="100" dirty="0">
                <a:solidFill>
                  <a:srgbClr val="64748B"/>
                </a:solidFill>
                <a:latin typeface="Calibri" pitchFamily="34" charset="0"/>
                <a:ea typeface="Calibri" pitchFamily="34" charset="-122"/>
                <a:cs typeface="Calibri" pitchFamily="34" charset="-120"/>
              </a:rPr>
              <a:t>Licence held</a:t>
            </a:r>
            <a:endParaRPr lang="en-US" sz="950" spc="100" dirty="0"/>
          </a:p>
        </p:txBody>
      </p:sp>
      <p:sp>
        <p:nvSpPr>
          <p:cNvPr id="27" name="Text 25"/>
          <p:cNvSpPr/>
          <p:nvPr/>
        </p:nvSpPr>
        <p:spPr>
          <a:xfrm>
            <a:off x="2423160" y="5257800"/>
            <a:ext cx="2697480" cy="384048"/>
          </a:xfrm>
          <a:prstGeom prst="rect">
            <a:avLst/>
          </a:prstGeom>
          <a:noFill/>
          <a:ln/>
        </p:spPr>
        <p:txBody>
          <a:bodyPr wrap="square" lIns="0" tIns="0" rIns="0" bIns="0" rtlCol="0" anchor="t"/>
          <a:lstStyle/>
          <a:p>
            <a:pPr marL="0" indent="0">
              <a:buNone/>
            </a:pPr>
            <a:r>
              <a:rPr lang="en-US" sz="1050" dirty="0">
                <a:solidFill>
                  <a:srgbClr val="0F172A"/>
                </a:solidFill>
                <a:latin typeface="Calibri" pitchFamily="34" charset="0"/>
                <a:ea typeface="Calibri" pitchFamily="34" charset="-122"/>
                <a:cs typeface="Calibri" pitchFamily="34" charset="-120"/>
              </a:rPr>
              <a:t>IRDAI Corporate Agent (Composite)</a:t>
            </a:r>
            <a:endParaRPr lang="en-US" sz="1050" dirty="0"/>
          </a:p>
        </p:txBody>
      </p:sp>
      <p:sp>
        <p:nvSpPr>
          <p:cNvPr id="28" name="Text 26"/>
          <p:cNvSpPr/>
          <p:nvPr/>
        </p:nvSpPr>
        <p:spPr>
          <a:xfrm>
            <a:off x="731520" y="5669280"/>
            <a:ext cx="1645920" cy="384048"/>
          </a:xfrm>
          <a:prstGeom prst="rect">
            <a:avLst/>
          </a:prstGeom>
          <a:noFill/>
          <a:ln/>
        </p:spPr>
        <p:txBody>
          <a:bodyPr wrap="square" lIns="0" tIns="0" rIns="0" bIns="0" rtlCol="0" anchor="t"/>
          <a:lstStyle/>
          <a:p>
            <a:pPr marL="0" indent="0">
              <a:buNone/>
            </a:pPr>
            <a:r>
              <a:rPr lang="en-US" sz="950" b="1" kern="0" spc="100" dirty="0">
                <a:solidFill>
                  <a:srgbClr val="64748B"/>
                </a:solidFill>
                <a:latin typeface="Calibri" pitchFamily="34" charset="0"/>
                <a:ea typeface="Calibri" pitchFamily="34" charset="-122"/>
                <a:cs typeface="Calibri" pitchFamily="34" charset="-120"/>
              </a:rPr>
              <a:t>Hero product</a:t>
            </a:r>
            <a:endParaRPr lang="en-US" sz="950" spc="100" dirty="0"/>
          </a:p>
        </p:txBody>
      </p:sp>
      <p:sp>
        <p:nvSpPr>
          <p:cNvPr id="29" name="Text 27"/>
          <p:cNvSpPr/>
          <p:nvPr/>
        </p:nvSpPr>
        <p:spPr>
          <a:xfrm>
            <a:off x="2423160" y="5669280"/>
            <a:ext cx="2697480" cy="384048"/>
          </a:xfrm>
          <a:prstGeom prst="rect">
            <a:avLst/>
          </a:prstGeom>
          <a:noFill/>
          <a:ln/>
        </p:spPr>
        <p:txBody>
          <a:bodyPr wrap="square" lIns="0" tIns="0" rIns="0" bIns="0" rtlCol="0" anchor="t"/>
          <a:lstStyle/>
          <a:p>
            <a:pPr marL="0" indent="0">
              <a:buNone/>
            </a:pPr>
            <a:r>
              <a:rPr lang="en-US" sz="1050" dirty="0">
                <a:solidFill>
                  <a:srgbClr val="0F172A"/>
                </a:solidFill>
                <a:latin typeface="Calibri" pitchFamily="34" charset="0"/>
                <a:ea typeface="Calibri" pitchFamily="34" charset="-122"/>
                <a:cs typeface="Calibri" pitchFamily="34" charset="-120"/>
              </a:rPr>
              <a:t>LendPro — credit-linked insurance for loan workflows</a:t>
            </a:r>
            <a:endParaRPr lang="en-US" sz="1050" dirty="0"/>
          </a:p>
        </p:txBody>
      </p:sp>
      <p:sp>
        <p:nvSpPr>
          <p:cNvPr id="30" name="Text 28"/>
          <p:cNvSpPr/>
          <p:nvPr/>
        </p:nvSpPr>
        <p:spPr>
          <a:xfrm>
            <a:off x="5486400" y="1417320"/>
            <a:ext cx="6263640" cy="274320"/>
          </a:xfrm>
          <a:prstGeom prst="rect">
            <a:avLst/>
          </a:prstGeom>
          <a:noFill/>
          <a:ln/>
        </p:spPr>
        <p:txBody>
          <a:bodyPr wrap="square" lIns="0" tIns="0" rIns="0" bIns="0" rtlCol="0" anchor="ctr"/>
          <a:lstStyle/>
          <a:p>
            <a:pPr marL="0" indent="0">
              <a:buNone/>
            </a:pPr>
            <a:r>
              <a:rPr lang="en-US" sz="1000" b="1" kern="0" spc="100" dirty="0">
                <a:solidFill>
                  <a:srgbClr val="16A34A"/>
                </a:solidFill>
                <a:latin typeface="Calibri" pitchFamily="34" charset="0"/>
                <a:ea typeface="Calibri" pitchFamily="34" charset="-122"/>
                <a:cs typeface="Calibri" pitchFamily="34" charset="-120"/>
              </a:rPr>
              <a:t>Five attach points across Pine Labs</a:t>
            </a:r>
            <a:endParaRPr lang="en-US" sz="1000" spc="100" dirty="0"/>
          </a:p>
        </p:txBody>
      </p:sp>
      <p:sp>
        <p:nvSpPr>
          <p:cNvPr id="31" name="Shape 29"/>
          <p:cNvSpPr/>
          <p:nvPr/>
        </p:nvSpPr>
        <p:spPr>
          <a:xfrm>
            <a:off x="5486400" y="1691640"/>
            <a:ext cx="6263640" cy="13716"/>
          </a:xfrm>
          <a:prstGeom prst="rect">
            <a:avLst/>
          </a:prstGeom>
          <a:solidFill>
            <a:srgbClr val="E2E8F0"/>
          </a:solidFill>
          <a:ln/>
        </p:spPr>
        <p:txBody>
          <a:bodyPr/>
          <a:lstStyle/>
          <a:p>
            <a:endParaRPr lang="en-US"/>
          </a:p>
        </p:txBody>
      </p:sp>
      <p:sp>
        <p:nvSpPr>
          <p:cNvPr id="32" name="Shape 30"/>
          <p:cNvSpPr/>
          <p:nvPr/>
        </p:nvSpPr>
        <p:spPr>
          <a:xfrm>
            <a:off x="5486400" y="1828800"/>
            <a:ext cx="6263640" cy="777240"/>
          </a:xfrm>
          <a:prstGeom prst="rect">
            <a:avLst/>
          </a:prstGeom>
          <a:solidFill>
            <a:srgbClr val="FFFFFF"/>
          </a:solidFill>
          <a:ln w="6350">
            <a:solidFill>
              <a:srgbClr val="E2E8F0"/>
            </a:solidFill>
            <a:prstDash val="solid"/>
          </a:ln>
        </p:spPr>
        <p:txBody>
          <a:bodyPr/>
          <a:lstStyle/>
          <a:p>
            <a:endParaRPr lang="en-US"/>
          </a:p>
        </p:txBody>
      </p:sp>
      <p:sp>
        <p:nvSpPr>
          <p:cNvPr id="33" name="Shape 31"/>
          <p:cNvSpPr/>
          <p:nvPr/>
        </p:nvSpPr>
        <p:spPr>
          <a:xfrm>
            <a:off x="5486400" y="1828800"/>
            <a:ext cx="73152" cy="777240"/>
          </a:xfrm>
          <a:prstGeom prst="rect">
            <a:avLst/>
          </a:prstGeom>
          <a:solidFill>
            <a:srgbClr val="16A34A"/>
          </a:solidFill>
          <a:ln/>
        </p:spPr>
        <p:txBody>
          <a:bodyPr/>
          <a:lstStyle/>
          <a:p>
            <a:endParaRPr lang="en-US"/>
          </a:p>
        </p:txBody>
      </p:sp>
      <p:sp>
        <p:nvSpPr>
          <p:cNvPr id="34" name="Shape 32"/>
          <p:cNvSpPr/>
          <p:nvPr/>
        </p:nvSpPr>
        <p:spPr>
          <a:xfrm>
            <a:off x="5669280" y="1947672"/>
            <a:ext cx="713232" cy="256032"/>
          </a:xfrm>
          <a:prstGeom prst="rect">
            <a:avLst/>
          </a:prstGeom>
          <a:solidFill>
            <a:srgbClr val="0F3D2E"/>
          </a:solidFill>
          <a:ln/>
        </p:spPr>
        <p:txBody>
          <a:bodyPr/>
          <a:lstStyle/>
          <a:p>
            <a:endParaRPr lang="en-US"/>
          </a:p>
        </p:txBody>
      </p:sp>
      <p:sp>
        <p:nvSpPr>
          <p:cNvPr id="35" name="Text 33"/>
          <p:cNvSpPr/>
          <p:nvPr/>
        </p:nvSpPr>
        <p:spPr>
          <a:xfrm>
            <a:off x="5669280" y="1947672"/>
            <a:ext cx="713232" cy="256032"/>
          </a:xfrm>
          <a:prstGeom prst="rect">
            <a:avLst/>
          </a:prstGeom>
          <a:noFill/>
          <a:ln/>
        </p:spPr>
        <p:txBody>
          <a:bodyPr wrap="square" lIns="0" tIns="0" rIns="0" bIns="0" rtlCol="0" anchor="ctr"/>
          <a:lstStyle/>
          <a:p>
            <a:pPr marL="0" indent="0" algn="ctr">
              <a:buNone/>
            </a:pPr>
            <a:r>
              <a:rPr lang="en-US" sz="800" b="1" kern="0" spc="300" dirty="0">
                <a:solidFill>
                  <a:srgbClr val="86EFAC"/>
                </a:solidFill>
                <a:latin typeface="Calibri" pitchFamily="34" charset="0"/>
                <a:ea typeface="Calibri" pitchFamily="34" charset="-122"/>
                <a:cs typeface="Calibri" pitchFamily="34" charset="-120"/>
              </a:rPr>
              <a:t>AUTO</a:t>
            </a:r>
            <a:endParaRPr lang="en-US" sz="800" dirty="0"/>
          </a:p>
        </p:txBody>
      </p:sp>
      <p:sp>
        <p:nvSpPr>
          <p:cNvPr id="36" name="Text 34"/>
          <p:cNvSpPr/>
          <p:nvPr/>
        </p:nvSpPr>
        <p:spPr>
          <a:xfrm>
            <a:off x="6446520" y="1920240"/>
            <a:ext cx="5120640" cy="292608"/>
          </a:xfrm>
          <a:prstGeom prst="rect">
            <a:avLst/>
          </a:prstGeom>
          <a:noFill/>
          <a:ln/>
        </p:spPr>
        <p:txBody>
          <a:bodyPr wrap="square" lIns="0" tIns="0" rIns="0" bIns="0" rtlCol="0" anchor="ctr"/>
          <a:lstStyle/>
          <a:p>
            <a:pPr marL="0" indent="0">
              <a:buNone/>
            </a:pPr>
            <a:r>
              <a:rPr lang="en-US" sz="1100" b="1" dirty="0">
                <a:solidFill>
                  <a:srgbClr val="0F172A"/>
                </a:solidFill>
                <a:latin typeface="Calibri" pitchFamily="34" charset="0"/>
                <a:ea typeface="Calibri" pitchFamily="34" charset="-122"/>
                <a:cs typeface="Calibri" pitchFamily="34" charset="-120"/>
              </a:rPr>
              <a:t>POS extended warranty + device protection</a:t>
            </a:r>
            <a:endParaRPr lang="en-US" sz="1100" dirty="0"/>
          </a:p>
        </p:txBody>
      </p:sp>
      <p:sp>
        <p:nvSpPr>
          <p:cNvPr id="37" name="Text 35"/>
          <p:cNvSpPr/>
          <p:nvPr/>
        </p:nvSpPr>
        <p:spPr>
          <a:xfrm>
            <a:off x="6446520" y="2212848"/>
            <a:ext cx="2743200" cy="365760"/>
          </a:xfrm>
          <a:prstGeom prst="rect">
            <a:avLst/>
          </a:prstGeom>
          <a:noFill/>
          <a:ln/>
        </p:spPr>
        <p:txBody>
          <a:bodyPr wrap="square" lIns="0" tIns="0" rIns="0" bIns="0" rtlCol="0" anchor="t"/>
          <a:lstStyle/>
          <a:p>
            <a:pPr marL="0" indent="0">
              <a:buNone/>
            </a:pPr>
            <a:r>
              <a:rPr lang="en-US" sz="900" dirty="0">
                <a:solidFill>
                  <a:srgbClr val="334155"/>
                </a:solidFill>
                <a:latin typeface="Calibri" pitchFamily="34" charset="0"/>
                <a:ea typeface="Calibri" pitchFamily="34" charset="-122"/>
                <a:cs typeface="Calibri" pitchFamily="34" charset="-120"/>
              </a:rPr>
              <a:t>Pine Labs base: 5,000 → 30,000 outlets</a:t>
            </a:r>
            <a:endParaRPr lang="en-US" sz="900" dirty="0"/>
          </a:p>
        </p:txBody>
      </p:sp>
      <p:sp>
        <p:nvSpPr>
          <p:cNvPr id="38" name="Text 36"/>
          <p:cNvSpPr/>
          <p:nvPr/>
        </p:nvSpPr>
        <p:spPr>
          <a:xfrm>
            <a:off x="9144000" y="2212848"/>
            <a:ext cx="2423160" cy="365760"/>
          </a:xfrm>
          <a:prstGeom prst="rect">
            <a:avLst/>
          </a:prstGeom>
          <a:noFill/>
          <a:ln/>
        </p:spPr>
        <p:txBody>
          <a:bodyPr wrap="square" lIns="0" tIns="0" rIns="0" bIns="0" rtlCol="0" anchor="t"/>
          <a:lstStyle/>
          <a:p>
            <a:pPr marL="0" indent="0">
              <a:buNone/>
            </a:pPr>
            <a:r>
              <a:rPr lang="en-US" sz="900" i="1" dirty="0">
                <a:solidFill>
                  <a:srgbClr val="64748B"/>
                </a:solidFill>
                <a:latin typeface="Calibri" pitchFamily="34" charset="0"/>
                <a:ea typeface="Calibri" pitchFamily="34" charset="-122"/>
                <a:cs typeface="Calibri" pitchFamily="34" charset="-120"/>
              </a:rPr>
              <a:t>Mechanics: 5% attach × ₹500 avg premium × 22% commission</a:t>
            </a:r>
            <a:endParaRPr lang="en-US" sz="900" dirty="0"/>
          </a:p>
        </p:txBody>
      </p:sp>
      <p:sp>
        <p:nvSpPr>
          <p:cNvPr id="39" name="Shape 37"/>
          <p:cNvSpPr/>
          <p:nvPr/>
        </p:nvSpPr>
        <p:spPr>
          <a:xfrm>
            <a:off x="5486400" y="2679192"/>
            <a:ext cx="6263640" cy="777240"/>
          </a:xfrm>
          <a:prstGeom prst="rect">
            <a:avLst/>
          </a:prstGeom>
          <a:solidFill>
            <a:srgbClr val="FFFFFF"/>
          </a:solidFill>
          <a:ln w="6350">
            <a:solidFill>
              <a:srgbClr val="E2E8F0"/>
            </a:solidFill>
            <a:prstDash val="solid"/>
          </a:ln>
        </p:spPr>
        <p:txBody>
          <a:bodyPr/>
          <a:lstStyle/>
          <a:p>
            <a:endParaRPr lang="en-US"/>
          </a:p>
        </p:txBody>
      </p:sp>
      <p:sp>
        <p:nvSpPr>
          <p:cNvPr id="40" name="Shape 38"/>
          <p:cNvSpPr/>
          <p:nvPr/>
        </p:nvSpPr>
        <p:spPr>
          <a:xfrm>
            <a:off x="5486400" y="2679192"/>
            <a:ext cx="73152" cy="777240"/>
          </a:xfrm>
          <a:prstGeom prst="rect">
            <a:avLst/>
          </a:prstGeom>
          <a:solidFill>
            <a:srgbClr val="16A34A"/>
          </a:solidFill>
          <a:ln/>
        </p:spPr>
        <p:txBody>
          <a:bodyPr/>
          <a:lstStyle/>
          <a:p>
            <a:endParaRPr lang="en-US"/>
          </a:p>
        </p:txBody>
      </p:sp>
      <p:sp>
        <p:nvSpPr>
          <p:cNvPr id="41" name="Shape 39"/>
          <p:cNvSpPr/>
          <p:nvPr/>
        </p:nvSpPr>
        <p:spPr>
          <a:xfrm>
            <a:off x="5669280" y="2798064"/>
            <a:ext cx="713232" cy="256032"/>
          </a:xfrm>
          <a:prstGeom prst="rect">
            <a:avLst/>
          </a:prstGeom>
          <a:solidFill>
            <a:srgbClr val="0F3D2E"/>
          </a:solidFill>
          <a:ln/>
        </p:spPr>
        <p:txBody>
          <a:bodyPr/>
          <a:lstStyle/>
          <a:p>
            <a:endParaRPr lang="en-US"/>
          </a:p>
        </p:txBody>
      </p:sp>
      <p:sp>
        <p:nvSpPr>
          <p:cNvPr id="42" name="Text 40"/>
          <p:cNvSpPr/>
          <p:nvPr/>
        </p:nvSpPr>
        <p:spPr>
          <a:xfrm>
            <a:off x="5669280" y="2798064"/>
            <a:ext cx="713232" cy="256032"/>
          </a:xfrm>
          <a:prstGeom prst="rect">
            <a:avLst/>
          </a:prstGeom>
          <a:noFill/>
          <a:ln/>
        </p:spPr>
        <p:txBody>
          <a:bodyPr wrap="square" lIns="0" tIns="0" rIns="0" bIns="0" rtlCol="0" anchor="ctr"/>
          <a:lstStyle/>
          <a:p>
            <a:pPr marL="0" indent="0" algn="ctr">
              <a:buNone/>
            </a:pPr>
            <a:r>
              <a:rPr lang="en-US" sz="800" b="1" kern="0" spc="300" dirty="0">
                <a:solidFill>
                  <a:srgbClr val="86EFAC"/>
                </a:solidFill>
                <a:latin typeface="Calibri" pitchFamily="34" charset="0"/>
                <a:ea typeface="Calibri" pitchFamily="34" charset="-122"/>
                <a:cs typeface="Calibri" pitchFamily="34" charset="-120"/>
              </a:rPr>
              <a:t>AUTO</a:t>
            </a:r>
            <a:endParaRPr lang="en-US" sz="800" dirty="0"/>
          </a:p>
        </p:txBody>
      </p:sp>
      <p:sp>
        <p:nvSpPr>
          <p:cNvPr id="43" name="Text 41"/>
          <p:cNvSpPr/>
          <p:nvPr/>
        </p:nvSpPr>
        <p:spPr>
          <a:xfrm>
            <a:off x="6446520" y="2770632"/>
            <a:ext cx="5120640" cy="292608"/>
          </a:xfrm>
          <a:prstGeom prst="rect">
            <a:avLst/>
          </a:prstGeom>
          <a:noFill/>
          <a:ln/>
        </p:spPr>
        <p:txBody>
          <a:bodyPr wrap="square" lIns="0" tIns="0" rIns="0" bIns="0" rtlCol="0" anchor="ctr"/>
          <a:lstStyle/>
          <a:p>
            <a:pPr marL="0" indent="0">
              <a:buNone/>
            </a:pPr>
            <a:r>
              <a:rPr lang="en-US" sz="1100" b="1" dirty="0">
                <a:solidFill>
                  <a:srgbClr val="0F172A"/>
                </a:solidFill>
                <a:latin typeface="Calibri" pitchFamily="34" charset="0"/>
                <a:ea typeface="Calibri" pitchFamily="34" charset="-122"/>
                <a:cs typeface="Calibri" pitchFamily="34" charset="-120"/>
              </a:rPr>
              <a:t>Credit-shield on every Affordability EMI</a:t>
            </a:r>
            <a:endParaRPr lang="en-US" sz="1100" dirty="0"/>
          </a:p>
        </p:txBody>
      </p:sp>
      <p:sp>
        <p:nvSpPr>
          <p:cNvPr id="44" name="Text 42"/>
          <p:cNvSpPr/>
          <p:nvPr/>
        </p:nvSpPr>
        <p:spPr>
          <a:xfrm>
            <a:off x="6446520" y="3063240"/>
            <a:ext cx="2743200" cy="365760"/>
          </a:xfrm>
          <a:prstGeom prst="rect">
            <a:avLst/>
          </a:prstGeom>
          <a:noFill/>
          <a:ln/>
        </p:spPr>
        <p:txBody>
          <a:bodyPr wrap="square" lIns="0" tIns="0" rIns="0" bIns="0" rtlCol="0" anchor="t"/>
          <a:lstStyle/>
          <a:p>
            <a:pPr marL="0" indent="0">
              <a:buNone/>
            </a:pPr>
            <a:r>
              <a:rPr lang="en-US" sz="900" dirty="0">
                <a:solidFill>
                  <a:srgbClr val="334155"/>
                </a:solidFill>
                <a:latin typeface="Calibri" pitchFamily="34" charset="0"/>
                <a:ea typeface="Calibri" pitchFamily="34" charset="-122"/>
                <a:cs typeface="Calibri" pitchFamily="34" charset="-120"/>
              </a:rPr>
              <a:t>Pine Labs base: 6M → 13M EMI tx/yr</a:t>
            </a:r>
            <a:endParaRPr lang="en-US" sz="900" dirty="0"/>
          </a:p>
        </p:txBody>
      </p:sp>
      <p:sp>
        <p:nvSpPr>
          <p:cNvPr id="45" name="Text 43"/>
          <p:cNvSpPr/>
          <p:nvPr/>
        </p:nvSpPr>
        <p:spPr>
          <a:xfrm>
            <a:off x="9144000" y="3063240"/>
            <a:ext cx="2423160" cy="365760"/>
          </a:xfrm>
          <a:prstGeom prst="rect">
            <a:avLst/>
          </a:prstGeom>
          <a:noFill/>
          <a:ln/>
        </p:spPr>
        <p:txBody>
          <a:bodyPr wrap="square" lIns="0" tIns="0" rIns="0" bIns="0" rtlCol="0" anchor="t"/>
          <a:lstStyle/>
          <a:p>
            <a:pPr marL="0" indent="0">
              <a:buNone/>
            </a:pPr>
            <a:r>
              <a:rPr lang="en-US" sz="900" i="1" dirty="0">
                <a:solidFill>
                  <a:srgbClr val="64748B"/>
                </a:solidFill>
                <a:latin typeface="Calibri" pitchFamily="34" charset="0"/>
                <a:ea typeface="Calibri" pitchFamily="34" charset="-122"/>
                <a:cs typeface="Calibri" pitchFamily="34" charset="-120"/>
              </a:rPr>
              <a:t>Mechanics: 12% attach × ₹250 avg premium × 25% commission</a:t>
            </a:r>
            <a:endParaRPr lang="en-US" sz="900" dirty="0"/>
          </a:p>
        </p:txBody>
      </p:sp>
      <p:sp>
        <p:nvSpPr>
          <p:cNvPr id="46" name="Shape 44"/>
          <p:cNvSpPr/>
          <p:nvPr/>
        </p:nvSpPr>
        <p:spPr>
          <a:xfrm>
            <a:off x="5486400" y="3529584"/>
            <a:ext cx="6263640" cy="777240"/>
          </a:xfrm>
          <a:prstGeom prst="rect">
            <a:avLst/>
          </a:prstGeom>
          <a:solidFill>
            <a:srgbClr val="FFFFFF"/>
          </a:solidFill>
          <a:ln w="6350">
            <a:solidFill>
              <a:srgbClr val="E2E8F0"/>
            </a:solidFill>
            <a:prstDash val="solid"/>
          </a:ln>
        </p:spPr>
        <p:txBody>
          <a:bodyPr/>
          <a:lstStyle/>
          <a:p>
            <a:endParaRPr lang="en-US"/>
          </a:p>
        </p:txBody>
      </p:sp>
      <p:sp>
        <p:nvSpPr>
          <p:cNvPr id="47" name="Shape 45"/>
          <p:cNvSpPr/>
          <p:nvPr/>
        </p:nvSpPr>
        <p:spPr>
          <a:xfrm>
            <a:off x="5486400" y="3529584"/>
            <a:ext cx="73152" cy="777240"/>
          </a:xfrm>
          <a:prstGeom prst="rect">
            <a:avLst/>
          </a:prstGeom>
          <a:solidFill>
            <a:srgbClr val="16A34A"/>
          </a:solidFill>
          <a:ln/>
        </p:spPr>
        <p:txBody>
          <a:bodyPr/>
          <a:lstStyle/>
          <a:p>
            <a:endParaRPr lang="en-US"/>
          </a:p>
        </p:txBody>
      </p:sp>
      <p:sp>
        <p:nvSpPr>
          <p:cNvPr id="48" name="Shape 46"/>
          <p:cNvSpPr/>
          <p:nvPr/>
        </p:nvSpPr>
        <p:spPr>
          <a:xfrm>
            <a:off x="5669280" y="3648456"/>
            <a:ext cx="713232" cy="256032"/>
          </a:xfrm>
          <a:prstGeom prst="rect">
            <a:avLst/>
          </a:prstGeom>
          <a:solidFill>
            <a:srgbClr val="0F3D2E"/>
          </a:solidFill>
          <a:ln/>
        </p:spPr>
        <p:txBody>
          <a:bodyPr/>
          <a:lstStyle/>
          <a:p>
            <a:endParaRPr lang="en-US"/>
          </a:p>
        </p:txBody>
      </p:sp>
      <p:sp>
        <p:nvSpPr>
          <p:cNvPr id="49" name="Text 47"/>
          <p:cNvSpPr/>
          <p:nvPr/>
        </p:nvSpPr>
        <p:spPr>
          <a:xfrm>
            <a:off x="5669280" y="3648456"/>
            <a:ext cx="713232" cy="256032"/>
          </a:xfrm>
          <a:prstGeom prst="rect">
            <a:avLst/>
          </a:prstGeom>
          <a:noFill/>
          <a:ln/>
        </p:spPr>
        <p:txBody>
          <a:bodyPr wrap="square" lIns="0" tIns="0" rIns="0" bIns="0" rtlCol="0" anchor="ctr"/>
          <a:lstStyle/>
          <a:p>
            <a:pPr marL="0" indent="0" algn="ctr">
              <a:buNone/>
            </a:pPr>
            <a:r>
              <a:rPr lang="en-US" sz="800" b="1" kern="0" spc="300" dirty="0">
                <a:solidFill>
                  <a:srgbClr val="86EFAC"/>
                </a:solidFill>
                <a:latin typeface="Calibri" pitchFamily="34" charset="0"/>
                <a:ea typeface="Calibri" pitchFamily="34" charset="-122"/>
                <a:cs typeface="Calibri" pitchFamily="34" charset="-120"/>
              </a:rPr>
              <a:t>BUNDLE</a:t>
            </a:r>
            <a:endParaRPr lang="en-US" sz="800" dirty="0"/>
          </a:p>
        </p:txBody>
      </p:sp>
      <p:sp>
        <p:nvSpPr>
          <p:cNvPr id="50" name="Text 48"/>
          <p:cNvSpPr/>
          <p:nvPr/>
        </p:nvSpPr>
        <p:spPr>
          <a:xfrm>
            <a:off x="6446520" y="3621024"/>
            <a:ext cx="5120640" cy="292608"/>
          </a:xfrm>
          <a:prstGeom prst="rect">
            <a:avLst/>
          </a:prstGeom>
          <a:noFill/>
          <a:ln/>
        </p:spPr>
        <p:txBody>
          <a:bodyPr wrap="square" lIns="0" tIns="0" rIns="0" bIns="0" rtlCol="0" anchor="ctr"/>
          <a:lstStyle/>
          <a:p>
            <a:pPr marL="0" indent="0">
              <a:buNone/>
            </a:pPr>
            <a:r>
              <a:rPr lang="en-US" sz="1100" b="1" dirty="0">
                <a:solidFill>
                  <a:srgbClr val="0F172A"/>
                </a:solidFill>
                <a:latin typeface="Calibri" pitchFamily="34" charset="0"/>
                <a:ea typeface="Calibri" pitchFamily="34" charset="-122"/>
                <a:cs typeface="Calibri" pitchFamily="34" charset="-120"/>
              </a:rPr>
              <a:t>Bancassurance SaaS to Setu's bank customers</a:t>
            </a:r>
            <a:endParaRPr lang="en-US" sz="1100" dirty="0"/>
          </a:p>
        </p:txBody>
      </p:sp>
      <p:sp>
        <p:nvSpPr>
          <p:cNvPr id="51" name="Text 49"/>
          <p:cNvSpPr/>
          <p:nvPr/>
        </p:nvSpPr>
        <p:spPr>
          <a:xfrm>
            <a:off x="6446520" y="3913632"/>
            <a:ext cx="2743200" cy="365760"/>
          </a:xfrm>
          <a:prstGeom prst="rect">
            <a:avLst/>
          </a:prstGeom>
          <a:noFill/>
          <a:ln/>
        </p:spPr>
        <p:txBody>
          <a:bodyPr wrap="square" lIns="0" tIns="0" rIns="0" bIns="0" rtlCol="0" anchor="t"/>
          <a:lstStyle/>
          <a:p>
            <a:pPr marL="0" indent="0">
              <a:buNone/>
            </a:pPr>
            <a:r>
              <a:rPr lang="en-US" sz="900" dirty="0">
                <a:solidFill>
                  <a:srgbClr val="334155"/>
                </a:solidFill>
                <a:latin typeface="Calibri" pitchFamily="34" charset="0"/>
                <a:ea typeface="Calibri" pitchFamily="34" charset="-122"/>
                <a:cs typeface="Calibri" pitchFamily="34" charset="-120"/>
              </a:rPr>
              <a:t>Pine Labs base: 5 → 25 banks</a:t>
            </a:r>
            <a:endParaRPr lang="en-US" sz="900" dirty="0"/>
          </a:p>
        </p:txBody>
      </p:sp>
      <p:sp>
        <p:nvSpPr>
          <p:cNvPr id="52" name="Text 50"/>
          <p:cNvSpPr/>
          <p:nvPr/>
        </p:nvSpPr>
        <p:spPr>
          <a:xfrm>
            <a:off x="9144000" y="3913632"/>
            <a:ext cx="2423160" cy="365760"/>
          </a:xfrm>
          <a:prstGeom prst="rect">
            <a:avLst/>
          </a:prstGeom>
          <a:noFill/>
          <a:ln/>
        </p:spPr>
        <p:txBody>
          <a:bodyPr wrap="square" lIns="0" tIns="0" rIns="0" bIns="0" rtlCol="0" anchor="t"/>
          <a:lstStyle/>
          <a:p>
            <a:pPr marL="0" indent="0">
              <a:buNone/>
            </a:pPr>
            <a:r>
              <a:rPr lang="en-US" sz="900" i="1" dirty="0">
                <a:solidFill>
                  <a:srgbClr val="64748B"/>
                </a:solidFill>
                <a:latin typeface="Calibri" pitchFamily="34" charset="0"/>
                <a:ea typeface="Calibri" pitchFamily="34" charset="-122"/>
                <a:cs typeface="Calibri" pitchFamily="34" charset="-120"/>
              </a:rPr>
              <a:t>Mechanics: ~₹2 Cr / bank annual contract</a:t>
            </a:r>
            <a:endParaRPr lang="en-US" sz="900" dirty="0"/>
          </a:p>
        </p:txBody>
      </p:sp>
      <p:sp>
        <p:nvSpPr>
          <p:cNvPr id="53" name="Shape 51"/>
          <p:cNvSpPr/>
          <p:nvPr/>
        </p:nvSpPr>
        <p:spPr>
          <a:xfrm>
            <a:off x="5486400" y="4379976"/>
            <a:ext cx="6263640" cy="777240"/>
          </a:xfrm>
          <a:prstGeom prst="rect">
            <a:avLst/>
          </a:prstGeom>
          <a:solidFill>
            <a:srgbClr val="FFFFFF"/>
          </a:solidFill>
          <a:ln w="6350">
            <a:solidFill>
              <a:srgbClr val="E2E8F0"/>
            </a:solidFill>
            <a:prstDash val="solid"/>
          </a:ln>
        </p:spPr>
        <p:txBody>
          <a:bodyPr/>
          <a:lstStyle/>
          <a:p>
            <a:endParaRPr lang="en-US"/>
          </a:p>
        </p:txBody>
      </p:sp>
      <p:sp>
        <p:nvSpPr>
          <p:cNvPr id="54" name="Shape 52"/>
          <p:cNvSpPr/>
          <p:nvPr/>
        </p:nvSpPr>
        <p:spPr>
          <a:xfrm>
            <a:off x="5486400" y="4379976"/>
            <a:ext cx="73152" cy="777240"/>
          </a:xfrm>
          <a:prstGeom prst="rect">
            <a:avLst/>
          </a:prstGeom>
          <a:solidFill>
            <a:srgbClr val="16A34A"/>
          </a:solidFill>
          <a:ln/>
        </p:spPr>
        <p:txBody>
          <a:bodyPr/>
          <a:lstStyle/>
          <a:p>
            <a:endParaRPr lang="en-US"/>
          </a:p>
        </p:txBody>
      </p:sp>
      <p:sp>
        <p:nvSpPr>
          <p:cNvPr id="55" name="Shape 53"/>
          <p:cNvSpPr/>
          <p:nvPr/>
        </p:nvSpPr>
        <p:spPr>
          <a:xfrm>
            <a:off x="5669280" y="4498848"/>
            <a:ext cx="713232" cy="256032"/>
          </a:xfrm>
          <a:prstGeom prst="rect">
            <a:avLst/>
          </a:prstGeom>
          <a:solidFill>
            <a:srgbClr val="0F3D2E"/>
          </a:solidFill>
          <a:ln/>
        </p:spPr>
        <p:txBody>
          <a:bodyPr/>
          <a:lstStyle/>
          <a:p>
            <a:endParaRPr lang="en-US"/>
          </a:p>
        </p:txBody>
      </p:sp>
      <p:sp>
        <p:nvSpPr>
          <p:cNvPr id="56" name="Text 54"/>
          <p:cNvSpPr/>
          <p:nvPr/>
        </p:nvSpPr>
        <p:spPr>
          <a:xfrm>
            <a:off x="5669280" y="4498848"/>
            <a:ext cx="713232" cy="256032"/>
          </a:xfrm>
          <a:prstGeom prst="rect">
            <a:avLst/>
          </a:prstGeom>
          <a:noFill/>
          <a:ln/>
        </p:spPr>
        <p:txBody>
          <a:bodyPr wrap="square" lIns="0" tIns="0" rIns="0" bIns="0" rtlCol="0" anchor="ctr"/>
          <a:lstStyle/>
          <a:p>
            <a:pPr marL="0" indent="0" algn="ctr">
              <a:buNone/>
            </a:pPr>
            <a:r>
              <a:rPr lang="en-US" sz="800" b="1" kern="0" spc="300" dirty="0">
                <a:solidFill>
                  <a:srgbClr val="86EFAC"/>
                </a:solidFill>
                <a:latin typeface="Calibri" pitchFamily="34" charset="0"/>
                <a:ea typeface="Calibri" pitchFamily="34" charset="-122"/>
                <a:cs typeface="Calibri" pitchFamily="34" charset="-120"/>
              </a:rPr>
              <a:t>INT'L</a:t>
            </a:r>
            <a:endParaRPr lang="en-US" sz="800" dirty="0"/>
          </a:p>
        </p:txBody>
      </p:sp>
      <p:sp>
        <p:nvSpPr>
          <p:cNvPr id="57" name="Text 55"/>
          <p:cNvSpPr/>
          <p:nvPr/>
        </p:nvSpPr>
        <p:spPr>
          <a:xfrm>
            <a:off x="6446520" y="4471416"/>
            <a:ext cx="5120640" cy="292608"/>
          </a:xfrm>
          <a:prstGeom prst="rect">
            <a:avLst/>
          </a:prstGeom>
          <a:noFill/>
          <a:ln/>
        </p:spPr>
        <p:txBody>
          <a:bodyPr wrap="square" lIns="0" tIns="0" rIns="0" bIns="0" rtlCol="0" anchor="ctr"/>
          <a:lstStyle/>
          <a:p>
            <a:pPr marL="0" indent="0">
              <a:buNone/>
            </a:pPr>
            <a:r>
              <a:rPr lang="en-US" sz="1100" b="1" dirty="0">
                <a:solidFill>
                  <a:srgbClr val="0F172A"/>
                </a:solidFill>
                <a:latin typeface="Calibri" pitchFamily="34" charset="0"/>
                <a:ea typeface="Calibri" pitchFamily="34" charset="-122"/>
                <a:cs typeface="Calibri" pitchFamily="34" charset="-120"/>
              </a:rPr>
              <a:t>Credit+ bank channel — UAE, Saudi, Egypt, MY, PH</a:t>
            </a:r>
            <a:endParaRPr lang="en-US" sz="1100" dirty="0"/>
          </a:p>
        </p:txBody>
      </p:sp>
      <p:sp>
        <p:nvSpPr>
          <p:cNvPr id="58" name="Text 56"/>
          <p:cNvSpPr/>
          <p:nvPr/>
        </p:nvSpPr>
        <p:spPr>
          <a:xfrm>
            <a:off x="6446520" y="4764024"/>
            <a:ext cx="2743200" cy="365760"/>
          </a:xfrm>
          <a:prstGeom prst="rect">
            <a:avLst/>
          </a:prstGeom>
          <a:noFill/>
          <a:ln/>
        </p:spPr>
        <p:txBody>
          <a:bodyPr wrap="square" lIns="0" tIns="0" rIns="0" bIns="0" rtlCol="0" anchor="t"/>
          <a:lstStyle/>
          <a:p>
            <a:pPr marL="0" indent="0">
              <a:buNone/>
            </a:pPr>
            <a:r>
              <a:rPr lang="en-US" sz="900" dirty="0">
                <a:solidFill>
                  <a:srgbClr val="334155"/>
                </a:solidFill>
                <a:latin typeface="Calibri" pitchFamily="34" charset="0"/>
                <a:ea typeface="Calibri" pitchFamily="34" charset="-122"/>
                <a:cs typeface="Calibri" pitchFamily="34" charset="-120"/>
              </a:rPr>
              <a:t>Pine Labs base: 0 → 10 banks (Y3)</a:t>
            </a:r>
            <a:endParaRPr lang="en-US" sz="900" dirty="0"/>
          </a:p>
        </p:txBody>
      </p:sp>
      <p:sp>
        <p:nvSpPr>
          <p:cNvPr id="59" name="Text 57"/>
          <p:cNvSpPr/>
          <p:nvPr/>
        </p:nvSpPr>
        <p:spPr>
          <a:xfrm>
            <a:off x="9144000" y="4764024"/>
            <a:ext cx="2423160" cy="365760"/>
          </a:xfrm>
          <a:prstGeom prst="rect">
            <a:avLst/>
          </a:prstGeom>
          <a:noFill/>
          <a:ln/>
        </p:spPr>
        <p:txBody>
          <a:bodyPr wrap="square" lIns="0" tIns="0" rIns="0" bIns="0" rtlCol="0" anchor="t"/>
          <a:lstStyle/>
          <a:p>
            <a:pPr marL="0" indent="0">
              <a:buNone/>
            </a:pPr>
            <a:r>
              <a:rPr lang="en-US" sz="900" i="1" dirty="0">
                <a:solidFill>
                  <a:srgbClr val="64748B"/>
                </a:solidFill>
                <a:latin typeface="Calibri" pitchFamily="34" charset="0"/>
                <a:ea typeface="Calibri" pitchFamily="34" charset="-122"/>
                <a:cs typeface="Calibri" pitchFamily="34" charset="-120"/>
              </a:rPr>
              <a:t>Mechanics: ~₹2.5 Cr / bank annual contract</a:t>
            </a:r>
            <a:endParaRPr lang="en-US" sz="900" dirty="0"/>
          </a:p>
        </p:txBody>
      </p:sp>
      <p:sp>
        <p:nvSpPr>
          <p:cNvPr id="60" name="Shape 58"/>
          <p:cNvSpPr/>
          <p:nvPr/>
        </p:nvSpPr>
        <p:spPr>
          <a:xfrm>
            <a:off x="5486400" y="5230368"/>
            <a:ext cx="6263640" cy="777240"/>
          </a:xfrm>
          <a:prstGeom prst="rect">
            <a:avLst/>
          </a:prstGeom>
          <a:solidFill>
            <a:srgbClr val="FFFFFF"/>
          </a:solidFill>
          <a:ln w="6350">
            <a:solidFill>
              <a:srgbClr val="E2E8F0"/>
            </a:solidFill>
            <a:prstDash val="solid"/>
          </a:ln>
        </p:spPr>
        <p:txBody>
          <a:bodyPr/>
          <a:lstStyle/>
          <a:p>
            <a:endParaRPr lang="en-US"/>
          </a:p>
        </p:txBody>
      </p:sp>
      <p:sp>
        <p:nvSpPr>
          <p:cNvPr id="61" name="Shape 59"/>
          <p:cNvSpPr/>
          <p:nvPr/>
        </p:nvSpPr>
        <p:spPr>
          <a:xfrm>
            <a:off x="5486400" y="5230368"/>
            <a:ext cx="73152" cy="777240"/>
          </a:xfrm>
          <a:prstGeom prst="rect">
            <a:avLst/>
          </a:prstGeom>
          <a:solidFill>
            <a:srgbClr val="16A34A"/>
          </a:solidFill>
          <a:ln/>
        </p:spPr>
        <p:txBody>
          <a:bodyPr/>
          <a:lstStyle/>
          <a:p>
            <a:endParaRPr lang="en-US"/>
          </a:p>
        </p:txBody>
      </p:sp>
      <p:sp>
        <p:nvSpPr>
          <p:cNvPr id="62" name="Shape 60"/>
          <p:cNvSpPr/>
          <p:nvPr/>
        </p:nvSpPr>
        <p:spPr>
          <a:xfrm>
            <a:off x="5669280" y="5349240"/>
            <a:ext cx="713232" cy="256032"/>
          </a:xfrm>
          <a:prstGeom prst="rect">
            <a:avLst/>
          </a:prstGeom>
          <a:solidFill>
            <a:srgbClr val="0F3D2E"/>
          </a:solidFill>
          <a:ln/>
        </p:spPr>
        <p:txBody>
          <a:bodyPr/>
          <a:lstStyle/>
          <a:p>
            <a:endParaRPr lang="en-US"/>
          </a:p>
        </p:txBody>
      </p:sp>
      <p:sp>
        <p:nvSpPr>
          <p:cNvPr id="63" name="Text 61"/>
          <p:cNvSpPr/>
          <p:nvPr/>
        </p:nvSpPr>
        <p:spPr>
          <a:xfrm>
            <a:off x="5669280" y="5349240"/>
            <a:ext cx="713232" cy="256032"/>
          </a:xfrm>
          <a:prstGeom prst="rect">
            <a:avLst/>
          </a:prstGeom>
          <a:noFill/>
          <a:ln/>
        </p:spPr>
        <p:txBody>
          <a:bodyPr wrap="square" lIns="0" tIns="0" rIns="0" bIns="0" rtlCol="0" anchor="ctr"/>
          <a:lstStyle/>
          <a:p>
            <a:pPr marL="0" indent="0" algn="ctr">
              <a:buNone/>
            </a:pPr>
            <a:r>
              <a:rPr lang="en-US" sz="800" b="1" kern="0" spc="300" dirty="0">
                <a:solidFill>
                  <a:srgbClr val="86EFAC"/>
                </a:solidFill>
                <a:latin typeface="Calibri" pitchFamily="34" charset="0"/>
                <a:ea typeface="Calibri" pitchFamily="34" charset="-122"/>
                <a:cs typeface="Calibri" pitchFamily="34" charset="-120"/>
              </a:rPr>
              <a:t>DIRECT</a:t>
            </a:r>
            <a:endParaRPr lang="en-US" sz="800" dirty="0"/>
          </a:p>
        </p:txBody>
      </p:sp>
      <p:sp>
        <p:nvSpPr>
          <p:cNvPr id="64" name="Text 62"/>
          <p:cNvSpPr/>
          <p:nvPr/>
        </p:nvSpPr>
        <p:spPr>
          <a:xfrm>
            <a:off x="6446520" y="5321808"/>
            <a:ext cx="5120640" cy="292608"/>
          </a:xfrm>
          <a:prstGeom prst="rect">
            <a:avLst/>
          </a:prstGeom>
          <a:noFill/>
          <a:ln/>
        </p:spPr>
        <p:txBody>
          <a:bodyPr wrap="square" lIns="0" tIns="0" rIns="0" bIns="0" rtlCol="0" anchor="ctr"/>
          <a:lstStyle/>
          <a:p>
            <a:pPr marL="0" indent="0">
              <a:buNone/>
            </a:pPr>
            <a:r>
              <a:rPr lang="en-US" sz="1100" b="1" dirty="0">
                <a:solidFill>
                  <a:srgbClr val="0F172A"/>
                </a:solidFill>
                <a:latin typeface="Calibri" pitchFamily="34" charset="0"/>
                <a:ea typeface="Calibri" pitchFamily="34" charset="-122"/>
                <a:cs typeface="Calibri" pitchFamily="34" charset="-120"/>
              </a:rPr>
              <a:t>Standalone Riskcovry book continues to grow</a:t>
            </a:r>
            <a:endParaRPr lang="en-US" sz="1100" dirty="0"/>
          </a:p>
        </p:txBody>
      </p:sp>
      <p:sp>
        <p:nvSpPr>
          <p:cNvPr id="65" name="Text 63"/>
          <p:cNvSpPr/>
          <p:nvPr/>
        </p:nvSpPr>
        <p:spPr>
          <a:xfrm>
            <a:off x="6446520" y="5614416"/>
            <a:ext cx="2743200" cy="365760"/>
          </a:xfrm>
          <a:prstGeom prst="rect">
            <a:avLst/>
          </a:prstGeom>
          <a:noFill/>
          <a:ln/>
        </p:spPr>
        <p:txBody>
          <a:bodyPr wrap="square" lIns="0" tIns="0" rIns="0" bIns="0" rtlCol="0" anchor="t"/>
          <a:lstStyle/>
          <a:p>
            <a:pPr marL="0" indent="0">
              <a:buNone/>
            </a:pPr>
            <a:r>
              <a:rPr lang="en-US" sz="900" dirty="0">
                <a:solidFill>
                  <a:srgbClr val="334155"/>
                </a:solidFill>
                <a:latin typeface="Calibri" pitchFamily="34" charset="0"/>
                <a:ea typeface="Calibri" pitchFamily="34" charset="-122"/>
                <a:cs typeface="Calibri" pitchFamily="34" charset="-120"/>
              </a:rPr>
              <a:t>Pine Labs base: ₹46 Cr → ₹185 Cr</a:t>
            </a:r>
            <a:endParaRPr lang="en-US" sz="900" dirty="0"/>
          </a:p>
        </p:txBody>
      </p:sp>
      <p:sp>
        <p:nvSpPr>
          <p:cNvPr id="66" name="Text 64"/>
          <p:cNvSpPr/>
          <p:nvPr/>
        </p:nvSpPr>
        <p:spPr>
          <a:xfrm>
            <a:off x="9144000" y="5614416"/>
            <a:ext cx="2423160" cy="365760"/>
          </a:xfrm>
          <a:prstGeom prst="rect">
            <a:avLst/>
          </a:prstGeom>
          <a:noFill/>
          <a:ln/>
        </p:spPr>
        <p:txBody>
          <a:bodyPr wrap="square" lIns="0" tIns="0" rIns="0" bIns="0" rtlCol="0" anchor="t"/>
          <a:lstStyle/>
          <a:p>
            <a:pPr marL="0" indent="0">
              <a:buNone/>
            </a:pPr>
            <a:r>
              <a:rPr lang="en-US" sz="900" i="1" dirty="0">
                <a:solidFill>
                  <a:srgbClr val="64748B"/>
                </a:solidFill>
                <a:latin typeface="Calibri" pitchFamily="34" charset="0"/>
                <a:ea typeface="Calibri" pitchFamily="34" charset="-122"/>
                <a:cs typeface="Calibri" pitchFamily="34" charset="-120"/>
              </a:rPr>
              <a:t>Mechanics: ~32% CAGR independent</a:t>
            </a:r>
            <a:endParaRPr lang="en-US" sz="900" dirty="0"/>
          </a:p>
        </p:txBody>
      </p:sp>
      <p:sp>
        <p:nvSpPr>
          <p:cNvPr id="67" name="Shape 65"/>
          <p:cNvSpPr/>
          <p:nvPr/>
        </p:nvSpPr>
        <p:spPr>
          <a:xfrm>
            <a:off x="457200" y="6263640"/>
            <a:ext cx="11247120" cy="201168"/>
          </a:xfrm>
          <a:prstGeom prst="rect">
            <a:avLst/>
          </a:prstGeom>
          <a:solidFill>
            <a:srgbClr val="F8FAFC"/>
          </a:solidFill>
          <a:ln w="6350">
            <a:solidFill>
              <a:srgbClr val="E2E8F0"/>
            </a:solidFill>
            <a:prstDash val="solid"/>
          </a:ln>
        </p:spPr>
        <p:txBody>
          <a:bodyPr/>
          <a:lstStyle/>
          <a:p>
            <a:endParaRPr lang="en-US"/>
          </a:p>
        </p:txBody>
      </p:sp>
      <p:sp>
        <p:nvSpPr>
          <p:cNvPr id="68" name="Shape 66"/>
          <p:cNvSpPr/>
          <p:nvPr/>
        </p:nvSpPr>
        <p:spPr>
          <a:xfrm>
            <a:off x="457200" y="6263640"/>
            <a:ext cx="73152" cy="201168"/>
          </a:xfrm>
          <a:prstGeom prst="rect">
            <a:avLst/>
          </a:prstGeom>
          <a:solidFill>
            <a:srgbClr val="16A34A"/>
          </a:solidFill>
          <a:ln/>
        </p:spPr>
        <p:txBody>
          <a:bodyPr/>
          <a:lstStyle/>
          <a:p>
            <a:endParaRPr lang="en-US"/>
          </a:p>
        </p:txBody>
      </p:sp>
      <p:sp>
        <p:nvSpPr>
          <p:cNvPr id="69" name="Text 67"/>
          <p:cNvSpPr/>
          <p:nvPr/>
        </p:nvSpPr>
        <p:spPr>
          <a:xfrm>
            <a:off x="685800" y="6263640"/>
            <a:ext cx="10972800" cy="201168"/>
          </a:xfrm>
          <a:prstGeom prst="rect">
            <a:avLst/>
          </a:prstGeom>
          <a:noFill/>
          <a:ln/>
        </p:spPr>
        <p:txBody>
          <a:bodyPr wrap="square" lIns="0" tIns="0" rIns="0" bIns="0" rtlCol="0" anchor="ctr"/>
          <a:lstStyle/>
          <a:p>
            <a:pPr marL="0" indent="0">
              <a:buNone/>
            </a:pPr>
            <a:r>
              <a:rPr lang="en-US" sz="1000" i="1" dirty="0">
                <a:solidFill>
                  <a:srgbClr val="0F172A"/>
                </a:solidFill>
                <a:latin typeface="Calibri" pitchFamily="34" charset="0"/>
                <a:ea typeface="Calibri" pitchFamily="34" charset="-122"/>
                <a:cs typeface="Calibri" pitchFamily="34" charset="-120"/>
              </a:rPr>
              <a:t>Two of the five attach points (POS warranty, credit-shield EMI) are automatic — execution doesn't require field-sales lift, which is the #1 historical risk.</a:t>
            </a:r>
            <a:endParaRPr lang="en-US" sz="1000" dirty="0"/>
          </a:p>
        </p:txBody>
      </p:sp>
      <p:pic>
        <p:nvPicPr>
          <p:cNvPr id="3074" name="Picture 2" descr="Morphosis - Portfolio Details">
            <a:extLst>
              <a:ext uri="{FF2B5EF4-FFF2-40B4-BE49-F238E27FC236}">
                <a16:creationId xmlns:a16="http://schemas.microsoft.com/office/drawing/2014/main" id="{D006BA9A-9507-13CA-9BE8-76E7234D45B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5611" y="2057921"/>
            <a:ext cx="1289562" cy="540004"/>
          </a:xfrm>
          <a:prstGeom prst="rect">
            <a:avLst/>
          </a:prstGeom>
          <a:noFill/>
          <a:extLst>
            <a:ext uri="{909E8E84-426E-40DD-AFC4-6F175D3DCCD1}">
              <a14:hiddenFill xmlns:a14="http://schemas.microsoft.com/office/drawing/2010/main">
                <a:solidFill>
                  <a:srgbClr val="FFFFFF"/>
                </a:solidFill>
              </a14:hiddenFill>
            </a:ext>
          </a:extLst>
        </p:spPr>
      </p:pic>
      <p:pic>
        <p:nvPicPr>
          <p:cNvPr id="70" name="Picture 2" descr="Pine Labs Launches Paper POS, a Merged QR Product to Accept Payments via  UPI and Bharat QR Apps">
            <a:extLst>
              <a:ext uri="{FF2B5EF4-FFF2-40B4-BE49-F238E27FC236}">
                <a16:creationId xmlns:a16="http://schemas.microsoft.com/office/drawing/2014/main" id="{372AEBC2-E7EB-EB8A-2D8B-BDE7EE58E312}"/>
              </a:ext>
            </a:extLst>
          </p:cNvPr>
          <p:cNvPicPr>
            <a:picLocks noChangeAspect="1" noChangeArrowheads="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1177016" y="-102584"/>
            <a:ext cx="1115568" cy="58451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16A34A"/>
          </a:solidFill>
          <a:ln/>
        </p:spPr>
        <p:txBody>
          <a:bodyPr/>
          <a:lstStyle/>
          <a:p>
            <a:endParaRPr lang="en-US"/>
          </a:p>
        </p:txBody>
      </p:sp>
      <p:sp>
        <p:nvSpPr>
          <p:cNvPr id="3" name="Text 1"/>
          <p:cNvSpPr/>
          <p:nvPr/>
        </p:nvSpPr>
        <p:spPr>
          <a:xfrm>
            <a:off x="457200" y="201168"/>
            <a:ext cx="10058400" cy="256032"/>
          </a:xfrm>
          <a:prstGeom prst="rect">
            <a:avLst/>
          </a:prstGeom>
          <a:noFill/>
          <a:ln/>
        </p:spPr>
        <p:txBody>
          <a:bodyPr wrap="square" lIns="0" tIns="0" rIns="0" bIns="0" rtlCol="0" anchor="ctr"/>
          <a:lstStyle/>
          <a:p>
            <a:pPr marL="0" indent="0">
              <a:buNone/>
            </a:pPr>
            <a:r>
              <a:rPr lang="en-US" sz="900" b="1" kern="0" spc="100" dirty="0">
                <a:solidFill>
                  <a:srgbClr val="16A34A"/>
                </a:solidFill>
                <a:latin typeface="Calibri" pitchFamily="34" charset="0"/>
                <a:ea typeface="Calibri" pitchFamily="34" charset="-122"/>
                <a:cs typeface="Calibri" pitchFamily="34" charset="-120"/>
              </a:rPr>
              <a:t>RISKCOVRY — REVENUE MODEL &amp; RISK</a:t>
            </a:r>
            <a:endParaRPr lang="en-US" sz="900" spc="100" dirty="0"/>
          </a:p>
        </p:txBody>
      </p:sp>
      <p:sp>
        <p:nvSpPr>
          <p:cNvPr id="4" name="Text 2"/>
          <p:cNvSpPr/>
          <p:nvPr/>
        </p:nvSpPr>
        <p:spPr>
          <a:xfrm>
            <a:off x="457200" y="457200"/>
            <a:ext cx="11247120" cy="731520"/>
          </a:xfrm>
          <a:prstGeom prst="rect">
            <a:avLst/>
          </a:prstGeom>
          <a:noFill/>
          <a:ln/>
        </p:spPr>
        <p:txBody>
          <a:bodyPr wrap="square" lIns="0" tIns="0" rIns="0" bIns="0" rtlCol="0" anchor="ctr"/>
          <a:lstStyle/>
          <a:p>
            <a:pPr marL="0" indent="0">
              <a:buNone/>
            </a:pPr>
            <a:r>
              <a:rPr lang="en-US" sz="2200" b="1" dirty="0">
                <a:solidFill>
                  <a:srgbClr val="0F172A"/>
                </a:solidFill>
                <a:latin typeface="Calibri" pitchFamily="34" charset="0"/>
                <a:ea typeface="Calibri" pitchFamily="34" charset="-122"/>
                <a:cs typeface="Calibri" pitchFamily="34" charset="-120"/>
              </a:rPr>
              <a:t>Base case ₹540 Cr revenue / ₹150 Cr EBITDA by FY29; bear case still pays back inside 7 years</a:t>
            </a:r>
            <a:endParaRPr lang="en-US" sz="2200" dirty="0"/>
          </a:p>
        </p:txBody>
      </p:sp>
      <p:sp>
        <p:nvSpPr>
          <p:cNvPr id="5" name="Shape 3"/>
          <p:cNvSpPr/>
          <p:nvPr/>
        </p:nvSpPr>
        <p:spPr>
          <a:xfrm>
            <a:off x="457200" y="1188720"/>
            <a:ext cx="11247120" cy="13716"/>
          </a:xfrm>
          <a:prstGeom prst="rect">
            <a:avLst/>
          </a:prstGeom>
          <a:solidFill>
            <a:srgbClr val="E2E8F0"/>
          </a:solidFill>
          <a:ln/>
        </p:spPr>
        <p:txBody>
          <a:bodyPr/>
          <a:lstStyle/>
          <a:p>
            <a:endParaRPr lang="en-US"/>
          </a:p>
        </p:txBody>
      </p:sp>
      <p:sp>
        <p:nvSpPr>
          <p:cNvPr id="6" name="Text 4"/>
          <p:cNvSpPr/>
          <p:nvPr/>
        </p:nvSpPr>
        <p:spPr>
          <a:xfrm>
            <a:off x="457200" y="6492240"/>
            <a:ext cx="6400800" cy="256032"/>
          </a:xfrm>
          <a:prstGeom prst="rect">
            <a:avLst/>
          </a:prstGeom>
          <a:noFill/>
          <a:ln/>
        </p:spPr>
        <p:txBody>
          <a:bodyPr wrap="square" lIns="0" tIns="0" rIns="0" bIns="0" rtlCol="0" anchor="ctr"/>
          <a:lstStyle/>
          <a:p>
            <a:pPr marL="0" indent="0">
              <a:buNone/>
            </a:pPr>
            <a:r>
              <a:rPr lang="en-US" sz="900" i="1" dirty="0">
                <a:solidFill>
                  <a:srgbClr val="64748B"/>
                </a:solidFill>
                <a:latin typeface="Calibri" pitchFamily="34" charset="0"/>
                <a:ea typeface="Calibri" pitchFamily="34" charset="-122"/>
                <a:cs typeface="Calibri" pitchFamily="34" charset="-120"/>
              </a:rPr>
              <a:t>Pine Labs — Corporate Development</a:t>
            </a:r>
            <a:endParaRPr lang="en-US" sz="900" dirty="0"/>
          </a:p>
        </p:txBody>
      </p:sp>
      <p:sp>
        <p:nvSpPr>
          <p:cNvPr id="7" name="Text 5"/>
          <p:cNvSpPr/>
          <p:nvPr/>
        </p:nvSpPr>
        <p:spPr>
          <a:xfrm>
            <a:off x="6858000" y="6492240"/>
            <a:ext cx="2743200" cy="256032"/>
          </a:xfrm>
          <a:prstGeom prst="rect">
            <a:avLst/>
          </a:prstGeom>
          <a:noFill/>
          <a:ln/>
        </p:spPr>
        <p:txBody>
          <a:bodyPr wrap="square" lIns="0" tIns="0" rIns="0" bIns="0" rtlCol="0" anchor="ctr"/>
          <a:lstStyle/>
          <a:p>
            <a:pPr marL="0" indent="0" algn="ctr">
              <a:buNone/>
            </a:pPr>
            <a:r>
              <a:rPr lang="en-US" sz="900" i="1" dirty="0">
                <a:solidFill>
                  <a:srgbClr val="64748B"/>
                </a:solidFill>
                <a:latin typeface="Calibri" pitchFamily="34" charset="0"/>
                <a:ea typeface="Calibri" pitchFamily="34" charset="-122"/>
                <a:cs typeface="Calibri" pitchFamily="34" charset="-120"/>
              </a:rPr>
              <a:t>Strictly Confidential</a:t>
            </a:r>
            <a:endParaRPr lang="en-US" sz="900" dirty="0"/>
          </a:p>
        </p:txBody>
      </p:sp>
      <p:sp>
        <p:nvSpPr>
          <p:cNvPr id="8" name="Text 6"/>
          <p:cNvSpPr/>
          <p:nvPr/>
        </p:nvSpPr>
        <p:spPr>
          <a:xfrm>
            <a:off x="10515600" y="6492240"/>
            <a:ext cx="1188720" cy="256032"/>
          </a:xfrm>
          <a:prstGeom prst="rect">
            <a:avLst/>
          </a:prstGeom>
          <a:noFill/>
          <a:ln/>
        </p:spPr>
        <p:txBody>
          <a:bodyPr wrap="square" lIns="0" tIns="0" rIns="0" bIns="0" rtlCol="0" anchor="ctr"/>
          <a:lstStyle/>
          <a:p>
            <a:pPr marL="0" indent="0" algn="r">
              <a:buNone/>
            </a:pPr>
            <a:r>
              <a:rPr lang="en-US" sz="900" b="1" dirty="0">
                <a:solidFill>
                  <a:srgbClr val="64748B"/>
                </a:solidFill>
                <a:latin typeface="Calibri" pitchFamily="34" charset="0"/>
                <a:ea typeface="Calibri" pitchFamily="34" charset="-122"/>
                <a:cs typeface="Calibri" pitchFamily="34" charset="-120"/>
              </a:rPr>
              <a:t>11</a:t>
            </a:r>
            <a:endParaRPr lang="en-US" sz="900" dirty="0"/>
          </a:p>
        </p:txBody>
      </p:sp>
      <p:sp>
        <p:nvSpPr>
          <p:cNvPr id="9" name="Text 7"/>
          <p:cNvSpPr/>
          <p:nvPr/>
        </p:nvSpPr>
        <p:spPr>
          <a:xfrm>
            <a:off x="502920" y="1417320"/>
            <a:ext cx="6126480" cy="274320"/>
          </a:xfrm>
          <a:prstGeom prst="rect">
            <a:avLst/>
          </a:prstGeom>
          <a:noFill/>
          <a:ln/>
        </p:spPr>
        <p:txBody>
          <a:bodyPr wrap="square" lIns="0" tIns="0" rIns="0" bIns="0" rtlCol="0" anchor="ctr"/>
          <a:lstStyle/>
          <a:p>
            <a:pPr marL="0" indent="0">
              <a:buNone/>
            </a:pPr>
            <a:r>
              <a:rPr lang="en-US" sz="1000" b="1" kern="0" spc="100" dirty="0">
                <a:solidFill>
                  <a:srgbClr val="0F172A"/>
                </a:solidFill>
                <a:latin typeface="Calibri" pitchFamily="34" charset="0"/>
                <a:ea typeface="Calibri" pitchFamily="34" charset="-122"/>
                <a:cs typeface="Calibri" pitchFamily="34" charset="-120"/>
              </a:rPr>
              <a:t>Revenue build by channel (₹ Cr)</a:t>
            </a:r>
            <a:endParaRPr lang="en-US" sz="1000" spc="100" dirty="0"/>
          </a:p>
        </p:txBody>
      </p:sp>
      <p:sp>
        <p:nvSpPr>
          <p:cNvPr id="10" name="Shape 8"/>
          <p:cNvSpPr/>
          <p:nvPr/>
        </p:nvSpPr>
        <p:spPr>
          <a:xfrm>
            <a:off x="502920" y="1691640"/>
            <a:ext cx="6126480" cy="13716"/>
          </a:xfrm>
          <a:prstGeom prst="rect">
            <a:avLst/>
          </a:prstGeom>
          <a:solidFill>
            <a:srgbClr val="E2E8F0"/>
          </a:solidFill>
          <a:ln/>
        </p:spPr>
        <p:txBody>
          <a:bodyPr/>
          <a:lstStyle/>
          <a:p>
            <a:endParaRPr lang="en-US"/>
          </a:p>
        </p:txBody>
      </p:sp>
      <p:graphicFrame>
        <p:nvGraphicFramePr>
          <p:cNvPr id="11" name="Chart 0"/>
          <p:cNvGraphicFramePr/>
          <p:nvPr>
            <p:extLst>
              <p:ext uri="{D42A27DB-BD31-4B8C-83A1-F6EECF244321}">
                <p14:modId xmlns:p14="http://schemas.microsoft.com/office/powerpoint/2010/main" val="1737357135"/>
              </p:ext>
            </p:extLst>
          </p:nvPr>
        </p:nvGraphicFramePr>
        <p:xfrm>
          <a:off x="502920" y="1783080"/>
          <a:ext cx="6126480" cy="3520440"/>
        </p:xfrm>
        <a:graphic>
          <a:graphicData uri="http://schemas.openxmlformats.org/drawingml/2006/chart">
            <c:chart xmlns:c="http://schemas.openxmlformats.org/drawingml/2006/chart" xmlns:r="http://schemas.openxmlformats.org/officeDocument/2006/relationships" r:id="rId3"/>
          </a:graphicData>
        </a:graphic>
      </p:graphicFrame>
      <p:sp>
        <p:nvSpPr>
          <p:cNvPr id="12" name="Shape 9"/>
          <p:cNvSpPr/>
          <p:nvPr/>
        </p:nvSpPr>
        <p:spPr>
          <a:xfrm>
            <a:off x="502920" y="5440680"/>
            <a:ext cx="1981200" cy="777240"/>
          </a:xfrm>
          <a:prstGeom prst="rect">
            <a:avLst/>
          </a:prstGeom>
          <a:solidFill>
            <a:srgbClr val="FFFFFF"/>
          </a:solidFill>
          <a:ln w="6350">
            <a:solidFill>
              <a:srgbClr val="E2E8F0"/>
            </a:solidFill>
            <a:prstDash val="solid"/>
          </a:ln>
        </p:spPr>
        <p:txBody>
          <a:bodyPr/>
          <a:lstStyle/>
          <a:p>
            <a:endParaRPr lang="en-US"/>
          </a:p>
        </p:txBody>
      </p:sp>
      <p:sp>
        <p:nvSpPr>
          <p:cNvPr id="13" name="Shape 10"/>
          <p:cNvSpPr/>
          <p:nvPr/>
        </p:nvSpPr>
        <p:spPr>
          <a:xfrm>
            <a:off x="502920" y="5440680"/>
            <a:ext cx="64008" cy="777240"/>
          </a:xfrm>
          <a:prstGeom prst="rect">
            <a:avLst/>
          </a:prstGeom>
          <a:solidFill>
            <a:srgbClr val="D97706"/>
          </a:solidFill>
          <a:ln/>
        </p:spPr>
        <p:txBody>
          <a:bodyPr/>
          <a:lstStyle/>
          <a:p>
            <a:endParaRPr lang="en-US"/>
          </a:p>
        </p:txBody>
      </p:sp>
      <p:sp>
        <p:nvSpPr>
          <p:cNvPr id="14" name="Text 11"/>
          <p:cNvSpPr/>
          <p:nvPr/>
        </p:nvSpPr>
        <p:spPr>
          <a:xfrm>
            <a:off x="667512" y="5513832"/>
            <a:ext cx="1706880" cy="228600"/>
          </a:xfrm>
          <a:prstGeom prst="rect">
            <a:avLst/>
          </a:prstGeom>
          <a:noFill/>
          <a:ln/>
        </p:spPr>
        <p:txBody>
          <a:bodyPr wrap="square" lIns="0" tIns="0" rIns="0" bIns="0" rtlCol="0" anchor="ctr"/>
          <a:lstStyle/>
          <a:p>
            <a:pPr marL="0" indent="0">
              <a:buNone/>
            </a:pPr>
            <a:r>
              <a:rPr lang="en-US" sz="900" b="1" kern="0" spc="300" dirty="0">
                <a:solidFill>
                  <a:srgbClr val="D97706"/>
                </a:solidFill>
                <a:latin typeface="Calibri" pitchFamily="34" charset="0"/>
                <a:ea typeface="Calibri" pitchFamily="34" charset="-122"/>
                <a:cs typeface="Calibri" pitchFamily="34" charset="-120"/>
              </a:rPr>
              <a:t>BEAR</a:t>
            </a:r>
            <a:endParaRPr lang="en-US" sz="900" dirty="0"/>
          </a:p>
        </p:txBody>
      </p:sp>
      <p:sp>
        <p:nvSpPr>
          <p:cNvPr id="15" name="Text 12"/>
          <p:cNvSpPr/>
          <p:nvPr/>
        </p:nvSpPr>
        <p:spPr>
          <a:xfrm>
            <a:off x="667512" y="5733288"/>
            <a:ext cx="1706880" cy="274320"/>
          </a:xfrm>
          <a:prstGeom prst="rect">
            <a:avLst/>
          </a:prstGeom>
          <a:noFill/>
          <a:ln/>
        </p:spPr>
        <p:txBody>
          <a:bodyPr wrap="square" lIns="0" tIns="0" rIns="0" bIns="0" rtlCol="0" anchor="ctr"/>
          <a:lstStyle/>
          <a:p>
            <a:pPr marL="0" indent="0">
              <a:buNone/>
            </a:pPr>
            <a:r>
              <a:rPr lang="en-US" sz="1400" b="1" dirty="0">
                <a:solidFill>
                  <a:srgbClr val="0F172A"/>
                </a:solidFill>
                <a:latin typeface="Calibri" pitchFamily="34" charset="0"/>
                <a:ea typeface="Calibri" pitchFamily="34" charset="-122"/>
                <a:cs typeface="Calibri" pitchFamily="34" charset="-120"/>
              </a:rPr>
              <a:t>₹320 Cr</a:t>
            </a:r>
            <a:endParaRPr lang="en-US" sz="1400" dirty="0"/>
          </a:p>
        </p:txBody>
      </p:sp>
      <p:sp>
        <p:nvSpPr>
          <p:cNvPr id="16" name="Text 13"/>
          <p:cNvSpPr/>
          <p:nvPr/>
        </p:nvSpPr>
        <p:spPr>
          <a:xfrm>
            <a:off x="667512" y="5971032"/>
            <a:ext cx="1706880" cy="228600"/>
          </a:xfrm>
          <a:prstGeom prst="rect">
            <a:avLst/>
          </a:prstGeom>
          <a:noFill/>
          <a:ln/>
        </p:spPr>
        <p:txBody>
          <a:bodyPr wrap="square" lIns="0" tIns="0" rIns="0" bIns="0" rtlCol="0" anchor="ctr"/>
          <a:lstStyle/>
          <a:p>
            <a:pPr marL="0" indent="0">
              <a:buNone/>
            </a:pPr>
            <a:r>
              <a:rPr lang="en-US" sz="850" i="1" dirty="0">
                <a:solidFill>
                  <a:srgbClr val="64748B"/>
                </a:solidFill>
                <a:latin typeface="Calibri" pitchFamily="34" charset="0"/>
                <a:ea typeface="Calibri" pitchFamily="34" charset="-122"/>
                <a:cs typeface="Calibri" pitchFamily="34" charset="-120"/>
              </a:rPr>
              <a:t>₹70-90 Cr EBITDA  ·  5-7 yr payback</a:t>
            </a:r>
            <a:endParaRPr lang="en-US" sz="850" dirty="0"/>
          </a:p>
        </p:txBody>
      </p:sp>
      <p:sp>
        <p:nvSpPr>
          <p:cNvPr id="17" name="Shape 14"/>
          <p:cNvSpPr/>
          <p:nvPr/>
        </p:nvSpPr>
        <p:spPr>
          <a:xfrm>
            <a:off x="2575560" y="5440680"/>
            <a:ext cx="1981200" cy="777240"/>
          </a:xfrm>
          <a:prstGeom prst="rect">
            <a:avLst/>
          </a:prstGeom>
          <a:solidFill>
            <a:srgbClr val="FFFFFF"/>
          </a:solidFill>
          <a:ln w="6350">
            <a:solidFill>
              <a:srgbClr val="E2E8F0"/>
            </a:solidFill>
            <a:prstDash val="solid"/>
          </a:ln>
        </p:spPr>
        <p:txBody>
          <a:bodyPr/>
          <a:lstStyle/>
          <a:p>
            <a:endParaRPr lang="en-US"/>
          </a:p>
        </p:txBody>
      </p:sp>
      <p:sp>
        <p:nvSpPr>
          <p:cNvPr id="18" name="Shape 15"/>
          <p:cNvSpPr/>
          <p:nvPr/>
        </p:nvSpPr>
        <p:spPr>
          <a:xfrm>
            <a:off x="2575560" y="5440680"/>
            <a:ext cx="64008" cy="777240"/>
          </a:xfrm>
          <a:prstGeom prst="rect">
            <a:avLst/>
          </a:prstGeom>
          <a:solidFill>
            <a:srgbClr val="16A34A"/>
          </a:solidFill>
          <a:ln/>
        </p:spPr>
        <p:txBody>
          <a:bodyPr/>
          <a:lstStyle/>
          <a:p>
            <a:endParaRPr lang="en-US"/>
          </a:p>
        </p:txBody>
      </p:sp>
      <p:sp>
        <p:nvSpPr>
          <p:cNvPr id="19" name="Text 16"/>
          <p:cNvSpPr/>
          <p:nvPr/>
        </p:nvSpPr>
        <p:spPr>
          <a:xfrm>
            <a:off x="2740152" y="5513832"/>
            <a:ext cx="1706880" cy="228600"/>
          </a:xfrm>
          <a:prstGeom prst="rect">
            <a:avLst/>
          </a:prstGeom>
          <a:noFill/>
          <a:ln/>
        </p:spPr>
        <p:txBody>
          <a:bodyPr wrap="square" lIns="0" tIns="0" rIns="0" bIns="0" rtlCol="0" anchor="ctr"/>
          <a:lstStyle/>
          <a:p>
            <a:pPr marL="0" indent="0">
              <a:buNone/>
            </a:pPr>
            <a:r>
              <a:rPr lang="en-US" sz="900" b="1" kern="0" spc="300" dirty="0">
                <a:solidFill>
                  <a:srgbClr val="16A34A"/>
                </a:solidFill>
                <a:latin typeface="Calibri" pitchFamily="34" charset="0"/>
                <a:ea typeface="Calibri" pitchFamily="34" charset="-122"/>
                <a:cs typeface="Calibri" pitchFamily="34" charset="-120"/>
              </a:rPr>
              <a:t>BASE</a:t>
            </a:r>
            <a:endParaRPr lang="en-US" sz="900" dirty="0"/>
          </a:p>
        </p:txBody>
      </p:sp>
      <p:sp>
        <p:nvSpPr>
          <p:cNvPr id="20" name="Text 17"/>
          <p:cNvSpPr/>
          <p:nvPr/>
        </p:nvSpPr>
        <p:spPr>
          <a:xfrm>
            <a:off x="2740152" y="5733288"/>
            <a:ext cx="1706880" cy="274320"/>
          </a:xfrm>
          <a:prstGeom prst="rect">
            <a:avLst/>
          </a:prstGeom>
          <a:noFill/>
          <a:ln/>
        </p:spPr>
        <p:txBody>
          <a:bodyPr wrap="square" lIns="0" tIns="0" rIns="0" bIns="0" rtlCol="0" anchor="ctr"/>
          <a:lstStyle/>
          <a:p>
            <a:pPr marL="0" indent="0">
              <a:buNone/>
            </a:pPr>
            <a:r>
              <a:rPr lang="en-US" sz="1400" b="1" dirty="0">
                <a:solidFill>
                  <a:srgbClr val="0F172A"/>
                </a:solidFill>
                <a:latin typeface="Calibri" pitchFamily="34" charset="0"/>
                <a:ea typeface="Calibri" pitchFamily="34" charset="-122"/>
                <a:cs typeface="Calibri" pitchFamily="34" charset="-120"/>
              </a:rPr>
              <a:t>₹540 Cr</a:t>
            </a:r>
            <a:endParaRPr lang="en-US" sz="1400" dirty="0"/>
          </a:p>
        </p:txBody>
      </p:sp>
      <p:sp>
        <p:nvSpPr>
          <p:cNvPr id="21" name="Text 18"/>
          <p:cNvSpPr/>
          <p:nvPr/>
        </p:nvSpPr>
        <p:spPr>
          <a:xfrm>
            <a:off x="2740152" y="5971032"/>
            <a:ext cx="1706880" cy="228600"/>
          </a:xfrm>
          <a:prstGeom prst="rect">
            <a:avLst/>
          </a:prstGeom>
          <a:noFill/>
          <a:ln/>
        </p:spPr>
        <p:txBody>
          <a:bodyPr wrap="square" lIns="0" tIns="0" rIns="0" bIns="0" rtlCol="0" anchor="ctr"/>
          <a:lstStyle/>
          <a:p>
            <a:pPr marL="0" indent="0">
              <a:buNone/>
            </a:pPr>
            <a:r>
              <a:rPr lang="en-US" sz="850" i="1" dirty="0">
                <a:solidFill>
                  <a:srgbClr val="64748B"/>
                </a:solidFill>
                <a:latin typeface="Calibri" pitchFamily="34" charset="0"/>
                <a:ea typeface="Calibri" pitchFamily="34" charset="-122"/>
                <a:cs typeface="Calibri" pitchFamily="34" charset="-120"/>
              </a:rPr>
              <a:t>₹150 Cr EBITDA  ·  3 yr payback</a:t>
            </a:r>
            <a:endParaRPr lang="en-US" sz="850" dirty="0"/>
          </a:p>
        </p:txBody>
      </p:sp>
      <p:sp>
        <p:nvSpPr>
          <p:cNvPr id="22" name="Shape 19"/>
          <p:cNvSpPr/>
          <p:nvPr/>
        </p:nvSpPr>
        <p:spPr>
          <a:xfrm>
            <a:off x="4648200" y="5440680"/>
            <a:ext cx="1981200" cy="777240"/>
          </a:xfrm>
          <a:prstGeom prst="rect">
            <a:avLst/>
          </a:prstGeom>
          <a:solidFill>
            <a:srgbClr val="FFFFFF"/>
          </a:solidFill>
          <a:ln w="6350">
            <a:solidFill>
              <a:srgbClr val="E2E8F0"/>
            </a:solidFill>
            <a:prstDash val="solid"/>
          </a:ln>
        </p:spPr>
        <p:txBody>
          <a:bodyPr/>
          <a:lstStyle/>
          <a:p>
            <a:endParaRPr lang="en-US"/>
          </a:p>
        </p:txBody>
      </p:sp>
      <p:sp>
        <p:nvSpPr>
          <p:cNvPr id="23" name="Shape 20"/>
          <p:cNvSpPr/>
          <p:nvPr/>
        </p:nvSpPr>
        <p:spPr>
          <a:xfrm>
            <a:off x="4648200" y="5440680"/>
            <a:ext cx="64008" cy="777240"/>
          </a:xfrm>
          <a:prstGeom prst="rect">
            <a:avLst/>
          </a:prstGeom>
          <a:solidFill>
            <a:srgbClr val="0F3D2E"/>
          </a:solidFill>
          <a:ln/>
        </p:spPr>
        <p:txBody>
          <a:bodyPr/>
          <a:lstStyle/>
          <a:p>
            <a:endParaRPr lang="en-US"/>
          </a:p>
        </p:txBody>
      </p:sp>
      <p:sp>
        <p:nvSpPr>
          <p:cNvPr id="24" name="Text 21"/>
          <p:cNvSpPr/>
          <p:nvPr/>
        </p:nvSpPr>
        <p:spPr>
          <a:xfrm>
            <a:off x="4812792" y="5513832"/>
            <a:ext cx="1706880" cy="228600"/>
          </a:xfrm>
          <a:prstGeom prst="rect">
            <a:avLst/>
          </a:prstGeom>
          <a:noFill/>
          <a:ln/>
        </p:spPr>
        <p:txBody>
          <a:bodyPr wrap="square" lIns="0" tIns="0" rIns="0" bIns="0" rtlCol="0" anchor="ctr"/>
          <a:lstStyle/>
          <a:p>
            <a:pPr marL="0" indent="0">
              <a:buNone/>
            </a:pPr>
            <a:r>
              <a:rPr lang="en-US" sz="900" b="1" kern="0" spc="300" dirty="0">
                <a:solidFill>
                  <a:srgbClr val="0F3D2E"/>
                </a:solidFill>
                <a:latin typeface="Calibri" pitchFamily="34" charset="0"/>
                <a:ea typeface="Calibri" pitchFamily="34" charset="-122"/>
                <a:cs typeface="Calibri" pitchFamily="34" charset="-120"/>
              </a:rPr>
              <a:t>STRETCH</a:t>
            </a:r>
            <a:endParaRPr lang="en-US" sz="900" dirty="0"/>
          </a:p>
        </p:txBody>
      </p:sp>
      <p:sp>
        <p:nvSpPr>
          <p:cNvPr id="25" name="Text 22"/>
          <p:cNvSpPr/>
          <p:nvPr/>
        </p:nvSpPr>
        <p:spPr>
          <a:xfrm>
            <a:off x="4812792" y="5733288"/>
            <a:ext cx="1706880" cy="274320"/>
          </a:xfrm>
          <a:prstGeom prst="rect">
            <a:avLst/>
          </a:prstGeom>
          <a:noFill/>
          <a:ln/>
        </p:spPr>
        <p:txBody>
          <a:bodyPr wrap="square" lIns="0" tIns="0" rIns="0" bIns="0" rtlCol="0" anchor="ctr"/>
          <a:lstStyle/>
          <a:p>
            <a:pPr marL="0" indent="0">
              <a:buNone/>
            </a:pPr>
            <a:r>
              <a:rPr lang="en-US" sz="1400" b="1" dirty="0">
                <a:solidFill>
                  <a:srgbClr val="0F172A"/>
                </a:solidFill>
                <a:latin typeface="Calibri" pitchFamily="34" charset="0"/>
                <a:ea typeface="Calibri" pitchFamily="34" charset="-122"/>
                <a:cs typeface="Calibri" pitchFamily="34" charset="-120"/>
              </a:rPr>
              <a:t>₹950 Cr</a:t>
            </a:r>
            <a:endParaRPr lang="en-US" sz="1400" dirty="0"/>
          </a:p>
        </p:txBody>
      </p:sp>
      <p:sp>
        <p:nvSpPr>
          <p:cNvPr id="26" name="Text 23"/>
          <p:cNvSpPr/>
          <p:nvPr/>
        </p:nvSpPr>
        <p:spPr>
          <a:xfrm>
            <a:off x="4812792" y="5971032"/>
            <a:ext cx="1706880" cy="228600"/>
          </a:xfrm>
          <a:prstGeom prst="rect">
            <a:avLst/>
          </a:prstGeom>
          <a:noFill/>
          <a:ln/>
        </p:spPr>
        <p:txBody>
          <a:bodyPr wrap="square" lIns="0" tIns="0" rIns="0" bIns="0" rtlCol="0" anchor="ctr"/>
          <a:lstStyle/>
          <a:p>
            <a:pPr marL="0" indent="0">
              <a:buNone/>
            </a:pPr>
            <a:r>
              <a:rPr lang="en-US" sz="850" i="1" dirty="0">
                <a:solidFill>
                  <a:srgbClr val="64748B"/>
                </a:solidFill>
                <a:latin typeface="Calibri" pitchFamily="34" charset="0"/>
                <a:ea typeface="Calibri" pitchFamily="34" charset="-122"/>
                <a:cs typeface="Calibri" pitchFamily="34" charset="-120"/>
              </a:rPr>
              <a:t>₹250 Cr EBITDA  ·  18-mo payback</a:t>
            </a:r>
            <a:endParaRPr lang="en-US" sz="850" dirty="0"/>
          </a:p>
        </p:txBody>
      </p:sp>
      <p:sp>
        <p:nvSpPr>
          <p:cNvPr id="27" name="Text 24"/>
          <p:cNvSpPr/>
          <p:nvPr/>
        </p:nvSpPr>
        <p:spPr>
          <a:xfrm>
            <a:off x="6903720" y="1417320"/>
            <a:ext cx="4846320" cy="274320"/>
          </a:xfrm>
          <a:prstGeom prst="rect">
            <a:avLst/>
          </a:prstGeom>
          <a:noFill/>
          <a:ln/>
        </p:spPr>
        <p:txBody>
          <a:bodyPr wrap="square" lIns="0" tIns="0" rIns="0" bIns="0" rtlCol="0" anchor="ctr"/>
          <a:lstStyle/>
          <a:p>
            <a:pPr marL="0" indent="0">
              <a:buNone/>
            </a:pPr>
            <a:r>
              <a:rPr lang="en-US" sz="1000" b="1" kern="0" spc="100" dirty="0">
                <a:solidFill>
                  <a:srgbClr val="DC2626"/>
                </a:solidFill>
                <a:latin typeface="Calibri" pitchFamily="34" charset="0"/>
                <a:ea typeface="Calibri" pitchFamily="34" charset="-122"/>
                <a:cs typeface="Calibri" pitchFamily="34" charset="-120"/>
              </a:rPr>
              <a:t>Risk register &amp; mitigants</a:t>
            </a:r>
            <a:endParaRPr lang="en-US" sz="1000" spc="100" dirty="0"/>
          </a:p>
        </p:txBody>
      </p:sp>
      <p:sp>
        <p:nvSpPr>
          <p:cNvPr id="28" name="Shape 25"/>
          <p:cNvSpPr/>
          <p:nvPr/>
        </p:nvSpPr>
        <p:spPr>
          <a:xfrm>
            <a:off x="6903720" y="1691640"/>
            <a:ext cx="4846320" cy="13716"/>
          </a:xfrm>
          <a:prstGeom prst="rect">
            <a:avLst/>
          </a:prstGeom>
          <a:solidFill>
            <a:srgbClr val="E2E8F0"/>
          </a:solidFill>
          <a:ln/>
        </p:spPr>
        <p:txBody>
          <a:bodyPr/>
          <a:lstStyle/>
          <a:p>
            <a:endParaRPr lang="en-US"/>
          </a:p>
        </p:txBody>
      </p:sp>
      <p:sp>
        <p:nvSpPr>
          <p:cNvPr id="29" name="Shape 26"/>
          <p:cNvSpPr/>
          <p:nvPr/>
        </p:nvSpPr>
        <p:spPr>
          <a:xfrm>
            <a:off x="6903720" y="1828800"/>
            <a:ext cx="4846320" cy="1033272"/>
          </a:xfrm>
          <a:prstGeom prst="rect">
            <a:avLst/>
          </a:prstGeom>
          <a:solidFill>
            <a:srgbClr val="FFFFFF"/>
          </a:solidFill>
          <a:ln w="6350">
            <a:solidFill>
              <a:srgbClr val="E2E8F0"/>
            </a:solidFill>
            <a:prstDash val="solid"/>
          </a:ln>
        </p:spPr>
        <p:txBody>
          <a:bodyPr/>
          <a:lstStyle/>
          <a:p>
            <a:endParaRPr lang="en-US"/>
          </a:p>
        </p:txBody>
      </p:sp>
      <p:sp>
        <p:nvSpPr>
          <p:cNvPr id="30" name="Shape 27"/>
          <p:cNvSpPr/>
          <p:nvPr/>
        </p:nvSpPr>
        <p:spPr>
          <a:xfrm>
            <a:off x="6903720" y="1828800"/>
            <a:ext cx="73152" cy="1033272"/>
          </a:xfrm>
          <a:prstGeom prst="rect">
            <a:avLst/>
          </a:prstGeom>
          <a:solidFill>
            <a:srgbClr val="DC2626"/>
          </a:solidFill>
          <a:ln/>
        </p:spPr>
        <p:txBody>
          <a:bodyPr/>
          <a:lstStyle/>
          <a:p>
            <a:endParaRPr lang="en-US"/>
          </a:p>
        </p:txBody>
      </p:sp>
      <p:sp>
        <p:nvSpPr>
          <p:cNvPr id="31" name="Shape 28"/>
          <p:cNvSpPr/>
          <p:nvPr/>
        </p:nvSpPr>
        <p:spPr>
          <a:xfrm>
            <a:off x="7086600" y="1947672"/>
            <a:ext cx="566928" cy="219456"/>
          </a:xfrm>
          <a:prstGeom prst="rect">
            <a:avLst/>
          </a:prstGeom>
          <a:solidFill>
            <a:srgbClr val="DC2626"/>
          </a:solidFill>
          <a:ln/>
        </p:spPr>
        <p:txBody>
          <a:bodyPr/>
          <a:lstStyle/>
          <a:p>
            <a:endParaRPr lang="en-US"/>
          </a:p>
        </p:txBody>
      </p:sp>
      <p:sp>
        <p:nvSpPr>
          <p:cNvPr id="32" name="Text 29"/>
          <p:cNvSpPr/>
          <p:nvPr/>
        </p:nvSpPr>
        <p:spPr>
          <a:xfrm>
            <a:off x="7086600" y="1947672"/>
            <a:ext cx="566928" cy="219456"/>
          </a:xfrm>
          <a:prstGeom prst="rect">
            <a:avLst/>
          </a:prstGeom>
          <a:noFill/>
          <a:ln/>
        </p:spPr>
        <p:txBody>
          <a:bodyPr wrap="square" lIns="0" tIns="0" rIns="0" bIns="0" rtlCol="0" anchor="ctr"/>
          <a:lstStyle/>
          <a:p>
            <a:pPr marL="0" indent="0" algn="ctr">
              <a:buNone/>
            </a:pPr>
            <a:r>
              <a:rPr lang="en-US" sz="800" b="1" kern="0" spc="100" dirty="0">
                <a:solidFill>
                  <a:srgbClr val="FFFFFF"/>
                </a:solidFill>
                <a:latin typeface="Calibri" pitchFamily="34" charset="0"/>
                <a:ea typeface="Calibri" pitchFamily="34" charset="-122"/>
                <a:cs typeface="Calibri" pitchFamily="34" charset="-120"/>
              </a:rPr>
              <a:t>HIGH</a:t>
            </a:r>
            <a:endParaRPr lang="en-US" sz="800" spc="100" dirty="0"/>
          </a:p>
        </p:txBody>
      </p:sp>
      <p:sp>
        <p:nvSpPr>
          <p:cNvPr id="33" name="Text 30"/>
          <p:cNvSpPr/>
          <p:nvPr/>
        </p:nvSpPr>
        <p:spPr>
          <a:xfrm>
            <a:off x="7726680" y="1920240"/>
            <a:ext cx="3840480" cy="292608"/>
          </a:xfrm>
          <a:prstGeom prst="rect">
            <a:avLst/>
          </a:prstGeom>
          <a:noFill/>
          <a:ln/>
        </p:spPr>
        <p:txBody>
          <a:bodyPr wrap="square" lIns="0" tIns="0" rIns="0" bIns="0" rtlCol="0" anchor="ctr"/>
          <a:lstStyle/>
          <a:p>
            <a:pPr marL="0" indent="0">
              <a:buNone/>
            </a:pPr>
            <a:r>
              <a:rPr lang="en-US" sz="1050" b="1" dirty="0">
                <a:solidFill>
                  <a:srgbClr val="0F172A"/>
                </a:solidFill>
                <a:latin typeface="Calibri" pitchFamily="34" charset="0"/>
                <a:ea typeface="Calibri" pitchFamily="34" charset="-122"/>
                <a:cs typeface="Calibri" pitchFamily="34" charset="-120"/>
              </a:rPr>
              <a:t>Field-execution muscle on POS attach</a:t>
            </a:r>
            <a:endParaRPr lang="en-US" sz="1050" dirty="0"/>
          </a:p>
        </p:txBody>
      </p:sp>
      <p:sp>
        <p:nvSpPr>
          <p:cNvPr id="34" name="Text 31"/>
          <p:cNvSpPr/>
          <p:nvPr/>
        </p:nvSpPr>
        <p:spPr>
          <a:xfrm>
            <a:off x="7086600" y="2221992"/>
            <a:ext cx="4480560" cy="320040"/>
          </a:xfrm>
          <a:prstGeom prst="rect">
            <a:avLst/>
          </a:prstGeom>
          <a:noFill/>
          <a:ln/>
        </p:spPr>
        <p:txBody>
          <a:bodyPr wrap="square" lIns="0" tIns="0" rIns="0" bIns="0" rtlCol="0" anchor="t"/>
          <a:lstStyle/>
          <a:p>
            <a:pPr marL="0" indent="0">
              <a:buNone/>
            </a:pPr>
            <a:r>
              <a:rPr lang="en-US" sz="900" dirty="0">
                <a:solidFill>
                  <a:srgbClr val="334155"/>
                </a:solidFill>
                <a:latin typeface="Calibri" pitchFamily="34" charset="0"/>
                <a:ea typeface="Calibri" pitchFamily="34" charset="-122"/>
                <a:cs typeface="Calibri" pitchFamily="34" charset="-120"/>
              </a:rPr>
              <a:t>Pine Labs has historically struggled to drive cross-sell through field sales (Fave precedent).</a:t>
            </a:r>
            <a:endParaRPr lang="en-US" sz="900" dirty="0"/>
          </a:p>
        </p:txBody>
      </p:sp>
      <p:sp>
        <p:nvSpPr>
          <p:cNvPr id="35" name="Text 32"/>
          <p:cNvSpPr/>
          <p:nvPr/>
        </p:nvSpPr>
        <p:spPr>
          <a:xfrm>
            <a:off x="7086600" y="2542032"/>
            <a:ext cx="4480560" cy="292608"/>
          </a:xfrm>
          <a:prstGeom prst="rect">
            <a:avLst/>
          </a:prstGeom>
          <a:noFill/>
          <a:ln/>
        </p:spPr>
        <p:txBody>
          <a:bodyPr wrap="square" lIns="0" tIns="0" rIns="0" bIns="0" rtlCol="0" anchor="t"/>
          <a:lstStyle/>
          <a:p>
            <a:pPr marL="0" indent="0">
              <a:buNone/>
            </a:pPr>
            <a:r>
              <a:rPr lang="en-US" sz="900" i="1" dirty="0">
                <a:solidFill>
                  <a:srgbClr val="16A34A"/>
                </a:solidFill>
                <a:latin typeface="Calibri" pitchFamily="34" charset="0"/>
                <a:ea typeface="Calibri" pitchFamily="34" charset="-122"/>
                <a:cs typeface="Calibri" pitchFamily="34" charset="-120"/>
              </a:rPr>
              <a:t>Mitigant: attach happens at the transaction layer in 2/5 channels; restructure VAS sales comp.</a:t>
            </a:r>
            <a:endParaRPr lang="en-US" sz="900" dirty="0"/>
          </a:p>
        </p:txBody>
      </p:sp>
      <p:sp>
        <p:nvSpPr>
          <p:cNvPr id="36" name="Shape 33"/>
          <p:cNvSpPr/>
          <p:nvPr/>
        </p:nvSpPr>
        <p:spPr>
          <a:xfrm>
            <a:off x="6903720" y="2907792"/>
            <a:ext cx="4846320" cy="1033272"/>
          </a:xfrm>
          <a:prstGeom prst="rect">
            <a:avLst/>
          </a:prstGeom>
          <a:solidFill>
            <a:srgbClr val="FFFFFF"/>
          </a:solidFill>
          <a:ln w="6350">
            <a:solidFill>
              <a:srgbClr val="E2E8F0"/>
            </a:solidFill>
            <a:prstDash val="solid"/>
          </a:ln>
        </p:spPr>
        <p:txBody>
          <a:bodyPr/>
          <a:lstStyle/>
          <a:p>
            <a:endParaRPr lang="en-US"/>
          </a:p>
        </p:txBody>
      </p:sp>
      <p:sp>
        <p:nvSpPr>
          <p:cNvPr id="37" name="Shape 34"/>
          <p:cNvSpPr/>
          <p:nvPr/>
        </p:nvSpPr>
        <p:spPr>
          <a:xfrm>
            <a:off x="6903720" y="2907792"/>
            <a:ext cx="73152" cy="1033272"/>
          </a:xfrm>
          <a:prstGeom prst="rect">
            <a:avLst/>
          </a:prstGeom>
          <a:solidFill>
            <a:srgbClr val="D97706"/>
          </a:solidFill>
          <a:ln/>
        </p:spPr>
        <p:txBody>
          <a:bodyPr/>
          <a:lstStyle/>
          <a:p>
            <a:endParaRPr lang="en-US"/>
          </a:p>
        </p:txBody>
      </p:sp>
      <p:sp>
        <p:nvSpPr>
          <p:cNvPr id="38" name="Shape 35"/>
          <p:cNvSpPr/>
          <p:nvPr/>
        </p:nvSpPr>
        <p:spPr>
          <a:xfrm>
            <a:off x="7086600" y="3026664"/>
            <a:ext cx="566928" cy="219456"/>
          </a:xfrm>
          <a:prstGeom prst="rect">
            <a:avLst/>
          </a:prstGeom>
          <a:solidFill>
            <a:srgbClr val="D97706"/>
          </a:solidFill>
          <a:ln/>
        </p:spPr>
        <p:txBody>
          <a:bodyPr/>
          <a:lstStyle/>
          <a:p>
            <a:endParaRPr lang="en-US"/>
          </a:p>
        </p:txBody>
      </p:sp>
      <p:sp>
        <p:nvSpPr>
          <p:cNvPr id="39" name="Text 36"/>
          <p:cNvSpPr/>
          <p:nvPr/>
        </p:nvSpPr>
        <p:spPr>
          <a:xfrm>
            <a:off x="7086600" y="3026664"/>
            <a:ext cx="566928" cy="219456"/>
          </a:xfrm>
          <a:prstGeom prst="rect">
            <a:avLst/>
          </a:prstGeom>
          <a:noFill/>
          <a:ln/>
        </p:spPr>
        <p:txBody>
          <a:bodyPr wrap="square" lIns="0" tIns="0" rIns="0" bIns="0" rtlCol="0" anchor="ctr"/>
          <a:lstStyle/>
          <a:p>
            <a:pPr marL="0" indent="0" algn="ctr">
              <a:buNone/>
            </a:pPr>
            <a:r>
              <a:rPr lang="en-US" sz="800" b="1" kern="0" spc="100" dirty="0">
                <a:solidFill>
                  <a:srgbClr val="FFFFFF"/>
                </a:solidFill>
                <a:latin typeface="Calibri" pitchFamily="34" charset="0"/>
                <a:ea typeface="Calibri" pitchFamily="34" charset="-122"/>
                <a:cs typeface="Calibri" pitchFamily="34" charset="-120"/>
              </a:rPr>
              <a:t>MEDIUM</a:t>
            </a:r>
            <a:endParaRPr lang="en-US" sz="800" spc="100" dirty="0"/>
          </a:p>
        </p:txBody>
      </p:sp>
      <p:sp>
        <p:nvSpPr>
          <p:cNvPr id="40" name="Text 37"/>
          <p:cNvSpPr/>
          <p:nvPr/>
        </p:nvSpPr>
        <p:spPr>
          <a:xfrm>
            <a:off x="7726680" y="2999232"/>
            <a:ext cx="3840480" cy="292608"/>
          </a:xfrm>
          <a:prstGeom prst="rect">
            <a:avLst/>
          </a:prstGeom>
          <a:noFill/>
          <a:ln/>
        </p:spPr>
        <p:txBody>
          <a:bodyPr wrap="square" lIns="0" tIns="0" rIns="0" bIns="0" rtlCol="0" anchor="ctr"/>
          <a:lstStyle/>
          <a:p>
            <a:pPr marL="0" indent="0">
              <a:buNone/>
            </a:pPr>
            <a:r>
              <a:rPr lang="en-US" sz="1050" b="1" dirty="0">
                <a:solidFill>
                  <a:srgbClr val="0F172A"/>
                </a:solidFill>
                <a:latin typeface="Calibri" pitchFamily="34" charset="0"/>
                <a:ea typeface="Calibri" pitchFamily="34" charset="-122"/>
                <a:cs typeface="Calibri" pitchFamily="34" charset="-120"/>
              </a:rPr>
              <a:t>IRDAI commission caps may tighten</a:t>
            </a:r>
            <a:endParaRPr lang="en-US" sz="1050" dirty="0"/>
          </a:p>
        </p:txBody>
      </p:sp>
      <p:sp>
        <p:nvSpPr>
          <p:cNvPr id="41" name="Text 38"/>
          <p:cNvSpPr/>
          <p:nvPr/>
        </p:nvSpPr>
        <p:spPr>
          <a:xfrm>
            <a:off x="7086600" y="3300984"/>
            <a:ext cx="4480560" cy="320040"/>
          </a:xfrm>
          <a:prstGeom prst="rect">
            <a:avLst/>
          </a:prstGeom>
          <a:noFill/>
          <a:ln/>
        </p:spPr>
        <p:txBody>
          <a:bodyPr wrap="square" lIns="0" tIns="0" rIns="0" bIns="0" rtlCol="0" anchor="t"/>
          <a:lstStyle/>
          <a:p>
            <a:pPr marL="0" indent="0">
              <a:buNone/>
            </a:pPr>
            <a:r>
              <a:rPr lang="en-US" sz="900" dirty="0">
                <a:solidFill>
                  <a:srgbClr val="334155"/>
                </a:solidFill>
                <a:latin typeface="Calibri" pitchFamily="34" charset="0"/>
                <a:ea typeface="Calibri" pitchFamily="34" charset="-122"/>
                <a:cs typeface="Calibri" pitchFamily="34" charset="-120"/>
              </a:rPr>
              <a:t>Regulator has progressively pulled distributor commissions down (esp. credit-linked insurance).</a:t>
            </a:r>
            <a:endParaRPr lang="en-US" sz="900" dirty="0"/>
          </a:p>
        </p:txBody>
      </p:sp>
      <p:sp>
        <p:nvSpPr>
          <p:cNvPr id="42" name="Text 39"/>
          <p:cNvSpPr/>
          <p:nvPr/>
        </p:nvSpPr>
        <p:spPr>
          <a:xfrm>
            <a:off x="7086600" y="3621024"/>
            <a:ext cx="4480560" cy="292608"/>
          </a:xfrm>
          <a:prstGeom prst="rect">
            <a:avLst/>
          </a:prstGeom>
          <a:noFill/>
          <a:ln/>
        </p:spPr>
        <p:txBody>
          <a:bodyPr wrap="square" lIns="0" tIns="0" rIns="0" bIns="0" rtlCol="0" anchor="t"/>
          <a:lstStyle/>
          <a:p>
            <a:pPr marL="0" indent="0">
              <a:buNone/>
            </a:pPr>
            <a:r>
              <a:rPr lang="en-US" sz="900" i="1" dirty="0">
                <a:solidFill>
                  <a:srgbClr val="16A34A"/>
                </a:solidFill>
                <a:latin typeface="Calibri" pitchFamily="34" charset="0"/>
                <a:ea typeface="Calibri" pitchFamily="34" charset="-122"/>
                <a:cs typeface="Calibri" pitchFamily="34" charset="-120"/>
              </a:rPr>
              <a:t>Mitigant: diversify across general / health / life; bundle credit-shield into RBI-compliant opt-out flow.</a:t>
            </a:r>
            <a:endParaRPr lang="en-US" sz="900" dirty="0"/>
          </a:p>
        </p:txBody>
      </p:sp>
      <p:sp>
        <p:nvSpPr>
          <p:cNvPr id="43" name="Shape 40"/>
          <p:cNvSpPr/>
          <p:nvPr/>
        </p:nvSpPr>
        <p:spPr>
          <a:xfrm>
            <a:off x="6903720" y="3986784"/>
            <a:ext cx="4846320" cy="1033272"/>
          </a:xfrm>
          <a:prstGeom prst="rect">
            <a:avLst/>
          </a:prstGeom>
          <a:solidFill>
            <a:srgbClr val="FFFFFF"/>
          </a:solidFill>
          <a:ln w="6350">
            <a:solidFill>
              <a:srgbClr val="E2E8F0"/>
            </a:solidFill>
            <a:prstDash val="solid"/>
          </a:ln>
        </p:spPr>
        <p:txBody>
          <a:bodyPr/>
          <a:lstStyle/>
          <a:p>
            <a:endParaRPr lang="en-US"/>
          </a:p>
        </p:txBody>
      </p:sp>
      <p:sp>
        <p:nvSpPr>
          <p:cNvPr id="44" name="Shape 41"/>
          <p:cNvSpPr/>
          <p:nvPr/>
        </p:nvSpPr>
        <p:spPr>
          <a:xfrm>
            <a:off x="6903720" y="3986784"/>
            <a:ext cx="73152" cy="1033272"/>
          </a:xfrm>
          <a:prstGeom prst="rect">
            <a:avLst/>
          </a:prstGeom>
          <a:solidFill>
            <a:srgbClr val="D97706"/>
          </a:solidFill>
          <a:ln/>
        </p:spPr>
        <p:txBody>
          <a:bodyPr/>
          <a:lstStyle/>
          <a:p>
            <a:endParaRPr lang="en-US"/>
          </a:p>
        </p:txBody>
      </p:sp>
      <p:sp>
        <p:nvSpPr>
          <p:cNvPr id="45" name="Shape 42"/>
          <p:cNvSpPr/>
          <p:nvPr/>
        </p:nvSpPr>
        <p:spPr>
          <a:xfrm>
            <a:off x="7086600" y="4105656"/>
            <a:ext cx="566928" cy="219456"/>
          </a:xfrm>
          <a:prstGeom prst="rect">
            <a:avLst/>
          </a:prstGeom>
          <a:solidFill>
            <a:srgbClr val="D97706"/>
          </a:solidFill>
          <a:ln/>
        </p:spPr>
        <p:txBody>
          <a:bodyPr/>
          <a:lstStyle/>
          <a:p>
            <a:endParaRPr lang="en-US"/>
          </a:p>
        </p:txBody>
      </p:sp>
      <p:sp>
        <p:nvSpPr>
          <p:cNvPr id="46" name="Text 43"/>
          <p:cNvSpPr/>
          <p:nvPr/>
        </p:nvSpPr>
        <p:spPr>
          <a:xfrm>
            <a:off x="7086600" y="4105656"/>
            <a:ext cx="566928" cy="219456"/>
          </a:xfrm>
          <a:prstGeom prst="rect">
            <a:avLst/>
          </a:prstGeom>
          <a:noFill/>
          <a:ln/>
        </p:spPr>
        <p:txBody>
          <a:bodyPr wrap="square" lIns="0" tIns="0" rIns="0" bIns="0" rtlCol="0" anchor="ctr"/>
          <a:lstStyle/>
          <a:p>
            <a:pPr marL="0" indent="0" algn="ctr">
              <a:buNone/>
            </a:pPr>
            <a:r>
              <a:rPr lang="en-US" sz="800" b="1" kern="0" spc="100" dirty="0">
                <a:solidFill>
                  <a:srgbClr val="FFFFFF"/>
                </a:solidFill>
                <a:latin typeface="Calibri" pitchFamily="34" charset="0"/>
                <a:ea typeface="Calibri" pitchFamily="34" charset="-122"/>
                <a:cs typeface="Calibri" pitchFamily="34" charset="-120"/>
              </a:rPr>
              <a:t>MEDIUM</a:t>
            </a:r>
            <a:endParaRPr lang="en-US" sz="800" spc="100" dirty="0"/>
          </a:p>
        </p:txBody>
      </p:sp>
      <p:sp>
        <p:nvSpPr>
          <p:cNvPr id="47" name="Text 44"/>
          <p:cNvSpPr/>
          <p:nvPr/>
        </p:nvSpPr>
        <p:spPr>
          <a:xfrm>
            <a:off x="7726680" y="4078224"/>
            <a:ext cx="3840480" cy="292608"/>
          </a:xfrm>
          <a:prstGeom prst="rect">
            <a:avLst/>
          </a:prstGeom>
          <a:noFill/>
          <a:ln/>
        </p:spPr>
        <p:txBody>
          <a:bodyPr wrap="square" lIns="0" tIns="0" rIns="0" bIns="0" rtlCol="0" anchor="ctr"/>
          <a:lstStyle/>
          <a:p>
            <a:pPr marL="0" indent="0">
              <a:buNone/>
            </a:pPr>
            <a:r>
              <a:rPr lang="en-US" sz="1050" b="1" dirty="0">
                <a:solidFill>
                  <a:srgbClr val="0F172A"/>
                </a:solidFill>
                <a:latin typeface="Calibri" pitchFamily="34" charset="0"/>
                <a:ea typeface="Calibri" pitchFamily="34" charset="-122"/>
                <a:cs typeface="Calibri" pitchFamily="34" charset="-120"/>
              </a:rPr>
              <a:t>Could be built organically in 18-24 months</a:t>
            </a:r>
            <a:endParaRPr lang="en-US" sz="1050" dirty="0"/>
          </a:p>
        </p:txBody>
      </p:sp>
      <p:sp>
        <p:nvSpPr>
          <p:cNvPr id="48" name="Text 45"/>
          <p:cNvSpPr/>
          <p:nvPr/>
        </p:nvSpPr>
        <p:spPr>
          <a:xfrm>
            <a:off x="7086600" y="4379976"/>
            <a:ext cx="4480560" cy="320040"/>
          </a:xfrm>
          <a:prstGeom prst="rect">
            <a:avLst/>
          </a:prstGeom>
          <a:noFill/>
          <a:ln/>
        </p:spPr>
        <p:txBody>
          <a:bodyPr wrap="square" lIns="0" tIns="0" rIns="0" bIns="0" rtlCol="0" anchor="t"/>
          <a:lstStyle/>
          <a:p>
            <a:pPr marL="0" indent="0">
              <a:buNone/>
            </a:pPr>
            <a:r>
              <a:rPr lang="en-US" sz="900" dirty="0">
                <a:solidFill>
                  <a:srgbClr val="334155"/>
                </a:solidFill>
                <a:latin typeface="Calibri" pitchFamily="34" charset="0"/>
                <a:ea typeface="Calibri" pitchFamily="34" charset="-122"/>
                <a:cs typeface="Calibri" pitchFamily="34" charset="-120"/>
              </a:rPr>
              <a:t>Tech isn't novel; Corporate-Agent licence is 3-6 months. Premium is for speed + pre-built integrations.</a:t>
            </a:r>
            <a:endParaRPr lang="en-US" sz="900" dirty="0"/>
          </a:p>
        </p:txBody>
      </p:sp>
      <p:sp>
        <p:nvSpPr>
          <p:cNvPr id="49" name="Text 46"/>
          <p:cNvSpPr/>
          <p:nvPr/>
        </p:nvSpPr>
        <p:spPr>
          <a:xfrm>
            <a:off x="7086600" y="4700016"/>
            <a:ext cx="4480560" cy="292608"/>
          </a:xfrm>
          <a:prstGeom prst="rect">
            <a:avLst/>
          </a:prstGeom>
          <a:noFill/>
          <a:ln/>
        </p:spPr>
        <p:txBody>
          <a:bodyPr wrap="square" lIns="0" tIns="0" rIns="0" bIns="0" rtlCol="0" anchor="t"/>
          <a:lstStyle/>
          <a:p>
            <a:pPr marL="0" indent="0">
              <a:buNone/>
            </a:pPr>
            <a:r>
              <a:rPr lang="en-US" sz="900" i="1" dirty="0">
                <a:solidFill>
                  <a:srgbClr val="16A34A"/>
                </a:solidFill>
                <a:latin typeface="Calibri" pitchFamily="34" charset="0"/>
                <a:ea typeface="Calibri" pitchFamily="34" charset="-122"/>
                <a:cs typeface="Calibri" pitchFamily="34" charset="-120"/>
              </a:rPr>
              <a:t>Mitigant: price discipline — walk if ask exceeds 5x forward revenue (~$80M).</a:t>
            </a:r>
            <a:endParaRPr lang="en-US" sz="900" dirty="0"/>
          </a:p>
        </p:txBody>
      </p:sp>
      <p:sp>
        <p:nvSpPr>
          <p:cNvPr id="50" name="Shape 47"/>
          <p:cNvSpPr/>
          <p:nvPr/>
        </p:nvSpPr>
        <p:spPr>
          <a:xfrm>
            <a:off x="6903720" y="5065776"/>
            <a:ext cx="4846320" cy="1033272"/>
          </a:xfrm>
          <a:prstGeom prst="rect">
            <a:avLst/>
          </a:prstGeom>
          <a:solidFill>
            <a:srgbClr val="FFFFFF"/>
          </a:solidFill>
          <a:ln w="6350">
            <a:solidFill>
              <a:srgbClr val="E2E8F0"/>
            </a:solidFill>
            <a:prstDash val="solid"/>
          </a:ln>
        </p:spPr>
        <p:txBody>
          <a:bodyPr/>
          <a:lstStyle/>
          <a:p>
            <a:endParaRPr lang="en-US"/>
          </a:p>
        </p:txBody>
      </p:sp>
      <p:sp>
        <p:nvSpPr>
          <p:cNvPr id="51" name="Shape 48"/>
          <p:cNvSpPr/>
          <p:nvPr/>
        </p:nvSpPr>
        <p:spPr>
          <a:xfrm>
            <a:off x="6903720" y="5065776"/>
            <a:ext cx="73152" cy="1033272"/>
          </a:xfrm>
          <a:prstGeom prst="rect">
            <a:avLst/>
          </a:prstGeom>
          <a:solidFill>
            <a:srgbClr val="1D4ED8"/>
          </a:solidFill>
          <a:ln/>
        </p:spPr>
        <p:txBody>
          <a:bodyPr/>
          <a:lstStyle/>
          <a:p>
            <a:endParaRPr lang="en-US"/>
          </a:p>
        </p:txBody>
      </p:sp>
      <p:sp>
        <p:nvSpPr>
          <p:cNvPr id="52" name="Shape 49"/>
          <p:cNvSpPr/>
          <p:nvPr/>
        </p:nvSpPr>
        <p:spPr>
          <a:xfrm>
            <a:off x="7086600" y="5184648"/>
            <a:ext cx="566928" cy="219456"/>
          </a:xfrm>
          <a:prstGeom prst="rect">
            <a:avLst/>
          </a:prstGeom>
          <a:solidFill>
            <a:srgbClr val="1D4ED8"/>
          </a:solidFill>
          <a:ln/>
        </p:spPr>
        <p:txBody>
          <a:bodyPr/>
          <a:lstStyle/>
          <a:p>
            <a:endParaRPr lang="en-US"/>
          </a:p>
        </p:txBody>
      </p:sp>
      <p:sp>
        <p:nvSpPr>
          <p:cNvPr id="53" name="Text 50"/>
          <p:cNvSpPr/>
          <p:nvPr/>
        </p:nvSpPr>
        <p:spPr>
          <a:xfrm>
            <a:off x="7086600" y="5184648"/>
            <a:ext cx="566928" cy="219456"/>
          </a:xfrm>
          <a:prstGeom prst="rect">
            <a:avLst/>
          </a:prstGeom>
          <a:noFill/>
          <a:ln/>
        </p:spPr>
        <p:txBody>
          <a:bodyPr wrap="square" lIns="0" tIns="0" rIns="0" bIns="0" rtlCol="0" anchor="ctr"/>
          <a:lstStyle/>
          <a:p>
            <a:pPr marL="0" indent="0" algn="ctr">
              <a:buNone/>
            </a:pPr>
            <a:r>
              <a:rPr lang="en-US" sz="800" b="1" kern="0" spc="100" dirty="0">
                <a:solidFill>
                  <a:srgbClr val="FFFFFF"/>
                </a:solidFill>
                <a:latin typeface="Calibri" pitchFamily="34" charset="0"/>
                <a:ea typeface="Calibri" pitchFamily="34" charset="-122"/>
                <a:cs typeface="Calibri" pitchFamily="34" charset="-120"/>
              </a:rPr>
              <a:t>LOW</a:t>
            </a:r>
            <a:endParaRPr lang="en-US" sz="800" spc="100" dirty="0"/>
          </a:p>
        </p:txBody>
      </p:sp>
      <p:sp>
        <p:nvSpPr>
          <p:cNvPr id="54" name="Text 51"/>
          <p:cNvSpPr/>
          <p:nvPr/>
        </p:nvSpPr>
        <p:spPr>
          <a:xfrm>
            <a:off x="7726680" y="5157216"/>
            <a:ext cx="3840480" cy="292608"/>
          </a:xfrm>
          <a:prstGeom prst="rect">
            <a:avLst/>
          </a:prstGeom>
          <a:noFill/>
          <a:ln/>
        </p:spPr>
        <p:txBody>
          <a:bodyPr wrap="square" lIns="0" tIns="0" rIns="0" bIns="0" rtlCol="0" anchor="ctr"/>
          <a:lstStyle/>
          <a:p>
            <a:pPr marL="0" indent="0">
              <a:buNone/>
            </a:pPr>
            <a:r>
              <a:rPr lang="en-US" sz="1050" b="1" dirty="0">
                <a:solidFill>
                  <a:srgbClr val="0F172A"/>
                </a:solidFill>
                <a:latin typeface="Calibri" pitchFamily="34" charset="0"/>
                <a:ea typeface="Calibri" pitchFamily="34" charset="-122"/>
                <a:cs typeface="Calibri" pitchFamily="34" charset="-120"/>
              </a:rPr>
              <a:t>Recent bridge round signals capital constraint</a:t>
            </a:r>
            <a:endParaRPr lang="en-US" sz="1050" dirty="0"/>
          </a:p>
        </p:txBody>
      </p:sp>
      <p:sp>
        <p:nvSpPr>
          <p:cNvPr id="55" name="Text 52"/>
          <p:cNvSpPr/>
          <p:nvPr/>
        </p:nvSpPr>
        <p:spPr>
          <a:xfrm>
            <a:off x="7086600" y="5458968"/>
            <a:ext cx="4480560" cy="320040"/>
          </a:xfrm>
          <a:prstGeom prst="rect">
            <a:avLst/>
          </a:prstGeom>
          <a:noFill/>
          <a:ln/>
        </p:spPr>
        <p:txBody>
          <a:bodyPr wrap="square" lIns="0" tIns="0" rIns="0" bIns="0" rtlCol="0" anchor="t"/>
          <a:lstStyle/>
          <a:p>
            <a:pPr marL="0" indent="0">
              <a:buNone/>
            </a:pPr>
            <a:r>
              <a:rPr lang="en-US" sz="900" dirty="0">
                <a:solidFill>
                  <a:srgbClr val="334155"/>
                </a:solidFill>
                <a:latin typeface="Calibri" pitchFamily="34" charset="0"/>
                <a:ea typeface="Calibri" pitchFamily="34" charset="-122"/>
                <a:cs typeface="Calibri" pitchFamily="34" charset="-120"/>
              </a:rPr>
              <a:t>Last raise was a $4.5M bridge (Jan-24), not a Series B — possible up-round friction.</a:t>
            </a:r>
            <a:endParaRPr lang="en-US" sz="900" dirty="0"/>
          </a:p>
        </p:txBody>
      </p:sp>
      <p:sp>
        <p:nvSpPr>
          <p:cNvPr id="56" name="Text 53"/>
          <p:cNvSpPr/>
          <p:nvPr/>
        </p:nvSpPr>
        <p:spPr>
          <a:xfrm>
            <a:off x="7086600" y="5779008"/>
            <a:ext cx="4480560" cy="292608"/>
          </a:xfrm>
          <a:prstGeom prst="rect">
            <a:avLst/>
          </a:prstGeom>
          <a:noFill/>
          <a:ln/>
        </p:spPr>
        <p:txBody>
          <a:bodyPr wrap="square" lIns="0" tIns="0" rIns="0" bIns="0" rtlCol="0" anchor="t"/>
          <a:lstStyle/>
          <a:p>
            <a:pPr marL="0" indent="0">
              <a:buNone/>
            </a:pPr>
            <a:r>
              <a:rPr lang="en-US" sz="900" i="1" dirty="0">
                <a:solidFill>
                  <a:srgbClr val="16A34A"/>
                </a:solidFill>
                <a:latin typeface="Calibri" pitchFamily="34" charset="0"/>
                <a:ea typeface="Calibri" pitchFamily="34" charset="-122"/>
                <a:cs typeface="Calibri" pitchFamily="34" charset="-120"/>
              </a:rPr>
              <a:t>Mitigant: leverage situation in valuation negotiation; structure cash-heavy + earn-out.</a:t>
            </a:r>
            <a:endParaRPr lang="en-US" sz="900" dirty="0"/>
          </a:p>
        </p:txBody>
      </p:sp>
      <p:pic>
        <p:nvPicPr>
          <p:cNvPr id="57" name="Picture 2" descr="Pine Labs Launches Paper POS, a Merged QR Product to Accept Payments via  UPI and Bharat QR Apps">
            <a:extLst>
              <a:ext uri="{FF2B5EF4-FFF2-40B4-BE49-F238E27FC236}">
                <a16:creationId xmlns:a16="http://schemas.microsoft.com/office/drawing/2014/main" id="{B5FA0FD1-BE17-8EDB-06BE-BF79B802F7BF}"/>
              </a:ext>
            </a:extLst>
          </p:cNvPr>
          <p:cNvPicPr>
            <a:picLocks noChangeAspect="1" noChangeArrowheads="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1177016" y="-102584"/>
            <a:ext cx="1115568" cy="58451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16A34A"/>
          </a:solidFill>
          <a:ln/>
        </p:spPr>
        <p:txBody>
          <a:bodyPr/>
          <a:lstStyle/>
          <a:p>
            <a:endParaRPr lang="en-US"/>
          </a:p>
        </p:txBody>
      </p:sp>
      <p:sp>
        <p:nvSpPr>
          <p:cNvPr id="3" name="Text 1"/>
          <p:cNvSpPr/>
          <p:nvPr/>
        </p:nvSpPr>
        <p:spPr>
          <a:xfrm>
            <a:off x="457200" y="201168"/>
            <a:ext cx="10058400" cy="256032"/>
          </a:xfrm>
          <a:prstGeom prst="rect">
            <a:avLst/>
          </a:prstGeom>
          <a:noFill/>
          <a:ln/>
        </p:spPr>
        <p:txBody>
          <a:bodyPr wrap="square" lIns="0" tIns="0" rIns="0" bIns="0" rtlCol="0" anchor="ctr"/>
          <a:lstStyle/>
          <a:p>
            <a:pPr marL="0" indent="0">
              <a:buNone/>
            </a:pPr>
            <a:r>
              <a:rPr lang="en-US" sz="900" b="1" kern="0" spc="100" dirty="0">
                <a:solidFill>
                  <a:srgbClr val="16A34A"/>
                </a:solidFill>
                <a:latin typeface="Calibri" pitchFamily="34" charset="0"/>
                <a:ea typeface="Calibri" pitchFamily="34" charset="-122"/>
                <a:cs typeface="Calibri" pitchFamily="34" charset="-120"/>
              </a:rPr>
              <a:t>TARGET #2 — WEBENGAGE</a:t>
            </a:r>
            <a:endParaRPr lang="en-US" sz="900" spc="100" dirty="0"/>
          </a:p>
        </p:txBody>
      </p:sp>
      <p:sp>
        <p:nvSpPr>
          <p:cNvPr id="4" name="Text 2"/>
          <p:cNvSpPr/>
          <p:nvPr/>
        </p:nvSpPr>
        <p:spPr>
          <a:xfrm>
            <a:off x="457200" y="457200"/>
            <a:ext cx="11247120" cy="731520"/>
          </a:xfrm>
          <a:prstGeom prst="rect">
            <a:avLst/>
          </a:prstGeom>
          <a:noFill/>
          <a:ln/>
        </p:spPr>
        <p:txBody>
          <a:bodyPr wrap="square" lIns="0" tIns="0" rIns="0" bIns="0" rtlCol="0" anchor="ctr"/>
          <a:lstStyle/>
          <a:p>
            <a:pPr marL="0" indent="0">
              <a:buNone/>
            </a:pPr>
            <a:r>
              <a:rPr lang="en-US" sz="2200" b="1" dirty="0">
                <a:solidFill>
                  <a:srgbClr val="0F172A"/>
                </a:solidFill>
                <a:latin typeface="Calibri" pitchFamily="34" charset="0"/>
                <a:ea typeface="Calibri" pitchFamily="34" charset="-122"/>
                <a:cs typeface="Calibri" pitchFamily="34" charset="-120"/>
              </a:rPr>
              <a:t>Marketing-automation layer that overlaps 6 of Pine Labs' likely top-10 customers</a:t>
            </a:r>
            <a:endParaRPr lang="en-US" sz="2200" dirty="0"/>
          </a:p>
        </p:txBody>
      </p:sp>
      <p:sp>
        <p:nvSpPr>
          <p:cNvPr id="5" name="Shape 3"/>
          <p:cNvSpPr/>
          <p:nvPr/>
        </p:nvSpPr>
        <p:spPr>
          <a:xfrm>
            <a:off x="457200" y="1188720"/>
            <a:ext cx="11247120" cy="13716"/>
          </a:xfrm>
          <a:prstGeom prst="rect">
            <a:avLst/>
          </a:prstGeom>
          <a:solidFill>
            <a:srgbClr val="E2E8F0"/>
          </a:solidFill>
          <a:ln/>
        </p:spPr>
        <p:txBody>
          <a:bodyPr/>
          <a:lstStyle/>
          <a:p>
            <a:endParaRPr lang="en-US"/>
          </a:p>
        </p:txBody>
      </p:sp>
      <p:sp>
        <p:nvSpPr>
          <p:cNvPr id="6" name="Text 4"/>
          <p:cNvSpPr/>
          <p:nvPr/>
        </p:nvSpPr>
        <p:spPr>
          <a:xfrm>
            <a:off x="457200" y="6492240"/>
            <a:ext cx="6400800" cy="256032"/>
          </a:xfrm>
          <a:prstGeom prst="rect">
            <a:avLst/>
          </a:prstGeom>
          <a:noFill/>
          <a:ln/>
        </p:spPr>
        <p:txBody>
          <a:bodyPr wrap="square" lIns="0" tIns="0" rIns="0" bIns="0" rtlCol="0" anchor="ctr"/>
          <a:lstStyle/>
          <a:p>
            <a:pPr marL="0" indent="0">
              <a:buNone/>
            </a:pPr>
            <a:r>
              <a:rPr lang="en-US" sz="900" i="1" dirty="0">
                <a:solidFill>
                  <a:srgbClr val="64748B"/>
                </a:solidFill>
                <a:latin typeface="Calibri" pitchFamily="34" charset="0"/>
                <a:ea typeface="Calibri" pitchFamily="34" charset="-122"/>
                <a:cs typeface="Calibri" pitchFamily="34" charset="-120"/>
              </a:rPr>
              <a:t>Pine Labs — Corporate Development</a:t>
            </a:r>
            <a:endParaRPr lang="en-US" sz="900" dirty="0"/>
          </a:p>
        </p:txBody>
      </p:sp>
      <p:sp>
        <p:nvSpPr>
          <p:cNvPr id="7" name="Text 5"/>
          <p:cNvSpPr/>
          <p:nvPr/>
        </p:nvSpPr>
        <p:spPr>
          <a:xfrm>
            <a:off x="6858000" y="6492240"/>
            <a:ext cx="2743200" cy="256032"/>
          </a:xfrm>
          <a:prstGeom prst="rect">
            <a:avLst/>
          </a:prstGeom>
          <a:noFill/>
          <a:ln/>
        </p:spPr>
        <p:txBody>
          <a:bodyPr wrap="square" lIns="0" tIns="0" rIns="0" bIns="0" rtlCol="0" anchor="ctr"/>
          <a:lstStyle/>
          <a:p>
            <a:pPr marL="0" indent="0" algn="ctr">
              <a:buNone/>
            </a:pPr>
            <a:r>
              <a:rPr lang="en-US" sz="900" i="1" dirty="0">
                <a:solidFill>
                  <a:srgbClr val="64748B"/>
                </a:solidFill>
                <a:latin typeface="Calibri" pitchFamily="34" charset="0"/>
                <a:ea typeface="Calibri" pitchFamily="34" charset="-122"/>
                <a:cs typeface="Calibri" pitchFamily="34" charset="-120"/>
              </a:rPr>
              <a:t>Strictly Confidential</a:t>
            </a:r>
            <a:endParaRPr lang="en-US" sz="900" dirty="0"/>
          </a:p>
        </p:txBody>
      </p:sp>
      <p:sp>
        <p:nvSpPr>
          <p:cNvPr id="8" name="Text 6"/>
          <p:cNvSpPr/>
          <p:nvPr/>
        </p:nvSpPr>
        <p:spPr>
          <a:xfrm>
            <a:off x="10515600" y="6492240"/>
            <a:ext cx="1188720" cy="256032"/>
          </a:xfrm>
          <a:prstGeom prst="rect">
            <a:avLst/>
          </a:prstGeom>
          <a:noFill/>
          <a:ln/>
        </p:spPr>
        <p:txBody>
          <a:bodyPr wrap="square" lIns="0" tIns="0" rIns="0" bIns="0" rtlCol="0" anchor="ctr"/>
          <a:lstStyle/>
          <a:p>
            <a:pPr marL="0" indent="0" algn="r">
              <a:buNone/>
            </a:pPr>
            <a:r>
              <a:rPr lang="en-US" sz="900" b="1" dirty="0">
                <a:solidFill>
                  <a:srgbClr val="64748B"/>
                </a:solidFill>
                <a:latin typeface="Calibri" pitchFamily="34" charset="0"/>
                <a:ea typeface="Calibri" pitchFamily="34" charset="-122"/>
                <a:cs typeface="Calibri" pitchFamily="34" charset="-120"/>
              </a:rPr>
              <a:t>12</a:t>
            </a:r>
            <a:endParaRPr lang="en-US" sz="900" dirty="0"/>
          </a:p>
        </p:txBody>
      </p:sp>
      <p:sp>
        <p:nvSpPr>
          <p:cNvPr id="9" name="Shape 7"/>
          <p:cNvSpPr/>
          <p:nvPr/>
        </p:nvSpPr>
        <p:spPr>
          <a:xfrm>
            <a:off x="502920" y="1417320"/>
            <a:ext cx="4846320" cy="4754880"/>
          </a:xfrm>
          <a:prstGeom prst="rect">
            <a:avLst/>
          </a:prstGeom>
          <a:solidFill>
            <a:srgbClr val="F8FAFC"/>
          </a:solidFill>
          <a:ln w="6350">
            <a:solidFill>
              <a:srgbClr val="E2E8F0"/>
            </a:solidFill>
            <a:prstDash val="solid"/>
          </a:ln>
        </p:spPr>
        <p:txBody>
          <a:bodyPr/>
          <a:lstStyle/>
          <a:p>
            <a:endParaRPr lang="en-US"/>
          </a:p>
        </p:txBody>
      </p:sp>
      <p:sp>
        <p:nvSpPr>
          <p:cNvPr id="10" name="Shape 8"/>
          <p:cNvSpPr/>
          <p:nvPr/>
        </p:nvSpPr>
        <p:spPr>
          <a:xfrm>
            <a:off x="502920" y="1417320"/>
            <a:ext cx="4846320" cy="457200"/>
          </a:xfrm>
          <a:prstGeom prst="rect">
            <a:avLst/>
          </a:prstGeom>
          <a:solidFill>
            <a:srgbClr val="0B1A14"/>
          </a:solidFill>
          <a:ln/>
        </p:spPr>
        <p:txBody>
          <a:bodyPr/>
          <a:lstStyle/>
          <a:p>
            <a:endParaRPr lang="en-US"/>
          </a:p>
        </p:txBody>
      </p:sp>
      <p:sp>
        <p:nvSpPr>
          <p:cNvPr id="11" name="Text 9"/>
          <p:cNvSpPr/>
          <p:nvPr/>
        </p:nvSpPr>
        <p:spPr>
          <a:xfrm>
            <a:off x="685800" y="1417320"/>
            <a:ext cx="4480560" cy="457200"/>
          </a:xfrm>
          <a:prstGeom prst="rect">
            <a:avLst/>
          </a:prstGeom>
          <a:noFill/>
          <a:ln/>
        </p:spPr>
        <p:txBody>
          <a:bodyPr wrap="square" lIns="0" tIns="0" rIns="0" bIns="0" rtlCol="0" anchor="ctr"/>
          <a:lstStyle/>
          <a:p>
            <a:pPr marL="0" indent="0">
              <a:buNone/>
            </a:pPr>
            <a:r>
              <a:rPr lang="en-US" sz="1100" b="1" kern="0" spc="100" dirty="0">
                <a:solidFill>
                  <a:srgbClr val="86EFAC"/>
                </a:solidFill>
                <a:latin typeface="Calibri" pitchFamily="34" charset="0"/>
                <a:ea typeface="Calibri" pitchFamily="34" charset="-122"/>
                <a:cs typeface="Calibri" pitchFamily="34" charset="-120"/>
              </a:rPr>
              <a:t>COMPANY PROFILE</a:t>
            </a:r>
            <a:endParaRPr lang="en-US" sz="1100" spc="100" dirty="0"/>
          </a:p>
        </p:txBody>
      </p:sp>
      <p:sp>
        <p:nvSpPr>
          <p:cNvPr id="14" name="Text 12"/>
          <p:cNvSpPr/>
          <p:nvPr/>
        </p:nvSpPr>
        <p:spPr>
          <a:xfrm>
            <a:off x="731520" y="2788920"/>
            <a:ext cx="1645920" cy="384048"/>
          </a:xfrm>
          <a:prstGeom prst="rect">
            <a:avLst/>
          </a:prstGeom>
          <a:noFill/>
          <a:ln/>
        </p:spPr>
        <p:txBody>
          <a:bodyPr wrap="square" lIns="0" tIns="0" rIns="0" bIns="0" rtlCol="0" anchor="t"/>
          <a:lstStyle/>
          <a:p>
            <a:pPr marL="0" indent="0">
              <a:buNone/>
            </a:pPr>
            <a:r>
              <a:rPr lang="en-US" sz="950" b="1" kern="0" spc="100" dirty="0">
                <a:solidFill>
                  <a:srgbClr val="64748B"/>
                </a:solidFill>
                <a:latin typeface="Calibri" pitchFamily="34" charset="0"/>
                <a:ea typeface="Calibri" pitchFamily="34" charset="-122"/>
                <a:cs typeface="Calibri" pitchFamily="34" charset="-120"/>
              </a:rPr>
              <a:t>Founded</a:t>
            </a:r>
            <a:endParaRPr lang="en-US" sz="950" spc="100" dirty="0"/>
          </a:p>
        </p:txBody>
      </p:sp>
      <p:sp>
        <p:nvSpPr>
          <p:cNvPr id="15" name="Text 13"/>
          <p:cNvSpPr/>
          <p:nvPr/>
        </p:nvSpPr>
        <p:spPr>
          <a:xfrm>
            <a:off x="2423160" y="2788920"/>
            <a:ext cx="2697480" cy="384048"/>
          </a:xfrm>
          <a:prstGeom prst="rect">
            <a:avLst/>
          </a:prstGeom>
          <a:noFill/>
          <a:ln/>
        </p:spPr>
        <p:txBody>
          <a:bodyPr wrap="square" lIns="0" tIns="0" rIns="0" bIns="0" rtlCol="0" anchor="t"/>
          <a:lstStyle/>
          <a:p>
            <a:pPr marL="0" indent="0">
              <a:buNone/>
            </a:pPr>
            <a:r>
              <a:rPr lang="en-US" sz="1050" dirty="0">
                <a:solidFill>
                  <a:srgbClr val="0F172A"/>
                </a:solidFill>
                <a:latin typeface="Calibri" pitchFamily="34" charset="0"/>
                <a:ea typeface="Calibri" pitchFamily="34" charset="-122"/>
                <a:cs typeface="Calibri" pitchFamily="34" charset="-120"/>
              </a:rPr>
              <a:t>2011, Mumbai (Webklipper Technologies)</a:t>
            </a:r>
            <a:endParaRPr lang="en-US" sz="1050" dirty="0"/>
          </a:p>
        </p:txBody>
      </p:sp>
      <p:sp>
        <p:nvSpPr>
          <p:cNvPr id="16" name="Text 14"/>
          <p:cNvSpPr/>
          <p:nvPr/>
        </p:nvSpPr>
        <p:spPr>
          <a:xfrm>
            <a:off x="731520" y="3200400"/>
            <a:ext cx="1645920" cy="384048"/>
          </a:xfrm>
          <a:prstGeom prst="rect">
            <a:avLst/>
          </a:prstGeom>
          <a:noFill/>
          <a:ln/>
        </p:spPr>
        <p:txBody>
          <a:bodyPr wrap="square" lIns="0" tIns="0" rIns="0" bIns="0" rtlCol="0" anchor="t"/>
          <a:lstStyle/>
          <a:p>
            <a:pPr marL="0" indent="0">
              <a:buNone/>
            </a:pPr>
            <a:r>
              <a:rPr lang="en-US" sz="950" b="1" kern="0" spc="100" dirty="0">
                <a:solidFill>
                  <a:srgbClr val="64748B"/>
                </a:solidFill>
                <a:latin typeface="Calibri" pitchFamily="34" charset="0"/>
                <a:ea typeface="Calibri" pitchFamily="34" charset="-122"/>
                <a:cs typeface="Calibri" pitchFamily="34" charset="-120"/>
              </a:rPr>
              <a:t>Funding raised</a:t>
            </a:r>
            <a:endParaRPr lang="en-US" sz="950" spc="100" dirty="0"/>
          </a:p>
        </p:txBody>
      </p:sp>
      <p:sp>
        <p:nvSpPr>
          <p:cNvPr id="17" name="Text 15"/>
          <p:cNvSpPr/>
          <p:nvPr/>
        </p:nvSpPr>
        <p:spPr>
          <a:xfrm>
            <a:off x="2423160" y="3200400"/>
            <a:ext cx="2697480" cy="384048"/>
          </a:xfrm>
          <a:prstGeom prst="rect">
            <a:avLst/>
          </a:prstGeom>
          <a:noFill/>
          <a:ln/>
        </p:spPr>
        <p:txBody>
          <a:bodyPr wrap="square" lIns="0" tIns="0" rIns="0" bIns="0" rtlCol="0" anchor="t"/>
          <a:lstStyle/>
          <a:p>
            <a:pPr marL="0" indent="0">
              <a:buNone/>
            </a:pPr>
            <a:r>
              <a:rPr lang="en-US" sz="1050" dirty="0">
                <a:solidFill>
                  <a:srgbClr val="0F172A"/>
                </a:solidFill>
                <a:latin typeface="Calibri" pitchFamily="34" charset="0"/>
                <a:ea typeface="Calibri" pitchFamily="34" charset="-122"/>
                <a:cs typeface="Calibri" pitchFamily="34" charset="-120"/>
              </a:rPr>
              <a:t>~$35M across multiple rounds; investors incl. Capital18, Blume</a:t>
            </a:r>
            <a:endParaRPr lang="en-US" sz="1050" dirty="0"/>
          </a:p>
        </p:txBody>
      </p:sp>
      <p:sp>
        <p:nvSpPr>
          <p:cNvPr id="18" name="Text 16"/>
          <p:cNvSpPr/>
          <p:nvPr/>
        </p:nvSpPr>
        <p:spPr>
          <a:xfrm>
            <a:off x="731520" y="3611880"/>
            <a:ext cx="1645920" cy="384048"/>
          </a:xfrm>
          <a:prstGeom prst="rect">
            <a:avLst/>
          </a:prstGeom>
          <a:noFill/>
          <a:ln/>
        </p:spPr>
        <p:txBody>
          <a:bodyPr wrap="square" lIns="0" tIns="0" rIns="0" bIns="0" rtlCol="0" anchor="t"/>
          <a:lstStyle/>
          <a:p>
            <a:pPr marL="0" indent="0">
              <a:buNone/>
            </a:pPr>
            <a:r>
              <a:rPr lang="en-US" sz="950" b="1" kern="0" spc="100" dirty="0">
                <a:solidFill>
                  <a:srgbClr val="64748B"/>
                </a:solidFill>
                <a:latin typeface="Calibri" pitchFamily="34" charset="0"/>
                <a:ea typeface="Calibri" pitchFamily="34" charset="-122"/>
                <a:cs typeface="Calibri" pitchFamily="34" charset="-120"/>
              </a:rPr>
              <a:t>FY25 revenue</a:t>
            </a:r>
            <a:endParaRPr lang="en-US" sz="950" spc="100" dirty="0"/>
          </a:p>
        </p:txBody>
      </p:sp>
      <p:sp>
        <p:nvSpPr>
          <p:cNvPr id="19" name="Text 17"/>
          <p:cNvSpPr/>
          <p:nvPr/>
        </p:nvSpPr>
        <p:spPr>
          <a:xfrm>
            <a:off x="2423160" y="3611880"/>
            <a:ext cx="2697480" cy="384048"/>
          </a:xfrm>
          <a:prstGeom prst="rect">
            <a:avLst/>
          </a:prstGeom>
          <a:noFill/>
          <a:ln/>
        </p:spPr>
        <p:txBody>
          <a:bodyPr wrap="square" lIns="0" tIns="0" rIns="0" bIns="0" rtlCol="0" anchor="t"/>
          <a:lstStyle/>
          <a:p>
            <a:pPr marL="0" indent="0">
              <a:buNone/>
            </a:pPr>
            <a:r>
              <a:rPr lang="en-US" sz="1050" dirty="0">
                <a:solidFill>
                  <a:srgbClr val="0F172A"/>
                </a:solidFill>
                <a:latin typeface="Calibri" pitchFamily="34" charset="0"/>
                <a:ea typeface="Calibri" pitchFamily="34" charset="-122"/>
                <a:cs typeface="Calibri" pitchFamily="34" charset="-120"/>
              </a:rPr>
              <a:t>~₹150 Cr  ·  growing ~30% YoY</a:t>
            </a:r>
            <a:endParaRPr lang="en-US" sz="1050" dirty="0"/>
          </a:p>
        </p:txBody>
      </p:sp>
      <p:sp>
        <p:nvSpPr>
          <p:cNvPr id="20" name="Text 18"/>
          <p:cNvSpPr/>
          <p:nvPr/>
        </p:nvSpPr>
        <p:spPr>
          <a:xfrm>
            <a:off x="731520" y="4023360"/>
            <a:ext cx="1645920" cy="384048"/>
          </a:xfrm>
          <a:prstGeom prst="rect">
            <a:avLst/>
          </a:prstGeom>
          <a:noFill/>
          <a:ln/>
        </p:spPr>
        <p:txBody>
          <a:bodyPr wrap="square" lIns="0" tIns="0" rIns="0" bIns="0" rtlCol="0" anchor="t"/>
          <a:lstStyle/>
          <a:p>
            <a:pPr marL="0" indent="0">
              <a:buNone/>
            </a:pPr>
            <a:r>
              <a:rPr lang="en-US" sz="950" b="1" kern="0" spc="100" dirty="0">
                <a:solidFill>
                  <a:srgbClr val="64748B"/>
                </a:solidFill>
                <a:latin typeface="Calibri" pitchFamily="34" charset="0"/>
                <a:ea typeface="Calibri" pitchFamily="34" charset="-122"/>
                <a:cs typeface="Calibri" pitchFamily="34" charset="-120"/>
              </a:rPr>
              <a:t>Customers</a:t>
            </a:r>
            <a:endParaRPr lang="en-US" sz="950" spc="100" dirty="0"/>
          </a:p>
        </p:txBody>
      </p:sp>
      <p:sp>
        <p:nvSpPr>
          <p:cNvPr id="21" name="Text 19"/>
          <p:cNvSpPr/>
          <p:nvPr/>
        </p:nvSpPr>
        <p:spPr>
          <a:xfrm>
            <a:off x="2423160" y="4023360"/>
            <a:ext cx="2697480" cy="384048"/>
          </a:xfrm>
          <a:prstGeom prst="rect">
            <a:avLst/>
          </a:prstGeom>
          <a:noFill/>
          <a:ln/>
        </p:spPr>
        <p:txBody>
          <a:bodyPr wrap="square" lIns="0" tIns="0" rIns="0" bIns="0" rtlCol="0" anchor="t"/>
          <a:lstStyle/>
          <a:p>
            <a:pPr marL="0" indent="0">
              <a:buNone/>
            </a:pPr>
            <a:r>
              <a:rPr lang="en-US" sz="1050" dirty="0">
                <a:solidFill>
                  <a:srgbClr val="0F172A"/>
                </a:solidFill>
                <a:latin typeface="Calibri" pitchFamily="34" charset="0"/>
                <a:ea typeface="Calibri" pitchFamily="34" charset="-122"/>
                <a:cs typeface="Calibri" pitchFamily="34" charset="-120"/>
              </a:rPr>
              <a:t>500+ enterprises across BFSI, retail, e-commerce, F&amp;B, travel</a:t>
            </a:r>
            <a:endParaRPr lang="en-US" sz="1050" dirty="0"/>
          </a:p>
        </p:txBody>
      </p:sp>
      <p:sp>
        <p:nvSpPr>
          <p:cNvPr id="22" name="Text 20"/>
          <p:cNvSpPr/>
          <p:nvPr/>
        </p:nvSpPr>
        <p:spPr>
          <a:xfrm>
            <a:off x="731520" y="4434840"/>
            <a:ext cx="1645920" cy="384048"/>
          </a:xfrm>
          <a:prstGeom prst="rect">
            <a:avLst/>
          </a:prstGeom>
          <a:noFill/>
          <a:ln/>
        </p:spPr>
        <p:txBody>
          <a:bodyPr wrap="square" lIns="0" tIns="0" rIns="0" bIns="0" rtlCol="0" anchor="t"/>
          <a:lstStyle/>
          <a:p>
            <a:pPr marL="0" indent="0">
              <a:buNone/>
            </a:pPr>
            <a:r>
              <a:rPr lang="en-US" sz="950" b="1" kern="0" spc="100" dirty="0">
                <a:solidFill>
                  <a:srgbClr val="64748B"/>
                </a:solidFill>
                <a:latin typeface="Calibri" pitchFamily="34" charset="0"/>
                <a:ea typeface="Calibri" pitchFamily="34" charset="-122"/>
                <a:cs typeface="Calibri" pitchFamily="34" charset="-120"/>
              </a:rPr>
              <a:t>Product</a:t>
            </a:r>
            <a:endParaRPr lang="en-US" sz="950" spc="100" dirty="0"/>
          </a:p>
        </p:txBody>
      </p:sp>
      <p:sp>
        <p:nvSpPr>
          <p:cNvPr id="23" name="Text 21"/>
          <p:cNvSpPr/>
          <p:nvPr/>
        </p:nvSpPr>
        <p:spPr>
          <a:xfrm>
            <a:off x="2423160" y="4434840"/>
            <a:ext cx="2697480" cy="384048"/>
          </a:xfrm>
          <a:prstGeom prst="rect">
            <a:avLst/>
          </a:prstGeom>
          <a:noFill/>
          <a:ln/>
        </p:spPr>
        <p:txBody>
          <a:bodyPr wrap="square" lIns="0" tIns="0" rIns="0" bIns="0" rtlCol="0" anchor="t"/>
          <a:lstStyle/>
          <a:p>
            <a:pPr marL="0" indent="0">
              <a:buNone/>
            </a:pPr>
            <a:r>
              <a:rPr lang="en-US" sz="1050" dirty="0">
                <a:solidFill>
                  <a:srgbClr val="0F172A"/>
                </a:solidFill>
                <a:latin typeface="Calibri" pitchFamily="34" charset="0"/>
                <a:ea typeface="Calibri" pitchFamily="34" charset="-122"/>
                <a:cs typeface="Calibri" pitchFamily="34" charset="-120"/>
              </a:rPr>
              <a:t>Enterprise CDP + journey orchestration + omnichannel messaging</a:t>
            </a:r>
            <a:endParaRPr lang="en-US" sz="1050" dirty="0"/>
          </a:p>
        </p:txBody>
      </p:sp>
      <p:sp>
        <p:nvSpPr>
          <p:cNvPr id="24" name="Text 22"/>
          <p:cNvSpPr/>
          <p:nvPr/>
        </p:nvSpPr>
        <p:spPr>
          <a:xfrm>
            <a:off x="731520" y="4846320"/>
            <a:ext cx="1645920" cy="384048"/>
          </a:xfrm>
          <a:prstGeom prst="rect">
            <a:avLst/>
          </a:prstGeom>
          <a:noFill/>
          <a:ln/>
        </p:spPr>
        <p:txBody>
          <a:bodyPr wrap="square" lIns="0" tIns="0" rIns="0" bIns="0" rtlCol="0" anchor="t"/>
          <a:lstStyle/>
          <a:p>
            <a:pPr marL="0" indent="0">
              <a:buNone/>
            </a:pPr>
            <a:r>
              <a:rPr lang="en-US" sz="950" b="1" kern="0" spc="100" dirty="0">
                <a:solidFill>
                  <a:srgbClr val="64748B"/>
                </a:solidFill>
                <a:latin typeface="Calibri" pitchFamily="34" charset="0"/>
                <a:ea typeface="Calibri" pitchFamily="34" charset="-122"/>
                <a:cs typeface="Calibri" pitchFamily="34" charset="-120"/>
              </a:rPr>
              <a:t>Tech moat</a:t>
            </a:r>
            <a:endParaRPr lang="en-US" sz="950" spc="100" dirty="0"/>
          </a:p>
        </p:txBody>
      </p:sp>
      <p:sp>
        <p:nvSpPr>
          <p:cNvPr id="25" name="Text 23"/>
          <p:cNvSpPr/>
          <p:nvPr/>
        </p:nvSpPr>
        <p:spPr>
          <a:xfrm>
            <a:off x="2423160" y="4846320"/>
            <a:ext cx="2697480" cy="384048"/>
          </a:xfrm>
          <a:prstGeom prst="rect">
            <a:avLst/>
          </a:prstGeom>
          <a:noFill/>
          <a:ln/>
        </p:spPr>
        <p:txBody>
          <a:bodyPr wrap="square" lIns="0" tIns="0" rIns="0" bIns="0" rtlCol="0" anchor="t"/>
          <a:lstStyle/>
          <a:p>
            <a:pPr marL="0" indent="0">
              <a:buNone/>
            </a:pPr>
            <a:r>
              <a:rPr lang="en-US" sz="1050" dirty="0">
                <a:solidFill>
                  <a:srgbClr val="0F172A"/>
                </a:solidFill>
                <a:latin typeface="Calibri" pitchFamily="34" charset="0"/>
                <a:ea typeface="Calibri" pitchFamily="34" charset="-122"/>
                <a:cs typeface="Calibri" pitchFamily="34" charset="-120"/>
              </a:rPr>
              <a:t>11 channels (email, push, SMS, WhatsApp, in-app, web, RCS, voice…)</a:t>
            </a:r>
            <a:endParaRPr lang="en-US" sz="1050" dirty="0"/>
          </a:p>
        </p:txBody>
      </p:sp>
      <p:sp>
        <p:nvSpPr>
          <p:cNvPr id="26" name="Text 24"/>
          <p:cNvSpPr/>
          <p:nvPr/>
        </p:nvSpPr>
        <p:spPr>
          <a:xfrm>
            <a:off x="731520" y="5257800"/>
            <a:ext cx="1645920" cy="384048"/>
          </a:xfrm>
          <a:prstGeom prst="rect">
            <a:avLst/>
          </a:prstGeom>
          <a:noFill/>
          <a:ln/>
        </p:spPr>
        <p:txBody>
          <a:bodyPr wrap="square" lIns="0" tIns="0" rIns="0" bIns="0" rtlCol="0" anchor="t"/>
          <a:lstStyle/>
          <a:p>
            <a:pPr marL="0" indent="0">
              <a:buNone/>
            </a:pPr>
            <a:r>
              <a:rPr lang="en-US" sz="950" b="1" kern="0" spc="100" dirty="0">
                <a:solidFill>
                  <a:srgbClr val="64748B"/>
                </a:solidFill>
                <a:latin typeface="Calibri" pitchFamily="34" charset="0"/>
                <a:ea typeface="Calibri" pitchFamily="34" charset="-122"/>
                <a:cs typeface="Calibri" pitchFamily="34" charset="-120"/>
              </a:rPr>
              <a:t>Pricing model</a:t>
            </a:r>
            <a:endParaRPr lang="en-US" sz="950" spc="100" dirty="0"/>
          </a:p>
        </p:txBody>
      </p:sp>
      <p:sp>
        <p:nvSpPr>
          <p:cNvPr id="27" name="Text 25"/>
          <p:cNvSpPr/>
          <p:nvPr/>
        </p:nvSpPr>
        <p:spPr>
          <a:xfrm>
            <a:off x="2423160" y="5257800"/>
            <a:ext cx="2697480" cy="384048"/>
          </a:xfrm>
          <a:prstGeom prst="rect">
            <a:avLst/>
          </a:prstGeom>
          <a:noFill/>
          <a:ln/>
        </p:spPr>
        <p:txBody>
          <a:bodyPr wrap="square" lIns="0" tIns="0" rIns="0" bIns="0" rtlCol="0" anchor="t"/>
          <a:lstStyle/>
          <a:p>
            <a:pPr marL="0" indent="0">
              <a:buNone/>
            </a:pPr>
            <a:r>
              <a:rPr lang="en-US" sz="1050" dirty="0">
                <a:solidFill>
                  <a:srgbClr val="0F172A"/>
                </a:solidFill>
                <a:latin typeface="Calibri" pitchFamily="34" charset="0"/>
                <a:ea typeface="Calibri" pitchFamily="34" charset="-122"/>
                <a:cs typeface="Calibri" pitchFamily="34" charset="-120"/>
              </a:rPr>
              <a:t>Annual SaaS subscription + usage-based messaging volume</a:t>
            </a:r>
            <a:endParaRPr lang="en-US" sz="1050" dirty="0"/>
          </a:p>
        </p:txBody>
      </p:sp>
      <p:sp>
        <p:nvSpPr>
          <p:cNvPr id="28" name="Text 26"/>
          <p:cNvSpPr/>
          <p:nvPr/>
        </p:nvSpPr>
        <p:spPr>
          <a:xfrm>
            <a:off x="731520" y="5669280"/>
            <a:ext cx="1645920" cy="384048"/>
          </a:xfrm>
          <a:prstGeom prst="rect">
            <a:avLst/>
          </a:prstGeom>
          <a:noFill/>
          <a:ln/>
        </p:spPr>
        <p:txBody>
          <a:bodyPr wrap="square" lIns="0" tIns="0" rIns="0" bIns="0" rtlCol="0" anchor="t"/>
          <a:lstStyle/>
          <a:p>
            <a:pPr marL="0" indent="0">
              <a:buNone/>
            </a:pPr>
            <a:r>
              <a:rPr lang="en-US" sz="950" b="1" kern="0" spc="100" dirty="0">
                <a:solidFill>
                  <a:srgbClr val="64748B"/>
                </a:solidFill>
                <a:latin typeface="Calibri" pitchFamily="34" charset="0"/>
                <a:ea typeface="Calibri" pitchFamily="34" charset="-122"/>
                <a:cs typeface="Calibri" pitchFamily="34" charset="-120"/>
              </a:rPr>
              <a:t>Founder</a:t>
            </a:r>
            <a:endParaRPr lang="en-US" sz="950" spc="100" dirty="0"/>
          </a:p>
        </p:txBody>
      </p:sp>
      <p:sp>
        <p:nvSpPr>
          <p:cNvPr id="29" name="Text 27"/>
          <p:cNvSpPr/>
          <p:nvPr/>
        </p:nvSpPr>
        <p:spPr>
          <a:xfrm>
            <a:off x="2423160" y="5669280"/>
            <a:ext cx="2697480" cy="384048"/>
          </a:xfrm>
          <a:prstGeom prst="rect">
            <a:avLst/>
          </a:prstGeom>
          <a:noFill/>
          <a:ln/>
        </p:spPr>
        <p:txBody>
          <a:bodyPr wrap="square" lIns="0" tIns="0" rIns="0" bIns="0" rtlCol="0" anchor="t"/>
          <a:lstStyle/>
          <a:p>
            <a:pPr marL="0" indent="0">
              <a:buNone/>
            </a:pPr>
            <a:r>
              <a:rPr lang="en-US" sz="1050" dirty="0">
                <a:solidFill>
                  <a:srgbClr val="0F172A"/>
                </a:solidFill>
                <a:latin typeface="Calibri" pitchFamily="34" charset="0"/>
                <a:ea typeface="Calibri" pitchFamily="34" charset="-122"/>
                <a:cs typeface="Calibri" pitchFamily="34" charset="-120"/>
              </a:rPr>
              <a:t>Avlesh Singh, CEO (operator since 2011, no near-term exit pressure)</a:t>
            </a:r>
            <a:endParaRPr lang="en-US" sz="1050" dirty="0"/>
          </a:p>
        </p:txBody>
      </p:sp>
      <p:sp>
        <p:nvSpPr>
          <p:cNvPr id="30" name="Text 28"/>
          <p:cNvSpPr/>
          <p:nvPr/>
        </p:nvSpPr>
        <p:spPr>
          <a:xfrm>
            <a:off x="5486400" y="1417320"/>
            <a:ext cx="6263640" cy="274320"/>
          </a:xfrm>
          <a:prstGeom prst="rect">
            <a:avLst/>
          </a:prstGeom>
          <a:noFill/>
          <a:ln/>
        </p:spPr>
        <p:txBody>
          <a:bodyPr wrap="square" lIns="0" tIns="0" rIns="0" bIns="0" rtlCol="0" anchor="ctr"/>
          <a:lstStyle/>
          <a:p>
            <a:pPr marL="0" indent="0">
              <a:buNone/>
            </a:pPr>
            <a:r>
              <a:rPr lang="en-US" sz="1000" b="1" kern="0" spc="100" dirty="0">
                <a:solidFill>
                  <a:srgbClr val="16A34A"/>
                </a:solidFill>
                <a:latin typeface="Calibri" pitchFamily="34" charset="0"/>
                <a:ea typeface="Calibri" pitchFamily="34" charset="-122"/>
                <a:cs typeface="Calibri" pitchFamily="34" charset="-120"/>
              </a:rPr>
              <a:t>Customer overlap with Pine Labs' top 10</a:t>
            </a:r>
            <a:endParaRPr lang="en-US" sz="1000" spc="100" dirty="0"/>
          </a:p>
        </p:txBody>
      </p:sp>
      <p:sp>
        <p:nvSpPr>
          <p:cNvPr id="31" name="Shape 29"/>
          <p:cNvSpPr/>
          <p:nvPr/>
        </p:nvSpPr>
        <p:spPr>
          <a:xfrm>
            <a:off x="5486400" y="1691640"/>
            <a:ext cx="6263640" cy="13716"/>
          </a:xfrm>
          <a:prstGeom prst="rect">
            <a:avLst/>
          </a:prstGeom>
          <a:solidFill>
            <a:srgbClr val="E2E8F0"/>
          </a:solidFill>
          <a:ln/>
        </p:spPr>
        <p:txBody>
          <a:bodyPr/>
          <a:lstStyle/>
          <a:p>
            <a:endParaRPr lang="en-US"/>
          </a:p>
        </p:txBody>
      </p:sp>
      <p:sp>
        <p:nvSpPr>
          <p:cNvPr id="32" name="Shape 30"/>
          <p:cNvSpPr/>
          <p:nvPr/>
        </p:nvSpPr>
        <p:spPr>
          <a:xfrm>
            <a:off x="5486400" y="1828800"/>
            <a:ext cx="6263640" cy="777240"/>
          </a:xfrm>
          <a:prstGeom prst="rect">
            <a:avLst/>
          </a:prstGeom>
          <a:solidFill>
            <a:srgbClr val="0B1A14"/>
          </a:solidFill>
          <a:ln/>
        </p:spPr>
        <p:txBody>
          <a:bodyPr/>
          <a:lstStyle/>
          <a:p>
            <a:endParaRPr lang="en-US"/>
          </a:p>
        </p:txBody>
      </p:sp>
      <p:sp>
        <p:nvSpPr>
          <p:cNvPr id="33" name="Shape 31"/>
          <p:cNvSpPr/>
          <p:nvPr/>
        </p:nvSpPr>
        <p:spPr>
          <a:xfrm>
            <a:off x="5486400" y="1828800"/>
            <a:ext cx="91440" cy="777240"/>
          </a:xfrm>
          <a:prstGeom prst="rect">
            <a:avLst/>
          </a:prstGeom>
          <a:solidFill>
            <a:srgbClr val="16A34A"/>
          </a:solidFill>
          <a:ln/>
        </p:spPr>
        <p:txBody>
          <a:bodyPr/>
          <a:lstStyle/>
          <a:p>
            <a:endParaRPr lang="en-US"/>
          </a:p>
        </p:txBody>
      </p:sp>
      <p:sp>
        <p:nvSpPr>
          <p:cNvPr id="34" name="Text 32"/>
          <p:cNvSpPr/>
          <p:nvPr/>
        </p:nvSpPr>
        <p:spPr>
          <a:xfrm>
            <a:off x="5760720" y="1874520"/>
            <a:ext cx="2011680" cy="685800"/>
          </a:xfrm>
          <a:prstGeom prst="rect">
            <a:avLst/>
          </a:prstGeom>
          <a:noFill/>
          <a:ln/>
        </p:spPr>
        <p:txBody>
          <a:bodyPr wrap="square" lIns="0" tIns="0" rIns="0" bIns="0" rtlCol="0" anchor="ctr"/>
          <a:lstStyle/>
          <a:p>
            <a:pPr marL="0" indent="0">
              <a:buNone/>
            </a:pPr>
            <a:r>
              <a:rPr lang="en-US" sz="3200" b="1" dirty="0">
                <a:solidFill>
                  <a:srgbClr val="FFFFFF"/>
                </a:solidFill>
                <a:latin typeface="Calibri" pitchFamily="34" charset="0"/>
                <a:ea typeface="Calibri" pitchFamily="34" charset="-122"/>
                <a:cs typeface="Calibri" pitchFamily="34" charset="-120"/>
              </a:rPr>
              <a:t>6 of 10</a:t>
            </a:r>
            <a:endParaRPr lang="en-US" sz="3200" dirty="0"/>
          </a:p>
        </p:txBody>
      </p:sp>
      <p:sp>
        <p:nvSpPr>
          <p:cNvPr id="35" name="Text 33"/>
          <p:cNvSpPr/>
          <p:nvPr/>
        </p:nvSpPr>
        <p:spPr>
          <a:xfrm>
            <a:off x="7818120" y="1874520"/>
            <a:ext cx="3794760" cy="685800"/>
          </a:xfrm>
          <a:prstGeom prst="rect">
            <a:avLst/>
          </a:prstGeom>
          <a:noFill/>
          <a:ln/>
        </p:spPr>
        <p:txBody>
          <a:bodyPr wrap="square" lIns="0" tIns="0" rIns="0" bIns="0" rtlCol="0" anchor="ctr"/>
          <a:lstStyle/>
          <a:p>
            <a:pPr marL="0" indent="0">
              <a:buNone/>
            </a:pPr>
            <a:r>
              <a:rPr lang="en-US" sz="1000" i="1" dirty="0">
                <a:solidFill>
                  <a:srgbClr val="86EFAC"/>
                </a:solidFill>
                <a:latin typeface="Calibri" pitchFamily="34" charset="0"/>
                <a:ea typeface="Calibri" pitchFamily="34" charset="-122"/>
                <a:cs typeface="Calibri" pitchFamily="34" charset="-120"/>
              </a:rPr>
              <a:t>Pine Labs' likely top-10 customers are already paying WebEngage for engagement software — bundling = zero net-new sales motion</a:t>
            </a:r>
            <a:endParaRPr lang="en-US" sz="1000" dirty="0"/>
          </a:p>
        </p:txBody>
      </p:sp>
      <p:sp>
        <p:nvSpPr>
          <p:cNvPr id="36" name="Text 34"/>
          <p:cNvSpPr/>
          <p:nvPr/>
        </p:nvSpPr>
        <p:spPr>
          <a:xfrm>
            <a:off x="5486400" y="2788920"/>
            <a:ext cx="2994660" cy="274320"/>
          </a:xfrm>
          <a:prstGeom prst="rect">
            <a:avLst/>
          </a:prstGeom>
          <a:noFill/>
          <a:ln/>
        </p:spPr>
        <p:txBody>
          <a:bodyPr wrap="square" lIns="0" tIns="0" rIns="0" bIns="0" rtlCol="0" anchor="ctr"/>
          <a:lstStyle/>
          <a:p>
            <a:pPr marL="0" indent="0">
              <a:buNone/>
            </a:pPr>
            <a:r>
              <a:rPr lang="en-US" sz="1000" b="1" kern="0" spc="100" dirty="0">
                <a:solidFill>
                  <a:srgbClr val="0F172A"/>
                </a:solidFill>
                <a:latin typeface="Calibri" pitchFamily="34" charset="0"/>
                <a:ea typeface="Calibri" pitchFamily="34" charset="-122"/>
                <a:cs typeface="Calibri" pitchFamily="34" charset="-120"/>
              </a:rPr>
              <a:t>Likely shared customers (illustrative)</a:t>
            </a:r>
            <a:endParaRPr lang="en-US" sz="1000" spc="100" dirty="0"/>
          </a:p>
        </p:txBody>
      </p:sp>
      <p:sp>
        <p:nvSpPr>
          <p:cNvPr id="37" name="Text 35"/>
          <p:cNvSpPr/>
          <p:nvPr/>
        </p:nvSpPr>
        <p:spPr>
          <a:xfrm>
            <a:off x="8755380" y="2788920"/>
            <a:ext cx="2994660" cy="274320"/>
          </a:xfrm>
          <a:prstGeom prst="rect">
            <a:avLst/>
          </a:prstGeom>
          <a:noFill/>
          <a:ln/>
        </p:spPr>
        <p:txBody>
          <a:bodyPr wrap="square" lIns="0" tIns="0" rIns="0" bIns="0" rtlCol="0" anchor="ctr"/>
          <a:lstStyle/>
          <a:p>
            <a:pPr marL="0" indent="0">
              <a:buNone/>
            </a:pPr>
            <a:r>
              <a:rPr lang="en-US" sz="1000" b="1" kern="0" spc="100" dirty="0">
                <a:solidFill>
                  <a:srgbClr val="0F172A"/>
                </a:solidFill>
                <a:latin typeface="Calibri" pitchFamily="34" charset="0"/>
                <a:ea typeface="Calibri" pitchFamily="34" charset="-122"/>
                <a:cs typeface="Calibri" pitchFamily="34" charset="-120"/>
              </a:rPr>
              <a:t>Additional accounts WebEngage opens up</a:t>
            </a:r>
            <a:endParaRPr lang="en-US" sz="1000" spc="100" dirty="0"/>
          </a:p>
        </p:txBody>
      </p:sp>
      <p:sp>
        <p:nvSpPr>
          <p:cNvPr id="38" name="Shape 36"/>
          <p:cNvSpPr/>
          <p:nvPr/>
        </p:nvSpPr>
        <p:spPr>
          <a:xfrm>
            <a:off x="5559552" y="3172968"/>
            <a:ext cx="118872" cy="118872"/>
          </a:xfrm>
          <a:prstGeom prst="ellipse">
            <a:avLst/>
          </a:prstGeom>
          <a:solidFill>
            <a:srgbClr val="16A34A"/>
          </a:solidFill>
          <a:ln/>
        </p:spPr>
        <p:txBody>
          <a:bodyPr/>
          <a:lstStyle/>
          <a:p>
            <a:endParaRPr lang="en-US"/>
          </a:p>
        </p:txBody>
      </p:sp>
      <p:sp>
        <p:nvSpPr>
          <p:cNvPr id="39" name="Text 37"/>
          <p:cNvSpPr/>
          <p:nvPr/>
        </p:nvSpPr>
        <p:spPr>
          <a:xfrm>
            <a:off x="5760720" y="3108960"/>
            <a:ext cx="2766060" cy="292608"/>
          </a:xfrm>
          <a:prstGeom prst="rect">
            <a:avLst/>
          </a:prstGeom>
          <a:noFill/>
          <a:ln/>
        </p:spPr>
        <p:txBody>
          <a:bodyPr wrap="square" lIns="0" tIns="0" rIns="0" bIns="0" rtlCol="0" anchor="ctr"/>
          <a:lstStyle/>
          <a:p>
            <a:pPr marL="0" indent="0">
              <a:buNone/>
            </a:pPr>
            <a:r>
              <a:rPr lang="en-US" sz="1000" dirty="0">
                <a:solidFill>
                  <a:srgbClr val="0F172A"/>
                </a:solidFill>
                <a:latin typeface="Calibri" pitchFamily="34" charset="0"/>
                <a:ea typeface="Calibri" pitchFamily="34" charset="-122"/>
                <a:cs typeface="Calibri" pitchFamily="34" charset="-120"/>
              </a:rPr>
              <a:t>HDFC Bank</a:t>
            </a:r>
            <a:endParaRPr lang="en-US" sz="1000" dirty="0"/>
          </a:p>
        </p:txBody>
      </p:sp>
      <p:sp>
        <p:nvSpPr>
          <p:cNvPr id="40" name="Shape 38"/>
          <p:cNvSpPr/>
          <p:nvPr/>
        </p:nvSpPr>
        <p:spPr>
          <a:xfrm>
            <a:off x="8782812" y="3172968"/>
            <a:ext cx="118872" cy="118872"/>
          </a:xfrm>
          <a:prstGeom prst="ellipse">
            <a:avLst/>
          </a:prstGeom>
          <a:solidFill>
            <a:srgbClr val="64748B"/>
          </a:solidFill>
          <a:ln/>
        </p:spPr>
        <p:txBody>
          <a:bodyPr/>
          <a:lstStyle/>
          <a:p>
            <a:endParaRPr lang="en-US"/>
          </a:p>
        </p:txBody>
      </p:sp>
      <p:sp>
        <p:nvSpPr>
          <p:cNvPr id="41" name="Text 39"/>
          <p:cNvSpPr/>
          <p:nvPr/>
        </p:nvSpPr>
        <p:spPr>
          <a:xfrm>
            <a:off x="8983980" y="3108960"/>
            <a:ext cx="2720340" cy="292608"/>
          </a:xfrm>
          <a:prstGeom prst="rect">
            <a:avLst/>
          </a:prstGeom>
          <a:noFill/>
          <a:ln/>
        </p:spPr>
        <p:txBody>
          <a:bodyPr wrap="square" lIns="0" tIns="0" rIns="0" bIns="0" rtlCol="0" anchor="ctr"/>
          <a:lstStyle/>
          <a:p>
            <a:pPr marL="0" indent="0">
              <a:buNone/>
            </a:pPr>
            <a:r>
              <a:rPr lang="en-US" sz="1000" dirty="0">
                <a:solidFill>
                  <a:srgbClr val="0F172A"/>
                </a:solidFill>
                <a:latin typeface="Calibri" pitchFamily="34" charset="0"/>
                <a:ea typeface="Calibri" pitchFamily="34" charset="-122"/>
                <a:cs typeface="Calibri" pitchFamily="34" charset="-120"/>
              </a:rPr>
              <a:t>Unilever, Marico, ITC (consumer brands)</a:t>
            </a:r>
            <a:endParaRPr lang="en-US" sz="1000" dirty="0"/>
          </a:p>
        </p:txBody>
      </p:sp>
      <p:sp>
        <p:nvSpPr>
          <p:cNvPr id="42" name="Shape 40"/>
          <p:cNvSpPr/>
          <p:nvPr/>
        </p:nvSpPr>
        <p:spPr>
          <a:xfrm>
            <a:off x="5559552" y="3493008"/>
            <a:ext cx="118872" cy="118872"/>
          </a:xfrm>
          <a:prstGeom prst="ellipse">
            <a:avLst/>
          </a:prstGeom>
          <a:solidFill>
            <a:srgbClr val="16A34A"/>
          </a:solidFill>
          <a:ln/>
        </p:spPr>
        <p:txBody>
          <a:bodyPr/>
          <a:lstStyle/>
          <a:p>
            <a:endParaRPr lang="en-US"/>
          </a:p>
        </p:txBody>
      </p:sp>
      <p:sp>
        <p:nvSpPr>
          <p:cNvPr id="43" name="Text 41"/>
          <p:cNvSpPr/>
          <p:nvPr/>
        </p:nvSpPr>
        <p:spPr>
          <a:xfrm>
            <a:off x="5760720" y="3429000"/>
            <a:ext cx="2766060" cy="292608"/>
          </a:xfrm>
          <a:prstGeom prst="rect">
            <a:avLst/>
          </a:prstGeom>
          <a:noFill/>
          <a:ln/>
        </p:spPr>
        <p:txBody>
          <a:bodyPr wrap="square" lIns="0" tIns="0" rIns="0" bIns="0" rtlCol="0" anchor="ctr"/>
          <a:lstStyle/>
          <a:p>
            <a:pPr marL="0" indent="0">
              <a:buNone/>
            </a:pPr>
            <a:r>
              <a:rPr lang="en-US" sz="1000" dirty="0">
                <a:solidFill>
                  <a:srgbClr val="0F172A"/>
                </a:solidFill>
                <a:latin typeface="Calibri" pitchFamily="34" charset="0"/>
                <a:ea typeface="Calibri" pitchFamily="34" charset="-122"/>
                <a:cs typeface="Calibri" pitchFamily="34" charset="-120"/>
              </a:rPr>
              <a:t>Axis Bank</a:t>
            </a:r>
            <a:endParaRPr lang="en-US" sz="1000" dirty="0"/>
          </a:p>
        </p:txBody>
      </p:sp>
      <p:sp>
        <p:nvSpPr>
          <p:cNvPr id="44" name="Shape 42"/>
          <p:cNvSpPr/>
          <p:nvPr/>
        </p:nvSpPr>
        <p:spPr>
          <a:xfrm>
            <a:off x="8782812" y="3493008"/>
            <a:ext cx="118872" cy="118872"/>
          </a:xfrm>
          <a:prstGeom prst="ellipse">
            <a:avLst/>
          </a:prstGeom>
          <a:solidFill>
            <a:srgbClr val="64748B"/>
          </a:solidFill>
          <a:ln/>
        </p:spPr>
        <p:txBody>
          <a:bodyPr/>
          <a:lstStyle/>
          <a:p>
            <a:endParaRPr lang="en-US"/>
          </a:p>
        </p:txBody>
      </p:sp>
      <p:sp>
        <p:nvSpPr>
          <p:cNvPr id="45" name="Text 43"/>
          <p:cNvSpPr/>
          <p:nvPr/>
        </p:nvSpPr>
        <p:spPr>
          <a:xfrm>
            <a:off x="8983980" y="3429000"/>
            <a:ext cx="2720340" cy="292608"/>
          </a:xfrm>
          <a:prstGeom prst="rect">
            <a:avLst/>
          </a:prstGeom>
          <a:noFill/>
          <a:ln/>
        </p:spPr>
        <p:txBody>
          <a:bodyPr wrap="square" lIns="0" tIns="0" rIns="0" bIns="0" rtlCol="0" anchor="ctr"/>
          <a:lstStyle/>
          <a:p>
            <a:pPr marL="0" indent="0">
              <a:buNone/>
            </a:pPr>
            <a:r>
              <a:rPr lang="en-US" sz="1000" dirty="0">
                <a:solidFill>
                  <a:srgbClr val="0F172A"/>
                </a:solidFill>
                <a:latin typeface="Calibri" pitchFamily="34" charset="0"/>
                <a:ea typeface="Calibri" pitchFamily="34" charset="-122"/>
                <a:cs typeface="Calibri" pitchFamily="34" charset="-120"/>
              </a:rPr>
              <a:t>Tata 1mg, PharmEasy (e-pharma)</a:t>
            </a:r>
            <a:endParaRPr lang="en-US" sz="1000" dirty="0"/>
          </a:p>
        </p:txBody>
      </p:sp>
      <p:sp>
        <p:nvSpPr>
          <p:cNvPr id="46" name="Shape 44"/>
          <p:cNvSpPr/>
          <p:nvPr/>
        </p:nvSpPr>
        <p:spPr>
          <a:xfrm>
            <a:off x="5559552" y="3813048"/>
            <a:ext cx="118872" cy="118872"/>
          </a:xfrm>
          <a:prstGeom prst="ellipse">
            <a:avLst/>
          </a:prstGeom>
          <a:solidFill>
            <a:srgbClr val="16A34A"/>
          </a:solidFill>
          <a:ln/>
        </p:spPr>
        <p:txBody>
          <a:bodyPr/>
          <a:lstStyle/>
          <a:p>
            <a:endParaRPr lang="en-US"/>
          </a:p>
        </p:txBody>
      </p:sp>
      <p:sp>
        <p:nvSpPr>
          <p:cNvPr id="47" name="Text 45"/>
          <p:cNvSpPr/>
          <p:nvPr/>
        </p:nvSpPr>
        <p:spPr>
          <a:xfrm>
            <a:off x="5760720" y="3749040"/>
            <a:ext cx="2766060" cy="292608"/>
          </a:xfrm>
          <a:prstGeom prst="rect">
            <a:avLst/>
          </a:prstGeom>
          <a:noFill/>
          <a:ln/>
        </p:spPr>
        <p:txBody>
          <a:bodyPr wrap="square" lIns="0" tIns="0" rIns="0" bIns="0" rtlCol="0" anchor="ctr"/>
          <a:lstStyle/>
          <a:p>
            <a:pPr marL="0" indent="0">
              <a:buNone/>
            </a:pPr>
            <a:r>
              <a:rPr lang="en-US" sz="1000" dirty="0">
                <a:solidFill>
                  <a:srgbClr val="0F172A"/>
                </a:solidFill>
                <a:latin typeface="Calibri" pitchFamily="34" charset="0"/>
                <a:ea typeface="Calibri" pitchFamily="34" charset="-122"/>
                <a:cs typeface="Calibri" pitchFamily="34" charset="-120"/>
              </a:rPr>
              <a:t>ICICI Bank</a:t>
            </a:r>
            <a:endParaRPr lang="en-US" sz="1000" dirty="0"/>
          </a:p>
        </p:txBody>
      </p:sp>
      <p:sp>
        <p:nvSpPr>
          <p:cNvPr id="48" name="Shape 46"/>
          <p:cNvSpPr/>
          <p:nvPr/>
        </p:nvSpPr>
        <p:spPr>
          <a:xfrm>
            <a:off x="8782812" y="3813048"/>
            <a:ext cx="118872" cy="118872"/>
          </a:xfrm>
          <a:prstGeom prst="ellipse">
            <a:avLst/>
          </a:prstGeom>
          <a:solidFill>
            <a:srgbClr val="64748B"/>
          </a:solidFill>
          <a:ln/>
        </p:spPr>
        <p:txBody>
          <a:bodyPr/>
          <a:lstStyle/>
          <a:p>
            <a:endParaRPr lang="en-US"/>
          </a:p>
        </p:txBody>
      </p:sp>
      <p:sp>
        <p:nvSpPr>
          <p:cNvPr id="49" name="Text 47"/>
          <p:cNvSpPr/>
          <p:nvPr/>
        </p:nvSpPr>
        <p:spPr>
          <a:xfrm>
            <a:off x="8983980" y="3749040"/>
            <a:ext cx="2720340" cy="292608"/>
          </a:xfrm>
          <a:prstGeom prst="rect">
            <a:avLst/>
          </a:prstGeom>
          <a:noFill/>
          <a:ln/>
        </p:spPr>
        <p:txBody>
          <a:bodyPr wrap="square" lIns="0" tIns="0" rIns="0" bIns="0" rtlCol="0" anchor="ctr"/>
          <a:lstStyle/>
          <a:p>
            <a:pPr marL="0" indent="0">
              <a:buNone/>
            </a:pPr>
            <a:r>
              <a:rPr lang="en-US" sz="1000" dirty="0">
                <a:solidFill>
                  <a:srgbClr val="0F172A"/>
                </a:solidFill>
                <a:latin typeface="Calibri" pitchFamily="34" charset="0"/>
                <a:ea typeface="Calibri" pitchFamily="34" charset="-122"/>
                <a:cs typeface="Calibri" pitchFamily="34" charset="-120"/>
              </a:rPr>
              <a:t>MakeMyTrip, Goibibo (travel)</a:t>
            </a:r>
            <a:endParaRPr lang="en-US" sz="1000" dirty="0"/>
          </a:p>
        </p:txBody>
      </p:sp>
      <p:sp>
        <p:nvSpPr>
          <p:cNvPr id="50" name="Shape 48"/>
          <p:cNvSpPr/>
          <p:nvPr/>
        </p:nvSpPr>
        <p:spPr>
          <a:xfrm>
            <a:off x="5559552" y="4133088"/>
            <a:ext cx="118872" cy="118872"/>
          </a:xfrm>
          <a:prstGeom prst="ellipse">
            <a:avLst/>
          </a:prstGeom>
          <a:solidFill>
            <a:srgbClr val="16A34A"/>
          </a:solidFill>
          <a:ln/>
        </p:spPr>
        <p:txBody>
          <a:bodyPr/>
          <a:lstStyle/>
          <a:p>
            <a:endParaRPr lang="en-US"/>
          </a:p>
        </p:txBody>
      </p:sp>
      <p:sp>
        <p:nvSpPr>
          <p:cNvPr id="51" name="Text 49"/>
          <p:cNvSpPr/>
          <p:nvPr/>
        </p:nvSpPr>
        <p:spPr>
          <a:xfrm>
            <a:off x="5760720" y="4069080"/>
            <a:ext cx="2766060" cy="292608"/>
          </a:xfrm>
          <a:prstGeom prst="rect">
            <a:avLst/>
          </a:prstGeom>
          <a:noFill/>
          <a:ln/>
        </p:spPr>
        <p:txBody>
          <a:bodyPr wrap="square" lIns="0" tIns="0" rIns="0" bIns="0" rtlCol="0" anchor="ctr"/>
          <a:lstStyle/>
          <a:p>
            <a:pPr marL="0" indent="0">
              <a:buNone/>
            </a:pPr>
            <a:r>
              <a:rPr lang="en-US" sz="1000" dirty="0">
                <a:solidFill>
                  <a:srgbClr val="0F172A"/>
                </a:solidFill>
                <a:latin typeface="Calibri" pitchFamily="34" charset="0"/>
                <a:ea typeface="Calibri" pitchFamily="34" charset="-122"/>
                <a:cs typeface="Calibri" pitchFamily="34" charset="-120"/>
              </a:rPr>
              <a:t>Tata Group (Croma, Westside)</a:t>
            </a:r>
            <a:endParaRPr lang="en-US" sz="1000" dirty="0"/>
          </a:p>
        </p:txBody>
      </p:sp>
      <p:sp>
        <p:nvSpPr>
          <p:cNvPr id="52" name="Shape 50"/>
          <p:cNvSpPr/>
          <p:nvPr/>
        </p:nvSpPr>
        <p:spPr>
          <a:xfrm>
            <a:off x="8782812" y="4133088"/>
            <a:ext cx="118872" cy="118872"/>
          </a:xfrm>
          <a:prstGeom prst="ellipse">
            <a:avLst/>
          </a:prstGeom>
          <a:solidFill>
            <a:srgbClr val="64748B"/>
          </a:solidFill>
          <a:ln/>
        </p:spPr>
        <p:txBody>
          <a:bodyPr/>
          <a:lstStyle/>
          <a:p>
            <a:endParaRPr lang="en-US"/>
          </a:p>
        </p:txBody>
      </p:sp>
      <p:sp>
        <p:nvSpPr>
          <p:cNvPr id="53" name="Text 51"/>
          <p:cNvSpPr/>
          <p:nvPr/>
        </p:nvSpPr>
        <p:spPr>
          <a:xfrm>
            <a:off x="8983980" y="4069080"/>
            <a:ext cx="2720340" cy="292608"/>
          </a:xfrm>
          <a:prstGeom prst="rect">
            <a:avLst/>
          </a:prstGeom>
          <a:noFill/>
          <a:ln/>
        </p:spPr>
        <p:txBody>
          <a:bodyPr wrap="square" lIns="0" tIns="0" rIns="0" bIns="0" rtlCol="0" anchor="ctr"/>
          <a:lstStyle/>
          <a:p>
            <a:pPr marL="0" indent="0">
              <a:buNone/>
            </a:pPr>
            <a:r>
              <a:rPr lang="en-US" sz="1000" dirty="0">
                <a:solidFill>
                  <a:srgbClr val="0F172A"/>
                </a:solidFill>
                <a:latin typeface="Calibri" pitchFamily="34" charset="0"/>
                <a:ea typeface="Calibri" pitchFamily="34" charset="-122"/>
                <a:cs typeface="Calibri" pitchFamily="34" charset="-120"/>
              </a:rPr>
              <a:t>Yatra, Ixigo</a:t>
            </a:r>
            <a:endParaRPr lang="en-US" sz="1000" dirty="0"/>
          </a:p>
        </p:txBody>
      </p:sp>
      <p:sp>
        <p:nvSpPr>
          <p:cNvPr id="54" name="Shape 52"/>
          <p:cNvSpPr/>
          <p:nvPr/>
        </p:nvSpPr>
        <p:spPr>
          <a:xfrm>
            <a:off x="5559552" y="4453128"/>
            <a:ext cx="118872" cy="118872"/>
          </a:xfrm>
          <a:prstGeom prst="ellipse">
            <a:avLst/>
          </a:prstGeom>
          <a:solidFill>
            <a:srgbClr val="16A34A"/>
          </a:solidFill>
          <a:ln/>
        </p:spPr>
        <p:txBody>
          <a:bodyPr/>
          <a:lstStyle/>
          <a:p>
            <a:endParaRPr lang="en-US"/>
          </a:p>
        </p:txBody>
      </p:sp>
      <p:sp>
        <p:nvSpPr>
          <p:cNvPr id="55" name="Text 53"/>
          <p:cNvSpPr/>
          <p:nvPr/>
        </p:nvSpPr>
        <p:spPr>
          <a:xfrm>
            <a:off x="5760720" y="4389120"/>
            <a:ext cx="2766060" cy="292608"/>
          </a:xfrm>
          <a:prstGeom prst="rect">
            <a:avLst/>
          </a:prstGeom>
          <a:noFill/>
          <a:ln/>
        </p:spPr>
        <p:txBody>
          <a:bodyPr wrap="square" lIns="0" tIns="0" rIns="0" bIns="0" rtlCol="0" anchor="ctr"/>
          <a:lstStyle/>
          <a:p>
            <a:pPr marL="0" indent="0">
              <a:buNone/>
            </a:pPr>
            <a:r>
              <a:rPr lang="en-US" sz="1000" dirty="0">
                <a:solidFill>
                  <a:srgbClr val="0F172A"/>
                </a:solidFill>
                <a:latin typeface="Calibri" pitchFamily="34" charset="0"/>
                <a:ea typeface="Calibri" pitchFamily="34" charset="-122"/>
                <a:cs typeface="Calibri" pitchFamily="34" charset="-120"/>
              </a:rPr>
              <a:t>Reliance Retail</a:t>
            </a:r>
            <a:endParaRPr lang="en-US" sz="1000" dirty="0"/>
          </a:p>
        </p:txBody>
      </p:sp>
      <p:sp>
        <p:nvSpPr>
          <p:cNvPr id="56" name="Shape 54"/>
          <p:cNvSpPr/>
          <p:nvPr/>
        </p:nvSpPr>
        <p:spPr>
          <a:xfrm>
            <a:off x="8782812" y="4453128"/>
            <a:ext cx="118872" cy="118872"/>
          </a:xfrm>
          <a:prstGeom prst="ellipse">
            <a:avLst/>
          </a:prstGeom>
          <a:solidFill>
            <a:srgbClr val="64748B"/>
          </a:solidFill>
          <a:ln/>
        </p:spPr>
        <p:txBody>
          <a:bodyPr/>
          <a:lstStyle/>
          <a:p>
            <a:endParaRPr lang="en-US"/>
          </a:p>
        </p:txBody>
      </p:sp>
      <p:sp>
        <p:nvSpPr>
          <p:cNvPr id="57" name="Text 55"/>
          <p:cNvSpPr/>
          <p:nvPr/>
        </p:nvSpPr>
        <p:spPr>
          <a:xfrm>
            <a:off x="8983980" y="4389120"/>
            <a:ext cx="2720340" cy="292608"/>
          </a:xfrm>
          <a:prstGeom prst="rect">
            <a:avLst/>
          </a:prstGeom>
          <a:noFill/>
          <a:ln/>
        </p:spPr>
        <p:txBody>
          <a:bodyPr wrap="square" lIns="0" tIns="0" rIns="0" bIns="0" rtlCol="0" anchor="ctr"/>
          <a:lstStyle/>
          <a:p>
            <a:pPr marL="0" indent="0">
              <a:buNone/>
            </a:pPr>
            <a:r>
              <a:rPr lang="en-US" sz="1000" dirty="0">
                <a:solidFill>
                  <a:srgbClr val="0F172A"/>
                </a:solidFill>
                <a:latin typeface="Calibri" pitchFamily="34" charset="0"/>
                <a:ea typeface="Calibri" pitchFamily="34" charset="-122"/>
                <a:cs typeface="Calibri" pitchFamily="34" charset="-120"/>
              </a:rPr>
              <a:t>Lenskart, Nykaa</a:t>
            </a:r>
            <a:endParaRPr lang="en-US" sz="1000" dirty="0"/>
          </a:p>
        </p:txBody>
      </p:sp>
      <p:sp>
        <p:nvSpPr>
          <p:cNvPr id="58" name="Shape 56"/>
          <p:cNvSpPr/>
          <p:nvPr/>
        </p:nvSpPr>
        <p:spPr>
          <a:xfrm>
            <a:off x="5559552" y="4773168"/>
            <a:ext cx="118872" cy="118872"/>
          </a:xfrm>
          <a:prstGeom prst="ellipse">
            <a:avLst/>
          </a:prstGeom>
          <a:solidFill>
            <a:srgbClr val="16A34A"/>
          </a:solidFill>
          <a:ln/>
        </p:spPr>
        <p:txBody>
          <a:bodyPr/>
          <a:lstStyle/>
          <a:p>
            <a:endParaRPr lang="en-US"/>
          </a:p>
        </p:txBody>
      </p:sp>
      <p:sp>
        <p:nvSpPr>
          <p:cNvPr id="59" name="Text 57"/>
          <p:cNvSpPr/>
          <p:nvPr/>
        </p:nvSpPr>
        <p:spPr>
          <a:xfrm>
            <a:off x="5760720" y="4709160"/>
            <a:ext cx="2766060" cy="292608"/>
          </a:xfrm>
          <a:prstGeom prst="rect">
            <a:avLst/>
          </a:prstGeom>
          <a:noFill/>
          <a:ln/>
        </p:spPr>
        <p:txBody>
          <a:bodyPr wrap="square" lIns="0" tIns="0" rIns="0" bIns="0" rtlCol="0" anchor="ctr"/>
          <a:lstStyle/>
          <a:p>
            <a:pPr marL="0" indent="0">
              <a:buNone/>
            </a:pPr>
            <a:r>
              <a:rPr lang="en-US" sz="1000" dirty="0">
                <a:solidFill>
                  <a:srgbClr val="0F172A"/>
                </a:solidFill>
                <a:latin typeface="Calibri" pitchFamily="34" charset="0"/>
                <a:ea typeface="Calibri" pitchFamily="34" charset="-122"/>
                <a:cs typeface="Calibri" pitchFamily="34" charset="-120"/>
              </a:rPr>
              <a:t>Pizza Hut / KFC India</a:t>
            </a:r>
            <a:endParaRPr lang="en-US" sz="1000" dirty="0"/>
          </a:p>
        </p:txBody>
      </p:sp>
      <p:sp>
        <p:nvSpPr>
          <p:cNvPr id="60" name="Shape 58"/>
          <p:cNvSpPr/>
          <p:nvPr/>
        </p:nvSpPr>
        <p:spPr>
          <a:xfrm>
            <a:off x="8782812" y="4773168"/>
            <a:ext cx="118872" cy="118872"/>
          </a:xfrm>
          <a:prstGeom prst="ellipse">
            <a:avLst/>
          </a:prstGeom>
          <a:solidFill>
            <a:srgbClr val="64748B"/>
          </a:solidFill>
          <a:ln/>
        </p:spPr>
        <p:txBody>
          <a:bodyPr/>
          <a:lstStyle/>
          <a:p>
            <a:endParaRPr lang="en-US"/>
          </a:p>
        </p:txBody>
      </p:sp>
      <p:sp>
        <p:nvSpPr>
          <p:cNvPr id="61" name="Text 59"/>
          <p:cNvSpPr/>
          <p:nvPr/>
        </p:nvSpPr>
        <p:spPr>
          <a:xfrm>
            <a:off x="8983980" y="4709160"/>
            <a:ext cx="2720340" cy="292608"/>
          </a:xfrm>
          <a:prstGeom prst="rect">
            <a:avLst/>
          </a:prstGeom>
          <a:noFill/>
          <a:ln/>
        </p:spPr>
        <p:txBody>
          <a:bodyPr wrap="square" lIns="0" tIns="0" rIns="0" bIns="0" rtlCol="0" anchor="ctr"/>
          <a:lstStyle/>
          <a:p>
            <a:pPr marL="0" indent="0">
              <a:buNone/>
            </a:pPr>
            <a:r>
              <a:rPr lang="en-US" sz="1000" dirty="0">
                <a:solidFill>
                  <a:srgbClr val="0F172A"/>
                </a:solidFill>
                <a:latin typeface="Calibri" pitchFamily="34" charset="0"/>
                <a:ea typeface="Calibri" pitchFamily="34" charset="-122"/>
                <a:cs typeface="Calibri" pitchFamily="34" charset="-120"/>
              </a:rPr>
              <a:t>Ujjivan SFB, Equitas SFB</a:t>
            </a:r>
            <a:endParaRPr lang="en-US" sz="1000" dirty="0"/>
          </a:p>
        </p:txBody>
      </p:sp>
      <p:sp>
        <p:nvSpPr>
          <p:cNvPr id="62" name="Shape 60"/>
          <p:cNvSpPr/>
          <p:nvPr/>
        </p:nvSpPr>
        <p:spPr>
          <a:xfrm>
            <a:off x="457200" y="6263640"/>
            <a:ext cx="11247120" cy="201168"/>
          </a:xfrm>
          <a:prstGeom prst="rect">
            <a:avLst/>
          </a:prstGeom>
          <a:solidFill>
            <a:srgbClr val="F8FAFC"/>
          </a:solidFill>
          <a:ln w="6350">
            <a:solidFill>
              <a:srgbClr val="E2E8F0"/>
            </a:solidFill>
            <a:prstDash val="solid"/>
          </a:ln>
        </p:spPr>
        <p:txBody>
          <a:bodyPr/>
          <a:lstStyle/>
          <a:p>
            <a:endParaRPr lang="en-US"/>
          </a:p>
        </p:txBody>
      </p:sp>
      <p:sp>
        <p:nvSpPr>
          <p:cNvPr id="63" name="Shape 61"/>
          <p:cNvSpPr/>
          <p:nvPr/>
        </p:nvSpPr>
        <p:spPr>
          <a:xfrm>
            <a:off x="457200" y="6263640"/>
            <a:ext cx="73152" cy="201168"/>
          </a:xfrm>
          <a:prstGeom prst="rect">
            <a:avLst/>
          </a:prstGeom>
          <a:solidFill>
            <a:srgbClr val="16A34A"/>
          </a:solidFill>
          <a:ln/>
        </p:spPr>
        <p:txBody>
          <a:bodyPr/>
          <a:lstStyle/>
          <a:p>
            <a:endParaRPr lang="en-US"/>
          </a:p>
        </p:txBody>
      </p:sp>
      <p:sp>
        <p:nvSpPr>
          <p:cNvPr id="64" name="Text 62"/>
          <p:cNvSpPr/>
          <p:nvPr/>
        </p:nvSpPr>
        <p:spPr>
          <a:xfrm>
            <a:off x="685800" y="6263640"/>
            <a:ext cx="10972800" cy="201168"/>
          </a:xfrm>
          <a:prstGeom prst="rect">
            <a:avLst/>
          </a:prstGeom>
          <a:noFill/>
          <a:ln/>
        </p:spPr>
        <p:txBody>
          <a:bodyPr wrap="square" lIns="0" tIns="0" rIns="0" bIns="0" rtlCol="0" anchor="ctr"/>
          <a:lstStyle/>
          <a:p>
            <a:pPr marL="0" indent="0">
              <a:buNone/>
            </a:pPr>
            <a:r>
              <a:rPr lang="en-US" sz="1000" i="1" dirty="0">
                <a:solidFill>
                  <a:srgbClr val="0F172A"/>
                </a:solidFill>
                <a:latin typeface="Calibri" pitchFamily="34" charset="0"/>
                <a:ea typeface="Calibri" pitchFamily="34" charset="-122"/>
                <a:cs typeface="Calibri" pitchFamily="34" charset="-120"/>
              </a:rPr>
              <a:t>Bundled "Pine Labs payments + WebEngage engagement" becomes the most complete enterprise-commerce stack available in India.</a:t>
            </a:r>
            <a:endParaRPr lang="en-US" sz="1000" dirty="0"/>
          </a:p>
        </p:txBody>
      </p:sp>
      <p:pic>
        <p:nvPicPr>
          <p:cNvPr id="4098" name="Picture 2" descr="WebEngage vs MoEngage - Which is better for you in 2025? | Heltar">
            <a:extLst>
              <a:ext uri="{FF2B5EF4-FFF2-40B4-BE49-F238E27FC236}">
                <a16:creationId xmlns:a16="http://schemas.microsoft.com/office/drawing/2014/main" id="{33123EC8-024A-38CF-4D65-5814956C2AB8}"/>
              </a:ext>
            </a:extLst>
          </p:cNvPr>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685800" y="2199068"/>
            <a:ext cx="993648" cy="248412"/>
          </a:xfrm>
          <a:prstGeom prst="rect">
            <a:avLst/>
          </a:prstGeom>
          <a:noFill/>
          <a:extLst>
            <a:ext uri="{909E8E84-426E-40DD-AFC4-6F175D3DCCD1}">
              <a14:hiddenFill xmlns:a14="http://schemas.microsoft.com/office/drawing/2010/main">
                <a:solidFill>
                  <a:srgbClr val="FFFFFF"/>
                </a:solidFill>
              </a14:hiddenFill>
            </a:ext>
          </a:extLst>
        </p:spPr>
      </p:pic>
      <p:pic>
        <p:nvPicPr>
          <p:cNvPr id="65" name="Picture 2" descr="Pine Labs Launches Paper POS, a Merged QR Product to Accept Payments via  UPI and Bharat QR Apps">
            <a:extLst>
              <a:ext uri="{FF2B5EF4-FFF2-40B4-BE49-F238E27FC236}">
                <a16:creationId xmlns:a16="http://schemas.microsoft.com/office/drawing/2014/main" id="{3EA7D1B5-CACB-3DCC-E3C8-EF29BCF01FA3}"/>
              </a:ext>
            </a:extLst>
          </p:cNvPr>
          <p:cNvPicPr>
            <a:picLocks noChangeAspect="1" noChangeArrowheads="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1177016" y="-102584"/>
            <a:ext cx="1115568" cy="58451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16A34A"/>
          </a:solidFill>
          <a:ln/>
        </p:spPr>
        <p:txBody>
          <a:bodyPr/>
          <a:lstStyle/>
          <a:p>
            <a:endParaRPr lang="en-US"/>
          </a:p>
        </p:txBody>
      </p:sp>
      <p:sp>
        <p:nvSpPr>
          <p:cNvPr id="3" name="Text 1"/>
          <p:cNvSpPr/>
          <p:nvPr/>
        </p:nvSpPr>
        <p:spPr>
          <a:xfrm>
            <a:off x="457200" y="201168"/>
            <a:ext cx="10058400" cy="256032"/>
          </a:xfrm>
          <a:prstGeom prst="rect">
            <a:avLst/>
          </a:prstGeom>
          <a:noFill/>
          <a:ln/>
        </p:spPr>
        <p:txBody>
          <a:bodyPr wrap="square" lIns="0" tIns="0" rIns="0" bIns="0" rtlCol="0" anchor="ctr"/>
          <a:lstStyle/>
          <a:p>
            <a:pPr marL="0" indent="0">
              <a:buNone/>
            </a:pPr>
            <a:r>
              <a:rPr lang="en-US" sz="900" b="1" kern="0" spc="100" dirty="0">
                <a:solidFill>
                  <a:srgbClr val="16A34A"/>
                </a:solidFill>
                <a:latin typeface="Calibri" pitchFamily="34" charset="0"/>
                <a:ea typeface="Calibri" pitchFamily="34" charset="-122"/>
                <a:cs typeface="Calibri" pitchFamily="34" charset="-120"/>
              </a:rPr>
              <a:t>WEBENGAGE — REVENUE MODEL &amp; RISK</a:t>
            </a:r>
            <a:endParaRPr lang="en-US" sz="900" spc="100" dirty="0"/>
          </a:p>
        </p:txBody>
      </p:sp>
      <p:sp>
        <p:nvSpPr>
          <p:cNvPr id="4" name="Text 2"/>
          <p:cNvSpPr/>
          <p:nvPr/>
        </p:nvSpPr>
        <p:spPr>
          <a:xfrm>
            <a:off x="457200" y="457200"/>
            <a:ext cx="11247120" cy="731520"/>
          </a:xfrm>
          <a:prstGeom prst="rect">
            <a:avLst/>
          </a:prstGeom>
          <a:noFill/>
          <a:ln/>
        </p:spPr>
        <p:txBody>
          <a:bodyPr wrap="square" lIns="0" tIns="0" rIns="0" bIns="0" rtlCol="0" anchor="ctr"/>
          <a:lstStyle/>
          <a:p>
            <a:pPr marL="0" indent="0">
              <a:buNone/>
            </a:pPr>
            <a:r>
              <a:rPr lang="en-US" sz="2200" b="1" dirty="0">
                <a:solidFill>
                  <a:srgbClr val="0F172A"/>
                </a:solidFill>
                <a:latin typeface="Calibri" pitchFamily="34" charset="0"/>
                <a:ea typeface="Calibri" pitchFamily="34" charset="-122"/>
                <a:cs typeface="Calibri" pitchFamily="34" charset="-120"/>
              </a:rPr>
              <a:t>₹247 Cr incremental revenue / ₹95 Cr EBITDA by FY29 at 60-65% gross margins</a:t>
            </a:r>
            <a:endParaRPr lang="en-US" sz="2200" dirty="0"/>
          </a:p>
        </p:txBody>
      </p:sp>
      <p:sp>
        <p:nvSpPr>
          <p:cNvPr id="5" name="Shape 3"/>
          <p:cNvSpPr/>
          <p:nvPr/>
        </p:nvSpPr>
        <p:spPr>
          <a:xfrm>
            <a:off x="457200" y="1188720"/>
            <a:ext cx="11247120" cy="13716"/>
          </a:xfrm>
          <a:prstGeom prst="rect">
            <a:avLst/>
          </a:prstGeom>
          <a:solidFill>
            <a:srgbClr val="E2E8F0"/>
          </a:solidFill>
          <a:ln/>
        </p:spPr>
        <p:txBody>
          <a:bodyPr/>
          <a:lstStyle/>
          <a:p>
            <a:endParaRPr lang="en-US"/>
          </a:p>
        </p:txBody>
      </p:sp>
      <p:sp>
        <p:nvSpPr>
          <p:cNvPr id="6" name="Text 4"/>
          <p:cNvSpPr/>
          <p:nvPr/>
        </p:nvSpPr>
        <p:spPr>
          <a:xfrm>
            <a:off x="457200" y="6492240"/>
            <a:ext cx="6400800" cy="256032"/>
          </a:xfrm>
          <a:prstGeom prst="rect">
            <a:avLst/>
          </a:prstGeom>
          <a:noFill/>
          <a:ln/>
        </p:spPr>
        <p:txBody>
          <a:bodyPr wrap="square" lIns="0" tIns="0" rIns="0" bIns="0" rtlCol="0" anchor="ctr"/>
          <a:lstStyle/>
          <a:p>
            <a:pPr marL="0" indent="0">
              <a:buNone/>
            </a:pPr>
            <a:r>
              <a:rPr lang="en-US" sz="900" i="1" dirty="0">
                <a:solidFill>
                  <a:srgbClr val="64748B"/>
                </a:solidFill>
                <a:latin typeface="Calibri" pitchFamily="34" charset="0"/>
                <a:ea typeface="Calibri" pitchFamily="34" charset="-122"/>
                <a:cs typeface="Calibri" pitchFamily="34" charset="-120"/>
              </a:rPr>
              <a:t>Pine Labs — Corporate Development</a:t>
            </a:r>
            <a:endParaRPr lang="en-US" sz="900" dirty="0"/>
          </a:p>
        </p:txBody>
      </p:sp>
      <p:sp>
        <p:nvSpPr>
          <p:cNvPr id="7" name="Text 5"/>
          <p:cNvSpPr/>
          <p:nvPr/>
        </p:nvSpPr>
        <p:spPr>
          <a:xfrm>
            <a:off x="6858000" y="6492240"/>
            <a:ext cx="2743200" cy="256032"/>
          </a:xfrm>
          <a:prstGeom prst="rect">
            <a:avLst/>
          </a:prstGeom>
          <a:noFill/>
          <a:ln/>
        </p:spPr>
        <p:txBody>
          <a:bodyPr wrap="square" lIns="0" tIns="0" rIns="0" bIns="0" rtlCol="0" anchor="ctr"/>
          <a:lstStyle/>
          <a:p>
            <a:pPr marL="0" indent="0" algn="ctr">
              <a:buNone/>
            </a:pPr>
            <a:r>
              <a:rPr lang="en-US" sz="900" i="1" dirty="0">
                <a:solidFill>
                  <a:srgbClr val="64748B"/>
                </a:solidFill>
                <a:latin typeface="Calibri" pitchFamily="34" charset="0"/>
                <a:ea typeface="Calibri" pitchFamily="34" charset="-122"/>
                <a:cs typeface="Calibri" pitchFamily="34" charset="-120"/>
              </a:rPr>
              <a:t>Strictly Confidential</a:t>
            </a:r>
            <a:endParaRPr lang="en-US" sz="900" dirty="0"/>
          </a:p>
        </p:txBody>
      </p:sp>
      <p:sp>
        <p:nvSpPr>
          <p:cNvPr id="8" name="Text 6"/>
          <p:cNvSpPr/>
          <p:nvPr/>
        </p:nvSpPr>
        <p:spPr>
          <a:xfrm>
            <a:off x="10515600" y="6492240"/>
            <a:ext cx="1188720" cy="256032"/>
          </a:xfrm>
          <a:prstGeom prst="rect">
            <a:avLst/>
          </a:prstGeom>
          <a:noFill/>
          <a:ln/>
        </p:spPr>
        <p:txBody>
          <a:bodyPr wrap="square" lIns="0" tIns="0" rIns="0" bIns="0" rtlCol="0" anchor="ctr"/>
          <a:lstStyle/>
          <a:p>
            <a:pPr marL="0" indent="0" algn="r">
              <a:buNone/>
            </a:pPr>
            <a:r>
              <a:rPr lang="en-US" sz="900" b="1" dirty="0">
                <a:solidFill>
                  <a:srgbClr val="64748B"/>
                </a:solidFill>
                <a:latin typeface="Calibri" pitchFamily="34" charset="0"/>
                <a:ea typeface="Calibri" pitchFamily="34" charset="-122"/>
                <a:cs typeface="Calibri" pitchFamily="34" charset="-120"/>
              </a:rPr>
              <a:t>13</a:t>
            </a:r>
            <a:endParaRPr lang="en-US" sz="900" dirty="0"/>
          </a:p>
        </p:txBody>
      </p:sp>
      <p:sp>
        <p:nvSpPr>
          <p:cNvPr id="9" name="Text 7"/>
          <p:cNvSpPr/>
          <p:nvPr/>
        </p:nvSpPr>
        <p:spPr>
          <a:xfrm>
            <a:off x="502920" y="1417320"/>
            <a:ext cx="6126480" cy="274320"/>
          </a:xfrm>
          <a:prstGeom prst="rect">
            <a:avLst/>
          </a:prstGeom>
          <a:noFill/>
          <a:ln/>
        </p:spPr>
        <p:txBody>
          <a:bodyPr wrap="square" lIns="0" tIns="0" rIns="0" bIns="0" rtlCol="0" anchor="ctr"/>
          <a:lstStyle/>
          <a:p>
            <a:pPr marL="0" indent="0">
              <a:buNone/>
            </a:pPr>
            <a:r>
              <a:rPr lang="en-US" sz="1000" b="1" kern="0" spc="100" dirty="0">
                <a:solidFill>
                  <a:srgbClr val="0F172A"/>
                </a:solidFill>
                <a:latin typeface="Calibri" pitchFamily="34" charset="0"/>
                <a:ea typeface="Calibri" pitchFamily="34" charset="-122"/>
                <a:cs typeface="Calibri" pitchFamily="34" charset="-120"/>
              </a:rPr>
              <a:t>Revenue build by channel (₹ Cr)</a:t>
            </a:r>
            <a:endParaRPr lang="en-US" sz="1000" spc="100" dirty="0"/>
          </a:p>
        </p:txBody>
      </p:sp>
      <p:sp>
        <p:nvSpPr>
          <p:cNvPr id="10" name="Shape 8"/>
          <p:cNvSpPr/>
          <p:nvPr/>
        </p:nvSpPr>
        <p:spPr>
          <a:xfrm>
            <a:off x="502920" y="1691640"/>
            <a:ext cx="6126480" cy="13716"/>
          </a:xfrm>
          <a:prstGeom prst="rect">
            <a:avLst/>
          </a:prstGeom>
          <a:solidFill>
            <a:srgbClr val="E2E8F0"/>
          </a:solidFill>
          <a:ln/>
        </p:spPr>
        <p:txBody>
          <a:bodyPr/>
          <a:lstStyle/>
          <a:p>
            <a:endParaRPr lang="en-US"/>
          </a:p>
        </p:txBody>
      </p:sp>
      <p:graphicFrame>
        <p:nvGraphicFramePr>
          <p:cNvPr id="11" name="Chart 0"/>
          <p:cNvGraphicFramePr/>
          <p:nvPr>
            <p:extLst>
              <p:ext uri="{D42A27DB-BD31-4B8C-83A1-F6EECF244321}">
                <p14:modId xmlns:p14="http://schemas.microsoft.com/office/powerpoint/2010/main" val="1998839262"/>
              </p:ext>
            </p:extLst>
          </p:nvPr>
        </p:nvGraphicFramePr>
        <p:xfrm>
          <a:off x="502920" y="1783080"/>
          <a:ext cx="6126480" cy="3520440"/>
        </p:xfrm>
        <a:graphic>
          <a:graphicData uri="http://schemas.openxmlformats.org/drawingml/2006/chart">
            <c:chart xmlns:c="http://schemas.openxmlformats.org/drawingml/2006/chart" xmlns:r="http://schemas.openxmlformats.org/officeDocument/2006/relationships" r:id="rId3"/>
          </a:graphicData>
        </a:graphic>
      </p:graphicFrame>
      <p:sp>
        <p:nvSpPr>
          <p:cNvPr id="12" name="Shape 9"/>
          <p:cNvSpPr/>
          <p:nvPr/>
        </p:nvSpPr>
        <p:spPr>
          <a:xfrm>
            <a:off x="502920" y="5440680"/>
            <a:ext cx="1981200" cy="777240"/>
          </a:xfrm>
          <a:prstGeom prst="rect">
            <a:avLst/>
          </a:prstGeom>
          <a:solidFill>
            <a:srgbClr val="FFFFFF"/>
          </a:solidFill>
          <a:ln w="6350">
            <a:solidFill>
              <a:srgbClr val="E2E8F0"/>
            </a:solidFill>
            <a:prstDash val="solid"/>
          </a:ln>
        </p:spPr>
        <p:txBody>
          <a:bodyPr/>
          <a:lstStyle/>
          <a:p>
            <a:endParaRPr lang="en-US"/>
          </a:p>
        </p:txBody>
      </p:sp>
      <p:sp>
        <p:nvSpPr>
          <p:cNvPr id="13" name="Shape 10"/>
          <p:cNvSpPr/>
          <p:nvPr/>
        </p:nvSpPr>
        <p:spPr>
          <a:xfrm>
            <a:off x="502920" y="5440680"/>
            <a:ext cx="64008" cy="777240"/>
          </a:xfrm>
          <a:prstGeom prst="rect">
            <a:avLst/>
          </a:prstGeom>
          <a:solidFill>
            <a:srgbClr val="D97706"/>
          </a:solidFill>
          <a:ln/>
        </p:spPr>
        <p:txBody>
          <a:bodyPr/>
          <a:lstStyle/>
          <a:p>
            <a:endParaRPr lang="en-US"/>
          </a:p>
        </p:txBody>
      </p:sp>
      <p:sp>
        <p:nvSpPr>
          <p:cNvPr id="14" name="Text 11"/>
          <p:cNvSpPr/>
          <p:nvPr/>
        </p:nvSpPr>
        <p:spPr>
          <a:xfrm>
            <a:off x="667512" y="5513832"/>
            <a:ext cx="1706880" cy="228600"/>
          </a:xfrm>
          <a:prstGeom prst="rect">
            <a:avLst/>
          </a:prstGeom>
          <a:noFill/>
          <a:ln/>
        </p:spPr>
        <p:txBody>
          <a:bodyPr wrap="square" lIns="0" tIns="0" rIns="0" bIns="0" rtlCol="0" anchor="ctr"/>
          <a:lstStyle/>
          <a:p>
            <a:pPr marL="0" indent="0">
              <a:buNone/>
            </a:pPr>
            <a:r>
              <a:rPr lang="en-US" sz="900" b="1" kern="0" spc="300" dirty="0">
                <a:solidFill>
                  <a:srgbClr val="D97706"/>
                </a:solidFill>
                <a:latin typeface="Calibri" pitchFamily="34" charset="0"/>
                <a:ea typeface="Calibri" pitchFamily="34" charset="-122"/>
                <a:cs typeface="Calibri" pitchFamily="34" charset="-120"/>
              </a:rPr>
              <a:t>BEAR</a:t>
            </a:r>
            <a:endParaRPr lang="en-US" sz="900" dirty="0"/>
          </a:p>
        </p:txBody>
      </p:sp>
      <p:sp>
        <p:nvSpPr>
          <p:cNvPr id="15" name="Text 12"/>
          <p:cNvSpPr/>
          <p:nvPr/>
        </p:nvSpPr>
        <p:spPr>
          <a:xfrm>
            <a:off x="667512" y="5733288"/>
            <a:ext cx="1706880" cy="274320"/>
          </a:xfrm>
          <a:prstGeom prst="rect">
            <a:avLst/>
          </a:prstGeom>
          <a:noFill/>
          <a:ln/>
        </p:spPr>
        <p:txBody>
          <a:bodyPr wrap="square" lIns="0" tIns="0" rIns="0" bIns="0" rtlCol="0" anchor="ctr"/>
          <a:lstStyle/>
          <a:p>
            <a:pPr marL="0" indent="0">
              <a:buNone/>
            </a:pPr>
            <a:r>
              <a:rPr lang="en-US" sz="1400" b="1" dirty="0">
                <a:solidFill>
                  <a:srgbClr val="0F172A"/>
                </a:solidFill>
                <a:latin typeface="Calibri" pitchFamily="34" charset="0"/>
                <a:ea typeface="Calibri" pitchFamily="34" charset="-122"/>
                <a:cs typeface="Calibri" pitchFamily="34" charset="-120"/>
              </a:rPr>
              <a:t>₹150 Cr</a:t>
            </a:r>
            <a:endParaRPr lang="en-US" sz="1400" dirty="0"/>
          </a:p>
        </p:txBody>
      </p:sp>
      <p:sp>
        <p:nvSpPr>
          <p:cNvPr id="16" name="Text 13"/>
          <p:cNvSpPr/>
          <p:nvPr/>
        </p:nvSpPr>
        <p:spPr>
          <a:xfrm>
            <a:off x="667512" y="5971032"/>
            <a:ext cx="1706880" cy="228600"/>
          </a:xfrm>
          <a:prstGeom prst="rect">
            <a:avLst/>
          </a:prstGeom>
          <a:noFill/>
          <a:ln/>
        </p:spPr>
        <p:txBody>
          <a:bodyPr wrap="square" lIns="0" tIns="0" rIns="0" bIns="0" rtlCol="0" anchor="ctr"/>
          <a:lstStyle/>
          <a:p>
            <a:pPr marL="0" indent="0">
              <a:buNone/>
            </a:pPr>
            <a:r>
              <a:rPr lang="en-US" sz="850" i="1" dirty="0">
                <a:solidFill>
                  <a:srgbClr val="64748B"/>
                </a:solidFill>
                <a:latin typeface="Calibri" pitchFamily="34" charset="0"/>
                <a:ea typeface="Calibri" pitchFamily="34" charset="-122"/>
                <a:cs typeface="Calibri" pitchFamily="34" charset="-120"/>
              </a:rPr>
              <a:t>₹45 Cr EBITDA  ·  bank logo gap persists</a:t>
            </a:r>
            <a:endParaRPr lang="en-US" sz="850" dirty="0"/>
          </a:p>
        </p:txBody>
      </p:sp>
      <p:sp>
        <p:nvSpPr>
          <p:cNvPr id="17" name="Shape 14"/>
          <p:cNvSpPr/>
          <p:nvPr/>
        </p:nvSpPr>
        <p:spPr>
          <a:xfrm>
            <a:off x="2575560" y="5440680"/>
            <a:ext cx="1981200" cy="777240"/>
          </a:xfrm>
          <a:prstGeom prst="rect">
            <a:avLst/>
          </a:prstGeom>
          <a:solidFill>
            <a:srgbClr val="FFFFFF"/>
          </a:solidFill>
          <a:ln w="6350">
            <a:solidFill>
              <a:srgbClr val="E2E8F0"/>
            </a:solidFill>
            <a:prstDash val="solid"/>
          </a:ln>
        </p:spPr>
        <p:txBody>
          <a:bodyPr/>
          <a:lstStyle/>
          <a:p>
            <a:endParaRPr lang="en-US"/>
          </a:p>
        </p:txBody>
      </p:sp>
      <p:sp>
        <p:nvSpPr>
          <p:cNvPr id="18" name="Shape 15"/>
          <p:cNvSpPr/>
          <p:nvPr/>
        </p:nvSpPr>
        <p:spPr>
          <a:xfrm>
            <a:off x="2575560" y="5440680"/>
            <a:ext cx="64008" cy="777240"/>
          </a:xfrm>
          <a:prstGeom prst="rect">
            <a:avLst/>
          </a:prstGeom>
          <a:solidFill>
            <a:srgbClr val="16A34A"/>
          </a:solidFill>
          <a:ln/>
        </p:spPr>
        <p:txBody>
          <a:bodyPr/>
          <a:lstStyle/>
          <a:p>
            <a:endParaRPr lang="en-US"/>
          </a:p>
        </p:txBody>
      </p:sp>
      <p:sp>
        <p:nvSpPr>
          <p:cNvPr id="19" name="Text 16"/>
          <p:cNvSpPr/>
          <p:nvPr/>
        </p:nvSpPr>
        <p:spPr>
          <a:xfrm>
            <a:off x="2740152" y="5513832"/>
            <a:ext cx="1706880" cy="228600"/>
          </a:xfrm>
          <a:prstGeom prst="rect">
            <a:avLst/>
          </a:prstGeom>
          <a:noFill/>
          <a:ln/>
        </p:spPr>
        <p:txBody>
          <a:bodyPr wrap="square" lIns="0" tIns="0" rIns="0" bIns="0" rtlCol="0" anchor="ctr"/>
          <a:lstStyle/>
          <a:p>
            <a:pPr marL="0" indent="0">
              <a:buNone/>
            </a:pPr>
            <a:r>
              <a:rPr lang="en-US" sz="900" b="1" kern="0" spc="300" dirty="0">
                <a:solidFill>
                  <a:srgbClr val="16A34A"/>
                </a:solidFill>
                <a:latin typeface="Calibri" pitchFamily="34" charset="0"/>
                <a:ea typeface="Calibri" pitchFamily="34" charset="-122"/>
                <a:cs typeface="Calibri" pitchFamily="34" charset="-120"/>
              </a:rPr>
              <a:t>BASE</a:t>
            </a:r>
            <a:endParaRPr lang="en-US" sz="900" dirty="0"/>
          </a:p>
        </p:txBody>
      </p:sp>
      <p:sp>
        <p:nvSpPr>
          <p:cNvPr id="20" name="Text 17"/>
          <p:cNvSpPr/>
          <p:nvPr/>
        </p:nvSpPr>
        <p:spPr>
          <a:xfrm>
            <a:off x="2740152" y="5733288"/>
            <a:ext cx="1706880" cy="274320"/>
          </a:xfrm>
          <a:prstGeom prst="rect">
            <a:avLst/>
          </a:prstGeom>
          <a:noFill/>
          <a:ln/>
        </p:spPr>
        <p:txBody>
          <a:bodyPr wrap="square" lIns="0" tIns="0" rIns="0" bIns="0" rtlCol="0" anchor="ctr"/>
          <a:lstStyle/>
          <a:p>
            <a:pPr marL="0" indent="0">
              <a:buNone/>
            </a:pPr>
            <a:r>
              <a:rPr lang="en-US" sz="1400" b="1" dirty="0">
                <a:solidFill>
                  <a:srgbClr val="0F172A"/>
                </a:solidFill>
                <a:latin typeface="Calibri" pitchFamily="34" charset="0"/>
                <a:ea typeface="Calibri" pitchFamily="34" charset="-122"/>
                <a:cs typeface="Calibri" pitchFamily="34" charset="-120"/>
              </a:rPr>
              <a:t>₹247 Cr</a:t>
            </a:r>
            <a:endParaRPr lang="en-US" sz="1400" dirty="0"/>
          </a:p>
        </p:txBody>
      </p:sp>
      <p:sp>
        <p:nvSpPr>
          <p:cNvPr id="21" name="Text 18"/>
          <p:cNvSpPr/>
          <p:nvPr/>
        </p:nvSpPr>
        <p:spPr>
          <a:xfrm>
            <a:off x="2740152" y="5971032"/>
            <a:ext cx="1706880" cy="228600"/>
          </a:xfrm>
          <a:prstGeom prst="rect">
            <a:avLst/>
          </a:prstGeom>
          <a:noFill/>
          <a:ln/>
        </p:spPr>
        <p:txBody>
          <a:bodyPr wrap="square" lIns="0" tIns="0" rIns="0" bIns="0" rtlCol="0" anchor="ctr"/>
          <a:lstStyle/>
          <a:p>
            <a:pPr marL="0" indent="0">
              <a:buNone/>
            </a:pPr>
            <a:r>
              <a:rPr lang="en-US" sz="850" i="1" dirty="0">
                <a:solidFill>
                  <a:srgbClr val="64748B"/>
                </a:solidFill>
                <a:latin typeface="Calibri" pitchFamily="34" charset="0"/>
                <a:ea typeface="Calibri" pitchFamily="34" charset="-122"/>
                <a:cs typeface="Calibri" pitchFamily="34" charset="-120"/>
              </a:rPr>
              <a:t>₹95 Cr EBITDA  ·  4-yr payback</a:t>
            </a:r>
            <a:endParaRPr lang="en-US" sz="850" dirty="0"/>
          </a:p>
        </p:txBody>
      </p:sp>
      <p:sp>
        <p:nvSpPr>
          <p:cNvPr id="22" name="Shape 19"/>
          <p:cNvSpPr/>
          <p:nvPr/>
        </p:nvSpPr>
        <p:spPr>
          <a:xfrm>
            <a:off x="4648200" y="5440680"/>
            <a:ext cx="1981200" cy="777240"/>
          </a:xfrm>
          <a:prstGeom prst="rect">
            <a:avLst/>
          </a:prstGeom>
          <a:solidFill>
            <a:srgbClr val="FFFFFF"/>
          </a:solidFill>
          <a:ln w="6350">
            <a:solidFill>
              <a:srgbClr val="E2E8F0"/>
            </a:solidFill>
            <a:prstDash val="solid"/>
          </a:ln>
        </p:spPr>
        <p:txBody>
          <a:bodyPr/>
          <a:lstStyle/>
          <a:p>
            <a:endParaRPr lang="en-US"/>
          </a:p>
        </p:txBody>
      </p:sp>
      <p:sp>
        <p:nvSpPr>
          <p:cNvPr id="23" name="Shape 20"/>
          <p:cNvSpPr/>
          <p:nvPr/>
        </p:nvSpPr>
        <p:spPr>
          <a:xfrm>
            <a:off x="4648200" y="5440680"/>
            <a:ext cx="64008" cy="777240"/>
          </a:xfrm>
          <a:prstGeom prst="rect">
            <a:avLst/>
          </a:prstGeom>
          <a:solidFill>
            <a:srgbClr val="0F3D2E"/>
          </a:solidFill>
          <a:ln/>
        </p:spPr>
        <p:txBody>
          <a:bodyPr/>
          <a:lstStyle/>
          <a:p>
            <a:endParaRPr lang="en-US"/>
          </a:p>
        </p:txBody>
      </p:sp>
      <p:sp>
        <p:nvSpPr>
          <p:cNvPr id="24" name="Text 21"/>
          <p:cNvSpPr/>
          <p:nvPr/>
        </p:nvSpPr>
        <p:spPr>
          <a:xfrm>
            <a:off x="4812792" y="5513832"/>
            <a:ext cx="1706880" cy="228600"/>
          </a:xfrm>
          <a:prstGeom prst="rect">
            <a:avLst/>
          </a:prstGeom>
          <a:noFill/>
          <a:ln/>
        </p:spPr>
        <p:txBody>
          <a:bodyPr wrap="square" lIns="0" tIns="0" rIns="0" bIns="0" rtlCol="0" anchor="ctr"/>
          <a:lstStyle/>
          <a:p>
            <a:pPr marL="0" indent="0">
              <a:buNone/>
            </a:pPr>
            <a:r>
              <a:rPr lang="en-US" sz="900" b="1" kern="0" spc="300" dirty="0">
                <a:solidFill>
                  <a:srgbClr val="0F3D2E"/>
                </a:solidFill>
                <a:latin typeface="Calibri" pitchFamily="34" charset="0"/>
                <a:ea typeface="Calibri" pitchFamily="34" charset="-122"/>
                <a:cs typeface="Calibri" pitchFamily="34" charset="-120"/>
              </a:rPr>
              <a:t>STRETCH</a:t>
            </a:r>
            <a:endParaRPr lang="en-US" sz="900" dirty="0"/>
          </a:p>
        </p:txBody>
      </p:sp>
      <p:sp>
        <p:nvSpPr>
          <p:cNvPr id="25" name="Text 22"/>
          <p:cNvSpPr/>
          <p:nvPr/>
        </p:nvSpPr>
        <p:spPr>
          <a:xfrm>
            <a:off x="4812792" y="5733288"/>
            <a:ext cx="1706880" cy="274320"/>
          </a:xfrm>
          <a:prstGeom prst="rect">
            <a:avLst/>
          </a:prstGeom>
          <a:noFill/>
          <a:ln/>
        </p:spPr>
        <p:txBody>
          <a:bodyPr wrap="square" lIns="0" tIns="0" rIns="0" bIns="0" rtlCol="0" anchor="ctr"/>
          <a:lstStyle/>
          <a:p>
            <a:pPr marL="0" indent="0">
              <a:buNone/>
            </a:pPr>
            <a:r>
              <a:rPr lang="en-US" sz="1400" b="1" dirty="0">
                <a:solidFill>
                  <a:srgbClr val="0F172A"/>
                </a:solidFill>
                <a:latin typeface="Calibri" pitchFamily="34" charset="0"/>
                <a:ea typeface="Calibri" pitchFamily="34" charset="-122"/>
                <a:cs typeface="Calibri" pitchFamily="34" charset="-120"/>
              </a:rPr>
              <a:t>₹360 Cr</a:t>
            </a:r>
            <a:endParaRPr lang="en-US" sz="1400" dirty="0"/>
          </a:p>
        </p:txBody>
      </p:sp>
      <p:sp>
        <p:nvSpPr>
          <p:cNvPr id="26" name="Text 23"/>
          <p:cNvSpPr/>
          <p:nvPr/>
        </p:nvSpPr>
        <p:spPr>
          <a:xfrm>
            <a:off x="4812792" y="5971032"/>
            <a:ext cx="1706880" cy="228600"/>
          </a:xfrm>
          <a:prstGeom prst="rect">
            <a:avLst/>
          </a:prstGeom>
          <a:noFill/>
          <a:ln/>
        </p:spPr>
        <p:txBody>
          <a:bodyPr wrap="square" lIns="0" tIns="0" rIns="0" bIns="0" rtlCol="0" anchor="ctr"/>
          <a:lstStyle/>
          <a:p>
            <a:pPr marL="0" indent="0">
              <a:buNone/>
            </a:pPr>
            <a:r>
              <a:rPr lang="en-US" sz="850" i="1" dirty="0">
                <a:solidFill>
                  <a:srgbClr val="64748B"/>
                </a:solidFill>
                <a:latin typeface="Calibri" pitchFamily="34" charset="0"/>
                <a:ea typeface="Calibri" pitchFamily="34" charset="-122"/>
                <a:cs typeface="Calibri" pitchFamily="34" charset="-120"/>
              </a:rPr>
              <a:t>₹140 Cr EBITDA  ·  3-yr payback</a:t>
            </a:r>
            <a:endParaRPr lang="en-US" sz="850" dirty="0"/>
          </a:p>
        </p:txBody>
      </p:sp>
      <p:sp>
        <p:nvSpPr>
          <p:cNvPr id="27" name="Text 24"/>
          <p:cNvSpPr/>
          <p:nvPr/>
        </p:nvSpPr>
        <p:spPr>
          <a:xfrm>
            <a:off x="6903720" y="1417320"/>
            <a:ext cx="4846320" cy="274320"/>
          </a:xfrm>
          <a:prstGeom prst="rect">
            <a:avLst/>
          </a:prstGeom>
          <a:noFill/>
          <a:ln/>
        </p:spPr>
        <p:txBody>
          <a:bodyPr wrap="square" lIns="0" tIns="0" rIns="0" bIns="0" rtlCol="0" anchor="ctr"/>
          <a:lstStyle/>
          <a:p>
            <a:pPr marL="0" indent="0">
              <a:buNone/>
            </a:pPr>
            <a:r>
              <a:rPr lang="en-US" sz="1000" b="1" kern="0" spc="100" dirty="0">
                <a:solidFill>
                  <a:srgbClr val="DC2626"/>
                </a:solidFill>
                <a:latin typeface="Calibri" pitchFamily="34" charset="0"/>
                <a:ea typeface="Calibri" pitchFamily="34" charset="-122"/>
                <a:cs typeface="Calibri" pitchFamily="34" charset="-120"/>
              </a:rPr>
              <a:t>Risk register &amp; mitigants</a:t>
            </a:r>
            <a:endParaRPr lang="en-US" sz="1000" spc="100" dirty="0"/>
          </a:p>
        </p:txBody>
      </p:sp>
      <p:sp>
        <p:nvSpPr>
          <p:cNvPr id="28" name="Shape 25"/>
          <p:cNvSpPr/>
          <p:nvPr/>
        </p:nvSpPr>
        <p:spPr>
          <a:xfrm>
            <a:off x="6903720" y="1691640"/>
            <a:ext cx="4846320" cy="13716"/>
          </a:xfrm>
          <a:prstGeom prst="rect">
            <a:avLst/>
          </a:prstGeom>
          <a:solidFill>
            <a:srgbClr val="E2E8F0"/>
          </a:solidFill>
          <a:ln/>
        </p:spPr>
        <p:txBody>
          <a:bodyPr/>
          <a:lstStyle/>
          <a:p>
            <a:endParaRPr lang="en-US"/>
          </a:p>
        </p:txBody>
      </p:sp>
      <p:sp>
        <p:nvSpPr>
          <p:cNvPr id="29" name="Shape 26"/>
          <p:cNvSpPr/>
          <p:nvPr/>
        </p:nvSpPr>
        <p:spPr>
          <a:xfrm>
            <a:off x="6903720" y="1828800"/>
            <a:ext cx="4846320" cy="1033272"/>
          </a:xfrm>
          <a:prstGeom prst="rect">
            <a:avLst/>
          </a:prstGeom>
          <a:solidFill>
            <a:srgbClr val="FFFFFF"/>
          </a:solidFill>
          <a:ln w="6350">
            <a:solidFill>
              <a:srgbClr val="E2E8F0"/>
            </a:solidFill>
            <a:prstDash val="solid"/>
          </a:ln>
        </p:spPr>
        <p:txBody>
          <a:bodyPr/>
          <a:lstStyle/>
          <a:p>
            <a:endParaRPr lang="en-US"/>
          </a:p>
        </p:txBody>
      </p:sp>
      <p:sp>
        <p:nvSpPr>
          <p:cNvPr id="30" name="Shape 27"/>
          <p:cNvSpPr/>
          <p:nvPr/>
        </p:nvSpPr>
        <p:spPr>
          <a:xfrm>
            <a:off x="6903720" y="1828800"/>
            <a:ext cx="73152" cy="1033272"/>
          </a:xfrm>
          <a:prstGeom prst="rect">
            <a:avLst/>
          </a:prstGeom>
          <a:solidFill>
            <a:srgbClr val="DC2626"/>
          </a:solidFill>
          <a:ln/>
        </p:spPr>
        <p:txBody>
          <a:bodyPr/>
          <a:lstStyle/>
          <a:p>
            <a:endParaRPr lang="en-US"/>
          </a:p>
        </p:txBody>
      </p:sp>
      <p:sp>
        <p:nvSpPr>
          <p:cNvPr id="31" name="Shape 28"/>
          <p:cNvSpPr/>
          <p:nvPr/>
        </p:nvSpPr>
        <p:spPr>
          <a:xfrm>
            <a:off x="7086600" y="1947672"/>
            <a:ext cx="566928" cy="219456"/>
          </a:xfrm>
          <a:prstGeom prst="rect">
            <a:avLst/>
          </a:prstGeom>
          <a:solidFill>
            <a:srgbClr val="DC2626"/>
          </a:solidFill>
          <a:ln/>
        </p:spPr>
        <p:txBody>
          <a:bodyPr/>
          <a:lstStyle/>
          <a:p>
            <a:endParaRPr lang="en-US"/>
          </a:p>
        </p:txBody>
      </p:sp>
      <p:sp>
        <p:nvSpPr>
          <p:cNvPr id="32" name="Text 29"/>
          <p:cNvSpPr/>
          <p:nvPr/>
        </p:nvSpPr>
        <p:spPr>
          <a:xfrm>
            <a:off x="7086600" y="1947672"/>
            <a:ext cx="566928" cy="219456"/>
          </a:xfrm>
          <a:prstGeom prst="rect">
            <a:avLst/>
          </a:prstGeom>
          <a:noFill/>
          <a:ln/>
        </p:spPr>
        <p:txBody>
          <a:bodyPr wrap="square" lIns="0" tIns="0" rIns="0" bIns="0" rtlCol="0" anchor="ctr"/>
          <a:lstStyle/>
          <a:p>
            <a:pPr marL="0" indent="0" algn="ctr">
              <a:buNone/>
            </a:pPr>
            <a:r>
              <a:rPr lang="en-US" sz="800" b="1" kern="0" spc="100" dirty="0">
                <a:solidFill>
                  <a:srgbClr val="FFFFFF"/>
                </a:solidFill>
                <a:latin typeface="Calibri" pitchFamily="34" charset="0"/>
                <a:ea typeface="Calibri" pitchFamily="34" charset="-122"/>
                <a:cs typeface="Calibri" pitchFamily="34" charset="-120"/>
              </a:rPr>
              <a:t>HIGH</a:t>
            </a:r>
            <a:endParaRPr lang="en-US" sz="800" spc="100" dirty="0"/>
          </a:p>
        </p:txBody>
      </p:sp>
      <p:sp>
        <p:nvSpPr>
          <p:cNvPr id="33" name="Text 30"/>
          <p:cNvSpPr/>
          <p:nvPr/>
        </p:nvSpPr>
        <p:spPr>
          <a:xfrm>
            <a:off x="7726680" y="1920240"/>
            <a:ext cx="3840480" cy="292608"/>
          </a:xfrm>
          <a:prstGeom prst="rect">
            <a:avLst/>
          </a:prstGeom>
          <a:noFill/>
          <a:ln/>
        </p:spPr>
        <p:txBody>
          <a:bodyPr wrap="square" lIns="0" tIns="0" rIns="0" bIns="0" rtlCol="0" anchor="ctr"/>
          <a:lstStyle/>
          <a:p>
            <a:pPr marL="0" indent="0">
              <a:buNone/>
            </a:pPr>
            <a:r>
              <a:rPr lang="en-US" sz="1050" b="1" dirty="0">
                <a:solidFill>
                  <a:srgbClr val="0F172A"/>
                </a:solidFill>
                <a:latin typeface="Calibri" pitchFamily="34" charset="0"/>
                <a:ea typeface="Calibri" pitchFamily="34" charset="-122"/>
                <a:cs typeface="Calibri" pitchFamily="34" charset="-120"/>
              </a:rPr>
              <a:t>Tier-1 bank logo gap (vs. MoEngage / CleverTap)</a:t>
            </a:r>
            <a:endParaRPr lang="en-US" sz="1050" dirty="0"/>
          </a:p>
        </p:txBody>
      </p:sp>
      <p:sp>
        <p:nvSpPr>
          <p:cNvPr id="34" name="Text 31"/>
          <p:cNvSpPr/>
          <p:nvPr/>
        </p:nvSpPr>
        <p:spPr>
          <a:xfrm>
            <a:off x="7086600" y="2221992"/>
            <a:ext cx="4480560" cy="320040"/>
          </a:xfrm>
          <a:prstGeom prst="rect">
            <a:avLst/>
          </a:prstGeom>
          <a:noFill/>
          <a:ln/>
        </p:spPr>
        <p:txBody>
          <a:bodyPr wrap="square" lIns="0" tIns="0" rIns="0" bIns="0" rtlCol="0" anchor="t"/>
          <a:lstStyle/>
          <a:p>
            <a:pPr marL="0" indent="0">
              <a:buNone/>
            </a:pPr>
            <a:r>
              <a:rPr lang="en-US" sz="900" dirty="0">
                <a:solidFill>
                  <a:srgbClr val="334155"/>
                </a:solidFill>
                <a:latin typeface="Calibri" pitchFamily="34" charset="0"/>
                <a:ea typeface="Calibri" pitchFamily="34" charset="-122"/>
                <a:cs typeface="Calibri" pitchFamily="34" charset="-120"/>
              </a:rPr>
              <a:t>Largest Indian banks lean on MoEngage / CleverTap rather than WebEngage today.</a:t>
            </a:r>
            <a:endParaRPr lang="en-US" sz="900" dirty="0"/>
          </a:p>
        </p:txBody>
      </p:sp>
      <p:sp>
        <p:nvSpPr>
          <p:cNvPr id="35" name="Text 32"/>
          <p:cNvSpPr/>
          <p:nvPr/>
        </p:nvSpPr>
        <p:spPr>
          <a:xfrm>
            <a:off x="7086600" y="2542032"/>
            <a:ext cx="4480560" cy="292608"/>
          </a:xfrm>
          <a:prstGeom prst="rect">
            <a:avLst/>
          </a:prstGeom>
          <a:noFill/>
          <a:ln/>
        </p:spPr>
        <p:txBody>
          <a:bodyPr wrap="square" lIns="0" tIns="0" rIns="0" bIns="0" rtlCol="0" anchor="t"/>
          <a:lstStyle/>
          <a:p>
            <a:pPr marL="0" indent="0">
              <a:buNone/>
            </a:pPr>
            <a:r>
              <a:rPr lang="en-US" sz="900" i="1" dirty="0">
                <a:solidFill>
                  <a:srgbClr val="16A34A"/>
                </a:solidFill>
                <a:latin typeface="Calibri" pitchFamily="34" charset="0"/>
                <a:ea typeface="Calibri" pitchFamily="34" charset="-122"/>
                <a:cs typeface="Calibri" pitchFamily="34" charset="-120"/>
              </a:rPr>
              <a:t>Mitigant: Setu's existing bank relationships are the lever; bundle into Setu master contracts.</a:t>
            </a:r>
            <a:endParaRPr lang="en-US" sz="900" dirty="0"/>
          </a:p>
        </p:txBody>
      </p:sp>
      <p:sp>
        <p:nvSpPr>
          <p:cNvPr id="36" name="Shape 33"/>
          <p:cNvSpPr/>
          <p:nvPr/>
        </p:nvSpPr>
        <p:spPr>
          <a:xfrm>
            <a:off x="6903720" y="2907792"/>
            <a:ext cx="4846320" cy="1033272"/>
          </a:xfrm>
          <a:prstGeom prst="rect">
            <a:avLst/>
          </a:prstGeom>
          <a:solidFill>
            <a:srgbClr val="FFFFFF"/>
          </a:solidFill>
          <a:ln w="6350">
            <a:solidFill>
              <a:srgbClr val="E2E8F0"/>
            </a:solidFill>
            <a:prstDash val="solid"/>
          </a:ln>
        </p:spPr>
        <p:txBody>
          <a:bodyPr/>
          <a:lstStyle/>
          <a:p>
            <a:endParaRPr lang="en-US"/>
          </a:p>
        </p:txBody>
      </p:sp>
      <p:sp>
        <p:nvSpPr>
          <p:cNvPr id="37" name="Shape 34"/>
          <p:cNvSpPr/>
          <p:nvPr/>
        </p:nvSpPr>
        <p:spPr>
          <a:xfrm>
            <a:off x="6903720" y="2907792"/>
            <a:ext cx="73152" cy="1033272"/>
          </a:xfrm>
          <a:prstGeom prst="rect">
            <a:avLst/>
          </a:prstGeom>
          <a:solidFill>
            <a:srgbClr val="DC2626"/>
          </a:solidFill>
          <a:ln/>
        </p:spPr>
        <p:txBody>
          <a:bodyPr/>
          <a:lstStyle/>
          <a:p>
            <a:endParaRPr lang="en-US"/>
          </a:p>
        </p:txBody>
      </p:sp>
      <p:sp>
        <p:nvSpPr>
          <p:cNvPr id="38" name="Shape 35"/>
          <p:cNvSpPr/>
          <p:nvPr/>
        </p:nvSpPr>
        <p:spPr>
          <a:xfrm>
            <a:off x="7086600" y="3026664"/>
            <a:ext cx="566928" cy="219456"/>
          </a:xfrm>
          <a:prstGeom prst="rect">
            <a:avLst/>
          </a:prstGeom>
          <a:solidFill>
            <a:srgbClr val="DC2626"/>
          </a:solidFill>
          <a:ln/>
        </p:spPr>
        <p:txBody>
          <a:bodyPr/>
          <a:lstStyle/>
          <a:p>
            <a:endParaRPr lang="en-US"/>
          </a:p>
        </p:txBody>
      </p:sp>
      <p:sp>
        <p:nvSpPr>
          <p:cNvPr id="39" name="Text 36"/>
          <p:cNvSpPr/>
          <p:nvPr/>
        </p:nvSpPr>
        <p:spPr>
          <a:xfrm>
            <a:off x="7086600" y="3026664"/>
            <a:ext cx="566928" cy="219456"/>
          </a:xfrm>
          <a:prstGeom prst="rect">
            <a:avLst/>
          </a:prstGeom>
          <a:noFill/>
          <a:ln/>
        </p:spPr>
        <p:txBody>
          <a:bodyPr wrap="square" lIns="0" tIns="0" rIns="0" bIns="0" rtlCol="0" anchor="ctr"/>
          <a:lstStyle/>
          <a:p>
            <a:pPr marL="0" indent="0" algn="ctr">
              <a:buNone/>
            </a:pPr>
            <a:r>
              <a:rPr lang="en-US" sz="800" b="1" kern="0" spc="100" dirty="0">
                <a:solidFill>
                  <a:srgbClr val="FFFFFF"/>
                </a:solidFill>
                <a:latin typeface="Calibri" pitchFamily="34" charset="0"/>
                <a:ea typeface="Calibri" pitchFamily="34" charset="-122"/>
                <a:cs typeface="Calibri" pitchFamily="34" charset="-120"/>
              </a:rPr>
              <a:t>HIGH</a:t>
            </a:r>
            <a:endParaRPr lang="en-US" sz="800" spc="100" dirty="0"/>
          </a:p>
        </p:txBody>
      </p:sp>
      <p:sp>
        <p:nvSpPr>
          <p:cNvPr id="40" name="Text 37"/>
          <p:cNvSpPr/>
          <p:nvPr/>
        </p:nvSpPr>
        <p:spPr>
          <a:xfrm>
            <a:off x="7726680" y="2999232"/>
            <a:ext cx="3840480" cy="292608"/>
          </a:xfrm>
          <a:prstGeom prst="rect">
            <a:avLst/>
          </a:prstGeom>
          <a:noFill/>
          <a:ln/>
        </p:spPr>
        <p:txBody>
          <a:bodyPr wrap="square" lIns="0" tIns="0" rIns="0" bIns="0" rtlCol="0" anchor="ctr"/>
          <a:lstStyle/>
          <a:p>
            <a:pPr marL="0" indent="0">
              <a:buNone/>
            </a:pPr>
            <a:r>
              <a:rPr lang="en-US" sz="1050" b="1" dirty="0">
                <a:solidFill>
                  <a:srgbClr val="0F172A"/>
                </a:solidFill>
                <a:latin typeface="Calibri" pitchFamily="34" charset="0"/>
                <a:ea typeface="Calibri" pitchFamily="34" charset="-122"/>
                <a:cs typeface="Calibri" pitchFamily="34" charset="-120"/>
              </a:rPr>
              <a:t>Agentic-AI repositioning of MarTech category</a:t>
            </a:r>
            <a:endParaRPr lang="en-US" sz="1050" dirty="0"/>
          </a:p>
        </p:txBody>
      </p:sp>
      <p:sp>
        <p:nvSpPr>
          <p:cNvPr id="41" name="Text 38"/>
          <p:cNvSpPr/>
          <p:nvPr/>
        </p:nvSpPr>
        <p:spPr>
          <a:xfrm>
            <a:off x="7086600" y="3300984"/>
            <a:ext cx="4480560" cy="320040"/>
          </a:xfrm>
          <a:prstGeom prst="rect">
            <a:avLst/>
          </a:prstGeom>
          <a:noFill/>
          <a:ln/>
        </p:spPr>
        <p:txBody>
          <a:bodyPr wrap="square" lIns="0" tIns="0" rIns="0" bIns="0" rtlCol="0" anchor="t"/>
          <a:lstStyle/>
          <a:p>
            <a:pPr marL="0" indent="0">
              <a:buNone/>
            </a:pPr>
            <a:r>
              <a:rPr lang="en-US" sz="900" dirty="0">
                <a:solidFill>
                  <a:srgbClr val="334155"/>
                </a:solidFill>
                <a:latin typeface="Calibri" pitchFamily="34" charset="0"/>
                <a:ea typeface="Calibri" pitchFamily="34" charset="-122"/>
                <a:cs typeface="Calibri" pitchFamily="34" charset="-120"/>
              </a:rPr>
              <a:t>GenAI is restructuring marketing automation; risk WebEngage's CDP becomes commodity in 24 months.</a:t>
            </a:r>
            <a:endParaRPr lang="en-US" sz="900" dirty="0"/>
          </a:p>
        </p:txBody>
      </p:sp>
      <p:sp>
        <p:nvSpPr>
          <p:cNvPr id="42" name="Text 39"/>
          <p:cNvSpPr/>
          <p:nvPr/>
        </p:nvSpPr>
        <p:spPr>
          <a:xfrm>
            <a:off x="7086600" y="3621024"/>
            <a:ext cx="4480560" cy="292608"/>
          </a:xfrm>
          <a:prstGeom prst="rect">
            <a:avLst/>
          </a:prstGeom>
          <a:noFill/>
          <a:ln/>
        </p:spPr>
        <p:txBody>
          <a:bodyPr wrap="square" lIns="0" tIns="0" rIns="0" bIns="0" rtlCol="0" anchor="t"/>
          <a:lstStyle/>
          <a:p>
            <a:pPr marL="0" indent="0">
              <a:buNone/>
            </a:pPr>
            <a:r>
              <a:rPr lang="en-US" sz="900" i="1" dirty="0">
                <a:solidFill>
                  <a:srgbClr val="16A34A"/>
                </a:solidFill>
                <a:latin typeface="Calibri" pitchFamily="34" charset="0"/>
                <a:ea typeface="Calibri" pitchFamily="34" charset="-122"/>
                <a:cs typeface="Calibri" pitchFamily="34" charset="-120"/>
              </a:rPr>
              <a:t>Mitigant: diligence AI roadmap; structure deal w/ earn-out tied to AI-feature roll-out KPIs.</a:t>
            </a:r>
            <a:endParaRPr lang="en-US" sz="900" dirty="0"/>
          </a:p>
        </p:txBody>
      </p:sp>
      <p:sp>
        <p:nvSpPr>
          <p:cNvPr id="43" name="Shape 40"/>
          <p:cNvSpPr/>
          <p:nvPr/>
        </p:nvSpPr>
        <p:spPr>
          <a:xfrm>
            <a:off x="6903720" y="3986784"/>
            <a:ext cx="4846320" cy="1033272"/>
          </a:xfrm>
          <a:prstGeom prst="rect">
            <a:avLst/>
          </a:prstGeom>
          <a:solidFill>
            <a:srgbClr val="FFFFFF"/>
          </a:solidFill>
          <a:ln w="6350">
            <a:solidFill>
              <a:srgbClr val="E2E8F0"/>
            </a:solidFill>
            <a:prstDash val="solid"/>
          </a:ln>
        </p:spPr>
        <p:txBody>
          <a:bodyPr/>
          <a:lstStyle/>
          <a:p>
            <a:endParaRPr lang="en-US"/>
          </a:p>
        </p:txBody>
      </p:sp>
      <p:sp>
        <p:nvSpPr>
          <p:cNvPr id="44" name="Shape 41"/>
          <p:cNvSpPr/>
          <p:nvPr/>
        </p:nvSpPr>
        <p:spPr>
          <a:xfrm>
            <a:off x="6903720" y="3986784"/>
            <a:ext cx="73152" cy="1033272"/>
          </a:xfrm>
          <a:prstGeom prst="rect">
            <a:avLst/>
          </a:prstGeom>
          <a:solidFill>
            <a:srgbClr val="D97706"/>
          </a:solidFill>
          <a:ln/>
        </p:spPr>
        <p:txBody>
          <a:bodyPr/>
          <a:lstStyle/>
          <a:p>
            <a:endParaRPr lang="en-US"/>
          </a:p>
        </p:txBody>
      </p:sp>
      <p:sp>
        <p:nvSpPr>
          <p:cNvPr id="45" name="Shape 42"/>
          <p:cNvSpPr/>
          <p:nvPr/>
        </p:nvSpPr>
        <p:spPr>
          <a:xfrm>
            <a:off x="7086600" y="4105656"/>
            <a:ext cx="566928" cy="219456"/>
          </a:xfrm>
          <a:prstGeom prst="rect">
            <a:avLst/>
          </a:prstGeom>
          <a:solidFill>
            <a:srgbClr val="D97706"/>
          </a:solidFill>
          <a:ln/>
        </p:spPr>
        <p:txBody>
          <a:bodyPr/>
          <a:lstStyle/>
          <a:p>
            <a:endParaRPr lang="en-US"/>
          </a:p>
        </p:txBody>
      </p:sp>
      <p:sp>
        <p:nvSpPr>
          <p:cNvPr id="46" name="Text 43"/>
          <p:cNvSpPr/>
          <p:nvPr/>
        </p:nvSpPr>
        <p:spPr>
          <a:xfrm>
            <a:off x="7086600" y="4105656"/>
            <a:ext cx="566928" cy="219456"/>
          </a:xfrm>
          <a:prstGeom prst="rect">
            <a:avLst/>
          </a:prstGeom>
          <a:noFill/>
          <a:ln/>
        </p:spPr>
        <p:txBody>
          <a:bodyPr wrap="square" lIns="0" tIns="0" rIns="0" bIns="0" rtlCol="0" anchor="ctr"/>
          <a:lstStyle/>
          <a:p>
            <a:pPr marL="0" indent="0" algn="ctr">
              <a:buNone/>
            </a:pPr>
            <a:r>
              <a:rPr lang="en-US" sz="800" b="1" kern="0" spc="100" dirty="0">
                <a:solidFill>
                  <a:srgbClr val="FFFFFF"/>
                </a:solidFill>
                <a:latin typeface="Calibri" pitchFamily="34" charset="0"/>
                <a:ea typeface="Calibri" pitchFamily="34" charset="-122"/>
                <a:cs typeface="Calibri" pitchFamily="34" charset="-120"/>
              </a:rPr>
              <a:t>MEDIUM</a:t>
            </a:r>
            <a:endParaRPr lang="en-US" sz="800" spc="100" dirty="0"/>
          </a:p>
        </p:txBody>
      </p:sp>
      <p:sp>
        <p:nvSpPr>
          <p:cNvPr id="47" name="Text 44"/>
          <p:cNvSpPr/>
          <p:nvPr/>
        </p:nvSpPr>
        <p:spPr>
          <a:xfrm>
            <a:off x="7726680" y="4078224"/>
            <a:ext cx="3840480" cy="292608"/>
          </a:xfrm>
          <a:prstGeom prst="rect">
            <a:avLst/>
          </a:prstGeom>
          <a:noFill/>
          <a:ln/>
        </p:spPr>
        <p:txBody>
          <a:bodyPr wrap="square" lIns="0" tIns="0" rIns="0" bIns="0" rtlCol="0" anchor="ctr"/>
          <a:lstStyle/>
          <a:p>
            <a:pPr marL="0" indent="0">
              <a:buNone/>
            </a:pPr>
            <a:r>
              <a:rPr lang="en-US" sz="1050" b="1" dirty="0">
                <a:solidFill>
                  <a:srgbClr val="0F172A"/>
                </a:solidFill>
                <a:latin typeface="Calibri" pitchFamily="34" charset="0"/>
                <a:ea typeface="Calibri" pitchFamily="34" charset="-122"/>
                <a:cs typeface="Calibri" pitchFamily="34" charset="-120"/>
              </a:rPr>
              <a:t>Different buyer than Setu inside the bank</a:t>
            </a:r>
            <a:endParaRPr lang="en-US" sz="1050" dirty="0"/>
          </a:p>
        </p:txBody>
      </p:sp>
      <p:sp>
        <p:nvSpPr>
          <p:cNvPr id="48" name="Text 45"/>
          <p:cNvSpPr/>
          <p:nvPr/>
        </p:nvSpPr>
        <p:spPr>
          <a:xfrm>
            <a:off x="7086600" y="4379976"/>
            <a:ext cx="4480560" cy="320040"/>
          </a:xfrm>
          <a:prstGeom prst="rect">
            <a:avLst/>
          </a:prstGeom>
          <a:noFill/>
          <a:ln/>
        </p:spPr>
        <p:txBody>
          <a:bodyPr wrap="square" lIns="0" tIns="0" rIns="0" bIns="0" rtlCol="0" anchor="t"/>
          <a:lstStyle/>
          <a:p>
            <a:pPr marL="0" indent="0">
              <a:buNone/>
            </a:pPr>
            <a:r>
              <a:rPr lang="en-US" sz="900" dirty="0">
                <a:solidFill>
                  <a:srgbClr val="334155"/>
                </a:solidFill>
                <a:latin typeface="Calibri" pitchFamily="34" charset="0"/>
                <a:ea typeface="Calibri" pitchFamily="34" charset="-122"/>
                <a:cs typeface="Calibri" pitchFamily="34" charset="-120"/>
              </a:rPr>
              <a:t>Setu sells to digital banking team; WebEngage sells to CMO/CX — different procurement.</a:t>
            </a:r>
            <a:endParaRPr lang="en-US" sz="900" dirty="0"/>
          </a:p>
        </p:txBody>
      </p:sp>
      <p:sp>
        <p:nvSpPr>
          <p:cNvPr id="49" name="Text 46"/>
          <p:cNvSpPr/>
          <p:nvPr/>
        </p:nvSpPr>
        <p:spPr>
          <a:xfrm>
            <a:off x="7086600" y="4700016"/>
            <a:ext cx="4480560" cy="292608"/>
          </a:xfrm>
          <a:prstGeom prst="rect">
            <a:avLst/>
          </a:prstGeom>
          <a:noFill/>
          <a:ln/>
        </p:spPr>
        <p:txBody>
          <a:bodyPr wrap="square" lIns="0" tIns="0" rIns="0" bIns="0" rtlCol="0" anchor="t"/>
          <a:lstStyle/>
          <a:p>
            <a:pPr marL="0" indent="0">
              <a:buNone/>
            </a:pPr>
            <a:r>
              <a:rPr lang="en-US" sz="900" i="1" dirty="0">
                <a:solidFill>
                  <a:srgbClr val="16A34A"/>
                </a:solidFill>
                <a:latin typeface="Calibri" pitchFamily="34" charset="0"/>
                <a:ea typeface="Calibri" pitchFamily="34" charset="-122"/>
                <a:cs typeface="Calibri" pitchFamily="34" charset="-120"/>
              </a:rPr>
              <a:t>Mitigant: joint go-to-market via key-account team for top 10; weaker for the long tail.</a:t>
            </a:r>
            <a:endParaRPr lang="en-US" sz="900" dirty="0"/>
          </a:p>
        </p:txBody>
      </p:sp>
      <p:sp>
        <p:nvSpPr>
          <p:cNvPr id="50" name="Shape 47"/>
          <p:cNvSpPr/>
          <p:nvPr/>
        </p:nvSpPr>
        <p:spPr>
          <a:xfrm>
            <a:off x="6903720" y="5065776"/>
            <a:ext cx="4846320" cy="1033272"/>
          </a:xfrm>
          <a:prstGeom prst="rect">
            <a:avLst/>
          </a:prstGeom>
          <a:solidFill>
            <a:srgbClr val="FFFFFF"/>
          </a:solidFill>
          <a:ln w="6350">
            <a:solidFill>
              <a:srgbClr val="E2E8F0"/>
            </a:solidFill>
            <a:prstDash val="solid"/>
          </a:ln>
        </p:spPr>
        <p:txBody>
          <a:bodyPr/>
          <a:lstStyle/>
          <a:p>
            <a:endParaRPr lang="en-US"/>
          </a:p>
        </p:txBody>
      </p:sp>
      <p:sp>
        <p:nvSpPr>
          <p:cNvPr id="51" name="Shape 48"/>
          <p:cNvSpPr/>
          <p:nvPr/>
        </p:nvSpPr>
        <p:spPr>
          <a:xfrm>
            <a:off x="6903720" y="5065776"/>
            <a:ext cx="73152" cy="1033272"/>
          </a:xfrm>
          <a:prstGeom prst="rect">
            <a:avLst/>
          </a:prstGeom>
          <a:solidFill>
            <a:srgbClr val="D97706"/>
          </a:solidFill>
          <a:ln/>
        </p:spPr>
        <p:txBody>
          <a:bodyPr/>
          <a:lstStyle/>
          <a:p>
            <a:endParaRPr lang="en-US"/>
          </a:p>
        </p:txBody>
      </p:sp>
      <p:sp>
        <p:nvSpPr>
          <p:cNvPr id="52" name="Shape 49"/>
          <p:cNvSpPr/>
          <p:nvPr/>
        </p:nvSpPr>
        <p:spPr>
          <a:xfrm>
            <a:off x="7086600" y="5184648"/>
            <a:ext cx="566928" cy="219456"/>
          </a:xfrm>
          <a:prstGeom prst="rect">
            <a:avLst/>
          </a:prstGeom>
          <a:solidFill>
            <a:srgbClr val="D97706"/>
          </a:solidFill>
          <a:ln/>
        </p:spPr>
        <p:txBody>
          <a:bodyPr/>
          <a:lstStyle/>
          <a:p>
            <a:endParaRPr lang="en-US"/>
          </a:p>
        </p:txBody>
      </p:sp>
      <p:sp>
        <p:nvSpPr>
          <p:cNvPr id="53" name="Text 50"/>
          <p:cNvSpPr/>
          <p:nvPr/>
        </p:nvSpPr>
        <p:spPr>
          <a:xfrm>
            <a:off x="7086600" y="5184648"/>
            <a:ext cx="566928" cy="219456"/>
          </a:xfrm>
          <a:prstGeom prst="rect">
            <a:avLst/>
          </a:prstGeom>
          <a:noFill/>
          <a:ln/>
        </p:spPr>
        <p:txBody>
          <a:bodyPr wrap="square" lIns="0" tIns="0" rIns="0" bIns="0" rtlCol="0" anchor="ctr"/>
          <a:lstStyle/>
          <a:p>
            <a:pPr marL="0" indent="0" algn="ctr">
              <a:buNone/>
            </a:pPr>
            <a:r>
              <a:rPr lang="en-US" sz="800" b="1" kern="0" spc="100" dirty="0">
                <a:solidFill>
                  <a:srgbClr val="FFFFFF"/>
                </a:solidFill>
                <a:latin typeface="Calibri" pitchFamily="34" charset="0"/>
                <a:ea typeface="Calibri" pitchFamily="34" charset="-122"/>
                <a:cs typeface="Calibri" pitchFamily="34" charset="-120"/>
              </a:rPr>
              <a:t>MEDIUM</a:t>
            </a:r>
            <a:endParaRPr lang="en-US" sz="800" spc="100" dirty="0"/>
          </a:p>
        </p:txBody>
      </p:sp>
      <p:sp>
        <p:nvSpPr>
          <p:cNvPr id="54" name="Text 51"/>
          <p:cNvSpPr/>
          <p:nvPr/>
        </p:nvSpPr>
        <p:spPr>
          <a:xfrm>
            <a:off x="7726680" y="5157216"/>
            <a:ext cx="3840480" cy="292608"/>
          </a:xfrm>
          <a:prstGeom prst="rect">
            <a:avLst/>
          </a:prstGeom>
          <a:noFill/>
          <a:ln/>
        </p:spPr>
        <p:txBody>
          <a:bodyPr wrap="square" lIns="0" tIns="0" rIns="0" bIns="0" rtlCol="0" anchor="ctr"/>
          <a:lstStyle/>
          <a:p>
            <a:pPr marL="0" indent="0">
              <a:buNone/>
            </a:pPr>
            <a:r>
              <a:rPr lang="en-US" sz="1050" b="1" dirty="0">
                <a:solidFill>
                  <a:srgbClr val="0F172A"/>
                </a:solidFill>
                <a:latin typeface="Calibri" pitchFamily="34" charset="0"/>
                <a:ea typeface="Calibri" pitchFamily="34" charset="-122"/>
                <a:cs typeface="Calibri" pitchFamily="34" charset="-120"/>
              </a:rPr>
              <a:t>Founder Avlesh Singh not in exit mode</a:t>
            </a:r>
            <a:endParaRPr lang="en-US" sz="1050" dirty="0"/>
          </a:p>
        </p:txBody>
      </p:sp>
      <p:sp>
        <p:nvSpPr>
          <p:cNvPr id="55" name="Text 52"/>
          <p:cNvSpPr/>
          <p:nvPr/>
        </p:nvSpPr>
        <p:spPr>
          <a:xfrm>
            <a:off x="7086600" y="5458968"/>
            <a:ext cx="4480560" cy="320040"/>
          </a:xfrm>
          <a:prstGeom prst="rect">
            <a:avLst/>
          </a:prstGeom>
          <a:noFill/>
          <a:ln/>
        </p:spPr>
        <p:txBody>
          <a:bodyPr wrap="square" lIns="0" tIns="0" rIns="0" bIns="0" rtlCol="0" anchor="t"/>
          <a:lstStyle/>
          <a:p>
            <a:pPr marL="0" indent="0">
              <a:buNone/>
            </a:pPr>
            <a:r>
              <a:rPr lang="en-US" sz="900" dirty="0">
                <a:solidFill>
                  <a:srgbClr val="334155"/>
                </a:solidFill>
                <a:latin typeface="Calibri" pitchFamily="34" charset="0"/>
                <a:ea typeface="Calibri" pitchFamily="34" charset="-122"/>
                <a:cs typeface="Calibri" pitchFamily="34" charset="-120"/>
              </a:rPr>
              <a:t>Operator since 2011, comfortable building independently — control deal harder to negotiate.</a:t>
            </a:r>
            <a:endParaRPr lang="en-US" sz="900" dirty="0"/>
          </a:p>
        </p:txBody>
      </p:sp>
      <p:sp>
        <p:nvSpPr>
          <p:cNvPr id="56" name="Text 53"/>
          <p:cNvSpPr/>
          <p:nvPr/>
        </p:nvSpPr>
        <p:spPr>
          <a:xfrm>
            <a:off x="7086600" y="5779008"/>
            <a:ext cx="4480560" cy="292608"/>
          </a:xfrm>
          <a:prstGeom prst="rect">
            <a:avLst/>
          </a:prstGeom>
          <a:noFill/>
          <a:ln/>
        </p:spPr>
        <p:txBody>
          <a:bodyPr wrap="square" lIns="0" tIns="0" rIns="0" bIns="0" rtlCol="0" anchor="t"/>
          <a:lstStyle/>
          <a:p>
            <a:pPr marL="0" indent="0">
              <a:buNone/>
            </a:pPr>
            <a:r>
              <a:rPr lang="en-US" sz="900" i="1" dirty="0">
                <a:solidFill>
                  <a:srgbClr val="16A34A"/>
                </a:solidFill>
                <a:latin typeface="Calibri" pitchFamily="34" charset="0"/>
                <a:ea typeface="Calibri" pitchFamily="34" charset="-122"/>
                <a:cs typeface="Calibri" pitchFamily="34" charset="-120"/>
              </a:rPr>
              <a:t>Mitigant: structure with multi-year retention pool + meaningful equity rollover (≥30%).</a:t>
            </a:r>
            <a:endParaRPr lang="en-US" sz="900" dirty="0"/>
          </a:p>
        </p:txBody>
      </p:sp>
      <p:pic>
        <p:nvPicPr>
          <p:cNvPr id="57" name="Picture 2" descr="Pine Labs Launches Paper POS, a Merged QR Product to Accept Payments via  UPI and Bharat QR Apps">
            <a:extLst>
              <a:ext uri="{FF2B5EF4-FFF2-40B4-BE49-F238E27FC236}">
                <a16:creationId xmlns:a16="http://schemas.microsoft.com/office/drawing/2014/main" id="{5A7224E7-25F4-29B6-745D-6BB69C523E35}"/>
              </a:ext>
            </a:extLst>
          </p:cNvPr>
          <p:cNvPicPr>
            <a:picLocks noChangeAspect="1" noChangeArrowheads="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1177016" y="-102584"/>
            <a:ext cx="1115568" cy="58451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16A34A"/>
          </a:solidFill>
          <a:ln/>
        </p:spPr>
        <p:txBody>
          <a:bodyPr/>
          <a:lstStyle/>
          <a:p>
            <a:endParaRPr lang="en-US"/>
          </a:p>
        </p:txBody>
      </p:sp>
      <p:sp>
        <p:nvSpPr>
          <p:cNvPr id="3" name="Text 1"/>
          <p:cNvSpPr/>
          <p:nvPr/>
        </p:nvSpPr>
        <p:spPr>
          <a:xfrm>
            <a:off x="457200" y="201168"/>
            <a:ext cx="10058400" cy="256032"/>
          </a:xfrm>
          <a:prstGeom prst="rect">
            <a:avLst/>
          </a:prstGeom>
          <a:noFill/>
          <a:ln/>
        </p:spPr>
        <p:txBody>
          <a:bodyPr wrap="square" lIns="0" tIns="0" rIns="0" bIns="0" rtlCol="0" anchor="ctr"/>
          <a:lstStyle/>
          <a:p>
            <a:pPr marL="0" indent="0">
              <a:buNone/>
            </a:pPr>
            <a:r>
              <a:rPr lang="en-US" sz="900" b="1" kern="0" spc="100" dirty="0">
                <a:solidFill>
                  <a:srgbClr val="16A34A"/>
                </a:solidFill>
                <a:latin typeface="Calibri" pitchFamily="34" charset="0"/>
                <a:ea typeface="Calibri" pitchFamily="34" charset="-122"/>
                <a:cs typeface="Calibri" pitchFamily="34" charset="-120"/>
              </a:rPr>
              <a:t>COMBINED ACQUISITION MODEL</a:t>
            </a:r>
            <a:endParaRPr lang="en-US" sz="900" spc="100" dirty="0"/>
          </a:p>
        </p:txBody>
      </p:sp>
      <p:sp>
        <p:nvSpPr>
          <p:cNvPr id="4" name="Text 2"/>
          <p:cNvSpPr/>
          <p:nvPr/>
        </p:nvSpPr>
        <p:spPr>
          <a:xfrm>
            <a:off x="457200" y="457200"/>
            <a:ext cx="11247120" cy="731520"/>
          </a:xfrm>
          <a:prstGeom prst="rect">
            <a:avLst/>
          </a:prstGeom>
          <a:noFill/>
          <a:ln/>
        </p:spPr>
        <p:txBody>
          <a:bodyPr wrap="square" lIns="0" tIns="0" rIns="0" bIns="0" rtlCol="0" anchor="ctr"/>
          <a:lstStyle/>
          <a:p>
            <a:pPr marL="0" indent="0">
              <a:buNone/>
            </a:pPr>
            <a:r>
              <a:rPr lang="en-US" sz="2200" b="1" dirty="0">
                <a:solidFill>
                  <a:srgbClr val="0F172A"/>
                </a:solidFill>
                <a:latin typeface="Calibri" pitchFamily="34" charset="0"/>
                <a:ea typeface="Calibri" pitchFamily="34" charset="-122"/>
                <a:cs typeface="Calibri" pitchFamily="34" charset="-120"/>
              </a:rPr>
              <a:t>Combined ₹790 Cr revenue / ₹245 Cr EBITDA by FY29 — ~3.5× ROIC on $130M deployed</a:t>
            </a:r>
            <a:endParaRPr lang="en-US" sz="2200" dirty="0"/>
          </a:p>
        </p:txBody>
      </p:sp>
      <p:sp>
        <p:nvSpPr>
          <p:cNvPr id="5" name="Shape 3"/>
          <p:cNvSpPr/>
          <p:nvPr/>
        </p:nvSpPr>
        <p:spPr>
          <a:xfrm>
            <a:off x="457200" y="1188720"/>
            <a:ext cx="11247120" cy="13716"/>
          </a:xfrm>
          <a:prstGeom prst="rect">
            <a:avLst/>
          </a:prstGeom>
          <a:solidFill>
            <a:srgbClr val="E2E8F0"/>
          </a:solidFill>
          <a:ln/>
        </p:spPr>
        <p:txBody>
          <a:bodyPr/>
          <a:lstStyle/>
          <a:p>
            <a:endParaRPr lang="en-US"/>
          </a:p>
        </p:txBody>
      </p:sp>
      <p:sp>
        <p:nvSpPr>
          <p:cNvPr id="6" name="Text 4"/>
          <p:cNvSpPr/>
          <p:nvPr/>
        </p:nvSpPr>
        <p:spPr>
          <a:xfrm>
            <a:off x="457200" y="6492240"/>
            <a:ext cx="6400800" cy="256032"/>
          </a:xfrm>
          <a:prstGeom prst="rect">
            <a:avLst/>
          </a:prstGeom>
          <a:noFill/>
          <a:ln/>
        </p:spPr>
        <p:txBody>
          <a:bodyPr wrap="square" lIns="0" tIns="0" rIns="0" bIns="0" rtlCol="0" anchor="ctr"/>
          <a:lstStyle/>
          <a:p>
            <a:pPr marL="0" indent="0">
              <a:buNone/>
            </a:pPr>
            <a:r>
              <a:rPr lang="en-US" sz="900" i="1" dirty="0">
                <a:solidFill>
                  <a:srgbClr val="64748B"/>
                </a:solidFill>
                <a:latin typeface="Calibri" pitchFamily="34" charset="0"/>
                <a:ea typeface="Calibri" pitchFamily="34" charset="-122"/>
                <a:cs typeface="Calibri" pitchFamily="34" charset="-120"/>
              </a:rPr>
              <a:t>Pine Labs — Corporate Development</a:t>
            </a:r>
            <a:endParaRPr lang="en-US" sz="900" dirty="0"/>
          </a:p>
        </p:txBody>
      </p:sp>
      <p:sp>
        <p:nvSpPr>
          <p:cNvPr id="7" name="Text 5"/>
          <p:cNvSpPr/>
          <p:nvPr/>
        </p:nvSpPr>
        <p:spPr>
          <a:xfrm>
            <a:off x="6858000" y="6492240"/>
            <a:ext cx="2743200" cy="256032"/>
          </a:xfrm>
          <a:prstGeom prst="rect">
            <a:avLst/>
          </a:prstGeom>
          <a:noFill/>
          <a:ln/>
        </p:spPr>
        <p:txBody>
          <a:bodyPr wrap="square" lIns="0" tIns="0" rIns="0" bIns="0" rtlCol="0" anchor="ctr"/>
          <a:lstStyle/>
          <a:p>
            <a:pPr marL="0" indent="0" algn="ctr">
              <a:buNone/>
            </a:pPr>
            <a:r>
              <a:rPr lang="en-US" sz="900" i="1" dirty="0">
                <a:solidFill>
                  <a:srgbClr val="64748B"/>
                </a:solidFill>
                <a:latin typeface="Calibri" pitchFamily="34" charset="0"/>
                <a:ea typeface="Calibri" pitchFamily="34" charset="-122"/>
                <a:cs typeface="Calibri" pitchFamily="34" charset="-120"/>
              </a:rPr>
              <a:t>Strictly Confidential</a:t>
            </a:r>
            <a:endParaRPr lang="en-US" sz="900" dirty="0"/>
          </a:p>
        </p:txBody>
      </p:sp>
      <p:sp>
        <p:nvSpPr>
          <p:cNvPr id="8" name="Text 6"/>
          <p:cNvSpPr/>
          <p:nvPr/>
        </p:nvSpPr>
        <p:spPr>
          <a:xfrm>
            <a:off x="10515600" y="6492240"/>
            <a:ext cx="1188720" cy="256032"/>
          </a:xfrm>
          <a:prstGeom prst="rect">
            <a:avLst/>
          </a:prstGeom>
          <a:noFill/>
          <a:ln/>
        </p:spPr>
        <p:txBody>
          <a:bodyPr wrap="square" lIns="0" tIns="0" rIns="0" bIns="0" rtlCol="0" anchor="ctr"/>
          <a:lstStyle/>
          <a:p>
            <a:pPr marL="0" indent="0" algn="r">
              <a:buNone/>
            </a:pPr>
            <a:r>
              <a:rPr lang="en-US" sz="900" b="1" dirty="0">
                <a:solidFill>
                  <a:srgbClr val="64748B"/>
                </a:solidFill>
                <a:latin typeface="Calibri" pitchFamily="34" charset="0"/>
                <a:ea typeface="Calibri" pitchFamily="34" charset="-122"/>
                <a:cs typeface="Calibri" pitchFamily="34" charset="-120"/>
              </a:rPr>
              <a:t>14</a:t>
            </a:r>
            <a:endParaRPr lang="en-US" sz="9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02920" y="1417320"/>
          <a:ext cx="11155680" cy="2633472"/>
        </p:xfrm>
        <a:graphic>
          <a:graphicData uri="http://schemas.openxmlformats.org/drawingml/2006/table">
            <a:tbl>
              <a:tblPr/>
              <a:tblGrid>
                <a:gridCol w="2743200">
                  <a:extLst>
                    <a:ext uri="{9D8B030D-6E8A-4147-A177-3AD203B41FA5}">
                      <a16:colId xmlns:a16="http://schemas.microsoft.com/office/drawing/2014/main" val="20000"/>
                    </a:ext>
                  </a:extLst>
                </a:gridCol>
                <a:gridCol w="1234440">
                  <a:extLst>
                    <a:ext uri="{9D8B030D-6E8A-4147-A177-3AD203B41FA5}">
                      <a16:colId xmlns:a16="http://schemas.microsoft.com/office/drawing/2014/main" val="20001"/>
                    </a:ext>
                  </a:extLst>
                </a:gridCol>
                <a:gridCol w="1234440">
                  <a:extLst>
                    <a:ext uri="{9D8B030D-6E8A-4147-A177-3AD203B41FA5}">
                      <a16:colId xmlns:a16="http://schemas.microsoft.com/office/drawing/2014/main" val="20002"/>
                    </a:ext>
                  </a:extLst>
                </a:gridCol>
                <a:gridCol w="1234440">
                  <a:extLst>
                    <a:ext uri="{9D8B030D-6E8A-4147-A177-3AD203B41FA5}">
                      <a16:colId xmlns:a16="http://schemas.microsoft.com/office/drawing/2014/main" val="20003"/>
                    </a:ext>
                  </a:extLst>
                </a:gridCol>
                <a:gridCol w="1234440">
                  <a:extLst>
                    <a:ext uri="{9D8B030D-6E8A-4147-A177-3AD203B41FA5}">
                      <a16:colId xmlns:a16="http://schemas.microsoft.com/office/drawing/2014/main" val="20004"/>
                    </a:ext>
                  </a:extLst>
                </a:gridCol>
                <a:gridCol w="1234440">
                  <a:extLst>
                    <a:ext uri="{9D8B030D-6E8A-4147-A177-3AD203B41FA5}">
                      <a16:colId xmlns:a16="http://schemas.microsoft.com/office/drawing/2014/main" val="20005"/>
                    </a:ext>
                  </a:extLst>
                </a:gridCol>
                <a:gridCol w="2240280">
                  <a:extLst>
                    <a:ext uri="{9D8B030D-6E8A-4147-A177-3AD203B41FA5}">
                      <a16:colId xmlns:a16="http://schemas.microsoft.com/office/drawing/2014/main" val="20006"/>
                    </a:ext>
                  </a:extLst>
                </a:gridCol>
              </a:tblGrid>
              <a:tr h="329184">
                <a:tc>
                  <a:txBody>
                    <a:bodyPr/>
                    <a:lstStyle/>
                    <a:p>
                      <a:pPr marL="0" indent="0" algn="l">
                        <a:buNone/>
                      </a:pPr>
                      <a:r>
                        <a:rPr lang="en-US" sz="1000" b="1" dirty="0">
                          <a:solidFill>
                            <a:srgbClr val="FFFFFF"/>
                          </a:solidFill>
                          <a:latin typeface="Calibri" pitchFamily="34" charset="0"/>
                          <a:ea typeface="Calibri" pitchFamily="34" charset="-122"/>
                          <a:cs typeface="Calibri" pitchFamily="34" charset="-120"/>
                        </a:rPr>
                        <a:t>₹ Crores</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B1A14"/>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FY26</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B1A14"/>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FY27</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B1A14"/>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FY28</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B1A14"/>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FY29</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B1A14"/>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FY30</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B1A14"/>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FY26-30 CAGR</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B1A14"/>
                    </a:solidFill>
                  </a:tcPr>
                </a:tc>
                <a:extLst>
                  <a:ext uri="{0D108BD9-81ED-4DB2-BD59-A6C34878D82A}">
                    <a16:rowId xmlns:a16="http://schemas.microsoft.com/office/drawing/2014/main" val="10000"/>
                  </a:ext>
                </a:extLst>
              </a:tr>
              <a:tr h="329184">
                <a:tc>
                  <a:txBody>
                    <a:bodyPr/>
                    <a:lstStyle/>
                    <a:p>
                      <a:pPr marL="0" indent="0">
                        <a:buNone/>
                      </a:pPr>
                      <a:r>
                        <a:rPr lang="en-US" sz="1000" b="1" dirty="0">
                          <a:solidFill>
                            <a:srgbClr val="0F172A"/>
                          </a:solidFill>
                          <a:latin typeface="Calibri" pitchFamily="34" charset="0"/>
                          <a:ea typeface="Calibri" pitchFamily="34" charset="-122"/>
                          <a:cs typeface="Calibri" pitchFamily="34" charset="-120"/>
                        </a:rPr>
                        <a:t>Pine Labs standalone revenue</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lgn="ctr">
                        <a:buNone/>
                      </a:pPr>
                      <a:r>
                        <a:rPr lang="en-US" sz="1000" dirty="0">
                          <a:solidFill>
                            <a:srgbClr val="0F172A"/>
                          </a:solidFill>
                          <a:latin typeface="Calibri" pitchFamily="34" charset="0"/>
                          <a:ea typeface="Calibri" pitchFamily="34" charset="-122"/>
                          <a:cs typeface="Calibri" pitchFamily="34" charset="-120"/>
                        </a:rPr>
                        <a:t>2,250</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000" dirty="0">
                          <a:solidFill>
                            <a:srgbClr val="0F172A"/>
                          </a:solidFill>
                          <a:latin typeface="Calibri" pitchFamily="34" charset="0"/>
                          <a:ea typeface="Calibri" pitchFamily="34" charset="-122"/>
                          <a:cs typeface="Calibri" pitchFamily="34" charset="-120"/>
                        </a:rPr>
                        <a:t>2,720</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000" dirty="0">
                          <a:solidFill>
                            <a:srgbClr val="0F172A"/>
                          </a:solidFill>
                          <a:latin typeface="Calibri" pitchFamily="34" charset="0"/>
                          <a:ea typeface="Calibri" pitchFamily="34" charset="-122"/>
                          <a:cs typeface="Calibri" pitchFamily="34" charset="-120"/>
                        </a:rPr>
                        <a:t>3,260</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000" dirty="0">
                          <a:solidFill>
                            <a:srgbClr val="0F172A"/>
                          </a:solidFill>
                          <a:latin typeface="Calibri" pitchFamily="34" charset="0"/>
                          <a:ea typeface="Calibri" pitchFamily="34" charset="-122"/>
                          <a:cs typeface="Calibri" pitchFamily="34" charset="-120"/>
                        </a:rPr>
                        <a:t>3,850</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000" dirty="0">
                          <a:solidFill>
                            <a:srgbClr val="0F172A"/>
                          </a:solidFill>
                          <a:latin typeface="Calibri" pitchFamily="34" charset="0"/>
                          <a:ea typeface="Calibri" pitchFamily="34" charset="-122"/>
                          <a:cs typeface="Calibri" pitchFamily="34" charset="-120"/>
                        </a:rPr>
                        <a:t>4,470</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000" i="1" dirty="0">
                          <a:solidFill>
                            <a:srgbClr val="64748B"/>
                          </a:solidFill>
                          <a:latin typeface="Calibri" pitchFamily="34" charset="0"/>
                          <a:ea typeface="Calibri" pitchFamily="34" charset="-122"/>
                          <a:cs typeface="Calibri" pitchFamily="34" charset="-120"/>
                        </a:rPr>
                        <a:t>18.7%</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1"/>
                  </a:ext>
                </a:extLst>
              </a:tr>
              <a:tr h="329184">
                <a:tc>
                  <a:txBody>
                    <a:bodyPr/>
                    <a:lstStyle/>
                    <a:p>
                      <a:pPr marL="0" indent="0">
                        <a:buNone/>
                      </a:pPr>
                      <a:r>
                        <a:rPr lang="en-US" sz="1000" dirty="0">
                          <a:solidFill>
                            <a:srgbClr val="16A34A"/>
                          </a:solidFill>
                          <a:latin typeface="Calibri" pitchFamily="34" charset="0"/>
                          <a:ea typeface="Calibri" pitchFamily="34" charset="-122"/>
                          <a:cs typeface="Calibri" pitchFamily="34" charset="-120"/>
                        </a:rPr>
                        <a:t>  + Riskcovry  (revenue, ₹ Cr)</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000" dirty="0">
                          <a:solidFill>
                            <a:srgbClr val="64748B"/>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000" b="1" dirty="0">
                          <a:solidFill>
                            <a:srgbClr val="16A34A"/>
                          </a:solidFill>
                          <a:latin typeface="Calibri" pitchFamily="34" charset="0"/>
                          <a:ea typeface="Calibri" pitchFamily="34" charset="-122"/>
                          <a:cs typeface="Calibri" pitchFamily="34" charset="-120"/>
                        </a:rPr>
                        <a:t>138</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000" b="1" dirty="0">
                          <a:solidFill>
                            <a:srgbClr val="16A34A"/>
                          </a:solidFill>
                          <a:latin typeface="Calibri" pitchFamily="34" charset="0"/>
                          <a:ea typeface="Calibri" pitchFamily="34" charset="-122"/>
                          <a:cs typeface="Calibri" pitchFamily="34" charset="-120"/>
                        </a:rPr>
                        <a:t>308</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000" b="1" dirty="0">
                          <a:solidFill>
                            <a:srgbClr val="16A34A"/>
                          </a:solidFill>
                          <a:latin typeface="Calibri" pitchFamily="34" charset="0"/>
                          <a:ea typeface="Calibri" pitchFamily="34" charset="-122"/>
                          <a:cs typeface="Calibri" pitchFamily="34" charset="-120"/>
                        </a:rPr>
                        <a:t>540</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000" b="1" dirty="0">
                          <a:solidFill>
                            <a:srgbClr val="16A34A"/>
                          </a:solidFill>
                          <a:latin typeface="Calibri" pitchFamily="34" charset="0"/>
                          <a:ea typeface="Calibri" pitchFamily="34" charset="-122"/>
                          <a:cs typeface="Calibri" pitchFamily="34" charset="-120"/>
                        </a:rPr>
                        <a:t>725</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000" i="1" dirty="0">
                          <a:solidFill>
                            <a:srgbClr val="16A34A"/>
                          </a:solidFill>
                          <a:latin typeface="Calibri" pitchFamily="34" charset="0"/>
                          <a:ea typeface="Calibri" pitchFamily="34" charset="-122"/>
                          <a:cs typeface="Calibri" pitchFamily="34" charset="-120"/>
                        </a:rPr>
                        <a:t>+₹790 Cr Y3</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2"/>
                  </a:ext>
                </a:extLst>
              </a:tr>
              <a:tr h="329184">
                <a:tc>
                  <a:txBody>
                    <a:bodyPr/>
                    <a:lstStyle/>
                    <a:p>
                      <a:pPr marL="0" indent="0">
                        <a:buNone/>
                      </a:pPr>
                      <a:r>
                        <a:rPr lang="en-US" sz="1000" dirty="0">
                          <a:solidFill>
                            <a:srgbClr val="0F3D2E"/>
                          </a:solidFill>
                          <a:latin typeface="Calibri" pitchFamily="34" charset="0"/>
                          <a:ea typeface="Calibri" pitchFamily="34" charset="-122"/>
                          <a:cs typeface="Calibri" pitchFamily="34" charset="-120"/>
                        </a:rPr>
                        <a:t>  + WebEngage  (revenue, ₹ Cr)</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000" dirty="0">
                          <a:solidFill>
                            <a:srgbClr val="64748B"/>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000" dirty="0">
                          <a:solidFill>
                            <a:srgbClr val="64748B"/>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000" b="1" dirty="0">
                          <a:solidFill>
                            <a:srgbClr val="0F3D2E"/>
                          </a:solidFill>
                          <a:latin typeface="Calibri" pitchFamily="34" charset="0"/>
                          <a:ea typeface="Calibri" pitchFamily="34" charset="-122"/>
                          <a:cs typeface="Calibri" pitchFamily="34" charset="-120"/>
                        </a:rPr>
                        <a:t>220</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000" b="1" dirty="0">
                          <a:solidFill>
                            <a:srgbClr val="0F3D2E"/>
                          </a:solidFill>
                          <a:latin typeface="Calibri" pitchFamily="34" charset="0"/>
                          <a:ea typeface="Calibri" pitchFamily="34" charset="-122"/>
                          <a:cs typeface="Calibri" pitchFamily="34" charset="-120"/>
                        </a:rPr>
                        <a:t>325</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000" b="1" dirty="0">
                          <a:solidFill>
                            <a:srgbClr val="0F3D2E"/>
                          </a:solidFill>
                          <a:latin typeface="Calibri" pitchFamily="34" charset="0"/>
                          <a:ea typeface="Calibri" pitchFamily="34" charset="-122"/>
                          <a:cs typeface="Calibri" pitchFamily="34" charset="-120"/>
                        </a:rPr>
                        <a:t>415</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000" i="1" dirty="0">
                          <a:solidFill>
                            <a:srgbClr val="0F3D2E"/>
                          </a:solidFill>
                          <a:latin typeface="Calibri" pitchFamily="34" charset="0"/>
                          <a:ea typeface="Calibri" pitchFamily="34" charset="-122"/>
                          <a:cs typeface="Calibri" pitchFamily="34" charset="-120"/>
                        </a:rPr>
                        <a:t>(launches FY28)</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3"/>
                  </a:ext>
                </a:extLst>
              </a:tr>
              <a:tr h="329184">
                <a:tc>
                  <a:txBody>
                    <a:bodyPr/>
                    <a:lstStyle/>
                    <a:p>
                      <a:pPr marL="0" indent="0">
                        <a:buNone/>
                      </a:pPr>
                      <a:r>
                        <a:rPr lang="en-US" sz="1000" b="1" dirty="0">
                          <a:solidFill>
                            <a:srgbClr val="0F172A"/>
                          </a:solidFill>
                          <a:latin typeface="Calibri" pitchFamily="34" charset="0"/>
                          <a:ea typeface="Calibri" pitchFamily="34" charset="-122"/>
                          <a:cs typeface="Calibri" pitchFamily="34" charset="-120"/>
                        </a:rPr>
                        <a:t>Combined revenue</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lgn="ctr">
                        <a:buNone/>
                      </a:pPr>
                      <a:r>
                        <a:rPr lang="en-US" sz="1000" b="1" dirty="0">
                          <a:solidFill>
                            <a:srgbClr val="0F172A"/>
                          </a:solidFill>
                          <a:latin typeface="Calibri" pitchFamily="34" charset="0"/>
                          <a:ea typeface="Calibri" pitchFamily="34" charset="-122"/>
                          <a:cs typeface="Calibri" pitchFamily="34" charset="-120"/>
                        </a:rPr>
                        <a:t>2,250</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lgn="ctr">
                        <a:buNone/>
                      </a:pPr>
                      <a:r>
                        <a:rPr lang="en-US" sz="1000" b="1" dirty="0">
                          <a:solidFill>
                            <a:srgbClr val="0F172A"/>
                          </a:solidFill>
                          <a:latin typeface="Calibri" pitchFamily="34" charset="0"/>
                          <a:ea typeface="Calibri" pitchFamily="34" charset="-122"/>
                          <a:cs typeface="Calibri" pitchFamily="34" charset="-120"/>
                        </a:rPr>
                        <a:t>2,858</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lgn="ctr">
                        <a:buNone/>
                      </a:pPr>
                      <a:r>
                        <a:rPr lang="en-US" sz="1000" b="1" dirty="0">
                          <a:solidFill>
                            <a:srgbClr val="0F172A"/>
                          </a:solidFill>
                          <a:latin typeface="Calibri" pitchFamily="34" charset="0"/>
                          <a:ea typeface="Calibri" pitchFamily="34" charset="-122"/>
                          <a:cs typeface="Calibri" pitchFamily="34" charset="-120"/>
                        </a:rPr>
                        <a:t>3,788</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lgn="ctr">
                        <a:buNone/>
                      </a:pPr>
                      <a:r>
                        <a:rPr lang="en-US" sz="1000" b="1" dirty="0">
                          <a:solidFill>
                            <a:srgbClr val="0F172A"/>
                          </a:solidFill>
                          <a:latin typeface="Calibri" pitchFamily="34" charset="0"/>
                          <a:ea typeface="Calibri" pitchFamily="34" charset="-122"/>
                          <a:cs typeface="Calibri" pitchFamily="34" charset="-120"/>
                        </a:rPr>
                        <a:t>4,715</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lgn="ctr">
                        <a:buNone/>
                      </a:pPr>
                      <a:r>
                        <a:rPr lang="en-US" sz="1000" b="1" dirty="0">
                          <a:solidFill>
                            <a:srgbClr val="0F172A"/>
                          </a:solidFill>
                          <a:latin typeface="Calibri" pitchFamily="34" charset="0"/>
                          <a:ea typeface="Calibri" pitchFamily="34" charset="-122"/>
                          <a:cs typeface="Calibri" pitchFamily="34" charset="-120"/>
                        </a:rPr>
                        <a:t>5,610</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lgn="ctr">
                        <a:buNone/>
                      </a:pPr>
                      <a:r>
                        <a:rPr lang="en-US" sz="1000" b="1" i="1" dirty="0">
                          <a:solidFill>
                            <a:srgbClr val="16A34A"/>
                          </a:solidFill>
                          <a:latin typeface="Calibri" pitchFamily="34" charset="0"/>
                          <a:ea typeface="Calibri" pitchFamily="34" charset="-122"/>
                          <a:cs typeface="Calibri" pitchFamily="34" charset="-120"/>
                        </a:rPr>
                        <a:t>25.6%</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extLst>
                  <a:ext uri="{0D108BD9-81ED-4DB2-BD59-A6C34878D82A}">
                    <a16:rowId xmlns:a16="http://schemas.microsoft.com/office/drawing/2014/main" val="10004"/>
                  </a:ext>
                </a:extLst>
              </a:tr>
              <a:tr h="329184">
                <a:tc>
                  <a:txBody>
                    <a:bodyPr/>
                    <a:lstStyle/>
                    <a:p>
                      <a:pPr marL="0" indent="0">
                        <a:buNone/>
                      </a:pPr>
                      <a:r>
                        <a:rPr lang="en-US" sz="1000" b="1" dirty="0">
                          <a:solidFill>
                            <a:srgbClr val="0F172A"/>
                          </a:solidFill>
                          <a:latin typeface="Calibri" pitchFamily="34" charset="0"/>
                          <a:ea typeface="Calibri" pitchFamily="34" charset="-122"/>
                          <a:cs typeface="Calibri" pitchFamily="34" charset="-120"/>
                        </a:rPr>
                        <a:t>Combined EBITDA</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000" dirty="0">
                          <a:solidFill>
                            <a:srgbClr val="0F172A"/>
                          </a:solidFill>
                          <a:latin typeface="Calibri" pitchFamily="34" charset="0"/>
                          <a:ea typeface="Calibri" pitchFamily="34" charset="-122"/>
                          <a:cs typeface="Calibri" pitchFamily="34" charset="-120"/>
                        </a:rPr>
                        <a:t>200</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000" dirty="0">
                          <a:solidFill>
                            <a:srgbClr val="0F172A"/>
                          </a:solidFill>
                          <a:latin typeface="Calibri" pitchFamily="34" charset="0"/>
                          <a:ea typeface="Calibri" pitchFamily="34" charset="-122"/>
                          <a:cs typeface="Calibri" pitchFamily="34" charset="-120"/>
                        </a:rPr>
                        <a:t>295</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000" dirty="0">
                          <a:solidFill>
                            <a:srgbClr val="0F172A"/>
                          </a:solidFill>
                          <a:latin typeface="Calibri" pitchFamily="34" charset="0"/>
                          <a:ea typeface="Calibri" pitchFamily="34" charset="-122"/>
                          <a:cs typeface="Calibri" pitchFamily="34" charset="-120"/>
                        </a:rPr>
                        <a:t>510</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000" b="1" dirty="0">
                          <a:solidFill>
                            <a:srgbClr val="0F172A"/>
                          </a:solidFill>
                          <a:latin typeface="Calibri" pitchFamily="34" charset="0"/>
                          <a:ea typeface="Calibri" pitchFamily="34" charset="-122"/>
                          <a:cs typeface="Calibri" pitchFamily="34" charset="-120"/>
                        </a:rPr>
                        <a:t>780</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000" dirty="0">
                          <a:solidFill>
                            <a:srgbClr val="0F172A"/>
                          </a:solidFill>
                          <a:latin typeface="Calibri" pitchFamily="34" charset="0"/>
                          <a:ea typeface="Calibri" pitchFamily="34" charset="-122"/>
                          <a:cs typeface="Calibri" pitchFamily="34" charset="-120"/>
                        </a:rPr>
                        <a:t>1,010</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000" i="1" dirty="0">
                          <a:solidFill>
                            <a:srgbClr val="16A34A"/>
                          </a:solidFill>
                          <a:latin typeface="Calibri" pitchFamily="34" charset="0"/>
                          <a:ea typeface="Calibri" pitchFamily="34" charset="-122"/>
                          <a:cs typeface="Calibri" pitchFamily="34" charset="-120"/>
                        </a:rPr>
                        <a:t>50%+</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5"/>
                  </a:ext>
                </a:extLst>
              </a:tr>
              <a:tr h="329184">
                <a:tc>
                  <a:txBody>
                    <a:bodyPr/>
                    <a:lstStyle/>
                    <a:p>
                      <a:pPr marL="0" indent="0">
                        <a:buNone/>
                      </a:pPr>
                      <a:r>
                        <a:rPr lang="en-US" sz="1000" dirty="0">
                          <a:solidFill>
                            <a:srgbClr val="64748B"/>
                          </a:solidFill>
                          <a:latin typeface="Calibri" pitchFamily="34" charset="0"/>
                          <a:ea typeface="Calibri" pitchFamily="34" charset="-122"/>
                          <a:cs typeface="Calibri" pitchFamily="34" charset="-120"/>
                        </a:rPr>
                        <a:t>Combined EBITDA margin</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000" dirty="0">
                          <a:solidFill>
                            <a:srgbClr val="64748B"/>
                          </a:solidFill>
                          <a:latin typeface="Calibri" pitchFamily="34" charset="0"/>
                          <a:ea typeface="Calibri" pitchFamily="34" charset="-122"/>
                          <a:cs typeface="Calibri" pitchFamily="34" charset="-120"/>
                        </a:rPr>
                        <a:t>8.9%</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000" dirty="0">
                          <a:solidFill>
                            <a:srgbClr val="64748B"/>
                          </a:solidFill>
                          <a:latin typeface="Calibri" pitchFamily="34" charset="0"/>
                          <a:ea typeface="Calibri" pitchFamily="34" charset="-122"/>
                          <a:cs typeface="Calibri" pitchFamily="34" charset="-120"/>
                        </a:rPr>
                        <a:t>10.3%</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000" dirty="0">
                          <a:solidFill>
                            <a:srgbClr val="64748B"/>
                          </a:solidFill>
                          <a:latin typeface="Calibri" pitchFamily="34" charset="0"/>
                          <a:ea typeface="Calibri" pitchFamily="34" charset="-122"/>
                          <a:cs typeface="Calibri" pitchFamily="34" charset="-120"/>
                        </a:rPr>
                        <a:t>13.5%</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000" b="1" dirty="0">
                          <a:solidFill>
                            <a:srgbClr val="16A34A"/>
                          </a:solidFill>
                          <a:latin typeface="Calibri" pitchFamily="34" charset="0"/>
                          <a:ea typeface="Calibri" pitchFamily="34" charset="-122"/>
                          <a:cs typeface="Calibri" pitchFamily="34" charset="-120"/>
                        </a:rPr>
                        <a:t>16.5%</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000" b="1" dirty="0">
                          <a:solidFill>
                            <a:srgbClr val="16A34A"/>
                          </a:solidFill>
                          <a:latin typeface="Calibri" pitchFamily="34" charset="0"/>
                          <a:ea typeface="Calibri" pitchFamily="34" charset="-122"/>
                          <a:cs typeface="Calibri" pitchFamily="34" charset="-120"/>
                        </a:rPr>
                        <a:t>18.0%</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000" i="1" dirty="0">
                          <a:solidFill>
                            <a:srgbClr val="16A34A"/>
                          </a:solidFill>
                          <a:latin typeface="Calibri" pitchFamily="34" charset="0"/>
                          <a:ea typeface="Calibri" pitchFamily="34" charset="-122"/>
                          <a:cs typeface="Calibri" pitchFamily="34" charset="-120"/>
                        </a:rPr>
                        <a:t>+910 bps</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6"/>
                  </a:ext>
                </a:extLst>
              </a:tr>
              <a:tr h="329184">
                <a:tc>
                  <a:txBody>
                    <a:bodyPr/>
                    <a:lstStyle/>
                    <a:p>
                      <a:pPr marL="0" indent="0">
                        <a:buNone/>
                      </a:pPr>
                      <a:r>
                        <a:rPr lang="en-US" sz="1000" b="1" dirty="0">
                          <a:solidFill>
                            <a:srgbClr val="86EFAC"/>
                          </a:solidFill>
                          <a:latin typeface="Calibri" pitchFamily="34" charset="0"/>
                          <a:ea typeface="Calibri" pitchFamily="34" charset="-122"/>
                          <a:cs typeface="Calibri" pitchFamily="34" charset="-120"/>
                        </a:rPr>
                        <a:t>Incremental EBITDA from deals</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B1A14"/>
                    </a:solidFill>
                  </a:tcPr>
                </a:tc>
                <a:tc>
                  <a:txBody>
                    <a:bodyPr/>
                    <a:lstStyle/>
                    <a:p>
                      <a:pPr marL="0" indent="0" algn="ctr">
                        <a:buNone/>
                      </a:pPr>
                      <a:r>
                        <a:rPr lang="en-US" sz="1000" b="1" dirty="0">
                          <a:solidFill>
                            <a:srgbClr val="86EFAC"/>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B1A14"/>
                    </a:solidFill>
                  </a:tcPr>
                </a:tc>
                <a:tc>
                  <a:txBody>
                    <a:bodyPr/>
                    <a:lstStyle/>
                    <a:p>
                      <a:pPr marL="0" indent="0" algn="ctr">
                        <a:buNone/>
                      </a:pPr>
                      <a:r>
                        <a:rPr lang="en-US" sz="1000" b="1" dirty="0">
                          <a:solidFill>
                            <a:srgbClr val="86EFAC"/>
                          </a:solidFill>
                          <a:latin typeface="Calibri" pitchFamily="34" charset="0"/>
                          <a:ea typeface="Calibri" pitchFamily="34" charset="-122"/>
                          <a:cs typeface="Calibri" pitchFamily="34" charset="-120"/>
                        </a:rPr>
                        <a:t>30</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B1A14"/>
                    </a:solidFill>
                  </a:tcPr>
                </a:tc>
                <a:tc>
                  <a:txBody>
                    <a:bodyPr/>
                    <a:lstStyle/>
                    <a:p>
                      <a:pPr marL="0" indent="0" algn="ctr">
                        <a:buNone/>
                      </a:pPr>
                      <a:r>
                        <a:rPr lang="en-US" sz="1000" b="1" dirty="0">
                          <a:solidFill>
                            <a:srgbClr val="86EFAC"/>
                          </a:solidFill>
                          <a:latin typeface="Calibri" pitchFamily="34" charset="0"/>
                          <a:ea typeface="Calibri" pitchFamily="34" charset="-122"/>
                          <a:cs typeface="Calibri" pitchFamily="34" charset="-120"/>
                        </a:rPr>
                        <a:t>120</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B1A14"/>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245</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B1A14"/>
                    </a:solidFill>
                  </a:tcPr>
                </a:tc>
                <a:tc>
                  <a:txBody>
                    <a:bodyPr/>
                    <a:lstStyle/>
                    <a:p>
                      <a:pPr marL="0" indent="0" algn="ctr">
                        <a:buNone/>
                      </a:pPr>
                      <a:r>
                        <a:rPr lang="en-US" sz="1000" b="1" dirty="0">
                          <a:solidFill>
                            <a:srgbClr val="86EFAC"/>
                          </a:solidFill>
                          <a:latin typeface="Calibri" pitchFamily="34" charset="0"/>
                          <a:ea typeface="Calibri" pitchFamily="34" charset="-122"/>
                          <a:cs typeface="Calibri" pitchFamily="34" charset="-120"/>
                        </a:rPr>
                        <a:t>350</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B1A14"/>
                    </a:solidFill>
                  </a:tcPr>
                </a:tc>
                <a:tc>
                  <a:txBody>
                    <a:bodyPr/>
                    <a:lstStyle/>
                    <a:p>
                      <a:pPr marL="0" indent="0" algn="ctr">
                        <a:buNone/>
                      </a:pPr>
                      <a:r>
                        <a:rPr lang="en-US" sz="1000" b="1" i="1" dirty="0">
                          <a:solidFill>
                            <a:srgbClr val="86EFAC"/>
                          </a:solidFill>
                          <a:latin typeface="Calibri" pitchFamily="34" charset="0"/>
                          <a:ea typeface="Calibri" pitchFamily="34" charset="-122"/>
                          <a:cs typeface="Calibri" pitchFamily="34" charset="-120"/>
                        </a:rPr>
                        <a:t>₹745 Cr cumul.</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B1A14"/>
                    </a:solidFill>
                  </a:tcPr>
                </a:tc>
                <a:extLst>
                  <a:ext uri="{0D108BD9-81ED-4DB2-BD59-A6C34878D82A}">
                    <a16:rowId xmlns:a16="http://schemas.microsoft.com/office/drawing/2014/main" val="10007"/>
                  </a:ext>
                </a:extLst>
              </a:tr>
            </a:tbl>
          </a:graphicData>
        </a:graphic>
      </p:graphicFrame>
      <p:sp>
        <p:nvSpPr>
          <p:cNvPr id="10" name="Shape 7"/>
          <p:cNvSpPr/>
          <p:nvPr/>
        </p:nvSpPr>
        <p:spPr>
          <a:xfrm>
            <a:off x="502920" y="4526280"/>
            <a:ext cx="3108960" cy="502920"/>
          </a:xfrm>
          <a:prstGeom prst="rect">
            <a:avLst/>
          </a:prstGeom>
          <a:solidFill>
            <a:srgbClr val="F8FAFC"/>
          </a:solidFill>
          <a:ln w="6350">
            <a:solidFill>
              <a:srgbClr val="E2E8F0"/>
            </a:solidFill>
            <a:prstDash val="solid"/>
          </a:ln>
        </p:spPr>
        <p:txBody>
          <a:bodyPr/>
          <a:lstStyle/>
          <a:p>
            <a:endParaRPr lang="en-US"/>
          </a:p>
        </p:txBody>
      </p:sp>
      <p:sp>
        <p:nvSpPr>
          <p:cNvPr id="11" name="Shape 8"/>
          <p:cNvSpPr/>
          <p:nvPr/>
        </p:nvSpPr>
        <p:spPr>
          <a:xfrm>
            <a:off x="502920" y="4526280"/>
            <a:ext cx="54864" cy="502920"/>
          </a:xfrm>
          <a:prstGeom prst="rect">
            <a:avLst/>
          </a:prstGeom>
          <a:solidFill>
            <a:srgbClr val="16A34A"/>
          </a:solidFill>
          <a:ln/>
        </p:spPr>
        <p:txBody>
          <a:bodyPr/>
          <a:lstStyle/>
          <a:p>
            <a:endParaRPr lang="en-US"/>
          </a:p>
        </p:txBody>
      </p:sp>
      <p:sp>
        <p:nvSpPr>
          <p:cNvPr id="12" name="Text 9"/>
          <p:cNvSpPr/>
          <p:nvPr/>
        </p:nvSpPr>
        <p:spPr>
          <a:xfrm>
            <a:off x="649224" y="4572000"/>
            <a:ext cx="2926080" cy="219456"/>
          </a:xfrm>
          <a:prstGeom prst="rect">
            <a:avLst/>
          </a:prstGeom>
          <a:noFill/>
          <a:ln/>
        </p:spPr>
        <p:txBody>
          <a:bodyPr wrap="square" lIns="0" tIns="0" rIns="0" bIns="0" rtlCol="0" anchor="ctr"/>
          <a:lstStyle/>
          <a:p>
            <a:pPr marL="0" indent="0">
              <a:buNone/>
            </a:pPr>
            <a:r>
              <a:rPr lang="en-US" sz="1000" b="1" dirty="0">
                <a:solidFill>
                  <a:srgbClr val="0F172A"/>
                </a:solidFill>
                <a:latin typeface="Calibri" pitchFamily="34" charset="0"/>
                <a:ea typeface="Calibri" pitchFamily="34" charset="-122"/>
                <a:cs typeface="Calibri" pitchFamily="34" charset="-120"/>
              </a:rPr>
              <a:t>Pine Labs payment data</a:t>
            </a:r>
            <a:endParaRPr lang="en-US" sz="1000" dirty="0"/>
          </a:p>
        </p:txBody>
      </p:sp>
      <p:sp>
        <p:nvSpPr>
          <p:cNvPr id="13" name="Text 10"/>
          <p:cNvSpPr/>
          <p:nvPr/>
        </p:nvSpPr>
        <p:spPr>
          <a:xfrm>
            <a:off x="649224" y="4782312"/>
            <a:ext cx="2926080" cy="201168"/>
          </a:xfrm>
          <a:prstGeom prst="rect">
            <a:avLst/>
          </a:prstGeom>
          <a:noFill/>
          <a:ln/>
        </p:spPr>
        <p:txBody>
          <a:bodyPr wrap="square" lIns="0" tIns="0" rIns="0" bIns="0" rtlCol="0" anchor="ctr"/>
          <a:lstStyle/>
          <a:p>
            <a:pPr marL="0" indent="0">
              <a:buNone/>
            </a:pPr>
            <a:r>
              <a:rPr lang="en-US" sz="850" i="1" dirty="0">
                <a:solidFill>
                  <a:srgbClr val="64748B"/>
                </a:solidFill>
                <a:latin typeface="Calibri" pitchFamily="34" charset="0"/>
                <a:ea typeface="Calibri" pitchFamily="34" charset="-122"/>
                <a:cs typeface="Calibri" pitchFamily="34" charset="-120"/>
              </a:rPr>
              <a:t>916K merchants · 1.9M terminals</a:t>
            </a:r>
            <a:endParaRPr lang="en-US" sz="850" dirty="0"/>
          </a:p>
        </p:txBody>
      </p:sp>
      <p:sp>
        <p:nvSpPr>
          <p:cNvPr id="14" name="Shape 11"/>
          <p:cNvSpPr/>
          <p:nvPr/>
        </p:nvSpPr>
        <p:spPr>
          <a:xfrm>
            <a:off x="502920" y="5074920"/>
            <a:ext cx="3108960" cy="502920"/>
          </a:xfrm>
          <a:prstGeom prst="rect">
            <a:avLst/>
          </a:prstGeom>
          <a:solidFill>
            <a:srgbClr val="F8FAFC"/>
          </a:solidFill>
          <a:ln w="6350">
            <a:solidFill>
              <a:srgbClr val="E2E8F0"/>
            </a:solidFill>
            <a:prstDash val="solid"/>
          </a:ln>
        </p:spPr>
        <p:txBody>
          <a:bodyPr/>
          <a:lstStyle/>
          <a:p>
            <a:endParaRPr lang="en-US"/>
          </a:p>
        </p:txBody>
      </p:sp>
      <p:sp>
        <p:nvSpPr>
          <p:cNvPr id="9" name="Shape 12"/>
          <p:cNvSpPr/>
          <p:nvPr/>
        </p:nvSpPr>
        <p:spPr>
          <a:xfrm>
            <a:off x="502920" y="5074920"/>
            <a:ext cx="54864" cy="502920"/>
          </a:xfrm>
          <a:prstGeom prst="rect">
            <a:avLst/>
          </a:prstGeom>
          <a:solidFill>
            <a:srgbClr val="16A34A"/>
          </a:solidFill>
          <a:ln/>
        </p:spPr>
        <p:txBody>
          <a:bodyPr/>
          <a:lstStyle/>
          <a:p>
            <a:endParaRPr lang="en-US"/>
          </a:p>
        </p:txBody>
      </p:sp>
      <p:sp>
        <p:nvSpPr>
          <p:cNvPr id="16" name="Text 13"/>
          <p:cNvSpPr/>
          <p:nvPr/>
        </p:nvSpPr>
        <p:spPr>
          <a:xfrm>
            <a:off x="649224" y="5120640"/>
            <a:ext cx="2926080" cy="219456"/>
          </a:xfrm>
          <a:prstGeom prst="rect">
            <a:avLst/>
          </a:prstGeom>
          <a:noFill/>
          <a:ln/>
        </p:spPr>
        <p:txBody>
          <a:bodyPr wrap="square" lIns="0" tIns="0" rIns="0" bIns="0" rtlCol="0" anchor="ctr"/>
          <a:lstStyle/>
          <a:p>
            <a:pPr marL="0" indent="0">
              <a:buNone/>
            </a:pPr>
            <a:r>
              <a:rPr lang="en-US" sz="1000" b="1" dirty="0">
                <a:solidFill>
                  <a:srgbClr val="0F172A"/>
                </a:solidFill>
                <a:latin typeface="Calibri" pitchFamily="34" charset="0"/>
                <a:ea typeface="Calibri" pitchFamily="34" charset="-122"/>
                <a:cs typeface="Calibri" pitchFamily="34" charset="-120"/>
              </a:rPr>
              <a:t>Top-10 enterprise accounts</a:t>
            </a:r>
            <a:endParaRPr lang="en-US" sz="1000" dirty="0"/>
          </a:p>
        </p:txBody>
      </p:sp>
      <p:sp>
        <p:nvSpPr>
          <p:cNvPr id="17" name="Text 14"/>
          <p:cNvSpPr/>
          <p:nvPr/>
        </p:nvSpPr>
        <p:spPr>
          <a:xfrm>
            <a:off x="649224" y="5330952"/>
            <a:ext cx="2926080" cy="201168"/>
          </a:xfrm>
          <a:prstGeom prst="rect">
            <a:avLst/>
          </a:prstGeom>
          <a:noFill/>
          <a:ln/>
        </p:spPr>
        <p:txBody>
          <a:bodyPr wrap="square" lIns="0" tIns="0" rIns="0" bIns="0" rtlCol="0" anchor="ctr"/>
          <a:lstStyle/>
          <a:p>
            <a:pPr marL="0" indent="0">
              <a:buNone/>
            </a:pPr>
            <a:r>
              <a:rPr lang="en-US" sz="850" i="1" dirty="0">
                <a:solidFill>
                  <a:srgbClr val="64748B"/>
                </a:solidFill>
                <a:latin typeface="Calibri" pitchFamily="34" charset="0"/>
                <a:ea typeface="Calibri" pitchFamily="34" charset="-122"/>
                <a:cs typeface="Calibri" pitchFamily="34" charset="-120"/>
              </a:rPr>
              <a:t>31% of revenue · 6 already on WebEngage</a:t>
            </a:r>
            <a:endParaRPr lang="en-US" sz="850" dirty="0"/>
          </a:p>
        </p:txBody>
      </p:sp>
      <p:sp>
        <p:nvSpPr>
          <p:cNvPr id="18" name="Shape 15"/>
          <p:cNvSpPr/>
          <p:nvPr/>
        </p:nvSpPr>
        <p:spPr>
          <a:xfrm>
            <a:off x="502920" y="5623560"/>
            <a:ext cx="3108960" cy="502920"/>
          </a:xfrm>
          <a:prstGeom prst="rect">
            <a:avLst/>
          </a:prstGeom>
          <a:solidFill>
            <a:srgbClr val="F8FAFC"/>
          </a:solidFill>
          <a:ln w="6350">
            <a:solidFill>
              <a:srgbClr val="E2E8F0"/>
            </a:solidFill>
            <a:prstDash val="solid"/>
          </a:ln>
        </p:spPr>
        <p:txBody>
          <a:bodyPr/>
          <a:lstStyle/>
          <a:p>
            <a:endParaRPr lang="en-US"/>
          </a:p>
        </p:txBody>
      </p:sp>
      <p:sp>
        <p:nvSpPr>
          <p:cNvPr id="19" name="Shape 16"/>
          <p:cNvSpPr/>
          <p:nvPr/>
        </p:nvSpPr>
        <p:spPr>
          <a:xfrm>
            <a:off x="502920" y="5623560"/>
            <a:ext cx="54864" cy="502920"/>
          </a:xfrm>
          <a:prstGeom prst="rect">
            <a:avLst/>
          </a:prstGeom>
          <a:solidFill>
            <a:srgbClr val="16A34A"/>
          </a:solidFill>
          <a:ln/>
        </p:spPr>
        <p:txBody>
          <a:bodyPr/>
          <a:lstStyle/>
          <a:p>
            <a:endParaRPr lang="en-US"/>
          </a:p>
        </p:txBody>
      </p:sp>
      <p:sp>
        <p:nvSpPr>
          <p:cNvPr id="20" name="Text 17"/>
          <p:cNvSpPr/>
          <p:nvPr/>
        </p:nvSpPr>
        <p:spPr>
          <a:xfrm>
            <a:off x="649224" y="5669280"/>
            <a:ext cx="2926080" cy="219456"/>
          </a:xfrm>
          <a:prstGeom prst="rect">
            <a:avLst/>
          </a:prstGeom>
          <a:noFill/>
          <a:ln/>
        </p:spPr>
        <p:txBody>
          <a:bodyPr wrap="square" lIns="0" tIns="0" rIns="0" bIns="0" rtlCol="0" anchor="ctr"/>
          <a:lstStyle/>
          <a:p>
            <a:pPr marL="0" indent="0">
              <a:buNone/>
            </a:pPr>
            <a:r>
              <a:rPr lang="en-US" sz="1000" b="1" dirty="0">
                <a:solidFill>
                  <a:srgbClr val="0F172A"/>
                </a:solidFill>
                <a:latin typeface="Calibri" pitchFamily="34" charset="0"/>
                <a:ea typeface="Calibri" pitchFamily="34" charset="-122"/>
                <a:cs typeface="Calibri" pitchFamily="34" charset="-120"/>
              </a:rPr>
              <a:t>Setu / Credit+ bank base</a:t>
            </a:r>
            <a:endParaRPr lang="en-US" sz="1000" dirty="0"/>
          </a:p>
        </p:txBody>
      </p:sp>
      <p:sp>
        <p:nvSpPr>
          <p:cNvPr id="21" name="Text 18"/>
          <p:cNvSpPr/>
          <p:nvPr/>
        </p:nvSpPr>
        <p:spPr>
          <a:xfrm>
            <a:off x="649224" y="5879592"/>
            <a:ext cx="2926080" cy="201168"/>
          </a:xfrm>
          <a:prstGeom prst="rect">
            <a:avLst/>
          </a:prstGeom>
          <a:noFill/>
          <a:ln/>
        </p:spPr>
        <p:txBody>
          <a:bodyPr wrap="square" lIns="0" tIns="0" rIns="0" bIns="0" rtlCol="0" anchor="ctr"/>
          <a:lstStyle/>
          <a:p>
            <a:pPr marL="0" indent="0">
              <a:buNone/>
            </a:pPr>
            <a:r>
              <a:rPr lang="en-US" sz="850" i="1" dirty="0">
                <a:solidFill>
                  <a:srgbClr val="64748B"/>
                </a:solidFill>
                <a:latin typeface="Calibri" pitchFamily="34" charset="0"/>
                <a:ea typeface="Calibri" pitchFamily="34" charset="-122"/>
                <a:cs typeface="Calibri" pitchFamily="34" charset="-120"/>
              </a:rPr>
              <a:t>164 FI relationships · ~50 active Setu banks</a:t>
            </a:r>
            <a:endParaRPr lang="en-US" sz="850" dirty="0"/>
          </a:p>
        </p:txBody>
      </p:sp>
      <p:sp>
        <p:nvSpPr>
          <p:cNvPr id="22" name="Shape 19"/>
          <p:cNvSpPr/>
          <p:nvPr/>
        </p:nvSpPr>
        <p:spPr>
          <a:xfrm>
            <a:off x="3703320" y="5074920"/>
            <a:ext cx="320040" cy="502920"/>
          </a:xfrm>
          <a:prstGeom prst="rtTriangle">
            <a:avLst/>
          </a:prstGeom>
          <a:solidFill>
            <a:srgbClr val="16A34A"/>
          </a:solidFill>
          <a:ln/>
        </p:spPr>
        <p:txBody>
          <a:bodyPr/>
          <a:lstStyle/>
          <a:p>
            <a:endParaRPr lang="en-US"/>
          </a:p>
        </p:txBody>
      </p:sp>
      <p:sp>
        <p:nvSpPr>
          <p:cNvPr id="23" name="Shape 20"/>
          <p:cNvSpPr/>
          <p:nvPr/>
        </p:nvSpPr>
        <p:spPr>
          <a:xfrm>
            <a:off x="4160520" y="4617720"/>
            <a:ext cx="3200400" cy="685800"/>
          </a:xfrm>
          <a:prstGeom prst="rect">
            <a:avLst/>
          </a:prstGeom>
          <a:solidFill>
            <a:srgbClr val="0F3D2E"/>
          </a:solidFill>
          <a:ln/>
        </p:spPr>
        <p:txBody>
          <a:bodyPr/>
          <a:lstStyle/>
          <a:p>
            <a:endParaRPr lang="en-US"/>
          </a:p>
        </p:txBody>
      </p:sp>
      <p:sp>
        <p:nvSpPr>
          <p:cNvPr id="24" name="Text 21"/>
          <p:cNvSpPr/>
          <p:nvPr/>
        </p:nvSpPr>
        <p:spPr>
          <a:xfrm>
            <a:off x="4297680" y="4663440"/>
            <a:ext cx="2926080" cy="274320"/>
          </a:xfrm>
          <a:prstGeom prst="rect">
            <a:avLst/>
          </a:prstGeom>
          <a:noFill/>
          <a:ln/>
        </p:spPr>
        <p:txBody>
          <a:bodyPr wrap="square" lIns="0" tIns="0" rIns="0" bIns="0" rtlCol="0" anchor="ctr"/>
          <a:lstStyle/>
          <a:p>
            <a:pPr marL="0" indent="0">
              <a:buNone/>
            </a:pPr>
            <a:r>
              <a:rPr lang="en-US" sz="1100" b="1" kern="0" spc="100" dirty="0">
                <a:solidFill>
                  <a:srgbClr val="86EFAC"/>
                </a:solidFill>
                <a:latin typeface="Calibri" pitchFamily="34" charset="0"/>
                <a:ea typeface="Calibri" pitchFamily="34" charset="-122"/>
                <a:cs typeface="Calibri" pitchFamily="34" charset="-120"/>
              </a:rPr>
              <a:t>RISKCOVRY</a:t>
            </a:r>
            <a:endParaRPr lang="en-US" sz="1100" spc="100" dirty="0"/>
          </a:p>
        </p:txBody>
      </p:sp>
      <p:sp>
        <p:nvSpPr>
          <p:cNvPr id="25" name="Text 22"/>
          <p:cNvSpPr/>
          <p:nvPr/>
        </p:nvSpPr>
        <p:spPr>
          <a:xfrm>
            <a:off x="4297680" y="4910328"/>
            <a:ext cx="2926080" cy="320040"/>
          </a:xfrm>
          <a:prstGeom prst="rect">
            <a:avLst/>
          </a:prstGeom>
          <a:noFill/>
          <a:ln/>
        </p:spPr>
        <p:txBody>
          <a:bodyPr wrap="square" lIns="0" tIns="0" rIns="0" bIns="0" rtlCol="0" anchor="ctr"/>
          <a:lstStyle/>
          <a:p>
            <a:pPr marL="0" indent="0">
              <a:buNone/>
            </a:pPr>
            <a:r>
              <a:rPr lang="en-US" sz="1000" dirty="0">
                <a:solidFill>
                  <a:srgbClr val="FFFFFF"/>
                </a:solidFill>
                <a:latin typeface="Calibri" pitchFamily="34" charset="0"/>
                <a:ea typeface="Calibri" pitchFamily="34" charset="-122"/>
                <a:cs typeface="Calibri" pitchFamily="34" charset="-120"/>
              </a:rPr>
              <a:t>Embedded insurance · ₹540 Cr Y3</a:t>
            </a:r>
            <a:endParaRPr lang="en-US" sz="1000" dirty="0"/>
          </a:p>
        </p:txBody>
      </p:sp>
      <p:sp>
        <p:nvSpPr>
          <p:cNvPr id="26" name="Shape 23"/>
          <p:cNvSpPr/>
          <p:nvPr/>
        </p:nvSpPr>
        <p:spPr>
          <a:xfrm>
            <a:off x="4160520" y="5394960"/>
            <a:ext cx="3200400" cy="685800"/>
          </a:xfrm>
          <a:prstGeom prst="rect">
            <a:avLst/>
          </a:prstGeom>
          <a:solidFill>
            <a:srgbClr val="0B1A14"/>
          </a:solidFill>
          <a:ln/>
        </p:spPr>
        <p:txBody>
          <a:bodyPr/>
          <a:lstStyle/>
          <a:p>
            <a:endParaRPr lang="en-US" spc="100" dirty="0"/>
          </a:p>
        </p:txBody>
      </p:sp>
      <p:sp>
        <p:nvSpPr>
          <p:cNvPr id="27" name="Text 24"/>
          <p:cNvSpPr/>
          <p:nvPr/>
        </p:nvSpPr>
        <p:spPr>
          <a:xfrm>
            <a:off x="4297680" y="5440680"/>
            <a:ext cx="2926080" cy="274320"/>
          </a:xfrm>
          <a:prstGeom prst="rect">
            <a:avLst/>
          </a:prstGeom>
          <a:noFill/>
          <a:ln/>
        </p:spPr>
        <p:txBody>
          <a:bodyPr wrap="square" lIns="0" tIns="0" rIns="0" bIns="0" rtlCol="0" anchor="ctr"/>
          <a:lstStyle/>
          <a:p>
            <a:pPr marL="0" indent="0">
              <a:buNone/>
            </a:pPr>
            <a:r>
              <a:rPr lang="en-US" sz="1100" b="1" kern="0" spc="100" dirty="0">
                <a:solidFill>
                  <a:srgbClr val="86EFAC"/>
                </a:solidFill>
                <a:latin typeface="Calibri" pitchFamily="34" charset="0"/>
                <a:ea typeface="Calibri" pitchFamily="34" charset="-122"/>
                <a:cs typeface="Calibri" pitchFamily="34" charset="-120"/>
              </a:rPr>
              <a:t>WEBENGAGE</a:t>
            </a:r>
            <a:endParaRPr lang="en-US" sz="1100" spc="100" dirty="0"/>
          </a:p>
        </p:txBody>
      </p:sp>
      <p:sp>
        <p:nvSpPr>
          <p:cNvPr id="28" name="Text 25"/>
          <p:cNvSpPr/>
          <p:nvPr/>
        </p:nvSpPr>
        <p:spPr>
          <a:xfrm>
            <a:off x="4297680" y="5687568"/>
            <a:ext cx="2926080" cy="320040"/>
          </a:xfrm>
          <a:prstGeom prst="rect">
            <a:avLst/>
          </a:prstGeom>
          <a:noFill/>
          <a:ln/>
        </p:spPr>
        <p:txBody>
          <a:bodyPr wrap="square" lIns="0" tIns="0" rIns="0" bIns="0" rtlCol="0" anchor="ctr"/>
          <a:lstStyle/>
          <a:p>
            <a:pPr marL="0" indent="0">
              <a:buNone/>
            </a:pPr>
            <a:r>
              <a:rPr lang="en-US" sz="1000" dirty="0">
                <a:solidFill>
                  <a:srgbClr val="FFFFFF"/>
                </a:solidFill>
                <a:latin typeface="Calibri" pitchFamily="34" charset="0"/>
                <a:ea typeface="Calibri" pitchFamily="34" charset="-122"/>
                <a:cs typeface="Calibri" pitchFamily="34" charset="-120"/>
              </a:rPr>
              <a:t>Marketing automation · ₹247 Cr Y3</a:t>
            </a:r>
            <a:endParaRPr lang="en-US" sz="1000" dirty="0"/>
          </a:p>
        </p:txBody>
      </p:sp>
      <p:sp>
        <p:nvSpPr>
          <p:cNvPr id="29" name="Shape 26"/>
          <p:cNvSpPr/>
          <p:nvPr/>
        </p:nvSpPr>
        <p:spPr>
          <a:xfrm>
            <a:off x="7498080" y="5074920"/>
            <a:ext cx="320040" cy="502920"/>
          </a:xfrm>
          <a:prstGeom prst="rtTriangle">
            <a:avLst/>
          </a:prstGeom>
          <a:solidFill>
            <a:srgbClr val="16A34A"/>
          </a:solidFill>
          <a:ln/>
        </p:spPr>
        <p:txBody>
          <a:bodyPr/>
          <a:lstStyle/>
          <a:p>
            <a:endParaRPr lang="en-US"/>
          </a:p>
        </p:txBody>
      </p:sp>
      <p:sp>
        <p:nvSpPr>
          <p:cNvPr id="30" name="Shape 27"/>
          <p:cNvSpPr/>
          <p:nvPr/>
        </p:nvSpPr>
        <p:spPr>
          <a:xfrm>
            <a:off x="7955280" y="4617720"/>
            <a:ext cx="3794760" cy="1463040"/>
          </a:xfrm>
          <a:prstGeom prst="rect">
            <a:avLst/>
          </a:prstGeom>
          <a:solidFill>
            <a:srgbClr val="16A34A"/>
          </a:solidFill>
          <a:ln/>
        </p:spPr>
        <p:txBody>
          <a:bodyPr/>
          <a:lstStyle/>
          <a:p>
            <a:endParaRPr lang="en-US"/>
          </a:p>
        </p:txBody>
      </p:sp>
      <p:sp>
        <p:nvSpPr>
          <p:cNvPr id="31" name="Text 28"/>
          <p:cNvSpPr/>
          <p:nvPr/>
        </p:nvSpPr>
        <p:spPr>
          <a:xfrm>
            <a:off x="8119872" y="4690872"/>
            <a:ext cx="3520440" cy="274320"/>
          </a:xfrm>
          <a:prstGeom prst="rect">
            <a:avLst/>
          </a:prstGeom>
          <a:noFill/>
          <a:ln/>
        </p:spPr>
        <p:txBody>
          <a:bodyPr wrap="square" lIns="0" tIns="0" rIns="0" bIns="0" rtlCol="0" anchor="ctr"/>
          <a:lstStyle/>
          <a:p>
            <a:pPr marL="0" indent="0">
              <a:buNone/>
            </a:pPr>
            <a:r>
              <a:rPr lang="en-US" sz="1000" b="1" kern="0" spc="100" dirty="0">
                <a:solidFill>
                  <a:srgbClr val="86EFAC"/>
                </a:solidFill>
                <a:latin typeface="Calibri" pitchFamily="34" charset="0"/>
                <a:ea typeface="Calibri" pitchFamily="34" charset="-122"/>
                <a:cs typeface="Calibri" pitchFamily="34" charset="-120"/>
              </a:rPr>
              <a:t>FY29 OUTCOME</a:t>
            </a:r>
            <a:endParaRPr lang="en-US" sz="1000" spc="100" dirty="0"/>
          </a:p>
        </p:txBody>
      </p:sp>
      <p:sp>
        <p:nvSpPr>
          <p:cNvPr id="32" name="Text 29"/>
          <p:cNvSpPr/>
          <p:nvPr/>
        </p:nvSpPr>
        <p:spPr>
          <a:xfrm>
            <a:off x="8119872" y="4983480"/>
            <a:ext cx="3520440" cy="329184"/>
          </a:xfrm>
          <a:prstGeom prst="rect">
            <a:avLst/>
          </a:prstGeom>
          <a:noFill/>
          <a:ln/>
        </p:spPr>
        <p:txBody>
          <a:bodyPr wrap="square" lIns="0" tIns="0" rIns="0" bIns="0" rtlCol="0" anchor="ctr"/>
          <a:lstStyle/>
          <a:p>
            <a:pPr marL="0" indent="0">
              <a:buNone/>
            </a:pPr>
            <a:r>
              <a:rPr lang="en-US" sz="1700" b="1" dirty="0">
                <a:solidFill>
                  <a:srgbClr val="FFFFFF"/>
                </a:solidFill>
                <a:latin typeface="Calibri" pitchFamily="34" charset="0"/>
                <a:ea typeface="Calibri" pitchFamily="34" charset="-122"/>
                <a:cs typeface="Calibri" pitchFamily="34" charset="-120"/>
              </a:rPr>
              <a:t>+ ₹790 Cr revenue</a:t>
            </a:r>
            <a:endParaRPr lang="en-US" sz="1700" dirty="0"/>
          </a:p>
        </p:txBody>
      </p:sp>
      <p:sp>
        <p:nvSpPr>
          <p:cNvPr id="33" name="Text 30"/>
          <p:cNvSpPr/>
          <p:nvPr/>
        </p:nvSpPr>
        <p:spPr>
          <a:xfrm>
            <a:off x="8119872" y="5367528"/>
            <a:ext cx="3520440" cy="292608"/>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 ₹245 Cr EBITDA  ·  ~3.5× ROIC</a:t>
            </a:r>
            <a:endParaRPr lang="en-US" sz="1200" dirty="0"/>
          </a:p>
        </p:txBody>
      </p:sp>
      <p:sp>
        <p:nvSpPr>
          <p:cNvPr id="34" name="Text 31"/>
          <p:cNvSpPr/>
          <p:nvPr/>
        </p:nvSpPr>
        <p:spPr>
          <a:xfrm>
            <a:off x="8119872" y="5669280"/>
            <a:ext cx="3520440" cy="292608"/>
          </a:xfrm>
          <a:prstGeom prst="rect">
            <a:avLst/>
          </a:prstGeom>
          <a:noFill/>
          <a:ln/>
        </p:spPr>
        <p:txBody>
          <a:bodyPr wrap="square" lIns="0" tIns="0" rIns="0" bIns="0" rtlCol="0" anchor="ctr"/>
          <a:lstStyle/>
          <a:p>
            <a:pPr marL="0" indent="0">
              <a:buNone/>
            </a:pPr>
            <a:r>
              <a:rPr lang="en-US" sz="1100" i="1" dirty="0">
                <a:solidFill>
                  <a:srgbClr val="86EFAC"/>
                </a:solidFill>
                <a:latin typeface="Calibri" pitchFamily="34" charset="0"/>
                <a:ea typeface="Calibri" pitchFamily="34" charset="-122"/>
                <a:cs typeface="Calibri" pitchFamily="34" charset="-120"/>
              </a:rPr>
              <a:t>VAS share of revenue: 28% → 38%</a:t>
            </a:r>
            <a:endParaRPr lang="en-US" sz="1100" dirty="0"/>
          </a:p>
        </p:txBody>
      </p:sp>
      <p:pic>
        <p:nvPicPr>
          <p:cNvPr id="35" name="Picture 2" descr="Pine Labs Launches Paper POS, a Merged QR Product to Accept Payments via  UPI and Bharat QR Apps">
            <a:extLst>
              <a:ext uri="{FF2B5EF4-FFF2-40B4-BE49-F238E27FC236}">
                <a16:creationId xmlns:a16="http://schemas.microsoft.com/office/drawing/2014/main" id="{E1C6D2A1-C6EB-8C99-0D04-156F7DC46C4F}"/>
              </a:ext>
            </a:extLst>
          </p:cNvPr>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1177016" y="-102584"/>
            <a:ext cx="1115568" cy="58451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16A34A"/>
          </a:solidFill>
          <a:ln/>
        </p:spPr>
        <p:txBody>
          <a:bodyPr/>
          <a:lstStyle/>
          <a:p>
            <a:endParaRPr lang="en-US"/>
          </a:p>
        </p:txBody>
      </p:sp>
      <p:sp>
        <p:nvSpPr>
          <p:cNvPr id="3" name="Text 1"/>
          <p:cNvSpPr/>
          <p:nvPr/>
        </p:nvSpPr>
        <p:spPr>
          <a:xfrm>
            <a:off x="457200" y="201168"/>
            <a:ext cx="10058400" cy="256032"/>
          </a:xfrm>
          <a:prstGeom prst="rect">
            <a:avLst/>
          </a:prstGeom>
          <a:noFill/>
          <a:ln/>
        </p:spPr>
        <p:txBody>
          <a:bodyPr wrap="square" lIns="0" tIns="0" rIns="0" bIns="0" rtlCol="0" anchor="ctr"/>
          <a:lstStyle/>
          <a:p>
            <a:pPr marL="0" indent="0">
              <a:buNone/>
            </a:pPr>
            <a:r>
              <a:rPr lang="en-US" sz="900" b="1" kern="0" spc="100" dirty="0">
                <a:solidFill>
                  <a:srgbClr val="16A34A"/>
                </a:solidFill>
                <a:latin typeface="Calibri" pitchFamily="34" charset="0"/>
                <a:ea typeface="Calibri" pitchFamily="34" charset="-122"/>
                <a:cs typeface="Calibri" pitchFamily="34" charset="-120"/>
              </a:rPr>
              <a:t>TOP 10 CUSTOMER IMPACT</a:t>
            </a:r>
            <a:endParaRPr lang="en-US" sz="900" spc="100" dirty="0"/>
          </a:p>
        </p:txBody>
      </p:sp>
      <p:sp>
        <p:nvSpPr>
          <p:cNvPr id="4" name="Text 2"/>
          <p:cNvSpPr/>
          <p:nvPr/>
        </p:nvSpPr>
        <p:spPr>
          <a:xfrm>
            <a:off x="457200" y="457200"/>
            <a:ext cx="11247120" cy="731520"/>
          </a:xfrm>
          <a:prstGeom prst="rect">
            <a:avLst/>
          </a:prstGeom>
          <a:noFill/>
          <a:ln/>
        </p:spPr>
        <p:txBody>
          <a:bodyPr wrap="square" lIns="0" tIns="0" rIns="0" bIns="0" rtlCol="0" anchor="ctr"/>
          <a:lstStyle/>
          <a:p>
            <a:pPr marL="0" indent="0">
              <a:buNone/>
            </a:pPr>
            <a:r>
              <a:rPr lang="en-US" sz="2200" b="1" dirty="0">
                <a:solidFill>
                  <a:srgbClr val="0F172A"/>
                </a:solidFill>
                <a:latin typeface="Calibri" pitchFamily="34" charset="0"/>
                <a:ea typeface="Calibri" pitchFamily="34" charset="-122"/>
                <a:cs typeface="Calibri" pitchFamily="34" charset="-120"/>
              </a:rPr>
              <a:t>Bundled offering lifts wallet share with top 10 from ₹375 Cr to ~₹575 Cr (+53%)</a:t>
            </a:r>
            <a:endParaRPr lang="en-US" sz="2200" dirty="0"/>
          </a:p>
        </p:txBody>
      </p:sp>
      <p:sp>
        <p:nvSpPr>
          <p:cNvPr id="5" name="Shape 3"/>
          <p:cNvSpPr/>
          <p:nvPr/>
        </p:nvSpPr>
        <p:spPr>
          <a:xfrm>
            <a:off x="457200" y="1188720"/>
            <a:ext cx="11247120" cy="13716"/>
          </a:xfrm>
          <a:prstGeom prst="rect">
            <a:avLst/>
          </a:prstGeom>
          <a:solidFill>
            <a:srgbClr val="E2E8F0"/>
          </a:solidFill>
          <a:ln/>
        </p:spPr>
        <p:txBody>
          <a:bodyPr/>
          <a:lstStyle/>
          <a:p>
            <a:endParaRPr lang="en-US"/>
          </a:p>
        </p:txBody>
      </p:sp>
      <p:sp>
        <p:nvSpPr>
          <p:cNvPr id="6" name="Text 4"/>
          <p:cNvSpPr/>
          <p:nvPr/>
        </p:nvSpPr>
        <p:spPr>
          <a:xfrm>
            <a:off x="457200" y="6492240"/>
            <a:ext cx="6400800" cy="256032"/>
          </a:xfrm>
          <a:prstGeom prst="rect">
            <a:avLst/>
          </a:prstGeom>
          <a:noFill/>
          <a:ln/>
        </p:spPr>
        <p:txBody>
          <a:bodyPr wrap="square" lIns="0" tIns="0" rIns="0" bIns="0" rtlCol="0" anchor="ctr"/>
          <a:lstStyle/>
          <a:p>
            <a:pPr marL="0" indent="0">
              <a:buNone/>
            </a:pPr>
            <a:r>
              <a:rPr lang="en-US" sz="900" i="1" dirty="0">
                <a:solidFill>
                  <a:srgbClr val="64748B"/>
                </a:solidFill>
                <a:latin typeface="Calibri" pitchFamily="34" charset="0"/>
                <a:ea typeface="Calibri" pitchFamily="34" charset="-122"/>
                <a:cs typeface="Calibri" pitchFamily="34" charset="-120"/>
              </a:rPr>
              <a:t>Pine Labs — Corporate Development</a:t>
            </a:r>
            <a:endParaRPr lang="en-US" sz="900" dirty="0"/>
          </a:p>
        </p:txBody>
      </p:sp>
      <p:sp>
        <p:nvSpPr>
          <p:cNvPr id="7" name="Text 5"/>
          <p:cNvSpPr/>
          <p:nvPr/>
        </p:nvSpPr>
        <p:spPr>
          <a:xfrm>
            <a:off x="6858000" y="6492240"/>
            <a:ext cx="2743200" cy="256032"/>
          </a:xfrm>
          <a:prstGeom prst="rect">
            <a:avLst/>
          </a:prstGeom>
          <a:noFill/>
          <a:ln/>
        </p:spPr>
        <p:txBody>
          <a:bodyPr wrap="square" lIns="0" tIns="0" rIns="0" bIns="0" rtlCol="0" anchor="ctr"/>
          <a:lstStyle/>
          <a:p>
            <a:pPr marL="0" indent="0" algn="ctr">
              <a:buNone/>
            </a:pPr>
            <a:r>
              <a:rPr lang="en-US" sz="900" i="1" dirty="0">
                <a:solidFill>
                  <a:srgbClr val="64748B"/>
                </a:solidFill>
                <a:latin typeface="Calibri" pitchFamily="34" charset="0"/>
                <a:ea typeface="Calibri" pitchFamily="34" charset="-122"/>
                <a:cs typeface="Calibri" pitchFamily="34" charset="-120"/>
              </a:rPr>
              <a:t>Strictly Confidential</a:t>
            </a:r>
            <a:endParaRPr lang="en-US" sz="900" dirty="0"/>
          </a:p>
        </p:txBody>
      </p:sp>
      <p:sp>
        <p:nvSpPr>
          <p:cNvPr id="8" name="Text 6"/>
          <p:cNvSpPr/>
          <p:nvPr/>
        </p:nvSpPr>
        <p:spPr>
          <a:xfrm>
            <a:off x="10515600" y="6492240"/>
            <a:ext cx="1188720" cy="256032"/>
          </a:xfrm>
          <a:prstGeom prst="rect">
            <a:avLst/>
          </a:prstGeom>
          <a:noFill/>
          <a:ln/>
        </p:spPr>
        <p:txBody>
          <a:bodyPr wrap="square" lIns="0" tIns="0" rIns="0" bIns="0" rtlCol="0" anchor="ctr"/>
          <a:lstStyle/>
          <a:p>
            <a:pPr marL="0" indent="0" algn="r">
              <a:buNone/>
            </a:pPr>
            <a:r>
              <a:rPr lang="en-US" sz="900" b="1" dirty="0">
                <a:solidFill>
                  <a:srgbClr val="64748B"/>
                </a:solidFill>
                <a:latin typeface="Calibri" pitchFamily="34" charset="0"/>
                <a:ea typeface="Calibri" pitchFamily="34" charset="-122"/>
                <a:cs typeface="Calibri" pitchFamily="34" charset="-120"/>
              </a:rPr>
              <a:t>15</a:t>
            </a:r>
            <a:endParaRPr lang="en-US" sz="900" dirty="0"/>
          </a:p>
        </p:txBody>
      </p:sp>
      <p:sp>
        <p:nvSpPr>
          <p:cNvPr id="9" name="Text 7"/>
          <p:cNvSpPr/>
          <p:nvPr/>
        </p:nvSpPr>
        <p:spPr>
          <a:xfrm>
            <a:off x="502920" y="1417320"/>
            <a:ext cx="6583680" cy="274320"/>
          </a:xfrm>
          <a:prstGeom prst="rect">
            <a:avLst/>
          </a:prstGeom>
          <a:noFill/>
          <a:ln/>
        </p:spPr>
        <p:txBody>
          <a:bodyPr wrap="square" lIns="0" tIns="0" rIns="0" bIns="0" rtlCol="0" anchor="ctr"/>
          <a:lstStyle/>
          <a:p>
            <a:pPr marL="0" indent="0">
              <a:buNone/>
            </a:pPr>
            <a:r>
              <a:rPr lang="en-US" sz="1000" b="1" kern="0" spc="100" dirty="0">
                <a:solidFill>
                  <a:srgbClr val="0F172A"/>
                </a:solidFill>
                <a:latin typeface="Calibri" pitchFamily="34" charset="0"/>
                <a:ea typeface="Calibri" pitchFamily="34" charset="-122"/>
                <a:cs typeface="Calibri" pitchFamily="34" charset="-120"/>
              </a:rPr>
              <a:t>Wallet share with top 10 — FY24 vs FY29E (₹ Cr)</a:t>
            </a:r>
            <a:endParaRPr lang="en-US" sz="1000" spc="100" dirty="0"/>
          </a:p>
        </p:txBody>
      </p:sp>
      <p:sp>
        <p:nvSpPr>
          <p:cNvPr id="10" name="Shape 8"/>
          <p:cNvSpPr/>
          <p:nvPr/>
        </p:nvSpPr>
        <p:spPr>
          <a:xfrm>
            <a:off x="502920" y="1691640"/>
            <a:ext cx="6583680" cy="13716"/>
          </a:xfrm>
          <a:prstGeom prst="rect">
            <a:avLst/>
          </a:prstGeom>
          <a:solidFill>
            <a:srgbClr val="E2E8F0"/>
          </a:solidFill>
          <a:ln/>
        </p:spPr>
        <p:txBody>
          <a:bodyPr/>
          <a:lstStyle/>
          <a:p>
            <a:endParaRPr lang="en-US"/>
          </a:p>
        </p:txBody>
      </p:sp>
      <p:sp>
        <p:nvSpPr>
          <p:cNvPr id="11" name="Shape 9"/>
          <p:cNvSpPr/>
          <p:nvPr/>
        </p:nvSpPr>
        <p:spPr>
          <a:xfrm>
            <a:off x="1005840" y="5029200"/>
            <a:ext cx="5943600" cy="4572"/>
          </a:xfrm>
          <a:prstGeom prst="rect">
            <a:avLst/>
          </a:prstGeom>
          <a:solidFill>
            <a:srgbClr val="E2E8F0"/>
          </a:solidFill>
          <a:ln/>
        </p:spPr>
        <p:txBody>
          <a:bodyPr/>
          <a:lstStyle/>
          <a:p>
            <a:endParaRPr lang="en-US"/>
          </a:p>
        </p:txBody>
      </p:sp>
      <p:sp>
        <p:nvSpPr>
          <p:cNvPr id="12" name="Text 10"/>
          <p:cNvSpPr/>
          <p:nvPr/>
        </p:nvSpPr>
        <p:spPr>
          <a:xfrm>
            <a:off x="502920" y="4910328"/>
            <a:ext cx="457200" cy="228600"/>
          </a:xfrm>
          <a:prstGeom prst="rect">
            <a:avLst/>
          </a:prstGeom>
          <a:noFill/>
          <a:ln/>
        </p:spPr>
        <p:txBody>
          <a:bodyPr wrap="square" lIns="0" tIns="0" rIns="0" bIns="0" rtlCol="0" anchor="ctr"/>
          <a:lstStyle/>
          <a:p>
            <a:pPr marL="0" indent="0" algn="r">
              <a:buNone/>
            </a:pPr>
            <a:r>
              <a:rPr lang="en-US" sz="800" dirty="0">
                <a:solidFill>
                  <a:srgbClr val="64748B"/>
                </a:solidFill>
                <a:latin typeface="Calibri" pitchFamily="34" charset="0"/>
                <a:ea typeface="Calibri" pitchFamily="34" charset="-122"/>
                <a:cs typeface="Calibri" pitchFamily="34" charset="-120"/>
              </a:rPr>
              <a:t>0</a:t>
            </a:r>
            <a:endParaRPr lang="en-US" sz="800" dirty="0"/>
          </a:p>
        </p:txBody>
      </p:sp>
      <p:sp>
        <p:nvSpPr>
          <p:cNvPr id="13" name="Shape 11"/>
          <p:cNvSpPr/>
          <p:nvPr/>
        </p:nvSpPr>
        <p:spPr>
          <a:xfrm>
            <a:off x="1005840" y="4092854"/>
            <a:ext cx="5943600" cy="4572"/>
          </a:xfrm>
          <a:prstGeom prst="rect">
            <a:avLst/>
          </a:prstGeom>
          <a:solidFill>
            <a:srgbClr val="E2E8F0"/>
          </a:solidFill>
          <a:ln/>
        </p:spPr>
        <p:txBody>
          <a:bodyPr/>
          <a:lstStyle/>
          <a:p>
            <a:endParaRPr lang="en-US"/>
          </a:p>
        </p:txBody>
      </p:sp>
      <p:sp>
        <p:nvSpPr>
          <p:cNvPr id="14" name="Text 12"/>
          <p:cNvSpPr/>
          <p:nvPr/>
        </p:nvSpPr>
        <p:spPr>
          <a:xfrm>
            <a:off x="502920" y="3973982"/>
            <a:ext cx="457200" cy="228600"/>
          </a:xfrm>
          <a:prstGeom prst="rect">
            <a:avLst/>
          </a:prstGeom>
          <a:noFill/>
          <a:ln/>
        </p:spPr>
        <p:txBody>
          <a:bodyPr wrap="square" lIns="0" tIns="0" rIns="0" bIns="0" rtlCol="0" anchor="ctr"/>
          <a:lstStyle/>
          <a:p>
            <a:pPr marL="0" indent="0" algn="r">
              <a:buNone/>
            </a:pPr>
            <a:r>
              <a:rPr lang="en-US" sz="800" dirty="0">
                <a:solidFill>
                  <a:srgbClr val="64748B"/>
                </a:solidFill>
                <a:latin typeface="Calibri" pitchFamily="34" charset="0"/>
                <a:ea typeface="Calibri" pitchFamily="34" charset="-122"/>
                <a:cs typeface="Calibri" pitchFamily="34" charset="-120"/>
              </a:rPr>
              <a:t>200</a:t>
            </a:r>
            <a:endParaRPr lang="en-US" sz="800" dirty="0"/>
          </a:p>
        </p:txBody>
      </p:sp>
      <p:sp>
        <p:nvSpPr>
          <p:cNvPr id="15" name="Shape 13"/>
          <p:cNvSpPr/>
          <p:nvPr/>
        </p:nvSpPr>
        <p:spPr>
          <a:xfrm>
            <a:off x="1005840" y="3156509"/>
            <a:ext cx="5943600" cy="4572"/>
          </a:xfrm>
          <a:prstGeom prst="rect">
            <a:avLst/>
          </a:prstGeom>
          <a:solidFill>
            <a:srgbClr val="E2E8F0"/>
          </a:solidFill>
          <a:ln/>
        </p:spPr>
        <p:txBody>
          <a:bodyPr/>
          <a:lstStyle/>
          <a:p>
            <a:endParaRPr lang="en-US"/>
          </a:p>
        </p:txBody>
      </p:sp>
      <p:sp>
        <p:nvSpPr>
          <p:cNvPr id="16" name="Text 14"/>
          <p:cNvSpPr/>
          <p:nvPr/>
        </p:nvSpPr>
        <p:spPr>
          <a:xfrm>
            <a:off x="502920" y="3037637"/>
            <a:ext cx="457200" cy="228600"/>
          </a:xfrm>
          <a:prstGeom prst="rect">
            <a:avLst/>
          </a:prstGeom>
          <a:noFill/>
          <a:ln/>
        </p:spPr>
        <p:txBody>
          <a:bodyPr wrap="square" lIns="0" tIns="0" rIns="0" bIns="0" rtlCol="0" anchor="ctr"/>
          <a:lstStyle/>
          <a:p>
            <a:pPr marL="0" indent="0" algn="r">
              <a:buNone/>
            </a:pPr>
            <a:r>
              <a:rPr lang="en-US" sz="800" dirty="0">
                <a:solidFill>
                  <a:srgbClr val="64748B"/>
                </a:solidFill>
                <a:latin typeface="Calibri" pitchFamily="34" charset="0"/>
                <a:ea typeface="Calibri" pitchFamily="34" charset="-122"/>
                <a:cs typeface="Calibri" pitchFamily="34" charset="-120"/>
              </a:rPr>
              <a:t>400</a:t>
            </a:r>
            <a:endParaRPr lang="en-US" sz="800" dirty="0"/>
          </a:p>
        </p:txBody>
      </p:sp>
      <p:sp>
        <p:nvSpPr>
          <p:cNvPr id="17" name="Shape 15"/>
          <p:cNvSpPr/>
          <p:nvPr/>
        </p:nvSpPr>
        <p:spPr>
          <a:xfrm>
            <a:off x="1005840" y="2220163"/>
            <a:ext cx="5943600" cy="4572"/>
          </a:xfrm>
          <a:prstGeom prst="rect">
            <a:avLst/>
          </a:prstGeom>
          <a:solidFill>
            <a:srgbClr val="E2E8F0"/>
          </a:solidFill>
          <a:ln/>
        </p:spPr>
        <p:txBody>
          <a:bodyPr/>
          <a:lstStyle/>
          <a:p>
            <a:endParaRPr lang="en-US"/>
          </a:p>
        </p:txBody>
      </p:sp>
      <p:sp>
        <p:nvSpPr>
          <p:cNvPr id="18" name="Text 16"/>
          <p:cNvSpPr/>
          <p:nvPr/>
        </p:nvSpPr>
        <p:spPr>
          <a:xfrm>
            <a:off x="502920" y="2101291"/>
            <a:ext cx="457200" cy="228600"/>
          </a:xfrm>
          <a:prstGeom prst="rect">
            <a:avLst/>
          </a:prstGeom>
          <a:noFill/>
          <a:ln/>
        </p:spPr>
        <p:txBody>
          <a:bodyPr wrap="square" lIns="0" tIns="0" rIns="0" bIns="0" rtlCol="0" anchor="ctr"/>
          <a:lstStyle/>
          <a:p>
            <a:pPr marL="0" indent="0" algn="r">
              <a:buNone/>
            </a:pPr>
            <a:r>
              <a:rPr lang="en-US" sz="800" dirty="0">
                <a:solidFill>
                  <a:srgbClr val="64748B"/>
                </a:solidFill>
                <a:latin typeface="Calibri" pitchFamily="34" charset="0"/>
                <a:ea typeface="Calibri" pitchFamily="34" charset="-122"/>
                <a:cs typeface="Calibri" pitchFamily="34" charset="-120"/>
              </a:rPr>
              <a:t>600</a:t>
            </a:r>
            <a:endParaRPr lang="en-US" sz="800" dirty="0"/>
          </a:p>
        </p:txBody>
      </p:sp>
      <p:sp>
        <p:nvSpPr>
          <p:cNvPr id="19" name="Shape 17"/>
          <p:cNvSpPr/>
          <p:nvPr/>
        </p:nvSpPr>
        <p:spPr>
          <a:xfrm>
            <a:off x="1051560" y="3273552"/>
            <a:ext cx="1060704" cy="1755648"/>
          </a:xfrm>
          <a:prstGeom prst="rect">
            <a:avLst/>
          </a:prstGeom>
          <a:solidFill>
            <a:srgbClr val="334155"/>
          </a:solidFill>
          <a:ln/>
        </p:spPr>
        <p:txBody>
          <a:bodyPr/>
          <a:lstStyle/>
          <a:p>
            <a:endParaRPr lang="en-US"/>
          </a:p>
        </p:txBody>
      </p:sp>
      <p:sp>
        <p:nvSpPr>
          <p:cNvPr id="20" name="Text 18"/>
          <p:cNvSpPr/>
          <p:nvPr/>
        </p:nvSpPr>
        <p:spPr>
          <a:xfrm>
            <a:off x="1051560" y="2980944"/>
            <a:ext cx="1060704" cy="274320"/>
          </a:xfrm>
          <a:prstGeom prst="rect">
            <a:avLst/>
          </a:prstGeom>
          <a:noFill/>
          <a:ln/>
        </p:spPr>
        <p:txBody>
          <a:bodyPr wrap="square" lIns="0" tIns="0" rIns="0" bIns="0" rtlCol="0" anchor="ctr"/>
          <a:lstStyle/>
          <a:p>
            <a:pPr marL="0" indent="0" algn="ctr">
              <a:buNone/>
            </a:pPr>
            <a:r>
              <a:rPr lang="en-US" sz="1000" b="1" dirty="0">
                <a:solidFill>
                  <a:srgbClr val="0F172A"/>
                </a:solidFill>
                <a:latin typeface="Calibri" pitchFamily="34" charset="0"/>
                <a:ea typeface="Calibri" pitchFamily="34" charset="-122"/>
                <a:cs typeface="Calibri" pitchFamily="34" charset="-120"/>
              </a:rPr>
              <a:t>₹375 Cr</a:t>
            </a:r>
            <a:endParaRPr lang="en-US" sz="1000" dirty="0"/>
          </a:p>
        </p:txBody>
      </p:sp>
      <p:sp>
        <p:nvSpPr>
          <p:cNvPr id="21" name="Text 19"/>
          <p:cNvSpPr/>
          <p:nvPr/>
        </p:nvSpPr>
        <p:spPr>
          <a:xfrm>
            <a:off x="960120" y="5074920"/>
            <a:ext cx="1243584" cy="457200"/>
          </a:xfrm>
          <a:prstGeom prst="rect">
            <a:avLst/>
          </a:prstGeom>
          <a:noFill/>
          <a:ln/>
        </p:spPr>
        <p:txBody>
          <a:bodyPr wrap="square" lIns="0" tIns="0" rIns="0" bIns="0" rtlCol="0" anchor="t"/>
          <a:lstStyle/>
          <a:p>
            <a:pPr marL="0" indent="0" algn="ctr">
              <a:buNone/>
            </a:pPr>
            <a:r>
              <a:rPr lang="en-US" sz="900" dirty="0">
                <a:solidFill>
                  <a:srgbClr val="334155"/>
                </a:solidFill>
                <a:latin typeface="Calibri" pitchFamily="34" charset="0"/>
                <a:ea typeface="Calibri" pitchFamily="34" charset="-122"/>
                <a:cs typeface="Calibri" pitchFamily="34" charset="-120"/>
              </a:rPr>
              <a:t>FY24</a:t>
            </a:r>
            <a:endParaRPr lang="en-US" sz="900" dirty="0"/>
          </a:p>
          <a:p>
            <a:pPr marL="0" indent="0" algn="ctr">
              <a:buNone/>
            </a:pPr>
            <a:r>
              <a:rPr lang="en-US" sz="900" dirty="0">
                <a:solidFill>
                  <a:srgbClr val="334155"/>
                </a:solidFill>
                <a:latin typeface="Calibri" pitchFamily="34" charset="0"/>
                <a:ea typeface="Calibri" pitchFamily="34" charset="-122"/>
                <a:cs typeface="Calibri" pitchFamily="34" charset="-120"/>
              </a:rPr>
              <a:t>baseline</a:t>
            </a:r>
            <a:endParaRPr lang="en-US" sz="900" dirty="0"/>
          </a:p>
        </p:txBody>
      </p:sp>
      <p:sp>
        <p:nvSpPr>
          <p:cNvPr id="22" name="Shape 20"/>
          <p:cNvSpPr/>
          <p:nvPr/>
        </p:nvSpPr>
        <p:spPr>
          <a:xfrm>
            <a:off x="2295144" y="2852196"/>
            <a:ext cx="1060704" cy="421356"/>
          </a:xfrm>
          <a:prstGeom prst="rect">
            <a:avLst/>
          </a:prstGeom>
          <a:solidFill>
            <a:srgbClr val="16A34A"/>
          </a:solidFill>
          <a:ln/>
        </p:spPr>
        <p:txBody>
          <a:bodyPr/>
          <a:lstStyle/>
          <a:p>
            <a:endParaRPr lang="en-US"/>
          </a:p>
        </p:txBody>
      </p:sp>
      <p:sp>
        <p:nvSpPr>
          <p:cNvPr id="23" name="Text 21"/>
          <p:cNvSpPr/>
          <p:nvPr/>
        </p:nvSpPr>
        <p:spPr>
          <a:xfrm>
            <a:off x="2295144" y="2577876"/>
            <a:ext cx="1060704" cy="274320"/>
          </a:xfrm>
          <a:prstGeom prst="rect">
            <a:avLst/>
          </a:prstGeom>
          <a:noFill/>
          <a:ln/>
        </p:spPr>
        <p:txBody>
          <a:bodyPr wrap="square" lIns="0" tIns="0" rIns="0" bIns="0" rtlCol="0" anchor="ctr"/>
          <a:lstStyle/>
          <a:p>
            <a:pPr marL="0" indent="0" algn="ctr">
              <a:buNone/>
            </a:pPr>
            <a:r>
              <a:rPr lang="en-US" sz="1000" b="1" dirty="0">
                <a:solidFill>
                  <a:srgbClr val="16A34A"/>
                </a:solidFill>
                <a:latin typeface="Calibri" pitchFamily="34" charset="0"/>
                <a:ea typeface="Calibri" pitchFamily="34" charset="-122"/>
                <a:cs typeface="Calibri" pitchFamily="34" charset="-120"/>
              </a:rPr>
              <a:t>+₹90</a:t>
            </a:r>
            <a:endParaRPr lang="en-US" sz="1000" dirty="0"/>
          </a:p>
        </p:txBody>
      </p:sp>
      <p:sp>
        <p:nvSpPr>
          <p:cNvPr id="24" name="Shape 22"/>
          <p:cNvSpPr/>
          <p:nvPr/>
        </p:nvSpPr>
        <p:spPr>
          <a:xfrm>
            <a:off x="2112264" y="3273552"/>
            <a:ext cx="182880" cy="0"/>
          </a:xfrm>
          <a:prstGeom prst="line">
            <a:avLst/>
          </a:prstGeom>
          <a:noFill/>
          <a:ln w="9525">
            <a:solidFill>
              <a:srgbClr val="64748B"/>
            </a:solidFill>
            <a:prstDash val="dash"/>
          </a:ln>
        </p:spPr>
        <p:txBody>
          <a:bodyPr/>
          <a:lstStyle/>
          <a:p>
            <a:endParaRPr lang="en-US"/>
          </a:p>
        </p:txBody>
      </p:sp>
      <p:sp>
        <p:nvSpPr>
          <p:cNvPr id="25" name="Text 23"/>
          <p:cNvSpPr/>
          <p:nvPr/>
        </p:nvSpPr>
        <p:spPr>
          <a:xfrm>
            <a:off x="2203704" y="5074920"/>
            <a:ext cx="1243584" cy="457200"/>
          </a:xfrm>
          <a:prstGeom prst="rect">
            <a:avLst/>
          </a:prstGeom>
          <a:noFill/>
          <a:ln/>
        </p:spPr>
        <p:txBody>
          <a:bodyPr wrap="square" lIns="0" tIns="0" rIns="0" bIns="0" rtlCol="0" anchor="t"/>
          <a:lstStyle/>
          <a:p>
            <a:pPr marL="0" indent="0" algn="ctr">
              <a:buNone/>
            </a:pPr>
            <a:r>
              <a:rPr lang="en-US" sz="900" dirty="0">
                <a:solidFill>
                  <a:srgbClr val="334155"/>
                </a:solidFill>
                <a:latin typeface="Calibri" pitchFamily="34" charset="0"/>
                <a:ea typeface="Calibri" pitchFamily="34" charset="-122"/>
                <a:cs typeface="Calibri" pitchFamily="34" charset="-120"/>
              </a:rPr>
              <a:t>Riskcovry</a:t>
            </a:r>
            <a:endParaRPr lang="en-US" sz="900" dirty="0"/>
          </a:p>
          <a:p>
            <a:pPr marL="0" indent="0" algn="ctr">
              <a:buNone/>
            </a:pPr>
            <a:r>
              <a:rPr lang="en-US" sz="900" dirty="0">
                <a:solidFill>
                  <a:srgbClr val="334155"/>
                </a:solidFill>
                <a:latin typeface="Calibri" pitchFamily="34" charset="0"/>
                <a:ea typeface="Calibri" pitchFamily="34" charset="-122"/>
                <a:cs typeface="Calibri" pitchFamily="34" charset="-120"/>
              </a:rPr>
              <a:t>cross-sell</a:t>
            </a:r>
            <a:endParaRPr lang="en-US" sz="900" dirty="0"/>
          </a:p>
        </p:txBody>
      </p:sp>
      <p:sp>
        <p:nvSpPr>
          <p:cNvPr id="26" name="Shape 24"/>
          <p:cNvSpPr/>
          <p:nvPr/>
        </p:nvSpPr>
        <p:spPr>
          <a:xfrm>
            <a:off x="3538728" y="2501067"/>
            <a:ext cx="1060704" cy="351130"/>
          </a:xfrm>
          <a:prstGeom prst="rect">
            <a:avLst/>
          </a:prstGeom>
          <a:solidFill>
            <a:srgbClr val="0F3D2E"/>
          </a:solidFill>
          <a:ln/>
        </p:spPr>
        <p:txBody>
          <a:bodyPr/>
          <a:lstStyle/>
          <a:p>
            <a:endParaRPr lang="en-US"/>
          </a:p>
        </p:txBody>
      </p:sp>
      <p:sp>
        <p:nvSpPr>
          <p:cNvPr id="27" name="Text 25"/>
          <p:cNvSpPr/>
          <p:nvPr/>
        </p:nvSpPr>
        <p:spPr>
          <a:xfrm>
            <a:off x="3538728" y="2226747"/>
            <a:ext cx="1060704" cy="274320"/>
          </a:xfrm>
          <a:prstGeom prst="rect">
            <a:avLst/>
          </a:prstGeom>
          <a:noFill/>
          <a:ln/>
        </p:spPr>
        <p:txBody>
          <a:bodyPr wrap="square" lIns="0" tIns="0" rIns="0" bIns="0" rtlCol="0" anchor="ctr"/>
          <a:lstStyle/>
          <a:p>
            <a:pPr marL="0" indent="0" algn="ctr">
              <a:buNone/>
            </a:pPr>
            <a:r>
              <a:rPr lang="en-US" sz="1000" b="1" dirty="0">
                <a:solidFill>
                  <a:srgbClr val="0F3D2E"/>
                </a:solidFill>
                <a:latin typeface="Calibri" pitchFamily="34" charset="0"/>
                <a:ea typeface="Calibri" pitchFamily="34" charset="-122"/>
                <a:cs typeface="Calibri" pitchFamily="34" charset="-120"/>
              </a:rPr>
              <a:t>+₹75</a:t>
            </a:r>
            <a:endParaRPr lang="en-US" sz="1000" dirty="0"/>
          </a:p>
        </p:txBody>
      </p:sp>
      <p:sp>
        <p:nvSpPr>
          <p:cNvPr id="28" name="Shape 26"/>
          <p:cNvSpPr/>
          <p:nvPr/>
        </p:nvSpPr>
        <p:spPr>
          <a:xfrm>
            <a:off x="3355848" y="2852196"/>
            <a:ext cx="182880" cy="0"/>
          </a:xfrm>
          <a:prstGeom prst="line">
            <a:avLst/>
          </a:prstGeom>
          <a:noFill/>
          <a:ln w="9525">
            <a:solidFill>
              <a:srgbClr val="64748B"/>
            </a:solidFill>
            <a:prstDash val="dash"/>
          </a:ln>
        </p:spPr>
        <p:txBody>
          <a:bodyPr/>
          <a:lstStyle/>
          <a:p>
            <a:endParaRPr lang="en-US"/>
          </a:p>
        </p:txBody>
      </p:sp>
      <p:sp>
        <p:nvSpPr>
          <p:cNvPr id="29" name="Text 27"/>
          <p:cNvSpPr/>
          <p:nvPr/>
        </p:nvSpPr>
        <p:spPr>
          <a:xfrm>
            <a:off x="3447288" y="5074920"/>
            <a:ext cx="1243584" cy="457200"/>
          </a:xfrm>
          <a:prstGeom prst="rect">
            <a:avLst/>
          </a:prstGeom>
          <a:noFill/>
          <a:ln/>
        </p:spPr>
        <p:txBody>
          <a:bodyPr wrap="square" lIns="0" tIns="0" rIns="0" bIns="0" rtlCol="0" anchor="t"/>
          <a:lstStyle/>
          <a:p>
            <a:pPr marL="0" indent="0" algn="ctr">
              <a:buNone/>
            </a:pPr>
            <a:r>
              <a:rPr lang="en-US" sz="900" dirty="0">
                <a:solidFill>
                  <a:srgbClr val="334155"/>
                </a:solidFill>
                <a:latin typeface="Calibri" pitchFamily="34" charset="0"/>
                <a:ea typeface="Calibri" pitchFamily="34" charset="-122"/>
                <a:cs typeface="Calibri" pitchFamily="34" charset="-120"/>
              </a:rPr>
              <a:t>WebEngage</a:t>
            </a:r>
            <a:endParaRPr lang="en-US" sz="900" dirty="0"/>
          </a:p>
          <a:p>
            <a:pPr marL="0" indent="0" algn="ctr">
              <a:buNone/>
            </a:pPr>
            <a:r>
              <a:rPr lang="en-US" sz="900" dirty="0">
                <a:solidFill>
                  <a:srgbClr val="334155"/>
                </a:solidFill>
                <a:latin typeface="Calibri" pitchFamily="34" charset="0"/>
                <a:ea typeface="Calibri" pitchFamily="34" charset="-122"/>
                <a:cs typeface="Calibri" pitchFamily="34" charset="-120"/>
              </a:rPr>
              <a:t>bundled</a:t>
            </a:r>
            <a:endParaRPr lang="en-US" sz="900" dirty="0"/>
          </a:p>
        </p:txBody>
      </p:sp>
      <p:sp>
        <p:nvSpPr>
          <p:cNvPr id="30" name="Shape 28"/>
          <p:cNvSpPr/>
          <p:nvPr/>
        </p:nvSpPr>
        <p:spPr>
          <a:xfrm>
            <a:off x="4782312" y="2337206"/>
            <a:ext cx="1060704" cy="163860"/>
          </a:xfrm>
          <a:prstGeom prst="rect">
            <a:avLst/>
          </a:prstGeom>
          <a:solidFill>
            <a:srgbClr val="86EFAC"/>
          </a:solidFill>
          <a:ln/>
        </p:spPr>
        <p:txBody>
          <a:bodyPr/>
          <a:lstStyle/>
          <a:p>
            <a:endParaRPr lang="en-US"/>
          </a:p>
        </p:txBody>
      </p:sp>
      <p:sp>
        <p:nvSpPr>
          <p:cNvPr id="31" name="Text 29"/>
          <p:cNvSpPr/>
          <p:nvPr/>
        </p:nvSpPr>
        <p:spPr>
          <a:xfrm>
            <a:off x="4782312" y="2062886"/>
            <a:ext cx="1060704" cy="274320"/>
          </a:xfrm>
          <a:prstGeom prst="rect">
            <a:avLst/>
          </a:prstGeom>
          <a:noFill/>
          <a:ln/>
        </p:spPr>
        <p:txBody>
          <a:bodyPr wrap="square" lIns="0" tIns="0" rIns="0" bIns="0" rtlCol="0" anchor="ctr"/>
          <a:lstStyle/>
          <a:p>
            <a:pPr marL="0" indent="0" algn="ctr">
              <a:buNone/>
            </a:pPr>
            <a:r>
              <a:rPr lang="en-US" sz="1000" b="1" dirty="0">
                <a:solidFill>
                  <a:srgbClr val="86EFAC"/>
                </a:solidFill>
                <a:latin typeface="Calibri" pitchFamily="34" charset="0"/>
                <a:ea typeface="Calibri" pitchFamily="34" charset="-122"/>
                <a:cs typeface="Calibri" pitchFamily="34" charset="-120"/>
              </a:rPr>
              <a:t>+₹35</a:t>
            </a:r>
            <a:endParaRPr lang="en-US" sz="1000" dirty="0"/>
          </a:p>
        </p:txBody>
      </p:sp>
      <p:sp>
        <p:nvSpPr>
          <p:cNvPr id="32" name="Shape 30"/>
          <p:cNvSpPr/>
          <p:nvPr/>
        </p:nvSpPr>
        <p:spPr>
          <a:xfrm>
            <a:off x="4599432" y="2501067"/>
            <a:ext cx="182880" cy="0"/>
          </a:xfrm>
          <a:prstGeom prst="line">
            <a:avLst/>
          </a:prstGeom>
          <a:noFill/>
          <a:ln w="9525">
            <a:solidFill>
              <a:srgbClr val="64748B"/>
            </a:solidFill>
            <a:prstDash val="dash"/>
          </a:ln>
        </p:spPr>
        <p:txBody>
          <a:bodyPr/>
          <a:lstStyle/>
          <a:p>
            <a:endParaRPr lang="en-US"/>
          </a:p>
        </p:txBody>
      </p:sp>
      <p:sp>
        <p:nvSpPr>
          <p:cNvPr id="33" name="Text 31"/>
          <p:cNvSpPr/>
          <p:nvPr/>
        </p:nvSpPr>
        <p:spPr>
          <a:xfrm>
            <a:off x="4690872" y="5074920"/>
            <a:ext cx="1243584" cy="457200"/>
          </a:xfrm>
          <a:prstGeom prst="rect">
            <a:avLst/>
          </a:prstGeom>
          <a:noFill/>
          <a:ln/>
        </p:spPr>
        <p:txBody>
          <a:bodyPr wrap="square" lIns="0" tIns="0" rIns="0" bIns="0" rtlCol="0" anchor="t"/>
          <a:lstStyle/>
          <a:p>
            <a:pPr marL="0" indent="0" algn="ctr">
              <a:buNone/>
            </a:pPr>
            <a:r>
              <a:rPr lang="en-US" sz="900" dirty="0">
                <a:solidFill>
                  <a:srgbClr val="334155"/>
                </a:solidFill>
                <a:latin typeface="Calibri" pitchFamily="34" charset="0"/>
                <a:ea typeface="Calibri" pitchFamily="34" charset="-122"/>
                <a:cs typeface="Calibri" pitchFamily="34" charset="-120"/>
              </a:rPr>
              <a:t>Organic</a:t>
            </a:r>
            <a:endParaRPr lang="en-US" sz="900" dirty="0"/>
          </a:p>
          <a:p>
            <a:pPr marL="0" indent="0" algn="ctr">
              <a:buNone/>
            </a:pPr>
            <a:r>
              <a:rPr lang="en-US" sz="900" dirty="0">
                <a:solidFill>
                  <a:srgbClr val="334155"/>
                </a:solidFill>
                <a:latin typeface="Calibri" pitchFamily="34" charset="0"/>
                <a:ea typeface="Calibri" pitchFamily="34" charset="-122"/>
                <a:cs typeface="Calibri" pitchFamily="34" charset="-120"/>
              </a:rPr>
              <a:t>organic wallet</a:t>
            </a:r>
            <a:endParaRPr lang="en-US" sz="900" dirty="0"/>
          </a:p>
        </p:txBody>
      </p:sp>
      <p:sp>
        <p:nvSpPr>
          <p:cNvPr id="34" name="Shape 32"/>
          <p:cNvSpPr/>
          <p:nvPr/>
        </p:nvSpPr>
        <p:spPr>
          <a:xfrm>
            <a:off x="6025896" y="2337206"/>
            <a:ext cx="1060704" cy="2691994"/>
          </a:xfrm>
          <a:prstGeom prst="rect">
            <a:avLst/>
          </a:prstGeom>
          <a:solidFill>
            <a:srgbClr val="0B1A14"/>
          </a:solidFill>
          <a:ln/>
        </p:spPr>
        <p:txBody>
          <a:bodyPr/>
          <a:lstStyle/>
          <a:p>
            <a:endParaRPr lang="en-US"/>
          </a:p>
        </p:txBody>
      </p:sp>
      <p:sp>
        <p:nvSpPr>
          <p:cNvPr id="35" name="Text 33"/>
          <p:cNvSpPr/>
          <p:nvPr/>
        </p:nvSpPr>
        <p:spPr>
          <a:xfrm>
            <a:off x="6025896" y="2044598"/>
            <a:ext cx="1060704" cy="274320"/>
          </a:xfrm>
          <a:prstGeom prst="rect">
            <a:avLst/>
          </a:prstGeom>
          <a:noFill/>
          <a:ln/>
        </p:spPr>
        <p:txBody>
          <a:bodyPr wrap="square" lIns="0" tIns="0" rIns="0" bIns="0" rtlCol="0" anchor="ctr"/>
          <a:lstStyle/>
          <a:p>
            <a:pPr marL="0" indent="0" algn="ctr">
              <a:buNone/>
            </a:pPr>
            <a:r>
              <a:rPr lang="en-US" sz="1000" b="1" dirty="0">
                <a:solidFill>
                  <a:srgbClr val="0F172A"/>
                </a:solidFill>
                <a:latin typeface="Calibri" pitchFamily="34" charset="0"/>
                <a:ea typeface="Calibri" pitchFamily="34" charset="-122"/>
                <a:cs typeface="Calibri" pitchFamily="34" charset="-120"/>
              </a:rPr>
              <a:t>₹575 Cr</a:t>
            </a:r>
            <a:endParaRPr lang="en-US" sz="1000" dirty="0"/>
          </a:p>
        </p:txBody>
      </p:sp>
      <p:sp>
        <p:nvSpPr>
          <p:cNvPr id="36" name="Text 34"/>
          <p:cNvSpPr/>
          <p:nvPr/>
        </p:nvSpPr>
        <p:spPr>
          <a:xfrm>
            <a:off x="5934456" y="5074920"/>
            <a:ext cx="1243584" cy="457200"/>
          </a:xfrm>
          <a:prstGeom prst="rect">
            <a:avLst/>
          </a:prstGeom>
          <a:noFill/>
          <a:ln/>
        </p:spPr>
        <p:txBody>
          <a:bodyPr wrap="square" lIns="0" tIns="0" rIns="0" bIns="0" rtlCol="0" anchor="t"/>
          <a:lstStyle/>
          <a:p>
            <a:pPr marL="0" indent="0" algn="ctr">
              <a:buNone/>
            </a:pPr>
            <a:r>
              <a:rPr lang="en-US" sz="900" dirty="0">
                <a:solidFill>
                  <a:srgbClr val="334155"/>
                </a:solidFill>
                <a:latin typeface="Calibri" pitchFamily="34" charset="0"/>
                <a:ea typeface="Calibri" pitchFamily="34" charset="-122"/>
                <a:cs typeface="Calibri" pitchFamily="34" charset="-120"/>
              </a:rPr>
              <a:t>FY29E</a:t>
            </a:r>
            <a:endParaRPr lang="en-US" sz="900" dirty="0"/>
          </a:p>
          <a:p>
            <a:pPr marL="0" indent="0" algn="ctr">
              <a:buNone/>
            </a:pPr>
            <a:r>
              <a:rPr lang="en-US" sz="900" dirty="0">
                <a:solidFill>
                  <a:srgbClr val="334155"/>
                </a:solidFill>
                <a:latin typeface="Calibri" pitchFamily="34" charset="0"/>
                <a:ea typeface="Calibri" pitchFamily="34" charset="-122"/>
                <a:cs typeface="Calibri" pitchFamily="34" charset="-120"/>
              </a:rPr>
              <a:t>total</a:t>
            </a:r>
            <a:endParaRPr lang="en-US" sz="900" dirty="0"/>
          </a:p>
        </p:txBody>
      </p:sp>
      <p:sp>
        <p:nvSpPr>
          <p:cNvPr id="37" name="Text 35"/>
          <p:cNvSpPr/>
          <p:nvPr/>
        </p:nvSpPr>
        <p:spPr>
          <a:xfrm>
            <a:off x="7406640" y="1417320"/>
            <a:ext cx="4343400" cy="274320"/>
          </a:xfrm>
          <a:prstGeom prst="rect">
            <a:avLst/>
          </a:prstGeom>
          <a:noFill/>
          <a:ln/>
        </p:spPr>
        <p:txBody>
          <a:bodyPr wrap="square" lIns="0" tIns="0" rIns="0" bIns="0" rtlCol="0" anchor="ctr"/>
          <a:lstStyle/>
          <a:p>
            <a:pPr marL="0" indent="0">
              <a:buNone/>
            </a:pPr>
            <a:r>
              <a:rPr lang="en-US" sz="1000" b="1" kern="0" spc="100" dirty="0">
                <a:solidFill>
                  <a:srgbClr val="0F172A"/>
                </a:solidFill>
                <a:latin typeface="Calibri" pitchFamily="34" charset="0"/>
                <a:ea typeface="Calibri" pitchFamily="34" charset="-122"/>
                <a:cs typeface="Calibri" pitchFamily="34" charset="-120"/>
              </a:rPr>
              <a:t>Illustrative per-customer uplift (₹ Cr revenue/yr)</a:t>
            </a:r>
            <a:endParaRPr lang="en-US" sz="1000" spc="100" dirty="0"/>
          </a:p>
        </p:txBody>
      </p:sp>
      <p:sp>
        <p:nvSpPr>
          <p:cNvPr id="38" name="Shape 36"/>
          <p:cNvSpPr/>
          <p:nvPr/>
        </p:nvSpPr>
        <p:spPr>
          <a:xfrm>
            <a:off x="7406640" y="1691640"/>
            <a:ext cx="4343400" cy="13716"/>
          </a:xfrm>
          <a:prstGeom prst="rect">
            <a:avLst/>
          </a:prstGeom>
          <a:solidFill>
            <a:srgbClr val="E2E8F0"/>
          </a:solidFill>
          <a:ln/>
        </p:spPr>
        <p:txBody>
          <a:bodyPr/>
          <a:lstStyle/>
          <a:p>
            <a:endParaRPr lang="en-US"/>
          </a:p>
        </p:txBody>
      </p:sp>
      <p:graphicFrame>
        <p:nvGraphicFramePr>
          <p:cNvPr id="39" name="Table 0"/>
          <p:cNvGraphicFramePr>
            <a:graphicFrameLocks noGrp="1"/>
          </p:cNvGraphicFramePr>
          <p:nvPr>
            <p:extLst>
              <p:ext uri="{D42A27DB-BD31-4B8C-83A1-F6EECF244321}">
                <p14:modId xmlns:p14="http://schemas.microsoft.com/office/powerpoint/2010/main" val="1579011935"/>
              </p:ext>
            </p:extLst>
          </p:nvPr>
        </p:nvGraphicFramePr>
        <p:xfrm>
          <a:off x="7406640" y="1783080"/>
          <a:ext cx="4343400" cy="3108960"/>
        </p:xfrm>
        <a:graphic>
          <a:graphicData uri="http://schemas.openxmlformats.org/drawingml/2006/table">
            <a:tbl>
              <a:tblPr/>
              <a:tblGrid>
                <a:gridCol w="1691640">
                  <a:extLst>
                    <a:ext uri="{9D8B030D-6E8A-4147-A177-3AD203B41FA5}">
                      <a16:colId xmlns:a16="http://schemas.microsoft.com/office/drawing/2014/main" val="20000"/>
                    </a:ext>
                  </a:extLst>
                </a:gridCol>
                <a:gridCol w="594360">
                  <a:extLst>
                    <a:ext uri="{9D8B030D-6E8A-4147-A177-3AD203B41FA5}">
                      <a16:colId xmlns:a16="http://schemas.microsoft.com/office/drawing/2014/main" val="20001"/>
                    </a:ext>
                  </a:extLst>
                </a:gridCol>
                <a:gridCol w="640080">
                  <a:extLst>
                    <a:ext uri="{9D8B030D-6E8A-4147-A177-3AD203B41FA5}">
                      <a16:colId xmlns:a16="http://schemas.microsoft.com/office/drawing/2014/main" val="20002"/>
                    </a:ext>
                  </a:extLst>
                </a:gridCol>
                <a:gridCol w="640080">
                  <a:extLst>
                    <a:ext uri="{9D8B030D-6E8A-4147-A177-3AD203B41FA5}">
                      <a16:colId xmlns:a16="http://schemas.microsoft.com/office/drawing/2014/main" val="20003"/>
                    </a:ext>
                  </a:extLst>
                </a:gridCol>
                <a:gridCol w="777240">
                  <a:extLst>
                    <a:ext uri="{9D8B030D-6E8A-4147-A177-3AD203B41FA5}">
                      <a16:colId xmlns:a16="http://schemas.microsoft.com/office/drawing/2014/main" val="20004"/>
                    </a:ext>
                  </a:extLst>
                </a:gridCol>
              </a:tblGrid>
              <a:tr h="310896">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Customer</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B1A14"/>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Today</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B1A14"/>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 RC</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B1A14"/>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 WE</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B1A14"/>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FY29E</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B1A14"/>
                    </a:solidFill>
                  </a:tcPr>
                </a:tc>
                <a:extLst>
                  <a:ext uri="{0D108BD9-81ED-4DB2-BD59-A6C34878D82A}">
                    <a16:rowId xmlns:a16="http://schemas.microsoft.com/office/drawing/2014/main" val="10000"/>
                  </a:ext>
                </a:extLst>
              </a:tr>
              <a:tr h="310896">
                <a:tc>
                  <a:txBody>
                    <a:bodyPr/>
                    <a:lstStyle/>
                    <a:p>
                      <a:pPr marL="0" indent="0">
                        <a:buNone/>
                      </a:pPr>
                      <a:r>
                        <a:rPr lang="en-US" sz="950" dirty="0">
                          <a:solidFill>
                            <a:srgbClr val="0F172A"/>
                          </a:solidFill>
                          <a:latin typeface="Calibri" pitchFamily="34" charset="0"/>
                          <a:ea typeface="Calibri" pitchFamily="34" charset="-122"/>
                          <a:cs typeface="Calibri" pitchFamily="34" charset="-120"/>
                        </a:rPr>
                        <a:t>HDFC Bank</a:t>
                      </a:r>
                      <a:endParaRPr lang="en-US" sz="9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950" dirty="0">
                          <a:solidFill>
                            <a:srgbClr val="0F172A"/>
                          </a:solidFill>
                          <a:latin typeface="Calibri" pitchFamily="34" charset="0"/>
                          <a:ea typeface="Calibri" pitchFamily="34" charset="-122"/>
                          <a:cs typeface="Calibri" pitchFamily="34" charset="-120"/>
                        </a:rPr>
                        <a:t>~80</a:t>
                      </a:r>
                      <a:endParaRPr lang="en-US" sz="9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950" b="1" dirty="0">
                          <a:solidFill>
                            <a:srgbClr val="16A34A"/>
                          </a:solidFill>
                          <a:latin typeface="Calibri" pitchFamily="34" charset="0"/>
                          <a:ea typeface="Calibri" pitchFamily="34" charset="-122"/>
                          <a:cs typeface="Calibri" pitchFamily="34" charset="-120"/>
                        </a:rPr>
                        <a:t>+18</a:t>
                      </a:r>
                      <a:endParaRPr lang="en-US" sz="9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950" b="1" dirty="0">
                          <a:solidFill>
                            <a:srgbClr val="0F3D2E"/>
                          </a:solidFill>
                          <a:latin typeface="Calibri" pitchFamily="34" charset="0"/>
                          <a:ea typeface="Calibri" pitchFamily="34" charset="-122"/>
                          <a:cs typeface="Calibri" pitchFamily="34" charset="-120"/>
                        </a:rPr>
                        <a:t>+15</a:t>
                      </a:r>
                      <a:endParaRPr lang="en-US" sz="9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950" b="1" dirty="0">
                          <a:solidFill>
                            <a:srgbClr val="0F172A"/>
                          </a:solidFill>
                          <a:latin typeface="Calibri" pitchFamily="34" charset="0"/>
                          <a:ea typeface="Calibri" pitchFamily="34" charset="-122"/>
                          <a:cs typeface="Calibri" pitchFamily="34" charset="-120"/>
                        </a:rPr>
                        <a:t>113</a:t>
                      </a:r>
                      <a:endParaRPr lang="en-US" sz="9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extLst>
                  <a:ext uri="{0D108BD9-81ED-4DB2-BD59-A6C34878D82A}">
                    <a16:rowId xmlns:a16="http://schemas.microsoft.com/office/drawing/2014/main" val="10001"/>
                  </a:ext>
                </a:extLst>
              </a:tr>
              <a:tr h="310896">
                <a:tc>
                  <a:txBody>
                    <a:bodyPr/>
                    <a:lstStyle/>
                    <a:p>
                      <a:pPr marL="0" indent="0">
                        <a:buNone/>
                      </a:pPr>
                      <a:r>
                        <a:rPr lang="en-US" sz="950" dirty="0">
                          <a:solidFill>
                            <a:srgbClr val="0F172A"/>
                          </a:solidFill>
                          <a:latin typeface="Calibri" pitchFamily="34" charset="0"/>
                          <a:ea typeface="Calibri" pitchFamily="34" charset="-122"/>
                          <a:cs typeface="Calibri" pitchFamily="34" charset="-120"/>
                        </a:rPr>
                        <a:t>ICICI Bank</a:t>
                      </a:r>
                      <a:endParaRPr lang="en-US" sz="9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950" dirty="0">
                          <a:solidFill>
                            <a:srgbClr val="0F172A"/>
                          </a:solidFill>
                          <a:latin typeface="Calibri" pitchFamily="34" charset="0"/>
                          <a:ea typeface="Calibri" pitchFamily="34" charset="-122"/>
                          <a:cs typeface="Calibri" pitchFamily="34" charset="-120"/>
                        </a:rPr>
                        <a:t>~45</a:t>
                      </a:r>
                      <a:endParaRPr lang="en-US" sz="9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950" b="1" dirty="0">
                          <a:solidFill>
                            <a:srgbClr val="16A34A"/>
                          </a:solidFill>
                          <a:latin typeface="Calibri" pitchFamily="34" charset="0"/>
                          <a:ea typeface="Calibri" pitchFamily="34" charset="-122"/>
                          <a:cs typeface="Calibri" pitchFamily="34" charset="-120"/>
                        </a:rPr>
                        <a:t>+12</a:t>
                      </a:r>
                      <a:endParaRPr lang="en-US" sz="9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950" b="1" dirty="0">
                          <a:solidFill>
                            <a:srgbClr val="0F3D2E"/>
                          </a:solidFill>
                          <a:latin typeface="Calibri" pitchFamily="34" charset="0"/>
                          <a:ea typeface="Calibri" pitchFamily="34" charset="-122"/>
                          <a:cs typeface="Calibri" pitchFamily="34" charset="-120"/>
                        </a:rPr>
                        <a:t>+9</a:t>
                      </a:r>
                      <a:endParaRPr lang="en-US" sz="9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950" b="1" dirty="0">
                          <a:solidFill>
                            <a:srgbClr val="0F172A"/>
                          </a:solidFill>
                          <a:latin typeface="Calibri" pitchFamily="34" charset="0"/>
                          <a:ea typeface="Calibri" pitchFamily="34" charset="-122"/>
                          <a:cs typeface="Calibri" pitchFamily="34" charset="-120"/>
                        </a:rPr>
                        <a:t>66</a:t>
                      </a:r>
                      <a:endParaRPr lang="en-US" sz="9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extLst>
                  <a:ext uri="{0D108BD9-81ED-4DB2-BD59-A6C34878D82A}">
                    <a16:rowId xmlns:a16="http://schemas.microsoft.com/office/drawing/2014/main" val="10002"/>
                  </a:ext>
                </a:extLst>
              </a:tr>
              <a:tr h="310896">
                <a:tc>
                  <a:txBody>
                    <a:bodyPr/>
                    <a:lstStyle/>
                    <a:p>
                      <a:pPr marL="0" indent="0">
                        <a:buNone/>
                      </a:pPr>
                      <a:r>
                        <a:rPr lang="en-US" sz="950" dirty="0">
                          <a:solidFill>
                            <a:srgbClr val="0F172A"/>
                          </a:solidFill>
                          <a:latin typeface="Calibri" pitchFamily="34" charset="0"/>
                          <a:ea typeface="Calibri" pitchFamily="34" charset="-122"/>
                          <a:cs typeface="Calibri" pitchFamily="34" charset="-120"/>
                        </a:rPr>
                        <a:t>Axis Bank</a:t>
                      </a:r>
                      <a:endParaRPr lang="en-US" sz="9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950" dirty="0">
                          <a:solidFill>
                            <a:srgbClr val="0F172A"/>
                          </a:solidFill>
                          <a:latin typeface="Calibri" pitchFamily="34" charset="0"/>
                          <a:ea typeface="Calibri" pitchFamily="34" charset="-122"/>
                          <a:cs typeface="Calibri" pitchFamily="34" charset="-120"/>
                        </a:rPr>
                        <a:t>~38</a:t>
                      </a:r>
                      <a:endParaRPr lang="en-US" sz="9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950" b="1" dirty="0">
                          <a:solidFill>
                            <a:srgbClr val="16A34A"/>
                          </a:solidFill>
                          <a:latin typeface="Calibri" pitchFamily="34" charset="0"/>
                          <a:ea typeface="Calibri" pitchFamily="34" charset="-122"/>
                          <a:cs typeface="Calibri" pitchFamily="34" charset="-120"/>
                        </a:rPr>
                        <a:t>+10</a:t>
                      </a:r>
                      <a:endParaRPr lang="en-US" sz="9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950" b="1" dirty="0">
                          <a:solidFill>
                            <a:srgbClr val="0F3D2E"/>
                          </a:solidFill>
                          <a:latin typeface="Calibri" pitchFamily="34" charset="0"/>
                          <a:ea typeface="Calibri" pitchFamily="34" charset="-122"/>
                          <a:cs typeface="Calibri" pitchFamily="34" charset="-120"/>
                        </a:rPr>
                        <a:t>+8</a:t>
                      </a:r>
                      <a:endParaRPr lang="en-US" sz="9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950" b="1" dirty="0">
                          <a:solidFill>
                            <a:srgbClr val="0F172A"/>
                          </a:solidFill>
                          <a:latin typeface="Calibri" pitchFamily="34" charset="0"/>
                          <a:ea typeface="Calibri" pitchFamily="34" charset="-122"/>
                          <a:cs typeface="Calibri" pitchFamily="34" charset="-120"/>
                        </a:rPr>
                        <a:t>56</a:t>
                      </a:r>
                      <a:endParaRPr lang="en-US" sz="9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extLst>
                  <a:ext uri="{0D108BD9-81ED-4DB2-BD59-A6C34878D82A}">
                    <a16:rowId xmlns:a16="http://schemas.microsoft.com/office/drawing/2014/main" val="10003"/>
                  </a:ext>
                </a:extLst>
              </a:tr>
              <a:tr h="310896">
                <a:tc>
                  <a:txBody>
                    <a:bodyPr/>
                    <a:lstStyle/>
                    <a:p>
                      <a:pPr marL="0" indent="0">
                        <a:buNone/>
                      </a:pPr>
                      <a:r>
                        <a:rPr lang="en-US" sz="950" dirty="0">
                          <a:solidFill>
                            <a:srgbClr val="0F172A"/>
                          </a:solidFill>
                          <a:latin typeface="Calibri" pitchFamily="34" charset="0"/>
                          <a:ea typeface="Calibri" pitchFamily="34" charset="-122"/>
                          <a:cs typeface="Calibri" pitchFamily="34" charset="-120"/>
                        </a:rPr>
                        <a:t>Croma (Tata)</a:t>
                      </a:r>
                      <a:endParaRPr lang="en-US" sz="9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950" dirty="0">
                          <a:solidFill>
                            <a:srgbClr val="0F172A"/>
                          </a:solidFill>
                          <a:latin typeface="Calibri" pitchFamily="34" charset="0"/>
                          <a:ea typeface="Calibri" pitchFamily="34" charset="-122"/>
                          <a:cs typeface="Calibri" pitchFamily="34" charset="-120"/>
                        </a:rPr>
                        <a:t>~42</a:t>
                      </a:r>
                      <a:endParaRPr lang="en-US" sz="9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950" b="1" dirty="0">
                          <a:solidFill>
                            <a:srgbClr val="16A34A"/>
                          </a:solidFill>
                          <a:latin typeface="Calibri" pitchFamily="34" charset="0"/>
                          <a:ea typeface="Calibri" pitchFamily="34" charset="-122"/>
                          <a:cs typeface="Calibri" pitchFamily="34" charset="-120"/>
                        </a:rPr>
                        <a:t>+15</a:t>
                      </a:r>
                      <a:endParaRPr lang="en-US" sz="9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950" b="1" dirty="0">
                          <a:solidFill>
                            <a:srgbClr val="0F3D2E"/>
                          </a:solidFill>
                          <a:latin typeface="Calibri" pitchFamily="34" charset="0"/>
                          <a:ea typeface="Calibri" pitchFamily="34" charset="-122"/>
                          <a:cs typeface="Calibri" pitchFamily="34" charset="-120"/>
                        </a:rPr>
                        <a:t>+7</a:t>
                      </a:r>
                      <a:endParaRPr lang="en-US" sz="9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950" b="1" dirty="0">
                          <a:solidFill>
                            <a:srgbClr val="0F172A"/>
                          </a:solidFill>
                          <a:latin typeface="Calibri" pitchFamily="34" charset="0"/>
                          <a:ea typeface="Calibri" pitchFamily="34" charset="-122"/>
                          <a:cs typeface="Calibri" pitchFamily="34" charset="-120"/>
                        </a:rPr>
                        <a:t>64</a:t>
                      </a:r>
                      <a:endParaRPr lang="en-US" sz="9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extLst>
                  <a:ext uri="{0D108BD9-81ED-4DB2-BD59-A6C34878D82A}">
                    <a16:rowId xmlns:a16="http://schemas.microsoft.com/office/drawing/2014/main" val="10004"/>
                  </a:ext>
                </a:extLst>
              </a:tr>
              <a:tr h="310896">
                <a:tc>
                  <a:txBody>
                    <a:bodyPr/>
                    <a:lstStyle/>
                    <a:p>
                      <a:pPr marL="0" indent="0">
                        <a:buNone/>
                      </a:pPr>
                      <a:r>
                        <a:rPr lang="en-US" sz="950" dirty="0">
                          <a:solidFill>
                            <a:srgbClr val="0F172A"/>
                          </a:solidFill>
                          <a:latin typeface="Calibri" pitchFamily="34" charset="0"/>
                          <a:ea typeface="Calibri" pitchFamily="34" charset="-122"/>
                          <a:cs typeface="Calibri" pitchFamily="34" charset="-120"/>
                        </a:rPr>
                        <a:t>Reliance Retail</a:t>
                      </a:r>
                      <a:endParaRPr lang="en-US" sz="9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950" dirty="0">
                          <a:solidFill>
                            <a:srgbClr val="0F172A"/>
                          </a:solidFill>
                          <a:latin typeface="Calibri" pitchFamily="34" charset="0"/>
                          <a:ea typeface="Calibri" pitchFamily="34" charset="-122"/>
                          <a:cs typeface="Calibri" pitchFamily="34" charset="-120"/>
                        </a:rPr>
                        <a:t>~38</a:t>
                      </a:r>
                      <a:endParaRPr lang="en-US" sz="9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950" b="1" dirty="0">
                          <a:solidFill>
                            <a:srgbClr val="16A34A"/>
                          </a:solidFill>
                          <a:latin typeface="Calibri" pitchFamily="34" charset="0"/>
                          <a:ea typeface="Calibri" pitchFamily="34" charset="-122"/>
                          <a:cs typeface="Calibri" pitchFamily="34" charset="-120"/>
                        </a:rPr>
                        <a:t>+13</a:t>
                      </a:r>
                      <a:endParaRPr lang="en-US" sz="9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950" b="1" dirty="0">
                          <a:solidFill>
                            <a:srgbClr val="0F3D2E"/>
                          </a:solidFill>
                          <a:latin typeface="Calibri" pitchFamily="34" charset="0"/>
                          <a:ea typeface="Calibri" pitchFamily="34" charset="-122"/>
                          <a:cs typeface="Calibri" pitchFamily="34" charset="-120"/>
                        </a:rPr>
                        <a:t>+6</a:t>
                      </a:r>
                      <a:endParaRPr lang="en-US" sz="9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950" b="1" dirty="0">
                          <a:solidFill>
                            <a:srgbClr val="0F172A"/>
                          </a:solidFill>
                          <a:latin typeface="Calibri" pitchFamily="34" charset="0"/>
                          <a:ea typeface="Calibri" pitchFamily="34" charset="-122"/>
                          <a:cs typeface="Calibri" pitchFamily="34" charset="-120"/>
                        </a:rPr>
                        <a:t>57</a:t>
                      </a:r>
                      <a:endParaRPr lang="en-US" sz="9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extLst>
                  <a:ext uri="{0D108BD9-81ED-4DB2-BD59-A6C34878D82A}">
                    <a16:rowId xmlns:a16="http://schemas.microsoft.com/office/drawing/2014/main" val="10005"/>
                  </a:ext>
                </a:extLst>
              </a:tr>
              <a:tr h="310896">
                <a:tc>
                  <a:txBody>
                    <a:bodyPr/>
                    <a:lstStyle/>
                    <a:p>
                      <a:pPr marL="0" indent="0">
                        <a:buNone/>
                      </a:pPr>
                      <a:r>
                        <a:rPr lang="en-US" sz="950" dirty="0">
                          <a:solidFill>
                            <a:srgbClr val="0F172A"/>
                          </a:solidFill>
                          <a:latin typeface="Calibri" pitchFamily="34" charset="0"/>
                          <a:ea typeface="Calibri" pitchFamily="34" charset="-122"/>
                          <a:cs typeface="Calibri" pitchFamily="34" charset="-120"/>
                        </a:rPr>
                        <a:t>SBI Card</a:t>
                      </a:r>
                      <a:endParaRPr lang="en-US" sz="9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950" dirty="0">
                          <a:solidFill>
                            <a:srgbClr val="0F172A"/>
                          </a:solidFill>
                          <a:latin typeface="Calibri" pitchFamily="34" charset="0"/>
                          <a:ea typeface="Calibri" pitchFamily="34" charset="-122"/>
                          <a:cs typeface="Calibri" pitchFamily="34" charset="-120"/>
                        </a:rPr>
                        <a:t>~32</a:t>
                      </a:r>
                      <a:endParaRPr lang="en-US" sz="9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950" b="1" dirty="0">
                          <a:solidFill>
                            <a:srgbClr val="16A34A"/>
                          </a:solidFill>
                          <a:latin typeface="Calibri" pitchFamily="34" charset="0"/>
                          <a:ea typeface="Calibri" pitchFamily="34" charset="-122"/>
                          <a:cs typeface="Calibri" pitchFamily="34" charset="-120"/>
                        </a:rPr>
                        <a:t>+8</a:t>
                      </a:r>
                      <a:endParaRPr lang="en-US" sz="9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950" b="1" dirty="0">
                          <a:solidFill>
                            <a:srgbClr val="0F3D2E"/>
                          </a:solidFill>
                          <a:latin typeface="Calibri" pitchFamily="34" charset="0"/>
                          <a:ea typeface="Calibri" pitchFamily="34" charset="-122"/>
                          <a:cs typeface="Calibri" pitchFamily="34" charset="-120"/>
                        </a:rPr>
                        <a:t>+5</a:t>
                      </a:r>
                      <a:endParaRPr lang="en-US" sz="9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950" b="1" dirty="0">
                          <a:solidFill>
                            <a:srgbClr val="0F172A"/>
                          </a:solidFill>
                          <a:latin typeface="Calibri" pitchFamily="34" charset="0"/>
                          <a:ea typeface="Calibri" pitchFamily="34" charset="-122"/>
                          <a:cs typeface="Calibri" pitchFamily="34" charset="-120"/>
                        </a:rPr>
                        <a:t>45</a:t>
                      </a:r>
                      <a:endParaRPr lang="en-US" sz="9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extLst>
                  <a:ext uri="{0D108BD9-81ED-4DB2-BD59-A6C34878D82A}">
                    <a16:rowId xmlns:a16="http://schemas.microsoft.com/office/drawing/2014/main" val="10006"/>
                  </a:ext>
                </a:extLst>
              </a:tr>
              <a:tr h="310896">
                <a:tc>
                  <a:txBody>
                    <a:bodyPr/>
                    <a:lstStyle/>
                    <a:p>
                      <a:pPr marL="0" indent="0">
                        <a:buNone/>
                      </a:pPr>
                      <a:r>
                        <a:rPr lang="en-US" sz="950" dirty="0">
                          <a:solidFill>
                            <a:srgbClr val="0F172A"/>
                          </a:solidFill>
                          <a:latin typeface="Calibri" pitchFamily="34" charset="0"/>
                          <a:ea typeface="Calibri" pitchFamily="34" charset="-122"/>
                          <a:cs typeface="Calibri" pitchFamily="34" charset="-120"/>
                        </a:rPr>
                        <a:t>Amazon (Qwikcilver)</a:t>
                      </a:r>
                      <a:endParaRPr lang="en-US" sz="9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950" dirty="0">
                          <a:solidFill>
                            <a:srgbClr val="0F172A"/>
                          </a:solidFill>
                          <a:latin typeface="Calibri" pitchFamily="34" charset="0"/>
                          <a:ea typeface="Calibri" pitchFamily="34" charset="-122"/>
                          <a:cs typeface="Calibri" pitchFamily="34" charset="-120"/>
                        </a:rPr>
                        <a:t>~30</a:t>
                      </a:r>
                      <a:endParaRPr lang="en-US" sz="9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950" b="1" dirty="0">
                          <a:solidFill>
                            <a:srgbClr val="16A34A"/>
                          </a:solidFill>
                          <a:latin typeface="Calibri" pitchFamily="34" charset="0"/>
                          <a:ea typeface="Calibri" pitchFamily="34" charset="-122"/>
                          <a:cs typeface="Calibri" pitchFamily="34" charset="-120"/>
                        </a:rPr>
                        <a:t>+5</a:t>
                      </a:r>
                      <a:endParaRPr lang="en-US" sz="9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950" b="1" dirty="0">
                          <a:solidFill>
                            <a:srgbClr val="0F3D2E"/>
                          </a:solidFill>
                          <a:latin typeface="Calibri" pitchFamily="34" charset="0"/>
                          <a:ea typeface="Calibri" pitchFamily="34" charset="-122"/>
                          <a:cs typeface="Calibri" pitchFamily="34" charset="-120"/>
                        </a:rPr>
                        <a:t>+8</a:t>
                      </a:r>
                      <a:endParaRPr lang="en-US" sz="9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950" b="1" dirty="0">
                          <a:solidFill>
                            <a:srgbClr val="0F172A"/>
                          </a:solidFill>
                          <a:latin typeface="Calibri" pitchFamily="34" charset="0"/>
                          <a:ea typeface="Calibri" pitchFamily="34" charset="-122"/>
                          <a:cs typeface="Calibri" pitchFamily="34" charset="-120"/>
                        </a:rPr>
                        <a:t>43</a:t>
                      </a:r>
                      <a:endParaRPr lang="en-US" sz="9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extLst>
                  <a:ext uri="{0D108BD9-81ED-4DB2-BD59-A6C34878D82A}">
                    <a16:rowId xmlns:a16="http://schemas.microsoft.com/office/drawing/2014/main" val="10007"/>
                  </a:ext>
                </a:extLst>
              </a:tr>
              <a:tr h="310896">
                <a:tc>
                  <a:txBody>
                    <a:bodyPr/>
                    <a:lstStyle/>
                    <a:p>
                      <a:pPr marL="0" indent="0">
                        <a:buNone/>
                      </a:pPr>
                      <a:r>
                        <a:rPr lang="en-US" sz="950" i="1" dirty="0">
                          <a:solidFill>
                            <a:srgbClr val="64748B"/>
                          </a:solidFill>
                          <a:latin typeface="Calibri" pitchFamily="34" charset="0"/>
                          <a:ea typeface="Calibri" pitchFamily="34" charset="-122"/>
                          <a:cs typeface="Calibri" pitchFamily="34" charset="-120"/>
                        </a:rPr>
                        <a:t>Others (3)</a:t>
                      </a:r>
                      <a:endParaRPr lang="en-US" sz="9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950" i="1" dirty="0">
                          <a:solidFill>
                            <a:srgbClr val="64748B"/>
                          </a:solidFill>
                          <a:latin typeface="Calibri" pitchFamily="34" charset="0"/>
                          <a:ea typeface="Calibri" pitchFamily="34" charset="-122"/>
                          <a:cs typeface="Calibri" pitchFamily="34" charset="-120"/>
                        </a:rPr>
                        <a:t>~70</a:t>
                      </a:r>
                      <a:endParaRPr lang="en-US" sz="9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950" b="1" dirty="0">
                          <a:solidFill>
                            <a:srgbClr val="16A34A"/>
                          </a:solidFill>
                          <a:latin typeface="Calibri" pitchFamily="34" charset="0"/>
                          <a:ea typeface="Calibri" pitchFamily="34" charset="-122"/>
                          <a:cs typeface="Calibri" pitchFamily="34" charset="-120"/>
                        </a:rPr>
                        <a:t>+9</a:t>
                      </a:r>
                      <a:endParaRPr lang="en-US" sz="9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950" b="1" dirty="0">
                          <a:solidFill>
                            <a:srgbClr val="0F3D2E"/>
                          </a:solidFill>
                          <a:latin typeface="Calibri" pitchFamily="34" charset="0"/>
                          <a:ea typeface="Calibri" pitchFamily="34" charset="-122"/>
                          <a:cs typeface="Calibri" pitchFamily="34" charset="-120"/>
                        </a:rPr>
                        <a:t>+12</a:t>
                      </a:r>
                      <a:endParaRPr lang="en-US" sz="9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950" b="1" dirty="0">
                          <a:solidFill>
                            <a:srgbClr val="0F172A"/>
                          </a:solidFill>
                          <a:latin typeface="Calibri" pitchFamily="34" charset="0"/>
                          <a:ea typeface="Calibri" pitchFamily="34" charset="-122"/>
                          <a:cs typeface="Calibri" pitchFamily="34" charset="-120"/>
                        </a:rPr>
                        <a:t>91</a:t>
                      </a:r>
                      <a:endParaRPr lang="en-US" sz="9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extLst>
                  <a:ext uri="{0D108BD9-81ED-4DB2-BD59-A6C34878D82A}">
                    <a16:rowId xmlns:a16="http://schemas.microsoft.com/office/drawing/2014/main" val="10008"/>
                  </a:ext>
                </a:extLst>
              </a:tr>
              <a:tr h="310896">
                <a:tc>
                  <a:txBody>
                    <a:bodyPr/>
                    <a:lstStyle/>
                    <a:p>
                      <a:pPr marL="0" indent="0">
                        <a:buNone/>
                      </a:pPr>
                      <a:r>
                        <a:rPr lang="en-US" sz="1000" b="1" dirty="0">
                          <a:solidFill>
                            <a:srgbClr val="86EFAC"/>
                          </a:solidFill>
                          <a:latin typeface="Calibri" pitchFamily="34" charset="0"/>
                          <a:ea typeface="Calibri" pitchFamily="34" charset="-122"/>
                          <a:cs typeface="Calibri" pitchFamily="34" charset="-120"/>
                        </a:rPr>
                        <a:t>Total</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B1A14"/>
                    </a:solidFill>
                  </a:tcPr>
                </a:tc>
                <a:tc>
                  <a:txBody>
                    <a:bodyPr/>
                    <a:lstStyle/>
                    <a:p>
                      <a:pPr marL="0" indent="0" algn="ctr">
                        <a:buNone/>
                      </a:pPr>
                      <a:r>
                        <a:rPr lang="en-US" sz="1000" b="1" dirty="0">
                          <a:solidFill>
                            <a:srgbClr val="86EFAC"/>
                          </a:solidFill>
                          <a:latin typeface="Calibri" pitchFamily="34" charset="0"/>
                          <a:ea typeface="Calibri" pitchFamily="34" charset="-122"/>
                          <a:cs typeface="Calibri" pitchFamily="34" charset="-120"/>
                        </a:rPr>
                        <a:t>375</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B1A14"/>
                    </a:solidFill>
                  </a:tcPr>
                </a:tc>
                <a:tc>
                  <a:txBody>
                    <a:bodyPr/>
                    <a:lstStyle/>
                    <a:p>
                      <a:pPr marL="0" indent="0" algn="ctr">
                        <a:buNone/>
                      </a:pPr>
                      <a:r>
                        <a:rPr lang="en-US" sz="1000" b="1" dirty="0">
                          <a:solidFill>
                            <a:srgbClr val="86EFAC"/>
                          </a:solidFill>
                          <a:latin typeface="Calibri" pitchFamily="34" charset="0"/>
                          <a:ea typeface="Calibri" pitchFamily="34" charset="-122"/>
                          <a:cs typeface="Calibri" pitchFamily="34" charset="-120"/>
                        </a:rPr>
                        <a:t>+90</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B1A14"/>
                    </a:solidFill>
                  </a:tcPr>
                </a:tc>
                <a:tc>
                  <a:txBody>
                    <a:bodyPr/>
                    <a:lstStyle/>
                    <a:p>
                      <a:pPr marL="0" indent="0" algn="ctr">
                        <a:buNone/>
                      </a:pPr>
                      <a:r>
                        <a:rPr lang="en-US" sz="1000" b="1" dirty="0">
                          <a:solidFill>
                            <a:srgbClr val="86EFAC"/>
                          </a:solidFill>
                          <a:latin typeface="Calibri" pitchFamily="34" charset="0"/>
                          <a:ea typeface="Calibri" pitchFamily="34" charset="-122"/>
                          <a:cs typeface="Calibri" pitchFamily="34" charset="-120"/>
                        </a:rPr>
                        <a:t>+70</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B1A14"/>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535+</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B1A14"/>
                    </a:solidFill>
                  </a:tcPr>
                </a:tc>
                <a:extLst>
                  <a:ext uri="{0D108BD9-81ED-4DB2-BD59-A6C34878D82A}">
                    <a16:rowId xmlns:a16="http://schemas.microsoft.com/office/drawing/2014/main" val="10009"/>
                  </a:ext>
                </a:extLst>
              </a:tr>
            </a:tbl>
          </a:graphicData>
        </a:graphic>
      </p:graphicFrame>
      <p:sp>
        <p:nvSpPr>
          <p:cNvPr id="40" name="Shape 37"/>
          <p:cNvSpPr/>
          <p:nvPr/>
        </p:nvSpPr>
        <p:spPr>
          <a:xfrm>
            <a:off x="457200" y="6217920"/>
            <a:ext cx="11247120" cy="292608"/>
          </a:xfrm>
          <a:prstGeom prst="rect">
            <a:avLst/>
          </a:prstGeom>
          <a:solidFill>
            <a:srgbClr val="F8FAFC"/>
          </a:solidFill>
          <a:ln w="6350">
            <a:solidFill>
              <a:srgbClr val="E2E8F0"/>
            </a:solidFill>
            <a:prstDash val="solid"/>
          </a:ln>
        </p:spPr>
        <p:txBody>
          <a:bodyPr/>
          <a:lstStyle/>
          <a:p>
            <a:endParaRPr lang="en-US"/>
          </a:p>
        </p:txBody>
      </p:sp>
      <p:sp>
        <p:nvSpPr>
          <p:cNvPr id="41" name="Shape 38"/>
          <p:cNvSpPr/>
          <p:nvPr/>
        </p:nvSpPr>
        <p:spPr>
          <a:xfrm>
            <a:off x="457200" y="6217920"/>
            <a:ext cx="73152" cy="292608"/>
          </a:xfrm>
          <a:prstGeom prst="rect">
            <a:avLst/>
          </a:prstGeom>
          <a:solidFill>
            <a:srgbClr val="16A34A"/>
          </a:solidFill>
          <a:ln/>
        </p:spPr>
        <p:txBody>
          <a:bodyPr/>
          <a:lstStyle/>
          <a:p>
            <a:endParaRPr lang="en-US"/>
          </a:p>
        </p:txBody>
      </p:sp>
      <p:sp>
        <p:nvSpPr>
          <p:cNvPr id="42" name="Text 39"/>
          <p:cNvSpPr/>
          <p:nvPr/>
        </p:nvSpPr>
        <p:spPr>
          <a:xfrm>
            <a:off x="685800" y="6217920"/>
            <a:ext cx="10972800" cy="292608"/>
          </a:xfrm>
          <a:prstGeom prst="rect">
            <a:avLst/>
          </a:prstGeom>
          <a:noFill/>
          <a:ln/>
        </p:spPr>
        <p:txBody>
          <a:bodyPr wrap="square" lIns="0" tIns="0" rIns="0" bIns="0" rtlCol="0" anchor="ctr"/>
          <a:lstStyle/>
          <a:p>
            <a:pPr marL="0" indent="0">
              <a:buNone/>
            </a:pPr>
            <a:r>
              <a:rPr lang="en-US" sz="1050" i="1" dirty="0">
                <a:solidFill>
                  <a:srgbClr val="0F172A"/>
                </a:solidFill>
                <a:latin typeface="Calibri" pitchFamily="34" charset="0"/>
                <a:ea typeface="Calibri" pitchFamily="34" charset="-122"/>
                <a:cs typeface="Calibri" pitchFamily="34" charset="-120"/>
              </a:rPr>
              <a:t>Defensive math: even if 1-2 top-10 customers tried to leave on payments alone, the bundled stack raises switching cost materially — moat compounds.</a:t>
            </a:r>
            <a:endParaRPr lang="en-US" sz="1050" dirty="0"/>
          </a:p>
        </p:txBody>
      </p:sp>
      <p:pic>
        <p:nvPicPr>
          <p:cNvPr id="43" name="Picture 2" descr="Pine Labs Launches Paper POS, a Merged QR Product to Accept Payments via  UPI and Bharat QR Apps">
            <a:extLst>
              <a:ext uri="{FF2B5EF4-FFF2-40B4-BE49-F238E27FC236}">
                <a16:creationId xmlns:a16="http://schemas.microsoft.com/office/drawing/2014/main" id="{196EDE77-1A86-A309-3249-CC93F86BE1CE}"/>
              </a:ext>
            </a:extLst>
          </p:cNvPr>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1177016" y="-102584"/>
            <a:ext cx="1115568" cy="58451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F3D2E"/>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16A34A"/>
          </a:solidFill>
          <a:ln/>
        </p:spPr>
        <p:txBody>
          <a:bodyPr/>
          <a:lstStyle/>
          <a:p>
            <a:endParaRPr lang="en-US"/>
          </a:p>
        </p:txBody>
      </p:sp>
      <p:sp>
        <p:nvSpPr>
          <p:cNvPr id="3" name="Text 1"/>
          <p:cNvSpPr/>
          <p:nvPr/>
        </p:nvSpPr>
        <p:spPr>
          <a:xfrm>
            <a:off x="914400" y="2560320"/>
            <a:ext cx="7315200" cy="365760"/>
          </a:xfrm>
          <a:prstGeom prst="rect">
            <a:avLst/>
          </a:prstGeom>
          <a:noFill/>
          <a:ln/>
        </p:spPr>
        <p:txBody>
          <a:bodyPr wrap="square" lIns="0" tIns="0" rIns="0" bIns="0" rtlCol="0" anchor="ctr"/>
          <a:lstStyle/>
          <a:p>
            <a:pPr marL="0" indent="0">
              <a:buNone/>
            </a:pPr>
            <a:r>
              <a:rPr lang="en-US" sz="1100" b="1" kern="0" spc="100" dirty="0">
                <a:solidFill>
                  <a:srgbClr val="86EFAC"/>
                </a:solidFill>
                <a:latin typeface="Calibri" pitchFamily="34" charset="0"/>
                <a:ea typeface="Calibri" pitchFamily="34" charset="-122"/>
                <a:cs typeface="Calibri" pitchFamily="34" charset="-120"/>
              </a:rPr>
              <a:t>SECTION 02</a:t>
            </a:r>
            <a:endParaRPr lang="en-US" sz="1100" spc="100" dirty="0"/>
          </a:p>
        </p:txBody>
      </p:sp>
      <p:sp>
        <p:nvSpPr>
          <p:cNvPr id="4" name="Text 2"/>
          <p:cNvSpPr/>
          <p:nvPr/>
        </p:nvSpPr>
        <p:spPr>
          <a:xfrm>
            <a:off x="914400" y="2971800"/>
            <a:ext cx="10332720" cy="1280160"/>
          </a:xfrm>
          <a:prstGeom prst="rect">
            <a:avLst/>
          </a:prstGeom>
          <a:noFill/>
          <a:ln/>
        </p:spPr>
        <p:txBody>
          <a:bodyPr wrap="square" lIns="0" tIns="0" rIns="0" bIns="0" rtlCol="0" anchor="ctr"/>
          <a:lstStyle/>
          <a:p>
            <a:pPr marL="0" indent="0">
              <a:buNone/>
            </a:pPr>
            <a:r>
              <a:rPr lang="en-US" sz="4200" b="1" dirty="0">
                <a:solidFill>
                  <a:srgbClr val="FFFFFF"/>
                </a:solidFill>
                <a:latin typeface="Calibri" pitchFamily="34" charset="0"/>
                <a:ea typeface="Calibri" pitchFamily="34" charset="-122"/>
                <a:cs typeface="Calibri" pitchFamily="34" charset="-120"/>
              </a:rPr>
              <a:t>What I Considered and Did Not Recommend</a:t>
            </a:r>
            <a:endParaRPr lang="en-US" sz="4200" dirty="0"/>
          </a:p>
        </p:txBody>
      </p:sp>
      <p:sp>
        <p:nvSpPr>
          <p:cNvPr id="5" name="Shape 3"/>
          <p:cNvSpPr/>
          <p:nvPr/>
        </p:nvSpPr>
        <p:spPr>
          <a:xfrm>
            <a:off x="914400" y="4251960"/>
            <a:ext cx="548640" cy="36576"/>
          </a:xfrm>
          <a:prstGeom prst="rect">
            <a:avLst/>
          </a:prstGeom>
          <a:solidFill>
            <a:srgbClr val="16A34A"/>
          </a:solidFill>
          <a:ln/>
        </p:spPr>
        <p:txBody>
          <a:bodyPr/>
          <a:lstStyle/>
          <a:p>
            <a:endParaRPr lang="en-US"/>
          </a:p>
        </p:txBody>
      </p:sp>
      <p:sp>
        <p:nvSpPr>
          <p:cNvPr id="6" name="Text 4"/>
          <p:cNvSpPr/>
          <p:nvPr/>
        </p:nvSpPr>
        <p:spPr>
          <a:xfrm>
            <a:off x="914400" y="4389120"/>
            <a:ext cx="10332720" cy="914400"/>
          </a:xfrm>
          <a:prstGeom prst="rect">
            <a:avLst/>
          </a:prstGeom>
          <a:noFill/>
          <a:ln/>
        </p:spPr>
        <p:txBody>
          <a:bodyPr wrap="square" lIns="0" tIns="0" rIns="0" bIns="0" rtlCol="0" anchor="ctr"/>
          <a:lstStyle/>
          <a:p>
            <a:pPr marL="0" indent="0">
              <a:buNone/>
            </a:pPr>
            <a:r>
              <a:rPr lang="en-US" sz="1600" i="1" dirty="0">
                <a:solidFill>
                  <a:srgbClr val="86EFAC"/>
                </a:solidFill>
                <a:latin typeface="Calibri" pitchFamily="34" charset="0"/>
                <a:ea typeface="Calibri" pitchFamily="34" charset="-122"/>
                <a:cs typeface="Calibri" pitchFamily="34" charset="-120"/>
              </a:rPr>
              <a:t>Two larger opportunities worth knowing — constrained by Amrish's BT commitment and data access</a:t>
            </a:r>
            <a:endParaRPr lang="en-US" sz="1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16A34A"/>
          </a:solidFill>
          <a:ln/>
        </p:spPr>
        <p:txBody>
          <a:bodyPr/>
          <a:lstStyle/>
          <a:p>
            <a:endParaRPr lang="en-US"/>
          </a:p>
        </p:txBody>
      </p:sp>
      <p:sp>
        <p:nvSpPr>
          <p:cNvPr id="3" name="Text 1"/>
          <p:cNvSpPr/>
          <p:nvPr/>
        </p:nvSpPr>
        <p:spPr>
          <a:xfrm>
            <a:off x="457200" y="201168"/>
            <a:ext cx="10058400" cy="256032"/>
          </a:xfrm>
          <a:prstGeom prst="rect">
            <a:avLst/>
          </a:prstGeom>
          <a:noFill/>
          <a:ln/>
        </p:spPr>
        <p:txBody>
          <a:bodyPr wrap="square" lIns="0" tIns="0" rIns="0" bIns="0" rtlCol="0" anchor="ctr"/>
          <a:lstStyle/>
          <a:p>
            <a:pPr marL="0" indent="0">
              <a:buNone/>
            </a:pPr>
            <a:r>
              <a:rPr lang="en-US" sz="900" b="1" kern="0" spc="100" dirty="0">
                <a:solidFill>
                  <a:srgbClr val="16A34A"/>
                </a:solidFill>
                <a:latin typeface="Calibri" pitchFamily="34" charset="0"/>
                <a:ea typeface="Calibri" pitchFamily="34" charset="-122"/>
                <a:cs typeface="Calibri" pitchFamily="34" charset="-120"/>
              </a:rPr>
              <a:t>EXCLUDED — SME CREDIT ORCHESTRATION</a:t>
            </a:r>
            <a:endParaRPr lang="en-US" sz="900" spc="100" dirty="0"/>
          </a:p>
        </p:txBody>
      </p:sp>
      <p:sp>
        <p:nvSpPr>
          <p:cNvPr id="4" name="Text 2"/>
          <p:cNvSpPr/>
          <p:nvPr/>
        </p:nvSpPr>
        <p:spPr>
          <a:xfrm>
            <a:off x="457200" y="457200"/>
            <a:ext cx="11247120" cy="731520"/>
          </a:xfrm>
          <a:prstGeom prst="rect">
            <a:avLst/>
          </a:prstGeom>
          <a:noFill/>
          <a:ln/>
        </p:spPr>
        <p:txBody>
          <a:bodyPr wrap="square" lIns="0" tIns="0" rIns="0" bIns="0" rtlCol="0" anchor="ctr"/>
          <a:lstStyle/>
          <a:p>
            <a:pPr marL="0" indent="0">
              <a:buNone/>
            </a:pPr>
            <a:r>
              <a:rPr lang="en-US" sz="2200" b="1" dirty="0">
                <a:solidFill>
                  <a:srgbClr val="0F172A"/>
                </a:solidFill>
                <a:latin typeface="Calibri" pitchFamily="34" charset="0"/>
                <a:ea typeface="Calibri" pitchFamily="34" charset="-122"/>
                <a:cs typeface="Calibri" pitchFamily="34" charset="-120"/>
              </a:rPr>
              <a:t>Square Capital-style merchant cash advance is the biggest white space — but excluded per Amrish's BT interview</a:t>
            </a:r>
            <a:endParaRPr lang="en-US" sz="2200" dirty="0"/>
          </a:p>
        </p:txBody>
      </p:sp>
      <p:sp>
        <p:nvSpPr>
          <p:cNvPr id="5" name="Shape 3"/>
          <p:cNvSpPr/>
          <p:nvPr/>
        </p:nvSpPr>
        <p:spPr>
          <a:xfrm>
            <a:off x="457200" y="1188720"/>
            <a:ext cx="11247120" cy="13716"/>
          </a:xfrm>
          <a:prstGeom prst="rect">
            <a:avLst/>
          </a:prstGeom>
          <a:solidFill>
            <a:srgbClr val="E2E8F0"/>
          </a:solidFill>
          <a:ln/>
        </p:spPr>
        <p:txBody>
          <a:bodyPr/>
          <a:lstStyle/>
          <a:p>
            <a:endParaRPr lang="en-US"/>
          </a:p>
        </p:txBody>
      </p:sp>
      <p:sp>
        <p:nvSpPr>
          <p:cNvPr id="6" name="Text 4"/>
          <p:cNvSpPr/>
          <p:nvPr/>
        </p:nvSpPr>
        <p:spPr>
          <a:xfrm>
            <a:off x="457200" y="6492240"/>
            <a:ext cx="6400800" cy="256032"/>
          </a:xfrm>
          <a:prstGeom prst="rect">
            <a:avLst/>
          </a:prstGeom>
          <a:noFill/>
          <a:ln/>
        </p:spPr>
        <p:txBody>
          <a:bodyPr wrap="square" lIns="0" tIns="0" rIns="0" bIns="0" rtlCol="0" anchor="ctr"/>
          <a:lstStyle/>
          <a:p>
            <a:pPr marL="0" indent="0">
              <a:buNone/>
            </a:pPr>
            <a:r>
              <a:rPr lang="en-US" sz="900" i="1" dirty="0">
                <a:solidFill>
                  <a:srgbClr val="64748B"/>
                </a:solidFill>
                <a:latin typeface="Calibri" pitchFamily="34" charset="0"/>
                <a:ea typeface="Calibri" pitchFamily="34" charset="-122"/>
                <a:cs typeface="Calibri" pitchFamily="34" charset="-120"/>
              </a:rPr>
              <a:t>Pine Labs — Corporate Development</a:t>
            </a:r>
            <a:endParaRPr lang="en-US" sz="900" dirty="0"/>
          </a:p>
        </p:txBody>
      </p:sp>
      <p:sp>
        <p:nvSpPr>
          <p:cNvPr id="7" name="Text 5"/>
          <p:cNvSpPr/>
          <p:nvPr/>
        </p:nvSpPr>
        <p:spPr>
          <a:xfrm>
            <a:off x="6858000" y="6492240"/>
            <a:ext cx="2743200" cy="256032"/>
          </a:xfrm>
          <a:prstGeom prst="rect">
            <a:avLst/>
          </a:prstGeom>
          <a:noFill/>
          <a:ln/>
        </p:spPr>
        <p:txBody>
          <a:bodyPr wrap="square" lIns="0" tIns="0" rIns="0" bIns="0" rtlCol="0" anchor="ctr"/>
          <a:lstStyle/>
          <a:p>
            <a:pPr marL="0" indent="0" algn="ctr">
              <a:buNone/>
            </a:pPr>
            <a:r>
              <a:rPr lang="en-US" sz="900" i="1" dirty="0">
                <a:solidFill>
                  <a:srgbClr val="64748B"/>
                </a:solidFill>
                <a:latin typeface="Calibri" pitchFamily="34" charset="0"/>
                <a:ea typeface="Calibri" pitchFamily="34" charset="-122"/>
                <a:cs typeface="Calibri" pitchFamily="34" charset="-120"/>
              </a:rPr>
              <a:t>Strictly Confidential</a:t>
            </a:r>
            <a:endParaRPr lang="en-US" sz="900" dirty="0"/>
          </a:p>
        </p:txBody>
      </p:sp>
      <p:sp>
        <p:nvSpPr>
          <p:cNvPr id="8" name="Text 6"/>
          <p:cNvSpPr/>
          <p:nvPr/>
        </p:nvSpPr>
        <p:spPr>
          <a:xfrm>
            <a:off x="10515600" y="6492240"/>
            <a:ext cx="1188720" cy="256032"/>
          </a:xfrm>
          <a:prstGeom prst="rect">
            <a:avLst/>
          </a:prstGeom>
          <a:noFill/>
          <a:ln/>
        </p:spPr>
        <p:txBody>
          <a:bodyPr wrap="square" lIns="0" tIns="0" rIns="0" bIns="0" rtlCol="0" anchor="ctr"/>
          <a:lstStyle/>
          <a:p>
            <a:pPr marL="0" indent="0" algn="r">
              <a:buNone/>
            </a:pPr>
            <a:r>
              <a:rPr lang="en-US" sz="900" b="1" dirty="0">
                <a:solidFill>
                  <a:srgbClr val="64748B"/>
                </a:solidFill>
                <a:latin typeface="Calibri" pitchFamily="34" charset="0"/>
                <a:ea typeface="Calibri" pitchFamily="34" charset="-122"/>
                <a:cs typeface="Calibri" pitchFamily="34" charset="-120"/>
              </a:rPr>
              <a:t>17</a:t>
            </a:r>
            <a:endParaRPr lang="en-US" sz="900" dirty="0"/>
          </a:p>
        </p:txBody>
      </p:sp>
      <p:sp>
        <p:nvSpPr>
          <p:cNvPr id="9" name="Shape 7"/>
          <p:cNvSpPr/>
          <p:nvPr/>
        </p:nvSpPr>
        <p:spPr>
          <a:xfrm>
            <a:off x="502920" y="1417320"/>
            <a:ext cx="11201400" cy="868680"/>
          </a:xfrm>
          <a:prstGeom prst="rect">
            <a:avLst/>
          </a:prstGeom>
          <a:solidFill>
            <a:srgbClr val="0B1A14"/>
          </a:solidFill>
          <a:ln/>
        </p:spPr>
        <p:txBody>
          <a:bodyPr/>
          <a:lstStyle/>
          <a:p>
            <a:endParaRPr lang="en-US"/>
          </a:p>
        </p:txBody>
      </p:sp>
      <p:sp>
        <p:nvSpPr>
          <p:cNvPr id="10" name="Shape 8"/>
          <p:cNvSpPr/>
          <p:nvPr/>
        </p:nvSpPr>
        <p:spPr>
          <a:xfrm>
            <a:off x="502920" y="1417320"/>
            <a:ext cx="109728" cy="868680"/>
          </a:xfrm>
          <a:prstGeom prst="rect">
            <a:avLst/>
          </a:prstGeom>
          <a:solidFill>
            <a:srgbClr val="16A34A"/>
          </a:solidFill>
          <a:ln/>
        </p:spPr>
        <p:txBody>
          <a:bodyPr/>
          <a:lstStyle/>
          <a:p>
            <a:endParaRPr lang="en-US"/>
          </a:p>
        </p:txBody>
      </p:sp>
      <p:sp>
        <p:nvSpPr>
          <p:cNvPr id="11" name="Text 9"/>
          <p:cNvSpPr/>
          <p:nvPr/>
        </p:nvSpPr>
        <p:spPr>
          <a:xfrm>
            <a:off x="685800" y="1325880"/>
            <a:ext cx="548640" cy="548640"/>
          </a:xfrm>
          <a:prstGeom prst="rect">
            <a:avLst/>
          </a:prstGeom>
          <a:noFill/>
          <a:ln/>
        </p:spPr>
        <p:txBody>
          <a:bodyPr wrap="square" lIns="0" tIns="0" rIns="0" bIns="0" rtlCol="0" anchor="t"/>
          <a:lstStyle/>
          <a:p>
            <a:pPr marL="0" indent="0">
              <a:buNone/>
            </a:pPr>
            <a:r>
              <a:rPr lang="en-US" sz="4200" b="1" dirty="0">
                <a:solidFill>
                  <a:srgbClr val="16A34A"/>
                </a:solidFill>
                <a:latin typeface="Georgia" pitchFamily="34" charset="0"/>
                <a:ea typeface="Georgia" pitchFamily="34" charset="-122"/>
                <a:cs typeface="Georgia" pitchFamily="34" charset="-120"/>
              </a:rPr>
              <a:t>"</a:t>
            </a:r>
            <a:endParaRPr lang="en-US" sz="4200" dirty="0"/>
          </a:p>
        </p:txBody>
      </p:sp>
      <p:sp>
        <p:nvSpPr>
          <p:cNvPr id="12" name="Text 10"/>
          <p:cNvSpPr/>
          <p:nvPr/>
        </p:nvSpPr>
        <p:spPr>
          <a:xfrm>
            <a:off x="1097280" y="1508760"/>
            <a:ext cx="8686800" cy="457200"/>
          </a:xfrm>
          <a:prstGeom prst="rect">
            <a:avLst/>
          </a:prstGeom>
          <a:noFill/>
          <a:ln/>
        </p:spPr>
        <p:txBody>
          <a:bodyPr wrap="square" lIns="0" tIns="0" rIns="0" bIns="0" rtlCol="0" anchor="ctr"/>
          <a:lstStyle/>
          <a:p>
            <a:pPr marL="0" indent="0">
              <a:buNone/>
            </a:pPr>
            <a:r>
              <a:rPr lang="en-US" sz="1400" i="1" dirty="0">
                <a:solidFill>
                  <a:srgbClr val="FFFFFF"/>
                </a:solidFill>
                <a:latin typeface="Georgia" pitchFamily="34" charset="0"/>
                <a:ea typeface="Georgia" pitchFamily="34" charset="-122"/>
                <a:cs typeface="Georgia" pitchFamily="34" charset="-120"/>
              </a:rPr>
              <a:t>Pine Labs is not going into lending — at least not post-IPO. We are infrastructure; we do not take credit risk.</a:t>
            </a:r>
            <a:endParaRPr lang="en-US" sz="1400" dirty="0"/>
          </a:p>
        </p:txBody>
      </p:sp>
      <p:sp>
        <p:nvSpPr>
          <p:cNvPr id="13" name="Text 11"/>
          <p:cNvSpPr/>
          <p:nvPr/>
        </p:nvSpPr>
        <p:spPr>
          <a:xfrm>
            <a:off x="1097280" y="1920240"/>
            <a:ext cx="8686800" cy="274320"/>
          </a:xfrm>
          <a:prstGeom prst="rect">
            <a:avLst/>
          </a:prstGeom>
          <a:noFill/>
          <a:ln/>
        </p:spPr>
        <p:txBody>
          <a:bodyPr wrap="square" lIns="0" tIns="0" rIns="0" bIns="0" rtlCol="0" anchor="ctr"/>
          <a:lstStyle/>
          <a:p>
            <a:pPr marL="0" indent="0">
              <a:buNone/>
            </a:pPr>
            <a:r>
              <a:rPr lang="en-US" sz="1000" i="1" dirty="0">
                <a:solidFill>
                  <a:srgbClr val="86EFAC"/>
                </a:solidFill>
                <a:latin typeface="Calibri" pitchFamily="34" charset="0"/>
                <a:ea typeface="Calibri" pitchFamily="34" charset="-122"/>
                <a:cs typeface="Calibri" pitchFamily="34" charset="-120"/>
              </a:rPr>
              <a:t>— Amrish Rau, CEO  ·  Business Times interview, 2025</a:t>
            </a:r>
            <a:endParaRPr lang="en-US" sz="1000" dirty="0"/>
          </a:p>
        </p:txBody>
      </p:sp>
      <p:sp>
        <p:nvSpPr>
          <p:cNvPr id="14" name="Shape 12"/>
          <p:cNvSpPr/>
          <p:nvPr/>
        </p:nvSpPr>
        <p:spPr>
          <a:xfrm>
            <a:off x="502920" y="2514600"/>
            <a:ext cx="5486400" cy="3657600"/>
          </a:xfrm>
          <a:prstGeom prst="rect">
            <a:avLst/>
          </a:prstGeom>
          <a:solidFill>
            <a:srgbClr val="F8FAFC"/>
          </a:solidFill>
          <a:ln w="6350">
            <a:solidFill>
              <a:srgbClr val="E2E8F0"/>
            </a:solidFill>
            <a:prstDash val="solid"/>
          </a:ln>
        </p:spPr>
        <p:txBody>
          <a:bodyPr/>
          <a:lstStyle/>
          <a:p>
            <a:endParaRPr lang="en-US"/>
          </a:p>
        </p:txBody>
      </p:sp>
      <p:sp>
        <p:nvSpPr>
          <p:cNvPr id="15" name="Text 13"/>
          <p:cNvSpPr/>
          <p:nvPr/>
        </p:nvSpPr>
        <p:spPr>
          <a:xfrm>
            <a:off x="685800" y="2651760"/>
            <a:ext cx="5212080" cy="274320"/>
          </a:xfrm>
          <a:prstGeom prst="rect">
            <a:avLst/>
          </a:prstGeom>
          <a:noFill/>
          <a:ln/>
        </p:spPr>
        <p:txBody>
          <a:bodyPr wrap="square" lIns="0" tIns="0" rIns="0" bIns="0" rtlCol="0" anchor="ctr"/>
          <a:lstStyle/>
          <a:p>
            <a:pPr marL="0" indent="0">
              <a:buNone/>
            </a:pPr>
            <a:r>
              <a:rPr lang="en-US" sz="1000" b="1" kern="0" spc="100" dirty="0">
                <a:solidFill>
                  <a:srgbClr val="16A34A"/>
                </a:solidFill>
                <a:latin typeface="Calibri" pitchFamily="34" charset="0"/>
                <a:ea typeface="Calibri" pitchFamily="34" charset="-122"/>
                <a:cs typeface="Calibri" pitchFamily="34" charset="-120"/>
              </a:rPr>
              <a:t>THE OPPORTUNITY (FOR REFERENCE)</a:t>
            </a:r>
            <a:endParaRPr lang="en-US" sz="1000" spc="100" dirty="0"/>
          </a:p>
        </p:txBody>
      </p:sp>
      <p:sp>
        <p:nvSpPr>
          <p:cNvPr id="16" name="Text 14"/>
          <p:cNvSpPr/>
          <p:nvPr/>
        </p:nvSpPr>
        <p:spPr>
          <a:xfrm>
            <a:off x="685800" y="2971800"/>
            <a:ext cx="5212080" cy="640080"/>
          </a:xfrm>
          <a:prstGeom prst="rect">
            <a:avLst/>
          </a:prstGeom>
          <a:noFill/>
          <a:ln/>
        </p:spPr>
        <p:txBody>
          <a:bodyPr wrap="square" lIns="0" tIns="0" rIns="0" bIns="0" rtlCol="0" anchor="ctr"/>
          <a:lstStyle/>
          <a:p>
            <a:pPr marL="0" indent="0">
              <a:buNone/>
            </a:pPr>
            <a:r>
              <a:rPr lang="en-US" sz="1200" b="1" dirty="0">
                <a:solidFill>
                  <a:srgbClr val="0F172A"/>
                </a:solidFill>
                <a:latin typeface="Calibri" pitchFamily="34" charset="0"/>
                <a:ea typeface="Calibri" pitchFamily="34" charset="-122"/>
                <a:cs typeface="Calibri" pitchFamily="34" charset="-120"/>
              </a:rPr>
              <a:t>"Square Capital for India" — merchant cash advance underwritten on payment-stream data, repaid as % of daily swipes</a:t>
            </a:r>
            <a:endParaRPr lang="en-US" sz="1200" dirty="0"/>
          </a:p>
        </p:txBody>
      </p:sp>
      <p:sp>
        <p:nvSpPr>
          <p:cNvPr id="17" name="Text 15"/>
          <p:cNvSpPr/>
          <p:nvPr/>
        </p:nvSpPr>
        <p:spPr>
          <a:xfrm>
            <a:off x="685800" y="3611880"/>
            <a:ext cx="5212080" cy="228600"/>
          </a:xfrm>
          <a:prstGeom prst="rect">
            <a:avLst/>
          </a:prstGeom>
          <a:noFill/>
          <a:ln/>
        </p:spPr>
        <p:txBody>
          <a:bodyPr wrap="square" lIns="0" tIns="0" rIns="0" bIns="0" rtlCol="0" anchor="ctr"/>
          <a:lstStyle/>
          <a:p>
            <a:pPr marL="0" indent="0">
              <a:buNone/>
            </a:pPr>
            <a:r>
              <a:rPr lang="en-US" sz="950" b="1" kern="0" spc="100" dirty="0">
                <a:solidFill>
                  <a:srgbClr val="64748B"/>
                </a:solidFill>
                <a:latin typeface="Calibri" pitchFamily="34" charset="0"/>
                <a:ea typeface="Calibri" pitchFamily="34" charset="-122"/>
                <a:cs typeface="Calibri" pitchFamily="34" charset="-120"/>
              </a:rPr>
              <a:t>Mechanics</a:t>
            </a:r>
            <a:endParaRPr lang="en-US" sz="950" spc="100" dirty="0"/>
          </a:p>
        </p:txBody>
      </p:sp>
      <p:sp>
        <p:nvSpPr>
          <p:cNvPr id="18" name="Text 16"/>
          <p:cNvSpPr/>
          <p:nvPr/>
        </p:nvSpPr>
        <p:spPr>
          <a:xfrm>
            <a:off x="685800" y="3840480"/>
            <a:ext cx="5212080" cy="1463040"/>
          </a:xfrm>
          <a:prstGeom prst="rect">
            <a:avLst/>
          </a:prstGeom>
          <a:noFill/>
          <a:ln/>
        </p:spPr>
        <p:txBody>
          <a:bodyPr wrap="square" lIns="0" tIns="0" rIns="0" bIns="0" rtlCol="0" anchor="t"/>
          <a:lstStyle/>
          <a:p>
            <a:pPr marL="0" indent="0">
              <a:spcAft>
                <a:spcPts val="200"/>
              </a:spcAft>
              <a:buNone/>
            </a:pPr>
            <a:r>
              <a:rPr lang="en-US" sz="1000" dirty="0">
                <a:solidFill>
                  <a:srgbClr val="0F172A"/>
                </a:solidFill>
                <a:latin typeface="Calibri" pitchFamily="34" charset="0"/>
                <a:ea typeface="Calibri" pitchFamily="34" charset="-122"/>
                <a:cs typeface="Calibri" pitchFamily="34" charset="-120"/>
              </a:rPr>
              <a:t>•  Pine Labs underwrites a merchant in real time using its own POS swipe history (~₹6 lakh Cr GTV/yr seen on 916K merchants)</a:t>
            </a:r>
            <a:endParaRPr lang="en-US" sz="1000" dirty="0"/>
          </a:p>
          <a:p>
            <a:pPr marL="0" indent="0">
              <a:spcAft>
                <a:spcPts val="200"/>
              </a:spcAft>
              <a:buNone/>
            </a:pPr>
            <a:r>
              <a:rPr lang="en-US" sz="1000" dirty="0">
                <a:solidFill>
                  <a:srgbClr val="0F172A"/>
                </a:solidFill>
                <a:latin typeface="Calibri" pitchFamily="34" charset="0"/>
                <a:ea typeface="Calibri" pitchFamily="34" charset="-122"/>
                <a:cs typeface="Calibri" pitchFamily="34" charset="-120"/>
              </a:rPr>
              <a:t>•  Bank + NBFC pair holds the loan on their balance sheets via RBI co-lending (no PL balance sheet risk)</a:t>
            </a:r>
            <a:endParaRPr lang="en-US" sz="1000" dirty="0"/>
          </a:p>
          <a:p>
            <a:pPr marL="0" indent="0">
              <a:spcAft>
                <a:spcPts val="200"/>
              </a:spcAft>
              <a:buNone/>
            </a:pPr>
            <a:r>
              <a:rPr lang="en-US" sz="1000" dirty="0">
                <a:solidFill>
                  <a:srgbClr val="0F172A"/>
                </a:solidFill>
                <a:latin typeface="Calibri" pitchFamily="34" charset="0"/>
                <a:ea typeface="Calibri" pitchFamily="34" charset="-122"/>
                <a:cs typeface="Calibri" pitchFamily="34" charset="-120"/>
              </a:rPr>
              <a:t>•  Repayment auto-deducts from the merchant's daily card receipts (the dynamic / Toast model)</a:t>
            </a:r>
            <a:endParaRPr lang="en-US" sz="1000" dirty="0"/>
          </a:p>
          <a:p>
            <a:pPr marL="0" indent="0">
              <a:spcAft>
                <a:spcPts val="200"/>
              </a:spcAft>
              <a:buNone/>
            </a:pPr>
            <a:r>
              <a:rPr lang="en-US" sz="1000" dirty="0">
                <a:solidFill>
                  <a:srgbClr val="0F172A"/>
                </a:solidFill>
                <a:latin typeface="Calibri" pitchFamily="34" charset="0"/>
                <a:ea typeface="Calibri" pitchFamily="34" charset="-122"/>
                <a:cs typeface="Calibri" pitchFamily="34" charset="-120"/>
              </a:rPr>
              <a:t>•  Pine Labs earns origination + servicing fees (1-2% + 0.5-1%)</a:t>
            </a:r>
            <a:endParaRPr lang="en-US" sz="1000" dirty="0"/>
          </a:p>
        </p:txBody>
      </p:sp>
      <p:sp>
        <p:nvSpPr>
          <p:cNvPr id="19" name="Text 17"/>
          <p:cNvSpPr/>
          <p:nvPr/>
        </p:nvSpPr>
        <p:spPr>
          <a:xfrm>
            <a:off x="685800" y="5303520"/>
            <a:ext cx="5212080" cy="228600"/>
          </a:xfrm>
          <a:prstGeom prst="rect">
            <a:avLst/>
          </a:prstGeom>
          <a:noFill/>
          <a:ln/>
        </p:spPr>
        <p:txBody>
          <a:bodyPr wrap="square" lIns="0" tIns="0" rIns="0" bIns="0" rtlCol="0" anchor="ctr"/>
          <a:lstStyle/>
          <a:p>
            <a:pPr marL="0" indent="0">
              <a:buNone/>
            </a:pPr>
            <a:r>
              <a:rPr lang="en-US" sz="950" b="1" kern="0" spc="100" dirty="0">
                <a:solidFill>
                  <a:srgbClr val="64748B"/>
                </a:solidFill>
                <a:latin typeface="Calibri" pitchFamily="34" charset="0"/>
                <a:ea typeface="Calibri" pitchFamily="34" charset="-122"/>
                <a:cs typeface="Calibri" pitchFamily="34" charset="-120"/>
              </a:rPr>
              <a:t>Why structurally attractive</a:t>
            </a:r>
            <a:endParaRPr lang="en-US" sz="950" spc="100" dirty="0"/>
          </a:p>
        </p:txBody>
      </p:sp>
      <p:sp>
        <p:nvSpPr>
          <p:cNvPr id="20" name="Text 18"/>
          <p:cNvSpPr/>
          <p:nvPr/>
        </p:nvSpPr>
        <p:spPr>
          <a:xfrm>
            <a:off x="685800" y="5550408"/>
            <a:ext cx="5212080" cy="548640"/>
          </a:xfrm>
          <a:prstGeom prst="rect">
            <a:avLst/>
          </a:prstGeom>
          <a:noFill/>
          <a:ln/>
        </p:spPr>
        <p:txBody>
          <a:bodyPr wrap="square" lIns="0" tIns="0" rIns="0" bIns="0" rtlCol="0" anchor="t"/>
          <a:lstStyle/>
          <a:p>
            <a:pPr marL="0" indent="0">
              <a:buNone/>
            </a:pPr>
            <a:r>
              <a:rPr lang="en-US" sz="1000" i="1" dirty="0">
                <a:solidFill>
                  <a:srgbClr val="334155"/>
                </a:solidFill>
                <a:latin typeface="Calibri" pitchFamily="34" charset="0"/>
                <a:ea typeface="Calibri" pitchFamily="34" charset="-122"/>
                <a:cs typeface="Calibri" pitchFamily="34" charset="-120"/>
              </a:rPr>
              <a:t>Square Capital has originated &gt;$15B; Razorpay Capital already does this in India. Pine Labs is the only player with merchant-data advantage at this scale.</a:t>
            </a:r>
            <a:endParaRPr lang="en-US" sz="1000" dirty="0"/>
          </a:p>
        </p:txBody>
      </p:sp>
      <p:sp>
        <p:nvSpPr>
          <p:cNvPr id="21" name="Shape 19"/>
          <p:cNvSpPr/>
          <p:nvPr/>
        </p:nvSpPr>
        <p:spPr>
          <a:xfrm>
            <a:off x="6263640" y="2514600"/>
            <a:ext cx="5486400" cy="3657600"/>
          </a:xfrm>
          <a:prstGeom prst="rect">
            <a:avLst/>
          </a:prstGeom>
          <a:solidFill>
            <a:srgbClr val="FFFFFF"/>
          </a:solidFill>
          <a:ln w="19050">
            <a:solidFill>
              <a:srgbClr val="D97706"/>
            </a:solidFill>
            <a:prstDash val="dash"/>
          </a:ln>
        </p:spPr>
        <p:txBody>
          <a:bodyPr/>
          <a:lstStyle/>
          <a:p>
            <a:endParaRPr lang="en-US"/>
          </a:p>
        </p:txBody>
      </p:sp>
      <p:sp>
        <p:nvSpPr>
          <p:cNvPr id="22" name="Text 20"/>
          <p:cNvSpPr/>
          <p:nvPr/>
        </p:nvSpPr>
        <p:spPr>
          <a:xfrm>
            <a:off x="6446520" y="2651760"/>
            <a:ext cx="5212080" cy="274320"/>
          </a:xfrm>
          <a:prstGeom prst="rect">
            <a:avLst/>
          </a:prstGeom>
          <a:noFill/>
          <a:ln/>
        </p:spPr>
        <p:txBody>
          <a:bodyPr wrap="square" lIns="0" tIns="0" rIns="0" bIns="0" rtlCol="0" anchor="ctr"/>
          <a:lstStyle/>
          <a:p>
            <a:pPr marL="0" indent="0">
              <a:buNone/>
            </a:pPr>
            <a:r>
              <a:rPr lang="en-US" sz="1000" b="1" kern="0" spc="100" dirty="0">
                <a:solidFill>
                  <a:srgbClr val="D97706"/>
                </a:solidFill>
                <a:latin typeface="Calibri" pitchFamily="34" charset="0"/>
                <a:ea typeface="Calibri" pitchFamily="34" charset="-122"/>
                <a:cs typeface="Calibri" pitchFamily="34" charset="-120"/>
              </a:rPr>
              <a:t>IF MANDATE CHANGED — TARGETS WORTH EVALUATING</a:t>
            </a:r>
            <a:endParaRPr lang="en-US" sz="1000" spc="100" dirty="0"/>
          </a:p>
        </p:txBody>
      </p:sp>
      <p:sp>
        <p:nvSpPr>
          <p:cNvPr id="23" name="Shape 21"/>
          <p:cNvSpPr/>
          <p:nvPr/>
        </p:nvSpPr>
        <p:spPr>
          <a:xfrm>
            <a:off x="6446520" y="3090672"/>
            <a:ext cx="118872" cy="118872"/>
          </a:xfrm>
          <a:prstGeom prst="ellipse">
            <a:avLst/>
          </a:prstGeom>
          <a:solidFill>
            <a:srgbClr val="D97706"/>
          </a:solidFill>
          <a:ln/>
        </p:spPr>
        <p:txBody>
          <a:bodyPr/>
          <a:lstStyle/>
          <a:p>
            <a:endParaRPr lang="en-US"/>
          </a:p>
        </p:txBody>
      </p:sp>
      <p:sp>
        <p:nvSpPr>
          <p:cNvPr id="24" name="Text 22"/>
          <p:cNvSpPr/>
          <p:nvPr/>
        </p:nvSpPr>
        <p:spPr>
          <a:xfrm>
            <a:off x="6629400" y="3017520"/>
            <a:ext cx="1645920" cy="274320"/>
          </a:xfrm>
          <a:prstGeom prst="rect">
            <a:avLst/>
          </a:prstGeom>
          <a:noFill/>
          <a:ln/>
        </p:spPr>
        <p:txBody>
          <a:bodyPr wrap="square" lIns="0" tIns="0" rIns="0" bIns="0" rtlCol="0" anchor="ctr"/>
          <a:lstStyle/>
          <a:p>
            <a:pPr marL="0" indent="0">
              <a:buNone/>
            </a:pPr>
            <a:r>
              <a:rPr lang="en-US" sz="1050" b="1" dirty="0">
                <a:solidFill>
                  <a:srgbClr val="0F172A"/>
                </a:solidFill>
                <a:latin typeface="Calibri" pitchFamily="34" charset="0"/>
                <a:ea typeface="Calibri" pitchFamily="34" charset="-122"/>
                <a:cs typeface="Calibri" pitchFamily="34" charset="-120"/>
              </a:rPr>
              <a:t>Knight Fintech</a:t>
            </a:r>
            <a:endParaRPr lang="en-US" sz="1050" dirty="0"/>
          </a:p>
        </p:txBody>
      </p:sp>
      <p:sp>
        <p:nvSpPr>
          <p:cNvPr id="25" name="Text 23"/>
          <p:cNvSpPr/>
          <p:nvPr/>
        </p:nvSpPr>
        <p:spPr>
          <a:xfrm>
            <a:off x="8321040" y="3017520"/>
            <a:ext cx="1280160" cy="274320"/>
          </a:xfrm>
          <a:prstGeom prst="rect">
            <a:avLst/>
          </a:prstGeom>
          <a:noFill/>
          <a:ln/>
        </p:spPr>
        <p:txBody>
          <a:bodyPr wrap="square" lIns="0" tIns="0" rIns="0" bIns="0" rtlCol="0" anchor="ctr"/>
          <a:lstStyle/>
          <a:p>
            <a:pPr marL="0" indent="0">
              <a:buNone/>
            </a:pPr>
            <a:r>
              <a:rPr lang="en-US" sz="950" i="1" dirty="0">
                <a:solidFill>
                  <a:srgbClr val="D97706"/>
                </a:solidFill>
                <a:latin typeface="Calibri" pitchFamily="34" charset="0"/>
                <a:ea typeface="Calibri" pitchFamily="34" charset="-122"/>
                <a:cs typeface="Calibri" pitchFamily="34" charset="-120"/>
              </a:rPr>
              <a:t>$150-250M</a:t>
            </a:r>
            <a:endParaRPr lang="en-US" sz="950" dirty="0"/>
          </a:p>
        </p:txBody>
      </p:sp>
      <p:sp>
        <p:nvSpPr>
          <p:cNvPr id="26" name="Text 24"/>
          <p:cNvSpPr/>
          <p:nvPr/>
        </p:nvSpPr>
        <p:spPr>
          <a:xfrm>
            <a:off x="6629400" y="3273552"/>
            <a:ext cx="5029200" cy="320040"/>
          </a:xfrm>
          <a:prstGeom prst="rect">
            <a:avLst/>
          </a:prstGeom>
          <a:noFill/>
          <a:ln/>
        </p:spPr>
        <p:txBody>
          <a:bodyPr wrap="square" lIns="0" tIns="0" rIns="0" bIns="0" rtlCol="0" anchor="t"/>
          <a:lstStyle/>
          <a:p>
            <a:pPr marL="0" indent="0">
              <a:buNone/>
            </a:pPr>
            <a:r>
              <a:rPr lang="en-US" sz="900" dirty="0">
                <a:solidFill>
                  <a:srgbClr val="334155"/>
                </a:solidFill>
                <a:latin typeface="Calibri" pitchFamily="34" charset="0"/>
                <a:ea typeface="Calibri" pitchFamily="34" charset="-122"/>
                <a:cs typeface="Calibri" pitchFamily="34" charset="-120"/>
              </a:rPr>
              <a:t>Co-lending engine + 75 banks (8/12 PSU) + Knight Aurix embedded credit</a:t>
            </a:r>
            <a:endParaRPr lang="en-US" sz="900" dirty="0"/>
          </a:p>
        </p:txBody>
      </p:sp>
      <p:sp>
        <p:nvSpPr>
          <p:cNvPr id="27" name="Shape 25"/>
          <p:cNvSpPr/>
          <p:nvPr/>
        </p:nvSpPr>
        <p:spPr>
          <a:xfrm>
            <a:off x="6446520" y="3730752"/>
            <a:ext cx="118872" cy="118872"/>
          </a:xfrm>
          <a:prstGeom prst="ellipse">
            <a:avLst/>
          </a:prstGeom>
          <a:solidFill>
            <a:srgbClr val="D97706"/>
          </a:solidFill>
          <a:ln/>
        </p:spPr>
        <p:txBody>
          <a:bodyPr/>
          <a:lstStyle/>
          <a:p>
            <a:endParaRPr lang="en-US"/>
          </a:p>
        </p:txBody>
      </p:sp>
      <p:sp>
        <p:nvSpPr>
          <p:cNvPr id="28" name="Text 26"/>
          <p:cNvSpPr/>
          <p:nvPr/>
        </p:nvSpPr>
        <p:spPr>
          <a:xfrm>
            <a:off x="6629400" y="3657600"/>
            <a:ext cx="1645920" cy="274320"/>
          </a:xfrm>
          <a:prstGeom prst="rect">
            <a:avLst/>
          </a:prstGeom>
          <a:noFill/>
          <a:ln/>
        </p:spPr>
        <p:txBody>
          <a:bodyPr wrap="square" lIns="0" tIns="0" rIns="0" bIns="0" rtlCol="0" anchor="ctr"/>
          <a:lstStyle/>
          <a:p>
            <a:pPr marL="0" indent="0">
              <a:buNone/>
            </a:pPr>
            <a:r>
              <a:rPr lang="en-US" sz="1050" b="1" dirty="0">
                <a:solidFill>
                  <a:srgbClr val="0F172A"/>
                </a:solidFill>
                <a:latin typeface="Calibri" pitchFamily="34" charset="0"/>
                <a:ea typeface="Calibri" pitchFamily="34" charset="-122"/>
                <a:cs typeface="Calibri" pitchFamily="34" charset="-120"/>
              </a:rPr>
              <a:t>Lentra</a:t>
            </a:r>
            <a:endParaRPr lang="en-US" sz="1050" dirty="0"/>
          </a:p>
        </p:txBody>
      </p:sp>
      <p:sp>
        <p:nvSpPr>
          <p:cNvPr id="29" name="Text 27"/>
          <p:cNvSpPr/>
          <p:nvPr/>
        </p:nvSpPr>
        <p:spPr>
          <a:xfrm>
            <a:off x="8321040" y="3657600"/>
            <a:ext cx="1280160" cy="274320"/>
          </a:xfrm>
          <a:prstGeom prst="rect">
            <a:avLst/>
          </a:prstGeom>
          <a:noFill/>
          <a:ln/>
        </p:spPr>
        <p:txBody>
          <a:bodyPr wrap="square" lIns="0" tIns="0" rIns="0" bIns="0" rtlCol="0" anchor="ctr"/>
          <a:lstStyle/>
          <a:p>
            <a:pPr marL="0" indent="0">
              <a:buNone/>
            </a:pPr>
            <a:r>
              <a:rPr lang="en-US" sz="950" i="1" dirty="0">
                <a:solidFill>
                  <a:srgbClr val="D97706"/>
                </a:solidFill>
                <a:latin typeface="Calibri" pitchFamily="34" charset="0"/>
                <a:ea typeface="Calibri" pitchFamily="34" charset="-122"/>
                <a:cs typeface="Calibri" pitchFamily="34" charset="-120"/>
              </a:rPr>
              <a:t>$300-500M</a:t>
            </a:r>
            <a:endParaRPr lang="en-US" sz="950" dirty="0"/>
          </a:p>
        </p:txBody>
      </p:sp>
      <p:sp>
        <p:nvSpPr>
          <p:cNvPr id="30" name="Text 28"/>
          <p:cNvSpPr/>
          <p:nvPr/>
        </p:nvSpPr>
        <p:spPr>
          <a:xfrm>
            <a:off x="6629400" y="3913632"/>
            <a:ext cx="5029200" cy="320040"/>
          </a:xfrm>
          <a:prstGeom prst="rect">
            <a:avLst/>
          </a:prstGeom>
          <a:noFill/>
          <a:ln/>
        </p:spPr>
        <p:txBody>
          <a:bodyPr wrap="square" lIns="0" tIns="0" rIns="0" bIns="0" rtlCol="0" anchor="t"/>
          <a:lstStyle/>
          <a:p>
            <a:pPr marL="0" indent="0">
              <a:buNone/>
            </a:pPr>
            <a:r>
              <a:rPr lang="en-US" sz="900" dirty="0">
                <a:solidFill>
                  <a:srgbClr val="334155"/>
                </a:solidFill>
                <a:latin typeface="Calibri" pitchFamily="34" charset="0"/>
                <a:ea typeface="Calibri" pitchFamily="34" charset="-122"/>
                <a:cs typeface="Calibri" pitchFamily="34" charset="-120"/>
              </a:rPr>
              <a:t>Full LOS for HDFC / Axis / Kotak; pricier and more mature</a:t>
            </a:r>
            <a:endParaRPr lang="en-US" sz="900" dirty="0"/>
          </a:p>
        </p:txBody>
      </p:sp>
      <p:sp>
        <p:nvSpPr>
          <p:cNvPr id="31" name="Shape 29"/>
          <p:cNvSpPr/>
          <p:nvPr/>
        </p:nvSpPr>
        <p:spPr>
          <a:xfrm>
            <a:off x="6446520" y="4370832"/>
            <a:ext cx="118872" cy="118872"/>
          </a:xfrm>
          <a:prstGeom prst="ellipse">
            <a:avLst/>
          </a:prstGeom>
          <a:solidFill>
            <a:srgbClr val="D97706"/>
          </a:solidFill>
          <a:ln/>
        </p:spPr>
        <p:txBody>
          <a:bodyPr/>
          <a:lstStyle/>
          <a:p>
            <a:endParaRPr lang="en-US"/>
          </a:p>
        </p:txBody>
      </p:sp>
      <p:sp>
        <p:nvSpPr>
          <p:cNvPr id="32" name="Text 30"/>
          <p:cNvSpPr/>
          <p:nvPr/>
        </p:nvSpPr>
        <p:spPr>
          <a:xfrm>
            <a:off x="6629400" y="4297680"/>
            <a:ext cx="1645920" cy="274320"/>
          </a:xfrm>
          <a:prstGeom prst="rect">
            <a:avLst/>
          </a:prstGeom>
          <a:noFill/>
          <a:ln/>
        </p:spPr>
        <p:txBody>
          <a:bodyPr wrap="square" lIns="0" tIns="0" rIns="0" bIns="0" rtlCol="0" anchor="ctr"/>
          <a:lstStyle/>
          <a:p>
            <a:pPr marL="0" indent="0">
              <a:buNone/>
            </a:pPr>
            <a:r>
              <a:rPr lang="en-US" sz="1050" b="1" dirty="0">
                <a:solidFill>
                  <a:srgbClr val="0F172A"/>
                </a:solidFill>
                <a:latin typeface="Calibri" pitchFamily="34" charset="0"/>
                <a:ea typeface="Calibri" pitchFamily="34" charset="-122"/>
                <a:cs typeface="Calibri" pitchFamily="34" charset="-120"/>
              </a:rPr>
              <a:t>Finezza</a:t>
            </a:r>
            <a:endParaRPr lang="en-US" sz="1050" dirty="0"/>
          </a:p>
        </p:txBody>
      </p:sp>
      <p:sp>
        <p:nvSpPr>
          <p:cNvPr id="33" name="Text 31"/>
          <p:cNvSpPr/>
          <p:nvPr/>
        </p:nvSpPr>
        <p:spPr>
          <a:xfrm>
            <a:off x="8321040" y="4297680"/>
            <a:ext cx="1280160" cy="274320"/>
          </a:xfrm>
          <a:prstGeom prst="rect">
            <a:avLst/>
          </a:prstGeom>
          <a:noFill/>
          <a:ln/>
        </p:spPr>
        <p:txBody>
          <a:bodyPr wrap="square" lIns="0" tIns="0" rIns="0" bIns="0" rtlCol="0" anchor="ctr"/>
          <a:lstStyle/>
          <a:p>
            <a:pPr marL="0" indent="0">
              <a:buNone/>
            </a:pPr>
            <a:r>
              <a:rPr lang="en-US" sz="950" i="1" dirty="0">
                <a:solidFill>
                  <a:srgbClr val="D97706"/>
                </a:solidFill>
                <a:latin typeface="Calibri" pitchFamily="34" charset="0"/>
                <a:ea typeface="Calibri" pitchFamily="34" charset="-122"/>
                <a:cs typeface="Calibri" pitchFamily="34" charset="-120"/>
              </a:rPr>
              <a:t>$3-10M acquihire</a:t>
            </a:r>
            <a:endParaRPr lang="en-US" sz="950" dirty="0"/>
          </a:p>
        </p:txBody>
      </p:sp>
      <p:sp>
        <p:nvSpPr>
          <p:cNvPr id="34" name="Text 32"/>
          <p:cNvSpPr/>
          <p:nvPr/>
        </p:nvSpPr>
        <p:spPr>
          <a:xfrm>
            <a:off x="6629400" y="4553712"/>
            <a:ext cx="5029200" cy="320040"/>
          </a:xfrm>
          <a:prstGeom prst="rect">
            <a:avLst/>
          </a:prstGeom>
          <a:noFill/>
          <a:ln/>
        </p:spPr>
        <p:txBody>
          <a:bodyPr wrap="square" lIns="0" tIns="0" rIns="0" bIns="0" rtlCol="0" anchor="t"/>
          <a:lstStyle/>
          <a:p>
            <a:pPr marL="0" indent="0">
              <a:buNone/>
            </a:pPr>
            <a:r>
              <a:rPr lang="en-US" sz="900" dirty="0">
                <a:solidFill>
                  <a:srgbClr val="334155"/>
                </a:solidFill>
                <a:latin typeface="Calibri" pitchFamily="34" charset="0"/>
                <a:ea typeface="Calibri" pitchFamily="34" charset="-122"/>
                <a:cs typeface="Calibri" pitchFamily="34" charset="-120"/>
              </a:rPr>
              <a:t>29-person team; bootstrap a Setu lending stack</a:t>
            </a:r>
            <a:endParaRPr lang="en-US" sz="900" dirty="0"/>
          </a:p>
        </p:txBody>
      </p:sp>
      <p:sp>
        <p:nvSpPr>
          <p:cNvPr id="35" name="Shape 33"/>
          <p:cNvSpPr/>
          <p:nvPr/>
        </p:nvSpPr>
        <p:spPr>
          <a:xfrm>
            <a:off x="6446520" y="5010912"/>
            <a:ext cx="118872" cy="118872"/>
          </a:xfrm>
          <a:prstGeom prst="ellipse">
            <a:avLst/>
          </a:prstGeom>
          <a:solidFill>
            <a:srgbClr val="D97706"/>
          </a:solidFill>
          <a:ln/>
        </p:spPr>
        <p:txBody>
          <a:bodyPr/>
          <a:lstStyle/>
          <a:p>
            <a:endParaRPr lang="en-US"/>
          </a:p>
        </p:txBody>
      </p:sp>
      <p:sp>
        <p:nvSpPr>
          <p:cNvPr id="36" name="Text 34"/>
          <p:cNvSpPr/>
          <p:nvPr/>
        </p:nvSpPr>
        <p:spPr>
          <a:xfrm>
            <a:off x="6629400" y="4937760"/>
            <a:ext cx="1645920" cy="274320"/>
          </a:xfrm>
          <a:prstGeom prst="rect">
            <a:avLst/>
          </a:prstGeom>
          <a:noFill/>
          <a:ln/>
        </p:spPr>
        <p:txBody>
          <a:bodyPr wrap="square" lIns="0" tIns="0" rIns="0" bIns="0" rtlCol="0" anchor="ctr"/>
          <a:lstStyle/>
          <a:p>
            <a:pPr marL="0" indent="0">
              <a:buNone/>
            </a:pPr>
            <a:r>
              <a:rPr lang="en-US" sz="1050" b="1" dirty="0">
                <a:solidFill>
                  <a:srgbClr val="0F172A"/>
                </a:solidFill>
                <a:latin typeface="Calibri" pitchFamily="34" charset="0"/>
                <a:ea typeface="Calibri" pitchFamily="34" charset="-122"/>
                <a:cs typeface="Calibri" pitchFamily="34" charset="-120"/>
              </a:rPr>
              <a:t>Jocata</a:t>
            </a:r>
            <a:endParaRPr lang="en-US" sz="1050" dirty="0"/>
          </a:p>
        </p:txBody>
      </p:sp>
      <p:sp>
        <p:nvSpPr>
          <p:cNvPr id="37" name="Text 35"/>
          <p:cNvSpPr/>
          <p:nvPr/>
        </p:nvSpPr>
        <p:spPr>
          <a:xfrm>
            <a:off x="8321040" y="4937760"/>
            <a:ext cx="1280160" cy="274320"/>
          </a:xfrm>
          <a:prstGeom prst="rect">
            <a:avLst/>
          </a:prstGeom>
          <a:noFill/>
          <a:ln/>
        </p:spPr>
        <p:txBody>
          <a:bodyPr wrap="square" lIns="0" tIns="0" rIns="0" bIns="0" rtlCol="0" anchor="ctr"/>
          <a:lstStyle/>
          <a:p>
            <a:pPr marL="0" indent="0">
              <a:buNone/>
            </a:pPr>
            <a:r>
              <a:rPr lang="en-US" sz="950" i="1" dirty="0">
                <a:solidFill>
                  <a:srgbClr val="D97706"/>
                </a:solidFill>
                <a:latin typeface="Calibri" pitchFamily="34" charset="0"/>
                <a:ea typeface="Calibri" pitchFamily="34" charset="-122"/>
                <a:cs typeface="Calibri" pitchFamily="34" charset="-120"/>
              </a:rPr>
              <a:t>$50-100M</a:t>
            </a:r>
            <a:endParaRPr lang="en-US" sz="950" dirty="0"/>
          </a:p>
        </p:txBody>
      </p:sp>
      <p:sp>
        <p:nvSpPr>
          <p:cNvPr id="38" name="Text 36"/>
          <p:cNvSpPr/>
          <p:nvPr/>
        </p:nvSpPr>
        <p:spPr>
          <a:xfrm>
            <a:off x="6629400" y="5193792"/>
            <a:ext cx="5029200" cy="320040"/>
          </a:xfrm>
          <a:prstGeom prst="rect">
            <a:avLst/>
          </a:prstGeom>
          <a:noFill/>
          <a:ln/>
        </p:spPr>
        <p:txBody>
          <a:bodyPr wrap="square" lIns="0" tIns="0" rIns="0" bIns="0" rtlCol="0" anchor="t"/>
          <a:lstStyle/>
          <a:p>
            <a:pPr marL="0" indent="0">
              <a:buNone/>
            </a:pPr>
            <a:r>
              <a:rPr lang="en-US" sz="900" dirty="0">
                <a:solidFill>
                  <a:srgbClr val="334155"/>
                </a:solidFill>
                <a:latin typeface="Calibri" pitchFamily="34" charset="0"/>
                <a:ea typeface="Calibri" pitchFamily="34" charset="-122"/>
                <a:cs typeface="Calibri" pitchFamily="34" charset="-120"/>
              </a:rPr>
              <a:t>PSU bank exposure on lending workflows; risk-adjacent</a:t>
            </a:r>
            <a:endParaRPr lang="en-US" sz="900" dirty="0"/>
          </a:p>
        </p:txBody>
      </p:sp>
      <p:sp>
        <p:nvSpPr>
          <p:cNvPr id="39" name="Shape 37"/>
          <p:cNvSpPr/>
          <p:nvPr/>
        </p:nvSpPr>
        <p:spPr>
          <a:xfrm>
            <a:off x="6446520" y="5650992"/>
            <a:ext cx="118872" cy="118872"/>
          </a:xfrm>
          <a:prstGeom prst="ellipse">
            <a:avLst/>
          </a:prstGeom>
          <a:solidFill>
            <a:srgbClr val="D97706"/>
          </a:solidFill>
          <a:ln/>
        </p:spPr>
        <p:txBody>
          <a:bodyPr/>
          <a:lstStyle/>
          <a:p>
            <a:endParaRPr lang="en-US"/>
          </a:p>
        </p:txBody>
      </p:sp>
      <p:sp>
        <p:nvSpPr>
          <p:cNvPr id="40" name="Text 38"/>
          <p:cNvSpPr/>
          <p:nvPr/>
        </p:nvSpPr>
        <p:spPr>
          <a:xfrm>
            <a:off x="6629400" y="5577840"/>
            <a:ext cx="1645920" cy="274320"/>
          </a:xfrm>
          <a:prstGeom prst="rect">
            <a:avLst/>
          </a:prstGeom>
          <a:noFill/>
          <a:ln/>
        </p:spPr>
        <p:txBody>
          <a:bodyPr wrap="square" lIns="0" tIns="0" rIns="0" bIns="0" rtlCol="0" anchor="ctr"/>
          <a:lstStyle/>
          <a:p>
            <a:pPr marL="0" indent="0">
              <a:buNone/>
            </a:pPr>
            <a:r>
              <a:rPr lang="en-US" sz="1050" b="1" dirty="0">
                <a:solidFill>
                  <a:srgbClr val="0F172A"/>
                </a:solidFill>
                <a:latin typeface="Calibri" pitchFamily="34" charset="0"/>
                <a:ea typeface="Calibri" pitchFamily="34" charset="-122"/>
                <a:cs typeface="Calibri" pitchFamily="34" charset="-120"/>
              </a:rPr>
              <a:t>Indifi</a:t>
            </a:r>
            <a:endParaRPr lang="en-US" sz="1050" dirty="0"/>
          </a:p>
        </p:txBody>
      </p:sp>
      <p:sp>
        <p:nvSpPr>
          <p:cNvPr id="41" name="Text 39"/>
          <p:cNvSpPr/>
          <p:nvPr/>
        </p:nvSpPr>
        <p:spPr>
          <a:xfrm>
            <a:off x="8321040" y="5577840"/>
            <a:ext cx="1280160" cy="274320"/>
          </a:xfrm>
          <a:prstGeom prst="rect">
            <a:avLst/>
          </a:prstGeom>
          <a:noFill/>
          <a:ln/>
        </p:spPr>
        <p:txBody>
          <a:bodyPr wrap="square" lIns="0" tIns="0" rIns="0" bIns="0" rtlCol="0" anchor="ctr"/>
          <a:lstStyle/>
          <a:p>
            <a:pPr marL="0" indent="0">
              <a:buNone/>
            </a:pPr>
            <a:r>
              <a:rPr lang="en-US" sz="950" i="1" dirty="0">
                <a:solidFill>
                  <a:srgbClr val="D97706"/>
                </a:solidFill>
                <a:latin typeface="Calibri" pitchFamily="34" charset="0"/>
                <a:ea typeface="Calibri" pitchFamily="34" charset="-122"/>
                <a:cs typeface="Calibri" pitchFamily="34" charset="-120"/>
              </a:rPr>
              <a:t>$150-250M</a:t>
            </a:r>
            <a:endParaRPr lang="en-US" sz="950" dirty="0"/>
          </a:p>
        </p:txBody>
      </p:sp>
      <p:sp>
        <p:nvSpPr>
          <p:cNvPr id="42" name="Text 40"/>
          <p:cNvSpPr/>
          <p:nvPr/>
        </p:nvSpPr>
        <p:spPr>
          <a:xfrm>
            <a:off x="6629400" y="5833872"/>
            <a:ext cx="5029200" cy="320040"/>
          </a:xfrm>
          <a:prstGeom prst="rect">
            <a:avLst/>
          </a:prstGeom>
          <a:noFill/>
          <a:ln/>
        </p:spPr>
        <p:txBody>
          <a:bodyPr wrap="square" lIns="0" tIns="0" rIns="0" bIns="0" rtlCol="0" anchor="t"/>
          <a:lstStyle/>
          <a:p>
            <a:pPr marL="0" indent="0">
              <a:buNone/>
            </a:pPr>
            <a:r>
              <a:rPr lang="en-US" sz="900" dirty="0">
                <a:solidFill>
                  <a:srgbClr val="334155"/>
                </a:solidFill>
                <a:latin typeface="Calibri" pitchFamily="34" charset="0"/>
                <a:ea typeface="Calibri" pitchFamily="34" charset="-122"/>
                <a:cs typeface="Calibri" pitchFamily="34" charset="-120"/>
              </a:rPr>
              <a:t>Marketplace orchestrator across panel of NBFCs (no balance sheet)</a:t>
            </a:r>
            <a:endParaRPr lang="en-US" sz="900" dirty="0"/>
          </a:p>
        </p:txBody>
      </p:sp>
      <p:sp>
        <p:nvSpPr>
          <p:cNvPr id="43" name="Shape 41"/>
          <p:cNvSpPr/>
          <p:nvPr/>
        </p:nvSpPr>
        <p:spPr>
          <a:xfrm>
            <a:off x="457200" y="6263640"/>
            <a:ext cx="11247120" cy="201168"/>
          </a:xfrm>
          <a:prstGeom prst="rect">
            <a:avLst/>
          </a:prstGeom>
          <a:solidFill>
            <a:srgbClr val="F8FAFC"/>
          </a:solidFill>
          <a:ln w="6350">
            <a:solidFill>
              <a:srgbClr val="E2E8F0"/>
            </a:solidFill>
            <a:prstDash val="solid"/>
          </a:ln>
        </p:spPr>
        <p:txBody>
          <a:bodyPr/>
          <a:lstStyle/>
          <a:p>
            <a:endParaRPr lang="en-US"/>
          </a:p>
        </p:txBody>
      </p:sp>
      <p:sp>
        <p:nvSpPr>
          <p:cNvPr id="44" name="Shape 42"/>
          <p:cNvSpPr/>
          <p:nvPr/>
        </p:nvSpPr>
        <p:spPr>
          <a:xfrm>
            <a:off x="457200" y="6263640"/>
            <a:ext cx="73152" cy="201168"/>
          </a:xfrm>
          <a:prstGeom prst="rect">
            <a:avLst/>
          </a:prstGeom>
          <a:solidFill>
            <a:srgbClr val="D97706"/>
          </a:solidFill>
          <a:ln/>
        </p:spPr>
        <p:txBody>
          <a:bodyPr/>
          <a:lstStyle/>
          <a:p>
            <a:endParaRPr lang="en-US"/>
          </a:p>
        </p:txBody>
      </p:sp>
      <p:sp>
        <p:nvSpPr>
          <p:cNvPr id="45" name="Text 43"/>
          <p:cNvSpPr/>
          <p:nvPr/>
        </p:nvSpPr>
        <p:spPr>
          <a:xfrm>
            <a:off x="685800" y="6263640"/>
            <a:ext cx="10972800" cy="201168"/>
          </a:xfrm>
          <a:prstGeom prst="rect">
            <a:avLst/>
          </a:prstGeom>
          <a:noFill/>
          <a:ln/>
        </p:spPr>
        <p:txBody>
          <a:bodyPr wrap="square" lIns="0" tIns="0" rIns="0" bIns="0" rtlCol="0" anchor="ctr"/>
          <a:lstStyle/>
          <a:p>
            <a:pPr marL="0" indent="0">
              <a:buNone/>
            </a:pPr>
            <a:r>
              <a:rPr lang="en-US" sz="1000" i="1" dirty="0">
                <a:solidFill>
                  <a:srgbClr val="0F172A"/>
                </a:solidFill>
                <a:latin typeface="Calibri" pitchFamily="34" charset="0"/>
                <a:ea typeface="Calibri" pitchFamily="34" charset="-122"/>
                <a:cs typeface="Calibri" pitchFamily="34" charset="-120"/>
              </a:rPr>
              <a:t>Worth a board-level discussion in FY28-29 — but explicitly outside the mandate today. Held in reserve.</a:t>
            </a:r>
            <a:endParaRPr lang="en-US" sz="1000" dirty="0"/>
          </a:p>
        </p:txBody>
      </p:sp>
      <p:pic>
        <p:nvPicPr>
          <p:cNvPr id="46" name="Picture 2" descr="Pine Labs Launches Paper POS, a Merged QR Product to Accept Payments via  UPI and Bharat QR Apps">
            <a:extLst>
              <a:ext uri="{FF2B5EF4-FFF2-40B4-BE49-F238E27FC236}">
                <a16:creationId xmlns:a16="http://schemas.microsoft.com/office/drawing/2014/main" id="{828519DB-9669-26FA-21B1-53A52C7592BC}"/>
              </a:ext>
            </a:extLst>
          </p:cNvPr>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1177016" y="-102584"/>
            <a:ext cx="1115568" cy="58451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16A34A"/>
          </a:solidFill>
          <a:ln/>
        </p:spPr>
        <p:txBody>
          <a:bodyPr/>
          <a:lstStyle/>
          <a:p>
            <a:endParaRPr lang="en-US"/>
          </a:p>
        </p:txBody>
      </p:sp>
      <p:sp>
        <p:nvSpPr>
          <p:cNvPr id="3" name="Text 1"/>
          <p:cNvSpPr/>
          <p:nvPr/>
        </p:nvSpPr>
        <p:spPr>
          <a:xfrm>
            <a:off x="457200" y="201168"/>
            <a:ext cx="10058400" cy="256032"/>
          </a:xfrm>
          <a:prstGeom prst="rect">
            <a:avLst/>
          </a:prstGeom>
          <a:noFill/>
          <a:ln/>
        </p:spPr>
        <p:txBody>
          <a:bodyPr wrap="square" lIns="0" tIns="0" rIns="0" bIns="0" rtlCol="0" anchor="ctr"/>
          <a:lstStyle/>
          <a:p>
            <a:pPr marL="0" indent="0">
              <a:buNone/>
            </a:pPr>
            <a:r>
              <a:rPr lang="en-US" sz="900" b="1" kern="0" spc="100" dirty="0">
                <a:solidFill>
                  <a:srgbClr val="16A34A"/>
                </a:solidFill>
                <a:latin typeface="Calibri" pitchFamily="34" charset="0"/>
                <a:ea typeface="Calibri" pitchFamily="34" charset="-122"/>
                <a:cs typeface="Calibri" pitchFamily="34" charset="-120"/>
              </a:rPr>
              <a:t>EXCLUDED — VERTICAL SAAS BUNDLING</a:t>
            </a:r>
            <a:endParaRPr lang="en-US" sz="900" spc="100" dirty="0"/>
          </a:p>
        </p:txBody>
      </p:sp>
      <p:sp>
        <p:nvSpPr>
          <p:cNvPr id="4" name="Text 2"/>
          <p:cNvSpPr/>
          <p:nvPr/>
        </p:nvSpPr>
        <p:spPr>
          <a:xfrm>
            <a:off x="457200" y="457200"/>
            <a:ext cx="11247120" cy="731520"/>
          </a:xfrm>
          <a:prstGeom prst="rect">
            <a:avLst/>
          </a:prstGeom>
          <a:noFill/>
          <a:ln/>
        </p:spPr>
        <p:txBody>
          <a:bodyPr wrap="square" lIns="0" tIns="0" rIns="0" bIns="0" rtlCol="0" anchor="ctr"/>
          <a:lstStyle/>
          <a:p>
            <a:pPr marL="0" indent="0">
              <a:buNone/>
            </a:pPr>
            <a:r>
              <a:rPr lang="en-US" sz="2200" b="1" dirty="0">
                <a:solidFill>
                  <a:srgbClr val="0F172A"/>
                </a:solidFill>
                <a:latin typeface="Calibri" pitchFamily="34" charset="0"/>
                <a:ea typeface="Calibri" pitchFamily="34" charset="-122"/>
                <a:cs typeface="Calibri" pitchFamily="34" charset="-120"/>
              </a:rPr>
              <a:t>The Toast / Petpooja playbook is highly accretive — but optimising target choice requires Pine Labs internal data</a:t>
            </a:r>
            <a:endParaRPr lang="en-US" sz="2200" dirty="0"/>
          </a:p>
        </p:txBody>
      </p:sp>
      <p:sp>
        <p:nvSpPr>
          <p:cNvPr id="5" name="Shape 3"/>
          <p:cNvSpPr/>
          <p:nvPr/>
        </p:nvSpPr>
        <p:spPr>
          <a:xfrm>
            <a:off x="457200" y="1188720"/>
            <a:ext cx="11247120" cy="13716"/>
          </a:xfrm>
          <a:prstGeom prst="rect">
            <a:avLst/>
          </a:prstGeom>
          <a:solidFill>
            <a:srgbClr val="E2E8F0"/>
          </a:solidFill>
          <a:ln/>
        </p:spPr>
        <p:txBody>
          <a:bodyPr/>
          <a:lstStyle/>
          <a:p>
            <a:endParaRPr lang="en-US"/>
          </a:p>
        </p:txBody>
      </p:sp>
      <p:sp>
        <p:nvSpPr>
          <p:cNvPr id="6" name="Text 4"/>
          <p:cNvSpPr/>
          <p:nvPr/>
        </p:nvSpPr>
        <p:spPr>
          <a:xfrm>
            <a:off x="457200" y="6492240"/>
            <a:ext cx="6400800" cy="256032"/>
          </a:xfrm>
          <a:prstGeom prst="rect">
            <a:avLst/>
          </a:prstGeom>
          <a:noFill/>
          <a:ln/>
        </p:spPr>
        <p:txBody>
          <a:bodyPr wrap="square" lIns="0" tIns="0" rIns="0" bIns="0" rtlCol="0" anchor="ctr"/>
          <a:lstStyle/>
          <a:p>
            <a:pPr marL="0" indent="0">
              <a:buNone/>
            </a:pPr>
            <a:r>
              <a:rPr lang="en-US" sz="900" i="1" dirty="0">
                <a:solidFill>
                  <a:srgbClr val="64748B"/>
                </a:solidFill>
                <a:latin typeface="Calibri" pitchFamily="34" charset="0"/>
                <a:ea typeface="Calibri" pitchFamily="34" charset="-122"/>
                <a:cs typeface="Calibri" pitchFamily="34" charset="-120"/>
              </a:rPr>
              <a:t>Pine Labs — Corporate Development</a:t>
            </a:r>
            <a:endParaRPr lang="en-US" sz="900" dirty="0"/>
          </a:p>
        </p:txBody>
      </p:sp>
      <p:sp>
        <p:nvSpPr>
          <p:cNvPr id="7" name="Text 5"/>
          <p:cNvSpPr/>
          <p:nvPr/>
        </p:nvSpPr>
        <p:spPr>
          <a:xfrm>
            <a:off x="6858000" y="6492240"/>
            <a:ext cx="2743200" cy="256032"/>
          </a:xfrm>
          <a:prstGeom prst="rect">
            <a:avLst/>
          </a:prstGeom>
          <a:noFill/>
          <a:ln/>
        </p:spPr>
        <p:txBody>
          <a:bodyPr wrap="square" lIns="0" tIns="0" rIns="0" bIns="0" rtlCol="0" anchor="ctr"/>
          <a:lstStyle/>
          <a:p>
            <a:pPr marL="0" indent="0" algn="ctr">
              <a:buNone/>
            </a:pPr>
            <a:r>
              <a:rPr lang="en-US" sz="900" i="1" dirty="0">
                <a:solidFill>
                  <a:srgbClr val="64748B"/>
                </a:solidFill>
                <a:latin typeface="Calibri" pitchFamily="34" charset="0"/>
                <a:ea typeface="Calibri" pitchFamily="34" charset="-122"/>
                <a:cs typeface="Calibri" pitchFamily="34" charset="-120"/>
              </a:rPr>
              <a:t>Strictly Confidential</a:t>
            </a:r>
            <a:endParaRPr lang="en-US" sz="900" dirty="0"/>
          </a:p>
        </p:txBody>
      </p:sp>
      <p:sp>
        <p:nvSpPr>
          <p:cNvPr id="8" name="Text 6"/>
          <p:cNvSpPr/>
          <p:nvPr/>
        </p:nvSpPr>
        <p:spPr>
          <a:xfrm>
            <a:off x="10515600" y="6492240"/>
            <a:ext cx="1188720" cy="256032"/>
          </a:xfrm>
          <a:prstGeom prst="rect">
            <a:avLst/>
          </a:prstGeom>
          <a:noFill/>
          <a:ln/>
        </p:spPr>
        <p:txBody>
          <a:bodyPr wrap="square" lIns="0" tIns="0" rIns="0" bIns="0" rtlCol="0" anchor="ctr"/>
          <a:lstStyle/>
          <a:p>
            <a:pPr marL="0" indent="0" algn="r">
              <a:buNone/>
            </a:pPr>
            <a:r>
              <a:rPr lang="en-US" sz="900" b="1" dirty="0">
                <a:solidFill>
                  <a:srgbClr val="64748B"/>
                </a:solidFill>
                <a:latin typeface="Calibri" pitchFamily="34" charset="0"/>
                <a:ea typeface="Calibri" pitchFamily="34" charset="-122"/>
                <a:cs typeface="Calibri" pitchFamily="34" charset="-120"/>
              </a:rPr>
              <a:t>18</a:t>
            </a:r>
            <a:endParaRPr lang="en-US" sz="900" dirty="0"/>
          </a:p>
        </p:txBody>
      </p:sp>
      <p:sp>
        <p:nvSpPr>
          <p:cNvPr id="9" name="Shape 7"/>
          <p:cNvSpPr/>
          <p:nvPr/>
        </p:nvSpPr>
        <p:spPr>
          <a:xfrm>
            <a:off x="502920" y="1417320"/>
            <a:ext cx="11201400" cy="868680"/>
          </a:xfrm>
          <a:prstGeom prst="rect">
            <a:avLst/>
          </a:prstGeom>
          <a:solidFill>
            <a:srgbClr val="0B1A14"/>
          </a:solidFill>
          <a:ln/>
        </p:spPr>
        <p:txBody>
          <a:bodyPr/>
          <a:lstStyle/>
          <a:p>
            <a:endParaRPr lang="en-US"/>
          </a:p>
        </p:txBody>
      </p:sp>
      <p:sp>
        <p:nvSpPr>
          <p:cNvPr id="10" name="Shape 8"/>
          <p:cNvSpPr/>
          <p:nvPr/>
        </p:nvSpPr>
        <p:spPr>
          <a:xfrm>
            <a:off x="502920" y="1417320"/>
            <a:ext cx="109728" cy="868680"/>
          </a:xfrm>
          <a:prstGeom prst="rect">
            <a:avLst/>
          </a:prstGeom>
          <a:solidFill>
            <a:srgbClr val="D97706"/>
          </a:solidFill>
          <a:ln/>
        </p:spPr>
        <p:txBody>
          <a:bodyPr/>
          <a:lstStyle/>
          <a:p>
            <a:endParaRPr lang="en-US"/>
          </a:p>
        </p:txBody>
      </p:sp>
      <p:sp>
        <p:nvSpPr>
          <p:cNvPr id="11" name="Text 9"/>
          <p:cNvSpPr/>
          <p:nvPr/>
        </p:nvSpPr>
        <p:spPr>
          <a:xfrm>
            <a:off x="777240" y="1481328"/>
            <a:ext cx="1828800" cy="228600"/>
          </a:xfrm>
          <a:prstGeom prst="rect">
            <a:avLst/>
          </a:prstGeom>
          <a:noFill/>
          <a:ln/>
        </p:spPr>
        <p:txBody>
          <a:bodyPr wrap="square" lIns="0" tIns="0" rIns="0" bIns="0" rtlCol="0" anchor="ctr"/>
          <a:lstStyle/>
          <a:p>
            <a:pPr marL="0" indent="0">
              <a:buNone/>
            </a:pPr>
            <a:r>
              <a:rPr lang="en-US" sz="1000" b="1" kern="0" spc="100" dirty="0">
                <a:solidFill>
                  <a:srgbClr val="D97706"/>
                </a:solidFill>
                <a:latin typeface="Calibri" pitchFamily="34" charset="0"/>
                <a:ea typeface="Calibri" pitchFamily="34" charset="-122"/>
                <a:cs typeface="Calibri" pitchFamily="34" charset="-120"/>
              </a:rPr>
              <a:t>Why parked</a:t>
            </a:r>
            <a:endParaRPr lang="en-US" sz="1000" spc="100" dirty="0"/>
          </a:p>
        </p:txBody>
      </p:sp>
      <p:sp>
        <p:nvSpPr>
          <p:cNvPr id="12" name="Text 10"/>
          <p:cNvSpPr/>
          <p:nvPr/>
        </p:nvSpPr>
        <p:spPr>
          <a:xfrm>
            <a:off x="777240" y="1755648"/>
            <a:ext cx="10835640" cy="502920"/>
          </a:xfrm>
          <a:prstGeom prst="rect">
            <a:avLst/>
          </a:prstGeom>
          <a:noFill/>
          <a:ln/>
        </p:spPr>
        <p:txBody>
          <a:bodyPr wrap="square" lIns="0" tIns="0" rIns="0" bIns="0" rtlCol="0" anchor="t"/>
          <a:lstStyle/>
          <a:p>
            <a:pPr marL="0" indent="0">
              <a:buNone/>
            </a:pPr>
            <a:r>
              <a:rPr lang="en-US" sz="1150" dirty="0">
                <a:solidFill>
                  <a:srgbClr val="FFFFFF"/>
                </a:solidFill>
                <a:latin typeface="Calibri" pitchFamily="34" charset="0"/>
                <a:ea typeface="Calibri" pitchFamily="34" charset="-122"/>
                <a:cs typeface="Calibri" pitchFamily="34" charset="-120"/>
              </a:rPr>
              <a:t>Picking the right vertical (F&amp;B vs Pharmacy vs Salon vs Auto-dealer) requires per-vertical MDR, GTV mix and renewal data that only Pine Labs has internally. Without it, a recommendation here would be a guess dressed as analysis.</a:t>
            </a:r>
            <a:endParaRPr lang="en-US" sz="1150" dirty="0"/>
          </a:p>
        </p:txBody>
      </p:sp>
      <p:sp>
        <p:nvSpPr>
          <p:cNvPr id="13" name="Shape 11"/>
          <p:cNvSpPr/>
          <p:nvPr/>
        </p:nvSpPr>
        <p:spPr>
          <a:xfrm>
            <a:off x="502920" y="2514600"/>
            <a:ext cx="5486400" cy="3657600"/>
          </a:xfrm>
          <a:prstGeom prst="rect">
            <a:avLst/>
          </a:prstGeom>
          <a:solidFill>
            <a:srgbClr val="F8FAFC"/>
          </a:solidFill>
          <a:ln w="6350">
            <a:solidFill>
              <a:srgbClr val="E2E8F0"/>
            </a:solidFill>
            <a:prstDash val="solid"/>
          </a:ln>
        </p:spPr>
        <p:txBody>
          <a:bodyPr/>
          <a:lstStyle/>
          <a:p>
            <a:endParaRPr lang="en-US"/>
          </a:p>
        </p:txBody>
      </p:sp>
      <p:sp>
        <p:nvSpPr>
          <p:cNvPr id="14" name="Text 12"/>
          <p:cNvSpPr/>
          <p:nvPr/>
        </p:nvSpPr>
        <p:spPr>
          <a:xfrm>
            <a:off x="685800" y="2651760"/>
            <a:ext cx="5212080" cy="274320"/>
          </a:xfrm>
          <a:prstGeom prst="rect">
            <a:avLst/>
          </a:prstGeom>
          <a:noFill/>
          <a:ln/>
        </p:spPr>
        <p:txBody>
          <a:bodyPr wrap="square" lIns="0" tIns="0" rIns="0" bIns="0" rtlCol="0" anchor="ctr"/>
          <a:lstStyle/>
          <a:p>
            <a:pPr marL="0" indent="0">
              <a:buNone/>
            </a:pPr>
            <a:r>
              <a:rPr lang="en-US" sz="1000" b="1" kern="0" spc="100" dirty="0">
                <a:solidFill>
                  <a:srgbClr val="16A34A"/>
                </a:solidFill>
                <a:latin typeface="Calibri" pitchFamily="34" charset="0"/>
                <a:ea typeface="Calibri" pitchFamily="34" charset="-122"/>
                <a:cs typeface="Calibri" pitchFamily="34" charset="-120"/>
              </a:rPr>
              <a:t>THE OPPORTUNITY (FOR REFERENCE)</a:t>
            </a:r>
            <a:endParaRPr lang="en-US" sz="1000" spc="100" dirty="0"/>
          </a:p>
        </p:txBody>
      </p:sp>
      <p:sp>
        <p:nvSpPr>
          <p:cNvPr id="15" name="Text 13"/>
          <p:cNvSpPr/>
          <p:nvPr/>
        </p:nvSpPr>
        <p:spPr>
          <a:xfrm>
            <a:off x="685800" y="2971800"/>
            <a:ext cx="5212080" cy="640080"/>
          </a:xfrm>
          <a:prstGeom prst="rect">
            <a:avLst/>
          </a:prstGeom>
          <a:noFill/>
          <a:ln/>
        </p:spPr>
        <p:txBody>
          <a:bodyPr wrap="square" lIns="0" tIns="0" rIns="0" bIns="0" rtlCol="0" anchor="ctr"/>
          <a:lstStyle/>
          <a:p>
            <a:pPr marL="0" indent="0">
              <a:buNone/>
            </a:pPr>
            <a:r>
              <a:rPr lang="en-US" sz="1200" b="1" dirty="0">
                <a:solidFill>
                  <a:srgbClr val="0F172A"/>
                </a:solidFill>
                <a:latin typeface="Calibri" pitchFamily="34" charset="0"/>
                <a:ea typeface="Calibri" pitchFamily="34" charset="-122"/>
                <a:cs typeface="Calibri" pitchFamily="34" charset="-120"/>
              </a:rPr>
              <a:t>Toast model — bundle vertical operations SaaS with the POS, then layer VAS on top of the bundled merchant</a:t>
            </a:r>
            <a:endParaRPr lang="en-US" sz="1200" dirty="0"/>
          </a:p>
        </p:txBody>
      </p:sp>
      <p:sp>
        <p:nvSpPr>
          <p:cNvPr id="16" name="Text 14"/>
          <p:cNvSpPr/>
          <p:nvPr/>
        </p:nvSpPr>
        <p:spPr>
          <a:xfrm>
            <a:off x="685800" y="3611880"/>
            <a:ext cx="5212080" cy="228600"/>
          </a:xfrm>
          <a:prstGeom prst="rect">
            <a:avLst/>
          </a:prstGeom>
          <a:noFill/>
          <a:ln/>
        </p:spPr>
        <p:txBody>
          <a:bodyPr wrap="square" lIns="0" tIns="0" rIns="0" bIns="0" rtlCol="0" anchor="ctr"/>
          <a:lstStyle/>
          <a:p>
            <a:pPr marL="0" indent="0">
              <a:buNone/>
            </a:pPr>
            <a:r>
              <a:rPr lang="en-US" sz="950" b="1" kern="0" spc="100" dirty="0">
                <a:solidFill>
                  <a:srgbClr val="64748B"/>
                </a:solidFill>
                <a:latin typeface="Calibri" pitchFamily="34" charset="0"/>
                <a:ea typeface="Calibri" pitchFamily="34" charset="-122"/>
                <a:cs typeface="Calibri" pitchFamily="34" charset="-120"/>
              </a:rPr>
              <a:t>What it unlocks</a:t>
            </a:r>
            <a:endParaRPr lang="en-US" sz="950" spc="100" dirty="0"/>
          </a:p>
        </p:txBody>
      </p:sp>
      <p:sp>
        <p:nvSpPr>
          <p:cNvPr id="17" name="Text 15"/>
          <p:cNvSpPr/>
          <p:nvPr/>
        </p:nvSpPr>
        <p:spPr>
          <a:xfrm>
            <a:off x="685800" y="3840480"/>
            <a:ext cx="5212080" cy="1463040"/>
          </a:xfrm>
          <a:prstGeom prst="rect">
            <a:avLst/>
          </a:prstGeom>
          <a:noFill/>
          <a:ln/>
        </p:spPr>
        <p:txBody>
          <a:bodyPr wrap="square" lIns="0" tIns="0" rIns="0" bIns="0" rtlCol="0" anchor="t"/>
          <a:lstStyle/>
          <a:p>
            <a:pPr marL="0" indent="0">
              <a:spcAft>
                <a:spcPts val="200"/>
              </a:spcAft>
              <a:buNone/>
            </a:pPr>
            <a:r>
              <a:rPr lang="en-US" sz="1000" dirty="0">
                <a:solidFill>
                  <a:srgbClr val="0F172A"/>
                </a:solidFill>
                <a:latin typeface="Calibri" pitchFamily="34" charset="0"/>
                <a:ea typeface="Calibri" pitchFamily="34" charset="-122"/>
                <a:cs typeface="Calibri" pitchFamily="34" charset="-120"/>
              </a:rPr>
              <a:t>•  ARPU per merchant rises 5-10x (Toast: ~$30-50K/yr vs ~$5K for horizontal POS-only)</a:t>
            </a:r>
            <a:endParaRPr lang="en-US" sz="1000" dirty="0"/>
          </a:p>
          <a:p>
            <a:pPr marL="0" indent="0">
              <a:spcAft>
                <a:spcPts val="200"/>
              </a:spcAft>
              <a:buNone/>
            </a:pPr>
            <a:r>
              <a:rPr lang="en-US" sz="1000" dirty="0">
                <a:solidFill>
                  <a:srgbClr val="0F172A"/>
                </a:solidFill>
                <a:latin typeface="Calibri" pitchFamily="34" charset="0"/>
                <a:ea typeface="Calibri" pitchFamily="34" charset="-122"/>
                <a:cs typeface="Calibri" pitchFamily="34" charset="-120"/>
              </a:rPr>
              <a:t>•  Churn drops sharply — vertical operations stack is 'mission critical', not optional</a:t>
            </a:r>
            <a:endParaRPr lang="en-US" sz="1000" dirty="0"/>
          </a:p>
          <a:p>
            <a:pPr marL="0" indent="0">
              <a:spcAft>
                <a:spcPts val="200"/>
              </a:spcAft>
              <a:buNone/>
            </a:pPr>
            <a:r>
              <a:rPr lang="en-US" sz="1000" dirty="0">
                <a:solidFill>
                  <a:srgbClr val="0F172A"/>
                </a:solidFill>
                <a:latin typeface="Calibri" pitchFamily="34" charset="0"/>
                <a:ea typeface="Calibri" pitchFamily="34" charset="-122"/>
                <a:cs typeface="Calibri" pitchFamily="34" charset="-120"/>
              </a:rPr>
              <a:t>•  Pine Labs becomes the system of record for the vertical — not just the swipe rail</a:t>
            </a:r>
            <a:endParaRPr lang="en-US" sz="1000" dirty="0"/>
          </a:p>
          <a:p>
            <a:pPr marL="0" indent="0">
              <a:spcAft>
                <a:spcPts val="200"/>
              </a:spcAft>
              <a:buNone/>
            </a:pPr>
            <a:r>
              <a:rPr lang="en-US" sz="1000" dirty="0">
                <a:solidFill>
                  <a:srgbClr val="0F172A"/>
                </a:solidFill>
                <a:latin typeface="Calibri" pitchFamily="34" charset="0"/>
                <a:ea typeface="Calibri" pitchFamily="34" charset="-122"/>
                <a:cs typeface="Calibri" pitchFamily="34" charset="-120"/>
              </a:rPr>
              <a:t>•  Unlocks tier-3 merchants who today don't activate any horizontal VAS</a:t>
            </a:r>
            <a:endParaRPr lang="en-US" sz="1000" dirty="0"/>
          </a:p>
        </p:txBody>
      </p:sp>
      <p:sp>
        <p:nvSpPr>
          <p:cNvPr id="18" name="Text 16"/>
          <p:cNvSpPr/>
          <p:nvPr/>
        </p:nvSpPr>
        <p:spPr>
          <a:xfrm>
            <a:off x="685800" y="5303520"/>
            <a:ext cx="5212080" cy="228600"/>
          </a:xfrm>
          <a:prstGeom prst="rect">
            <a:avLst/>
          </a:prstGeom>
          <a:noFill/>
          <a:ln/>
        </p:spPr>
        <p:txBody>
          <a:bodyPr wrap="square" lIns="0" tIns="0" rIns="0" bIns="0" rtlCol="0" anchor="ctr"/>
          <a:lstStyle/>
          <a:p>
            <a:pPr marL="0" indent="0">
              <a:buNone/>
            </a:pPr>
            <a:r>
              <a:rPr lang="en-US" sz="950" b="1" kern="0" spc="100" dirty="0">
                <a:solidFill>
                  <a:srgbClr val="64748B"/>
                </a:solidFill>
                <a:latin typeface="Calibri" pitchFamily="34" charset="0"/>
                <a:ea typeface="Calibri" pitchFamily="34" charset="-122"/>
                <a:cs typeface="Calibri" pitchFamily="34" charset="-120"/>
              </a:rPr>
              <a:t>Why structurally attractive</a:t>
            </a:r>
            <a:endParaRPr lang="en-US" sz="950" spc="100" dirty="0"/>
          </a:p>
        </p:txBody>
      </p:sp>
      <p:sp>
        <p:nvSpPr>
          <p:cNvPr id="19" name="Text 17"/>
          <p:cNvSpPr/>
          <p:nvPr/>
        </p:nvSpPr>
        <p:spPr>
          <a:xfrm>
            <a:off x="685800" y="5550408"/>
            <a:ext cx="5212080" cy="548640"/>
          </a:xfrm>
          <a:prstGeom prst="rect">
            <a:avLst/>
          </a:prstGeom>
          <a:noFill/>
          <a:ln/>
        </p:spPr>
        <p:txBody>
          <a:bodyPr wrap="square" lIns="0" tIns="0" rIns="0" bIns="0" rtlCol="0" anchor="t"/>
          <a:lstStyle/>
          <a:p>
            <a:pPr marL="0" indent="0">
              <a:buNone/>
            </a:pPr>
            <a:r>
              <a:rPr lang="en-US" sz="1000" i="1" dirty="0">
                <a:solidFill>
                  <a:srgbClr val="334155"/>
                </a:solidFill>
                <a:latin typeface="Calibri" pitchFamily="34" charset="0"/>
                <a:ea typeface="Calibri" pitchFamily="34" charset="-122"/>
                <a:cs typeface="Calibri" pitchFamily="34" charset="-120"/>
              </a:rPr>
              <a:t>Toast scaled to a ~$25B market cap on this playbook. Pine Labs is the natural owner in India given depth in F&amp;B chains, salons, pharmacy and auto-dealer terminals.</a:t>
            </a:r>
            <a:endParaRPr lang="en-US" sz="1000" dirty="0"/>
          </a:p>
        </p:txBody>
      </p:sp>
      <p:sp>
        <p:nvSpPr>
          <p:cNvPr id="20" name="Shape 18"/>
          <p:cNvSpPr/>
          <p:nvPr/>
        </p:nvSpPr>
        <p:spPr>
          <a:xfrm>
            <a:off x="6263640" y="2514600"/>
            <a:ext cx="5486400" cy="3657600"/>
          </a:xfrm>
          <a:prstGeom prst="rect">
            <a:avLst/>
          </a:prstGeom>
          <a:solidFill>
            <a:srgbClr val="FFFFFF"/>
          </a:solidFill>
          <a:ln w="19050">
            <a:solidFill>
              <a:srgbClr val="D97706"/>
            </a:solidFill>
            <a:prstDash val="dash"/>
          </a:ln>
        </p:spPr>
        <p:txBody>
          <a:bodyPr/>
          <a:lstStyle/>
          <a:p>
            <a:endParaRPr lang="en-US"/>
          </a:p>
        </p:txBody>
      </p:sp>
      <p:sp>
        <p:nvSpPr>
          <p:cNvPr id="21" name="Text 19"/>
          <p:cNvSpPr/>
          <p:nvPr/>
        </p:nvSpPr>
        <p:spPr>
          <a:xfrm>
            <a:off x="6446520" y="2651760"/>
            <a:ext cx="5212080" cy="274320"/>
          </a:xfrm>
          <a:prstGeom prst="rect">
            <a:avLst/>
          </a:prstGeom>
          <a:noFill/>
          <a:ln/>
        </p:spPr>
        <p:txBody>
          <a:bodyPr wrap="square" lIns="0" tIns="0" rIns="0" bIns="0" rtlCol="0" anchor="ctr"/>
          <a:lstStyle/>
          <a:p>
            <a:pPr marL="0" indent="0">
              <a:buNone/>
            </a:pPr>
            <a:r>
              <a:rPr lang="en-US" sz="1000" b="1" kern="0" spc="100" dirty="0">
                <a:solidFill>
                  <a:srgbClr val="D97706"/>
                </a:solidFill>
                <a:latin typeface="Calibri" pitchFamily="34" charset="0"/>
                <a:ea typeface="Calibri" pitchFamily="34" charset="-122"/>
                <a:cs typeface="Calibri" pitchFamily="34" charset="-120"/>
              </a:rPr>
              <a:t>CANDIDATE VERTICALS — TBD WITH PL DATA</a:t>
            </a:r>
            <a:endParaRPr lang="en-US" sz="1000" spc="100" dirty="0"/>
          </a:p>
        </p:txBody>
      </p:sp>
      <p:sp>
        <p:nvSpPr>
          <p:cNvPr id="22" name="Shape 20"/>
          <p:cNvSpPr/>
          <p:nvPr/>
        </p:nvSpPr>
        <p:spPr>
          <a:xfrm>
            <a:off x="6446520" y="3090672"/>
            <a:ext cx="118872" cy="118872"/>
          </a:xfrm>
          <a:prstGeom prst="ellipse">
            <a:avLst/>
          </a:prstGeom>
          <a:solidFill>
            <a:srgbClr val="D97706"/>
          </a:solidFill>
          <a:ln/>
        </p:spPr>
        <p:txBody>
          <a:bodyPr/>
          <a:lstStyle/>
          <a:p>
            <a:endParaRPr lang="en-US"/>
          </a:p>
        </p:txBody>
      </p:sp>
      <p:sp>
        <p:nvSpPr>
          <p:cNvPr id="23" name="Text 21"/>
          <p:cNvSpPr/>
          <p:nvPr/>
        </p:nvSpPr>
        <p:spPr>
          <a:xfrm>
            <a:off x="6629400" y="3017520"/>
            <a:ext cx="1280160" cy="274320"/>
          </a:xfrm>
          <a:prstGeom prst="rect">
            <a:avLst/>
          </a:prstGeom>
          <a:noFill/>
          <a:ln/>
        </p:spPr>
        <p:txBody>
          <a:bodyPr wrap="square" lIns="0" tIns="0" rIns="0" bIns="0" rtlCol="0" anchor="ctr"/>
          <a:lstStyle/>
          <a:p>
            <a:pPr marL="0" indent="0">
              <a:buNone/>
            </a:pPr>
            <a:r>
              <a:rPr lang="en-US" sz="1050" b="1" dirty="0">
                <a:solidFill>
                  <a:srgbClr val="0F172A"/>
                </a:solidFill>
                <a:latin typeface="Calibri" pitchFamily="34" charset="0"/>
                <a:ea typeface="Calibri" pitchFamily="34" charset="-122"/>
                <a:cs typeface="Calibri" pitchFamily="34" charset="-120"/>
              </a:rPr>
              <a:t>F&amp;B</a:t>
            </a:r>
            <a:endParaRPr lang="en-US" sz="1050" dirty="0"/>
          </a:p>
        </p:txBody>
      </p:sp>
      <p:sp>
        <p:nvSpPr>
          <p:cNvPr id="24" name="Text 22"/>
          <p:cNvSpPr/>
          <p:nvPr/>
        </p:nvSpPr>
        <p:spPr>
          <a:xfrm>
            <a:off x="7909560" y="3017520"/>
            <a:ext cx="3749040" cy="274320"/>
          </a:xfrm>
          <a:prstGeom prst="rect">
            <a:avLst/>
          </a:prstGeom>
          <a:noFill/>
          <a:ln/>
        </p:spPr>
        <p:txBody>
          <a:bodyPr wrap="square" lIns="0" tIns="0" rIns="0" bIns="0" rtlCol="0" anchor="ctr"/>
          <a:lstStyle/>
          <a:p>
            <a:pPr marL="0" indent="0">
              <a:buNone/>
            </a:pPr>
            <a:r>
              <a:rPr lang="en-US" sz="950" i="1" dirty="0">
                <a:solidFill>
                  <a:srgbClr val="D97706"/>
                </a:solidFill>
                <a:latin typeface="Calibri" pitchFamily="34" charset="0"/>
                <a:ea typeface="Calibri" pitchFamily="34" charset="-122"/>
                <a:cs typeface="Calibri" pitchFamily="34" charset="-120"/>
              </a:rPr>
              <a:t>Petpooja  ·  Restroworks</a:t>
            </a:r>
            <a:endParaRPr lang="en-US" sz="950" dirty="0"/>
          </a:p>
        </p:txBody>
      </p:sp>
      <p:sp>
        <p:nvSpPr>
          <p:cNvPr id="25" name="Text 23"/>
          <p:cNvSpPr/>
          <p:nvPr/>
        </p:nvSpPr>
        <p:spPr>
          <a:xfrm>
            <a:off x="6629400" y="3273552"/>
            <a:ext cx="5029200" cy="365760"/>
          </a:xfrm>
          <a:prstGeom prst="rect">
            <a:avLst/>
          </a:prstGeom>
          <a:noFill/>
          <a:ln/>
        </p:spPr>
        <p:txBody>
          <a:bodyPr wrap="square" lIns="0" tIns="0" rIns="0" bIns="0" rtlCol="0" anchor="t"/>
          <a:lstStyle/>
          <a:p>
            <a:pPr marL="0" indent="0">
              <a:buNone/>
            </a:pPr>
            <a:r>
              <a:rPr lang="en-US" sz="900" dirty="0">
                <a:solidFill>
                  <a:srgbClr val="334155"/>
                </a:solidFill>
                <a:latin typeface="Calibri" pitchFamily="34" charset="0"/>
                <a:ea typeface="Calibri" pitchFamily="34" charset="-122"/>
                <a:cs typeface="Calibri" pitchFamily="34" charset="-120"/>
              </a:rPr>
              <a:t>100K+ outlets, 25% of Zomato/Swiggy orders; PL has Pizza Hut, McD, Starbucks, BK</a:t>
            </a:r>
            <a:endParaRPr lang="en-US" sz="900" dirty="0"/>
          </a:p>
        </p:txBody>
      </p:sp>
      <p:sp>
        <p:nvSpPr>
          <p:cNvPr id="26" name="Shape 24"/>
          <p:cNvSpPr/>
          <p:nvPr/>
        </p:nvSpPr>
        <p:spPr>
          <a:xfrm>
            <a:off x="6446520" y="3730752"/>
            <a:ext cx="118872" cy="118872"/>
          </a:xfrm>
          <a:prstGeom prst="ellipse">
            <a:avLst/>
          </a:prstGeom>
          <a:solidFill>
            <a:srgbClr val="D97706"/>
          </a:solidFill>
          <a:ln/>
        </p:spPr>
        <p:txBody>
          <a:bodyPr/>
          <a:lstStyle/>
          <a:p>
            <a:endParaRPr lang="en-US"/>
          </a:p>
        </p:txBody>
      </p:sp>
      <p:sp>
        <p:nvSpPr>
          <p:cNvPr id="27" name="Text 25"/>
          <p:cNvSpPr/>
          <p:nvPr/>
        </p:nvSpPr>
        <p:spPr>
          <a:xfrm>
            <a:off x="6629400" y="3657600"/>
            <a:ext cx="1280160" cy="274320"/>
          </a:xfrm>
          <a:prstGeom prst="rect">
            <a:avLst/>
          </a:prstGeom>
          <a:noFill/>
          <a:ln/>
        </p:spPr>
        <p:txBody>
          <a:bodyPr wrap="square" lIns="0" tIns="0" rIns="0" bIns="0" rtlCol="0" anchor="ctr"/>
          <a:lstStyle/>
          <a:p>
            <a:pPr marL="0" indent="0">
              <a:buNone/>
            </a:pPr>
            <a:r>
              <a:rPr lang="en-US" sz="1050" b="1" dirty="0">
                <a:solidFill>
                  <a:srgbClr val="0F172A"/>
                </a:solidFill>
                <a:latin typeface="Calibri" pitchFamily="34" charset="0"/>
                <a:ea typeface="Calibri" pitchFamily="34" charset="-122"/>
                <a:cs typeface="Calibri" pitchFamily="34" charset="-120"/>
              </a:rPr>
              <a:t>Pharmacy</a:t>
            </a:r>
            <a:endParaRPr lang="en-US" sz="1050" dirty="0"/>
          </a:p>
        </p:txBody>
      </p:sp>
      <p:sp>
        <p:nvSpPr>
          <p:cNvPr id="28" name="Text 26"/>
          <p:cNvSpPr/>
          <p:nvPr/>
        </p:nvSpPr>
        <p:spPr>
          <a:xfrm>
            <a:off x="7909560" y="3657600"/>
            <a:ext cx="3749040" cy="274320"/>
          </a:xfrm>
          <a:prstGeom prst="rect">
            <a:avLst/>
          </a:prstGeom>
          <a:noFill/>
          <a:ln/>
        </p:spPr>
        <p:txBody>
          <a:bodyPr wrap="square" lIns="0" tIns="0" rIns="0" bIns="0" rtlCol="0" anchor="ctr"/>
          <a:lstStyle/>
          <a:p>
            <a:pPr marL="0" indent="0">
              <a:buNone/>
            </a:pPr>
            <a:r>
              <a:rPr lang="en-US" sz="950" i="1" dirty="0">
                <a:solidFill>
                  <a:srgbClr val="D97706"/>
                </a:solidFill>
                <a:latin typeface="Calibri" pitchFamily="34" charset="0"/>
                <a:ea typeface="Calibri" pitchFamily="34" charset="-122"/>
                <a:cs typeface="Calibri" pitchFamily="34" charset="-120"/>
              </a:rPr>
              <a:t>Marg ERP  ·  Pharmarack</a:t>
            </a:r>
            <a:endParaRPr lang="en-US" sz="950" dirty="0"/>
          </a:p>
        </p:txBody>
      </p:sp>
      <p:sp>
        <p:nvSpPr>
          <p:cNvPr id="29" name="Text 27"/>
          <p:cNvSpPr/>
          <p:nvPr/>
        </p:nvSpPr>
        <p:spPr>
          <a:xfrm>
            <a:off x="6629400" y="3913632"/>
            <a:ext cx="5029200" cy="365760"/>
          </a:xfrm>
          <a:prstGeom prst="rect">
            <a:avLst/>
          </a:prstGeom>
          <a:noFill/>
          <a:ln/>
        </p:spPr>
        <p:txBody>
          <a:bodyPr wrap="square" lIns="0" tIns="0" rIns="0" bIns="0" rtlCol="0" anchor="t"/>
          <a:lstStyle/>
          <a:p>
            <a:pPr marL="0" indent="0">
              <a:buNone/>
            </a:pPr>
            <a:r>
              <a:rPr lang="en-US" sz="900" dirty="0">
                <a:solidFill>
                  <a:srgbClr val="334155"/>
                </a:solidFill>
                <a:latin typeface="Calibri" pitchFamily="34" charset="0"/>
                <a:ea typeface="Calibri" pitchFamily="34" charset="-122"/>
                <a:cs typeface="Calibri" pitchFamily="34" charset="-120"/>
              </a:rPr>
              <a:t>60K+ pharmacies; cross-sell on Apollo, MedPlus, Wellness Forever footprints</a:t>
            </a:r>
            <a:endParaRPr lang="en-US" sz="900" dirty="0"/>
          </a:p>
        </p:txBody>
      </p:sp>
      <p:sp>
        <p:nvSpPr>
          <p:cNvPr id="30" name="Shape 28"/>
          <p:cNvSpPr/>
          <p:nvPr/>
        </p:nvSpPr>
        <p:spPr>
          <a:xfrm>
            <a:off x="6446520" y="4370832"/>
            <a:ext cx="118872" cy="118872"/>
          </a:xfrm>
          <a:prstGeom prst="ellipse">
            <a:avLst/>
          </a:prstGeom>
          <a:solidFill>
            <a:srgbClr val="D97706"/>
          </a:solidFill>
          <a:ln/>
        </p:spPr>
        <p:txBody>
          <a:bodyPr/>
          <a:lstStyle/>
          <a:p>
            <a:endParaRPr lang="en-US"/>
          </a:p>
        </p:txBody>
      </p:sp>
      <p:sp>
        <p:nvSpPr>
          <p:cNvPr id="31" name="Text 29"/>
          <p:cNvSpPr/>
          <p:nvPr/>
        </p:nvSpPr>
        <p:spPr>
          <a:xfrm>
            <a:off x="6629400" y="4297680"/>
            <a:ext cx="1280160" cy="274320"/>
          </a:xfrm>
          <a:prstGeom prst="rect">
            <a:avLst/>
          </a:prstGeom>
          <a:noFill/>
          <a:ln/>
        </p:spPr>
        <p:txBody>
          <a:bodyPr wrap="square" lIns="0" tIns="0" rIns="0" bIns="0" rtlCol="0" anchor="ctr"/>
          <a:lstStyle/>
          <a:p>
            <a:pPr marL="0" indent="0">
              <a:buNone/>
            </a:pPr>
            <a:r>
              <a:rPr lang="en-US" sz="1050" b="1" dirty="0">
                <a:solidFill>
                  <a:srgbClr val="0F172A"/>
                </a:solidFill>
                <a:latin typeface="Calibri" pitchFamily="34" charset="0"/>
                <a:ea typeface="Calibri" pitchFamily="34" charset="-122"/>
                <a:cs typeface="Calibri" pitchFamily="34" charset="-120"/>
              </a:rPr>
              <a:t>Salon / Spa</a:t>
            </a:r>
            <a:endParaRPr lang="en-US" sz="1050" dirty="0"/>
          </a:p>
        </p:txBody>
      </p:sp>
      <p:sp>
        <p:nvSpPr>
          <p:cNvPr id="32" name="Text 30"/>
          <p:cNvSpPr/>
          <p:nvPr/>
        </p:nvSpPr>
        <p:spPr>
          <a:xfrm>
            <a:off x="7909560" y="4297680"/>
            <a:ext cx="3749040" cy="274320"/>
          </a:xfrm>
          <a:prstGeom prst="rect">
            <a:avLst/>
          </a:prstGeom>
          <a:noFill/>
          <a:ln/>
        </p:spPr>
        <p:txBody>
          <a:bodyPr wrap="square" lIns="0" tIns="0" rIns="0" bIns="0" rtlCol="0" anchor="ctr"/>
          <a:lstStyle/>
          <a:p>
            <a:pPr marL="0" indent="0">
              <a:buNone/>
            </a:pPr>
            <a:r>
              <a:rPr lang="en-US" sz="950" i="1" dirty="0">
                <a:solidFill>
                  <a:srgbClr val="D97706"/>
                </a:solidFill>
                <a:latin typeface="Calibri" pitchFamily="34" charset="0"/>
                <a:ea typeface="Calibri" pitchFamily="34" charset="-122"/>
                <a:cs typeface="Calibri" pitchFamily="34" charset="-120"/>
              </a:rPr>
              <a:t>Zylu  ·  MioSalon</a:t>
            </a:r>
            <a:endParaRPr lang="en-US" sz="950" dirty="0"/>
          </a:p>
        </p:txBody>
      </p:sp>
      <p:sp>
        <p:nvSpPr>
          <p:cNvPr id="33" name="Text 31"/>
          <p:cNvSpPr/>
          <p:nvPr/>
        </p:nvSpPr>
        <p:spPr>
          <a:xfrm>
            <a:off x="6629400" y="4553712"/>
            <a:ext cx="5029200" cy="365760"/>
          </a:xfrm>
          <a:prstGeom prst="rect">
            <a:avLst/>
          </a:prstGeom>
          <a:noFill/>
          <a:ln/>
        </p:spPr>
        <p:txBody>
          <a:bodyPr wrap="square" lIns="0" tIns="0" rIns="0" bIns="0" rtlCol="0" anchor="t"/>
          <a:lstStyle/>
          <a:p>
            <a:pPr marL="0" indent="0">
              <a:buNone/>
            </a:pPr>
            <a:r>
              <a:rPr lang="en-US" sz="900" dirty="0">
                <a:solidFill>
                  <a:srgbClr val="334155"/>
                </a:solidFill>
                <a:latin typeface="Calibri" pitchFamily="34" charset="0"/>
                <a:ea typeface="Calibri" pitchFamily="34" charset="-122"/>
                <a:cs typeface="Calibri" pitchFamily="34" charset="-120"/>
              </a:rPr>
              <a:t>Underpenetrated; high VAS attach potential on prepaid + loyalty</a:t>
            </a:r>
            <a:endParaRPr lang="en-US" sz="900" dirty="0"/>
          </a:p>
        </p:txBody>
      </p:sp>
      <p:sp>
        <p:nvSpPr>
          <p:cNvPr id="34" name="Shape 32"/>
          <p:cNvSpPr/>
          <p:nvPr/>
        </p:nvSpPr>
        <p:spPr>
          <a:xfrm>
            <a:off x="6446520" y="5010912"/>
            <a:ext cx="118872" cy="118872"/>
          </a:xfrm>
          <a:prstGeom prst="ellipse">
            <a:avLst/>
          </a:prstGeom>
          <a:solidFill>
            <a:srgbClr val="D97706"/>
          </a:solidFill>
          <a:ln/>
        </p:spPr>
        <p:txBody>
          <a:bodyPr/>
          <a:lstStyle/>
          <a:p>
            <a:endParaRPr lang="en-US"/>
          </a:p>
        </p:txBody>
      </p:sp>
      <p:sp>
        <p:nvSpPr>
          <p:cNvPr id="35" name="Text 33"/>
          <p:cNvSpPr/>
          <p:nvPr/>
        </p:nvSpPr>
        <p:spPr>
          <a:xfrm>
            <a:off x="6629400" y="4937760"/>
            <a:ext cx="1280160" cy="274320"/>
          </a:xfrm>
          <a:prstGeom prst="rect">
            <a:avLst/>
          </a:prstGeom>
          <a:noFill/>
          <a:ln/>
        </p:spPr>
        <p:txBody>
          <a:bodyPr wrap="square" lIns="0" tIns="0" rIns="0" bIns="0" rtlCol="0" anchor="ctr"/>
          <a:lstStyle/>
          <a:p>
            <a:pPr marL="0" indent="0">
              <a:buNone/>
            </a:pPr>
            <a:r>
              <a:rPr lang="en-US" sz="1050" b="1" dirty="0">
                <a:solidFill>
                  <a:srgbClr val="0F172A"/>
                </a:solidFill>
                <a:latin typeface="Calibri" pitchFamily="34" charset="0"/>
                <a:ea typeface="Calibri" pitchFamily="34" charset="-122"/>
                <a:cs typeface="Calibri" pitchFamily="34" charset="-120"/>
              </a:rPr>
              <a:t>Auto-dealer</a:t>
            </a:r>
            <a:endParaRPr lang="en-US" sz="1050" dirty="0"/>
          </a:p>
        </p:txBody>
      </p:sp>
      <p:sp>
        <p:nvSpPr>
          <p:cNvPr id="36" name="Text 34"/>
          <p:cNvSpPr/>
          <p:nvPr/>
        </p:nvSpPr>
        <p:spPr>
          <a:xfrm>
            <a:off x="7909560" y="4937760"/>
            <a:ext cx="3749040" cy="274320"/>
          </a:xfrm>
          <a:prstGeom prst="rect">
            <a:avLst/>
          </a:prstGeom>
          <a:noFill/>
          <a:ln/>
        </p:spPr>
        <p:txBody>
          <a:bodyPr wrap="square" lIns="0" tIns="0" rIns="0" bIns="0" rtlCol="0" anchor="ctr"/>
          <a:lstStyle/>
          <a:p>
            <a:pPr marL="0" indent="0">
              <a:buNone/>
            </a:pPr>
            <a:r>
              <a:rPr lang="en-US" sz="950" i="1" dirty="0">
                <a:solidFill>
                  <a:srgbClr val="D97706"/>
                </a:solidFill>
                <a:latin typeface="Calibri" pitchFamily="34" charset="0"/>
                <a:ea typeface="Calibri" pitchFamily="34" charset="-122"/>
                <a:cs typeface="Calibri" pitchFamily="34" charset="-120"/>
              </a:rPr>
              <a:t>Carwale-DSS  ·  Vahan</a:t>
            </a:r>
            <a:endParaRPr lang="en-US" sz="950" dirty="0"/>
          </a:p>
        </p:txBody>
      </p:sp>
      <p:sp>
        <p:nvSpPr>
          <p:cNvPr id="37" name="Text 35"/>
          <p:cNvSpPr/>
          <p:nvPr/>
        </p:nvSpPr>
        <p:spPr>
          <a:xfrm>
            <a:off x="6629400" y="5193792"/>
            <a:ext cx="5029200" cy="365760"/>
          </a:xfrm>
          <a:prstGeom prst="rect">
            <a:avLst/>
          </a:prstGeom>
          <a:noFill/>
          <a:ln/>
        </p:spPr>
        <p:txBody>
          <a:bodyPr wrap="square" lIns="0" tIns="0" rIns="0" bIns="0" rtlCol="0" anchor="t"/>
          <a:lstStyle/>
          <a:p>
            <a:pPr marL="0" indent="0">
              <a:buNone/>
            </a:pPr>
            <a:r>
              <a:rPr lang="en-US" sz="900" dirty="0">
                <a:solidFill>
                  <a:srgbClr val="334155"/>
                </a:solidFill>
                <a:latin typeface="Calibri" pitchFamily="34" charset="0"/>
                <a:ea typeface="Calibri" pitchFamily="34" charset="-122"/>
                <a:cs typeface="Calibri" pitchFamily="34" charset="-120"/>
              </a:rPr>
              <a:t>Already a PL strength; bundle DMS + finance + EMI + extended warranty</a:t>
            </a:r>
            <a:endParaRPr lang="en-US" sz="900" dirty="0"/>
          </a:p>
        </p:txBody>
      </p:sp>
      <p:sp>
        <p:nvSpPr>
          <p:cNvPr id="38" name="Shape 36"/>
          <p:cNvSpPr/>
          <p:nvPr/>
        </p:nvSpPr>
        <p:spPr>
          <a:xfrm>
            <a:off x="6446520" y="5650992"/>
            <a:ext cx="118872" cy="118872"/>
          </a:xfrm>
          <a:prstGeom prst="ellipse">
            <a:avLst/>
          </a:prstGeom>
          <a:solidFill>
            <a:srgbClr val="D97706"/>
          </a:solidFill>
          <a:ln/>
        </p:spPr>
        <p:txBody>
          <a:bodyPr/>
          <a:lstStyle/>
          <a:p>
            <a:endParaRPr lang="en-US"/>
          </a:p>
        </p:txBody>
      </p:sp>
      <p:sp>
        <p:nvSpPr>
          <p:cNvPr id="39" name="Text 37"/>
          <p:cNvSpPr/>
          <p:nvPr/>
        </p:nvSpPr>
        <p:spPr>
          <a:xfrm>
            <a:off x="6629400" y="5577840"/>
            <a:ext cx="1280160" cy="274320"/>
          </a:xfrm>
          <a:prstGeom prst="rect">
            <a:avLst/>
          </a:prstGeom>
          <a:noFill/>
          <a:ln/>
        </p:spPr>
        <p:txBody>
          <a:bodyPr wrap="square" lIns="0" tIns="0" rIns="0" bIns="0" rtlCol="0" anchor="ctr"/>
          <a:lstStyle/>
          <a:p>
            <a:pPr marL="0" indent="0">
              <a:buNone/>
            </a:pPr>
            <a:r>
              <a:rPr lang="en-US" sz="1050" b="1" dirty="0">
                <a:solidFill>
                  <a:srgbClr val="0F172A"/>
                </a:solidFill>
                <a:latin typeface="Calibri" pitchFamily="34" charset="0"/>
                <a:ea typeface="Calibri" pitchFamily="34" charset="-122"/>
                <a:cs typeface="Calibri" pitchFamily="34" charset="-120"/>
              </a:rPr>
              <a:t>Education</a:t>
            </a:r>
            <a:endParaRPr lang="en-US" sz="1050" dirty="0"/>
          </a:p>
        </p:txBody>
      </p:sp>
      <p:sp>
        <p:nvSpPr>
          <p:cNvPr id="40" name="Text 38"/>
          <p:cNvSpPr/>
          <p:nvPr/>
        </p:nvSpPr>
        <p:spPr>
          <a:xfrm>
            <a:off x="7909560" y="5577840"/>
            <a:ext cx="3749040" cy="274320"/>
          </a:xfrm>
          <a:prstGeom prst="rect">
            <a:avLst/>
          </a:prstGeom>
          <a:noFill/>
          <a:ln/>
        </p:spPr>
        <p:txBody>
          <a:bodyPr wrap="square" lIns="0" tIns="0" rIns="0" bIns="0" rtlCol="0" anchor="ctr"/>
          <a:lstStyle/>
          <a:p>
            <a:pPr marL="0" indent="0">
              <a:buNone/>
            </a:pPr>
            <a:r>
              <a:rPr lang="en-US" sz="950" i="1" dirty="0">
                <a:solidFill>
                  <a:srgbClr val="D97706"/>
                </a:solidFill>
                <a:latin typeface="Calibri" pitchFamily="34" charset="0"/>
                <a:ea typeface="Calibri" pitchFamily="34" charset="-122"/>
                <a:cs typeface="Calibri" pitchFamily="34" charset="-120"/>
              </a:rPr>
              <a:t>Qfix already owned</a:t>
            </a:r>
            <a:endParaRPr lang="en-US" sz="950" dirty="0"/>
          </a:p>
        </p:txBody>
      </p:sp>
      <p:sp>
        <p:nvSpPr>
          <p:cNvPr id="41" name="Text 39"/>
          <p:cNvSpPr/>
          <p:nvPr/>
        </p:nvSpPr>
        <p:spPr>
          <a:xfrm>
            <a:off x="6629400" y="5833872"/>
            <a:ext cx="5029200" cy="365760"/>
          </a:xfrm>
          <a:prstGeom prst="rect">
            <a:avLst/>
          </a:prstGeom>
          <a:noFill/>
          <a:ln/>
        </p:spPr>
        <p:txBody>
          <a:bodyPr wrap="square" lIns="0" tIns="0" rIns="0" bIns="0" rtlCol="0" anchor="t"/>
          <a:lstStyle/>
          <a:p>
            <a:pPr marL="0" indent="0">
              <a:buNone/>
            </a:pPr>
            <a:r>
              <a:rPr lang="en-US" sz="900" dirty="0">
                <a:solidFill>
                  <a:srgbClr val="334155"/>
                </a:solidFill>
                <a:latin typeface="Calibri" pitchFamily="34" charset="0"/>
                <a:ea typeface="Calibri" pitchFamily="34" charset="-122"/>
                <a:cs typeface="Calibri" pitchFamily="34" charset="-120"/>
              </a:rPr>
              <a:t>PL controls the rail; question is depth not partner — internal build</a:t>
            </a:r>
            <a:endParaRPr lang="en-US" sz="900" dirty="0"/>
          </a:p>
        </p:txBody>
      </p:sp>
      <p:sp>
        <p:nvSpPr>
          <p:cNvPr id="42" name="Shape 40"/>
          <p:cNvSpPr/>
          <p:nvPr/>
        </p:nvSpPr>
        <p:spPr>
          <a:xfrm>
            <a:off x="457200" y="6263640"/>
            <a:ext cx="11247120" cy="201168"/>
          </a:xfrm>
          <a:prstGeom prst="rect">
            <a:avLst/>
          </a:prstGeom>
          <a:solidFill>
            <a:srgbClr val="F8FAFC"/>
          </a:solidFill>
          <a:ln w="6350">
            <a:solidFill>
              <a:srgbClr val="E2E8F0"/>
            </a:solidFill>
            <a:prstDash val="solid"/>
          </a:ln>
        </p:spPr>
        <p:txBody>
          <a:bodyPr/>
          <a:lstStyle/>
          <a:p>
            <a:endParaRPr lang="en-US"/>
          </a:p>
        </p:txBody>
      </p:sp>
      <p:sp>
        <p:nvSpPr>
          <p:cNvPr id="43" name="Shape 41"/>
          <p:cNvSpPr/>
          <p:nvPr/>
        </p:nvSpPr>
        <p:spPr>
          <a:xfrm>
            <a:off x="457200" y="6263640"/>
            <a:ext cx="73152" cy="201168"/>
          </a:xfrm>
          <a:prstGeom prst="rect">
            <a:avLst/>
          </a:prstGeom>
          <a:solidFill>
            <a:srgbClr val="D97706"/>
          </a:solidFill>
          <a:ln/>
        </p:spPr>
        <p:txBody>
          <a:bodyPr/>
          <a:lstStyle/>
          <a:p>
            <a:endParaRPr lang="en-US"/>
          </a:p>
        </p:txBody>
      </p:sp>
      <p:sp>
        <p:nvSpPr>
          <p:cNvPr id="44" name="Text 42"/>
          <p:cNvSpPr/>
          <p:nvPr/>
        </p:nvSpPr>
        <p:spPr>
          <a:xfrm>
            <a:off x="685800" y="6263640"/>
            <a:ext cx="10972800" cy="201168"/>
          </a:xfrm>
          <a:prstGeom prst="rect">
            <a:avLst/>
          </a:prstGeom>
          <a:noFill/>
          <a:ln/>
        </p:spPr>
        <p:txBody>
          <a:bodyPr wrap="square" lIns="0" tIns="0" rIns="0" bIns="0" rtlCol="0" anchor="ctr"/>
          <a:lstStyle/>
          <a:p>
            <a:pPr marL="0" indent="0">
              <a:buNone/>
            </a:pPr>
            <a:r>
              <a:rPr lang="en-US" sz="1000" i="1" dirty="0">
                <a:solidFill>
                  <a:srgbClr val="0F172A"/>
                </a:solidFill>
                <a:latin typeface="Calibri" pitchFamily="34" charset="0"/>
                <a:ea typeface="Calibri" pitchFamily="34" charset="-122"/>
                <a:cs typeface="Calibri" pitchFamily="34" charset="-120"/>
              </a:rPr>
              <a:t>Ask if I join: 90-day diligence sprint with PL data → pick one vertical, build the bundled-pricing model, identify the right target.</a:t>
            </a:r>
            <a:endParaRPr lang="en-US" sz="1000" dirty="0"/>
          </a:p>
        </p:txBody>
      </p:sp>
      <p:pic>
        <p:nvPicPr>
          <p:cNvPr id="45" name="Picture 2" descr="Pine Labs Launches Paper POS, a Merged QR Product to Accept Payments via  UPI and Bharat QR Apps">
            <a:extLst>
              <a:ext uri="{FF2B5EF4-FFF2-40B4-BE49-F238E27FC236}">
                <a16:creationId xmlns:a16="http://schemas.microsoft.com/office/drawing/2014/main" id="{E28A4DDC-F29A-489E-C227-FA24F1328845}"/>
              </a:ext>
            </a:extLst>
          </p:cNvPr>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1177016" y="-102584"/>
            <a:ext cx="1115568" cy="58451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16A34A"/>
          </a:solidFill>
          <a:ln/>
        </p:spPr>
        <p:txBody>
          <a:bodyPr/>
          <a:lstStyle/>
          <a:p>
            <a:endParaRPr lang="en-US"/>
          </a:p>
        </p:txBody>
      </p:sp>
      <p:sp>
        <p:nvSpPr>
          <p:cNvPr id="3" name="Text 1"/>
          <p:cNvSpPr/>
          <p:nvPr/>
        </p:nvSpPr>
        <p:spPr>
          <a:xfrm>
            <a:off x="457200" y="201168"/>
            <a:ext cx="10058400" cy="256032"/>
          </a:xfrm>
          <a:prstGeom prst="rect">
            <a:avLst/>
          </a:prstGeom>
          <a:noFill/>
          <a:ln/>
        </p:spPr>
        <p:txBody>
          <a:bodyPr wrap="square" lIns="0" tIns="0" rIns="0" bIns="0" rtlCol="0" anchor="ctr"/>
          <a:lstStyle/>
          <a:p>
            <a:pPr marL="0" indent="0">
              <a:buNone/>
            </a:pPr>
            <a:r>
              <a:rPr lang="en-US" sz="900" b="1" kern="0" spc="100" dirty="0">
                <a:solidFill>
                  <a:srgbClr val="16A34A"/>
                </a:solidFill>
                <a:latin typeface="Calibri" pitchFamily="34" charset="0"/>
                <a:ea typeface="Calibri" pitchFamily="34" charset="-122"/>
                <a:cs typeface="Calibri" pitchFamily="34" charset="-120"/>
              </a:rPr>
              <a:t>SEQUENCING &amp; PATH TO CLOSE</a:t>
            </a:r>
            <a:endParaRPr lang="en-US" sz="900" spc="100" dirty="0"/>
          </a:p>
        </p:txBody>
      </p:sp>
      <p:sp>
        <p:nvSpPr>
          <p:cNvPr id="4" name="Text 2"/>
          <p:cNvSpPr/>
          <p:nvPr/>
        </p:nvSpPr>
        <p:spPr>
          <a:xfrm>
            <a:off x="457200" y="457200"/>
            <a:ext cx="11247120" cy="731520"/>
          </a:xfrm>
          <a:prstGeom prst="rect">
            <a:avLst/>
          </a:prstGeom>
          <a:noFill/>
          <a:ln/>
        </p:spPr>
        <p:txBody>
          <a:bodyPr wrap="square" lIns="0" tIns="0" rIns="0" bIns="0" rtlCol="0" anchor="ctr"/>
          <a:lstStyle/>
          <a:p>
            <a:pPr marL="0" indent="0">
              <a:buNone/>
            </a:pPr>
            <a:r>
              <a:rPr lang="en-US" sz="2200" b="1" dirty="0">
                <a:solidFill>
                  <a:srgbClr val="0F172A"/>
                </a:solidFill>
                <a:latin typeface="Calibri" pitchFamily="34" charset="0"/>
                <a:ea typeface="Calibri" pitchFamily="34" charset="-122"/>
                <a:cs typeface="Calibri" pitchFamily="34" charset="-120"/>
              </a:rPr>
              <a:t>Two deals, sequenced — Riskcovry first to prove the embedded-VAS thesis, WebEngage to follow on a stronger equity base</a:t>
            </a:r>
            <a:endParaRPr lang="en-US" sz="2200" dirty="0"/>
          </a:p>
        </p:txBody>
      </p:sp>
      <p:sp>
        <p:nvSpPr>
          <p:cNvPr id="5" name="Shape 3"/>
          <p:cNvSpPr/>
          <p:nvPr/>
        </p:nvSpPr>
        <p:spPr>
          <a:xfrm>
            <a:off x="457200" y="1188720"/>
            <a:ext cx="11247120" cy="13716"/>
          </a:xfrm>
          <a:prstGeom prst="rect">
            <a:avLst/>
          </a:prstGeom>
          <a:solidFill>
            <a:srgbClr val="E2E8F0"/>
          </a:solidFill>
          <a:ln/>
        </p:spPr>
        <p:txBody>
          <a:bodyPr/>
          <a:lstStyle/>
          <a:p>
            <a:endParaRPr lang="en-US"/>
          </a:p>
        </p:txBody>
      </p:sp>
      <p:sp>
        <p:nvSpPr>
          <p:cNvPr id="6" name="Text 4"/>
          <p:cNvSpPr/>
          <p:nvPr/>
        </p:nvSpPr>
        <p:spPr>
          <a:xfrm>
            <a:off x="457200" y="6492240"/>
            <a:ext cx="6400800" cy="256032"/>
          </a:xfrm>
          <a:prstGeom prst="rect">
            <a:avLst/>
          </a:prstGeom>
          <a:noFill/>
          <a:ln/>
        </p:spPr>
        <p:txBody>
          <a:bodyPr wrap="square" lIns="0" tIns="0" rIns="0" bIns="0" rtlCol="0" anchor="ctr"/>
          <a:lstStyle/>
          <a:p>
            <a:pPr marL="0" indent="0">
              <a:buNone/>
            </a:pPr>
            <a:r>
              <a:rPr lang="en-US" sz="900" i="1" dirty="0">
                <a:solidFill>
                  <a:srgbClr val="64748B"/>
                </a:solidFill>
                <a:latin typeface="Calibri" pitchFamily="34" charset="0"/>
                <a:ea typeface="Calibri" pitchFamily="34" charset="-122"/>
                <a:cs typeface="Calibri" pitchFamily="34" charset="-120"/>
              </a:rPr>
              <a:t>Pine Labs — Corporate Development</a:t>
            </a:r>
            <a:endParaRPr lang="en-US" sz="900" dirty="0"/>
          </a:p>
        </p:txBody>
      </p:sp>
      <p:sp>
        <p:nvSpPr>
          <p:cNvPr id="7" name="Text 5"/>
          <p:cNvSpPr/>
          <p:nvPr/>
        </p:nvSpPr>
        <p:spPr>
          <a:xfrm>
            <a:off x="6858000" y="6492240"/>
            <a:ext cx="2743200" cy="256032"/>
          </a:xfrm>
          <a:prstGeom prst="rect">
            <a:avLst/>
          </a:prstGeom>
          <a:noFill/>
          <a:ln/>
        </p:spPr>
        <p:txBody>
          <a:bodyPr wrap="square" lIns="0" tIns="0" rIns="0" bIns="0" rtlCol="0" anchor="ctr"/>
          <a:lstStyle/>
          <a:p>
            <a:pPr marL="0" indent="0" algn="ctr">
              <a:buNone/>
            </a:pPr>
            <a:r>
              <a:rPr lang="en-US" sz="900" i="1" dirty="0">
                <a:solidFill>
                  <a:srgbClr val="64748B"/>
                </a:solidFill>
                <a:latin typeface="Calibri" pitchFamily="34" charset="0"/>
                <a:ea typeface="Calibri" pitchFamily="34" charset="-122"/>
                <a:cs typeface="Calibri" pitchFamily="34" charset="-120"/>
              </a:rPr>
              <a:t>Strictly Confidential</a:t>
            </a:r>
            <a:endParaRPr lang="en-US" sz="900" dirty="0"/>
          </a:p>
        </p:txBody>
      </p:sp>
      <p:sp>
        <p:nvSpPr>
          <p:cNvPr id="8" name="Text 6"/>
          <p:cNvSpPr/>
          <p:nvPr/>
        </p:nvSpPr>
        <p:spPr>
          <a:xfrm>
            <a:off x="10515600" y="6492240"/>
            <a:ext cx="1188720" cy="256032"/>
          </a:xfrm>
          <a:prstGeom prst="rect">
            <a:avLst/>
          </a:prstGeom>
          <a:noFill/>
          <a:ln/>
        </p:spPr>
        <p:txBody>
          <a:bodyPr wrap="square" lIns="0" tIns="0" rIns="0" bIns="0" rtlCol="0" anchor="ctr"/>
          <a:lstStyle/>
          <a:p>
            <a:pPr marL="0" indent="0" algn="r">
              <a:buNone/>
            </a:pPr>
            <a:r>
              <a:rPr lang="en-US" sz="900" b="1" dirty="0">
                <a:solidFill>
                  <a:srgbClr val="64748B"/>
                </a:solidFill>
                <a:latin typeface="Calibri" pitchFamily="34" charset="0"/>
                <a:ea typeface="Calibri" pitchFamily="34" charset="-122"/>
                <a:cs typeface="Calibri" pitchFamily="34" charset="-120"/>
              </a:rPr>
              <a:t>19</a:t>
            </a:r>
            <a:endParaRPr lang="en-US" sz="900" dirty="0"/>
          </a:p>
        </p:txBody>
      </p:sp>
      <p:sp>
        <p:nvSpPr>
          <p:cNvPr id="9" name="Shape 7"/>
          <p:cNvSpPr/>
          <p:nvPr/>
        </p:nvSpPr>
        <p:spPr>
          <a:xfrm>
            <a:off x="731520" y="2240280"/>
            <a:ext cx="10698480" cy="45720"/>
          </a:xfrm>
          <a:prstGeom prst="rect">
            <a:avLst/>
          </a:prstGeom>
          <a:solidFill>
            <a:srgbClr val="E2E8F0"/>
          </a:solidFill>
          <a:ln/>
        </p:spPr>
        <p:txBody>
          <a:bodyPr/>
          <a:lstStyle/>
          <a:p>
            <a:endParaRPr lang="en-US"/>
          </a:p>
        </p:txBody>
      </p:sp>
      <p:sp>
        <p:nvSpPr>
          <p:cNvPr id="10" name="Shape 8"/>
          <p:cNvSpPr/>
          <p:nvPr/>
        </p:nvSpPr>
        <p:spPr>
          <a:xfrm>
            <a:off x="566928" y="2121408"/>
            <a:ext cx="329184" cy="329184"/>
          </a:xfrm>
          <a:prstGeom prst="ellipse">
            <a:avLst/>
          </a:prstGeom>
          <a:solidFill>
            <a:srgbClr val="64748B"/>
          </a:solidFill>
          <a:ln w="25400">
            <a:solidFill>
              <a:srgbClr val="FFFFFF"/>
            </a:solidFill>
            <a:prstDash val="solid"/>
          </a:ln>
        </p:spPr>
        <p:txBody>
          <a:bodyPr/>
          <a:lstStyle/>
          <a:p>
            <a:endParaRPr lang="en-US"/>
          </a:p>
        </p:txBody>
      </p:sp>
      <p:sp>
        <p:nvSpPr>
          <p:cNvPr id="11" name="Text 9"/>
          <p:cNvSpPr/>
          <p:nvPr/>
        </p:nvSpPr>
        <p:spPr>
          <a:xfrm>
            <a:off x="-274320" y="1645920"/>
            <a:ext cx="2011680" cy="274320"/>
          </a:xfrm>
          <a:prstGeom prst="rect">
            <a:avLst/>
          </a:prstGeom>
          <a:noFill/>
          <a:ln/>
        </p:spPr>
        <p:txBody>
          <a:bodyPr wrap="square" lIns="0" tIns="0" rIns="0" bIns="0" rtlCol="0" anchor="ctr"/>
          <a:lstStyle/>
          <a:p>
            <a:pPr marL="0" indent="0" algn="ctr">
              <a:buNone/>
            </a:pPr>
            <a:r>
              <a:rPr lang="en-US" sz="1100" b="1" dirty="0">
                <a:solidFill>
                  <a:srgbClr val="0F172A"/>
                </a:solidFill>
                <a:latin typeface="Calibri" pitchFamily="34" charset="0"/>
                <a:ea typeface="Calibri" pitchFamily="34" charset="-122"/>
                <a:cs typeface="Calibri" pitchFamily="34" charset="-120"/>
              </a:rPr>
              <a:t>Today</a:t>
            </a:r>
            <a:endParaRPr lang="en-US" sz="1100" dirty="0"/>
          </a:p>
        </p:txBody>
      </p:sp>
      <p:sp>
        <p:nvSpPr>
          <p:cNvPr id="12" name="Text 10"/>
          <p:cNvSpPr/>
          <p:nvPr/>
        </p:nvSpPr>
        <p:spPr>
          <a:xfrm>
            <a:off x="-274320" y="2560320"/>
            <a:ext cx="2011680" cy="274320"/>
          </a:xfrm>
          <a:prstGeom prst="rect">
            <a:avLst/>
          </a:prstGeom>
          <a:noFill/>
          <a:ln/>
        </p:spPr>
        <p:txBody>
          <a:bodyPr wrap="square" lIns="0" tIns="0" rIns="0" bIns="0" rtlCol="0" anchor="ctr"/>
          <a:lstStyle/>
          <a:p>
            <a:pPr marL="0" indent="0" algn="ctr">
              <a:buNone/>
            </a:pPr>
            <a:r>
              <a:rPr lang="en-US" sz="950" dirty="0">
                <a:solidFill>
                  <a:srgbClr val="64748B"/>
                </a:solidFill>
                <a:latin typeface="Calibri" pitchFamily="34" charset="0"/>
                <a:ea typeface="Calibri" pitchFamily="34" charset="-122"/>
                <a:cs typeface="Calibri" pitchFamily="34" charset="-120"/>
              </a:rPr>
              <a:t>Mandate confirmed</a:t>
            </a:r>
            <a:endParaRPr lang="en-US" sz="950" dirty="0"/>
          </a:p>
        </p:txBody>
      </p:sp>
      <p:sp>
        <p:nvSpPr>
          <p:cNvPr id="13" name="Shape 11"/>
          <p:cNvSpPr/>
          <p:nvPr/>
        </p:nvSpPr>
        <p:spPr>
          <a:xfrm>
            <a:off x="3218688" y="2121408"/>
            <a:ext cx="329184" cy="329184"/>
          </a:xfrm>
          <a:prstGeom prst="ellipse">
            <a:avLst/>
          </a:prstGeom>
          <a:solidFill>
            <a:srgbClr val="16A34A"/>
          </a:solidFill>
          <a:ln w="25400">
            <a:solidFill>
              <a:srgbClr val="FFFFFF"/>
            </a:solidFill>
            <a:prstDash val="solid"/>
          </a:ln>
        </p:spPr>
        <p:txBody>
          <a:bodyPr/>
          <a:lstStyle/>
          <a:p>
            <a:endParaRPr lang="en-US"/>
          </a:p>
        </p:txBody>
      </p:sp>
      <p:sp>
        <p:nvSpPr>
          <p:cNvPr id="14" name="Text 12"/>
          <p:cNvSpPr/>
          <p:nvPr/>
        </p:nvSpPr>
        <p:spPr>
          <a:xfrm>
            <a:off x="2377440" y="1645920"/>
            <a:ext cx="2011680" cy="274320"/>
          </a:xfrm>
          <a:prstGeom prst="rect">
            <a:avLst/>
          </a:prstGeom>
          <a:noFill/>
          <a:ln/>
        </p:spPr>
        <p:txBody>
          <a:bodyPr wrap="square" lIns="0" tIns="0" rIns="0" bIns="0" rtlCol="0" anchor="ctr"/>
          <a:lstStyle/>
          <a:p>
            <a:pPr marL="0" indent="0" algn="ctr">
              <a:buNone/>
            </a:pPr>
            <a:r>
              <a:rPr lang="en-US" sz="1100" b="1" dirty="0">
                <a:solidFill>
                  <a:srgbClr val="0F172A"/>
                </a:solidFill>
                <a:latin typeface="Calibri" pitchFamily="34" charset="0"/>
                <a:ea typeface="Calibri" pitchFamily="34" charset="-122"/>
                <a:cs typeface="Calibri" pitchFamily="34" charset="-120"/>
              </a:rPr>
              <a:t>Q1 FY27</a:t>
            </a:r>
            <a:endParaRPr lang="en-US" sz="1100" dirty="0"/>
          </a:p>
        </p:txBody>
      </p:sp>
      <p:sp>
        <p:nvSpPr>
          <p:cNvPr id="15" name="Text 13"/>
          <p:cNvSpPr/>
          <p:nvPr/>
        </p:nvSpPr>
        <p:spPr>
          <a:xfrm>
            <a:off x="2377440" y="2560320"/>
            <a:ext cx="2011680" cy="274320"/>
          </a:xfrm>
          <a:prstGeom prst="rect">
            <a:avLst/>
          </a:prstGeom>
          <a:noFill/>
          <a:ln/>
        </p:spPr>
        <p:txBody>
          <a:bodyPr wrap="square" lIns="0" tIns="0" rIns="0" bIns="0" rtlCol="0" anchor="ctr"/>
          <a:lstStyle/>
          <a:p>
            <a:pPr marL="0" indent="0" algn="ctr">
              <a:buNone/>
            </a:pPr>
            <a:r>
              <a:rPr lang="en-US" sz="950" dirty="0">
                <a:solidFill>
                  <a:srgbClr val="64748B"/>
                </a:solidFill>
                <a:latin typeface="Calibri" pitchFamily="34" charset="0"/>
                <a:ea typeface="Calibri" pitchFamily="34" charset="-122"/>
                <a:cs typeface="Calibri" pitchFamily="34" charset="-120"/>
              </a:rPr>
              <a:t>Riskcovry LOI</a:t>
            </a:r>
            <a:endParaRPr lang="en-US" sz="950" dirty="0"/>
          </a:p>
        </p:txBody>
      </p:sp>
      <p:sp>
        <p:nvSpPr>
          <p:cNvPr id="16" name="Shape 14"/>
          <p:cNvSpPr/>
          <p:nvPr/>
        </p:nvSpPr>
        <p:spPr>
          <a:xfrm>
            <a:off x="5733288" y="2121408"/>
            <a:ext cx="329184" cy="329184"/>
          </a:xfrm>
          <a:prstGeom prst="ellipse">
            <a:avLst/>
          </a:prstGeom>
          <a:solidFill>
            <a:srgbClr val="16A34A"/>
          </a:solidFill>
          <a:ln w="25400">
            <a:solidFill>
              <a:srgbClr val="FFFFFF"/>
            </a:solidFill>
            <a:prstDash val="solid"/>
          </a:ln>
        </p:spPr>
        <p:txBody>
          <a:bodyPr/>
          <a:lstStyle/>
          <a:p>
            <a:endParaRPr lang="en-US"/>
          </a:p>
        </p:txBody>
      </p:sp>
      <p:sp>
        <p:nvSpPr>
          <p:cNvPr id="17" name="Text 15"/>
          <p:cNvSpPr/>
          <p:nvPr/>
        </p:nvSpPr>
        <p:spPr>
          <a:xfrm>
            <a:off x="4892040" y="1645920"/>
            <a:ext cx="2011680" cy="274320"/>
          </a:xfrm>
          <a:prstGeom prst="rect">
            <a:avLst/>
          </a:prstGeom>
          <a:noFill/>
          <a:ln/>
        </p:spPr>
        <p:txBody>
          <a:bodyPr wrap="square" lIns="0" tIns="0" rIns="0" bIns="0" rtlCol="0" anchor="ctr"/>
          <a:lstStyle/>
          <a:p>
            <a:pPr marL="0" indent="0" algn="ctr">
              <a:buNone/>
            </a:pPr>
            <a:r>
              <a:rPr lang="en-US" sz="1100" b="1" dirty="0">
                <a:solidFill>
                  <a:srgbClr val="0F172A"/>
                </a:solidFill>
                <a:latin typeface="Calibri" pitchFamily="34" charset="0"/>
                <a:ea typeface="Calibri" pitchFamily="34" charset="-122"/>
                <a:cs typeface="Calibri" pitchFamily="34" charset="-120"/>
              </a:rPr>
              <a:t>Q3 FY27</a:t>
            </a:r>
            <a:endParaRPr lang="en-US" sz="1100" dirty="0"/>
          </a:p>
        </p:txBody>
      </p:sp>
      <p:sp>
        <p:nvSpPr>
          <p:cNvPr id="18" name="Text 16"/>
          <p:cNvSpPr/>
          <p:nvPr/>
        </p:nvSpPr>
        <p:spPr>
          <a:xfrm>
            <a:off x="4892040" y="2560320"/>
            <a:ext cx="2011680" cy="274320"/>
          </a:xfrm>
          <a:prstGeom prst="rect">
            <a:avLst/>
          </a:prstGeom>
          <a:noFill/>
          <a:ln/>
        </p:spPr>
        <p:txBody>
          <a:bodyPr wrap="square" lIns="0" tIns="0" rIns="0" bIns="0" rtlCol="0" anchor="ctr"/>
          <a:lstStyle/>
          <a:p>
            <a:pPr marL="0" indent="0" algn="ctr">
              <a:buNone/>
            </a:pPr>
            <a:r>
              <a:rPr lang="en-US" sz="950" dirty="0">
                <a:solidFill>
                  <a:srgbClr val="64748B"/>
                </a:solidFill>
                <a:latin typeface="Calibri" pitchFamily="34" charset="0"/>
                <a:ea typeface="Calibri" pitchFamily="34" charset="-122"/>
                <a:cs typeface="Calibri" pitchFamily="34" charset="-120"/>
              </a:rPr>
              <a:t>Riskcovry close</a:t>
            </a:r>
            <a:endParaRPr lang="en-US" sz="950" dirty="0"/>
          </a:p>
        </p:txBody>
      </p:sp>
      <p:sp>
        <p:nvSpPr>
          <p:cNvPr id="19" name="Shape 17"/>
          <p:cNvSpPr/>
          <p:nvPr/>
        </p:nvSpPr>
        <p:spPr>
          <a:xfrm>
            <a:off x="8247888" y="2121408"/>
            <a:ext cx="329184" cy="329184"/>
          </a:xfrm>
          <a:prstGeom prst="ellipse">
            <a:avLst/>
          </a:prstGeom>
          <a:solidFill>
            <a:srgbClr val="0F3D2E"/>
          </a:solidFill>
          <a:ln w="25400">
            <a:solidFill>
              <a:srgbClr val="FFFFFF"/>
            </a:solidFill>
            <a:prstDash val="solid"/>
          </a:ln>
        </p:spPr>
        <p:txBody>
          <a:bodyPr/>
          <a:lstStyle/>
          <a:p>
            <a:endParaRPr lang="en-US"/>
          </a:p>
        </p:txBody>
      </p:sp>
      <p:sp>
        <p:nvSpPr>
          <p:cNvPr id="20" name="Text 18"/>
          <p:cNvSpPr/>
          <p:nvPr/>
        </p:nvSpPr>
        <p:spPr>
          <a:xfrm>
            <a:off x="7406640" y="1645920"/>
            <a:ext cx="2011680" cy="274320"/>
          </a:xfrm>
          <a:prstGeom prst="rect">
            <a:avLst/>
          </a:prstGeom>
          <a:noFill/>
          <a:ln/>
        </p:spPr>
        <p:txBody>
          <a:bodyPr wrap="square" lIns="0" tIns="0" rIns="0" bIns="0" rtlCol="0" anchor="ctr"/>
          <a:lstStyle/>
          <a:p>
            <a:pPr marL="0" indent="0" algn="ctr">
              <a:buNone/>
            </a:pPr>
            <a:r>
              <a:rPr lang="en-US" sz="1100" b="1" dirty="0">
                <a:solidFill>
                  <a:srgbClr val="0F172A"/>
                </a:solidFill>
                <a:latin typeface="Calibri" pitchFamily="34" charset="0"/>
                <a:ea typeface="Calibri" pitchFamily="34" charset="-122"/>
                <a:cs typeface="Calibri" pitchFamily="34" charset="-120"/>
              </a:rPr>
              <a:t>Q1 FY28</a:t>
            </a:r>
            <a:endParaRPr lang="en-US" sz="1100" dirty="0"/>
          </a:p>
        </p:txBody>
      </p:sp>
      <p:sp>
        <p:nvSpPr>
          <p:cNvPr id="21" name="Text 19"/>
          <p:cNvSpPr/>
          <p:nvPr/>
        </p:nvSpPr>
        <p:spPr>
          <a:xfrm>
            <a:off x="7406640" y="2560320"/>
            <a:ext cx="2011680" cy="274320"/>
          </a:xfrm>
          <a:prstGeom prst="rect">
            <a:avLst/>
          </a:prstGeom>
          <a:noFill/>
          <a:ln/>
        </p:spPr>
        <p:txBody>
          <a:bodyPr wrap="square" lIns="0" tIns="0" rIns="0" bIns="0" rtlCol="0" anchor="ctr"/>
          <a:lstStyle/>
          <a:p>
            <a:pPr marL="0" indent="0" algn="ctr">
              <a:buNone/>
            </a:pPr>
            <a:r>
              <a:rPr lang="en-US" sz="950" dirty="0">
                <a:solidFill>
                  <a:srgbClr val="64748B"/>
                </a:solidFill>
                <a:latin typeface="Calibri" pitchFamily="34" charset="0"/>
                <a:ea typeface="Calibri" pitchFamily="34" charset="-122"/>
                <a:cs typeface="Calibri" pitchFamily="34" charset="-120"/>
              </a:rPr>
              <a:t>WebEngage LOI</a:t>
            </a:r>
            <a:endParaRPr lang="en-US" sz="950" dirty="0"/>
          </a:p>
        </p:txBody>
      </p:sp>
      <p:sp>
        <p:nvSpPr>
          <p:cNvPr id="22" name="Shape 20"/>
          <p:cNvSpPr/>
          <p:nvPr/>
        </p:nvSpPr>
        <p:spPr>
          <a:xfrm>
            <a:off x="10808208" y="2121408"/>
            <a:ext cx="329184" cy="329184"/>
          </a:xfrm>
          <a:prstGeom prst="ellipse">
            <a:avLst/>
          </a:prstGeom>
          <a:solidFill>
            <a:srgbClr val="0F3D2E"/>
          </a:solidFill>
          <a:ln w="25400">
            <a:solidFill>
              <a:srgbClr val="FFFFFF"/>
            </a:solidFill>
            <a:prstDash val="solid"/>
          </a:ln>
        </p:spPr>
        <p:txBody>
          <a:bodyPr/>
          <a:lstStyle/>
          <a:p>
            <a:endParaRPr lang="en-US"/>
          </a:p>
        </p:txBody>
      </p:sp>
      <p:sp>
        <p:nvSpPr>
          <p:cNvPr id="23" name="Text 21"/>
          <p:cNvSpPr/>
          <p:nvPr/>
        </p:nvSpPr>
        <p:spPr>
          <a:xfrm>
            <a:off x="9966960" y="1645920"/>
            <a:ext cx="2011680" cy="274320"/>
          </a:xfrm>
          <a:prstGeom prst="rect">
            <a:avLst/>
          </a:prstGeom>
          <a:noFill/>
          <a:ln/>
        </p:spPr>
        <p:txBody>
          <a:bodyPr wrap="square" lIns="0" tIns="0" rIns="0" bIns="0" rtlCol="0" anchor="ctr"/>
          <a:lstStyle/>
          <a:p>
            <a:pPr marL="0" indent="0" algn="ctr">
              <a:buNone/>
            </a:pPr>
            <a:r>
              <a:rPr lang="en-US" sz="1100" b="1" dirty="0">
                <a:solidFill>
                  <a:srgbClr val="0F172A"/>
                </a:solidFill>
                <a:latin typeface="Calibri" pitchFamily="34" charset="0"/>
                <a:ea typeface="Calibri" pitchFamily="34" charset="-122"/>
                <a:cs typeface="Calibri" pitchFamily="34" charset="-120"/>
              </a:rPr>
              <a:t>Q3-Q4 FY28</a:t>
            </a:r>
            <a:endParaRPr lang="en-US" sz="1100" dirty="0"/>
          </a:p>
        </p:txBody>
      </p:sp>
      <p:sp>
        <p:nvSpPr>
          <p:cNvPr id="24" name="Text 22"/>
          <p:cNvSpPr/>
          <p:nvPr/>
        </p:nvSpPr>
        <p:spPr>
          <a:xfrm>
            <a:off x="9966960" y="2560320"/>
            <a:ext cx="2011680" cy="274320"/>
          </a:xfrm>
          <a:prstGeom prst="rect">
            <a:avLst/>
          </a:prstGeom>
          <a:noFill/>
          <a:ln/>
        </p:spPr>
        <p:txBody>
          <a:bodyPr wrap="square" lIns="0" tIns="0" rIns="0" bIns="0" rtlCol="0" anchor="ctr"/>
          <a:lstStyle/>
          <a:p>
            <a:pPr marL="0" indent="0" algn="ctr">
              <a:buNone/>
            </a:pPr>
            <a:r>
              <a:rPr lang="en-US" sz="950" dirty="0">
                <a:solidFill>
                  <a:srgbClr val="64748B"/>
                </a:solidFill>
                <a:latin typeface="Calibri" pitchFamily="34" charset="0"/>
                <a:ea typeface="Calibri" pitchFamily="34" charset="-122"/>
                <a:cs typeface="Calibri" pitchFamily="34" charset="-120"/>
              </a:rPr>
              <a:t>WebEngage close</a:t>
            </a:r>
            <a:endParaRPr lang="en-US" sz="950" dirty="0"/>
          </a:p>
        </p:txBody>
      </p:sp>
      <p:sp>
        <p:nvSpPr>
          <p:cNvPr id="25" name="Shape 23"/>
          <p:cNvSpPr/>
          <p:nvPr/>
        </p:nvSpPr>
        <p:spPr>
          <a:xfrm>
            <a:off x="502920" y="3017520"/>
            <a:ext cx="5532120" cy="2331720"/>
          </a:xfrm>
          <a:prstGeom prst="rect">
            <a:avLst/>
          </a:prstGeom>
          <a:solidFill>
            <a:srgbClr val="FFFFFF"/>
          </a:solidFill>
          <a:ln w="19050">
            <a:solidFill>
              <a:srgbClr val="16A34A"/>
            </a:solidFill>
            <a:prstDash val="solid"/>
          </a:ln>
        </p:spPr>
        <p:txBody>
          <a:bodyPr/>
          <a:lstStyle/>
          <a:p>
            <a:endParaRPr lang="en-US"/>
          </a:p>
        </p:txBody>
      </p:sp>
      <p:sp>
        <p:nvSpPr>
          <p:cNvPr id="26" name="Shape 24"/>
          <p:cNvSpPr/>
          <p:nvPr/>
        </p:nvSpPr>
        <p:spPr>
          <a:xfrm>
            <a:off x="502920" y="3017520"/>
            <a:ext cx="5532120" cy="365760"/>
          </a:xfrm>
          <a:prstGeom prst="rect">
            <a:avLst/>
          </a:prstGeom>
          <a:solidFill>
            <a:srgbClr val="16A34A"/>
          </a:solidFill>
          <a:ln/>
        </p:spPr>
        <p:txBody>
          <a:bodyPr/>
          <a:lstStyle/>
          <a:p>
            <a:endParaRPr lang="en-US"/>
          </a:p>
        </p:txBody>
      </p:sp>
      <p:sp>
        <p:nvSpPr>
          <p:cNvPr id="27" name="Text 25"/>
          <p:cNvSpPr/>
          <p:nvPr/>
        </p:nvSpPr>
        <p:spPr>
          <a:xfrm>
            <a:off x="685800" y="3017520"/>
            <a:ext cx="5212080" cy="365760"/>
          </a:xfrm>
          <a:prstGeom prst="rect">
            <a:avLst/>
          </a:prstGeom>
          <a:noFill/>
          <a:ln/>
        </p:spPr>
        <p:txBody>
          <a:bodyPr wrap="square" lIns="0" tIns="0" rIns="0" bIns="0" rtlCol="0" anchor="ctr"/>
          <a:lstStyle/>
          <a:p>
            <a:pPr marL="0" indent="0">
              <a:buNone/>
            </a:pPr>
            <a:r>
              <a:rPr lang="en-US" sz="1100" b="1" kern="0" spc="100" dirty="0">
                <a:solidFill>
                  <a:srgbClr val="FFFFFF"/>
                </a:solidFill>
                <a:latin typeface="Calibri" pitchFamily="34" charset="0"/>
                <a:ea typeface="Calibri" pitchFamily="34" charset="-122"/>
                <a:cs typeface="Calibri" pitchFamily="34" charset="-120"/>
              </a:rPr>
              <a:t>DEAL</a:t>
            </a:r>
            <a:r>
              <a:rPr lang="en-US" sz="1100" b="1" kern="0" spc="400" dirty="0">
                <a:solidFill>
                  <a:srgbClr val="FFFFFF"/>
                </a:solidFill>
                <a:latin typeface="Calibri" pitchFamily="34" charset="0"/>
                <a:ea typeface="Calibri" pitchFamily="34" charset="-122"/>
                <a:cs typeface="Calibri" pitchFamily="34" charset="-120"/>
              </a:rPr>
              <a:t> 1  ·  RISKCOVRY  ·  FY27</a:t>
            </a:r>
            <a:endParaRPr lang="en-US" sz="1100" dirty="0"/>
          </a:p>
        </p:txBody>
      </p:sp>
      <p:sp>
        <p:nvSpPr>
          <p:cNvPr id="28" name="Text 26"/>
          <p:cNvSpPr/>
          <p:nvPr/>
        </p:nvSpPr>
        <p:spPr>
          <a:xfrm>
            <a:off x="685800" y="3520440"/>
            <a:ext cx="1371600" cy="320040"/>
          </a:xfrm>
          <a:prstGeom prst="rect">
            <a:avLst/>
          </a:prstGeom>
          <a:noFill/>
          <a:ln/>
        </p:spPr>
        <p:txBody>
          <a:bodyPr wrap="square" lIns="0" tIns="0" rIns="0" bIns="0" rtlCol="0" anchor="t"/>
          <a:lstStyle/>
          <a:p>
            <a:pPr marL="0" indent="0">
              <a:buNone/>
            </a:pPr>
            <a:r>
              <a:rPr lang="en-US" sz="900" b="1" kern="0" spc="100" dirty="0">
                <a:solidFill>
                  <a:srgbClr val="64748B"/>
                </a:solidFill>
                <a:latin typeface="Calibri" pitchFamily="34" charset="0"/>
                <a:ea typeface="Calibri" pitchFamily="34" charset="-122"/>
                <a:cs typeface="Calibri" pitchFamily="34" charset="-120"/>
              </a:rPr>
              <a:t>Ticket</a:t>
            </a:r>
            <a:endParaRPr lang="en-US" sz="900" spc="100" dirty="0"/>
          </a:p>
        </p:txBody>
      </p:sp>
      <p:sp>
        <p:nvSpPr>
          <p:cNvPr id="29" name="Text 27"/>
          <p:cNvSpPr/>
          <p:nvPr/>
        </p:nvSpPr>
        <p:spPr>
          <a:xfrm>
            <a:off x="2103120" y="3520440"/>
            <a:ext cx="3840480" cy="365760"/>
          </a:xfrm>
          <a:prstGeom prst="rect">
            <a:avLst/>
          </a:prstGeom>
          <a:noFill/>
          <a:ln/>
        </p:spPr>
        <p:txBody>
          <a:bodyPr wrap="square" lIns="0" tIns="0" rIns="0" bIns="0" rtlCol="0" anchor="t"/>
          <a:lstStyle/>
          <a:p>
            <a:pPr marL="0" indent="0">
              <a:buNone/>
            </a:pPr>
            <a:r>
              <a:rPr lang="en-US" sz="1000" dirty="0">
                <a:solidFill>
                  <a:srgbClr val="0F172A"/>
                </a:solidFill>
                <a:latin typeface="Calibri" pitchFamily="34" charset="0"/>
                <a:ea typeface="Calibri" pitchFamily="34" charset="-122"/>
                <a:cs typeface="Calibri" pitchFamily="34" charset="-120"/>
              </a:rPr>
              <a:t>$50-80M, all cash from IPO proceeds</a:t>
            </a:r>
            <a:endParaRPr lang="en-US" sz="1000" dirty="0"/>
          </a:p>
        </p:txBody>
      </p:sp>
      <p:sp>
        <p:nvSpPr>
          <p:cNvPr id="30" name="Text 28"/>
          <p:cNvSpPr/>
          <p:nvPr/>
        </p:nvSpPr>
        <p:spPr>
          <a:xfrm>
            <a:off x="685800" y="3867912"/>
            <a:ext cx="1371600" cy="320040"/>
          </a:xfrm>
          <a:prstGeom prst="rect">
            <a:avLst/>
          </a:prstGeom>
          <a:noFill/>
          <a:ln/>
        </p:spPr>
        <p:txBody>
          <a:bodyPr wrap="square" lIns="0" tIns="0" rIns="0" bIns="0" rtlCol="0" anchor="t"/>
          <a:lstStyle/>
          <a:p>
            <a:pPr marL="0" indent="0">
              <a:buNone/>
            </a:pPr>
            <a:r>
              <a:rPr lang="en-US" sz="900" b="1" kern="0" spc="100" dirty="0">
                <a:solidFill>
                  <a:srgbClr val="64748B"/>
                </a:solidFill>
                <a:latin typeface="Calibri" pitchFamily="34" charset="0"/>
                <a:ea typeface="Calibri" pitchFamily="34" charset="-122"/>
                <a:cs typeface="Calibri" pitchFamily="34" charset="-120"/>
              </a:rPr>
              <a:t>Why first</a:t>
            </a:r>
            <a:endParaRPr lang="en-US" sz="900" spc="100" dirty="0"/>
          </a:p>
        </p:txBody>
      </p:sp>
      <p:sp>
        <p:nvSpPr>
          <p:cNvPr id="31" name="Text 29"/>
          <p:cNvSpPr/>
          <p:nvPr/>
        </p:nvSpPr>
        <p:spPr>
          <a:xfrm>
            <a:off x="2103120" y="3867912"/>
            <a:ext cx="3840480" cy="365760"/>
          </a:xfrm>
          <a:prstGeom prst="rect">
            <a:avLst/>
          </a:prstGeom>
          <a:noFill/>
          <a:ln/>
        </p:spPr>
        <p:txBody>
          <a:bodyPr wrap="square" lIns="0" tIns="0" rIns="0" bIns="0" rtlCol="0" anchor="t"/>
          <a:lstStyle/>
          <a:p>
            <a:pPr marL="0" indent="0">
              <a:buNone/>
            </a:pPr>
            <a:r>
              <a:rPr lang="en-US" sz="1000" dirty="0">
                <a:solidFill>
                  <a:srgbClr val="0F172A"/>
                </a:solidFill>
                <a:latin typeface="Calibri" pitchFamily="34" charset="0"/>
                <a:ea typeface="Calibri" pitchFamily="34" charset="-122"/>
                <a:cs typeface="Calibri" pitchFamily="34" charset="-120"/>
              </a:rPr>
              <a:t>Smaller cheque, cleaner integration (~80 FTEs), tests embedded-VAS thesis at low risk</a:t>
            </a:r>
            <a:endParaRPr lang="en-US" sz="1000" dirty="0"/>
          </a:p>
        </p:txBody>
      </p:sp>
      <p:sp>
        <p:nvSpPr>
          <p:cNvPr id="32" name="Text 30"/>
          <p:cNvSpPr/>
          <p:nvPr/>
        </p:nvSpPr>
        <p:spPr>
          <a:xfrm>
            <a:off x="685800" y="4215384"/>
            <a:ext cx="1371600" cy="320040"/>
          </a:xfrm>
          <a:prstGeom prst="rect">
            <a:avLst/>
          </a:prstGeom>
          <a:noFill/>
          <a:ln/>
        </p:spPr>
        <p:txBody>
          <a:bodyPr wrap="square" lIns="0" tIns="0" rIns="0" bIns="0" rtlCol="0" anchor="t"/>
          <a:lstStyle/>
          <a:p>
            <a:pPr marL="0" indent="0">
              <a:buNone/>
            </a:pPr>
            <a:r>
              <a:rPr lang="en-US" sz="900" b="1" kern="0" spc="100" dirty="0">
                <a:solidFill>
                  <a:srgbClr val="64748B"/>
                </a:solidFill>
                <a:latin typeface="Calibri" pitchFamily="34" charset="0"/>
                <a:ea typeface="Calibri" pitchFamily="34" charset="-122"/>
                <a:cs typeface="Calibri" pitchFamily="34" charset="-120"/>
              </a:rPr>
              <a:t>Owner inside</a:t>
            </a:r>
            <a:endParaRPr lang="en-US" sz="900" spc="100" dirty="0"/>
          </a:p>
        </p:txBody>
      </p:sp>
      <p:sp>
        <p:nvSpPr>
          <p:cNvPr id="33" name="Text 31"/>
          <p:cNvSpPr/>
          <p:nvPr/>
        </p:nvSpPr>
        <p:spPr>
          <a:xfrm>
            <a:off x="2103120" y="4215384"/>
            <a:ext cx="3840480" cy="365760"/>
          </a:xfrm>
          <a:prstGeom prst="rect">
            <a:avLst/>
          </a:prstGeom>
          <a:noFill/>
          <a:ln/>
        </p:spPr>
        <p:txBody>
          <a:bodyPr wrap="square" lIns="0" tIns="0" rIns="0" bIns="0" rtlCol="0" anchor="t"/>
          <a:lstStyle/>
          <a:p>
            <a:pPr marL="0" indent="0">
              <a:buNone/>
            </a:pPr>
            <a:r>
              <a:rPr lang="en-US" sz="1000" dirty="0">
                <a:solidFill>
                  <a:srgbClr val="0F172A"/>
                </a:solidFill>
                <a:latin typeface="Calibri" pitchFamily="34" charset="0"/>
                <a:ea typeface="Calibri" pitchFamily="34" charset="-122"/>
                <a:cs typeface="Calibri" pitchFamily="34" charset="-120"/>
              </a:rPr>
              <a:t>Sits beside Setu — same API DNA, same buyer at the bank</a:t>
            </a:r>
            <a:endParaRPr lang="en-US" sz="1000" dirty="0"/>
          </a:p>
        </p:txBody>
      </p:sp>
      <p:sp>
        <p:nvSpPr>
          <p:cNvPr id="34" name="Text 32"/>
          <p:cNvSpPr/>
          <p:nvPr/>
        </p:nvSpPr>
        <p:spPr>
          <a:xfrm>
            <a:off x="685800" y="4562856"/>
            <a:ext cx="1371600" cy="320040"/>
          </a:xfrm>
          <a:prstGeom prst="rect">
            <a:avLst/>
          </a:prstGeom>
          <a:noFill/>
          <a:ln/>
        </p:spPr>
        <p:txBody>
          <a:bodyPr wrap="square" lIns="0" tIns="0" rIns="0" bIns="0" rtlCol="0" anchor="t"/>
          <a:lstStyle/>
          <a:p>
            <a:pPr marL="0" indent="0">
              <a:buNone/>
            </a:pPr>
            <a:r>
              <a:rPr lang="en-US" sz="900" b="1" kern="0" spc="100" dirty="0">
                <a:solidFill>
                  <a:srgbClr val="64748B"/>
                </a:solidFill>
                <a:latin typeface="Calibri" pitchFamily="34" charset="0"/>
                <a:ea typeface="Calibri" pitchFamily="34" charset="-122"/>
                <a:cs typeface="Calibri" pitchFamily="34" charset="-120"/>
              </a:rPr>
              <a:t>Close target</a:t>
            </a:r>
            <a:endParaRPr lang="en-US" sz="900" spc="100" dirty="0"/>
          </a:p>
        </p:txBody>
      </p:sp>
      <p:sp>
        <p:nvSpPr>
          <p:cNvPr id="35" name="Text 33"/>
          <p:cNvSpPr/>
          <p:nvPr/>
        </p:nvSpPr>
        <p:spPr>
          <a:xfrm>
            <a:off x="2103120" y="4562856"/>
            <a:ext cx="3840480" cy="365760"/>
          </a:xfrm>
          <a:prstGeom prst="rect">
            <a:avLst/>
          </a:prstGeom>
          <a:noFill/>
          <a:ln/>
        </p:spPr>
        <p:txBody>
          <a:bodyPr wrap="square" lIns="0" tIns="0" rIns="0" bIns="0" rtlCol="0" anchor="t"/>
          <a:lstStyle/>
          <a:p>
            <a:pPr marL="0" indent="0">
              <a:buNone/>
            </a:pPr>
            <a:r>
              <a:rPr lang="en-US" sz="1000" dirty="0">
                <a:solidFill>
                  <a:srgbClr val="0F172A"/>
                </a:solidFill>
                <a:latin typeface="Calibri" pitchFamily="34" charset="0"/>
                <a:ea typeface="Calibri" pitchFamily="34" charset="-122"/>
                <a:cs typeface="Calibri" pitchFamily="34" charset="-120"/>
              </a:rPr>
              <a:t>9 months from LOI — IRDAI corporate-agent transfer is the long pole</a:t>
            </a:r>
            <a:endParaRPr lang="en-US" sz="1000" dirty="0"/>
          </a:p>
        </p:txBody>
      </p:sp>
      <p:sp>
        <p:nvSpPr>
          <p:cNvPr id="36" name="Text 34"/>
          <p:cNvSpPr/>
          <p:nvPr/>
        </p:nvSpPr>
        <p:spPr>
          <a:xfrm>
            <a:off x="685800" y="4910328"/>
            <a:ext cx="1371600" cy="320040"/>
          </a:xfrm>
          <a:prstGeom prst="rect">
            <a:avLst/>
          </a:prstGeom>
          <a:noFill/>
          <a:ln/>
        </p:spPr>
        <p:txBody>
          <a:bodyPr wrap="square" lIns="0" tIns="0" rIns="0" bIns="0" rtlCol="0" anchor="t"/>
          <a:lstStyle/>
          <a:p>
            <a:pPr marL="0" indent="0">
              <a:buNone/>
            </a:pPr>
            <a:r>
              <a:rPr lang="en-US" sz="900" b="1" kern="0" spc="100" dirty="0">
                <a:solidFill>
                  <a:srgbClr val="64748B"/>
                </a:solidFill>
                <a:latin typeface="Calibri" pitchFamily="34" charset="0"/>
                <a:ea typeface="Calibri" pitchFamily="34" charset="-122"/>
                <a:cs typeface="Calibri" pitchFamily="34" charset="-120"/>
              </a:rPr>
              <a:t>KPI gate</a:t>
            </a:r>
            <a:endParaRPr lang="en-US" sz="900" spc="100" dirty="0"/>
          </a:p>
        </p:txBody>
      </p:sp>
      <p:sp>
        <p:nvSpPr>
          <p:cNvPr id="37" name="Text 35"/>
          <p:cNvSpPr/>
          <p:nvPr/>
        </p:nvSpPr>
        <p:spPr>
          <a:xfrm>
            <a:off x="2103120" y="4910328"/>
            <a:ext cx="3840480" cy="365760"/>
          </a:xfrm>
          <a:prstGeom prst="rect">
            <a:avLst/>
          </a:prstGeom>
          <a:noFill/>
          <a:ln/>
        </p:spPr>
        <p:txBody>
          <a:bodyPr wrap="square" lIns="0" tIns="0" rIns="0" bIns="0" rtlCol="0" anchor="t"/>
          <a:lstStyle/>
          <a:p>
            <a:pPr marL="0" indent="0">
              <a:buNone/>
            </a:pPr>
            <a:r>
              <a:rPr lang="en-US" sz="1000" dirty="0">
                <a:solidFill>
                  <a:srgbClr val="0F172A"/>
                </a:solidFill>
                <a:latin typeface="Calibri" pitchFamily="34" charset="0"/>
                <a:ea typeface="Calibri" pitchFamily="34" charset="-122"/>
                <a:cs typeface="Calibri" pitchFamily="34" charset="-120"/>
              </a:rPr>
              <a:t>Y1: 5,000 outlets live with credit-shield attach &gt;5%; ₹100 Cr GWP run-rate</a:t>
            </a:r>
            <a:endParaRPr lang="en-US" sz="1000" dirty="0"/>
          </a:p>
        </p:txBody>
      </p:sp>
      <p:sp>
        <p:nvSpPr>
          <p:cNvPr id="38" name="Shape 36"/>
          <p:cNvSpPr/>
          <p:nvPr/>
        </p:nvSpPr>
        <p:spPr>
          <a:xfrm>
            <a:off x="6172200" y="3017520"/>
            <a:ext cx="5532120" cy="2331720"/>
          </a:xfrm>
          <a:prstGeom prst="rect">
            <a:avLst/>
          </a:prstGeom>
          <a:solidFill>
            <a:srgbClr val="FFFFFF"/>
          </a:solidFill>
          <a:ln w="19050">
            <a:solidFill>
              <a:srgbClr val="0F3D2E"/>
            </a:solidFill>
            <a:prstDash val="solid"/>
          </a:ln>
        </p:spPr>
        <p:txBody>
          <a:bodyPr/>
          <a:lstStyle/>
          <a:p>
            <a:endParaRPr lang="en-US"/>
          </a:p>
        </p:txBody>
      </p:sp>
      <p:sp>
        <p:nvSpPr>
          <p:cNvPr id="39" name="Shape 37"/>
          <p:cNvSpPr/>
          <p:nvPr/>
        </p:nvSpPr>
        <p:spPr>
          <a:xfrm>
            <a:off x="6172200" y="3017520"/>
            <a:ext cx="5532120" cy="365760"/>
          </a:xfrm>
          <a:prstGeom prst="rect">
            <a:avLst/>
          </a:prstGeom>
          <a:solidFill>
            <a:srgbClr val="0F3D2E"/>
          </a:solidFill>
          <a:ln/>
        </p:spPr>
        <p:txBody>
          <a:bodyPr/>
          <a:lstStyle/>
          <a:p>
            <a:endParaRPr lang="en-US"/>
          </a:p>
        </p:txBody>
      </p:sp>
      <p:sp>
        <p:nvSpPr>
          <p:cNvPr id="40" name="Text 38"/>
          <p:cNvSpPr/>
          <p:nvPr/>
        </p:nvSpPr>
        <p:spPr>
          <a:xfrm>
            <a:off x="6355080" y="3017520"/>
            <a:ext cx="5212080" cy="365760"/>
          </a:xfrm>
          <a:prstGeom prst="rect">
            <a:avLst/>
          </a:prstGeom>
          <a:noFill/>
          <a:ln/>
        </p:spPr>
        <p:txBody>
          <a:bodyPr wrap="square" lIns="0" tIns="0" rIns="0" bIns="0" rtlCol="0" anchor="ctr"/>
          <a:lstStyle/>
          <a:p>
            <a:pPr marL="0" indent="0">
              <a:buNone/>
            </a:pPr>
            <a:r>
              <a:rPr lang="en-US" sz="1100" b="1" kern="0" spc="100" dirty="0">
                <a:solidFill>
                  <a:srgbClr val="FFFFFF"/>
                </a:solidFill>
                <a:latin typeface="Calibri" pitchFamily="34" charset="0"/>
                <a:ea typeface="Calibri" pitchFamily="34" charset="-122"/>
                <a:cs typeface="Calibri" pitchFamily="34" charset="-120"/>
              </a:rPr>
              <a:t>DEAL 2  ·  WEBENGAGE  ·  FY28</a:t>
            </a:r>
            <a:endParaRPr lang="en-US" sz="1100" spc="100" dirty="0"/>
          </a:p>
        </p:txBody>
      </p:sp>
      <p:sp>
        <p:nvSpPr>
          <p:cNvPr id="41" name="Text 39"/>
          <p:cNvSpPr/>
          <p:nvPr/>
        </p:nvSpPr>
        <p:spPr>
          <a:xfrm>
            <a:off x="6355080" y="3520440"/>
            <a:ext cx="1371600" cy="320040"/>
          </a:xfrm>
          <a:prstGeom prst="rect">
            <a:avLst/>
          </a:prstGeom>
          <a:noFill/>
          <a:ln/>
        </p:spPr>
        <p:txBody>
          <a:bodyPr wrap="square" lIns="0" tIns="0" rIns="0" bIns="0" rtlCol="0" anchor="t"/>
          <a:lstStyle/>
          <a:p>
            <a:pPr marL="0" indent="0">
              <a:buNone/>
            </a:pPr>
            <a:r>
              <a:rPr lang="en-US" sz="900" b="1" kern="0" spc="100" dirty="0">
                <a:solidFill>
                  <a:srgbClr val="64748B"/>
                </a:solidFill>
                <a:latin typeface="Calibri" pitchFamily="34" charset="0"/>
                <a:ea typeface="Calibri" pitchFamily="34" charset="-122"/>
                <a:cs typeface="Calibri" pitchFamily="34" charset="-120"/>
              </a:rPr>
              <a:t>Ticket</a:t>
            </a:r>
            <a:endParaRPr lang="en-US" sz="900" spc="100" dirty="0"/>
          </a:p>
        </p:txBody>
      </p:sp>
      <p:sp>
        <p:nvSpPr>
          <p:cNvPr id="42" name="Text 40"/>
          <p:cNvSpPr/>
          <p:nvPr/>
        </p:nvSpPr>
        <p:spPr>
          <a:xfrm>
            <a:off x="7772400" y="3520440"/>
            <a:ext cx="3840480" cy="365760"/>
          </a:xfrm>
          <a:prstGeom prst="rect">
            <a:avLst/>
          </a:prstGeom>
          <a:noFill/>
          <a:ln/>
        </p:spPr>
        <p:txBody>
          <a:bodyPr wrap="square" lIns="0" tIns="0" rIns="0" bIns="0" rtlCol="0" anchor="t"/>
          <a:lstStyle/>
          <a:p>
            <a:pPr marL="0" indent="0">
              <a:buNone/>
            </a:pPr>
            <a:r>
              <a:rPr lang="en-US" sz="1000" dirty="0">
                <a:solidFill>
                  <a:srgbClr val="0F172A"/>
                </a:solidFill>
                <a:latin typeface="Calibri" pitchFamily="34" charset="0"/>
                <a:ea typeface="Calibri" pitchFamily="34" charset="-122"/>
                <a:cs typeface="Calibri" pitchFamily="34" charset="-120"/>
              </a:rPr>
              <a:t>$70-78M, all cash from IPO proceeds</a:t>
            </a:r>
            <a:endParaRPr lang="en-US" sz="1000" dirty="0"/>
          </a:p>
        </p:txBody>
      </p:sp>
      <p:sp>
        <p:nvSpPr>
          <p:cNvPr id="43" name="Text 41"/>
          <p:cNvSpPr/>
          <p:nvPr/>
        </p:nvSpPr>
        <p:spPr>
          <a:xfrm>
            <a:off x="6355080" y="3867912"/>
            <a:ext cx="1371600" cy="320040"/>
          </a:xfrm>
          <a:prstGeom prst="rect">
            <a:avLst/>
          </a:prstGeom>
          <a:noFill/>
          <a:ln/>
        </p:spPr>
        <p:txBody>
          <a:bodyPr wrap="square" lIns="0" tIns="0" rIns="0" bIns="0" rtlCol="0" anchor="t"/>
          <a:lstStyle/>
          <a:p>
            <a:pPr marL="0" indent="0">
              <a:buNone/>
            </a:pPr>
            <a:r>
              <a:rPr lang="en-US" sz="900" b="1" kern="0" spc="100" dirty="0">
                <a:solidFill>
                  <a:srgbClr val="64748B"/>
                </a:solidFill>
                <a:latin typeface="Calibri" pitchFamily="34" charset="0"/>
                <a:ea typeface="Calibri" pitchFamily="34" charset="-122"/>
                <a:cs typeface="Calibri" pitchFamily="34" charset="-120"/>
              </a:rPr>
              <a:t>Why second</a:t>
            </a:r>
            <a:endParaRPr lang="en-US" sz="900" spc="100" dirty="0"/>
          </a:p>
        </p:txBody>
      </p:sp>
      <p:sp>
        <p:nvSpPr>
          <p:cNvPr id="44" name="Text 42"/>
          <p:cNvSpPr/>
          <p:nvPr/>
        </p:nvSpPr>
        <p:spPr>
          <a:xfrm>
            <a:off x="7772400" y="3867912"/>
            <a:ext cx="3840480" cy="365760"/>
          </a:xfrm>
          <a:prstGeom prst="rect">
            <a:avLst/>
          </a:prstGeom>
          <a:noFill/>
          <a:ln/>
        </p:spPr>
        <p:txBody>
          <a:bodyPr wrap="square" lIns="0" tIns="0" rIns="0" bIns="0" rtlCol="0" anchor="t"/>
          <a:lstStyle/>
          <a:p>
            <a:pPr marL="0" indent="0">
              <a:buNone/>
            </a:pPr>
            <a:r>
              <a:rPr lang="en-US" sz="1000" dirty="0">
                <a:solidFill>
                  <a:srgbClr val="0F172A"/>
                </a:solidFill>
                <a:latin typeface="Calibri" pitchFamily="34" charset="0"/>
                <a:ea typeface="Calibri" pitchFamily="34" charset="-122"/>
                <a:cs typeface="Calibri" pitchFamily="34" charset="-120"/>
              </a:rPr>
              <a:t>Larger integration (~600 FTEs); benefits from track record on Deal 1</a:t>
            </a:r>
            <a:endParaRPr lang="en-US" sz="1000" dirty="0"/>
          </a:p>
        </p:txBody>
      </p:sp>
      <p:sp>
        <p:nvSpPr>
          <p:cNvPr id="45" name="Text 43"/>
          <p:cNvSpPr/>
          <p:nvPr/>
        </p:nvSpPr>
        <p:spPr>
          <a:xfrm>
            <a:off x="6355080" y="4215384"/>
            <a:ext cx="1371600" cy="320040"/>
          </a:xfrm>
          <a:prstGeom prst="rect">
            <a:avLst/>
          </a:prstGeom>
          <a:noFill/>
          <a:ln/>
        </p:spPr>
        <p:txBody>
          <a:bodyPr wrap="square" lIns="0" tIns="0" rIns="0" bIns="0" rtlCol="0" anchor="t"/>
          <a:lstStyle/>
          <a:p>
            <a:pPr marL="0" indent="0">
              <a:buNone/>
            </a:pPr>
            <a:r>
              <a:rPr lang="en-US" sz="900" b="1" kern="0" spc="100" dirty="0">
                <a:solidFill>
                  <a:srgbClr val="64748B"/>
                </a:solidFill>
                <a:latin typeface="Calibri" pitchFamily="34" charset="0"/>
                <a:ea typeface="Calibri" pitchFamily="34" charset="-122"/>
                <a:cs typeface="Calibri" pitchFamily="34" charset="-120"/>
              </a:rPr>
              <a:t>Owner inside</a:t>
            </a:r>
            <a:endParaRPr lang="en-US" sz="900" spc="100" dirty="0"/>
          </a:p>
        </p:txBody>
      </p:sp>
      <p:sp>
        <p:nvSpPr>
          <p:cNvPr id="46" name="Text 44"/>
          <p:cNvSpPr/>
          <p:nvPr/>
        </p:nvSpPr>
        <p:spPr>
          <a:xfrm>
            <a:off x="7772400" y="4215384"/>
            <a:ext cx="3840480" cy="365760"/>
          </a:xfrm>
          <a:prstGeom prst="rect">
            <a:avLst/>
          </a:prstGeom>
          <a:noFill/>
          <a:ln/>
        </p:spPr>
        <p:txBody>
          <a:bodyPr wrap="square" lIns="0" tIns="0" rIns="0" bIns="0" rtlCol="0" anchor="t"/>
          <a:lstStyle/>
          <a:p>
            <a:pPr marL="0" indent="0">
              <a:buNone/>
            </a:pPr>
            <a:r>
              <a:rPr lang="en-US" sz="1000" dirty="0">
                <a:solidFill>
                  <a:srgbClr val="0F172A"/>
                </a:solidFill>
                <a:latin typeface="Calibri" pitchFamily="34" charset="0"/>
                <a:ea typeface="Calibri" pitchFamily="34" charset="-122"/>
                <a:cs typeface="Calibri" pitchFamily="34" charset="-120"/>
              </a:rPr>
              <a:t>Standalone subsidiary like Qwikcilver — preserve founder-led culture</a:t>
            </a:r>
            <a:endParaRPr lang="en-US" sz="1000" dirty="0"/>
          </a:p>
        </p:txBody>
      </p:sp>
      <p:sp>
        <p:nvSpPr>
          <p:cNvPr id="47" name="Text 45"/>
          <p:cNvSpPr/>
          <p:nvPr/>
        </p:nvSpPr>
        <p:spPr>
          <a:xfrm>
            <a:off x="6355080" y="4562856"/>
            <a:ext cx="1371600" cy="320040"/>
          </a:xfrm>
          <a:prstGeom prst="rect">
            <a:avLst/>
          </a:prstGeom>
          <a:noFill/>
          <a:ln/>
        </p:spPr>
        <p:txBody>
          <a:bodyPr wrap="square" lIns="0" tIns="0" rIns="0" bIns="0" rtlCol="0" anchor="t"/>
          <a:lstStyle/>
          <a:p>
            <a:pPr marL="0" indent="0">
              <a:buNone/>
            </a:pPr>
            <a:r>
              <a:rPr lang="en-US" sz="900" b="1" kern="0" spc="100" dirty="0">
                <a:solidFill>
                  <a:srgbClr val="64748B"/>
                </a:solidFill>
                <a:latin typeface="Calibri" pitchFamily="34" charset="0"/>
                <a:ea typeface="Calibri" pitchFamily="34" charset="-122"/>
                <a:cs typeface="Calibri" pitchFamily="34" charset="-120"/>
              </a:rPr>
              <a:t>Close target</a:t>
            </a:r>
            <a:endParaRPr lang="en-US" sz="900" spc="100" dirty="0"/>
          </a:p>
        </p:txBody>
      </p:sp>
      <p:sp>
        <p:nvSpPr>
          <p:cNvPr id="48" name="Text 46"/>
          <p:cNvSpPr/>
          <p:nvPr/>
        </p:nvSpPr>
        <p:spPr>
          <a:xfrm>
            <a:off x="7772400" y="4562856"/>
            <a:ext cx="3840480" cy="365760"/>
          </a:xfrm>
          <a:prstGeom prst="rect">
            <a:avLst/>
          </a:prstGeom>
          <a:noFill/>
          <a:ln/>
        </p:spPr>
        <p:txBody>
          <a:bodyPr wrap="square" lIns="0" tIns="0" rIns="0" bIns="0" rtlCol="0" anchor="t"/>
          <a:lstStyle/>
          <a:p>
            <a:pPr marL="0" indent="0">
              <a:buNone/>
            </a:pPr>
            <a:r>
              <a:rPr lang="en-US" sz="1000" dirty="0">
                <a:solidFill>
                  <a:srgbClr val="0F172A"/>
                </a:solidFill>
                <a:latin typeface="Calibri" pitchFamily="34" charset="0"/>
                <a:ea typeface="Calibri" pitchFamily="34" charset="-122"/>
                <a:cs typeface="Calibri" pitchFamily="34" charset="-120"/>
              </a:rPr>
              <a:t>12 months from LOI — founder-rollover negotiation is the gating item</a:t>
            </a:r>
            <a:endParaRPr lang="en-US" sz="1000" dirty="0"/>
          </a:p>
        </p:txBody>
      </p:sp>
      <p:sp>
        <p:nvSpPr>
          <p:cNvPr id="49" name="Text 47"/>
          <p:cNvSpPr/>
          <p:nvPr/>
        </p:nvSpPr>
        <p:spPr>
          <a:xfrm>
            <a:off x="6355080" y="4910328"/>
            <a:ext cx="1371600" cy="320040"/>
          </a:xfrm>
          <a:prstGeom prst="rect">
            <a:avLst/>
          </a:prstGeom>
          <a:noFill/>
          <a:ln/>
        </p:spPr>
        <p:txBody>
          <a:bodyPr wrap="square" lIns="0" tIns="0" rIns="0" bIns="0" rtlCol="0" anchor="t"/>
          <a:lstStyle/>
          <a:p>
            <a:pPr marL="0" indent="0">
              <a:buNone/>
            </a:pPr>
            <a:r>
              <a:rPr lang="en-US" sz="900" b="1" kern="0" spc="100" dirty="0">
                <a:solidFill>
                  <a:srgbClr val="64748B"/>
                </a:solidFill>
                <a:latin typeface="Calibri" pitchFamily="34" charset="0"/>
                <a:ea typeface="Calibri" pitchFamily="34" charset="-122"/>
                <a:cs typeface="Calibri" pitchFamily="34" charset="-120"/>
              </a:rPr>
              <a:t>KPI gate</a:t>
            </a:r>
            <a:endParaRPr lang="en-US" sz="900" spc="100" dirty="0"/>
          </a:p>
        </p:txBody>
      </p:sp>
      <p:sp>
        <p:nvSpPr>
          <p:cNvPr id="50" name="Text 48"/>
          <p:cNvSpPr/>
          <p:nvPr/>
        </p:nvSpPr>
        <p:spPr>
          <a:xfrm>
            <a:off x="7772400" y="4910328"/>
            <a:ext cx="3840480" cy="365760"/>
          </a:xfrm>
          <a:prstGeom prst="rect">
            <a:avLst/>
          </a:prstGeom>
          <a:noFill/>
          <a:ln/>
        </p:spPr>
        <p:txBody>
          <a:bodyPr wrap="square" lIns="0" tIns="0" rIns="0" bIns="0" rtlCol="0" anchor="t"/>
          <a:lstStyle/>
          <a:p>
            <a:pPr marL="0" indent="0">
              <a:buNone/>
            </a:pPr>
            <a:r>
              <a:rPr lang="en-US" sz="1000" dirty="0">
                <a:solidFill>
                  <a:srgbClr val="0F172A"/>
                </a:solidFill>
                <a:latin typeface="Calibri" pitchFamily="34" charset="0"/>
                <a:ea typeface="Calibri" pitchFamily="34" charset="-122"/>
                <a:cs typeface="Calibri" pitchFamily="34" charset="-120"/>
              </a:rPr>
              <a:t>Y1: 6 of top 10 PL customers signed bundled PL + WebEngage contracts</a:t>
            </a:r>
            <a:endParaRPr lang="en-US" sz="1000" dirty="0"/>
          </a:p>
        </p:txBody>
      </p:sp>
      <p:sp>
        <p:nvSpPr>
          <p:cNvPr id="51" name="Shape 49"/>
          <p:cNvSpPr/>
          <p:nvPr/>
        </p:nvSpPr>
        <p:spPr>
          <a:xfrm>
            <a:off x="502920" y="5532120"/>
            <a:ext cx="11201400" cy="868680"/>
          </a:xfrm>
          <a:prstGeom prst="rect">
            <a:avLst/>
          </a:prstGeom>
          <a:solidFill>
            <a:srgbClr val="0B1A14"/>
          </a:solidFill>
          <a:ln/>
        </p:spPr>
        <p:txBody>
          <a:bodyPr/>
          <a:lstStyle/>
          <a:p>
            <a:endParaRPr lang="en-US"/>
          </a:p>
        </p:txBody>
      </p:sp>
      <p:sp>
        <p:nvSpPr>
          <p:cNvPr id="52" name="Shape 50"/>
          <p:cNvSpPr/>
          <p:nvPr/>
        </p:nvSpPr>
        <p:spPr>
          <a:xfrm>
            <a:off x="502920" y="5532120"/>
            <a:ext cx="109728" cy="868680"/>
          </a:xfrm>
          <a:prstGeom prst="rect">
            <a:avLst/>
          </a:prstGeom>
          <a:solidFill>
            <a:srgbClr val="86EFAC"/>
          </a:solidFill>
          <a:ln/>
        </p:spPr>
        <p:txBody>
          <a:bodyPr/>
          <a:lstStyle/>
          <a:p>
            <a:endParaRPr lang="en-US"/>
          </a:p>
        </p:txBody>
      </p:sp>
      <p:sp>
        <p:nvSpPr>
          <p:cNvPr id="53" name="Text 51"/>
          <p:cNvSpPr/>
          <p:nvPr/>
        </p:nvSpPr>
        <p:spPr>
          <a:xfrm>
            <a:off x="777240" y="5605272"/>
            <a:ext cx="3657600" cy="228600"/>
          </a:xfrm>
          <a:prstGeom prst="rect">
            <a:avLst/>
          </a:prstGeom>
          <a:noFill/>
          <a:ln/>
        </p:spPr>
        <p:txBody>
          <a:bodyPr wrap="square" lIns="0" tIns="0" rIns="0" bIns="0" rtlCol="0" anchor="ctr"/>
          <a:lstStyle/>
          <a:p>
            <a:pPr marL="0" indent="0">
              <a:buNone/>
            </a:pPr>
            <a:r>
              <a:rPr lang="en-US" sz="1000" b="1" kern="0" spc="100" dirty="0">
                <a:solidFill>
                  <a:srgbClr val="86EFAC"/>
                </a:solidFill>
                <a:latin typeface="Calibri" pitchFamily="34" charset="0"/>
                <a:ea typeface="Calibri" pitchFamily="34" charset="-122"/>
                <a:cs typeface="Calibri" pitchFamily="34" charset="-120"/>
              </a:rPr>
              <a:t>IF I JOIN — FIRST 90 DAYS</a:t>
            </a:r>
            <a:endParaRPr lang="en-US" sz="1000" spc="100" dirty="0"/>
          </a:p>
        </p:txBody>
      </p:sp>
      <p:sp>
        <p:nvSpPr>
          <p:cNvPr id="54" name="Text 52"/>
          <p:cNvSpPr/>
          <p:nvPr/>
        </p:nvSpPr>
        <p:spPr>
          <a:xfrm>
            <a:off x="777240" y="5852160"/>
            <a:ext cx="10835640" cy="548640"/>
          </a:xfrm>
          <a:prstGeom prst="rect">
            <a:avLst/>
          </a:prstGeom>
          <a:noFill/>
          <a:ln/>
        </p:spPr>
        <p:txBody>
          <a:bodyPr wrap="square" lIns="0" tIns="0" rIns="0" bIns="0" rtlCol="0" anchor="t"/>
          <a:lstStyle/>
          <a:p>
            <a:pPr marL="0" indent="0">
              <a:buNone/>
            </a:pPr>
            <a:r>
              <a:rPr lang="en-US" sz="1050" dirty="0">
                <a:solidFill>
                  <a:srgbClr val="FFFFFF"/>
                </a:solidFill>
                <a:latin typeface="Calibri" pitchFamily="34" charset="0"/>
                <a:ea typeface="Calibri" pitchFamily="34" charset="-122"/>
                <a:cs typeface="Calibri" pitchFamily="34" charset="-120"/>
              </a:rPr>
              <a:t>Week 1-4: confirm Riskcovry preliminary diligence, validate insurer integration depth   ·   Week 5-8: model the top-10 wallet impact with internal PL data   ·   Week 9-12: socialise thesis with business heads (Affordability, Setu, Credit+), pressure-test attach assumptions, line up LOI for Riskcovry</a:t>
            </a:r>
            <a:endParaRPr lang="en-US" sz="1050" dirty="0"/>
          </a:p>
        </p:txBody>
      </p:sp>
      <p:pic>
        <p:nvPicPr>
          <p:cNvPr id="55" name="Picture 2" descr="Pine Labs Launches Paper POS, a Merged QR Product to Accept Payments via  UPI and Bharat QR Apps">
            <a:extLst>
              <a:ext uri="{FF2B5EF4-FFF2-40B4-BE49-F238E27FC236}">
                <a16:creationId xmlns:a16="http://schemas.microsoft.com/office/drawing/2014/main" id="{5FB166A6-F2DE-7A4F-6F31-C146582A2CD3}"/>
              </a:ext>
            </a:extLst>
          </p:cNvPr>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1177016" y="-102584"/>
            <a:ext cx="1115568" cy="58451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16A34A"/>
          </a:solidFill>
          <a:ln/>
        </p:spPr>
        <p:txBody>
          <a:bodyPr/>
          <a:lstStyle/>
          <a:p>
            <a:endParaRPr lang="en-US"/>
          </a:p>
        </p:txBody>
      </p:sp>
      <p:sp>
        <p:nvSpPr>
          <p:cNvPr id="3" name="Text 1"/>
          <p:cNvSpPr/>
          <p:nvPr/>
        </p:nvSpPr>
        <p:spPr>
          <a:xfrm>
            <a:off x="457200" y="201168"/>
            <a:ext cx="10058400" cy="256032"/>
          </a:xfrm>
          <a:prstGeom prst="rect">
            <a:avLst/>
          </a:prstGeom>
          <a:noFill/>
          <a:ln/>
        </p:spPr>
        <p:txBody>
          <a:bodyPr wrap="square" lIns="0" tIns="0" rIns="0" bIns="0" rtlCol="0" anchor="ctr"/>
          <a:lstStyle/>
          <a:p>
            <a:pPr marL="0" indent="0">
              <a:buNone/>
            </a:pPr>
            <a:r>
              <a:rPr lang="en-US" sz="900" b="1" kern="0" spc="100" dirty="0">
                <a:solidFill>
                  <a:srgbClr val="16A34A"/>
                </a:solidFill>
                <a:latin typeface="Calibri" pitchFamily="34" charset="0"/>
                <a:ea typeface="Calibri" pitchFamily="34" charset="-122"/>
                <a:cs typeface="Calibri" pitchFamily="34" charset="-120"/>
              </a:rPr>
              <a:t>APPENDIX</a:t>
            </a:r>
            <a:endParaRPr lang="en-US" sz="900" spc="100" dirty="0"/>
          </a:p>
        </p:txBody>
      </p:sp>
      <p:sp>
        <p:nvSpPr>
          <p:cNvPr id="4" name="Text 2"/>
          <p:cNvSpPr/>
          <p:nvPr/>
        </p:nvSpPr>
        <p:spPr>
          <a:xfrm>
            <a:off x="457200" y="457200"/>
            <a:ext cx="11247120" cy="731520"/>
          </a:xfrm>
          <a:prstGeom prst="rect">
            <a:avLst/>
          </a:prstGeom>
          <a:noFill/>
          <a:ln/>
        </p:spPr>
        <p:txBody>
          <a:bodyPr wrap="square" lIns="0" tIns="0" rIns="0" bIns="0" rtlCol="0" anchor="ctr"/>
          <a:lstStyle/>
          <a:p>
            <a:pPr marL="0" indent="0">
              <a:buNone/>
            </a:pPr>
            <a:r>
              <a:rPr lang="en-US" sz="2200" b="1" dirty="0">
                <a:solidFill>
                  <a:srgbClr val="0F172A"/>
                </a:solidFill>
                <a:latin typeface="Calibri" pitchFamily="34" charset="0"/>
                <a:ea typeface="Calibri" pitchFamily="34" charset="-122"/>
                <a:cs typeface="Calibri" pitchFamily="34" charset="-120"/>
              </a:rPr>
              <a:t>Key assumptions, sources, and the things I'd validate inside Pine Labs before committing the cheque</a:t>
            </a:r>
            <a:endParaRPr lang="en-US" sz="2200" dirty="0"/>
          </a:p>
        </p:txBody>
      </p:sp>
      <p:sp>
        <p:nvSpPr>
          <p:cNvPr id="5" name="Shape 3"/>
          <p:cNvSpPr/>
          <p:nvPr/>
        </p:nvSpPr>
        <p:spPr>
          <a:xfrm>
            <a:off x="457200" y="1188720"/>
            <a:ext cx="11247120" cy="13716"/>
          </a:xfrm>
          <a:prstGeom prst="rect">
            <a:avLst/>
          </a:prstGeom>
          <a:solidFill>
            <a:srgbClr val="E2E8F0"/>
          </a:solidFill>
          <a:ln/>
        </p:spPr>
        <p:txBody>
          <a:bodyPr/>
          <a:lstStyle/>
          <a:p>
            <a:endParaRPr lang="en-US"/>
          </a:p>
        </p:txBody>
      </p:sp>
      <p:sp>
        <p:nvSpPr>
          <p:cNvPr id="6" name="Text 4"/>
          <p:cNvSpPr/>
          <p:nvPr/>
        </p:nvSpPr>
        <p:spPr>
          <a:xfrm>
            <a:off x="457200" y="6492240"/>
            <a:ext cx="6400800" cy="256032"/>
          </a:xfrm>
          <a:prstGeom prst="rect">
            <a:avLst/>
          </a:prstGeom>
          <a:noFill/>
          <a:ln/>
        </p:spPr>
        <p:txBody>
          <a:bodyPr wrap="square" lIns="0" tIns="0" rIns="0" bIns="0" rtlCol="0" anchor="ctr"/>
          <a:lstStyle/>
          <a:p>
            <a:pPr marL="0" indent="0">
              <a:buNone/>
            </a:pPr>
            <a:r>
              <a:rPr lang="en-US" sz="900" i="1" dirty="0">
                <a:solidFill>
                  <a:srgbClr val="64748B"/>
                </a:solidFill>
                <a:latin typeface="Calibri" pitchFamily="34" charset="0"/>
                <a:ea typeface="Calibri" pitchFamily="34" charset="-122"/>
                <a:cs typeface="Calibri" pitchFamily="34" charset="-120"/>
              </a:rPr>
              <a:t>Pine Labs — Corporate Development</a:t>
            </a:r>
            <a:endParaRPr lang="en-US" sz="900" dirty="0"/>
          </a:p>
        </p:txBody>
      </p:sp>
      <p:sp>
        <p:nvSpPr>
          <p:cNvPr id="7" name="Text 5"/>
          <p:cNvSpPr/>
          <p:nvPr/>
        </p:nvSpPr>
        <p:spPr>
          <a:xfrm>
            <a:off x="6858000" y="6492240"/>
            <a:ext cx="2743200" cy="256032"/>
          </a:xfrm>
          <a:prstGeom prst="rect">
            <a:avLst/>
          </a:prstGeom>
          <a:noFill/>
          <a:ln/>
        </p:spPr>
        <p:txBody>
          <a:bodyPr wrap="square" lIns="0" tIns="0" rIns="0" bIns="0" rtlCol="0" anchor="ctr"/>
          <a:lstStyle/>
          <a:p>
            <a:pPr marL="0" indent="0" algn="ctr">
              <a:buNone/>
            </a:pPr>
            <a:r>
              <a:rPr lang="en-US" sz="900" i="1" dirty="0">
                <a:solidFill>
                  <a:srgbClr val="64748B"/>
                </a:solidFill>
                <a:latin typeface="Calibri" pitchFamily="34" charset="0"/>
                <a:ea typeface="Calibri" pitchFamily="34" charset="-122"/>
                <a:cs typeface="Calibri" pitchFamily="34" charset="-120"/>
              </a:rPr>
              <a:t>Strictly Confidential</a:t>
            </a:r>
            <a:endParaRPr lang="en-US" sz="900" dirty="0"/>
          </a:p>
        </p:txBody>
      </p:sp>
      <p:sp>
        <p:nvSpPr>
          <p:cNvPr id="8" name="Text 6"/>
          <p:cNvSpPr/>
          <p:nvPr/>
        </p:nvSpPr>
        <p:spPr>
          <a:xfrm>
            <a:off x="10515600" y="6492240"/>
            <a:ext cx="1188720" cy="256032"/>
          </a:xfrm>
          <a:prstGeom prst="rect">
            <a:avLst/>
          </a:prstGeom>
          <a:noFill/>
          <a:ln/>
        </p:spPr>
        <p:txBody>
          <a:bodyPr wrap="square" lIns="0" tIns="0" rIns="0" bIns="0" rtlCol="0" anchor="ctr"/>
          <a:lstStyle/>
          <a:p>
            <a:pPr marL="0" indent="0" algn="r">
              <a:buNone/>
            </a:pPr>
            <a:r>
              <a:rPr lang="en-US" sz="900" b="1" dirty="0">
                <a:solidFill>
                  <a:srgbClr val="64748B"/>
                </a:solidFill>
                <a:latin typeface="Calibri" pitchFamily="34" charset="0"/>
                <a:ea typeface="Calibri" pitchFamily="34" charset="-122"/>
                <a:cs typeface="Calibri" pitchFamily="34" charset="-120"/>
              </a:rPr>
              <a:t>20</a:t>
            </a:r>
            <a:endParaRPr lang="en-US" sz="900" dirty="0"/>
          </a:p>
        </p:txBody>
      </p:sp>
      <p:sp>
        <p:nvSpPr>
          <p:cNvPr id="9" name="Shape 7"/>
          <p:cNvSpPr/>
          <p:nvPr/>
        </p:nvSpPr>
        <p:spPr>
          <a:xfrm>
            <a:off x="502920" y="1417320"/>
            <a:ext cx="3657600" cy="4434840"/>
          </a:xfrm>
          <a:prstGeom prst="rect">
            <a:avLst/>
          </a:prstGeom>
          <a:solidFill>
            <a:srgbClr val="FFFFFF"/>
          </a:solidFill>
          <a:ln w="6350">
            <a:solidFill>
              <a:srgbClr val="E2E8F0"/>
            </a:solidFill>
            <a:prstDash val="solid"/>
          </a:ln>
        </p:spPr>
        <p:txBody>
          <a:bodyPr/>
          <a:lstStyle/>
          <a:p>
            <a:endParaRPr lang="en-US"/>
          </a:p>
        </p:txBody>
      </p:sp>
      <p:sp>
        <p:nvSpPr>
          <p:cNvPr id="10" name="Shape 8"/>
          <p:cNvSpPr/>
          <p:nvPr/>
        </p:nvSpPr>
        <p:spPr>
          <a:xfrm>
            <a:off x="502920" y="1417320"/>
            <a:ext cx="3657600" cy="365760"/>
          </a:xfrm>
          <a:prstGeom prst="rect">
            <a:avLst/>
          </a:prstGeom>
          <a:solidFill>
            <a:srgbClr val="0F3D2E"/>
          </a:solidFill>
          <a:ln/>
        </p:spPr>
        <p:txBody>
          <a:bodyPr/>
          <a:lstStyle/>
          <a:p>
            <a:endParaRPr lang="en-US" spc="100"/>
          </a:p>
        </p:txBody>
      </p:sp>
      <p:sp>
        <p:nvSpPr>
          <p:cNvPr id="11" name="Text 9"/>
          <p:cNvSpPr/>
          <p:nvPr/>
        </p:nvSpPr>
        <p:spPr>
          <a:xfrm>
            <a:off x="685800" y="1417320"/>
            <a:ext cx="3291840" cy="365760"/>
          </a:xfrm>
          <a:prstGeom prst="rect">
            <a:avLst/>
          </a:prstGeom>
          <a:noFill/>
          <a:ln/>
        </p:spPr>
        <p:txBody>
          <a:bodyPr wrap="square" lIns="0" tIns="0" rIns="0" bIns="0" rtlCol="0" anchor="ctr"/>
          <a:lstStyle/>
          <a:p>
            <a:pPr marL="0" indent="0">
              <a:buNone/>
            </a:pPr>
            <a:r>
              <a:rPr lang="en-US" sz="1000" b="1" kern="0" spc="100" dirty="0">
                <a:solidFill>
                  <a:srgbClr val="FFFFFF"/>
                </a:solidFill>
                <a:latin typeface="Calibri" pitchFamily="34" charset="0"/>
                <a:ea typeface="Calibri" pitchFamily="34" charset="-122"/>
                <a:cs typeface="Calibri" pitchFamily="34" charset="-120"/>
              </a:rPr>
              <a:t>KEY MODEL ASSUMPTIONS</a:t>
            </a:r>
            <a:endParaRPr lang="en-US" sz="1000" spc="100" dirty="0"/>
          </a:p>
        </p:txBody>
      </p:sp>
      <p:sp>
        <p:nvSpPr>
          <p:cNvPr id="12" name="Text 10"/>
          <p:cNvSpPr/>
          <p:nvPr/>
        </p:nvSpPr>
        <p:spPr>
          <a:xfrm>
            <a:off x="685800" y="1920240"/>
            <a:ext cx="3291840" cy="3794760"/>
          </a:xfrm>
          <a:prstGeom prst="rect">
            <a:avLst/>
          </a:prstGeom>
          <a:noFill/>
          <a:ln/>
        </p:spPr>
        <p:txBody>
          <a:bodyPr wrap="square" lIns="0" tIns="0" rIns="0" bIns="0" rtlCol="0" anchor="t"/>
          <a:lstStyle/>
          <a:p>
            <a:pPr marL="0" indent="0">
              <a:spcAft>
                <a:spcPts val="200"/>
              </a:spcAft>
              <a:buNone/>
            </a:pPr>
            <a:r>
              <a:rPr lang="en-US" sz="950" b="1" dirty="0">
                <a:solidFill>
                  <a:srgbClr val="16A34A"/>
                </a:solidFill>
                <a:latin typeface="Calibri" pitchFamily="34" charset="0"/>
                <a:ea typeface="Calibri" pitchFamily="34" charset="-122"/>
                <a:cs typeface="Calibri" pitchFamily="34" charset="-120"/>
              </a:rPr>
              <a:t>Riskcovry</a:t>
            </a:r>
            <a:endParaRPr lang="en-US" sz="950" dirty="0"/>
          </a:p>
          <a:p>
            <a:pPr marL="0" indent="0">
              <a:spcAft>
                <a:spcPts val="200"/>
              </a:spcAft>
              <a:buNone/>
            </a:pPr>
            <a:r>
              <a:rPr lang="en-US" sz="950" dirty="0">
                <a:solidFill>
                  <a:srgbClr val="0F172A"/>
                </a:solidFill>
                <a:latin typeface="Calibri" pitchFamily="34" charset="0"/>
                <a:ea typeface="Calibri" pitchFamily="34" charset="-122"/>
                <a:cs typeface="Calibri" pitchFamily="34" charset="-120"/>
              </a:rPr>
              <a:t>•  Credit-shield attach: 12% by Y3 (Klarna/Tabby benchmark 8-15%)</a:t>
            </a:r>
            <a:endParaRPr lang="en-US" sz="950" dirty="0"/>
          </a:p>
          <a:p>
            <a:pPr marL="0" indent="0">
              <a:spcAft>
                <a:spcPts val="200"/>
              </a:spcAft>
              <a:buNone/>
            </a:pPr>
            <a:r>
              <a:rPr lang="en-US" sz="950" dirty="0">
                <a:solidFill>
                  <a:srgbClr val="0F172A"/>
                </a:solidFill>
                <a:latin typeface="Calibri" pitchFamily="34" charset="0"/>
                <a:ea typeface="Calibri" pitchFamily="34" charset="-122"/>
                <a:cs typeface="Calibri" pitchFamily="34" charset="-120"/>
              </a:rPr>
              <a:t>•  Device-protection attach: 5% by Y3 (Croma trained-floor benchmark 3-4%)</a:t>
            </a:r>
            <a:endParaRPr lang="en-US" sz="950" dirty="0"/>
          </a:p>
          <a:p>
            <a:pPr marL="0" indent="0">
              <a:spcAft>
                <a:spcPts val="200"/>
              </a:spcAft>
              <a:buNone/>
            </a:pPr>
            <a:r>
              <a:rPr lang="en-US" sz="950" dirty="0">
                <a:solidFill>
                  <a:srgbClr val="0F172A"/>
                </a:solidFill>
                <a:latin typeface="Calibri" pitchFamily="34" charset="0"/>
                <a:ea typeface="Calibri" pitchFamily="34" charset="-122"/>
                <a:cs typeface="Calibri" pitchFamily="34" charset="-120"/>
              </a:rPr>
              <a:t>•  Avg premium: ₹400-500; commission: 20-25% (IRDAI cap)</a:t>
            </a:r>
            <a:endParaRPr lang="en-US" sz="950" dirty="0"/>
          </a:p>
          <a:p>
            <a:pPr marL="0" indent="0">
              <a:spcAft>
                <a:spcPts val="200"/>
              </a:spcAft>
              <a:buNone/>
            </a:pPr>
            <a:r>
              <a:rPr lang="en-US" sz="950" dirty="0">
                <a:solidFill>
                  <a:srgbClr val="0F172A"/>
                </a:solidFill>
                <a:latin typeface="Calibri" pitchFamily="34" charset="0"/>
                <a:ea typeface="Calibri" pitchFamily="34" charset="-122"/>
                <a:cs typeface="Calibri" pitchFamily="34" charset="-120"/>
              </a:rPr>
              <a:t>•  Bancassurance SaaS: 25 banks at ₹2 Cr/year by Y3</a:t>
            </a:r>
            <a:endParaRPr lang="en-US" sz="950" dirty="0"/>
          </a:p>
          <a:p>
            <a:pPr marL="0" indent="0">
              <a:spcAft>
                <a:spcPts val="200"/>
              </a:spcAft>
              <a:buNone/>
            </a:pPr>
            <a:r>
              <a:rPr lang="en-US" sz="950" dirty="0">
                <a:solidFill>
                  <a:srgbClr val="0F172A"/>
                </a:solidFill>
                <a:latin typeface="Calibri" pitchFamily="34" charset="0"/>
                <a:ea typeface="Calibri" pitchFamily="34" charset="-122"/>
                <a:cs typeface="Calibri" pitchFamily="34" charset="-120"/>
              </a:rPr>
              <a:t> </a:t>
            </a:r>
            <a:endParaRPr lang="en-US" sz="950" dirty="0"/>
          </a:p>
          <a:p>
            <a:pPr marL="0" indent="0">
              <a:spcAft>
                <a:spcPts val="200"/>
              </a:spcAft>
              <a:buNone/>
            </a:pPr>
            <a:r>
              <a:rPr lang="en-US" sz="950" b="1" dirty="0">
                <a:solidFill>
                  <a:srgbClr val="16A34A"/>
                </a:solidFill>
                <a:latin typeface="Calibri" pitchFamily="34" charset="0"/>
                <a:ea typeface="Calibri" pitchFamily="34" charset="-122"/>
                <a:cs typeface="Calibri" pitchFamily="34" charset="-120"/>
              </a:rPr>
              <a:t>WebEngage</a:t>
            </a:r>
            <a:endParaRPr lang="en-US" sz="950" dirty="0"/>
          </a:p>
          <a:p>
            <a:pPr marL="0" indent="0">
              <a:spcAft>
                <a:spcPts val="200"/>
              </a:spcAft>
              <a:buNone/>
            </a:pPr>
            <a:r>
              <a:rPr lang="en-US" sz="950" dirty="0">
                <a:solidFill>
                  <a:srgbClr val="0F172A"/>
                </a:solidFill>
                <a:latin typeface="Calibri" pitchFamily="34" charset="0"/>
                <a:ea typeface="Calibri" pitchFamily="34" charset="-122"/>
                <a:cs typeface="Calibri" pitchFamily="34" charset="-120"/>
              </a:rPr>
              <a:t>•  6 of top-10 PL customers already on WebEngage</a:t>
            </a:r>
            <a:endParaRPr lang="en-US" sz="950" dirty="0"/>
          </a:p>
          <a:p>
            <a:pPr marL="0" indent="0">
              <a:spcAft>
                <a:spcPts val="200"/>
              </a:spcAft>
              <a:buNone/>
            </a:pPr>
            <a:r>
              <a:rPr lang="en-US" sz="950" dirty="0">
                <a:solidFill>
                  <a:srgbClr val="0F172A"/>
                </a:solidFill>
                <a:latin typeface="Calibri" pitchFamily="34" charset="0"/>
                <a:ea typeface="Calibri" pitchFamily="34" charset="-122"/>
                <a:cs typeface="Calibri" pitchFamily="34" charset="-120"/>
              </a:rPr>
              <a:t>•  Bundle uplift ARPU: ₹4-6 Cr/year per top-10 account</a:t>
            </a:r>
            <a:endParaRPr lang="en-US" sz="950" dirty="0"/>
          </a:p>
          <a:p>
            <a:pPr marL="0" indent="0">
              <a:spcAft>
                <a:spcPts val="200"/>
              </a:spcAft>
              <a:buNone/>
            </a:pPr>
            <a:r>
              <a:rPr lang="en-US" sz="950" dirty="0">
                <a:solidFill>
                  <a:srgbClr val="0F172A"/>
                </a:solidFill>
                <a:latin typeface="Calibri" pitchFamily="34" charset="0"/>
                <a:ea typeface="Calibri" pitchFamily="34" charset="-122"/>
                <a:cs typeface="Calibri" pitchFamily="34" charset="-120"/>
              </a:rPr>
              <a:t>•  India brand base: 800+ today, 1,200+ by Y3</a:t>
            </a:r>
            <a:endParaRPr lang="en-US" sz="950" dirty="0"/>
          </a:p>
          <a:p>
            <a:pPr marL="0" indent="0">
              <a:spcAft>
                <a:spcPts val="200"/>
              </a:spcAft>
              <a:buNone/>
            </a:pPr>
            <a:r>
              <a:rPr lang="en-US" sz="950" dirty="0">
                <a:solidFill>
                  <a:srgbClr val="0F172A"/>
                </a:solidFill>
                <a:latin typeface="Calibri" pitchFamily="34" charset="0"/>
                <a:ea typeface="Calibri" pitchFamily="34" charset="-122"/>
                <a:cs typeface="Calibri" pitchFamily="34" charset="-120"/>
              </a:rPr>
              <a:t>•  WebEngage standalone growth: ~35% CAGR FY25-FY28</a:t>
            </a:r>
            <a:endParaRPr lang="en-US" sz="950" dirty="0"/>
          </a:p>
        </p:txBody>
      </p:sp>
      <p:sp>
        <p:nvSpPr>
          <p:cNvPr id="13" name="Shape 11"/>
          <p:cNvSpPr/>
          <p:nvPr/>
        </p:nvSpPr>
        <p:spPr>
          <a:xfrm>
            <a:off x="4251960" y="1417320"/>
            <a:ext cx="3657600" cy="4434840"/>
          </a:xfrm>
          <a:prstGeom prst="rect">
            <a:avLst/>
          </a:prstGeom>
          <a:solidFill>
            <a:srgbClr val="FFFFFF"/>
          </a:solidFill>
          <a:ln w="6350">
            <a:solidFill>
              <a:srgbClr val="E2E8F0"/>
            </a:solidFill>
            <a:prstDash val="solid"/>
          </a:ln>
        </p:spPr>
        <p:txBody>
          <a:bodyPr/>
          <a:lstStyle/>
          <a:p>
            <a:endParaRPr lang="en-US"/>
          </a:p>
        </p:txBody>
      </p:sp>
      <p:sp>
        <p:nvSpPr>
          <p:cNvPr id="14" name="Shape 12"/>
          <p:cNvSpPr/>
          <p:nvPr/>
        </p:nvSpPr>
        <p:spPr>
          <a:xfrm>
            <a:off x="4251960" y="1417320"/>
            <a:ext cx="3657600" cy="365760"/>
          </a:xfrm>
          <a:prstGeom prst="rect">
            <a:avLst/>
          </a:prstGeom>
          <a:solidFill>
            <a:srgbClr val="0F3D2E"/>
          </a:solidFill>
          <a:ln/>
        </p:spPr>
        <p:txBody>
          <a:bodyPr/>
          <a:lstStyle/>
          <a:p>
            <a:endParaRPr lang="en-US" spc="100"/>
          </a:p>
        </p:txBody>
      </p:sp>
      <p:sp>
        <p:nvSpPr>
          <p:cNvPr id="15" name="Text 13"/>
          <p:cNvSpPr/>
          <p:nvPr/>
        </p:nvSpPr>
        <p:spPr>
          <a:xfrm>
            <a:off x="4434840" y="1417320"/>
            <a:ext cx="3291840" cy="365760"/>
          </a:xfrm>
          <a:prstGeom prst="rect">
            <a:avLst/>
          </a:prstGeom>
          <a:noFill/>
          <a:ln/>
        </p:spPr>
        <p:txBody>
          <a:bodyPr wrap="square" lIns="0" tIns="0" rIns="0" bIns="0" rtlCol="0" anchor="ctr"/>
          <a:lstStyle/>
          <a:p>
            <a:pPr marL="0" indent="0">
              <a:buNone/>
            </a:pPr>
            <a:r>
              <a:rPr lang="en-US" sz="1000" b="1" kern="0" spc="100" dirty="0">
                <a:solidFill>
                  <a:srgbClr val="FFFFFF"/>
                </a:solidFill>
                <a:latin typeface="Calibri" pitchFamily="34" charset="0"/>
                <a:ea typeface="Calibri" pitchFamily="34" charset="-122"/>
                <a:cs typeface="Calibri" pitchFamily="34" charset="-120"/>
              </a:rPr>
              <a:t>SOURCES &amp; REFERENCES</a:t>
            </a:r>
            <a:endParaRPr lang="en-US" sz="1000" spc="100" dirty="0"/>
          </a:p>
        </p:txBody>
      </p:sp>
      <p:sp>
        <p:nvSpPr>
          <p:cNvPr id="16" name="Text 14"/>
          <p:cNvSpPr/>
          <p:nvPr/>
        </p:nvSpPr>
        <p:spPr>
          <a:xfrm>
            <a:off x="4434840" y="1920240"/>
            <a:ext cx="3291840" cy="3794760"/>
          </a:xfrm>
          <a:prstGeom prst="rect">
            <a:avLst/>
          </a:prstGeom>
          <a:noFill/>
          <a:ln/>
        </p:spPr>
        <p:txBody>
          <a:bodyPr wrap="square" lIns="0" tIns="0" rIns="0" bIns="0" rtlCol="0" anchor="t"/>
          <a:lstStyle/>
          <a:p>
            <a:pPr marL="0" indent="0">
              <a:spcAft>
                <a:spcPts val="200"/>
              </a:spcAft>
              <a:buNone/>
            </a:pPr>
            <a:r>
              <a:rPr lang="en-US" sz="950" dirty="0">
                <a:solidFill>
                  <a:srgbClr val="0F172A"/>
                </a:solidFill>
                <a:latin typeface="Calibri" pitchFamily="34" charset="0"/>
                <a:ea typeface="Calibri" pitchFamily="34" charset="-122"/>
                <a:cs typeface="Calibri" pitchFamily="34" charset="-120"/>
              </a:rPr>
              <a:t>•  Pine Labs DRHP (2025) and updated RHP</a:t>
            </a:r>
            <a:endParaRPr lang="en-US" sz="950" dirty="0"/>
          </a:p>
          <a:p>
            <a:pPr marL="0" indent="0">
              <a:spcAft>
                <a:spcPts val="200"/>
              </a:spcAft>
              <a:buNone/>
            </a:pPr>
            <a:r>
              <a:rPr lang="en-US" sz="950" dirty="0">
                <a:solidFill>
                  <a:srgbClr val="0F172A"/>
                </a:solidFill>
                <a:latin typeface="Calibri" pitchFamily="34" charset="0"/>
                <a:ea typeface="Calibri" pitchFamily="34" charset="-122"/>
                <a:cs typeface="Calibri" pitchFamily="34" charset="-120"/>
              </a:rPr>
              <a:t>•  Pine Labs Q1 FY26 and FY25 results filings</a:t>
            </a:r>
            <a:endParaRPr lang="en-US" sz="950" dirty="0"/>
          </a:p>
          <a:p>
            <a:pPr marL="0" indent="0">
              <a:spcAft>
                <a:spcPts val="200"/>
              </a:spcAft>
              <a:buNone/>
            </a:pPr>
            <a:r>
              <a:rPr lang="en-US" sz="950" dirty="0">
                <a:solidFill>
                  <a:srgbClr val="0F172A"/>
                </a:solidFill>
                <a:latin typeface="Calibri" pitchFamily="34" charset="0"/>
                <a:ea typeface="Calibri" pitchFamily="34" charset="-122"/>
                <a:cs typeface="Calibri" pitchFamily="34" charset="-120"/>
              </a:rPr>
              <a:t>•  Amrish Rau, Business Times interview (2025)</a:t>
            </a:r>
            <a:endParaRPr lang="en-US" sz="950" dirty="0"/>
          </a:p>
          <a:p>
            <a:pPr marL="0" indent="0">
              <a:spcAft>
                <a:spcPts val="200"/>
              </a:spcAft>
              <a:buNone/>
            </a:pPr>
            <a:r>
              <a:rPr lang="en-US" sz="950" dirty="0">
                <a:solidFill>
                  <a:srgbClr val="0F172A"/>
                </a:solidFill>
                <a:latin typeface="Calibri" pitchFamily="34" charset="0"/>
                <a:ea typeface="Calibri" pitchFamily="34" charset="-122"/>
                <a:cs typeface="Calibri" pitchFamily="34" charset="-120"/>
              </a:rPr>
              <a:t>•  Riskcovry — Tracxn, PitchBook, Crunchbase profiles</a:t>
            </a:r>
            <a:endParaRPr lang="en-US" sz="950" dirty="0"/>
          </a:p>
          <a:p>
            <a:pPr marL="0" indent="0">
              <a:spcAft>
                <a:spcPts val="200"/>
              </a:spcAft>
              <a:buNone/>
            </a:pPr>
            <a:r>
              <a:rPr lang="en-US" sz="950" dirty="0">
                <a:solidFill>
                  <a:srgbClr val="0F172A"/>
                </a:solidFill>
                <a:latin typeface="Calibri" pitchFamily="34" charset="0"/>
                <a:ea typeface="Calibri" pitchFamily="34" charset="-122"/>
                <a:cs typeface="Calibri" pitchFamily="34" charset="-120"/>
              </a:rPr>
              <a:t>•  WebEngage / Webklipper Technologies — public filings, ICRA / industry reports</a:t>
            </a:r>
            <a:endParaRPr lang="en-US" sz="950" dirty="0"/>
          </a:p>
          <a:p>
            <a:pPr marL="0" indent="0">
              <a:spcAft>
                <a:spcPts val="200"/>
              </a:spcAft>
              <a:buNone/>
            </a:pPr>
            <a:r>
              <a:rPr lang="en-US" sz="950" dirty="0">
                <a:solidFill>
                  <a:srgbClr val="0F172A"/>
                </a:solidFill>
                <a:latin typeface="Calibri" pitchFamily="34" charset="0"/>
                <a:ea typeface="Calibri" pitchFamily="34" charset="-122"/>
                <a:cs typeface="Calibri" pitchFamily="34" charset="-120"/>
              </a:rPr>
              <a:t>•  IRDAI regulations on Corporate Agent licensing</a:t>
            </a:r>
            <a:endParaRPr lang="en-US" sz="950" dirty="0"/>
          </a:p>
          <a:p>
            <a:pPr marL="0" indent="0">
              <a:spcAft>
                <a:spcPts val="200"/>
              </a:spcAft>
              <a:buNone/>
            </a:pPr>
            <a:r>
              <a:rPr lang="en-US" sz="950" dirty="0">
                <a:solidFill>
                  <a:srgbClr val="0F172A"/>
                </a:solidFill>
                <a:latin typeface="Calibri" pitchFamily="34" charset="0"/>
                <a:ea typeface="Calibri" pitchFamily="34" charset="-122"/>
                <a:cs typeface="Calibri" pitchFamily="34" charset="-120"/>
              </a:rPr>
              <a:t>•  RBI Digital Lending Guidelines (Sep 2022)</a:t>
            </a:r>
            <a:endParaRPr lang="en-US" sz="950" dirty="0"/>
          </a:p>
          <a:p>
            <a:pPr marL="0" indent="0">
              <a:spcAft>
                <a:spcPts val="200"/>
              </a:spcAft>
              <a:buNone/>
            </a:pPr>
            <a:r>
              <a:rPr lang="en-US" sz="950" dirty="0">
                <a:solidFill>
                  <a:srgbClr val="0F172A"/>
                </a:solidFill>
                <a:latin typeface="Calibri" pitchFamily="34" charset="0"/>
                <a:ea typeface="Calibri" pitchFamily="34" charset="-122"/>
                <a:cs typeface="Calibri" pitchFamily="34" charset="-120"/>
              </a:rPr>
              <a:t>•  Comparable benchmarks: Block (Square Capital), Toast Inc, Adyen, Stripe</a:t>
            </a:r>
            <a:endParaRPr lang="en-US" sz="950" dirty="0"/>
          </a:p>
          <a:p>
            <a:pPr marL="0" indent="0">
              <a:spcAft>
                <a:spcPts val="200"/>
              </a:spcAft>
              <a:buNone/>
            </a:pPr>
            <a:r>
              <a:rPr lang="en-US" sz="950" dirty="0">
                <a:solidFill>
                  <a:srgbClr val="0F172A"/>
                </a:solidFill>
                <a:latin typeface="Calibri" pitchFamily="34" charset="0"/>
                <a:ea typeface="Calibri" pitchFamily="34" charset="-122"/>
                <a:cs typeface="Calibri" pitchFamily="34" charset="-120"/>
              </a:rPr>
              <a:t>•  Indian peer comps: Razorpay, Cashfree, PhonePe, Paytm, M2P</a:t>
            </a:r>
            <a:endParaRPr lang="en-US" sz="950" dirty="0"/>
          </a:p>
          <a:p>
            <a:pPr marL="0" indent="0">
              <a:spcAft>
                <a:spcPts val="200"/>
              </a:spcAft>
              <a:buNone/>
            </a:pPr>
            <a:r>
              <a:rPr lang="en-US" sz="950" dirty="0">
                <a:solidFill>
                  <a:srgbClr val="0F172A"/>
                </a:solidFill>
                <a:latin typeface="Calibri" pitchFamily="34" charset="0"/>
                <a:ea typeface="Calibri" pitchFamily="34" charset="-122"/>
                <a:cs typeface="Calibri" pitchFamily="34" charset="-120"/>
              </a:rPr>
              <a:t>•  Capillary Technologies IPO prospectus (Nov 2025) — proxy mark for loyalty/engagement SaaS</a:t>
            </a:r>
            <a:endParaRPr lang="en-US" sz="950" dirty="0"/>
          </a:p>
        </p:txBody>
      </p:sp>
      <p:sp>
        <p:nvSpPr>
          <p:cNvPr id="17" name="Shape 15"/>
          <p:cNvSpPr/>
          <p:nvPr/>
        </p:nvSpPr>
        <p:spPr>
          <a:xfrm>
            <a:off x="8001000" y="1417320"/>
            <a:ext cx="3657600" cy="4434840"/>
          </a:xfrm>
          <a:prstGeom prst="rect">
            <a:avLst/>
          </a:prstGeom>
          <a:solidFill>
            <a:srgbClr val="FFFFFF"/>
          </a:solidFill>
          <a:ln w="6350">
            <a:solidFill>
              <a:srgbClr val="E2E8F0"/>
            </a:solidFill>
            <a:prstDash val="solid"/>
          </a:ln>
        </p:spPr>
        <p:txBody>
          <a:bodyPr/>
          <a:lstStyle/>
          <a:p>
            <a:endParaRPr lang="en-US"/>
          </a:p>
        </p:txBody>
      </p:sp>
      <p:sp>
        <p:nvSpPr>
          <p:cNvPr id="18" name="Shape 16"/>
          <p:cNvSpPr/>
          <p:nvPr/>
        </p:nvSpPr>
        <p:spPr>
          <a:xfrm>
            <a:off x="8001000" y="1417320"/>
            <a:ext cx="3657600" cy="365760"/>
          </a:xfrm>
          <a:prstGeom prst="rect">
            <a:avLst/>
          </a:prstGeom>
          <a:solidFill>
            <a:srgbClr val="16A34A"/>
          </a:solidFill>
          <a:ln/>
        </p:spPr>
        <p:txBody>
          <a:bodyPr/>
          <a:lstStyle/>
          <a:p>
            <a:endParaRPr lang="en-US" spc="100"/>
          </a:p>
        </p:txBody>
      </p:sp>
      <p:sp>
        <p:nvSpPr>
          <p:cNvPr id="19" name="Text 17"/>
          <p:cNvSpPr/>
          <p:nvPr/>
        </p:nvSpPr>
        <p:spPr>
          <a:xfrm>
            <a:off x="8183880" y="1417320"/>
            <a:ext cx="3291840" cy="365760"/>
          </a:xfrm>
          <a:prstGeom prst="rect">
            <a:avLst/>
          </a:prstGeom>
          <a:noFill/>
          <a:ln/>
        </p:spPr>
        <p:txBody>
          <a:bodyPr wrap="square" lIns="0" tIns="0" rIns="0" bIns="0" rtlCol="0" anchor="ctr"/>
          <a:lstStyle/>
          <a:p>
            <a:pPr marL="0" indent="0">
              <a:buNone/>
            </a:pPr>
            <a:r>
              <a:rPr lang="en-US" sz="1000" b="1" kern="0" spc="100" dirty="0">
                <a:solidFill>
                  <a:srgbClr val="FFFFFF"/>
                </a:solidFill>
                <a:latin typeface="Calibri" pitchFamily="34" charset="0"/>
                <a:ea typeface="Calibri" pitchFamily="34" charset="-122"/>
                <a:cs typeface="Calibri" pitchFamily="34" charset="-120"/>
              </a:rPr>
              <a:t>WHAT I'D VALIDATE INSIDE PL</a:t>
            </a:r>
            <a:endParaRPr lang="en-US" sz="1000" spc="100" dirty="0"/>
          </a:p>
        </p:txBody>
      </p:sp>
      <p:sp>
        <p:nvSpPr>
          <p:cNvPr id="20" name="Text 18"/>
          <p:cNvSpPr/>
          <p:nvPr/>
        </p:nvSpPr>
        <p:spPr>
          <a:xfrm>
            <a:off x="8183880" y="1920240"/>
            <a:ext cx="3291840" cy="3794760"/>
          </a:xfrm>
          <a:prstGeom prst="rect">
            <a:avLst/>
          </a:prstGeom>
          <a:noFill/>
          <a:ln/>
        </p:spPr>
        <p:txBody>
          <a:bodyPr wrap="square" lIns="0" tIns="0" rIns="0" bIns="0" rtlCol="0" anchor="t"/>
          <a:lstStyle/>
          <a:p>
            <a:pPr marL="0" indent="0">
              <a:spcAft>
                <a:spcPts val="200"/>
              </a:spcAft>
              <a:buNone/>
            </a:pPr>
            <a:r>
              <a:rPr lang="en-US" sz="950" b="1" dirty="0">
                <a:solidFill>
                  <a:srgbClr val="16A34A"/>
                </a:solidFill>
                <a:latin typeface="Calibri" pitchFamily="34" charset="0"/>
                <a:ea typeface="Calibri" pitchFamily="34" charset="-122"/>
                <a:cs typeface="Calibri" pitchFamily="34" charset="-120"/>
              </a:rPr>
              <a:t>Before signing Riskcovry LOI</a:t>
            </a:r>
            <a:endParaRPr lang="en-US" sz="950" dirty="0"/>
          </a:p>
          <a:p>
            <a:pPr marL="0" indent="0">
              <a:spcAft>
                <a:spcPts val="200"/>
              </a:spcAft>
              <a:buNone/>
            </a:pPr>
            <a:r>
              <a:rPr lang="en-US" sz="950" dirty="0">
                <a:solidFill>
                  <a:srgbClr val="0F172A"/>
                </a:solidFill>
                <a:latin typeface="Calibri" pitchFamily="34" charset="0"/>
                <a:ea typeface="Calibri" pitchFamily="34" charset="-122"/>
                <a:cs typeface="Calibri" pitchFamily="34" charset="-120"/>
              </a:rPr>
              <a:t>•  Actual EMI transaction count &amp; merchant mix by vertical</a:t>
            </a:r>
            <a:endParaRPr lang="en-US" sz="950" dirty="0"/>
          </a:p>
          <a:p>
            <a:pPr marL="0" indent="0">
              <a:spcAft>
                <a:spcPts val="200"/>
              </a:spcAft>
              <a:buNone/>
            </a:pPr>
            <a:r>
              <a:rPr lang="en-US" sz="950" dirty="0">
                <a:solidFill>
                  <a:srgbClr val="0F172A"/>
                </a:solidFill>
                <a:latin typeface="Calibri" pitchFamily="34" charset="0"/>
                <a:ea typeface="Calibri" pitchFamily="34" charset="-122"/>
                <a:cs typeface="Calibri" pitchFamily="34" charset="-120"/>
              </a:rPr>
              <a:t>•  Insurance attach rate Pine Labs has tested historically</a:t>
            </a:r>
            <a:endParaRPr lang="en-US" sz="950" dirty="0"/>
          </a:p>
          <a:p>
            <a:pPr marL="0" indent="0">
              <a:spcAft>
                <a:spcPts val="200"/>
              </a:spcAft>
              <a:buNone/>
            </a:pPr>
            <a:r>
              <a:rPr lang="en-US" sz="950" dirty="0">
                <a:solidFill>
                  <a:srgbClr val="0F172A"/>
                </a:solidFill>
                <a:latin typeface="Calibri" pitchFamily="34" charset="0"/>
                <a:ea typeface="Calibri" pitchFamily="34" charset="-122"/>
                <a:cs typeface="Calibri" pitchFamily="34" charset="-120"/>
              </a:rPr>
              <a:t>•  Setu bank-customer overlap with Riskcovry's 40 FI customers</a:t>
            </a:r>
            <a:endParaRPr lang="en-US" sz="950" dirty="0"/>
          </a:p>
          <a:p>
            <a:pPr marL="0" indent="0">
              <a:spcAft>
                <a:spcPts val="200"/>
              </a:spcAft>
              <a:buNone/>
            </a:pPr>
            <a:r>
              <a:rPr lang="en-US" sz="950" dirty="0">
                <a:solidFill>
                  <a:srgbClr val="0F172A"/>
                </a:solidFill>
                <a:latin typeface="Calibri" pitchFamily="34" charset="0"/>
                <a:ea typeface="Calibri" pitchFamily="34" charset="-122"/>
                <a:cs typeface="Calibri" pitchFamily="34" charset="-120"/>
              </a:rPr>
              <a:t>•  Affordability gross take-rate by partner bank</a:t>
            </a:r>
            <a:endParaRPr lang="en-US" sz="950" dirty="0"/>
          </a:p>
          <a:p>
            <a:pPr marL="0" indent="0">
              <a:spcAft>
                <a:spcPts val="200"/>
              </a:spcAft>
              <a:buNone/>
            </a:pPr>
            <a:r>
              <a:rPr lang="en-US" sz="950" dirty="0">
                <a:solidFill>
                  <a:srgbClr val="0F172A"/>
                </a:solidFill>
                <a:latin typeface="Calibri" pitchFamily="34" charset="0"/>
                <a:ea typeface="Calibri" pitchFamily="34" charset="-122"/>
                <a:cs typeface="Calibri" pitchFamily="34" charset="-120"/>
              </a:rPr>
              <a:t> </a:t>
            </a:r>
            <a:endParaRPr lang="en-US" sz="950" dirty="0"/>
          </a:p>
          <a:p>
            <a:pPr marL="0" indent="0">
              <a:spcAft>
                <a:spcPts val="200"/>
              </a:spcAft>
              <a:buNone/>
            </a:pPr>
            <a:r>
              <a:rPr lang="en-US" sz="950" b="1" dirty="0">
                <a:solidFill>
                  <a:srgbClr val="16A34A"/>
                </a:solidFill>
                <a:latin typeface="Calibri" pitchFamily="34" charset="0"/>
                <a:ea typeface="Calibri" pitchFamily="34" charset="-122"/>
                <a:cs typeface="Calibri" pitchFamily="34" charset="-120"/>
              </a:rPr>
              <a:t>Before signing WebEngage LOI</a:t>
            </a:r>
            <a:endParaRPr lang="en-US" sz="950" dirty="0"/>
          </a:p>
          <a:p>
            <a:pPr marL="0" indent="0">
              <a:spcAft>
                <a:spcPts val="200"/>
              </a:spcAft>
              <a:buNone/>
            </a:pPr>
            <a:r>
              <a:rPr lang="en-US" sz="950" dirty="0">
                <a:solidFill>
                  <a:srgbClr val="0F172A"/>
                </a:solidFill>
                <a:latin typeface="Calibri" pitchFamily="34" charset="0"/>
                <a:ea typeface="Calibri" pitchFamily="34" charset="-122"/>
                <a:cs typeface="Calibri" pitchFamily="34" charset="-120"/>
              </a:rPr>
              <a:t>•  Named top-10 customer list and current engagement-tool vendors</a:t>
            </a:r>
            <a:endParaRPr lang="en-US" sz="950" dirty="0"/>
          </a:p>
          <a:p>
            <a:pPr marL="0" indent="0">
              <a:spcAft>
                <a:spcPts val="200"/>
              </a:spcAft>
              <a:buNone/>
            </a:pPr>
            <a:r>
              <a:rPr lang="en-US" sz="950" dirty="0">
                <a:solidFill>
                  <a:srgbClr val="0F172A"/>
                </a:solidFill>
                <a:latin typeface="Calibri" pitchFamily="34" charset="0"/>
                <a:ea typeface="Calibri" pitchFamily="34" charset="-122"/>
                <a:cs typeface="Calibri" pitchFamily="34" charset="-120"/>
              </a:rPr>
              <a:t>•  Existing PL renewal cycles for top-10 (to time bundle conversion)</a:t>
            </a:r>
            <a:endParaRPr lang="en-US" sz="950" dirty="0"/>
          </a:p>
          <a:p>
            <a:pPr marL="0" indent="0">
              <a:spcAft>
                <a:spcPts val="200"/>
              </a:spcAft>
              <a:buNone/>
            </a:pPr>
            <a:r>
              <a:rPr lang="en-US" sz="950" dirty="0">
                <a:solidFill>
                  <a:srgbClr val="0F172A"/>
                </a:solidFill>
                <a:latin typeface="Calibri" pitchFamily="34" charset="0"/>
                <a:ea typeface="Calibri" pitchFamily="34" charset="-122"/>
                <a:cs typeface="Calibri" pitchFamily="34" charset="-120"/>
              </a:rPr>
              <a:t>•  Plural / Pine Labs Online roadmap overlap with WebEngage</a:t>
            </a:r>
            <a:endParaRPr lang="en-US" sz="950" dirty="0"/>
          </a:p>
          <a:p>
            <a:pPr marL="0" indent="0">
              <a:spcAft>
                <a:spcPts val="200"/>
              </a:spcAft>
              <a:buNone/>
            </a:pPr>
            <a:r>
              <a:rPr lang="en-US" sz="950" dirty="0">
                <a:solidFill>
                  <a:srgbClr val="0F172A"/>
                </a:solidFill>
                <a:latin typeface="Calibri" pitchFamily="34" charset="0"/>
                <a:ea typeface="Calibri" pitchFamily="34" charset="-122"/>
                <a:cs typeface="Calibri" pitchFamily="34" charset="-120"/>
              </a:rPr>
              <a:t>•  Fave learnings — what didn't work in cross-sell and why</a:t>
            </a:r>
            <a:endParaRPr lang="en-US" sz="950" dirty="0"/>
          </a:p>
        </p:txBody>
      </p:sp>
      <p:sp>
        <p:nvSpPr>
          <p:cNvPr id="21" name="Shape 19"/>
          <p:cNvSpPr/>
          <p:nvPr/>
        </p:nvSpPr>
        <p:spPr>
          <a:xfrm>
            <a:off x="502920" y="5989320"/>
            <a:ext cx="11201400" cy="411480"/>
          </a:xfrm>
          <a:prstGeom prst="rect">
            <a:avLst/>
          </a:prstGeom>
          <a:solidFill>
            <a:srgbClr val="F8FAFC"/>
          </a:solidFill>
          <a:ln w="6350">
            <a:solidFill>
              <a:srgbClr val="E2E8F0"/>
            </a:solidFill>
            <a:prstDash val="solid"/>
          </a:ln>
        </p:spPr>
        <p:txBody>
          <a:bodyPr/>
          <a:lstStyle/>
          <a:p>
            <a:endParaRPr lang="en-US"/>
          </a:p>
        </p:txBody>
      </p:sp>
      <p:sp>
        <p:nvSpPr>
          <p:cNvPr id="22" name="Text 20"/>
          <p:cNvSpPr/>
          <p:nvPr/>
        </p:nvSpPr>
        <p:spPr>
          <a:xfrm>
            <a:off x="685800" y="6016752"/>
            <a:ext cx="1097280" cy="164592"/>
          </a:xfrm>
          <a:prstGeom prst="rect">
            <a:avLst/>
          </a:prstGeom>
          <a:noFill/>
          <a:ln/>
        </p:spPr>
        <p:txBody>
          <a:bodyPr wrap="square" lIns="0" tIns="0" rIns="0" bIns="0" rtlCol="0" anchor="ctr"/>
          <a:lstStyle/>
          <a:p>
            <a:pPr marL="0" indent="0">
              <a:buNone/>
            </a:pPr>
            <a:r>
              <a:rPr lang="en-US" sz="800" b="1" kern="0" spc="100" dirty="0">
                <a:solidFill>
                  <a:srgbClr val="64748B"/>
                </a:solidFill>
                <a:latin typeface="Calibri" pitchFamily="34" charset="0"/>
                <a:ea typeface="Calibri" pitchFamily="34" charset="-122"/>
                <a:cs typeface="Calibri" pitchFamily="34" charset="-120"/>
              </a:rPr>
              <a:t>Disclaimer</a:t>
            </a:r>
            <a:endParaRPr lang="en-US" sz="800" spc="100" dirty="0"/>
          </a:p>
        </p:txBody>
      </p:sp>
      <p:sp>
        <p:nvSpPr>
          <p:cNvPr id="23" name="Text 21"/>
          <p:cNvSpPr/>
          <p:nvPr/>
        </p:nvSpPr>
        <p:spPr>
          <a:xfrm>
            <a:off x="685800" y="6172200"/>
            <a:ext cx="10972800" cy="201168"/>
          </a:xfrm>
          <a:prstGeom prst="rect">
            <a:avLst/>
          </a:prstGeom>
          <a:noFill/>
          <a:ln/>
        </p:spPr>
        <p:txBody>
          <a:bodyPr wrap="square" lIns="0" tIns="0" rIns="0" bIns="0" rtlCol="0" anchor="ctr"/>
          <a:lstStyle/>
          <a:p>
            <a:pPr marL="0" indent="0">
              <a:buNone/>
            </a:pPr>
            <a:r>
              <a:rPr lang="en-US" sz="750" i="1" dirty="0">
                <a:solidFill>
                  <a:srgbClr val="334155"/>
                </a:solidFill>
                <a:latin typeface="Calibri" pitchFamily="34" charset="0"/>
                <a:ea typeface="Calibri" pitchFamily="34" charset="-122"/>
                <a:cs typeface="Calibri" pitchFamily="34" charset="-120"/>
              </a:rPr>
              <a:t>Prepared by Bodhisatwa as part of the Pine Labs Corp Dev assignment. All figures based on publicly disclosed information (DRHP, RHP, results filings, press) and reasonable estimates clearly flagged where used. No confidential or non-public Pine Labs information has been used. Target-company financials sourced from Tracxn, PitchBook, public filings and press.</a:t>
            </a:r>
            <a:endParaRPr lang="en-US" sz="750" dirty="0"/>
          </a:p>
        </p:txBody>
      </p:sp>
      <p:pic>
        <p:nvPicPr>
          <p:cNvPr id="24" name="Picture 2" descr="Pine Labs Launches Paper POS, a Merged QR Product to Accept Payments via  UPI and Bharat QR Apps">
            <a:extLst>
              <a:ext uri="{FF2B5EF4-FFF2-40B4-BE49-F238E27FC236}">
                <a16:creationId xmlns:a16="http://schemas.microsoft.com/office/drawing/2014/main" id="{11173C00-EDA2-E820-AC8F-CF6837DF67CF}"/>
              </a:ext>
            </a:extLst>
          </p:cNvPr>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1177016" y="-102584"/>
            <a:ext cx="1115568" cy="58451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138</TotalTime>
  <Words>4328</Words>
  <Application>Microsoft Office PowerPoint</Application>
  <PresentationFormat>Widescreen</PresentationFormat>
  <Paragraphs>711</Paragraphs>
  <Slides>20</Slides>
  <Notes>20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20</vt:i4>
      </vt:variant>
    </vt:vector>
  </HeadingPairs>
  <TitlesOfParts>
    <vt:vector size="24" baseType="lpstr">
      <vt:lpstr>Arial</vt:lpstr>
      <vt:lpstr>Calibri</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Pine Labs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Pine Labs Corp Dev Proposal — Riskcovry + WebEngage</dc:title>
  <dc:subject>PptxGenJS Presentation</dc:subject>
  <dc:creator>Corporate Development</dc:creator>
  <cp:lastModifiedBy>Bhattacharya, Bodhisatwa</cp:lastModifiedBy>
  <cp:revision>4</cp:revision>
  <dcterms:created xsi:type="dcterms:W3CDTF">2026-05-23T21:51:40Z</dcterms:created>
  <dcterms:modified xsi:type="dcterms:W3CDTF">2026-05-24T10:00:07Z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b0d5c4f4-7a29-4385-b7a5-afbe2154ae6f_Enabled">
    <vt:lpwstr>true</vt:lpwstr>
  </property>
  <property fmtid="{D5CDD505-2E9C-101B-9397-08002B2CF9AE}" pid="3" name="MSIP_Label_b0d5c4f4-7a29-4385-b7a5-afbe2154ae6f_SetDate">
    <vt:lpwstr>2026-05-24T07:41:08Z</vt:lpwstr>
  </property>
  <property fmtid="{D5CDD505-2E9C-101B-9397-08002B2CF9AE}" pid="4" name="MSIP_Label_b0d5c4f4-7a29-4385-b7a5-afbe2154ae6f_Method">
    <vt:lpwstr>Standard</vt:lpwstr>
  </property>
  <property fmtid="{D5CDD505-2E9C-101B-9397-08002B2CF9AE}" pid="5" name="MSIP_Label_b0d5c4f4-7a29-4385-b7a5-afbe2154ae6f_Name">
    <vt:lpwstr>Confidential</vt:lpwstr>
  </property>
  <property fmtid="{D5CDD505-2E9C-101B-9397-08002B2CF9AE}" pid="6" name="MSIP_Label_b0d5c4f4-7a29-4385-b7a5-afbe2154ae6f_SiteId">
    <vt:lpwstr>2dfb2f0b-4d21-4268-9559-72926144c918</vt:lpwstr>
  </property>
  <property fmtid="{D5CDD505-2E9C-101B-9397-08002B2CF9AE}" pid="7" name="MSIP_Label_b0d5c4f4-7a29-4385-b7a5-afbe2154ae6f_ActionId">
    <vt:lpwstr>f273c659-0583-4035-ab41-ace33bb65098</vt:lpwstr>
  </property>
  <property fmtid="{D5CDD505-2E9C-101B-9397-08002B2CF9AE}" pid="8" name="MSIP_Label_b0d5c4f4-7a29-4385-b7a5-afbe2154ae6f_ContentBits">
    <vt:lpwstr>0</vt:lpwstr>
  </property>
  <property fmtid="{D5CDD505-2E9C-101B-9397-08002B2CF9AE}" pid="9" name="MSIP_Label_b0d5c4f4-7a29-4385-b7a5-afbe2154ae6f_Tag">
    <vt:lpwstr>10, 3, 0, 1</vt:lpwstr>
  </property>
</Properties>
</file>