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9" d="100"/>
          <a:sy n="99" d="100"/>
        </p:scale>
        <p:origin x="68" y="3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GWh</c:v>
                </c:pt>
              </c:strCache>
            </c:strRef>
          </c:tx>
          <c:spPr>
            <a:solidFill>
              <a:srgbClr val="0E7C77"/>
            </a:solidFill>
            <a:effectLst/>
          </c:spPr>
          <c:invertIfNegative val="0"/>
          <c:dPt>
            <c:idx val="0"/>
            <c:invertIfNegative val="0"/>
            <c:bubble3D val="0"/>
            <c:extLst>
              <c:ext xmlns:c16="http://schemas.microsoft.com/office/drawing/2014/chart" uri="{C3380CC4-5D6E-409C-BE32-E72D297353CC}">
                <c16:uniqueId val="{00000001-617C-4300-B52D-F6F6A68BB054}"/>
              </c:ext>
            </c:extLst>
          </c:dPt>
          <c:dPt>
            <c:idx val="1"/>
            <c:invertIfNegative val="0"/>
            <c:bubble3D val="0"/>
            <c:extLst>
              <c:ext xmlns:c16="http://schemas.microsoft.com/office/drawing/2014/chart" uri="{C3380CC4-5D6E-409C-BE32-E72D297353CC}">
                <c16:uniqueId val="{00000003-617C-4300-B52D-F6F6A68BB054}"/>
              </c:ext>
            </c:extLst>
          </c:dPt>
          <c:dPt>
            <c:idx val="2"/>
            <c:invertIfNegative val="0"/>
            <c:bubble3D val="0"/>
            <c:spPr>
              <a:solidFill>
                <a:srgbClr val="F2A516"/>
              </a:solidFill>
              <a:effectLst/>
            </c:spPr>
            <c:extLst>
              <c:ext xmlns:c16="http://schemas.microsoft.com/office/drawing/2014/chart" uri="{C3380CC4-5D6E-409C-BE32-E72D297353CC}">
                <c16:uniqueId val="{00000005-617C-4300-B52D-F6F6A68BB054}"/>
              </c:ext>
            </c:extLst>
          </c:dPt>
          <c:dLbls>
            <c:numFmt formatCode="#,##0" sourceLinked="0"/>
            <c:spPr>
              <a:noFill/>
              <a:ln>
                <a:noFill/>
              </a:ln>
              <a:effectLst/>
            </c:spPr>
            <c:txPr>
              <a:bodyPr/>
              <a:lstStyle/>
              <a:p>
                <a:pPr>
                  <a:defRPr sz="1200" b="1" i="0" u="none" strike="noStrike">
                    <a:solidFill>
                      <a:srgbClr val="15262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VGF-backed
capacity</c:v>
                </c:pt>
                <c:pt idx="1">
                  <c:v>ACC PLI
target</c:v>
                </c:pt>
                <c:pt idx="2">
                  <c:v>CEA BESS
need FY32</c:v>
                </c:pt>
              </c:strCache>
            </c:strRef>
          </c:cat>
          <c:val>
            <c:numRef>
              <c:f>Sheet1!$B$2:$B$4</c:f>
              <c:numCache>
                <c:formatCode>General</c:formatCode>
                <c:ptCount val="3"/>
                <c:pt idx="0">
                  <c:v>43</c:v>
                </c:pt>
                <c:pt idx="1">
                  <c:v>50</c:v>
                </c:pt>
                <c:pt idx="2">
                  <c:v>236</c:v>
                </c:pt>
              </c:numCache>
            </c:numRef>
          </c:val>
          <c:extLst>
            <c:ext xmlns:c16="http://schemas.microsoft.com/office/drawing/2014/chart" uri="{C3380CC4-5D6E-409C-BE32-E72D297353CC}">
              <c16:uniqueId val="{00000006-617C-4300-B52D-F6F6A68BB05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374952"/>
                </a:solidFill>
                <a:latin typeface="Calibri"/>
              </a:defRPr>
            </a:pPr>
            <a:endParaRPr lang="en-US"/>
          </a:p>
        </c:txPr>
        <c:crossAx val="2094734552"/>
        <c:crosses val="autoZero"/>
        <c:auto val="1"/>
        <c:lblAlgn val="ctr"/>
        <c:lblOffset val="100"/>
        <c:noMultiLvlLbl val="1"/>
      </c:catAx>
      <c:valAx>
        <c:axId val="2094734552"/>
        <c:scaling>
          <c:orientation val="minMax"/>
          <c:max val="27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F2A516"/>
              </a:solidFill>
              <a:effectLst/>
            </c:spPr>
            <c:extLst>
              <c:ext xmlns:c16="http://schemas.microsoft.com/office/drawing/2014/chart" uri="{C3380CC4-5D6E-409C-BE32-E72D297353CC}">
                <c16:uniqueId val="{00000001-2367-4E2C-BF86-53E5691BFEDE}"/>
              </c:ext>
            </c:extLst>
          </c:dPt>
          <c:dPt>
            <c:idx val="1"/>
            <c:bubble3D val="0"/>
            <c:spPr>
              <a:solidFill>
                <a:srgbClr val="0E7C77"/>
              </a:solidFill>
              <a:effectLst/>
            </c:spPr>
            <c:extLst>
              <c:ext xmlns:c16="http://schemas.microsoft.com/office/drawing/2014/chart" uri="{C3380CC4-5D6E-409C-BE32-E72D297353CC}">
                <c16:uniqueId val="{00000003-2367-4E2C-BF86-53E5691BFEDE}"/>
              </c:ext>
            </c:extLst>
          </c:dPt>
          <c:dLbls>
            <c:dLbl>
              <c:idx val="0"/>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367-4E2C-BF86-53E5691BFEDE}"/>
                </c:ext>
              </c:extLst>
            </c:dLbl>
            <c:dLbl>
              <c:idx val="1"/>
              <c:numFmt formatCode="0%" sourceLinked="0"/>
              <c:spPr/>
              <c:txPr>
                <a:bodyPr/>
                <a:lstStyle/>
                <a:p>
                  <a:pPr>
                    <a:defRPr sz="11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367-4E2C-BF86-53E5691BFEDE}"/>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BESS (236)</c:v>
                </c:pt>
                <c:pt idx="1">
                  <c:v>Pumped hydro (175)</c:v>
                </c:pt>
              </c:strCache>
            </c:strRef>
          </c:cat>
          <c:val>
            <c:numRef>
              <c:f>Sheet1!$B$2:$B$3</c:f>
              <c:numCache>
                <c:formatCode>General</c:formatCode>
                <c:ptCount val="2"/>
                <c:pt idx="0">
                  <c:v>236</c:v>
                </c:pt>
                <c:pt idx="1">
                  <c:v>175</c:v>
                </c:pt>
              </c:numCache>
            </c:numRef>
          </c:val>
          <c:extLst>
            <c:ext xmlns:c16="http://schemas.microsoft.com/office/drawing/2014/chart" uri="{C3380CC4-5D6E-409C-BE32-E72D297353CC}">
              <c16:uniqueId val="{00000004-2367-4E2C-BF86-53E5691BFEDE}"/>
            </c:ext>
          </c:extLst>
        </c:ser>
        <c:dLbls>
          <c:showLegendKey val="0"/>
          <c:showVal val="0"/>
          <c:showCatName val="0"/>
          <c:showSerName val="0"/>
          <c:showPercent val="0"/>
          <c:showBubbleSize val="0"/>
          <c:showLeaderLines val="0"/>
        </c:dLbls>
        <c:firstSliceAng val="0"/>
        <c:holeSize val="62"/>
      </c:doughnutChart>
      <c:spPr>
        <a:noFill/>
        <a:ln>
          <a:noFill/>
        </a:ln>
        <a:effectLst/>
      </c:spPr>
    </c:plotArea>
    <c:legend>
      <c:legendPos val="b"/>
      <c:overlay val="0"/>
      <c:txPr>
        <a:bodyPr/>
        <a:lstStyle/>
        <a:p>
          <a:pPr>
            <a:defRPr sz="950">
              <a:solidFill>
                <a:srgbClr val="37495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661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9.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4.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1.png"/><Relationship Id="rId10" Type="http://schemas.openxmlformats.org/officeDocument/2006/relationships/image" Target="../media/image27.png"/><Relationship Id="rId4" Type="http://schemas.openxmlformats.org/officeDocument/2006/relationships/image" Target="../media/image10.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8732520" y="0"/>
            <a:ext cx="3459175" cy="6858000"/>
          </a:xfrm>
          <a:prstGeom prst="rect">
            <a:avLst/>
          </a:prstGeom>
          <a:solidFill>
            <a:srgbClr val="08202B"/>
          </a:solidFill>
          <a:ln/>
        </p:spPr>
        <p:txBody>
          <a:bodyPr/>
          <a:lstStyle/>
          <a:p>
            <a:endParaRPr lang="en-US"/>
          </a:p>
        </p:txBody>
      </p:sp>
      <p:pic>
        <p:nvPicPr>
          <p:cNvPr id="3" name="Image 0" descr="preencoded.png"/>
          <p:cNvPicPr>
            <a:picLocks noChangeAspect="1"/>
          </p:cNvPicPr>
          <p:nvPr/>
        </p:nvPicPr>
        <p:blipFill>
          <a:blip r:embed="rId3">
            <a:alphaModFix amt="14000"/>
          </a:blip>
          <a:stretch>
            <a:fillRect/>
          </a:stretch>
        </p:blipFill>
        <p:spPr>
          <a:xfrm>
            <a:off x="9189720" y="1554480"/>
            <a:ext cx="2743200" cy="3291840"/>
          </a:xfrm>
          <a:prstGeom prst="rect">
            <a:avLst/>
          </a:prstGeom>
        </p:spPr>
      </p:pic>
      <p:sp>
        <p:nvSpPr>
          <p:cNvPr id="4" name="Text 1"/>
          <p:cNvSpPr/>
          <p:nvPr/>
        </p:nvSpPr>
        <p:spPr>
          <a:xfrm>
            <a:off x="566928" y="914400"/>
            <a:ext cx="8229600" cy="365760"/>
          </a:xfrm>
          <a:prstGeom prst="rect">
            <a:avLst/>
          </a:prstGeom>
          <a:noFill/>
          <a:ln/>
        </p:spPr>
        <p:txBody>
          <a:bodyPr wrap="square" lIns="0" tIns="0" rIns="0" bIns="0" rtlCol="0" anchor="ctr"/>
          <a:lstStyle/>
          <a:p>
            <a:pPr marL="0" indent="0" algn="l">
              <a:buNone/>
            </a:pPr>
            <a:r>
              <a:rPr lang="en-US" sz="1250" b="1" kern="0" spc="100" dirty="0">
                <a:solidFill>
                  <a:srgbClr val="FBBF24"/>
                </a:solidFill>
                <a:latin typeface="Calibri" pitchFamily="34" charset="0"/>
                <a:ea typeface="Calibri" pitchFamily="34" charset="-122"/>
                <a:cs typeface="Calibri" pitchFamily="34" charset="-120"/>
              </a:rPr>
              <a:t>DEEP-TECH VENTURE  ·  INVESTMENT NOTE</a:t>
            </a:r>
            <a:endParaRPr lang="en-US" sz="1250" spc="100" dirty="0"/>
          </a:p>
        </p:txBody>
      </p:sp>
      <p:sp>
        <p:nvSpPr>
          <p:cNvPr id="5" name="Shape 2"/>
          <p:cNvSpPr/>
          <p:nvPr/>
        </p:nvSpPr>
        <p:spPr>
          <a:xfrm>
            <a:off x="566928" y="1371600"/>
            <a:ext cx="777240" cy="45720"/>
          </a:xfrm>
          <a:prstGeom prst="rect">
            <a:avLst/>
          </a:prstGeom>
          <a:solidFill>
            <a:srgbClr val="F2A516"/>
          </a:solidFill>
          <a:ln/>
        </p:spPr>
        <p:txBody>
          <a:bodyPr/>
          <a:lstStyle/>
          <a:p>
            <a:endParaRPr lang="en-US"/>
          </a:p>
        </p:txBody>
      </p:sp>
      <p:sp>
        <p:nvSpPr>
          <p:cNvPr id="6" name="Text 3"/>
          <p:cNvSpPr/>
          <p:nvPr/>
        </p:nvSpPr>
        <p:spPr>
          <a:xfrm>
            <a:off x="566928" y="1664208"/>
            <a:ext cx="8503920" cy="896112"/>
          </a:xfrm>
          <a:prstGeom prst="rect">
            <a:avLst/>
          </a:prstGeom>
          <a:noFill/>
          <a:ln/>
        </p:spPr>
        <p:txBody>
          <a:bodyPr wrap="square" lIns="0" tIns="0" rIns="0" bIns="0" rtlCol="0" anchor="ctr"/>
          <a:lstStyle/>
          <a:p>
            <a:pPr marL="0" indent="0" algn="l">
              <a:buNone/>
            </a:pPr>
            <a:r>
              <a:rPr lang="en-US" sz="4700" b="1" dirty="0">
                <a:solidFill>
                  <a:srgbClr val="FFFFFF"/>
                </a:solidFill>
                <a:latin typeface="Georgia" pitchFamily="34" charset="0"/>
                <a:ea typeface="Georgia" pitchFamily="34" charset="-122"/>
                <a:cs typeface="Georgia" pitchFamily="34" charset="-120"/>
              </a:rPr>
              <a:t>AmpereHour Energy</a:t>
            </a:r>
            <a:endParaRPr lang="en-US" sz="4700" dirty="0"/>
          </a:p>
        </p:txBody>
      </p:sp>
      <p:sp>
        <p:nvSpPr>
          <p:cNvPr id="7" name="Text 4"/>
          <p:cNvSpPr/>
          <p:nvPr/>
        </p:nvSpPr>
        <p:spPr>
          <a:xfrm>
            <a:off x="566928" y="2670048"/>
            <a:ext cx="7772400" cy="640080"/>
          </a:xfrm>
          <a:prstGeom prst="rect">
            <a:avLst/>
          </a:prstGeom>
          <a:noFill/>
          <a:ln/>
        </p:spPr>
        <p:txBody>
          <a:bodyPr wrap="square" lIns="0" tIns="0" rIns="0" bIns="0" rtlCol="0" anchor="t"/>
          <a:lstStyle/>
          <a:p>
            <a:pPr marL="0" indent="0" algn="l">
              <a:lnSpc>
                <a:spcPct val="105000"/>
              </a:lnSpc>
              <a:buNone/>
            </a:pPr>
            <a:r>
              <a:rPr lang="en-US" sz="1800" i="1" dirty="0">
                <a:solidFill>
                  <a:srgbClr val="CFE0E2"/>
                </a:solidFill>
                <a:latin typeface="Calibri" pitchFamily="34" charset="0"/>
                <a:ea typeface="Calibri" pitchFamily="34" charset="-122"/>
                <a:cs typeface="Calibri" pitchFamily="34" charset="-120"/>
              </a:rPr>
              <a:t>Software-led, full-stack battery energy storage for India's grid transition</a:t>
            </a:r>
            <a:endParaRPr lang="en-US" sz="1800" dirty="0"/>
          </a:p>
        </p:txBody>
      </p:sp>
      <p:sp>
        <p:nvSpPr>
          <p:cNvPr id="8" name="Shape 5"/>
          <p:cNvSpPr/>
          <p:nvPr/>
        </p:nvSpPr>
        <p:spPr>
          <a:xfrm>
            <a:off x="566928" y="3794760"/>
            <a:ext cx="41148" cy="475488"/>
          </a:xfrm>
          <a:prstGeom prst="rect">
            <a:avLst/>
          </a:prstGeom>
          <a:solidFill>
            <a:srgbClr val="16B8A6"/>
          </a:solidFill>
          <a:ln/>
        </p:spPr>
        <p:txBody>
          <a:bodyPr/>
          <a:lstStyle/>
          <a:p>
            <a:endParaRPr lang="en-US"/>
          </a:p>
        </p:txBody>
      </p:sp>
      <p:sp>
        <p:nvSpPr>
          <p:cNvPr id="9" name="Text 6"/>
          <p:cNvSpPr/>
          <p:nvPr/>
        </p:nvSpPr>
        <p:spPr>
          <a:xfrm>
            <a:off x="731520" y="3794760"/>
            <a:ext cx="1554480" cy="475488"/>
          </a:xfrm>
          <a:prstGeom prst="rect">
            <a:avLst/>
          </a:prstGeom>
          <a:noFill/>
          <a:ln/>
        </p:spPr>
        <p:txBody>
          <a:bodyPr wrap="square" lIns="0" tIns="0" rIns="0" bIns="0" rtlCol="0" anchor="ctr"/>
          <a:lstStyle/>
          <a:p>
            <a:pPr marL="0" indent="0" algn="l">
              <a:buNone/>
            </a:pPr>
            <a:r>
              <a:rPr lang="en-US" sz="1000" b="1" kern="0" spc="150" dirty="0">
                <a:solidFill>
                  <a:srgbClr val="8FB0B6"/>
                </a:solidFill>
                <a:latin typeface="Calibri" pitchFamily="34" charset="0"/>
                <a:ea typeface="Calibri" pitchFamily="34" charset="-122"/>
                <a:cs typeface="Calibri" pitchFamily="34" charset="-120"/>
              </a:rPr>
              <a:t>SECTOR</a:t>
            </a:r>
            <a:endParaRPr lang="en-US" sz="1000" dirty="0"/>
          </a:p>
        </p:txBody>
      </p:sp>
      <p:sp>
        <p:nvSpPr>
          <p:cNvPr id="10" name="Text 7"/>
          <p:cNvSpPr/>
          <p:nvPr/>
        </p:nvSpPr>
        <p:spPr>
          <a:xfrm>
            <a:off x="2350008" y="3794760"/>
            <a:ext cx="5943600" cy="475488"/>
          </a:xfrm>
          <a:prstGeom prst="rect">
            <a:avLst/>
          </a:prstGeom>
          <a:noFill/>
          <a:ln/>
        </p:spPr>
        <p:txBody>
          <a:bodyPr wrap="square" lIns="0" tIns="0" rIns="0" bIns="0" rtlCol="0" anchor="ctr"/>
          <a:lstStyle/>
          <a:p>
            <a:pPr marL="0" indent="0" algn="l">
              <a:buNone/>
            </a:pPr>
            <a:r>
              <a:rPr lang="en-US" sz="1450" b="1" dirty="0">
                <a:solidFill>
                  <a:srgbClr val="FFFFFF"/>
                </a:solidFill>
                <a:latin typeface="Calibri" pitchFamily="34" charset="0"/>
                <a:ea typeface="Calibri" pitchFamily="34" charset="-122"/>
                <a:cs typeface="Calibri" pitchFamily="34" charset="-120"/>
              </a:rPr>
              <a:t>Energy Storage &amp; Electrification</a:t>
            </a:r>
            <a:endParaRPr lang="en-US" sz="1450" dirty="0"/>
          </a:p>
        </p:txBody>
      </p:sp>
      <p:sp>
        <p:nvSpPr>
          <p:cNvPr id="11" name="Shape 8"/>
          <p:cNvSpPr/>
          <p:nvPr/>
        </p:nvSpPr>
        <p:spPr>
          <a:xfrm>
            <a:off x="566928" y="4361688"/>
            <a:ext cx="41148" cy="475488"/>
          </a:xfrm>
          <a:prstGeom prst="rect">
            <a:avLst/>
          </a:prstGeom>
          <a:solidFill>
            <a:srgbClr val="16B8A6"/>
          </a:solidFill>
          <a:ln/>
        </p:spPr>
        <p:txBody>
          <a:bodyPr/>
          <a:lstStyle/>
          <a:p>
            <a:endParaRPr lang="en-US"/>
          </a:p>
        </p:txBody>
      </p:sp>
      <p:sp>
        <p:nvSpPr>
          <p:cNvPr id="12" name="Text 9"/>
          <p:cNvSpPr/>
          <p:nvPr/>
        </p:nvSpPr>
        <p:spPr>
          <a:xfrm>
            <a:off x="731520" y="4361688"/>
            <a:ext cx="1554480" cy="475488"/>
          </a:xfrm>
          <a:prstGeom prst="rect">
            <a:avLst/>
          </a:prstGeom>
          <a:noFill/>
          <a:ln/>
        </p:spPr>
        <p:txBody>
          <a:bodyPr wrap="square" lIns="0" tIns="0" rIns="0" bIns="0" rtlCol="0" anchor="ctr"/>
          <a:lstStyle/>
          <a:p>
            <a:pPr marL="0" indent="0" algn="l">
              <a:buNone/>
            </a:pPr>
            <a:r>
              <a:rPr lang="en-US" sz="1000" b="1" kern="0" spc="150" dirty="0">
                <a:solidFill>
                  <a:srgbClr val="8FB0B6"/>
                </a:solidFill>
                <a:latin typeface="Calibri" pitchFamily="34" charset="0"/>
                <a:ea typeface="Calibri" pitchFamily="34" charset="-122"/>
                <a:cs typeface="Calibri" pitchFamily="34" charset="-120"/>
              </a:rPr>
              <a:t>STAGE</a:t>
            </a:r>
            <a:endParaRPr lang="en-US" sz="1000" dirty="0"/>
          </a:p>
        </p:txBody>
      </p:sp>
      <p:sp>
        <p:nvSpPr>
          <p:cNvPr id="13" name="Text 10"/>
          <p:cNvSpPr/>
          <p:nvPr/>
        </p:nvSpPr>
        <p:spPr>
          <a:xfrm>
            <a:off x="2350008" y="4361688"/>
            <a:ext cx="5943600" cy="475488"/>
          </a:xfrm>
          <a:prstGeom prst="rect">
            <a:avLst/>
          </a:prstGeom>
          <a:noFill/>
          <a:ln/>
        </p:spPr>
        <p:txBody>
          <a:bodyPr wrap="square" lIns="0" tIns="0" rIns="0" bIns="0" rtlCol="0" anchor="ctr"/>
          <a:lstStyle/>
          <a:p>
            <a:pPr marL="0" indent="0" algn="l">
              <a:buNone/>
            </a:pPr>
            <a:r>
              <a:rPr lang="en-US" sz="1450" b="1" dirty="0">
                <a:solidFill>
                  <a:srgbClr val="FFFFFF"/>
                </a:solidFill>
                <a:latin typeface="Calibri" pitchFamily="34" charset="0"/>
                <a:ea typeface="Calibri" pitchFamily="34" charset="-122"/>
                <a:cs typeface="Calibri" pitchFamily="34" charset="-120"/>
              </a:rPr>
              <a:t>Series A  ·  ~$7M raised</a:t>
            </a:r>
            <a:endParaRPr lang="en-US" sz="1450" dirty="0"/>
          </a:p>
        </p:txBody>
      </p:sp>
      <p:sp>
        <p:nvSpPr>
          <p:cNvPr id="14" name="Shape 11"/>
          <p:cNvSpPr/>
          <p:nvPr/>
        </p:nvSpPr>
        <p:spPr>
          <a:xfrm>
            <a:off x="566928" y="4928616"/>
            <a:ext cx="41148" cy="475488"/>
          </a:xfrm>
          <a:prstGeom prst="rect">
            <a:avLst/>
          </a:prstGeom>
          <a:solidFill>
            <a:srgbClr val="16B8A6"/>
          </a:solidFill>
          <a:ln/>
        </p:spPr>
        <p:txBody>
          <a:bodyPr/>
          <a:lstStyle/>
          <a:p>
            <a:endParaRPr lang="en-US"/>
          </a:p>
        </p:txBody>
      </p:sp>
      <p:sp>
        <p:nvSpPr>
          <p:cNvPr id="15" name="Text 12"/>
          <p:cNvSpPr/>
          <p:nvPr/>
        </p:nvSpPr>
        <p:spPr>
          <a:xfrm>
            <a:off x="731520" y="4928616"/>
            <a:ext cx="1554480" cy="475488"/>
          </a:xfrm>
          <a:prstGeom prst="rect">
            <a:avLst/>
          </a:prstGeom>
          <a:noFill/>
          <a:ln/>
        </p:spPr>
        <p:txBody>
          <a:bodyPr wrap="square" lIns="0" tIns="0" rIns="0" bIns="0" rtlCol="0" anchor="ctr"/>
          <a:lstStyle/>
          <a:p>
            <a:pPr marL="0" indent="0" algn="l">
              <a:buNone/>
            </a:pPr>
            <a:r>
              <a:rPr lang="en-US" sz="1000" b="1" kern="0" spc="150" dirty="0">
                <a:solidFill>
                  <a:srgbClr val="8FB0B6"/>
                </a:solidFill>
                <a:latin typeface="Calibri" pitchFamily="34" charset="0"/>
                <a:ea typeface="Calibri" pitchFamily="34" charset="-122"/>
                <a:cs typeface="Calibri" pitchFamily="34" charset="-120"/>
              </a:rPr>
              <a:t>HQ</a:t>
            </a:r>
            <a:endParaRPr lang="en-US" sz="1000" dirty="0"/>
          </a:p>
        </p:txBody>
      </p:sp>
      <p:sp>
        <p:nvSpPr>
          <p:cNvPr id="16" name="Text 13"/>
          <p:cNvSpPr/>
          <p:nvPr/>
        </p:nvSpPr>
        <p:spPr>
          <a:xfrm>
            <a:off x="2350008" y="4928616"/>
            <a:ext cx="5943600" cy="475488"/>
          </a:xfrm>
          <a:prstGeom prst="rect">
            <a:avLst/>
          </a:prstGeom>
          <a:noFill/>
          <a:ln/>
        </p:spPr>
        <p:txBody>
          <a:bodyPr wrap="square" lIns="0" tIns="0" rIns="0" bIns="0" rtlCol="0" anchor="ctr"/>
          <a:lstStyle/>
          <a:p>
            <a:pPr marL="0" indent="0" algn="l">
              <a:buNone/>
            </a:pPr>
            <a:r>
              <a:rPr lang="en-US" sz="1450" b="1" dirty="0">
                <a:solidFill>
                  <a:srgbClr val="FFFFFF"/>
                </a:solidFill>
                <a:latin typeface="Calibri" pitchFamily="34" charset="0"/>
                <a:ea typeface="Calibri" pitchFamily="34" charset="-122"/>
                <a:cs typeface="Calibri" pitchFamily="34" charset="-120"/>
              </a:rPr>
              <a:t>Pune, India  ·  Founded 2017</a:t>
            </a:r>
            <a:endParaRPr lang="en-US" sz="1450" dirty="0"/>
          </a:p>
        </p:txBody>
      </p:sp>
      <p:sp>
        <p:nvSpPr>
          <p:cNvPr id="17" name="Shape 14"/>
          <p:cNvSpPr/>
          <p:nvPr/>
        </p:nvSpPr>
        <p:spPr>
          <a:xfrm>
            <a:off x="566928" y="5623560"/>
            <a:ext cx="4663440" cy="566928"/>
          </a:xfrm>
          <a:prstGeom prst="roundRect">
            <a:avLst>
              <a:gd name="adj" fmla="val 50000"/>
            </a:avLst>
          </a:prstGeom>
          <a:solidFill>
            <a:srgbClr val="0E7C77"/>
          </a:solidFill>
          <a:ln/>
          <a:effectLst>
            <a:outerShdw blurRad="76200" dist="25400" dir="8100000" algn="bl" rotWithShape="0">
              <a:srgbClr val="0E2A38">
                <a:alpha val="10000"/>
              </a:srgbClr>
            </a:outerShdw>
          </a:effectLst>
        </p:spPr>
        <p:txBody>
          <a:bodyPr/>
          <a:lstStyle/>
          <a:p>
            <a:endParaRPr lang="en-US"/>
          </a:p>
        </p:txBody>
      </p:sp>
      <p:sp>
        <p:nvSpPr>
          <p:cNvPr id="18" name="Text 15"/>
          <p:cNvSpPr/>
          <p:nvPr/>
        </p:nvSpPr>
        <p:spPr>
          <a:xfrm>
            <a:off x="612648" y="5623560"/>
            <a:ext cx="4572000" cy="566928"/>
          </a:xfrm>
          <a:prstGeom prst="rect">
            <a:avLst/>
          </a:prstGeom>
          <a:noFill/>
          <a:ln/>
        </p:spPr>
        <p:txBody>
          <a:bodyPr wrap="square" lIns="0" tIns="0" rIns="0" bIns="0" rtlCol="0" anchor="ctr"/>
          <a:lstStyle/>
          <a:p>
            <a:pPr marL="0" indent="0" algn="ctr">
              <a:buNone/>
            </a:pPr>
            <a:r>
              <a:rPr lang="en-US" sz="1050" b="1" kern="0" spc="150" dirty="0">
                <a:solidFill>
                  <a:srgbClr val="BFE6E2"/>
                </a:solidFill>
              </a:rPr>
              <a:t>RECOMMENDATION   </a:t>
            </a:r>
            <a:r>
              <a:rPr lang="en-US" sz="1250" b="1" dirty="0">
                <a:solidFill>
                  <a:srgbClr val="FFFFFF"/>
                </a:solidFill>
              </a:rPr>
              <a:t>Proceed to diligence with conviction</a:t>
            </a:r>
            <a:endParaRPr lang="en-US" sz="1050" dirty="0"/>
          </a:p>
        </p:txBody>
      </p:sp>
      <p:sp>
        <p:nvSpPr>
          <p:cNvPr id="19" name="Text 16"/>
          <p:cNvSpPr/>
          <p:nvPr/>
        </p:nvSpPr>
        <p:spPr>
          <a:xfrm>
            <a:off x="566928" y="6400800"/>
            <a:ext cx="8229600" cy="274320"/>
          </a:xfrm>
          <a:prstGeom prst="rect">
            <a:avLst/>
          </a:prstGeom>
          <a:noFill/>
          <a:ln/>
        </p:spPr>
        <p:txBody>
          <a:bodyPr wrap="square" lIns="0" tIns="0" rIns="0" bIns="0" rtlCol="0" anchor="ctr"/>
          <a:lstStyle/>
          <a:p>
            <a:pPr marL="0" indent="0" algn="l">
              <a:buNone/>
            </a:pPr>
            <a:r>
              <a:rPr lang="en-US" sz="950" dirty="0">
                <a:solidFill>
                  <a:srgbClr val="7C9DA3"/>
                </a:solidFill>
                <a:latin typeface="Calibri" pitchFamily="34" charset="0"/>
                <a:ea typeface="Calibri" pitchFamily="34" charset="-122"/>
                <a:cs typeface="Calibri" pitchFamily="34" charset="-120"/>
              </a:rPr>
              <a:t>Prepared for 3iP  ·  Analyst Assessment, Part A   |   June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01  ·  EXECUTIVE SUMMARY</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The thesis in one page</a:t>
            </a:r>
            <a:endParaRPr lang="en-US" sz="2700" dirty="0"/>
          </a:p>
        </p:txBody>
      </p:sp>
      <p:sp>
        <p:nvSpPr>
          <p:cNvPr id="4" name="Shape 2"/>
          <p:cNvSpPr/>
          <p:nvPr/>
        </p:nvSpPr>
        <p:spPr>
          <a:xfrm>
            <a:off x="566928" y="1481328"/>
            <a:ext cx="3246120" cy="4800600"/>
          </a:xfrm>
          <a:prstGeom prst="roundRect">
            <a:avLst>
              <a:gd name="adj" fmla="val 2254"/>
            </a:avLst>
          </a:prstGeom>
          <a:solidFill>
            <a:srgbClr val="0E2A38"/>
          </a:solidFill>
          <a:ln/>
          <a:effectLst>
            <a:outerShdw blurRad="114300" dist="38100" dir="8100000" algn="bl" rotWithShape="0">
              <a:srgbClr val="0E2A38">
                <a:alpha val="13000"/>
              </a:srgbClr>
            </a:outerShdw>
          </a:effectLst>
        </p:spPr>
        <p:txBody>
          <a:bodyPr/>
          <a:lstStyle/>
          <a:p>
            <a:endParaRPr lang="en-US"/>
          </a:p>
        </p:txBody>
      </p:sp>
      <p:sp>
        <p:nvSpPr>
          <p:cNvPr id="5" name="Text 3"/>
          <p:cNvSpPr/>
          <p:nvPr/>
        </p:nvSpPr>
        <p:spPr>
          <a:xfrm>
            <a:off x="822960" y="1691640"/>
            <a:ext cx="2743200" cy="274320"/>
          </a:xfrm>
          <a:prstGeom prst="rect">
            <a:avLst/>
          </a:prstGeom>
          <a:noFill/>
          <a:ln/>
        </p:spPr>
        <p:txBody>
          <a:bodyPr wrap="square" lIns="0" tIns="0" rIns="0" bIns="0" rtlCol="0" anchor="ctr"/>
          <a:lstStyle/>
          <a:p>
            <a:pPr marL="0" indent="0">
              <a:buNone/>
            </a:pPr>
            <a:r>
              <a:rPr lang="en-US" sz="1100" b="1" kern="0" spc="100" dirty="0">
                <a:solidFill>
                  <a:srgbClr val="FBBF24"/>
                </a:solidFill>
                <a:latin typeface="Calibri" pitchFamily="34" charset="0"/>
                <a:ea typeface="Calibri" pitchFamily="34" charset="-122"/>
                <a:cs typeface="Calibri" pitchFamily="34" charset="-120"/>
              </a:rPr>
              <a:t>COMPANY SNAPSHOT</a:t>
            </a:r>
            <a:endParaRPr lang="en-US" sz="1100" spc="100" dirty="0"/>
          </a:p>
        </p:txBody>
      </p:sp>
      <p:sp>
        <p:nvSpPr>
          <p:cNvPr id="6" name="Text 4"/>
          <p:cNvSpPr/>
          <p:nvPr/>
        </p:nvSpPr>
        <p:spPr>
          <a:xfrm>
            <a:off x="822960" y="2084832"/>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WHAT</a:t>
            </a:r>
            <a:endParaRPr lang="en-US" sz="850" dirty="0"/>
          </a:p>
        </p:txBody>
      </p:sp>
      <p:sp>
        <p:nvSpPr>
          <p:cNvPr id="7" name="Text 5"/>
          <p:cNvSpPr/>
          <p:nvPr/>
        </p:nvSpPr>
        <p:spPr>
          <a:xfrm>
            <a:off x="822960" y="2267712"/>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Full-stack battery energy storage systems (BESS) + proprietary EMS</a:t>
            </a:r>
            <a:endParaRPr lang="en-US" sz="1050" dirty="0"/>
          </a:p>
        </p:txBody>
      </p:sp>
      <p:sp>
        <p:nvSpPr>
          <p:cNvPr id="8" name="Text 6"/>
          <p:cNvSpPr/>
          <p:nvPr/>
        </p:nvSpPr>
        <p:spPr>
          <a:xfrm>
            <a:off x="822960" y="2683764"/>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FOUNDED</a:t>
            </a:r>
            <a:endParaRPr lang="en-US" sz="850" dirty="0"/>
          </a:p>
        </p:txBody>
      </p:sp>
      <p:sp>
        <p:nvSpPr>
          <p:cNvPr id="9" name="Text 7"/>
          <p:cNvSpPr/>
          <p:nvPr/>
        </p:nvSpPr>
        <p:spPr>
          <a:xfrm>
            <a:off x="822960" y="2866644"/>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2017 · IIT Bombay alumni</a:t>
            </a:r>
            <a:endParaRPr lang="en-US" sz="1050" dirty="0"/>
          </a:p>
        </p:txBody>
      </p:sp>
      <p:sp>
        <p:nvSpPr>
          <p:cNvPr id="10" name="Text 8"/>
          <p:cNvSpPr/>
          <p:nvPr/>
        </p:nvSpPr>
        <p:spPr>
          <a:xfrm>
            <a:off x="822960" y="3282696"/>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HQ</a:t>
            </a:r>
            <a:endParaRPr lang="en-US" sz="850" dirty="0"/>
          </a:p>
        </p:txBody>
      </p:sp>
      <p:sp>
        <p:nvSpPr>
          <p:cNvPr id="11" name="Text 9"/>
          <p:cNvSpPr/>
          <p:nvPr/>
        </p:nvSpPr>
        <p:spPr>
          <a:xfrm>
            <a:off x="822960" y="3465576"/>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Pune, Maharashtra</a:t>
            </a:r>
            <a:endParaRPr lang="en-US" sz="1050" dirty="0"/>
          </a:p>
        </p:txBody>
      </p:sp>
      <p:sp>
        <p:nvSpPr>
          <p:cNvPr id="12" name="Text 10"/>
          <p:cNvSpPr/>
          <p:nvPr/>
        </p:nvSpPr>
        <p:spPr>
          <a:xfrm>
            <a:off x="822960" y="3881628"/>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TEAM</a:t>
            </a:r>
            <a:endParaRPr lang="en-US" sz="850" dirty="0"/>
          </a:p>
        </p:txBody>
      </p:sp>
      <p:sp>
        <p:nvSpPr>
          <p:cNvPr id="13" name="Text 11"/>
          <p:cNvSpPr/>
          <p:nvPr/>
        </p:nvSpPr>
        <p:spPr>
          <a:xfrm>
            <a:off x="822960" y="4064508"/>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~93 employees</a:t>
            </a:r>
            <a:endParaRPr lang="en-US" sz="1050" dirty="0"/>
          </a:p>
        </p:txBody>
      </p:sp>
      <p:sp>
        <p:nvSpPr>
          <p:cNvPr id="14" name="Text 12"/>
          <p:cNvSpPr/>
          <p:nvPr/>
        </p:nvSpPr>
        <p:spPr>
          <a:xfrm>
            <a:off x="822960" y="4480560"/>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FUNDING</a:t>
            </a:r>
            <a:endParaRPr lang="en-US" sz="850" dirty="0"/>
          </a:p>
        </p:txBody>
      </p:sp>
      <p:sp>
        <p:nvSpPr>
          <p:cNvPr id="15" name="Text 13"/>
          <p:cNvSpPr/>
          <p:nvPr/>
        </p:nvSpPr>
        <p:spPr>
          <a:xfrm>
            <a:off x="822960" y="4663440"/>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~$7M total; $5M Series A (Mar-25, Avaana Capital)</a:t>
            </a:r>
            <a:endParaRPr lang="en-US" sz="1050" dirty="0"/>
          </a:p>
        </p:txBody>
      </p:sp>
      <p:sp>
        <p:nvSpPr>
          <p:cNvPr id="16" name="Text 14"/>
          <p:cNvSpPr/>
          <p:nvPr/>
        </p:nvSpPr>
        <p:spPr>
          <a:xfrm>
            <a:off x="822960" y="5079492"/>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REVENUE</a:t>
            </a:r>
            <a:endParaRPr lang="en-US" sz="850" dirty="0"/>
          </a:p>
        </p:txBody>
      </p:sp>
      <p:sp>
        <p:nvSpPr>
          <p:cNvPr id="17" name="Text 15"/>
          <p:cNvSpPr/>
          <p:nvPr/>
        </p:nvSpPr>
        <p:spPr>
          <a:xfrm>
            <a:off x="822960" y="5262372"/>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~$6.8M (FY26, est.)</a:t>
            </a:r>
            <a:endParaRPr lang="en-US" sz="1050" dirty="0"/>
          </a:p>
        </p:txBody>
      </p:sp>
      <p:sp>
        <p:nvSpPr>
          <p:cNvPr id="18" name="Text 16"/>
          <p:cNvSpPr/>
          <p:nvPr/>
        </p:nvSpPr>
        <p:spPr>
          <a:xfrm>
            <a:off x="822960" y="5678424"/>
            <a:ext cx="27432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DEPLOYED</a:t>
            </a:r>
            <a:endParaRPr lang="en-US" sz="850" dirty="0"/>
          </a:p>
        </p:txBody>
      </p:sp>
      <p:sp>
        <p:nvSpPr>
          <p:cNvPr id="19" name="Text 17"/>
          <p:cNvSpPr/>
          <p:nvPr/>
        </p:nvSpPr>
        <p:spPr>
          <a:xfrm>
            <a:off x="822960" y="5861304"/>
            <a:ext cx="2743200" cy="384048"/>
          </a:xfrm>
          <a:prstGeom prst="rect">
            <a:avLst/>
          </a:prstGeom>
          <a:noFill/>
          <a:ln/>
        </p:spPr>
        <p:txBody>
          <a:bodyPr wrap="square" lIns="0" tIns="0" rIns="0" bIns="0" rtlCol="0" anchor="t"/>
          <a:lstStyle/>
          <a:p>
            <a:pPr marL="0" indent="0">
              <a:lnSpc>
                <a:spcPct val="95000"/>
              </a:lnSpc>
              <a:buNone/>
            </a:pPr>
            <a:r>
              <a:rPr lang="en-US" sz="1050" dirty="0">
                <a:solidFill>
                  <a:srgbClr val="E6EFF0"/>
                </a:solidFill>
                <a:latin typeface="Calibri" pitchFamily="34" charset="0"/>
                <a:ea typeface="Calibri" pitchFamily="34" charset="-122"/>
                <a:cs typeface="Calibri" pitchFamily="34" charset="-120"/>
              </a:rPr>
              <a:t>~100 MWh live · ~1 GWh in execution</a:t>
            </a:r>
            <a:endParaRPr lang="en-US" sz="1050" dirty="0"/>
          </a:p>
        </p:txBody>
      </p:sp>
      <p:sp>
        <p:nvSpPr>
          <p:cNvPr id="20" name="Shape 18"/>
          <p:cNvSpPr/>
          <p:nvPr/>
        </p:nvSpPr>
        <p:spPr>
          <a:xfrm>
            <a:off x="4069080" y="1481328"/>
            <a:ext cx="3640684" cy="1481328"/>
          </a:xfrm>
          <a:prstGeom prst="roundRect">
            <a:avLst>
              <a:gd name="adj" fmla="val 370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1" name="Shape 19"/>
          <p:cNvSpPr/>
          <p:nvPr/>
        </p:nvSpPr>
        <p:spPr>
          <a:xfrm>
            <a:off x="4069080" y="1481328"/>
            <a:ext cx="64008" cy="1481328"/>
          </a:xfrm>
          <a:prstGeom prst="rect">
            <a:avLst/>
          </a:prstGeom>
          <a:solidFill>
            <a:srgbClr val="0E7C77"/>
          </a:solidFill>
          <a:ln/>
        </p:spPr>
        <p:txBody>
          <a:bodyPr/>
          <a:lstStyle/>
          <a:p>
            <a:endParaRPr lang="en-US"/>
          </a:p>
        </p:txBody>
      </p:sp>
      <p:sp>
        <p:nvSpPr>
          <p:cNvPr id="22" name="Shape 20"/>
          <p:cNvSpPr/>
          <p:nvPr/>
        </p:nvSpPr>
        <p:spPr>
          <a:xfrm>
            <a:off x="4306824" y="1719072"/>
            <a:ext cx="566928" cy="566928"/>
          </a:xfrm>
          <a:prstGeom prst="ellipse">
            <a:avLst/>
          </a:prstGeom>
          <a:solidFill>
            <a:srgbClr val="0E7C77"/>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4454225" y="1866473"/>
            <a:ext cx="272125" cy="272125"/>
          </a:xfrm>
          <a:prstGeom prst="rect">
            <a:avLst/>
          </a:prstGeom>
        </p:spPr>
      </p:pic>
      <p:sp>
        <p:nvSpPr>
          <p:cNvPr id="24" name="Text 21"/>
          <p:cNvSpPr/>
          <p:nvPr/>
        </p:nvSpPr>
        <p:spPr>
          <a:xfrm>
            <a:off x="5001768" y="1700784"/>
            <a:ext cx="2543404" cy="548640"/>
          </a:xfrm>
          <a:prstGeom prst="rect">
            <a:avLst/>
          </a:prstGeom>
          <a:noFill/>
          <a:ln/>
        </p:spPr>
        <p:txBody>
          <a:bodyPr wrap="square" lIns="0" tIns="0" rIns="0" bIns="0" rtlCol="0" anchor="ctr"/>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Structural tailwind</a:t>
            </a:r>
            <a:endParaRPr lang="en-US" sz="1450" dirty="0"/>
          </a:p>
        </p:txBody>
      </p:sp>
      <p:sp>
        <p:nvSpPr>
          <p:cNvPr id="25" name="Text 22"/>
          <p:cNvSpPr/>
          <p:nvPr/>
        </p:nvSpPr>
        <p:spPr>
          <a:xfrm>
            <a:off x="4325112" y="2267712"/>
            <a:ext cx="3165196" cy="621792"/>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India needs ~236 GWh of BESS by FY32 (CEA) vs ~0.5 GWh live today — a &gt;450x build-out, underwritten by policy.</a:t>
            </a:r>
            <a:endParaRPr lang="en-US" sz="1030" dirty="0"/>
          </a:p>
        </p:txBody>
      </p:sp>
      <p:sp>
        <p:nvSpPr>
          <p:cNvPr id="26" name="Shape 23"/>
          <p:cNvSpPr/>
          <p:nvPr/>
        </p:nvSpPr>
        <p:spPr>
          <a:xfrm>
            <a:off x="7984084" y="1481328"/>
            <a:ext cx="3640684" cy="1481328"/>
          </a:xfrm>
          <a:prstGeom prst="roundRect">
            <a:avLst>
              <a:gd name="adj" fmla="val 370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7" name="Shape 24"/>
          <p:cNvSpPr/>
          <p:nvPr/>
        </p:nvSpPr>
        <p:spPr>
          <a:xfrm>
            <a:off x="7984084" y="1481328"/>
            <a:ext cx="64008" cy="1481328"/>
          </a:xfrm>
          <a:prstGeom prst="rect">
            <a:avLst/>
          </a:prstGeom>
          <a:solidFill>
            <a:srgbClr val="0E7C77"/>
          </a:solidFill>
          <a:ln/>
        </p:spPr>
        <p:txBody>
          <a:bodyPr/>
          <a:lstStyle/>
          <a:p>
            <a:endParaRPr lang="en-US"/>
          </a:p>
        </p:txBody>
      </p:sp>
      <p:sp>
        <p:nvSpPr>
          <p:cNvPr id="28" name="Shape 25"/>
          <p:cNvSpPr/>
          <p:nvPr/>
        </p:nvSpPr>
        <p:spPr>
          <a:xfrm>
            <a:off x="8221828" y="1719072"/>
            <a:ext cx="566928" cy="566928"/>
          </a:xfrm>
          <a:prstGeom prst="ellipse">
            <a:avLst/>
          </a:prstGeom>
          <a:solidFill>
            <a:srgbClr val="0E7C77"/>
          </a:solidFill>
          <a:ln/>
        </p:spPr>
        <p:txBody>
          <a:bodyPr/>
          <a:lstStyle/>
          <a:p>
            <a:endParaRPr lang="en-US"/>
          </a:p>
        </p:txBody>
      </p:sp>
      <p:pic>
        <p:nvPicPr>
          <p:cNvPr id="29" name="Image 1" descr="preencoded.png"/>
          <p:cNvPicPr>
            <a:picLocks noChangeAspect="1"/>
          </p:cNvPicPr>
          <p:nvPr/>
        </p:nvPicPr>
        <p:blipFill>
          <a:blip r:embed="rId4"/>
          <a:stretch>
            <a:fillRect/>
          </a:stretch>
        </p:blipFill>
        <p:spPr>
          <a:xfrm>
            <a:off x="8369229" y="1866473"/>
            <a:ext cx="272125" cy="272125"/>
          </a:xfrm>
          <a:prstGeom prst="rect">
            <a:avLst/>
          </a:prstGeom>
        </p:spPr>
      </p:pic>
      <p:sp>
        <p:nvSpPr>
          <p:cNvPr id="30" name="Text 26"/>
          <p:cNvSpPr/>
          <p:nvPr/>
        </p:nvSpPr>
        <p:spPr>
          <a:xfrm>
            <a:off x="8916772" y="1700784"/>
            <a:ext cx="2543404" cy="548640"/>
          </a:xfrm>
          <a:prstGeom prst="rect">
            <a:avLst/>
          </a:prstGeom>
          <a:noFill/>
          <a:ln/>
        </p:spPr>
        <p:txBody>
          <a:bodyPr wrap="square" lIns="0" tIns="0" rIns="0" bIns="0" rtlCol="0" anchor="ctr"/>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Software-led moat</a:t>
            </a:r>
            <a:endParaRPr lang="en-US" sz="1450" dirty="0"/>
          </a:p>
        </p:txBody>
      </p:sp>
      <p:sp>
        <p:nvSpPr>
          <p:cNvPr id="31" name="Text 27"/>
          <p:cNvSpPr/>
          <p:nvPr/>
        </p:nvSpPr>
        <p:spPr>
          <a:xfrm>
            <a:off x="8240116" y="2267712"/>
            <a:ext cx="3165196" cy="621792"/>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ELINA EMS + chemistry-agnostic, asset-light integration differentiate vs commoditised hardware and cell-heavy peers.</a:t>
            </a:r>
            <a:endParaRPr lang="en-US" sz="1030" dirty="0"/>
          </a:p>
        </p:txBody>
      </p:sp>
      <p:sp>
        <p:nvSpPr>
          <p:cNvPr id="32" name="Shape 28"/>
          <p:cNvSpPr/>
          <p:nvPr/>
        </p:nvSpPr>
        <p:spPr>
          <a:xfrm>
            <a:off x="4069080" y="3209544"/>
            <a:ext cx="3640684" cy="1481328"/>
          </a:xfrm>
          <a:prstGeom prst="roundRect">
            <a:avLst>
              <a:gd name="adj" fmla="val 370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33" name="Shape 29"/>
          <p:cNvSpPr/>
          <p:nvPr/>
        </p:nvSpPr>
        <p:spPr>
          <a:xfrm>
            <a:off x="4069080" y="3209544"/>
            <a:ext cx="64008" cy="1481328"/>
          </a:xfrm>
          <a:prstGeom prst="rect">
            <a:avLst/>
          </a:prstGeom>
          <a:solidFill>
            <a:srgbClr val="0E7C77"/>
          </a:solidFill>
          <a:ln/>
        </p:spPr>
        <p:txBody>
          <a:bodyPr/>
          <a:lstStyle/>
          <a:p>
            <a:endParaRPr lang="en-US"/>
          </a:p>
        </p:txBody>
      </p:sp>
      <p:sp>
        <p:nvSpPr>
          <p:cNvPr id="34" name="Shape 30"/>
          <p:cNvSpPr/>
          <p:nvPr/>
        </p:nvSpPr>
        <p:spPr>
          <a:xfrm>
            <a:off x="4306824" y="3447288"/>
            <a:ext cx="566928" cy="566928"/>
          </a:xfrm>
          <a:prstGeom prst="ellipse">
            <a:avLst/>
          </a:prstGeom>
          <a:solidFill>
            <a:srgbClr val="0E7C77"/>
          </a:solidFill>
          <a:ln/>
        </p:spPr>
        <p:txBody>
          <a:bodyPr/>
          <a:lstStyle/>
          <a:p>
            <a:endParaRPr lang="en-US"/>
          </a:p>
        </p:txBody>
      </p:sp>
      <p:pic>
        <p:nvPicPr>
          <p:cNvPr id="35" name="Image 2" descr="preencoded.png"/>
          <p:cNvPicPr>
            <a:picLocks noChangeAspect="1"/>
          </p:cNvPicPr>
          <p:nvPr/>
        </p:nvPicPr>
        <p:blipFill>
          <a:blip r:embed="rId5"/>
          <a:stretch>
            <a:fillRect/>
          </a:stretch>
        </p:blipFill>
        <p:spPr>
          <a:xfrm>
            <a:off x="4454225" y="3594689"/>
            <a:ext cx="272125" cy="272125"/>
          </a:xfrm>
          <a:prstGeom prst="rect">
            <a:avLst/>
          </a:prstGeom>
        </p:spPr>
      </p:pic>
      <p:sp>
        <p:nvSpPr>
          <p:cNvPr id="36" name="Text 31"/>
          <p:cNvSpPr/>
          <p:nvPr/>
        </p:nvSpPr>
        <p:spPr>
          <a:xfrm>
            <a:off x="5001768" y="3429000"/>
            <a:ext cx="2543404" cy="548640"/>
          </a:xfrm>
          <a:prstGeom prst="rect">
            <a:avLst/>
          </a:prstGeom>
          <a:noFill/>
          <a:ln/>
        </p:spPr>
        <p:txBody>
          <a:bodyPr wrap="square" lIns="0" tIns="0" rIns="0" bIns="0" rtlCol="0" anchor="ctr"/>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Early proof at scale</a:t>
            </a:r>
            <a:endParaRPr lang="en-US" sz="1450" dirty="0"/>
          </a:p>
        </p:txBody>
      </p:sp>
      <p:sp>
        <p:nvSpPr>
          <p:cNvPr id="37" name="Text 32"/>
          <p:cNvSpPr/>
          <p:nvPr/>
        </p:nvSpPr>
        <p:spPr>
          <a:xfrm>
            <a:off x="4325112" y="3995928"/>
            <a:ext cx="3165196" cy="621792"/>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Delivered India's first regulatory-approved utility BESS (Delhi); claims ~1/3 of contracted capacity to date.*</a:t>
            </a:r>
            <a:endParaRPr lang="en-US" sz="1030" dirty="0"/>
          </a:p>
        </p:txBody>
      </p:sp>
      <p:sp>
        <p:nvSpPr>
          <p:cNvPr id="38" name="Shape 33"/>
          <p:cNvSpPr/>
          <p:nvPr/>
        </p:nvSpPr>
        <p:spPr>
          <a:xfrm>
            <a:off x="7984084" y="3209544"/>
            <a:ext cx="3640684" cy="1481328"/>
          </a:xfrm>
          <a:prstGeom prst="roundRect">
            <a:avLst>
              <a:gd name="adj" fmla="val 370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39" name="Shape 34"/>
          <p:cNvSpPr/>
          <p:nvPr/>
        </p:nvSpPr>
        <p:spPr>
          <a:xfrm>
            <a:off x="7984084" y="3209544"/>
            <a:ext cx="64008" cy="1481328"/>
          </a:xfrm>
          <a:prstGeom prst="rect">
            <a:avLst/>
          </a:prstGeom>
          <a:solidFill>
            <a:srgbClr val="F2A516"/>
          </a:solidFill>
          <a:ln/>
        </p:spPr>
        <p:txBody>
          <a:bodyPr/>
          <a:lstStyle/>
          <a:p>
            <a:endParaRPr lang="en-US"/>
          </a:p>
        </p:txBody>
      </p:sp>
      <p:sp>
        <p:nvSpPr>
          <p:cNvPr id="40" name="Shape 35"/>
          <p:cNvSpPr/>
          <p:nvPr/>
        </p:nvSpPr>
        <p:spPr>
          <a:xfrm>
            <a:off x="8221828" y="3447288"/>
            <a:ext cx="566928" cy="566928"/>
          </a:xfrm>
          <a:prstGeom prst="ellipse">
            <a:avLst/>
          </a:prstGeom>
          <a:solidFill>
            <a:srgbClr val="F2A516"/>
          </a:solidFill>
          <a:ln/>
        </p:spPr>
        <p:txBody>
          <a:bodyPr/>
          <a:lstStyle/>
          <a:p>
            <a:endParaRPr lang="en-US"/>
          </a:p>
        </p:txBody>
      </p:sp>
      <p:pic>
        <p:nvPicPr>
          <p:cNvPr id="41" name="Image 3" descr="preencoded.png"/>
          <p:cNvPicPr>
            <a:picLocks noChangeAspect="1"/>
          </p:cNvPicPr>
          <p:nvPr/>
        </p:nvPicPr>
        <p:blipFill>
          <a:blip r:embed="rId6"/>
          <a:stretch>
            <a:fillRect/>
          </a:stretch>
        </p:blipFill>
        <p:spPr>
          <a:xfrm>
            <a:off x="8369229" y="3594689"/>
            <a:ext cx="272125" cy="272125"/>
          </a:xfrm>
          <a:prstGeom prst="rect">
            <a:avLst/>
          </a:prstGeom>
        </p:spPr>
      </p:pic>
      <p:sp>
        <p:nvSpPr>
          <p:cNvPr id="42" name="Text 36"/>
          <p:cNvSpPr/>
          <p:nvPr/>
        </p:nvSpPr>
        <p:spPr>
          <a:xfrm>
            <a:off x="8916772" y="3429000"/>
            <a:ext cx="2543404" cy="548640"/>
          </a:xfrm>
          <a:prstGeom prst="rect">
            <a:avLst/>
          </a:prstGeom>
          <a:noFill/>
          <a:ln/>
        </p:spPr>
        <p:txBody>
          <a:bodyPr wrap="square" lIns="0" tIns="0" rIns="0" bIns="0" rtlCol="0" anchor="ctr"/>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Bet vs. the giants</a:t>
            </a:r>
            <a:endParaRPr lang="en-US" sz="1450" dirty="0"/>
          </a:p>
        </p:txBody>
      </p:sp>
      <p:sp>
        <p:nvSpPr>
          <p:cNvPr id="43" name="Text 37"/>
          <p:cNvSpPr/>
          <p:nvPr/>
        </p:nvSpPr>
        <p:spPr>
          <a:xfrm>
            <a:off x="8240116" y="3995928"/>
            <a:ext cx="3165196" cy="621792"/>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Edge is real, but capital depth lags Adani/Tata/Reliance — the wager is software + speed over balance sheet.</a:t>
            </a:r>
            <a:endParaRPr lang="en-US" sz="1030" dirty="0"/>
          </a:p>
        </p:txBody>
      </p:sp>
      <p:sp>
        <p:nvSpPr>
          <p:cNvPr id="44" name="Shape 38"/>
          <p:cNvSpPr/>
          <p:nvPr/>
        </p:nvSpPr>
        <p:spPr>
          <a:xfrm>
            <a:off x="4069080" y="5212080"/>
            <a:ext cx="7555687" cy="1069848"/>
          </a:xfrm>
          <a:prstGeom prst="roundRect">
            <a:avLst>
              <a:gd name="adj" fmla="val 5983"/>
            </a:avLst>
          </a:prstGeom>
          <a:solidFill>
            <a:srgbClr val="0E7C77"/>
          </a:solidFill>
          <a:ln/>
          <a:effectLst>
            <a:outerShdw blurRad="76200" dist="25400" dir="8100000" algn="bl" rotWithShape="0">
              <a:srgbClr val="0E2A38">
                <a:alpha val="10000"/>
              </a:srgbClr>
            </a:outerShdw>
          </a:effectLst>
        </p:spPr>
        <p:txBody>
          <a:bodyPr/>
          <a:lstStyle/>
          <a:p>
            <a:endParaRPr lang="en-US"/>
          </a:p>
        </p:txBody>
      </p:sp>
      <p:sp>
        <p:nvSpPr>
          <p:cNvPr id="45" name="Shape 39"/>
          <p:cNvSpPr/>
          <p:nvPr/>
        </p:nvSpPr>
        <p:spPr>
          <a:xfrm>
            <a:off x="4343400" y="5413248"/>
            <a:ext cx="658368" cy="658368"/>
          </a:xfrm>
          <a:prstGeom prst="ellipse">
            <a:avLst/>
          </a:prstGeom>
          <a:solidFill>
            <a:srgbClr val="F2A516"/>
          </a:solidFill>
          <a:ln/>
        </p:spPr>
        <p:txBody>
          <a:bodyPr/>
          <a:lstStyle/>
          <a:p>
            <a:endParaRPr lang="en-US"/>
          </a:p>
        </p:txBody>
      </p:sp>
      <p:pic>
        <p:nvPicPr>
          <p:cNvPr id="46" name="Image 4" descr="preencoded.png"/>
          <p:cNvPicPr>
            <a:picLocks noChangeAspect="1"/>
          </p:cNvPicPr>
          <p:nvPr/>
        </p:nvPicPr>
        <p:blipFill>
          <a:blip r:embed="rId7"/>
          <a:stretch>
            <a:fillRect/>
          </a:stretch>
        </p:blipFill>
        <p:spPr>
          <a:xfrm>
            <a:off x="4514576" y="5584424"/>
            <a:ext cx="316017" cy="316017"/>
          </a:xfrm>
          <a:prstGeom prst="rect">
            <a:avLst/>
          </a:prstGeom>
        </p:spPr>
      </p:pic>
      <p:sp>
        <p:nvSpPr>
          <p:cNvPr id="47" name="Text 40"/>
          <p:cNvSpPr/>
          <p:nvPr/>
        </p:nvSpPr>
        <p:spPr>
          <a:xfrm>
            <a:off x="5212080" y="5285232"/>
            <a:ext cx="6184087" cy="914400"/>
          </a:xfrm>
          <a:prstGeom prst="rect">
            <a:avLst/>
          </a:prstGeom>
          <a:noFill/>
          <a:ln/>
        </p:spPr>
        <p:txBody>
          <a:bodyPr wrap="square" lIns="0" tIns="0" rIns="0" bIns="0" rtlCol="0" anchor="ctr"/>
          <a:lstStyle/>
          <a:p>
            <a:pPr marL="0" indent="0" algn="l">
              <a:lnSpc>
                <a:spcPct val="98000"/>
              </a:lnSpc>
              <a:buNone/>
            </a:pPr>
            <a:r>
              <a:rPr lang="en-US" sz="1100" b="1" kern="0" spc="100" dirty="0">
                <a:solidFill>
                  <a:srgbClr val="BFE6E2"/>
                </a:solidFill>
              </a:rPr>
              <a:t>RECOMMENDATION   </a:t>
            </a:r>
            <a:endParaRPr lang="en-US" sz="1100" spc="100" dirty="0"/>
          </a:p>
          <a:p>
            <a:pPr marL="0" indent="0" algn="l">
              <a:lnSpc>
                <a:spcPct val="98000"/>
              </a:lnSpc>
              <a:buNone/>
            </a:pPr>
            <a:r>
              <a:rPr lang="en-US" sz="1400" b="1" dirty="0">
                <a:solidFill>
                  <a:srgbClr val="FFFFFF"/>
                </a:solidFill>
              </a:rPr>
              <a:t>Conditional YES — proceed to diligence. </a:t>
            </a:r>
            <a:r>
              <a:rPr lang="en-US" sz="1100" dirty="0">
                <a:solidFill>
                  <a:srgbClr val="E9F5F4"/>
                </a:solidFill>
              </a:rPr>
              <a:t>Attractive early exposure to a policy-backed, fast-growing market with a differentiated, asset-light model — pending validation of unit economics, capital strategy and software defensibility.</a:t>
            </a:r>
            <a:endParaRPr lang="en-US" sz="1100" dirty="0"/>
          </a:p>
        </p:txBody>
      </p:sp>
      <p:sp>
        <p:nvSpPr>
          <p:cNvPr id="48" name="Text 41"/>
          <p:cNvSpPr/>
          <p:nvPr/>
        </p:nvSpPr>
        <p:spPr>
          <a:xfrm>
            <a:off x="566928" y="6473952"/>
            <a:ext cx="4572000" cy="228600"/>
          </a:xfrm>
          <a:prstGeom prst="rect">
            <a:avLst/>
          </a:prstGeom>
          <a:noFill/>
          <a:ln/>
        </p:spPr>
        <p:txBody>
          <a:bodyPr wrap="square" lIns="0" tIns="0" rIns="0" bIns="0" rtlCol="0" anchor="ctr"/>
          <a:lstStyle/>
          <a:p>
            <a:pPr marL="0" indent="0">
              <a:buNone/>
            </a:pPr>
            <a:r>
              <a:rPr lang="en-US" sz="750" i="1" dirty="0">
                <a:solidFill>
                  <a:srgbClr val="6E7F87"/>
                </a:solidFill>
                <a:latin typeface="Calibri" pitchFamily="34" charset="0"/>
                <a:ea typeface="Calibri" pitchFamily="34" charset="-122"/>
                <a:cs typeface="Calibri" pitchFamily="34" charset="-120"/>
              </a:rPr>
              <a:t>*Company / investor-reported; to be independently validated.</a:t>
            </a:r>
            <a:endParaRPr lang="en-US" sz="750" dirty="0"/>
          </a:p>
        </p:txBody>
      </p:sp>
      <p:sp>
        <p:nvSpPr>
          <p:cNvPr id="49" name="Text 42"/>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02  ·  COMPANY OVERVIEW</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Plugging the gap in India's energy value chain</a:t>
            </a:r>
            <a:endParaRPr lang="en-US" sz="2700" dirty="0"/>
          </a:p>
        </p:txBody>
      </p:sp>
      <p:sp>
        <p:nvSpPr>
          <p:cNvPr id="4" name="Shape 2"/>
          <p:cNvSpPr/>
          <p:nvPr/>
        </p:nvSpPr>
        <p:spPr>
          <a:xfrm>
            <a:off x="566928" y="1463040"/>
            <a:ext cx="598932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5" name="Shape 3"/>
          <p:cNvSpPr/>
          <p:nvPr/>
        </p:nvSpPr>
        <p:spPr>
          <a:xfrm>
            <a:off x="786384" y="1700784"/>
            <a:ext cx="548640" cy="548640"/>
          </a:xfrm>
          <a:prstGeom prst="ellipse">
            <a:avLst/>
          </a:prstGeom>
          <a:solidFill>
            <a:srgbClr val="F2A51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29030" y="1843430"/>
            <a:ext cx="263347" cy="263347"/>
          </a:xfrm>
          <a:prstGeom prst="rect">
            <a:avLst/>
          </a:prstGeom>
        </p:spPr>
      </p:pic>
      <p:sp>
        <p:nvSpPr>
          <p:cNvPr id="7" name="Text 4"/>
          <p:cNvSpPr/>
          <p:nvPr/>
        </p:nvSpPr>
        <p:spPr>
          <a:xfrm>
            <a:off x="1463040" y="1591056"/>
            <a:ext cx="4892040" cy="274320"/>
          </a:xfrm>
          <a:prstGeom prst="rect">
            <a:avLst/>
          </a:prstGeom>
          <a:noFill/>
          <a:ln/>
        </p:spPr>
        <p:txBody>
          <a:bodyPr wrap="square" lIns="0" tIns="0" rIns="0" bIns="0" rtlCol="0" anchor="ctr"/>
          <a:lstStyle/>
          <a:p>
            <a:pPr marL="0" indent="0">
              <a:buNone/>
            </a:pPr>
            <a:r>
              <a:rPr lang="en-US" sz="1400" b="1" dirty="0">
                <a:solidFill>
                  <a:srgbClr val="15262F"/>
                </a:solidFill>
                <a:latin typeface="Georgia" pitchFamily="34" charset="0"/>
                <a:ea typeface="Georgia" pitchFamily="34" charset="-122"/>
                <a:cs typeface="Georgia" pitchFamily="34" charset="-120"/>
              </a:rPr>
              <a:t>The problem</a:t>
            </a:r>
            <a:endParaRPr lang="en-US" sz="1400" dirty="0"/>
          </a:p>
        </p:txBody>
      </p:sp>
      <p:sp>
        <p:nvSpPr>
          <p:cNvPr id="8" name="Text 5"/>
          <p:cNvSpPr/>
          <p:nvPr/>
        </p:nvSpPr>
        <p:spPr>
          <a:xfrm>
            <a:off x="1463040" y="1874520"/>
            <a:ext cx="4873752" cy="548640"/>
          </a:xfrm>
          <a:prstGeom prst="rect">
            <a:avLst/>
          </a:prstGeom>
          <a:noFill/>
          <a:ln/>
        </p:spPr>
        <p:txBody>
          <a:bodyPr wrap="square" lIns="0" tIns="0" rIns="0" bIns="0" rtlCol="0" anchor="t"/>
          <a:lstStyle/>
          <a:p>
            <a:pPr marL="0" indent="0">
              <a:lnSpc>
                <a:spcPct val="97000"/>
              </a:lnSpc>
              <a:buNone/>
            </a:pPr>
            <a:r>
              <a:rPr lang="en-US" sz="1020" dirty="0">
                <a:solidFill>
                  <a:srgbClr val="374952"/>
                </a:solidFill>
                <a:latin typeface="Calibri" pitchFamily="34" charset="0"/>
                <a:ea typeface="Calibri" pitchFamily="34" charset="-122"/>
                <a:cs typeface="Calibri" pitchFamily="34" charset="-120"/>
              </a:rPr>
              <a:t>Solar floods the grid by day and collapses at dusk — the 'duck curve.' Without storage, renewables can't deliver firm, dispatchable power, and grids lean on diesel and costly peaking capacity.</a:t>
            </a:r>
            <a:endParaRPr lang="en-US" sz="1020" dirty="0"/>
          </a:p>
        </p:txBody>
      </p:sp>
      <p:sp>
        <p:nvSpPr>
          <p:cNvPr id="9" name="Shape 6"/>
          <p:cNvSpPr/>
          <p:nvPr/>
        </p:nvSpPr>
        <p:spPr>
          <a:xfrm>
            <a:off x="566928" y="2596896"/>
            <a:ext cx="598932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10" name="Shape 7"/>
          <p:cNvSpPr/>
          <p:nvPr/>
        </p:nvSpPr>
        <p:spPr>
          <a:xfrm>
            <a:off x="786384" y="2834640"/>
            <a:ext cx="548640" cy="548640"/>
          </a:xfrm>
          <a:prstGeom prst="ellipse">
            <a:avLst/>
          </a:prstGeom>
          <a:solidFill>
            <a:srgbClr val="0E7C77"/>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929030" y="2977286"/>
            <a:ext cx="263347" cy="263347"/>
          </a:xfrm>
          <a:prstGeom prst="rect">
            <a:avLst/>
          </a:prstGeom>
        </p:spPr>
      </p:pic>
      <p:sp>
        <p:nvSpPr>
          <p:cNvPr id="12" name="Text 8"/>
          <p:cNvSpPr/>
          <p:nvPr/>
        </p:nvSpPr>
        <p:spPr>
          <a:xfrm>
            <a:off x="1463040" y="2724912"/>
            <a:ext cx="4892040" cy="274320"/>
          </a:xfrm>
          <a:prstGeom prst="rect">
            <a:avLst/>
          </a:prstGeom>
          <a:noFill/>
          <a:ln/>
        </p:spPr>
        <p:txBody>
          <a:bodyPr wrap="square" lIns="0" tIns="0" rIns="0" bIns="0" rtlCol="0" anchor="ctr"/>
          <a:lstStyle/>
          <a:p>
            <a:pPr marL="0" indent="0">
              <a:buNone/>
            </a:pPr>
            <a:r>
              <a:rPr lang="en-US" sz="1400" b="1" dirty="0">
                <a:solidFill>
                  <a:srgbClr val="15262F"/>
                </a:solidFill>
                <a:latin typeface="Georgia" pitchFamily="34" charset="0"/>
                <a:ea typeface="Georgia" pitchFamily="34" charset="-122"/>
                <a:cs typeface="Georgia" pitchFamily="34" charset="-120"/>
              </a:rPr>
              <a:t>The solution</a:t>
            </a:r>
            <a:endParaRPr lang="en-US" sz="1400" dirty="0"/>
          </a:p>
        </p:txBody>
      </p:sp>
      <p:sp>
        <p:nvSpPr>
          <p:cNvPr id="13" name="Text 9"/>
          <p:cNvSpPr/>
          <p:nvPr/>
        </p:nvSpPr>
        <p:spPr>
          <a:xfrm>
            <a:off x="1463040" y="3008376"/>
            <a:ext cx="4873752" cy="548640"/>
          </a:xfrm>
          <a:prstGeom prst="rect">
            <a:avLst/>
          </a:prstGeom>
          <a:noFill/>
          <a:ln/>
        </p:spPr>
        <p:txBody>
          <a:bodyPr wrap="square" lIns="0" tIns="0" rIns="0" bIns="0" rtlCol="0" anchor="t"/>
          <a:lstStyle/>
          <a:p>
            <a:pPr marL="0" indent="0">
              <a:lnSpc>
                <a:spcPct val="97000"/>
              </a:lnSpc>
              <a:buNone/>
            </a:pPr>
            <a:r>
              <a:rPr lang="en-US" sz="1020" dirty="0">
                <a:solidFill>
                  <a:srgbClr val="374952"/>
                </a:solidFill>
                <a:latin typeface="Calibri" pitchFamily="34" charset="0"/>
                <a:ea typeface="Calibri" pitchFamily="34" charset="-122"/>
                <a:cs typeface="Calibri" pitchFamily="34" charset="-120"/>
              </a:rPr>
              <a:t>Modular, plug-and-play BESS (the AH-Stack) integrated end-to-end and run by ELINA, an AI/ML energy-management platform — delivered turnkey for utilities, C&amp;I users and mini-grids.</a:t>
            </a:r>
            <a:endParaRPr lang="en-US" sz="1020" dirty="0"/>
          </a:p>
        </p:txBody>
      </p:sp>
      <p:sp>
        <p:nvSpPr>
          <p:cNvPr id="14" name="Shape 10"/>
          <p:cNvSpPr/>
          <p:nvPr/>
        </p:nvSpPr>
        <p:spPr>
          <a:xfrm>
            <a:off x="566928" y="3730752"/>
            <a:ext cx="598932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15" name="Shape 11"/>
          <p:cNvSpPr/>
          <p:nvPr/>
        </p:nvSpPr>
        <p:spPr>
          <a:xfrm>
            <a:off x="786384" y="3968496"/>
            <a:ext cx="548640" cy="548640"/>
          </a:xfrm>
          <a:prstGeom prst="ellipse">
            <a:avLst/>
          </a:prstGeom>
          <a:solidFill>
            <a:srgbClr val="0E7C77"/>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929030" y="4111142"/>
            <a:ext cx="263347" cy="263347"/>
          </a:xfrm>
          <a:prstGeom prst="rect">
            <a:avLst/>
          </a:prstGeom>
        </p:spPr>
      </p:pic>
      <p:sp>
        <p:nvSpPr>
          <p:cNvPr id="17" name="Text 12"/>
          <p:cNvSpPr/>
          <p:nvPr/>
        </p:nvSpPr>
        <p:spPr>
          <a:xfrm>
            <a:off x="1463040" y="3858768"/>
            <a:ext cx="4892040" cy="274320"/>
          </a:xfrm>
          <a:prstGeom prst="rect">
            <a:avLst/>
          </a:prstGeom>
          <a:noFill/>
          <a:ln/>
        </p:spPr>
        <p:txBody>
          <a:bodyPr wrap="square" lIns="0" tIns="0" rIns="0" bIns="0" rtlCol="0" anchor="ctr"/>
          <a:lstStyle/>
          <a:p>
            <a:pPr marL="0" indent="0">
              <a:buNone/>
            </a:pPr>
            <a:r>
              <a:rPr lang="en-US" sz="1400" b="1" dirty="0">
                <a:solidFill>
                  <a:srgbClr val="15262F"/>
                </a:solidFill>
                <a:latin typeface="Georgia" pitchFamily="34" charset="0"/>
                <a:ea typeface="Georgia" pitchFamily="34" charset="-122"/>
                <a:cs typeface="Georgia" pitchFamily="34" charset="-120"/>
              </a:rPr>
              <a:t>Value proposition</a:t>
            </a:r>
            <a:endParaRPr lang="en-US" sz="1400" dirty="0"/>
          </a:p>
        </p:txBody>
      </p:sp>
      <p:sp>
        <p:nvSpPr>
          <p:cNvPr id="18" name="Text 13"/>
          <p:cNvSpPr/>
          <p:nvPr/>
        </p:nvSpPr>
        <p:spPr>
          <a:xfrm>
            <a:off x="1463040" y="4142232"/>
            <a:ext cx="4873752" cy="548640"/>
          </a:xfrm>
          <a:prstGeom prst="rect">
            <a:avLst/>
          </a:prstGeom>
          <a:noFill/>
          <a:ln/>
        </p:spPr>
        <p:txBody>
          <a:bodyPr wrap="square" lIns="0" tIns="0" rIns="0" bIns="0" rtlCol="0" anchor="t"/>
          <a:lstStyle/>
          <a:p>
            <a:pPr marL="0" indent="0">
              <a:lnSpc>
                <a:spcPct val="97000"/>
              </a:lnSpc>
              <a:buNone/>
            </a:pPr>
            <a:r>
              <a:rPr lang="en-US" sz="1020" dirty="0">
                <a:solidFill>
                  <a:srgbClr val="374952"/>
                </a:solidFill>
                <a:latin typeface="Calibri" pitchFamily="34" charset="0"/>
                <a:ea typeface="Calibri" pitchFamily="34" charset="-122"/>
                <a:cs typeface="Calibri" pitchFamily="34" charset="-120"/>
              </a:rPr>
              <a:t>Lowest levelised cost of storage (LCOS) from day one via software optimisation, faster deployment, and chemistry-agnostic flexibility — without owning a cell factory.</a:t>
            </a:r>
            <a:endParaRPr lang="en-US" sz="1020" dirty="0"/>
          </a:p>
        </p:txBody>
      </p:sp>
      <p:sp>
        <p:nvSpPr>
          <p:cNvPr id="19" name="Shape 14"/>
          <p:cNvSpPr/>
          <p:nvPr/>
        </p:nvSpPr>
        <p:spPr>
          <a:xfrm>
            <a:off x="6812280" y="1463040"/>
            <a:ext cx="4812487" cy="1664208"/>
          </a:xfrm>
          <a:prstGeom prst="roundRect">
            <a:avLst>
              <a:gd name="adj" fmla="val 3297"/>
            </a:avLst>
          </a:prstGeom>
          <a:solidFill>
            <a:srgbClr val="FFFFFF"/>
          </a:solidFill>
          <a:ln w="1524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0" name="Text 15"/>
          <p:cNvSpPr/>
          <p:nvPr/>
        </p:nvSpPr>
        <p:spPr>
          <a:xfrm>
            <a:off x="7068312" y="1609344"/>
            <a:ext cx="4355287" cy="256032"/>
          </a:xfrm>
          <a:prstGeom prst="rect">
            <a:avLst/>
          </a:prstGeom>
          <a:noFill/>
          <a:ln/>
        </p:spPr>
        <p:txBody>
          <a:bodyPr wrap="square" lIns="0" tIns="0" rIns="0" bIns="0" rtlCol="0" anchor="ctr"/>
          <a:lstStyle/>
          <a:p>
            <a:pPr marL="0" indent="0">
              <a:buNone/>
            </a:pPr>
            <a:r>
              <a:rPr lang="en-US" sz="1050" b="1" kern="0" spc="100" dirty="0">
                <a:solidFill>
                  <a:srgbClr val="0E7C77"/>
                </a:solidFill>
                <a:latin typeface="Calibri" pitchFamily="34" charset="0"/>
                <a:ea typeface="Calibri" pitchFamily="34" charset="-122"/>
                <a:cs typeface="Calibri" pitchFamily="34" charset="-120"/>
              </a:rPr>
              <a:t>WHO BUYS</a:t>
            </a:r>
            <a:endParaRPr lang="en-US" sz="1050" spc="100" dirty="0"/>
          </a:p>
        </p:txBody>
      </p:sp>
      <p:sp>
        <p:nvSpPr>
          <p:cNvPr id="21" name="Text 16"/>
          <p:cNvSpPr/>
          <p:nvPr/>
        </p:nvSpPr>
        <p:spPr>
          <a:xfrm>
            <a:off x="7086600" y="1901952"/>
            <a:ext cx="4309567" cy="1188720"/>
          </a:xfrm>
          <a:prstGeom prst="rect">
            <a:avLst/>
          </a:prstGeom>
          <a:noFill/>
          <a:ln/>
        </p:spPr>
        <p:txBody>
          <a:bodyPr wrap="square" lIns="0" tIns="0" rIns="0" bIns="0" rtlCol="0" anchor="t"/>
          <a:lstStyle/>
          <a:p>
            <a:pPr marL="177800" indent="-177800">
              <a:lnSpc>
                <a:spcPct val="98000"/>
              </a:lnSpc>
              <a:spcAft>
                <a:spcPts val="400"/>
              </a:spcAft>
              <a:buSzPct val="100000"/>
              <a:buChar char="•"/>
            </a:pPr>
            <a:r>
              <a:rPr lang="en-US" sz="1020" dirty="0">
                <a:solidFill>
                  <a:srgbClr val="374952"/>
                </a:solidFill>
                <a:latin typeface="Calibri" pitchFamily="34" charset="0"/>
                <a:ea typeface="Calibri" pitchFamily="34" charset="-122"/>
                <a:cs typeface="Calibri" pitchFamily="34" charset="-120"/>
              </a:rPr>
              <a:t>Distribution &amp; transmission utilities (e.g. BSES / IndiGrid)</a:t>
            </a:r>
            <a:endParaRPr lang="en-US" sz="1020" dirty="0"/>
          </a:p>
          <a:p>
            <a:pPr marL="177800" indent="-177800">
              <a:lnSpc>
                <a:spcPct val="98000"/>
              </a:lnSpc>
              <a:spcAft>
                <a:spcPts val="400"/>
              </a:spcAft>
              <a:buSzPct val="100000"/>
              <a:buChar char="•"/>
            </a:pPr>
            <a:r>
              <a:rPr lang="en-US" sz="1020" dirty="0">
                <a:solidFill>
                  <a:srgbClr val="374952"/>
                </a:solidFill>
                <a:latin typeface="Calibri" pitchFamily="34" charset="0"/>
                <a:ea typeface="Calibri" pitchFamily="34" charset="-122"/>
                <a:cs typeface="Calibri" pitchFamily="34" charset="-120"/>
              </a:rPr>
              <a:t>Renewable IPPs co-locating solar + wind + storage</a:t>
            </a:r>
            <a:endParaRPr lang="en-US" sz="1020" dirty="0"/>
          </a:p>
          <a:p>
            <a:pPr marL="177800" indent="-177800">
              <a:lnSpc>
                <a:spcPct val="98000"/>
              </a:lnSpc>
              <a:spcAft>
                <a:spcPts val="400"/>
              </a:spcAft>
              <a:buSzPct val="100000"/>
              <a:buChar char="•"/>
            </a:pPr>
            <a:r>
              <a:rPr lang="en-US" sz="1020" dirty="0">
                <a:solidFill>
                  <a:srgbClr val="374952"/>
                </a:solidFill>
                <a:latin typeface="Calibri" pitchFamily="34" charset="0"/>
                <a:ea typeface="Calibri" pitchFamily="34" charset="-122"/>
                <a:cs typeface="Calibri" pitchFamily="34" charset="-120"/>
              </a:rPr>
              <a:t>C&amp;I users displacing diesel gensets</a:t>
            </a:r>
            <a:endParaRPr lang="en-US" sz="1020" dirty="0"/>
          </a:p>
          <a:p>
            <a:pPr marL="177800" indent="-177800">
              <a:lnSpc>
                <a:spcPct val="98000"/>
              </a:lnSpc>
              <a:spcAft>
                <a:spcPts val="400"/>
              </a:spcAft>
              <a:buSzPct val="100000"/>
              <a:buChar char="•"/>
            </a:pPr>
            <a:r>
              <a:rPr lang="en-US" sz="1020" dirty="0">
                <a:solidFill>
                  <a:srgbClr val="374952"/>
                </a:solidFill>
                <a:latin typeface="Calibri" pitchFamily="34" charset="0"/>
                <a:ea typeface="Calibri" pitchFamily="34" charset="-122"/>
                <a:cs typeface="Calibri" pitchFamily="34" charset="-120"/>
              </a:rPr>
              <a:t>EV-charging operators &amp; rural mini-grids</a:t>
            </a:r>
            <a:endParaRPr lang="en-US" sz="1020" dirty="0"/>
          </a:p>
        </p:txBody>
      </p:sp>
      <p:sp>
        <p:nvSpPr>
          <p:cNvPr id="22" name="Text 17"/>
          <p:cNvSpPr/>
          <p:nvPr/>
        </p:nvSpPr>
        <p:spPr>
          <a:xfrm>
            <a:off x="7086600" y="2798064"/>
            <a:ext cx="4309567" cy="274320"/>
          </a:xfrm>
          <a:prstGeom prst="rect">
            <a:avLst/>
          </a:prstGeom>
          <a:noFill/>
          <a:ln/>
        </p:spPr>
        <p:txBody>
          <a:bodyPr wrap="square" lIns="0" tIns="0" rIns="0" bIns="0" rtlCol="0" anchor="ctr"/>
          <a:lstStyle/>
          <a:p>
            <a:pPr marL="0" indent="0">
              <a:buNone/>
            </a:pPr>
            <a:r>
              <a:rPr lang="en-US" sz="900" b="1" i="1" dirty="0">
                <a:solidFill>
                  <a:srgbClr val="0E7C77"/>
                </a:solidFill>
                <a:latin typeface="Calibri" pitchFamily="34" charset="0"/>
                <a:ea typeface="Calibri" pitchFamily="34" charset="-122"/>
                <a:cs typeface="Calibri" pitchFamily="34" charset="-120"/>
              </a:rPr>
              <a:t>Marquee clients: Amazon · Siemens · Coca-Cola · IndiGrid · Yellow Door (UAE)</a:t>
            </a:r>
            <a:endParaRPr lang="en-US" sz="900" dirty="0"/>
          </a:p>
        </p:txBody>
      </p:sp>
      <p:sp>
        <p:nvSpPr>
          <p:cNvPr id="23" name="Shape 18"/>
          <p:cNvSpPr/>
          <p:nvPr/>
        </p:nvSpPr>
        <p:spPr>
          <a:xfrm>
            <a:off x="6812280" y="3218688"/>
            <a:ext cx="4812487" cy="1481328"/>
          </a:xfrm>
          <a:prstGeom prst="roundRect">
            <a:avLst>
              <a:gd name="adj" fmla="val 3704"/>
            </a:avLst>
          </a:prstGeom>
          <a:solidFill>
            <a:srgbClr val="0E2A38"/>
          </a:solidFill>
          <a:ln/>
          <a:effectLst>
            <a:outerShdw blurRad="76200" dist="25400" dir="8100000" algn="bl" rotWithShape="0">
              <a:srgbClr val="0E2A38">
                <a:alpha val="10000"/>
              </a:srgbClr>
            </a:outerShdw>
          </a:effectLst>
        </p:spPr>
        <p:txBody>
          <a:bodyPr/>
          <a:lstStyle/>
          <a:p>
            <a:endParaRPr lang="en-US"/>
          </a:p>
        </p:txBody>
      </p:sp>
      <p:sp>
        <p:nvSpPr>
          <p:cNvPr id="24" name="Shape 19"/>
          <p:cNvSpPr/>
          <p:nvPr/>
        </p:nvSpPr>
        <p:spPr>
          <a:xfrm>
            <a:off x="7068312" y="3419856"/>
            <a:ext cx="530352" cy="530352"/>
          </a:xfrm>
          <a:prstGeom prst="ellipse">
            <a:avLst/>
          </a:prstGeom>
          <a:solidFill>
            <a:srgbClr val="F2A516"/>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206204" y="3557748"/>
            <a:ext cx="254569" cy="254569"/>
          </a:xfrm>
          <a:prstGeom prst="rect">
            <a:avLst/>
          </a:prstGeom>
        </p:spPr>
      </p:pic>
      <p:sp>
        <p:nvSpPr>
          <p:cNvPr id="26" name="Text 20"/>
          <p:cNvSpPr/>
          <p:nvPr/>
        </p:nvSpPr>
        <p:spPr>
          <a:xfrm>
            <a:off x="7708392" y="3419856"/>
            <a:ext cx="3715207" cy="530352"/>
          </a:xfrm>
          <a:prstGeom prst="rect">
            <a:avLst/>
          </a:prstGeom>
          <a:noFill/>
          <a:ln/>
        </p:spPr>
        <p:txBody>
          <a:bodyPr wrap="square" lIns="0" tIns="0" rIns="0" bIns="0" rtlCol="0" anchor="ctr"/>
          <a:lstStyle/>
          <a:p>
            <a:pPr marL="0" indent="0">
              <a:buNone/>
            </a:pPr>
            <a:r>
              <a:rPr lang="en-US" sz="1350" b="1" dirty="0">
                <a:solidFill>
                  <a:srgbClr val="FFFFFF"/>
                </a:solidFill>
                <a:latin typeface="Georgia" pitchFamily="34" charset="0"/>
                <a:ea typeface="Georgia" pitchFamily="34" charset="-122"/>
                <a:cs typeface="Georgia" pitchFamily="34" charset="-120"/>
              </a:rPr>
              <a:t>Founding team</a:t>
            </a:r>
            <a:endParaRPr lang="en-US" sz="1350" dirty="0"/>
          </a:p>
        </p:txBody>
      </p:sp>
      <p:sp>
        <p:nvSpPr>
          <p:cNvPr id="27" name="Text 21"/>
          <p:cNvSpPr/>
          <p:nvPr/>
        </p:nvSpPr>
        <p:spPr>
          <a:xfrm>
            <a:off x="7086600" y="4041648"/>
            <a:ext cx="4300423" cy="603504"/>
          </a:xfrm>
          <a:prstGeom prst="rect">
            <a:avLst/>
          </a:prstGeom>
          <a:noFill/>
          <a:ln/>
        </p:spPr>
        <p:txBody>
          <a:bodyPr wrap="square" lIns="0" tIns="0" rIns="0" bIns="0" rtlCol="0" anchor="t"/>
          <a:lstStyle/>
          <a:p>
            <a:pPr marL="0" indent="0">
              <a:lnSpc>
                <a:spcPct val="100000"/>
              </a:lnSpc>
              <a:buNone/>
            </a:pPr>
            <a:r>
              <a:rPr lang="en-US" sz="1020" dirty="0">
                <a:solidFill>
                  <a:srgbClr val="DCE8E9"/>
                </a:solidFill>
                <a:latin typeface="Calibri" pitchFamily="34" charset="0"/>
                <a:ea typeface="Calibri" pitchFamily="34" charset="-122"/>
                <a:cs typeface="Calibri" pitchFamily="34" charset="-120"/>
              </a:rPr>
              <a:t>Ayush Misra (CEO), Rahul Shelke, Harshal Thakur &amp; Neehar Jathar — IIT Bombay alumni and power-sector operators; together since 2017.</a:t>
            </a:r>
            <a:endParaRPr lang="en-US" sz="1020" dirty="0"/>
          </a:p>
        </p:txBody>
      </p:sp>
      <p:sp>
        <p:nvSpPr>
          <p:cNvPr id="28" name="Shape 22"/>
          <p:cNvSpPr/>
          <p:nvPr/>
        </p:nvSpPr>
        <p:spPr>
          <a:xfrm>
            <a:off x="566928" y="4882896"/>
            <a:ext cx="11057839" cy="1280160"/>
          </a:xfrm>
          <a:prstGeom prst="roundRect">
            <a:avLst>
              <a:gd name="adj" fmla="val 4286"/>
            </a:avLst>
          </a:prstGeom>
          <a:solidFill>
            <a:srgbClr val="ECF3F2"/>
          </a:solidFill>
          <a:ln w="12700">
            <a:solidFill>
              <a:srgbClr val="E3EAEC"/>
            </a:solidFill>
            <a:prstDash val="solid"/>
          </a:ln>
        </p:spPr>
        <p:txBody>
          <a:bodyPr/>
          <a:lstStyle/>
          <a:p>
            <a:endParaRPr lang="en-US"/>
          </a:p>
        </p:txBody>
      </p:sp>
      <p:sp>
        <p:nvSpPr>
          <p:cNvPr id="29" name="Text 23"/>
          <p:cNvSpPr/>
          <p:nvPr/>
        </p:nvSpPr>
        <p:spPr>
          <a:xfrm>
            <a:off x="822960" y="5010912"/>
            <a:ext cx="5486400" cy="274320"/>
          </a:xfrm>
          <a:prstGeom prst="rect">
            <a:avLst/>
          </a:prstGeom>
          <a:noFill/>
          <a:ln/>
        </p:spPr>
        <p:txBody>
          <a:bodyPr wrap="square" lIns="0" tIns="0" rIns="0" bIns="0" rtlCol="0" anchor="ctr"/>
          <a:lstStyle/>
          <a:p>
            <a:pPr marL="0" indent="0">
              <a:buNone/>
            </a:pPr>
            <a:r>
              <a:rPr lang="en-US" sz="1050" b="1" kern="0" spc="100" dirty="0">
                <a:solidFill>
                  <a:srgbClr val="0E7C77"/>
                </a:solidFill>
                <a:latin typeface="Calibri" pitchFamily="34" charset="0"/>
                <a:ea typeface="Calibri" pitchFamily="34" charset="-122"/>
                <a:cs typeface="Calibri" pitchFamily="34" charset="-120"/>
              </a:rPr>
              <a:t>FUNDING &amp; TRACTION TO DATE</a:t>
            </a:r>
            <a:endParaRPr lang="en-US" sz="1050" spc="100" dirty="0"/>
          </a:p>
        </p:txBody>
      </p:sp>
      <p:sp>
        <p:nvSpPr>
          <p:cNvPr id="30" name="Text 24"/>
          <p:cNvSpPr/>
          <p:nvPr/>
        </p:nvSpPr>
        <p:spPr>
          <a:xfrm>
            <a:off x="822960" y="5394960"/>
            <a:ext cx="2453564" cy="420624"/>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~$7M</a:t>
            </a:r>
            <a:endParaRPr lang="en-US" sz="2500" dirty="0"/>
          </a:p>
        </p:txBody>
      </p:sp>
      <p:sp>
        <p:nvSpPr>
          <p:cNvPr id="31" name="Text 25"/>
          <p:cNvSpPr/>
          <p:nvPr/>
        </p:nvSpPr>
        <p:spPr>
          <a:xfrm>
            <a:off x="822960" y="5815584"/>
            <a:ext cx="2453564" cy="365760"/>
          </a:xfrm>
          <a:prstGeom prst="rect">
            <a:avLst/>
          </a:prstGeom>
          <a:noFill/>
          <a:ln/>
        </p:spPr>
        <p:txBody>
          <a:bodyPr wrap="square" lIns="0" tIns="0" rIns="0" bIns="0" rtlCol="0" anchor="t"/>
          <a:lstStyle/>
          <a:p>
            <a:pPr marL="0" indent="0">
              <a:lnSpc>
                <a:spcPct val="95000"/>
              </a:lnSpc>
              <a:buNone/>
            </a:pPr>
            <a:r>
              <a:rPr lang="en-US" sz="900" dirty="0">
                <a:solidFill>
                  <a:srgbClr val="6E7F87"/>
                </a:solidFill>
                <a:latin typeface="Calibri" pitchFamily="34" charset="0"/>
                <a:ea typeface="Calibri" pitchFamily="34" charset="-122"/>
                <a:cs typeface="Calibri" pitchFamily="34" charset="-120"/>
              </a:rPr>
              <a:t>total raised across rounds</a:t>
            </a:r>
            <a:endParaRPr lang="en-US" sz="900" dirty="0"/>
          </a:p>
        </p:txBody>
      </p:sp>
      <p:sp>
        <p:nvSpPr>
          <p:cNvPr id="32" name="Shape 26"/>
          <p:cNvSpPr/>
          <p:nvPr/>
        </p:nvSpPr>
        <p:spPr>
          <a:xfrm>
            <a:off x="3441116" y="5413248"/>
            <a:ext cx="0" cy="603504"/>
          </a:xfrm>
          <a:prstGeom prst="line">
            <a:avLst/>
          </a:prstGeom>
          <a:noFill/>
          <a:ln w="12700">
            <a:solidFill>
              <a:srgbClr val="CFDCDC"/>
            </a:solidFill>
            <a:prstDash val="solid"/>
          </a:ln>
        </p:spPr>
        <p:txBody>
          <a:bodyPr/>
          <a:lstStyle/>
          <a:p>
            <a:endParaRPr lang="en-US"/>
          </a:p>
        </p:txBody>
      </p:sp>
      <p:sp>
        <p:nvSpPr>
          <p:cNvPr id="33" name="Text 27"/>
          <p:cNvSpPr/>
          <p:nvPr/>
        </p:nvSpPr>
        <p:spPr>
          <a:xfrm>
            <a:off x="3459404" y="5394960"/>
            <a:ext cx="2453564" cy="420624"/>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$5M</a:t>
            </a:r>
            <a:endParaRPr lang="en-US" sz="2500" dirty="0"/>
          </a:p>
        </p:txBody>
      </p:sp>
      <p:sp>
        <p:nvSpPr>
          <p:cNvPr id="34" name="Text 28"/>
          <p:cNvSpPr/>
          <p:nvPr/>
        </p:nvSpPr>
        <p:spPr>
          <a:xfrm>
            <a:off x="3459404" y="5815584"/>
            <a:ext cx="2453564" cy="365760"/>
          </a:xfrm>
          <a:prstGeom prst="rect">
            <a:avLst/>
          </a:prstGeom>
          <a:noFill/>
          <a:ln/>
        </p:spPr>
        <p:txBody>
          <a:bodyPr wrap="square" lIns="0" tIns="0" rIns="0" bIns="0" rtlCol="0" anchor="t"/>
          <a:lstStyle/>
          <a:p>
            <a:pPr marL="0" indent="0">
              <a:lnSpc>
                <a:spcPct val="95000"/>
              </a:lnSpc>
              <a:buNone/>
            </a:pPr>
            <a:r>
              <a:rPr lang="en-US" sz="900" dirty="0">
                <a:solidFill>
                  <a:srgbClr val="6E7F87"/>
                </a:solidFill>
                <a:latin typeface="Calibri" pitchFamily="34" charset="0"/>
                <a:ea typeface="Calibri" pitchFamily="34" charset="-122"/>
                <a:cs typeface="Calibri" pitchFamily="34" charset="-120"/>
              </a:rPr>
              <a:t>Series A · Mar 2025 · Avaana Capital</a:t>
            </a:r>
            <a:endParaRPr lang="en-US" sz="900" dirty="0"/>
          </a:p>
        </p:txBody>
      </p:sp>
      <p:sp>
        <p:nvSpPr>
          <p:cNvPr id="35" name="Shape 29"/>
          <p:cNvSpPr/>
          <p:nvPr/>
        </p:nvSpPr>
        <p:spPr>
          <a:xfrm>
            <a:off x="6077560" y="5413248"/>
            <a:ext cx="0" cy="603504"/>
          </a:xfrm>
          <a:prstGeom prst="line">
            <a:avLst/>
          </a:prstGeom>
          <a:noFill/>
          <a:ln w="12700">
            <a:solidFill>
              <a:srgbClr val="CFDCDC"/>
            </a:solidFill>
            <a:prstDash val="solid"/>
          </a:ln>
        </p:spPr>
        <p:txBody>
          <a:bodyPr/>
          <a:lstStyle/>
          <a:p>
            <a:endParaRPr lang="en-US"/>
          </a:p>
        </p:txBody>
      </p:sp>
      <p:sp>
        <p:nvSpPr>
          <p:cNvPr id="36" name="Text 30"/>
          <p:cNvSpPr/>
          <p:nvPr/>
        </p:nvSpPr>
        <p:spPr>
          <a:xfrm>
            <a:off x="6095848" y="5394960"/>
            <a:ext cx="2453564" cy="420624"/>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50+</a:t>
            </a:r>
            <a:endParaRPr lang="en-US" sz="2500" dirty="0"/>
          </a:p>
        </p:txBody>
      </p:sp>
      <p:sp>
        <p:nvSpPr>
          <p:cNvPr id="37" name="Text 31"/>
          <p:cNvSpPr/>
          <p:nvPr/>
        </p:nvSpPr>
        <p:spPr>
          <a:xfrm>
            <a:off x="6095848" y="5815584"/>
            <a:ext cx="2453564" cy="365760"/>
          </a:xfrm>
          <a:prstGeom prst="rect">
            <a:avLst/>
          </a:prstGeom>
          <a:noFill/>
          <a:ln/>
        </p:spPr>
        <p:txBody>
          <a:bodyPr wrap="square" lIns="0" tIns="0" rIns="0" bIns="0" rtlCol="0" anchor="t"/>
          <a:lstStyle/>
          <a:p>
            <a:pPr marL="0" indent="0">
              <a:lnSpc>
                <a:spcPct val="95000"/>
              </a:lnSpc>
              <a:buNone/>
            </a:pPr>
            <a:r>
              <a:rPr lang="en-US" sz="900" dirty="0">
                <a:solidFill>
                  <a:srgbClr val="6E7F87"/>
                </a:solidFill>
                <a:latin typeface="Calibri" pitchFamily="34" charset="0"/>
                <a:ea typeface="Calibri" pitchFamily="34" charset="-122"/>
                <a:cs typeface="Calibri" pitchFamily="34" charset="-120"/>
              </a:rPr>
              <a:t>project sites across 4 continents</a:t>
            </a:r>
            <a:endParaRPr lang="en-US" sz="900" dirty="0"/>
          </a:p>
        </p:txBody>
      </p:sp>
      <p:sp>
        <p:nvSpPr>
          <p:cNvPr id="38" name="Shape 32"/>
          <p:cNvSpPr/>
          <p:nvPr/>
        </p:nvSpPr>
        <p:spPr>
          <a:xfrm>
            <a:off x="8714003" y="5413248"/>
            <a:ext cx="0" cy="603504"/>
          </a:xfrm>
          <a:prstGeom prst="line">
            <a:avLst/>
          </a:prstGeom>
          <a:noFill/>
          <a:ln w="12700">
            <a:solidFill>
              <a:srgbClr val="CFDCDC"/>
            </a:solidFill>
            <a:prstDash val="solid"/>
          </a:ln>
        </p:spPr>
        <p:txBody>
          <a:bodyPr/>
          <a:lstStyle/>
          <a:p>
            <a:endParaRPr lang="en-US"/>
          </a:p>
        </p:txBody>
      </p:sp>
      <p:sp>
        <p:nvSpPr>
          <p:cNvPr id="39" name="Text 33"/>
          <p:cNvSpPr/>
          <p:nvPr/>
        </p:nvSpPr>
        <p:spPr>
          <a:xfrm>
            <a:off x="8732291" y="5394960"/>
            <a:ext cx="2453564" cy="420624"/>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~1 GWh</a:t>
            </a:r>
            <a:endParaRPr lang="en-US" sz="2500" dirty="0"/>
          </a:p>
        </p:txBody>
      </p:sp>
      <p:sp>
        <p:nvSpPr>
          <p:cNvPr id="40" name="Text 34"/>
          <p:cNvSpPr/>
          <p:nvPr/>
        </p:nvSpPr>
        <p:spPr>
          <a:xfrm>
            <a:off x="8732291" y="5815584"/>
            <a:ext cx="2453564" cy="365760"/>
          </a:xfrm>
          <a:prstGeom prst="rect">
            <a:avLst/>
          </a:prstGeom>
          <a:noFill/>
          <a:ln/>
        </p:spPr>
        <p:txBody>
          <a:bodyPr wrap="square" lIns="0" tIns="0" rIns="0" bIns="0" rtlCol="0" anchor="t"/>
          <a:lstStyle/>
          <a:p>
            <a:pPr marL="0" indent="0">
              <a:lnSpc>
                <a:spcPct val="95000"/>
              </a:lnSpc>
              <a:buNone/>
            </a:pPr>
            <a:r>
              <a:rPr lang="en-US" sz="900" dirty="0">
                <a:solidFill>
                  <a:srgbClr val="6E7F87"/>
                </a:solidFill>
                <a:latin typeface="Calibri" pitchFamily="34" charset="0"/>
                <a:ea typeface="Calibri" pitchFamily="34" charset="-122"/>
                <a:cs typeface="Calibri" pitchFamily="34" charset="-120"/>
              </a:rPr>
              <a:t>contracted / under execution</a:t>
            </a:r>
            <a:endParaRPr lang="en-US" sz="900" dirty="0"/>
          </a:p>
        </p:txBody>
      </p:sp>
      <p:sp>
        <p:nvSpPr>
          <p:cNvPr id="41" name="Text 35"/>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6E7F87"/>
                </a:solidFill>
                <a:latin typeface="Calibri" pitchFamily="34" charset="0"/>
                <a:ea typeface="Calibri" pitchFamily="34" charset="-122"/>
                <a:cs typeface="Calibri" pitchFamily="34" charset="-120"/>
              </a:rPr>
              <a:t>AmpereHour Energy  ·  Investment Thesis</a:t>
            </a:r>
            <a:endParaRPr lang="en-US" sz="850" dirty="0"/>
          </a:p>
        </p:txBody>
      </p:sp>
      <p:sp>
        <p:nvSpPr>
          <p:cNvPr id="42" name="Text 36"/>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03  ·  BUSINESS MODEL</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How AmpereHour makes — and defends — its money</a:t>
            </a:r>
            <a:endParaRPr lang="en-US" sz="2700" dirty="0"/>
          </a:p>
        </p:txBody>
      </p:sp>
      <p:sp>
        <p:nvSpPr>
          <p:cNvPr id="4" name="Shape 2"/>
          <p:cNvSpPr/>
          <p:nvPr/>
        </p:nvSpPr>
        <p:spPr>
          <a:xfrm>
            <a:off x="566928" y="1517904"/>
            <a:ext cx="3503066" cy="2697480"/>
          </a:xfrm>
          <a:prstGeom prst="roundRect">
            <a:avLst>
              <a:gd name="adj" fmla="val 203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5" name="Shape 3"/>
          <p:cNvSpPr/>
          <p:nvPr/>
        </p:nvSpPr>
        <p:spPr>
          <a:xfrm>
            <a:off x="566928" y="1517904"/>
            <a:ext cx="3503066" cy="64008"/>
          </a:xfrm>
          <a:prstGeom prst="rect">
            <a:avLst/>
          </a:prstGeom>
          <a:solidFill>
            <a:srgbClr val="0E7C77"/>
          </a:solidFill>
          <a:ln/>
        </p:spPr>
        <p:txBody>
          <a:bodyPr/>
          <a:lstStyle/>
          <a:p>
            <a:endParaRPr lang="en-US"/>
          </a:p>
        </p:txBody>
      </p:sp>
      <p:sp>
        <p:nvSpPr>
          <p:cNvPr id="6" name="Shape 4"/>
          <p:cNvSpPr/>
          <p:nvPr/>
        </p:nvSpPr>
        <p:spPr>
          <a:xfrm>
            <a:off x="841248" y="1783080"/>
            <a:ext cx="676656" cy="676656"/>
          </a:xfrm>
          <a:prstGeom prst="ellipse">
            <a:avLst/>
          </a:prstGeom>
          <a:solidFill>
            <a:srgbClr val="0E7C77"/>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017179" y="1959011"/>
            <a:ext cx="324795" cy="324795"/>
          </a:xfrm>
          <a:prstGeom prst="rect">
            <a:avLst/>
          </a:prstGeom>
        </p:spPr>
      </p:pic>
      <p:sp>
        <p:nvSpPr>
          <p:cNvPr id="8" name="Text 5"/>
          <p:cNvSpPr/>
          <p:nvPr/>
        </p:nvSpPr>
        <p:spPr>
          <a:xfrm>
            <a:off x="841248" y="2578608"/>
            <a:ext cx="2954426" cy="548640"/>
          </a:xfrm>
          <a:prstGeom prst="rect">
            <a:avLst/>
          </a:prstGeom>
          <a:noFill/>
          <a:ln/>
        </p:spPr>
        <p:txBody>
          <a:bodyPr wrap="square" lIns="0" tIns="0" rIns="0" bIns="0" rtlCol="0" anchor="t"/>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Turnkey integration (EPC)</a:t>
            </a:r>
            <a:endParaRPr lang="en-US" sz="1450" dirty="0"/>
          </a:p>
        </p:txBody>
      </p:sp>
      <p:sp>
        <p:nvSpPr>
          <p:cNvPr id="9" name="Text 6"/>
          <p:cNvSpPr/>
          <p:nvPr/>
        </p:nvSpPr>
        <p:spPr>
          <a:xfrm>
            <a:off x="841248" y="3163824"/>
            <a:ext cx="2954426" cy="868680"/>
          </a:xfrm>
          <a:prstGeom prst="rect">
            <a:avLst/>
          </a:prstGeom>
          <a:noFill/>
          <a:ln/>
        </p:spPr>
        <p:txBody>
          <a:bodyPr wrap="square" lIns="0" tIns="0" rIns="0" bIns="0" rtlCol="0" anchor="t"/>
          <a:lstStyle/>
          <a:p>
            <a:pPr marL="0" indent="0">
              <a:lnSpc>
                <a:spcPct val="99000"/>
              </a:lnSpc>
              <a:buNone/>
            </a:pPr>
            <a:r>
              <a:rPr lang="en-US" sz="1040" dirty="0">
                <a:solidFill>
                  <a:srgbClr val="374952"/>
                </a:solidFill>
                <a:latin typeface="Calibri" pitchFamily="34" charset="0"/>
                <a:ea typeface="Calibri" pitchFamily="34" charset="-122"/>
                <a:cs typeface="Calibri" pitchFamily="34" charset="-120"/>
              </a:rPr>
              <a:t>Designs, procures and commissions complete BESS on a turnkey basis under long-term capacity agreements (BESPA). The core revenue line today.</a:t>
            </a:r>
            <a:endParaRPr lang="en-US" sz="1040" dirty="0"/>
          </a:p>
        </p:txBody>
      </p:sp>
      <p:sp>
        <p:nvSpPr>
          <p:cNvPr id="10" name="Shape 7"/>
          <p:cNvSpPr/>
          <p:nvPr/>
        </p:nvSpPr>
        <p:spPr>
          <a:xfrm>
            <a:off x="841248" y="4041648"/>
            <a:ext cx="2954426" cy="292608"/>
          </a:xfrm>
          <a:prstGeom prst="roundRect">
            <a:avLst>
              <a:gd name="adj" fmla="val 50000"/>
            </a:avLst>
          </a:prstGeom>
          <a:solidFill>
            <a:srgbClr val="DCEFEE"/>
          </a:solidFill>
          <a:ln/>
        </p:spPr>
        <p:txBody>
          <a:bodyPr/>
          <a:lstStyle/>
          <a:p>
            <a:endParaRPr lang="en-US"/>
          </a:p>
        </p:txBody>
      </p:sp>
      <p:sp>
        <p:nvSpPr>
          <p:cNvPr id="11" name="Text 8"/>
          <p:cNvSpPr/>
          <p:nvPr/>
        </p:nvSpPr>
        <p:spPr>
          <a:xfrm>
            <a:off x="841248" y="4041648"/>
            <a:ext cx="2954426" cy="292608"/>
          </a:xfrm>
          <a:prstGeom prst="rect">
            <a:avLst/>
          </a:prstGeom>
          <a:noFill/>
          <a:ln/>
        </p:spPr>
        <p:txBody>
          <a:bodyPr wrap="square" lIns="0" tIns="0" rIns="0" bIns="0" rtlCol="0" anchor="ctr"/>
          <a:lstStyle/>
          <a:p>
            <a:pPr marL="0" indent="0" algn="ctr">
              <a:buNone/>
            </a:pPr>
            <a:r>
              <a:rPr lang="en-US" sz="880" b="1" kern="0" spc="50" dirty="0">
                <a:solidFill>
                  <a:srgbClr val="0B5E5A"/>
                </a:solidFill>
                <a:latin typeface="Calibri" pitchFamily="34" charset="0"/>
                <a:ea typeface="Calibri" pitchFamily="34" charset="-122"/>
                <a:cs typeface="Calibri" pitchFamily="34" charset="-120"/>
              </a:rPr>
              <a:t>Project-based, lumpy</a:t>
            </a:r>
            <a:endParaRPr lang="en-US" sz="880" dirty="0"/>
          </a:p>
        </p:txBody>
      </p:sp>
      <p:sp>
        <p:nvSpPr>
          <p:cNvPr id="12" name="Shape 9"/>
          <p:cNvSpPr/>
          <p:nvPr/>
        </p:nvSpPr>
        <p:spPr>
          <a:xfrm>
            <a:off x="4344314" y="1517904"/>
            <a:ext cx="3503066" cy="2697480"/>
          </a:xfrm>
          <a:prstGeom prst="roundRect">
            <a:avLst>
              <a:gd name="adj" fmla="val 203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13" name="Shape 10"/>
          <p:cNvSpPr/>
          <p:nvPr/>
        </p:nvSpPr>
        <p:spPr>
          <a:xfrm>
            <a:off x="4344314" y="1517904"/>
            <a:ext cx="3503066" cy="64008"/>
          </a:xfrm>
          <a:prstGeom prst="rect">
            <a:avLst/>
          </a:prstGeom>
          <a:solidFill>
            <a:srgbClr val="F2A516"/>
          </a:solidFill>
          <a:ln/>
        </p:spPr>
        <p:txBody>
          <a:bodyPr/>
          <a:lstStyle/>
          <a:p>
            <a:endParaRPr lang="en-US"/>
          </a:p>
        </p:txBody>
      </p:sp>
      <p:sp>
        <p:nvSpPr>
          <p:cNvPr id="14" name="Shape 11"/>
          <p:cNvSpPr/>
          <p:nvPr/>
        </p:nvSpPr>
        <p:spPr>
          <a:xfrm>
            <a:off x="4618634" y="1783080"/>
            <a:ext cx="676656" cy="676656"/>
          </a:xfrm>
          <a:prstGeom prst="ellipse">
            <a:avLst/>
          </a:prstGeom>
          <a:solidFill>
            <a:srgbClr val="F2A516"/>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4794565" y="1959011"/>
            <a:ext cx="324795" cy="324795"/>
          </a:xfrm>
          <a:prstGeom prst="rect">
            <a:avLst/>
          </a:prstGeom>
        </p:spPr>
      </p:pic>
      <p:sp>
        <p:nvSpPr>
          <p:cNvPr id="16" name="Text 12"/>
          <p:cNvSpPr/>
          <p:nvPr/>
        </p:nvSpPr>
        <p:spPr>
          <a:xfrm>
            <a:off x="4618634" y="2578608"/>
            <a:ext cx="2954426" cy="548640"/>
          </a:xfrm>
          <a:prstGeom prst="rect">
            <a:avLst/>
          </a:prstGeom>
          <a:noFill/>
          <a:ln/>
        </p:spPr>
        <p:txBody>
          <a:bodyPr wrap="square" lIns="0" tIns="0" rIns="0" bIns="0" rtlCol="0" anchor="t"/>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ELINA software &amp; EMS</a:t>
            </a:r>
            <a:endParaRPr lang="en-US" sz="1450" dirty="0"/>
          </a:p>
        </p:txBody>
      </p:sp>
      <p:sp>
        <p:nvSpPr>
          <p:cNvPr id="17" name="Text 13"/>
          <p:cNvSpPr/>
          <p:nvPr/>
        </p:nvSpPr>
        <p:spPr>
          <a:xfrm>
            <a:off x="4618634" y="3163824"/>
            <a:ext cx="2954426" cy="868680"/>
          </a:xfrm>
          <a:prstGeom prst="rect">
            <a:avLst/>
          </a:prstGeom>
          <a:noFill/>
          <a:ln/>
        </p:spPr>
        <p:txBody>
          <a:bodyPr wrap="square" lIns="0" tIns="0" rIns="0" bIns="0" rtlCol="0" anchor="t"/>
          <a:lstStyle/>
          <a:p>
            <a:pPr marL="0" indent="0">
              <a:lnSpc>
                <a:spcPct val="99000"/>
              </a:lnSpc>
              <a:buNone/>
            </a:pPr>
            <a:r>
              <a:rPr lang="en-US" sz="1040" dirty="0">
                <a:solidFill>
                  <a:srgbClr val="374952"/>
                </a:solidFill>
                <a:latin typeface="Calibri" pitchFamily="34" charset="0"/>
                <a:ea typeface="Calibri" pitchFamily="34" charset="-122"/>
                <a:cs typeface="Calibri" pitchFamily="34" charset="-120"/>
              </a:rPr>
              <a:t>Proprietary AI/ML platform sold with every system — optimises dispatch, extends battery life and lowers LCOS. The intended margin and stickiness engine.</a:t>
            </a:r>
            <a:endParaRPr lang="en-US" sz="1040" dirty="0"/>
          </a:p>
        </p:txBody>
      </p:sp>
      <p:sp>
        <p:nvSpPr>
          <p:cNvPr id="18" name="Shape 14"/>
          <p:cNvSpPr/>
          <p:nvPr/>
        </p:nvSpPr>
        <p:spPr>
          <a:xfrm>
            <a:off x="4618634" y="4041648"/>
            <a:ext cx="2954426" cy="292608"/>
          </a:xfrm>
          <a:prstGeom prst="roundRect">
            <a:avLst>
              <a:gd name="adj" fmla="val 50000"/>
            </a:avLst>
          </a:prstGeom>
          <a:solidFill>
            <a:srgbClr val="FCEFD2"/>
          </a:solidFill>
          <a:ln/>
        </p:spPr>
        <p:txBody>
          <a:bodyPr/>
          <a:lstStyle/>
          <a:p>
            <a:endParaRPr lang="en-US"/>
          </a:p>
        </p:txBody>
      </p:sp>
      <p:sp>
        <p:nvSpPr>
          <p:cNvPr id="19" name="Text 15"/>
          <p:cNvSpPr/>
          <p:nvPr/>
        </p:nvSpPr>
        <p:spPr>
          <a:xfrm>
            <a:off x="4618634" y="4041648"/>
            <a:ext cx="2954426" cy="292608"/>
          </a:xfrm>
          <a:prstGeom prst="rect">
            <a:avLst/>
          </a:prstGeom>
          <a:noFill/>
          <a:ln/>
        </p:spPr>
        <p:txBody>
          <a:bodyPr wrap="square" lIns="0" tIns="0" rIns="0" bIns="0" rtlCol="0" anchor="ctr"/>
          <a:lstStyle/>
          <a:p>
            <a:pPr marL="0" indent="0" algn="ctr">
              <a:buNone/>
            </a:pPr>
            <a:r>
              <a:rPr lang="en-US" sz="880" b="1" kern="0" spc="50" dirty="0">
                <a:solidFill>
                  <a:srgbClr val="9A6B0E"/>
                </a:solidFill>
                <a:latin typeface="Calibri" pitchFamily="34" charset="0"/>
                <a:ea typeface="Calibri" pitchFamily="34" charset="-122"/>
                <a:cs typeface="Calibri" pitchFamily="34" charset="-120"/>
              </a:rPr>
              <a:t>High-margin, recurring potential</a:t>
            </a:r>
            <a:endParaRPr lang="en-US" sz="880" dirty="0"/>
          </a:p>
        </p:txBody>
      </p:sp>
      <p:sp>
        <p:nvSpPr>
          <p:cNvPr id="20" name="Shape 16"/>
          <p:cNvSpPr/>
          <p:nvPr/>
        </p:nvSpPr>
        <p:spPr>
          <a:xfrm>
            <a:off x="8121701" y="1517904"/>
            <a:ext cx="3503066" cy="2697480"/>
          </a:xfrm>
          <a:prstGeom prst="roundRect">
            <a:avLst>
              <a:gd name="adj" fmla="val 2034"/>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1" name="Shape 17"/>
          <p:cNvSpPr/>
          <p:nvPr/>
        </p:nvSpPr>
        <p:spPr>
          <a:xfrm>
            <a:off x="8121701" y="1517904"/>
            <a:ext cx="3503066" cy="64008"/>
          </a:xfrm>
          <a:prstGeom prst="rect">
            <a:avLst/>
          </a:prstGeom>
          <a:solidFill>
            <a:srgbClr val="0E7C77"/>
          </a:solidFill>
          <a:ln/>
        </p:spPr>
        <p:txBody>
          <a:bodyPr/>
          <a:lstStyle/>
          <a:p>
            <a:endParaRPr lang="en-US"/>
          </a:p>
        </p:txBody>
      </p:sp>
      <p:sp>
        <p:nvSpPr>
          <p:cNvPr id="22" name="Shape 18"/>
          <p:cNvSpPr/>
          <p:nvPr/>
        </p:nvSpPr>
        <p:spPr>
          <a:xfrm>
            <a:off x="8396021" y="1783080"/>
            <a:ext cx="676656" cy="676656"/>
          </a:xfrm>
          <a:prstGeom prst="ellipse">
            <a:avLst/>
          </a:prstGeom>
          <a:solidFill>
            <a:srgbClr val="0E7C77"/>
          </a:solidFill>
          <a:ln/>
        </p:spPr>
        <p:txBody>
          <a:bodyPr/>
          <a:lstStyle/>
          <a:p>
            <a:endParaRPr lang="en-US"/>
          </a:p>
        </p:txBody>
      </p:sp>
      <p:pic>
        <p:nvPicPr>
          <p:cNvPr id="23" name="Image 2" descr="preencoded.png"/>
          <p:cNvPicPr>
            <a:picLocks noChangeAspect="1"/>
          </p:cNvPicPr>
          <p:nvPr/>
        </p:nvPicPr>
        <p:blipFill>
          <a:blip r:embed="rId5"/>
          <a:stretch>
            <a:fillRect/>
          </a:stretch>
        </p:blipFill>
        <p:spPr>
          <a:xfrm>
            <a:off x="8571951" y="1959011"/>
            <a:ext cx="324795" cy="324795"/>
          </a:xfrm>
          <a:prstGeom prst="rect">
            <a:avLst/>
          </a:prstGeom>
        </p:spPr>
      </p:pic>
      <p:sp>
        <p:nvSpPr>
          <p:cNvPr id="24" name="Text 19"/>
          <p:cNvSpPr/>
          <p:nvPr/>
        </p:nvSpPr>
        <p:spPr>
          <a:xfrm>
            <a:off x="8396021" y="2578608"/>
            <a:ext cx="2954426" cy="548640"/>
          </a:xfrm>
          <a:prstGeom prst="rect">
            <a:avLst/>
          </a:prstGeom>
          <a:noFill/>
          <a:ln/>
        </p:spPr>
        <p:txBody>
          <a:bodyPr wrap="square" lIns="0" tIns="0" rIns="0" bIns="0" rtlCol="0" anchor="t"/>
          <a:lstStyle/>
          <a:p>
            <a:pPr marL="0" indent="0">
              <a:lnSpc>
                <a:spcPct val="95000"/>
              </a:lnSpc>
              <a:buNone/>
            </a:pPr>
            <a:r>
              <a:rPr lang="en-US" sz="1450" b="1" dirty="0">
                <a:solidFill>
                  <a:srgbClr val="15262F"/>
                </a:solidFill>
                <a:latin typeface="Georgia" pitchFamily="34" charset="0"/>
                <a:ea typeface="Georgia" pitchFamily="34" charset="-122"/>
                <a:cs typeface="Georgia" pitchFamily="34" charset="-120"/>
              </a:rPr>
              <a:t>O&amp;M &amp; lifecycle services</a:t>
            </a:r>
            <a:endParaRPr lang="en-US" sz="1450" dirty="0"/>
          </a:p>
        </p:txBody>
      </p:sp>
      <p:sp>
        <p:nvSpPr>
          <p:cNvPr id="25" name="Text 20"/>
          <p:cNvSpPr/>
          <p:nvPr/>
        </p:nvSpPr>
        <p:spPr>
          <a:xfrm>
            <a:off x="8396021" y="3163824"/>
            <a:ext cx="2954426" cy="868680"/>
          </a:xfrm>
          <a:prstGeom prst="rect">
            <a:avLst/>
          </a:prstGeom>
          <a:noFill/>
          <a:ln/>
        </p:spPr>
        <p:txBody>
          <a:bodyPr wrap="square" lIns="0" tIns="0" rIns="0" bIns="0" rtlCol="0" anchor="t"/>
          <a:lstStyle/>
          <a:p>
            <a:pPr marL="0" indent="0">
              <a:lnSpc>
                <a:spcPct val="99000"/>
              </a:lnSpc>
              <a:buNone/>
            </a:pPr>
            <a:r>
              <a:rPr lang="en-US" sz="1040" dirty="0">
                <a:solidFill>
                  <a:srgbClr val="374952"/>
                </a:solidFill>
                <a:latin typeface="Calibri" pitchFamily="34" charset="0"/>
                <a:ea typeface="Calibri" pitchFamily="34" charset="-122"/>
                <a:cs typeface="Calibri" pitchFamily="34" charset="-120"/>
              </a:rPr>
              <a:t>Ongoing operations, monitoring (ETRD safety) and performance optimisation across the fleet — a recurring annuity that compounds with the install base.</a:t>
            </a:r>
            <a:endParaRPr lang="en-US" sz="1040" dirty="0"/>
          </a:p>
        </p:txBody>
      </p:sp>
      <p:sp>
        <p:nvSpPr>
          <p:cNvPr id="26" name="Shape 21"/>
          <p:cNvSpPr/>
          <p:nvPr/>
        </p:nvSpPr>
        <p:spPr>
          <a:xfrm>
            <a:off x="8396021" y="4041648"/>
            <a:ext cx="2954426" cy="292608"/>
          </a:xfrm>
          <a:prstGeom prst="roundRect">
            <a:avLst>
              <a:gd name="adj" fmla="val 50000"/>
            </a:avLst>
          </a:prstGeom>
          <a:solidFill>
            <a:srgbClr val="DCEFEE"/>
          </a:solidFill>
          <a:ln/>
        </p:spPr>
        <p:txBody>
          <a:bodyPr/>
          <a:lstStyle/>
          <a:p>
            <a:endParaRPr lang="en-US"/>
          </a:p>
        </p:txBody>
      </p:sp>
      <p:sp>
        <p:nvSpPr>
          <p:cNvPr id="27" name="Text 22"/>
          <p:cNvSpPr/>
          <p:nvPr/>
        </p:nvSpPr>
        <p:spPr>
          <a:xfrm>
            <a:off x="8396021" y="4041648"/>
            <a:ext cx="2954426" cy="292608"/>
          </a:xfrm>
          <a:prstGeom prst="rect">
            <a:avLst/>
          </a:prstGeom>
          <a:noFill/>
          <a:ln/>
        </p:spPr>
        <p:txBody>
          <a:bodyPr wrap="square" lIns="0" tIns="0" rIns="0" bIns="0" rtlCol="0" anchor="ctr"/>
          <a:lstStyle/>
          <a:p>
            <a:pPr marL="0" indent="0" algn="ctr">
              <a:buNone/>
            </a:pPr>
            <a:r>
              <a:rPr lang="en-US" sz="880" b="1" kern="0" spc="50" dirty="0">
                <a:solidFill>
                  <a:srgbClr val="0B5E5A"/>
                </a:solidFill>
                <a:latin typeface="Calibri" pitchFamily="34" charset="0"/>
                <a:ea typeface="Calibri" pitchFamily="34" charset="-122"/>
                <a:cs typeface="Calibri" pitchFamily="34" charset="-120"/>
              </a:rPr>
              <a:t>Recurring annuity</a:t>
            </a:r>
            <a:endParaRPr lang="en-US" sz="880" dirty="0"/>
          </a:p>
        </p:txBody>
      </p:sp>
      <p:sp>
        <p:nvSpPr>
          <p:cNvPr id="28" name="Shape 23"/>
          <p:cNvSpPr/>
          <p:nvPr/>
        </p:nvSpPr>
        <p:spPr>
          <a:xfrm>
            <a:off x="566928" y="4498848"/>
            <a:ext cx="11057839" cy="1691640"/>
          </a:xfrm>
          <a:prstGeom prst="roundRect">
            <a:avLst>
              <a:gd name="adj" fmla="val 3243"/>
            </a:avLst>
          </a:prstGeom>
          <a:solidFill>
            <a:srgbClr val="0E2A38"/>
          </a:solidFill>
          <a:ln/>
          <a:effectLst>
            <a:outerShdw blurRad="114300" dist="38100" dir="8100000" algn="bl" rotWithShape="0">
              <a:srgbClr val="0E2A38">
                <a:alpha val="13000"/>
              </a:srgbClr>
            </a:outerShdw>
          </a:effectLst>
        </p:spPr>
        <p:txBody>
          <a:bodyPr/>
          <a:lstStyle/>
          <a:p>
            <a:endParaRPr lang="en-US"/>
          </a:p>
        </p:txBody>
      </p:sp>
      <p:sp>
        <p:nvSpPr>
          <p:cNvPr id="29" name="Shape 24"/>
          <p:cNvSpPr/>
          <p:nvPr/>
        </p:nvSpPr>
        <p:spPr>
          <a:xfrm>
            <a:off x="859536" y="4791456"/>
            <a:ext cx="713232" cy="713232"/>
          </a:xfrm>
          <a:prstGeom prst="ellipse">
            <a:avLst/>
          </a:prstGeom>
          <a:solidFill>
            <a:srgbClr val="16B8A6"/>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1044976" y="4976896"/>
            <a:ext cx="342351" cy="342351"/>
          </a:xfrm>
          <a:prstGeom prst="rect">
            <a:avLst/>
          </a:prstGeom>
        </p:spPr>
      </p:pic>
      <p:sp>
        <p:nvSpPr>
          <p:cNvPr id="31" name="Text 25"/>
          <p:cNvSpPr/>
          <p:nvPr/>
        </p:nvSpPr>
        <p:spPr>
          <a:xfrm>
            <a:off x="1773936" y="4736592"/>
            <a:ext cx="621792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The model is asset-light by design</a:t>
            </a:r>
            <a:endParaRPr lang="en-US" sz="1600" dirty="0"/>
          </a:p>
        </p:txBody>
      </p:sp>
      <p:sp>
        <p:nvSpPr>
          <p:cNvPr id="32" name="Text 26"/>
          <p:cNvSpPr/>
          <p:nvPr/>
        </p:nvSpPr>
        <p:spPr>
          <a:xfrm>
            <a:off x="1773936" y="5102352"/>
            <a:ext cx="5532120" cy="1005840"/>
          </a:xfrm>
          <a:prstGeom prst="rect">
            <a:avLst/>
          </a:prstGeom>
          <a:noFill/>
          <a:ln/>
        </p:spPr>
        <p:txBody>
          <a:bodyPr wrap="square" lIns="0" tIns="0" rIns="0" bIns="0" rtlCol="0" anchor="t"/>
          <a:lstStyle/>
          <a:p>
            <a:pPr marL="0" indent="0">
              <a:lnSpc>
                <a:spcPct val="100000"/>
              </a:lnSpc>
              <a:buNone/>
            </a:pPr>
            <a:r>
              <a:rPr lang="en-US" sz="1020" dirty="0">
                <a:solidFill>
                  <a:srgbClr val="D7E6E7"/>
                </a:solidFill>
                <a:latin typeface="Calibri" pitchFamily="34" charset="0"/>
                <a:ea typeface="Calibri" pitchFamily="34" charset="-122"/>
                <a:cs typeface="Calibri" pitchFamily="34" charset="-120"/>
              </a:rPr>
              <a:t>AmpereHour integrates rather than manufactures cells — sourcing batteries and layering its hardware stack plus software on top. That keeps capex light and lets it scale capacity faster than vertically integrated players, but it also means hardware is largely a pass-through and differentiation must live in ELINA and execution.</a:t>
            </a:r>
            <a:endParaRPr lang="en-US" sz="1020" dirty="0"/>
          </a:p>
        </p:txBody>
      </p:sp>
      <p:sp>
        <p:nvSpPr>
          <p:cNvPr id="33" name="Text 27"/>
          <p:cNvSpPr/>
          <p:nvPr/>
        </p:nvSpPr>
        <p:spPr>
          <a:xfrm>
            <a:off x="7726680" y="4754880"/>
            <a:ext cx="36576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CAPEX</a:t>
            </a:r>
            <a:endParaRPr lang="en-US" sz="850" dirty="0"/>
          </a:p>
        </p:txBody>
      </p:sp>
      <p:sp>
        <p:nvSpPr>
          <p:cNvPr id="34" name="Text 28"/>
          <p:cNvSpPr/>
          <p:nvPr/>
        </p:nvSpPr>
        <p:spPr>
          <a:xfrm>
            <a:off x="7726680" y="4937760"/>
            <a:ext cx="3657600" cy="274320"/>
          </a:xfrm>
          <a:prstGeom prst="rect">
            <a:avLst/>
          </a:prstGeom>
          <a:noFill/>
          <a:ln/>
        </p:spPr>
        <p:txBody>
          <a:bodyPr wrap="square" lIns="0" tIns="0" rIns="0" bIns="0" rtlCol="0" anchor="ctr"/>
          <a:lstStyle/>
          <a:p>
            <a:pPr marL="0" indent="0">
              <a:buNone/>
            </a:pPr>
            <a:r>
              <a:rPr lang="en-US" sz="1200" b="1" dirty="0">
                <a:solidFill>
                  <a:srgbClr val="FBBF24"/>
                </a:solidFill>
                <a:latin typeface="Calibri" pitchFamily="34" charset="0"/>
                <a:ea typeface="Calibri" pitchFamily="34" charset="-122"/>
                <a:cs typeface="Calibri" pitchFamily="34" charset="-120"/>
              </a:rPr>
              <a:t>Low — no gigafactory</a:t>
            </a:r>
            <a:endParaRPr lang="en-US" sz="1200" dirty="0"/>
          </a:p>
        </p:txBody>
      </p:sp>
      <p:sp>
        <p:nvSpPr>
          <p:cNvPr id="35" name="Text 29"/>
          <p:cNvSpPr/>
          <p:nvPr/>
        </p:nvSpPr>
        <p:spPr>
          <a:xfrm>
            <a:off x="7726680" y="5230368"/>
            <a:ext cx="36576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GROSS MARGIN</a:t>
            </a:r>
            <a:endParaRPr lang="en-US" sz="850" dirty="0"/>
          </a:p>
        </p:txBody>
      </p:sp>
      <p:sp>
        <p:nvSpPr>
          <p:cNvPr id="36" name="Text 30"/>
          <p:cNvSpPr/>
          <p:nvPr/>
        </p:nvSpPr>
        <p:spPr>
          <a:xfrm>
            <a:off x="7726680" y="5413248"/>
            <a:ext cx="3657600" cy="274320"/>
          </a:xfrm>
          <a:prstGeom prst="rect">
            <a:avLst/>
          </a:prstGeom>
          <a:noFill/>
          <a:ln/>
        </p:spPr>
        <p:txBody>
          <a:bodyPr wrap="square" lIns="0" tIns="0" rIns="0" bIns="0" rtlCol="0" anchor="ctr"/>
          <a:lstStyle/>
          <a:p>
            <a:pPr marL="0" indent="0">
              <a:buNone/>
            </a:pPr>
            <a:r>
              <a:rPr lang="en-US" sz="1200" b="1" dirty="0">
                <a:solidFill>
                  <a:srgbClr val="FBBF24"/>
                </a:solidFill>
                <a:latin typeface="Calibri" pitchFamily="34" charset="0"/>
                <a:ea typeface="Calibri" pitchFamily="34" charset="-122"/>
                <a:cs typeface="Calibri" pitchFamily="34" charset="-120"/>
              </a:rPr>
              <a:t>Software-led uplift*</a:t>
            </a:r>
            <a:endParaRPr lang="en-US" sz="1200" dirty="0"/>
          </a:p>
        </p:txBody>
      </p:sp>
      <p:sp>
        <p:nvSpPr>
          <p:cNvPr id="37" name="Text 31"/>
          <p:cNvSpPr/>
          <p:nvPr/>
        </p:nvSpPr>
        <p:spPr>
          <a:xfrm>
            <a:off x="7726680" y="5705856"/>
            <a:ext cx="3657600" cy="201168"/>
          </a:xfrm>
          <a:prstGeom prst="rect">
            <a:avLst/>
          </a:prstGeom>
          <a:noFill/>
          <a:ln/>
        </p:spPr>
        <p:txBody>
          <a:bodyPr wrap="square" lIns="0" tIns="0" rIns="0" bIns="0" rtlCol="0" anchor="ctr"/>
          <a:lstStyle/>
          <a:p>
            <a:pPr marL="0" indent="0">
              <a:buNone/>
            </a:pPr>
            <a:r>
              <a:rPr lang="en-US" sz="850" b="1" kern="0" spc="100" dirty="0">
                <a:solidFill>
                  <a:srgbClr val="7FA6AC"/>
                </a:solidFill>
                <a:latin typeface="Calibri" pitchFamily="34" charset="0"/>
                <a:ea typeface="Calibri" pitchFamily="34" charset="-122"/>
                <a:cs typeface="Calibri" pitchFamily="34" charset="-120"/>
              </a:rPr>
              <a:t>MOAT SOURCE</a:t>
            </a:r>
            <a:endParaRPr lang="en-US" sz="850" dirty="0"/>
          </a:p>
        </p:txBody>
      </p:sp>
      <p:sp>
        <p:nvSpPr>
          <p:cNvPr id="38" name="Text 32"/>
          <p:cNvSpPr/>
          <p:nvPr/>
        </p:nvSpPr>
        <p:spPr>
          <a:xfrm>
            <a:off x="7726680" y="5888736"/>
            <a:ext cx="3657600" cy="274320"/>
          </a:xfrm>
          <a:prstGeom prst="rect">
            <a:avLst/>
          </a:prstGeom>
          <a:noFill/>
          <a:ln/>
        </p:spPr>
        <p:txBody>
          <a:bodyPr wrap="square" lIns="0" tIns="0" rIns="0" bIns="0" rtlCol="0" anchor="ctr"/>
          <a:lstStyle/>
          <a:p>
            <a:pPr marL="0" indent="0">
              <a:buNone/>
            </a:pPr>
            <a:r>
              <a:rPr lang="en-US" sz="1200" b="1" dirty="0">
                <a:solidFill>
                  <a:srgbClr val="FBBF24"/>
                </a:solidFill>
                <a:latin typeface="Calibri" pitchFamily="34" charset="0"/>
                <a:ea typeface="Calibri" pitchFamily="34" charset="-122"/>
                <a:cs typeface="Calibri" pitchFamily="34" charset="-120"/>
              </a:rPr>
              <a:t>ELINA + speed, not cells</a:t>
            </a:r>
            <a:endParaRPr lang="en-US" sz="1200" dirty="0"/>
          </a:p>
        </p:txBody>
      </p:sp>
      <p:sp>
        <p:nvSpPr>
          <p:cNvPr id="39" name="Text 33"/>
          <p:cNvSpPr/>
          <p:nvPr/>
        </p:nvSpPr>
        <p:spPr>
          <a:xfrm>
            <a:off x="566928" y="6473952"/>
            <a:ext cx="6400800" cy="228600"/>
          </a:xfrm>
          <a:prstGeom prst="rect">
            <a:avLst/>
          </a:prstGeom>
          <a:noFill/>
          <a:ln/>
        </p:spPr>
        <p:txBody>
          <a:bodyPr wrap="square" lIns="0" tIns="0" rIns="0" bIns="0" rtlCol="0" anchor="ctr"/>
          <a:lstStyle/>
          <a:p>
            <a:pPr marL="0" indent="0">
              <a:buNone/>
            </a:pPr>
            <a:r>
              <a:rPr lang="en-US" sz="750" i="1" dirty="0">
                <a:solidFill>
                  <a:srgbClr val="6E7F87"/>
                </a:solidFill>
                <a:latin typeface="Calibri" pitchFamily="34" charset="0"/>
                <a:ea typeface="Calibri" pitchFamily="34" charset="-122"/>
                <a:cs typeface="Calibri" pitchFamily="34" charset="-120"/>
              </a:rPr>
              <a:t>*Margin uplift from software is the central question for diligence (Slide 12).</a:t>
            </a:r>
            <a:endParaRPr lang="en-US" sz="750" dirty="0"/>
          </a:p>
        </p:txBody>
      </p:sp>
      <p:sp>
        <p:nvSpPr>
          <p:cNvPr id="40" name="Text 34"/>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2A38"/>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buNone/>
            </a:pPr>
            <a:r>
              <a:rPr lang="en-US" sz="1100" b="1" kern="0" spc="100" dirty="0">
                <a:solidFill>
                  <a:srgbClr val="FBBF24"/>
                </a:solidFill>
                <a:latin typeface="Calibri" pitchFamily="34" charset="0"/>
                <a:ea typeface="Calibri" pitchFamily="34" charset="-122"/>
                <a:cs typeface="Calibri" pitchFamily="34" charset="-120"/>
              </a:rPr>
              <a:t>04  ·  WHY NOW</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India's storage imperative has arrived</a:t>
            </a:r>
            <a:endParaRPr lang="en-US" sz="2700" dirty="0"/>
          </a:p>
        </p:txBody>
      </p:sp>
      <p:sp>
        <p:nvSpPr>
          <p:cNvPr id="4" name="Text 2"/>
          <p:cNvSpPr/>
          <p:nvPr/>
        </p:nvSpPr>
        <p:spPr>
          <a:xfrm>
            <a:off x="566928" y="1591056"/>
            <a:ext cx="5029200" cy="914400"/>
          </a:xfrm>
          <a:prstGeom prst="rect">
            <a:avLst/>
          </a:prstGeom>
          <a:noFill/>
          <a:ln/>
        </p:spPr>
        <p:txBody>
          <a:bodyPr wrap="square" lIns="0" tIns="0" rIns="0" bIns="0" rtlCol="0" anchor="t"/>
          <a:lstStyle/>
          <a:p>
            <a:pPr marL="0" indent="0">
              <a:lnSpc>
                <a:spcPct val="108000"/>
              </a:lnSpc>
              <a:buNone/>
            </a:pPr>
            <a:r>
              <a:rPr lang="en-US" sz="1350" i="1" dirty="0">
                <a:solidFill>
                  <a:srgbClr val="CFE0E2"/>
                </a:solidFill>
                <a:latin typeface="Calibri" pitchFamily="34" charset="0"/>
                <a:ea typeface="Calibri" pitchFamily="34" charset="-122"/>
                <a:cs typeface="Calibri" pitchFamily="34" charset="-120"/>
              </a:rPr>
              <a:t>Storage is the missing link between India's renewable ambition and a stable grid. Three forces are converging at once — and the deployed base is still effectively zero.</a:t>
            </a:r>
            <a:endParaRPr lang="en-US" sz="1350" dirty="0"/>
          </a:p>
        </p:txBody>
      </p:sp>
      <p:sp>
        <p:nvSpPr>
          <p:cNvPr id="5" name="Shape 3"/>
          <p:cNvSpPr/>
          <p:nvPr/>
        </p:nvSpPr>
        <p:spPr>
          <a:xfrm>
            <a:off x="566928" y="2615184"/>
            <a:ext cx="548640" cy="548640"/>
          </a:xfrm>
          <a:prstGeom prst="ellipse">
            <a:avLst/>
          </a:prstGeom>
          <a:solidFill>
            <a:srgbClr val="0E7C7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709574" y="2757830"/>
            <a:ext cx="263347" cy="263347"/>
          </a:xfrm>
          <a:prstGeom prst="rect">
            <a:avLst/>
          </a:prstGeom>
        </p:spPr>
      </p:pic>
      <p:sp>
        <p:nvSpPr>
          <p:cNvPr id="7" name="Text 4"/>
          <p:cNvSpPr/>
          <p:nvPr/>
        </p:nvSpPr>
        <p:spPr>
          <a:xfrm>
            <a:off x="1280160" y="2578608"/>
            <a:ext cx="4572000"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Renewables outrun the grid</a:t>
            </a:r>
            <a:endParaRPr lang="en-US" sz="1300" dirty="0"/>
          </a:p>
        </p:txBody>
      </p:sp>
      <p:sp>
        <p:nvSpPr>
          <p:cNvPr id="8" name="Text 5"/>
          <p:cNvSpPr/>
          <p:nvPr/>
        </p:nvSpPr>
        <p:spPr>
          <a:xfrm>
            <a:off x="1280160" y="2889504"/>
            <a:ext cx="4617720" cy="640080"/>
          </a:xfrm>
          <a:prstGeom prst="rect">
            <a:avLst/>
          </a:prstGeom>
          <a:noFill/>
          <a:ln/>
        </p:spPr>
        <p:txBody>
          <a:bodyPr wrap="square" lIns="0" tIns="0" rIns="0" bIns="0" rtlCol="0" anchor="t"/>
          <a:lstStyle/>
          <a:p>
            <a:pPr marL="0" indent="0">
              <a:lnSpc>
                <a:spcPct val="99000"/>
              </a:lnSpc>
              <a:buNone/>
            </a:pPr>
            <a:r>
              <a:rPr lang="en-US" sz="1040" dirty="0">
                <a:solidFill>
                  <a:srgbClr val="BCD2D4"/>
                </a:solidFill>
                <a:latin typeface="Calibri" pitchFamily="34" charset="0"/>
                <a:ea typeface="Calibri" pitchFamily="34" charset="-122"/>
                <a:cs typeface="Calibri" pitchFamily="34" charset="-120"/>
              </a:rPr>
              <a:t>500 GW non-fossil target by 2030; solar's daytime surge and evening cliff make firming with storage unavoidable.</a:t>
            </a:r>
            <a:endParaRPr lang="en-US" sz="1040" dirty="0"/>
          </a:p>
        </p:txBody>
      </p:sp>
      <p:sp>
        <p:nvSpPr>
          <p:cNvPr id="9" name="Shape 6"/>
          <p:cNvSpPr/>
          <p:nvPr/>
        </p:nvSpPr>
        <p:spPr>
          <a:xfrm>
            <a:off x="566928" y="3694176"/>
            <a:ext cx="548640" cy="548640"/>
          </a:xfrm>
          <a:prstGeom prst="ellipse">
            <a:avLst/>
          </a:prstGeom>
          <a:solidFill>
            <a:srgbClr val="0E7C77"/>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709574" y="3836822"/>
            <a:ext cx="263347" cy="263347"/>
          </a:xfrm>
          <a:prstGeom prst="rect">
            <a:avLst/>
          </a:prstGeom>
        </p:spPr>
      </p:pic>
      <p:sp>
        <p:nvSpPr>
          <p:cNvPr id="11" name="Text 7"/>
          <p:cNvSpPr/>
          <p:nvPr/>
        </p:nvSpPr>
        <p:spPr>
          <a:xfrm>
            <a:off x="1280160" y="3657600"/>
            <a:ext cx="4572000"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Policy turned demand into mandate</a:t>
            </a:r>
            <a:endParaRPr lang="en-US" sz="1300" dirty="0"/>
          </a:p>
        </p:txBody>
      </p:sp>
      <p:sp>
        <p:nvSpPr>
          <p:cNvPr id="12" name="Text 8"/>
          <p:cNvSpPr/>
          <p:nvPr/>
        </p:nvSpPr>
        <p:spPr>
          <a:xfrm>
            <a:off x="1280160" y="3968496"/>
            <a:ext cx="4617720" cy="640080"/>
          </a:xfrm>
          <a:prstGeom prst="rect">
            <a:avLst/>
          </a:prstGeom>
          <a:noFill/>
          <a:ln/>
        </p:spPr>
        <p:txBody>
          <a:bodyPr wrap="square" lIns="0" tIns="0" rIns="0" bIns="0" rtlCol="0" anchor="t"/>
          <a:lstStyle/>
          <a:p>
            <a:pPr marL="0" indent="0">
              <a:lnSpc>
                <a:spcPct val="99000"/>
              </a:lnSpc>
              <a:buNone/>
            </a:pPr>
            <a:r>
              <a:rPr lang="en-US" sz="1040" dirty="0">
                <a:solidFill>
                  <a:srgbClr val="BCD2D4"/>
                </a:solidFill>
                <a:latin typeface="Calibri" pitchFamily="34" charset="0"/>
                <a:ea typeface="Calibri" pitchFamily="34" charset="-122"/>
                <a:cs typeface="Calibri" pitchFamily="34" charset="-120"/>
              </a:rPr>
              <a:t>Energy Storage Obligation (1%→~4% by FY30), ISTS waivers and viability-gap funding now underwrite project economics.</a:t>
            </a:r>
            <a:endParaRPr lang="en-US" sz="1040" dirty="0"/>
          </a:p>
        </p:txBody>
      </p:sp>
      <p:sp>
        <p:nvSpPr>
          <p:cNvPr id="13" name="Shape 9"/>
          <p:cNvSpPr/>
          <p:nvPr/>
        </p:nvSpPr>
        <p:spPr>
          <a:xfrm>
            <a:off x="566928" y="4773168"/>
            <a:ext cx="548640" cy="548640"/>
          </a:xfrm>
          <a:prstGeom prst="ellipse">
            <a:avLst/>
          </a:prstGeom>
          <a:solidFill>
            <a:srgbClr val="0E7C77"/>
          </a:solidFill>
          <a:ln/>
        </p:spPr>
        <p:txBody>
          <a:bodyPr/>
          <a:lstStyle/>
          <a:p>
            <a:endParaRPr lang="en-US"/>
          </a:p>
        </p:txBody>
      </p:sp>
      <p:pic>
        <p:nvPicPr>
          <p:cNvPr id="14" name="Image 2" descr="preencoded.png"/>
          <p:cNvPicPr>
            <a:picLocks noChangeAspect="1"/>
          </p:cNvPicPr>
          <p:nvPr/>
        </p:nvPicPr>
        <p:blipFill>
          <a:blip r:embed="rId5"/>
          <a:stretch>
            <a:fillRect/>
          </a:stretch>
        </p:blipFill>
        <p:spPr>
          <a:xfrm>
            <a:off x="709574" y="4915814"/>
            <a:ext cx="263347" cy="263347"/>
          </a:xfrm>
          <a:prstGeom prst="rect">
            <a:avLst/>
          </a:prstGeom>
        </p:spPr>
      </p:pic>
      <p:sp>
        <p:nvSpPr>
          <p:cNvPr id="15" name="Text 10"/>
          <p:cNvSpPr/>
          <p:nvPr/>
        </p:nvSpPr>
        <p:spPr>
          <a:xfrm>
            <a:off x="1280160" y="4736592"/>
            <a:ext cx="4572000" cy="310896"/>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A near-zero base</a:t>
            </a:r>
            <a:endParaRPr lang="en-US" sz="1300" dirty="0"/>
          </a:p>
        </p:txBody>
      </p:sp>
      <p:sp>
        <p:nvSpPr>
          <p:cNvPr id="16" name="Text 11"/>
          <p:cNvSpPr/>
          <p:nvPr/>
        </p:nvSpPr>
        <p:spPr>
          <a:xfrm>
            <a:off x="1280160" y="5047488"/>
            <a:ext cx="4617720" cy="640080"/>
          </a:xfrm>
          <a:prstGeom prst="rect">
            <a:avLst/>
          </a:prstGeom>
          <a:noFill/>
          <a:ln/>
        </p:spPr>
        <p:txBody>
          <a:bodyPr wrap="square" lIns="0" tIns="0" rIns="0" bIns="0" rtlCol="0" anchor="t"/>
          <a:lstStyle/>
          <a:p>
            <a:pPr marL="0" indent="0">
              <a:lnSpc>
                <a:spcPct val="99000"/>
              </a:lnSpc>
              <a:buNone/>
            </a:pPr>
            <a:r>
              <a:rPr lang="en-US" sz="1040" dirty="0">
                <a:solidFill>
                  <a:srgbClr val="BCD2D4"/>
                </a:solidFill>
                <a:latin typeface="Calibri" pitchFamily="34" charset="0"/>
                <a:ea typeface="Calibri" pitchFamily="34" charset="-122"/>
                <a:cs typeface="Calibri" pitchFamily="34" charset="-120"/>
              </a:rPr>
              <a:t>Only ~0.5 GWh was operational in late-2025 — the build-out is just beginning, and first movers are setting standards.</a:t>
            </a:r>
            <a:endParaRPr lang="en-US" sz="1040" dirty="0"/>
          </a:p>
        </p:txBody>
      </p:sp>
      <p:sp>
        <p:nvSpPr>
          <p:cNvPr id="17" name="Shape 12"/>
          <p:cNvSpPr/>
          <p:nvPr/>
        </p:nvSpPr>
        <p:spPr>
          <a:xfrm>
            <a:off x="6126480" y="1591056"/>
            <a:ext cx="5498287" cy="4617720"/>
          </a:xfrm>
          <a:prstGeom prst="roundRect">
            <a:avLst>
              <a:gd name="adj" fmla="val 1584"/>
            </a:avLst>
          </a:prstGeom>
          <a:solidFill>
            <a:srgbClr val="08202B"/>
          </a:solidFill>
          <a:ln w="12700">
            <a:solidFill>
              <a:srgbClr val="1C4250"/>
            </a:solidFill>
            <a:prstDash val="solid"/>
          </a:ln>
        </p:spPr>
        <p:txBody>
          <a:bodyPr/>
          <a:lstStyle/>
          <a:p>
            <a:endParaRPr lang="en-US"/>
          </a:p>
        </p:txBody>
      </p:sp>
      <p:sp>
        <p:nvSpPr>
          <p:cNvPr id="18" name="Text 13"/>
          <p:cNvSpPr/>
          <p:nvPr/>
        </p:nvSpPr>
        <p:spPr>
          <a:xfrm>
            <a:off x="6446520" y="1810512"/>
            <a:ext cx="4949647" cy="274320"/>
          </a:xfrm>
          <a:prstGeom prst="rect">
            <a:avLst/>
          </a:prstGeom>
          <a:noFill/>
          <a:ln/>
        </p:spPr>
        <p:txBody>
          <a:bodyPr wrap="square" lIns="0" tIns="0" rIns="0" bIns="0" rtlCol="0" anchor="ctr"/>
          <a:lstStyle/>
          <a:p>
            <a:pPr marL="0" indent="0">
              <a:buNone/>
            </a:pPr>
            <a:r>
              <a:rPr lang="en-US" sz="1100" b="1" kern="0" spc="100" dirty="0">
                <a:solidFill>
                  <a:srgbClr val="16B8A6"/>
                </a:solidFill>
                <a:latin typeface="Calibri" pitchFamily="34" charset="0"/>
                <a:ea typeface="Calibri" pitchFamily="34" charset="-122"/>
                <a:cs typeface="Calibri" pitchFamily="34" charset="-120"/>
              </a:rPr>
              <a:t>THE OPPORTUNITY GAP</a:t>
            </a:r>
            <a:endParaRPr lang="en-US" sz="1100" spc="100" dirty="0"/>
          </a:p>
        </p:txBody>
      </p:sp>
      <p:sp>
        <p:nvSpPr>
          <p:cNvPr id="19" name="Text 14"/>
          <p:cNvSpPr/>
          <p:nvPr/>
        </p:nvSpPr>
        <p:spPr>
          <a:xfrm>
            <a:off x="6446520" y="2148840"/>
            <a:ext cx="4858207" cy="868680"/>
          </a:xfrm>
          <a:prstGeom prst="rect">
            <a:avLst/>
          </a:prstGeom>
          <a:noFill/>
          <a:ln/>
        </p:spPr>
        <p:txBody>
          <a:bodyPr wrap="square" lIns="0" tIns="0" rIns="0" bIns="0"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~0.5</a:t>
            </a:r>
            <a:endParaRPr lang="en-US" sz="6000" dirty="0"/>
          </a:p>
        </p:txBody>
      </p:sp>
      <p:sp>
        <p:nvSpPr>
          <p:cNvPr id="20" name="Text 15"/>
          <p:cNvSpPr/>
          <p:nvPr/>
        </p:nvSpPr>
        <p:spPr>
          <a:xfrm>
            <a:off x="6446520" y="2999232"/>
            <a:ext cx="4858207" cy="274320"/>
          </a:xfrm>
          <a:prstGeom prst="rect">
            <a:avLst/>
          </a:prstGeom>
          <a:noFill/>
          <a:ln/>
        </p:spPr>
        <p:txBody>
          <a:bodyPr wrap="square" lIns="0" tIns="0" rIns="0" bIns="0" rtlCol="0" anchor="ctr"/>
          <a:lstStyle/>
          <a:p>
            <a:pPr marL="0" indent="0">
              <a:buNone/>
            </a:pPr>
            <a:r>
              <a:rPr lang="en-US" sz="1150" dirty="0">
                <a:solidFill>
                  <a:srgbClr val="9FBCC0"/>
                </a:solidFill>
                <a:latin typeface="Calibri" pitchFamily="34" charset="0"/>
                <a:ea typeface="Calibri" pitchFamily="34" charset="-122"/>
                <a:cs typeface="Calibri" pitchFamily="34" charset="-120"/>
              </a:rPr>
              <a:t>GWh of BESS operational today (Oct 2025)</a:t>
            </a:r>
            <a:endParaRPr lang="en-US" sz="1150" dirty="0"/>
          </a:p>
        </p:txBody>
      </p:sp>
      <p:sp>
        <p:nvSpPr>
          <p:cNvPr id="21" name="Shape 16"/>
          <p:cNvSpPr/>
          <p:nvPr/>
        </p:nvSpPr>
        <p:spPr>
          <a:xfrm>
            <a:off x="6446520" y="3456432"/>
            <a:ext cx="4858207" cy="0"/>
          </a:xfrm>
          <a:prstGeom prst="line">
            <a:avLst/>
          </a:prstGeom>
          <a:noFill/>
          <a:ln w="12700">
            <a:solidFill>
              <a:srgbClr val="1C4250"/>
            </a:solidFill>
            <a:prstDash val="solid"/>
          </a:ln>
        </p:spPr>
        <p:txBody>
          <a:bodyPr/>
          <a:lstStyle/>
          <a:p>
            <a:endParaRPr lang="en-US"/>
          </a:p>
        </p:txBody>
      </p:sp>
      <p:sp>
        <p:nvSpPr>
          <p:cNvPr id="22" name="Text 17"/>
          <p:cNvSpPr/>
          <p:nvPr/>
        </p:nvSpPr>
        <p:spPr>
          <a:xfrm>
            <a:off x="6446520" y="3611880"/>
            <a:ext cx="4858207" cy="868680"/>
          </a:xfrm>
          <a:prstGeom prst="rect">
            <a:avLst/>
          </a:prstGeom>
          <a:noFill/>
          <a:ln/>
        </p:spPr>
        <p:txBody>
          <a:bodyPr wrap="square" lIns="0" tIns="0" rIns="0" bIns="0" rtlCol="0" anchor="ctr"/>
          <a:lstStyle/>
          <a:p>
            <a:pPr marL="0" indent="0">
              <a:buNone/>
            </a:pPr>
            <a:r>
              <a:rPr lang="en-US" sz="6000" b="1" dirty="0">
                <a:solidFill>
                  <a:srgbClr val="FBBF24"/>
                </a:solidFill>
                <a:latin typeface="Georgia" pitchFamily="34" charset="0"/>
                <a:ea typeface="Georgia" pitchFamily="34" charset="-122"/>
                <a:cs typeface="Georgia" pitchFamily="34" charset="-120"/>
              </a:rPr>
              <a:t>236</a:t>
            </a:r>
            <a:r>
              <a:rPr lang="en-US" sz="2200" b="1" dirty="0">
                <a:solidFill>
                  <a:srgbClr val="FBBF24"/>
                </a:solidFill>
                <a:latin typeface="Georgia" pitchFamily="34" charset="0"/>
                <a:ea typeface="Georgia" pitchFamily="34" charset="-122"/>
                <a:cs typeface="Georgia" pitchFamily="34" charset="-120"/>
              </a:rPr>
              <a:t> GWh</a:t>
            </a:r>
            <a:endParaRPr lang="en-US" sz="6000" dirty="0"/>
          </a:p>
        </p:txBody>
      </p:sp>
      <p:sp>
        <p:nvSpPr>
          <p:cNvPr id="23" name="Text 18"/>
          <p:cNvSpPr/>
          <p:nvPr/>
        </p:nvSpPr>
        <p:spPr>
          <a:xfrm>
            <a:off x="6446520" y="4462272"/>
            <a:ext cx="4858207" cy="457200"/>
          </a:xfrm>
          <a:prstGeom prst="rect">
            <a:avLst/>
          </a:prstGeom>
          <a:noFill/>
          <a:ln/>
        </p:spPr>
        <p:txBody>
          <a:bodyPr wrap="square" lIns="0" tIns="0" rIns="0" bIns="0" rtlCol="0" anchor="ctr"/>
          <a:lstStyle/>
          <a:p>
            <a:pPr marL="0" indent="0">
              <a:lnSpc>
                <a:spcPct val="98000"/>
              </a:lnSpc>
              <a:buNone/>
            </a:pPr>
            <a:r>
              <a:rPr lang="en-US" sz="1150" dirty="0">
                <a:solidFill>
                  <a:srgbClr val="9FBCC0"/>
                </a:solidFill>
                <a:latin typeface="Calibri" pitchFamily="34" charset="0"/>
                <a:ea typeface="Calibri" pitchFamily="34" charset="-122"/>
                <a:cs typeface="Calibri" pitchFamily="34" charset="-120"/>
              </a:rPr>
              <a:t>of BESS required by FY2031-32 — Central Electricity Authority</a:t>
            </a:r>
            <a:endParaRPr lang="en-US" sz="1150" dirty="0"/>
          </a:p>
        </p:txBody>
      </p:sp>
      <p:sp>
        <p:nvSpPr>
          <p:cNvPr id="24" name="Shape 19"/>
          <p:cNvSpPr/>
          <p:nvPr/>
        </p:nvSpPr>
        <p:spPr>
          <a:xfrm>
            <a:off x="6446520" y="5074920"/>
            <a:ext cx="4858207" cy="868680"/>
          </a:xfrm>
          <a:prstGeom prst="roundRect">
            <a:avLst>
              <a:gd name="adj" fmla="val 6316"/>
            </a:avLst>
          </a:prstGeom>
          <a:solidFill>
            <a:srgbClr val="0E7C77"/>
          </a:solidFill>
          <a:ln/>
        </p:spPr>
        <p:txBody>
          <a:bodyPr/>
          <a:lstStyle/>
          <a:p>
            <a:endParaRPr lang="en-US"/>
          </a:p>
        </p:txBody>
      </p:sp>
      <p:sp>
        <p:nvSpPr>
          <p:cNvPr id="25" name="Text 20"/>
          <p:cNvSpPr/>
          <p:nvPr/>
        </p:nvSpPr>
        <p:spPr>
          <a:xfrm>
            <a:off x="6446520" y="5074920"/>
            <a:ext cx="4858207" cy="868680"/>
          </a:xfrm>
          <a:prstGeom prst="rect">
            <a:avLst/>
          </a:prstGeom>
          <a:noFill/>
          <a:ln/>
        </p:spPr>
        <p:txBody>
          <a:bodyPr wrap="square" lIns="0" tIns="0" rIns="0" bIns="0" rtlCol="0" anchor="ctr"/>
          <a:lstStyle/>
          <a:p>
            <a:pPr marL="0" indent="0" algn="ctr">
              <a:lnSpc>
                <a:spcPct val="100000"/>
              </a:lnSpc>
              <a:buNone/>
            </a:pPr>
            <a:r>
              <a:rPr lang="en-US" sz="1450" b="1" dirty="0">
                <a:solidFill>
                  <a:srgbClr val="FFFFFF"/>
                </a:solidFill>
              </a:rPr>
              <a:t>A &gt;450x deployment ramp</a:t>
            </a:r>
            <a:endParaRPr lang="en-US" sz="1450" dirty="0"/>
          </a:p>
          <a:p>
            <a:pPr marL="0" indent="0" algn="ctr">
              <a:lnSpc>
                <a:spcPct val="100000"/>
              </a:lnSpc>
              <a:buNone/>
            </a:pPr>
            <a:r>
              <a:rPr lang="en-US" sz="1050" dirty="0">
                <a:solidFill>
                  <a:srgbClr val="DFF1F0"/>
                </a:solidFill>
              </a:rPr>
              <a:t>≈ $42B of BESS capex projected, 2022–2032</a:t>
            </a:r>
            <a:endParaRPr lang="en-US" sz="1450" dirty="0"/>
          </a:p>
        </p:txBody>
      </p:sp>
      <p:sp>
        <p:nvSpPr>
          <p:cNvPr id="26" name="Text 21"/>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8FB0B6"/>
                </a:solidFill>
                <a:latin typeface="Calibri" pitchFamily="34" charset="0"/>
                <a:ea typeface="Calibri" pitchFamily="34" charset="-122"/>
                <a:cs typeface="Calibri" pitchFamily="34" charset="-120"/>
              </a:rPr>
              <a:t>AmpereHour Energy  ·  Investment Thesis</a:t>
            </a:r>
            <a:endParaRPr lang="en-US" sz="850" dirty="0"/>
          </a:p>
        </p:txBody>
      </p:sp>
      <p:sp>
        <p:nvSpPr>
          <p:cNvPr id="27" name="Text 22"/>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8FB0B6"/>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05  ·  TECHNOLOGY ASSESSMENT</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Hardware you can swap, software you can't</a:t>
            </a:r>
            <a:endParaRPr lang="en-US" sz="2700" dirty="0"/>
          </a:p>
        </p:txBody>
      </p:sp>
      <p:sp>
        <p:nvSpPr>
          <p:cNvPr id="4" name="Text 2"/>
          <p:cNvSpPr/>
          <p:nvPr/>
        </p:nvSpPr>
        <p:spPr>
          <a:xfrm>
            <a:off x="566928" y="1481328"/>
            <a:ext cx="4572000" cy="256032"/>
          </a:xfrm>
          <a:prstGeom prst="rect">
            <a:avLst/>
          </a:prstGeom>
          <a:noFill/>
          <a:ln/>
        </p:spPr>
        <p:txBody>
          <a:bodyPr wrap="square" lIns="0" tIns="0" rIns="0" bIns="0" rtlCol="0" anchor="ctr"/>
          <a:lstStyle/>
          <a:p>
            <a:pPr marL="0" indent="0">
              <a:buNone/>
            </a:pPr>
            <a:r>
              <a:rPr lang="en-US" sz="1050" b="1" kern="0" spc="180" dirty="0">
                <a:solidFill>
                  <a:srgbClr val="0E7C77"/>
                </a:solidFill>
                <a:latin typeface="Calibri" pitchFamily="34" charset="0"/>
                <a:ea typeface="Calibri" pitchFamily="34" charset="-122"/>
                <a:cs typeface="Calibri" pitchFamily="34" charset="-120"/>
              </a:rPr>
              <a:t>HOW IT WORKS</a:t>
            </a:r>
            <a:endParaRPr lang="en-US" sz="1050" dirty="0"/>
          </a:p>
        </p:txBody>
      </p:sp>
      <p:sp>
        <p:nvSpPr>
          <p:cNvPr id="5" name="Shape 3"/>
          <p:cNvSpPr/>
          <p:nvPr/>
        </p:nvSpPr>
        <p:spPr>
          <a:xfrm>
            <a:off x="566928" y="1792224"/>
            <a:ext cx="5943600" cy="1078992"/>
          </a:xfrm>
          <a:prstGeom prst="roundRect">
            <a:avLst>
              <a:gd name="adj" fmla="val 5085"/>
            </a:avLst>
          </a:prstGeom>
          <a:solidFill>
            <a:srgbClr val="F3F7F7"/>
          </a:solidFill>
          <a:ln w="12700">
            <a:solidFill>
              <a:srgbClr val="E3EAEC"/>
            </a:solidFill>
            <a:prstDash val="solid"/>
          </a:ln>
        </p:spPr>
        <p:txBody>
          <a:bodyPr/>
          <a:lstStyle/>
          <a:p>
            <a:endParaRPr lang="en-US"/>
          </a:p>
        </p:txBody>
      </p:sp>
      <p:sp>
        <p:nvSpPr>
          <p:cNvPr id="6" name="Shape 4"/>
          <p:cNvSpPr/>
          <p:nvPr/>
        </p:nvSpPr>
        <p:spPr>
          <a:xfrm>
            <a:off x="786384" y="2048256"/>
            <a:ext cx="566928" cy="566928"/>
          </a:xfrm>
          <a:prstGeom prst="ellipse">
            <a:avLst/>
          </a:prstGeom>
          <a:solidFill>
            <a:srgbClr val="F2A516"/>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33785" y="2195657"/>
            <a:ext cx="272125" cy="272125"/>
          </a:xfrm>
          <a:prstGeom prst="rect">
            <a:avLst/>
          </a:prstGeom>
        </p:spPr>
      </p:pic>
      <p:sp>
        <p:nvSpPr>
          <p:cNvPr id="8" name="Text 5"/>
          <p:cNvSpPr/>
          <p:nvPr/>
        </p:nvSpPr>
        <p:spPr>
          <a:xfrm>
            <a:off x="1517904" y="1920240"/>
            <a:ext cx="4846320" cy="292608"/>
          </a:xfrm>
          <a:prstGeom prst="rect">
            <a:avLst/>
          </a:prstGeom>
          <a:noFill/>
          <a:ln/>
        </p:spPr>
        <p:txBody>
          <a:bodyPr wrap="square" lIns="0" tIns="0" rIns="0" bIns="0" rtlCol="0" anchor="ctr"/>
          <a:lstStyle/>
          <a:p>
            <a:pPr marL="0" indent="0">
              <a:buNone/>
            </a:pPr>
            <a:r>
              <a:rPr lang="en-US" sz="1350" b="1" dirty="0">
                <a:solidFill>
                  <a:srgbClr val="15262F"/>
                </a:solidFill>
                <a:latin typeface="Georgia" pitchFamily="34" charset="0"/>
                <a:ea typeface="Georgia" pitchFamily="34" charset="-122"/>
                <a:cs typeface="Georgia" pitchFamily="34" charset="-120"/>
              </a:rPr>
              <a:t>ELINA — the brain</a:t>
            </a:r>
            <a:endParaRPr lang="en-US" sz="1350" dirty="0"/>
          </a:p>
        </p:txBody>
      </p:sp>
      <p:sp>
        <p:nvSpPr>
          <p:cNvPr id="9" name="Text 6"/>
          <p:cNvSpPr/>
          <p:nvPr/>
        </p:nvSpPr>
        <p:spPr>
          <a:xfrm>
            <a:off x="1517904" y="2212848"/>
            <a:ext cx="4864608" cy="603504"/>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AI/ML energy-management software that forecasts, dispatches and trades energy (peak-shaving, arbitrage, ancillary services) and extends cell life.</a:t>
            </a:r>
            <a:endParaRPr lang="en-US" sz="1030" dirty="0"/>
          </a:p>
        </p:txBody>
      </p:sp>
      <p:sp>
        <p:nvSpPr>
          <p:cNvPr id="10" name="Shape 7"/>
          <p:cNvSpPr/>
          <p:nvPr/>
        </p:nvSpPr>
        <p:spPr>
          <a:xfrm>
            <a:off x="566928" y="2980944"/>
            <a:ext cx="5943600" cy="1078992"/>
          </a:xfrm>
          <a:prstGeom prst="roundRect">
            <a:avLst>
              <a:gd name="adj" fmla="val 5085"/>
            </a:avLst>
          </a:prstGeom>
          <a:solidFill>
            <a:srgbClr val="F3F7F7"/>
          </a:solidFill>
          <a:ln w="12700">
            <a:solidFill>
              <a:srgbClr val="E3EAEC"/>
            </a:solidFill>
            <a:prstDash val="solid"/>
          </a:ln>
        </p:spPr>
        <p:txBody>
          <a:bodyPr/>
          <a:lstStyle/>
          <a:p>
            <a:endParaRPr lang="en-US"/>
          </a:p>
        </p:txBody>
      </p:sp>
      <p:sp>
        <p:nvSpPr>
          <p:cNvPr id="11" name="Shape 8"/>
          <p:cNvSpPr/>
          <p:nvPr/>
        </p:nvSpPr>
        <p:spPr>
          <a:xfrm>
            <a:off x="786384" y="3236976"/>
            <a:ext cx="566928" cy="566928"/>
          </a:xfrm>
          <a:prstGeom prst="ellipse">
            <a:avLst/>
          </a:prstGeom>
          <a:solidFill>
            <a:srgbClr val="0E7C77"/>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933785" y="3384377"/>
            <a:ext cx="272125" cy="272125"/>
          </a:xfrm>
          <a:prstGeom prst="rect">
            <a:avLst/>
          </a:prstGeom>
        </p:spPr>
      </p:pic>
      <p:sp>
        <p:nvSpPr>
          <p:cNvPr id="13" name="Text 9"/>
          <p:cNvSpPr/>
          <p:nvPr/>
        </p:nvSpPr>
        <p:spPr>
          <a:xfrm>
            <a:off x="1517904" y="3108960"/>
            <a:ext cx="4846320" cy="292608"/>
          </a:xfrm>
          <a:prstGeom prst="rect">
            <a:avLst/>
          </a:prstGeom>
          <a:noFill/>
          <a:ln/>
        </p:spPr>
        <p:txBody>
          <a:bodyPr wrap="square" lIns="0" tIns="0" rIns="0" bIns="0" rtlCol="0" anchor="ctr"/>
          <a:lstStyle/>
          <a:p>
            <a:pPr marL="0" indent="0">
              <a:buNone/>
            </a:pPr>
            <a:r>
              <a:rPr lang="en-US" sz="1350" b="1" dirty="0">
                <a:solidFill>
                  <a:srgbClr val="15262F"/>
                </a:solidFill>
                <a:latin typeface="Georgia" pitchFamily="34" charset="0"/>
                <a:ea typeface="Georgia" pitchFamily="34" charset="-122"/>
                <a:cs typeface="Georgia" pitchFamily="34" charset="-120"/>
              </a:rPr>
              <a:t>AH-Stack — the body</a:t>
            </a:r>
            <a:endParaRPr lang="en-US" sz="1350" dirty="0"/>
          </a:p>
        </p:txBody>
      </p:sp>
      <p:sp>
        <p:nvSpPr>
          <p:cNvPr id="14" name="Text 10"/>
          <p:cNvSpPr/>
          <p:nvPr/>
        </p:nvSpPr>
        <p:spPr>
          <a:xfrm>
            <a:off x="1517904" y="3401568"/>
            <a:ext cx="4864608" cy="603504"/>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Modular, plug-and-play packs (to AH-5MWh, liquid-cooled) with built-in Early Thermal Runaway Detection for safety.</a:t>
            </a:r>
            <a:endParaRPr lang="en-US" sz="1030" dirty="0"/>
          </a:p>
        </p:txBody>
      </p:sp>
      <p:sp>
        <p:nvSpPr>
          <p:cNvPr id="15" name="Shape 11"/>
          <p:cNvSpPr/>
          <p:nvPr/>
        </p:nvSpPr>
        <p:spPr>
          <a:xfrm>
            <a:off x="566928" y="4169664"/>
            <a:ext cx="5943600" cy="1078992"/>
          </a:xfrm>
          <a:prstGeom prst="roundRect">
            <a:avLst>
              <a:gd name="adj" fmla="val 5085"/>
            </a:avLst>
          </a:prstGeom>
          <a:solidFill>
            <a:srgbClr val="F3F7F7"/>
          </a:solidFill>
          <a:ln w="12700">
            <a:solidFill>
              <a:srgbClr val="E3EAEC"/>
            </a:solidFill>
            <a:prstDash val="solid"/>
          </a:ln>
        </p:spPr>
        <p:txBody>
          <a:bodyPr/>
          <a:lstStyle/>
          <a:p>
            <a:endParaRPr lang="en-US"/>
          </a:p>
        </p:txBody>
      </p:sp>
      <p:sp>
        <p:nvSpPr>
          <p:cNvPr id="16" name="Shape 12"/>
          <p:cNvSpPr/>
          <p:nvPr/>
        </p:nvSpPr>
        <p:spPr>
          <a:xfrm>
            <a:off x="786384" y="4425696"/>
            <a:ext cx="566928" cy="566928"/>
          </a:xfrm>
          <a:prstGeom prst="ellipse">
            <a:avLst/>
          </a:prstGeom>
          <a:solidFill>
            <a:srgbClr val="0E7C77"/>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933785" y="4573097"/>
            <a:ext cx="272125" cy="272125"/>
          </a:xfrm>
          <a:prstGeom prst="rect">
            <a:avLst/>
          </a:prstGeom>
        </p:spPr>
      </p:pic>
      <p:sp>
        <p:nvSpPr>
          <p:cNvPr id="18" name="Text 13"/>
          <p:cNvSpPr/>
          <p:nvPr/>
        </p:nvSpPr>
        <p:spPr>
          <a:xfrm>
            <a:off x="1517904" y="4297680"/>
            <a:ext cx="4846320" cy="292608"/>
          </a:xfrm>
          <a:prstGeom prst="rect">
            <a:avLst/>
          </a:prstGeom>
          <a:noFill/>
          <a:ln/>
        </p:spPr>
        <p:txBody>
          <a:bodyPr wrap="square" lIns="0" tIns="0" rIns="0" bIns="0" rtlCol="0" anchor="ctr"/>
          <a:lstStyle/>
          <a:p>
            <a:pPr marL="0" indent="0">
              <a:buNone/>
            </a:pPr>
            <a:r>
              <a:rPr lang="en-US" sz="1350" b="1" dirty="0">
                <a:solidFill>
                  <a:srgbClr val="15262F"/>
                </a:solidFill>
                <a:latin typeface="Georgia" pitchFamily="34" charset="0"/>
                <a:ea typeface="Georgia" pitchFamily="34" charset="-122"/>
                <a:cs typeface="Georgia" pitchFamily="34" charset="-120"/>
              </a:rPr>
              <a:t>Cells — interchangeable</a:t>
            </a:r>
            <a:endParaRPr lang="en-US" sz="1350" dirty="0"/>
          </a:p>
        </p:txBody>
      </p:sp>
      <p:sp>
        <p:nvSpPr>
          <p:cNvPr id="19" name="Text 14"/>
          <p:cNvSpPr/>
          <p:nvPr/>
        </p:nvSpPr>
        <p:spPr>
          <a:xfrm>
            <a:off x="1517904" y="4590288"/>
            <a:ext cx="4864608" cy="603504"/>
          </a:xfrm>
          <a:prstGeom prst="rect">
            <a:avLst/>
          </a:prstGeom>
          <a:noFill/>
          <a:ln/>
        </p:spPr>
        <p:txBody>
          <a:bodyPr wrap="square" lIns="0" tIns="0" rIns="0" bIns="0" rtlCol="0" anchor="t"/>
          <a:lstStyle/>
          <a:p>
            <a:pPr marL="0" indent="0">
              <a:lnSpc>
                <a:spcPct val="97000"/>
              </a:lnSpc>
              <a:buNone/>
            </a:pPr>
            <a:r>
              <a:rPr lang="en-US" sz="1030" dirty="0">
                <a:solidFill>
                  <a:srgbClr val="374952"/>
                </a:solidFill>
                <a:latin typeface="Calibri" pitchFamily="34" charset="0"/>
                <a:ea typeface="Calibri" pitchFamily="34" charset="-122"/>
                <a:cs typeface="Calibri" pitchFamily="34" charset="-120"/>
              </a:rPr>
              <a:t>Chemistry-agnostic: LFP, NMC or flow are sourced and integrated, not manufactured — so the platform rides cost curves it doesn't own.</a:t>
            </a:r>
            <a:endParaRPr lang="en-US" sz="1030" dirty="0"/>
          </a:p>
        </p:txBody>
      </p:sp>
      <p:sp>
        <p:nvSpPr>
          <p:cNvPr id="20" name="Shape 15"/>
          <p:cNvSpPr/>
          <p:nvPr/>
        </p:nvSpPr>
        <p:spPr>
          <a:xfrm>
            <a:off x="6766560" y="1481328"/>
            <a:ext cx="4858207" cy="2331720"/>
          </a:xfrm>
          <a:prstGeom prst="roundRect">
            <a:avLst>
              <a:gd name="adj" fmla="val 2353"/>
            </a:avLst>
          </a:prstGeom>
          <a:solidFill>
            <a:srgbClr val="FFFFFF"/>
          </a:solidFill>
          <a:ln w="17780">
            <a:solidFill>
              <a:srgbClr val="0E7C77"/>
            </a:solidFill>
            <a:prstDash val="solid"/>
          </a:ln>
          <a:effectLst>
            <a:outerShdw blurRad="76200" dist="25400" dir="8100000" algn="bl" rotWithShape="0">
              <a:srgbClr val="0E2A38">
                <a:alpha val="10000"/>
              </a:srgbClr>
            </a:outerShdw>
          </a:effectLst>
        </p:spPr>
        <p:txBody>
          <a:bodyPr/>
          <a:lstStyle/>
          <a:p>
            <a:endParaRPr lang="en-US"/>
          </a:p>
        </p:txBody>
      </p:sp>
      <p:sp>
        <p:nvSpPr>
          <p:cNvPr id="21" name="Text 16"/>
          <p:cNvSpPr/>
          <p:nvPr/>
        </p:nvSpPr>
        <p:spPr>
          <a:xfrm>
            <a:off x="7022592" y="1645920"/>
            <a:ext cx="4401007" cy="256032"/>
          </a:xfrm>
          <a:prstGeom prst="rect">
            <a:avLst/>
          </a:prstGeom>
          <a:noFill/>
          <a:ln/>
        </p:spPr>
        <p:txBody>
          <a:bodyPr wrap="square" lIns="0" tIns="0" rIns="0" bIns="0" rtlCol="0" anchor="ctr"/>
          <a:lstStyle/>
          <a:p>
            <a:pPr marL="0" indent="0">
              <a:buNone/>
            </a:pPr>
            <a:r>
              <a:rPr lang="en-US" sz="1050" b="1" kern="0" spc="100" dirty="0">
                <a:solidFill>
                  <a:srgbClr val="0E7C77"/>
                </a:solidFill>
                <a:latin typeface="Calibri" pitchFamily="34" charset="0"/>
                <a:ea typeface="Calibri" pitchFamily="34" charset="-122"/>
                <a:cs typeface="Calibri" pitchFamily="34" charset="-120"/>
              </a:rPr>
              <a:t>WHAT DIFFERENTIATES IT</a:t>
            </a:r>
            <a:endParaRPr lang="en-US" sz="1050" spc="100" dirty="0"/>
          </a:p>
        </p:txBody>
      </p:sp>
      <p:sp>
        <p:nvSpPr>
          <p:cNvPr id="22" name="Text 17"/>
          <p:cNvSpPr/>
          <p:nvPr/>
        </p:nvSpPr>
        <p:spPr>
          <a:xfrm>
            <a:off x="7040880" y="1956816"/>
            <a:ext cx="4346143" cy="1783080"/>
          </a:xfrm>
          <a:prstGeom prst="rect">
            <a:avLst/>
          </a:prstGeom>
          <a:noFill/>
          <a:ln/>
        </p:spPr>
        <p:txBody>
          <a:bodyPr wrap="square" lIns="0" tIns="0" rIns="0" bIns="0" rtlCol="0" anchor="t"/>
          <a:lstStyle/>
          <a:p>
            <a:pPr marL="177800" indent="-177800">
              <a:lnSpc>
                <a:spcPct val="100000"/>
              </a:lnSpc>
              <a:spcAft>
                <a:spcPts val="700"/>
              </a:spcAft>
              <a:buSzPct val="100000"/>
              <a:buChar char="•"/>
            </a:pPr>
            <a:r>
              <a:rPr lang="en-US" sz="1060" dirty="0">
                <a:solidFill>
                  <a:srgbClr val="374952"/>
                </a:solidFill>
                <a:latin typeface="Calibri" pitchFamily="34" charset="0"/>
                <a:ea typeface="Calibri" pitchFamily="34" charset="-122"/>
                <a:cs typeface="Calibri" pitchFamily="34" charset="-120"/>
              </a:rPr>
              <a:t>Software-first: value migrates to ELINA, not the commoditising hardware</a:t>
            </a:r>
            <a:endParaRPr lang="en-US" sz="1060" dirty="0"/>
          </a:p>
          <a:p>
            <a:pPr marL="177800" indent="-177800">
              <a:lnSpc>
                <a:spcPct val="100000"/>
              </a:lnSpc>
              <a:spcAft>
                <a:spcPts val="700"/>
              </a:spcAft>
              <a:buSzPct val="100000"/>
              <a:buChar char="•"/>
            </a:pPr>
            <a:r>
              <a:rPr lang="en-US" sz="1060" dirty="0">
                <a:solidFill>
                  <a:srgbClr val="374952"/>
                </a:solidFill>
                <a:latin typeface="Calibri" pitchFamily="34" charset="0"/>
                <a:ea typeface="Calibri" pitchFamily="34" charset="-122"/>
                <a:cs typeface="Calibri" pitchFamily="34" charset="-120"/>
              </a:rPr>
              <a:t>Chemistry-agnostic &amp; vendor-neutral — no captive-cell lock-in</a:t>
            </a:r>
            <a:endParaRPr lang="en-US" sz="1060" dirty="0"/>
          </a:p>
          <a:p>
            <a:pPr marL="177800" indent="-177800">
              <a:lnSpc>
                <a:spcPct val="100000"/>
              </a:lnSpc>
              <a:spcAft>
                <a:spcPts val="700"/>
              </a:spcAft>
              <a:buSzPct val="100000"/>
              <a:buChar char="•"/>
            </a:pPr>
            <a:r>
              <a:rPr lang="en-US" sz="1060" dirty="0">
                <a:solidFill>
                  <a:srgbClr val="374952"/>
                </a:solidFill>
                <a:latin typeface="Calibri" pitchFamily="34" charset="0"/>
                <a:ea typeface="Calibri" pitchFamily="34" charset="-122"/>
                <a:cs typeface="Calibri" pitchFamily="34" charset="-120"/>
              </a:rPr>
              <a:t>Turnkey + fast: Delhi project commissioned in 11 months, ahead of plan</a:t>
            </a:r>
            <a:endParaRPr lang="en-US" sz="1060" dirty="0"/>
          </a:p>
          <a:p>
            <a:pPr marL="177800" indent="-177800">
              <a:lnSpc>
                <a:spcPct val="100000"/>
              </a:lnSpc>
              <a:spcAft>
                <a:spcPts val="700"/>
              </a:spcAft>
              <a:buSzPct val="100000"/>
              <a:buChar char="•"/>
            </a:pPr>
            <a:r>
              <a:rPr lang="en-US" sz="1060" dirty="0">
                <a:solidFill>
                  <a:srgbClr val="374952"/>
                </a:solidFill>
                <a:latin typeface="Calibri" pitchFamily="34" charset="0"/>
                <a:ea typeface="Calibri" pitchFamily="34" charset="-122"/>
                <a:cs typeface="Calibri" pitchFamily="34" charset="-120"/>
              </a:rPr>
              <a:t>Lowest-LCOS positioning validated by repeat utility &amp; C&amp;I wins</a:t>
            </a:r>
            <a:endParaRPr lang="en-US" sz="1060" dirty="0"/>
          </a:p>
        </p:txBody>
      </p:sp>
      <p:sp>
        <p:nvSpPr>
          <p:cNvPr id="23" name="Shape 18"/>
          <p:cNvSpPr/>
          <p:nvPr/>
        </p:nvSpPr>
        <p:spPr>
          <a:xfrm>
            <a:off x="6766560" y="3950208"/>
            <a:ext cx="4858207" cy="2240280"/>
          </a:xfrm>
          <a:prstGeom prst="roundRect">
            <a:avLst>
              <a:gd name="adj" fmla="val 2449"/>
            </a:avLst>
          </a:prstGeom>
          <a:solidFill>
            <a:srgbClr val="FBF1EE"/>
          </a:solidFill>
          <a:ln w="15240">
            <a:solidFill>
              <a:srgbClr val="E6C9C2"/>
            </a:solidFill>
            <a:prstDash val="solid"/>
          </a:ln>
        </p:spPr>
        <p:txBody>
          <a:bodyPr/>
          <a:lstStyle/>
          <a:p>
            <a:endParaRPr lang="en-US"/>
          </a:p>
        </p:txBody>
      </p:sp>
      <p:sp>
        <p:nvSpPr>
          <p:cNvPr id="24" name="Shape 19"/>
          <p:cNvSpPr/>
          <p:nvPr/>
        </p:nvSpPr>
        <p:spPr>
          <a:xfrm>
            <a:off x="7004304" y="4133088"/>
            <a:ext cx="512064" cy="512064"/>
          </a:xfrm>
          <a:prstGeom prst="ellipse">
            <a:avLst/>
          </a:prstGeom>
          <a:solidFill>
            <a:srgbClr val="C2483B"/>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7137441" y="4266225"/>
            <a:ext cx="245791" cy="245791"/>
          </a:xfrm>
          <a:prstGeom prst="rect">
            <a:avLst/>
          </a:prstGeom>
        </p:spPr>
      </p:pic>
      <p:sp>
        <p:nvSpPr>
          <p:cNvPr id="26" name="Text 20"/>
          <p:cNvSpPr/>
          <p:nvPr/>
        </p:nvSpPr>
        <p:spPr>
          <a:xfrm>
            <a:off x="7644384" y="4133088"/>
            <a:ext cx="3760927" cy="512064"/>
          </a:xfrm>
          <a:prstGeom prst="rect">
            <a:avLst/>
          </a:prstGeom>
          <a:noFill/>
          <a:ln/>
        </p:spPr>
        <p:txBody>
          <a:bodyPr wrap="square" lIns="0" tIns="0" rIns="0" bIns="0" rtlCol="0" anchor="ctr"/>
          <a:lstStyle/>
          <a:p>
            <a:pPr marL="0" indent="0">
              <a:buNone/>
            </a:pPr>
            <a:r>
              <a:rPr lang="en-US" sz="1050" b="1" kern="0" spc="100" dirty="0">
                <a:solidFill>
                  <a:srgbClr val="C2483B"/>
                </a:solidFill>
                <a:latin typeface="Calibri" pitchFamily="34" charset="0"/>
                <a:ea typeface="Calibri" pitchFamily="34" charset="-122"/>
                <a:cs typeface="Calibri" pitchFamily="34" charset="-120"/>
              </a:rPr>
              <a:t>TECHNICAL RISKS &amp; CHALLENGES</a:t>
            </a:r>
            <a:endParaRPr lang="en-US" sz="1050" spc="100" dirty="0"/>
          </a:p>
        </p:txBody>
      </p:sp>
      <p:sp>
        <p:nvSpPr>
          <p:cNvPr id="27" name="Text 21"/>
          <p:cNvSpPr/>
          <p:nvPr/>
        </p:nvSpPr>
        <p:spPr>
          <a:xfrm>
            <a:off x="7040880" y="4681728"/>
            <a:ext cx="4346143" cy="1463040"/>
          </a:xfrm>
          <a:prstGeom prst="rect">
            <a:avLst/>
          </a:prstGeom>
          <a:noFill/>
          <a:ln/>
        </p:spPr>
        <p:txBody>
          <a:bodyPr wrap="square" lIns="0" tIns="0" rIns="0" bIns="0" rtlCol="0" anchor="t"/>
          <a:lstStyle/>
          <a:p>
            <a:pPr marL="177800" indent="-177800">
              <a:lnSpc>
                <a:spcPct val="99000"/>
              </a:lnSpc>
              <a:spcAft>
                <a:spcPts val="600"/>
              </a:spcAft>
              <a:buSzPct val="100000"/>
              <a:buChar char="•"/>
            </a:pPr>
            <a:r>
              <a:rPr lang="en-US" sz="1040" dirty="0">
                <a:solidFill>
                  <a:srgbClr val="6E3A30"/>
                </a:solidFill>
                <a:latin typeface="Calibri" pitchFamily="34" charset="0"/>
                <a:ea typeface="Calibri" pitchFamily="34" charset="-122"/>
                <a:cs typeface="Calibri" pitchFamily="34" charset="-120"/>
              </a:rPr>
              <a:t>Safety: thermal runaway / fire risk scales with deployment</a:t>
            </a:r>
            <a:endParaRPr lang="en-US" sz="1040" dirty="0"/>
          </a:p>
          <a:p>
            <a:pPr marL="177800" indent="-177800">
              <a:lnSpc>
                <a:spcPct val="99000"/>
              </a:lnSpc>
              <a:spcAft>
                <a:spcPts val="600"/>
              </a:spcAft>
              <a:buSzPct val="100000"/>
              <a:buChar char="•"/>
            </a:pPr>
            <a:r>
              <a:rPr lang="en-US" sz="1040" dirty="0">
                <a:solidFill>
                  <a:srgbClr val="6E3A30"/>
                </a:solidFill>
                <a:latin typeface="Calibri" pitchFamily="34" charset="0"/>
                <a:ea typeface="Calibri" pitchFamily="34" charset="-122"/>
                <a:cs typeface="Calibri" pitchFamily="34" charset="-120"/>
              </a:rPr>
              <a:t>Software depth must be proven — EMS vs. a true AI/ML moat</a:t>
            </a:r>
            <a:endParaRPr lang="en-US" sz="1040" dirty="0"/>
          </a:p>
          <a:p>
            <a:pPr marL="177800" indent="-177800">
              <a:lnSpc>
                <a:spcPct val="99000"/>
              </a:lnSpc>
              <a:spcAft>
                <a:spcPts val="600"/>
              </a:spcAft>
              <a:buSzPct val="100000"/>
              <a:buChar char="•"/>
            </a:pPr>
            <a:r>
              <a:rPr lang="en-US" sz="1040" dirty="0">
                <a:solidFill>
                  <a:srgbClr val="6E3A30"/>
                </a:solidFill>
                <a:latin typeface="Calibri" pitchFamily="34" charset="0"/>
                <a:ea typeface="Calibri" pitchFamily="34" charset="-122"/>
                <a:cs typeface="Calibri" pitchFamily="34" charset="-120"/>
              </a:rPr>
              <a:t>Cell supply &amp; price volatility (heavy China dependence)</a:t>
            </a:r>
            <a:endParaRPr lang="en-US" sz="1040" dirty="0"/>
          </a:p>
          <a:p>
            <a:pPr marL="177800" indent="-177800">
              <a:lnSpc>
                <a:spcPct val="99000"/>
              </a:lnSpc>
              <a:spcAft>
                <a:spcPts val="600"/>
              </a:spcAft>
              <a:buSzPct val="100000"/>
              <a:buChar char="•"/>
            </a:pPr>
            <a:r>
              <a:rPr lang="en-US" sz="1040" dirty="0">
                <a:solidFill>
                  <a:srgbClr val="6E3A30"/>
                </a:solidFill>
                <a:latin typeface="Calibri" pitchFamily="34" charset="0"/>
                <a:ea typeface="Calibri" pitchFamily="34" charset="-122"/>
                <a:cs typeface="Calibri" pitchFamily="34" charset="-120"/>
              </a:rPr>
              <a:t>Going from ~100 MWh to GWh-scale is a real execution leap</a:t>
            </a:r>
            <a:endParaRPr lang="en-US" sz="1040" dirty="0"/>
          </a:p>
        </p:txBody>
      </p:sp>
      <p:sp>
        <p:nvSpPr>
          <p:cNvPr id="28" name="Text 22"/>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6E7F87"/>
                </a:solidFill>
                <a:latin typeface="Calibri" pitchFamily="34" charset="0"/>
                <a:ea typeface="Calibri" pitchFamily="34" charset="-122"/>
                <a:cs typeface="Calibri" pitchFamily="34" charset="-120"/>
              </a:rPr>
              <a:t>AmpereHour Energy  ·  Investment Thesis</a:t>
            </a:r>
            <a:endParaRPr lang="en-US" sz="850" dirty="0"/>
          </a:p>
        </p:txBody>
      </p:sp>
      <p:sp>
        <p:nvSpPr>
          <p:cNvPr id="29" name="Text 23"/>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06  ·  MARKET OPPORTUNITY</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A policy-underwritten, multi-billion-dollar build-out</a:t>
            </a:r>
            <a:endParaRPr lang="en-US" sz="2700" dirty="0"/>
          </a:p>
        </p:txBody>
      </p:sp>
      <p:sp>
        <p:nvSpPr>
          <p:cNvPr id="4" name="Shape 2"/>
          <p:cNvSpPr/>
          <p:nvPr/>
        </p:nvSpPr>
        <p:spPr>
          <a:xfrm>
            <a:off x="566928" y="1481328"/>
            <a:ext cx="266159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5" name="Shape 3"/>
          <p:cNvSpPr/>
          <p:nvPr/>
        </p:nvSpPr>
        <p:spPr>
          <a:xfrm>
            <a:off x="566928" y="1481328"/>
            <a:ext cx="64008" cy="1024128"/>
          </a:xfrm>
          <a:prstGeom prst="rect">
            <a:avLst/>
          </a:prstGeom>
          <a:solidFill>
            <a:srgbClr val="0E7C77"/>
          </a:solidFill>
          <a:ln/>
        </p:spPr>
        <p:txBody>
          <a:bodyPr/>
          <a:lstStyle/>
          <a:p>
            <a:endParaRPr lang="en-US"/>
          </a:p>
        </p:txBody>
      </p:sp>
      <p:sp>
        <p:nvSpPr>
          <p:cNvPr id="6" name="Text 4"/>
          <p:cNvSpPr/>
          <p:nvPr/>
        </p:nvSpPr>
        <p:spPr>
          <a:xfrm>
            <a:off x="768096" y="1591056"/>
            <a:ext cx="2387270" cy="502920"/>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236 GWh</a:t>
            </a:r>
            <a:endParaRPr lang="en-US" sz="2500" dirty="0"/>
          </a:p>
        </p:txBody>
      </p:sp>
      <p:sp>
        <p:nvSpPr>
          <p:cNvPr id="7" name="Text 5"/>
          <p:cNvSpPr/>
          <p:nvPr/>
        </p:nvSpPr>
        <p:spPr>
          <a:xfrm>
            <a:off x="768096" y="2084832"/>
            <a:ext cx="2350694" cy="384048"/>
          </a:xfrm>
          <a:prstGeom prst="rect">
            <a:avLst/>
          </a:prstGeom>
          <a:noFill/>
          <a:ln/>
        </p:spPr>
        <p:txBody>
          <a:bodyPr wrap="square" lIns="0" tIns="0" rIns="0" bIns="0" rtlCol="0" anchor="t"/>
          <a:lstStyle/>
          <a:p>
            <a:pPr marL="0" indent="0">
              <a:lnSpc>
                <a:spcPct val="95000"/>
              </a:lnSpc>
              <a:buNone/>
            </a:pPr>
            <a:r>
              <a:rPr lang="en-US" sz="940" dirty="0">
                <a:solidFill>
                  <a:srgbClr val="6E7F87"/>
                </a:solidFill>
                <a:latin typeface="Calibri" pitchFamily="34" charset="0"/>
                <a:ea typeface="Calibri" pitchFamily="34" charset="-122"/>
                <a:cs typeface="Calibri" pitchFamily="34" charset="-120"/>
              </a:rPr>
              <a:t>BESS needed by FY32 (CEA)</a:t>
            </a:r>
            <a:endParaRPr lang="en-US" sz="940" dirty="0"/>
          </a:p>
        </p:txBody>
      </p:sp>
      <p:sp>
        <p:nvSpPr>
          <p:cNvPr id="8" name="Shape 6"/>
          <p:cNvSpPr/>
          <p:nvPr/>
        </p:nvSpPr>
        <p:spPr>
          <a:xfrm>
            <a:off x="3365678" y="1481328"/>
            <a:ext cx="266159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9" name="Shape 7"/>
          <p:cNvSpPr/>
          <p:nvPr/>
        </p:nvSpPr>
        <p:spPr>
          <a:xfrm>
            <a:off x="3365678" y="1481328"/>
            <a:ext cx="64008" cy="1024128"/>
          </a:xfrm>
          <a:prstGeom prst="rect">
            <a:avLst/>
          </a:prstGeom>
          <a:solidFill>
            <a:srgbClr val="0E7C77"/>
          </a:solidFill>
          <a:ln/>
        </p:spPr>
        <p:txBody>
          <a:bodyPr/>
          <a:lstStyle/>
          <a:p>
            <a:endParaRPr lang="en-US"/>
          </a:p>
        </p:txBody>
      </p:sp>
      <p:sp>
        <p:nvSpPr>
          <p:cNvPr id="10" name="Text 8"/>
          <p:cNvSpPr/>
          <p:nvPr/>
        </p:nvSpPr>
        <p:spPr>
          <a:xfrm>
            <a:off x="3566846" y="1591056"/>
            <a:ext cx="2387270" cy="502920"/>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~24–27%</a:t>
            </a:r>
            <a:endParaRPr lang="en-US" sz="2500" dirty="0"/>
          </a:p>
        </p:txBody>
      </p:sp>
      <p:sp>
        <p:nvSpPr>
          <p:cNvPr id="11" name="Text 9"/>
          <p:cNvSpPr/>
          <p:nvPr/>
        </p:nvSpPr>
        <p:spPr>
          <a:xfrm>
            <a:off x="3566846" y="2084832"/>
            <a:ext cx="2350694" cy="384048"/>
          </a:xfrm>
          <a:prstGeom prst="rect">
            <a:avLst/>
          </a:prstGeom>
          <a:noFill/>
          <a:ln/>
        </p:spPr>
        <p:txBody>
          <a:bodyPr wrap="square" lIns="0" tIns="0" rIns="0" bIns="0" rtlCol="0" anchor="t"/>
          <a:lstStyle/>
          <a:p>
            <a:pPr marL="0" indent="0">
              <a:lnSpc>
                <a:spcPct val="95000"/>
              </a:lnSpc>
              <a:buNone/>
            </a:pPr>
            <a:r>
              <a:rPr lang="en-US" sz="940" dirty="0">
                <a:solidFill>
                  <a:srgbClr val="6E7F87"/>
                </a:solidFill>
                <a:latin typeface="Calibri" pitchFamily="34" charset="0"/>
                <a:ea typeface="Calibri" pitchFamily="34" charset="-122"/>
                <a:cs typeface="Calibri" pitchFamily="34" charset="-120"/>
              </a:rPr>
              <a:t>market value CAGR to 2030+</a:t>
            </a:r>
            <a:endParaRPr lang="en-US" sz="940" dirty="0"/>
          </a:p>
        </p:txBody>
      </p:sp>
      <p:sp>
        <p:nvSpPr>
          <p:cNvPr id="12" name="Shape 10"/>
          <p:cNvSpPr/>
          <p:nvPr/>
        </p:nvSpPr>
        <p:spPr>
          <a:xfrm>
            <a:off x="6164428" y="1481328"/>
            <a:ext cx="266159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13" name="Shape 11"/>
          <p:cNvSpPr/>
          <p:nvPr/>
        </p:nvSpPr>
        <p:spPr>
          <a:xfrm>
            <a:off x="6164428" y="1481328"/>
            <a:ext cx="64008" cy="1024128"/>
          </a:xfrm>
          <a:prstGeom prst="rect">
            <a:avLst/>
          </a:prstGeom>
          <a:solidFill>
            <a:srgbClr val="F2A516"/>
          </a:solidFill>
          <a:ln/>
        </p:spPr>
        <p:txBody>
          <a:bodyPr/>
          <a:lstStyle/>
          <a:p>
            <a:endParaRPr lang="en-US"/>
          </a:p>
        </p:txBody>
      </p:sp>
      <p:sp>
        <p:nvSpPr>
          <p:cNvPr id="14" name="Text 12"/>
          <p:cNvSpPr/>
          <p:nvPr/>
        </p:nvSpPr>
        <p:spPr>
          <a:xfrm>
            <a:off x="6365596" y="1591056"/>
            <a:ext cx="2387270" cy="502920"/>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~$42B</a:t>
            </a:r>
            <a:endParaRPr lang="en-US" sz="2500" dirty="0"/>
          </a:p>
        </p:txBody>
      </p:sp>
      <p:sp>
        <p:nvSpPr>
          <p:cNvPr id="15" name="Text 13"/>
          <p:cNvSpPr/>
          <p:nvPr/>
        </p:nvSpPr>
        <p:spPr>
          <a:xfrm>
            <a:off x="6365596" y="2084832"/>
            <a:ext cx="2350694" cy="384048"/>
          </a:xfrm>
          <a:prstGeom prst="rect">
            <a:avLst/>
          </a:prstGeom>
          <a:noFill/>
          <a:ln/>
        </p:spPr>
        <p:txBody>
          <a:bodyPr wrap="square" lIns="0" tIns="0" rIns="0" bIns="0" rtlCol="0" anchor="t"/>
          <a:lstStyle/>
          <a:p>
            <a:pPr marL="0" indent="0">
              <a:lnSpc>
                <a:spcPct val="95000"/>
              </a:lnSpc>
              <a:buNone/>
            </a:pPr>
            <a:r>
              <a:rPr lang="en-US" sz="940" dirty="0">
                <a:solidFill>
                  <a:srgbClr val="6E7F87"/>
                </a:solidFill>
                <a:latin typeface="Calibri" pitchFamily="34" charset="0"/>
                <a:ea typeface="Calibri" pitchFamily="34" charset="-122"/>
                <a:cs typeface="Calibri" pitchFamily="34" charset="-120"/>
              </a:rPr>
              <a:t>BESS capex, 2022–2032</a:t>
            </a:r>
            <a:endParaRPr lang="en-US" sz="940" dirty="0"/>
          </a:p>
        </p:txBody>
      </p:sp>
      <p:sp>
        <p:nvSpPr>
          <p:cNvPr id="16" name="Shape 14"/>
          <p:cNvSpPr/>
          <p:nvPr/>
        </p:nvSpPr>
        <p:spPr>
          <a:xfrm>
            <a:off x="8963177" y="1481328"/>
            <a:ext cx="2661590" cy="1024128"/>
          </a:xfrm>
          <a:prstGeom prst="roundRect">
            <a:avLst>
              <a:gd name="adj" fmla="val 5357"/>
            </a:avLst>
          </a:prstGeom>
          <a:solidFill>
            <a:srgbClr val="F3F7F7"/>
          </a:solidFill>
          <a:ln w="12700">
            <a:solidFill>
              <a:srgbClr val="E3EAEC"/>
            </a:solidFill>
            <a:prstDash val="solid"/>
          </a:ln>
        </p:spPr>
        <p:txBody>
          <a:bodyPr/>
          <a:lstStyle/>
          <a:p>
            <a:endParaRPr lang="en-US"/>
          </a:p>
        </p:txBody>
      </p:sp>
      <p:sp>
        <p:nvSpPr>
          <p:cNvPr id="17" name="Shape 15"/>
          <p:cNvSpPr/>
          <p:nvPr/>
        </p:nvSpPr>
        <p:spPr>
          <a:xfrm>
            <a:off x="8963177" y="1481328"/>
            <a:ext cx="64008" cy="1024128"/>
          </a:xfrm>
          <a:prstGeom prst="rect">
            <a:avLst/>
          </a:prstGeom>
          <a:solidFill>
            <a:srgbClr val="0E7C77"/>
          </a:solidFill>
          <a:ln/>
        </p:spPr>
        <p:txBody>
          <a:bodyPr/>
          <a:lstStyle/>
          <a:p>
            <a:endParaRPr lang="en-US"/>
          </a:p>
        </p:txBody>
      </p:sp>
      <p:sp>
        <p:nvSpPr>
          <p:cNvPr id="18" name="Text 16"/>
          <p:cNvSpPr/>
          <p:nvPr/>
        </p:nvSpPr>
        <p:spPr>
          <a:xfrm>
            <a:off x="9164345" y="1591056"/>
            <a:ext cx="2387270" cy="502920"/>
          </a:xfrm>
          <a:prstGeom prst="rect">
            <a:avLst/>
          </a:prstGeom>
          <a:noFill/>
          <a:ln/>
        </p:spPr>
        <p:txBody>
          <a:bodyPr wrap="square" lIns="0" tIns="0" rIns="0" bIns="0" rtlCol="0" anchor="ctr"/>
          <a:lstStyle/>
          <a:p>
            <a:pPr marL="0" indent="0">
              <a:buNone/>
            </a:pPr>
            <a:r>
              <a:rPr lang="en-US" sz="2500" b="1" dirty="0">
                <a:solidFill>
                  <a:srgbClr val="15262F"/>
                </a:solidFill>
                <a:latin typeface="Georgia" pitchFamily="34" charset="0"/>
                <a:ea typeface="Georgia" pitchFamily="34" charset="-122"/>
                <a:cs typeface="Georgia" pitchFamily="34" charset="-120"/>
              </a:rPr>
              <a:t>~0.5 GWh</a:t>
            </a:r>
            <a:endParaRPr lang="en-US" sz="2500" dirty="0"/>
          </a:p>
        </p:txBody>
      </p:sp>
      <p:sp>
        <p:nvSpPr>
          <p:cNvPr id="19" name="Text 17"/>
          <p:cNvSpPr/>
          <p:nvPr/>
        </p:nvSpPr>
        <p:spPr>
          <a:xfrm>
            <a:off x="9164345" y="2084832"/>
            <a:ext cx="2350694" cy="384048"/>
          </a:xfrm>
          <a:prstGeom prst="rect">
            <a:avLst/>
          </a:prstGeom>
          <a:noFill/>
          <a:ln/>
        </p:spPr>
        <p:txBody>
          <a:bodyPr wrap="square" lIns="0" tIns="0" rIns="0" bIns="0" rtlCol="0" anchor="t"/>
          <a:lstStyle/>
          <a:p>
            <a:pPr marL="0" indent="0">
              <a:lnSpc>
                <a:spcPct val="95000"/>
              </a:lnSpc>
              <a:buNone/>
            </a:pPr>
            <a:r>
              <a:rPr lang="en-US" sz="940" dirty="0">
                <a:solidFill>
                  <a:srgbClr val="6E7F87"/>
                </a:solidFill>
                <a:latin typeface="Calibri" pitchFamily="34" charset="0"/>
                <a:ea typeface="Calibri" pitchFamily="34" charset="-122"/>
                <a:cs typeface="Calibri" pitchFamily="34" charset="-120"/>
              </a:rPr>
              <a:t>live today — vast headroom</a:t>
            </a:r>
            <a:endParaRPr lang="en-US" sz="940" dirty="0"/>
          </a:p>
        </p:txBody>
      </p:sp>
      <p:sp>
        <p:nvSpPr>
          <p:cNvPr id="20" name="Text 18"/>
          <p:cNvSpPr/>
          <p:nvPr/>
        </p:nvSpPr>
        <p:spPr>
          <a:xfrm>
            <a:off x="566928" y="2706624"/>
            <a:ext cx="5486400" cy="274320"/>
          </a:xfrm>
          <a:prstGeom prst="rect">
            <a:avLst/>
          </a:prstGeom>
          <a:noFill/>
          <a:ln/>
        </p:spPr>
        <p:txBody>
          <a:bodyPr wrap="square" lIns="0" tIns="0" rIns="0" bIns="0" rtlCol="0" anchor="ctr"/>
          <a:lstStyle/>
          <a:p>
            <a:pPr marL="0" indent="0">
              <a:buNone/>
            </a:pPr>
            <a:r>
              <a:rPr lang="en-US" sz="1050" b="1" kern="0" spc="100" dirty="0">
                <a:solidFill>
                  <a:srgbClr val="0E7C77"/>
                </a:solidFill>
                <a:latin typeface="Calibri" pitchFamily="34" charset="0"/>
                <a:ea typeface="Calibri" pitchFamily="34" charset="-122"/>
                <a:cs typeface="Calibri" pitchFamily="34" charset="-120"/>
              </a:rPr>
              <a:t>THE SCALE OF THE BUILD-OUT  (GWh)</a:t>
            </a:r>
            <a:endParaRPr lang="en-US" sz="1050" spc="100" dirty="0"/>
          </a:p>
        </p:txBody>
      </p:sp>
      <p:graphicFrame>
        <p:nvGraphicFramePr>
          <p:cNvPr id="21" name="Chart 0"/>
          <p:cNvGraphicFramePr/>
          <p:nvPr/>
        </p:nvGraphicFramePr>
        <p:xfrm>
          <a:off x="521208" y="3017520"/>
          <a:ext cx="585216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446520" y="2706624"/>
            <a:ext cx="5178247" cy="274320"/>
          </a:xfrm>
          <a:prstGeom prst="rect">
            <a:avLst/>
          </a:prstGeom>
          <a:noFill/>
          <a:ln/>
        </p:spPr>
        <p:txBody>
          <a:bodyPr wrap="square" lIns="0" tIns="0" rIns="0" bIns="0" rtlCol="0" anchor="ctr"/>
          <a:lstStyle/>
          <a:p>
            <a:pPr marL="0" indent="0">
              <a:buNone/>
            </a:pPr>
            <a:r>
              <a:rPr lang="en-US" sz="1050" b="1" kern="0" spc="100" dirty="0">
                <a:solidFill>
                  <a:srgbClr val="0E7C77"/>
                </a:solidFill>
                <a:latin typeface="Calibri" pitchFamily="34" charset="0"/>
                <a:ea typeface="Calibri" pitchFamily="34" charset="-122"/>
                <a:cs typeface="Calibri" pitchFamily="34" charset="-120"/>
              </a:rPr>
              <a:t>FY32 STORAGE MIX  (CEA, GWh)</a:t>
            </a:r>
            <a:endParaRPr lang="en-US" sz="1050" spc="100" dirty="0"/>
          </a:p>
        </p:txBody>
      </p:sp>
      <p:graphicFrame>
        <p:nvGraphicFramePr>
          <p:cNvPr id="23" name="Chart 1"/>
          <p:cNvGraphicFramePr/>
          <p:nvPr/>
        </p:nvGraphicFramePr>
        <p:xfrm>
          <a:off x="6355080" y="2926080"/>
          <a:ext cx="26060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 20"/>
          <p:cNvSpPr/>
          <p:nvPr/>
        </p:nvSpPr>
        <p:spPr>
          <a:xfrm>
            <a:off x="9144000" y="2907792"/>
            <a:ext cx="2480767" cy="274320"/>
          </a:xfrm>
          <a:prstGeom prst="rect">
            <a:avLst/>
          </a:prstGeom>
          <a:noFill/>
          <a:ln/>
        </p:spPr>
        <p:txBody>
          <a:bodyPr wrap="square" lIns="0" tIns="0" rIns="0" bIns="0" rtlCol="0" anchor="ctr"/>
          <a:lstStyle/>
          <a:p>
            <a:pPr marL="0" indent="0">
              <a:buNone/>
            </a:pPr>
            <a:r>
              <a:rPr lang="en-US" sz="1050" b="1" kern="0" spc="100" dirty="0">
                <a:solidFill>
                  <a:srgbClr val="0E7C77"/>
                </a:solidFill>
                <a:latin typeface="Calibri" pitchFamily="34" charset="0"/>
                <a:ea typeface="Calibri" pitchFamily="34" charset="-122"/>
                <a:cs typeface="Calibri" pitchFamily="34" charset="-120"/>
              </a:rPr>
              <a:t>WHAT'S DRIVING ADOPTION</a:t>
            </a:r>
            <a:endParaRPr lang="en-US" sz="1050" spc="100" dirty="0"/>
          </a:p>
        </p:txBody>
      </p:sp>
      <p:sp>
        <p:nvSpPr>
          <p:cNvPr id="25" name="Text 21"/>
          <p:cNvSpPr/>
          <p:nvPr/>
        </p:nvSpPr>
        <p:spPr>
          <a:xfrm>
            <a:off x="9144000" y="3200400"/>
            <a:ext cx="2480767" cy="2651760"/>
          </a:xfrm>
          <a:prstGeom prst="rect">
            <a:avLst/>
          </a:prstGeom>
          <a:noFill/>
          <a:ln/>
        </p:spPr>
        <p:txBody>
          <a:bodyPr wrap="square" lIns="0" tIns="0" rIns="0" bIns="0" rtlCol="0" anchor="t"/>
          <a:lstStyle/>
          <a:p>
            <a:pPr marL="165100" indent="-165100">
              <a:lnSpc>
                <a:spcPct val="99000"/>
              </a:lnSpc>
              <a:spcAft>
                <a:spcPts val="600"/>
              </a:spcAft>
              <a:buSzPct val="100000"/>
              <a:buChar char="•"/>
            </a:pPr>
            <a:r>
              <a:rPr lang="en-US" sz="1020" dirty="0">
                <a:solidFill>
                  <a:srgbClr val="374952"/>
                </a:solidFill>
                <a:latin typeface="Calibri" pitchFamily="34" charset="0"/>
                <a:ea typeface="Calibri" pitchFamily="34" charset="-122"/>
                <a:cs typeface="Calibri" pitchFamily="34" charset="-120"/>
              </a:rPr>
              <a:t>Co-location mandates: tenders now bundle ≥2h of storage</a:t>
            </a:r>
            <a:endParaRPr lang="en-US" sz="1020" dirty="0"/>
          </a:p>
          <a:p>
            <a:pPr marL="165100" indent="-165100">
              <a:lnSpc>
                <a:spcPct val="99000"/>
              </a:lnSpc>
              <a:spcAft>
                <a:spcPts val="600"/>
              </a:spcAft>
              <a:buSzPct val="100000"/>
              <a:buChar char="•"/>
            </a:pPr>
            <a:r>
              <a:rPr lang="en-US" sz="1020" dirty="0">
                <a:solidFill>
                  <a:srgbClr val="374952"/>
                </a:solidFill>
                <a:latin typeface="Calibri" pitchFamily="34" charset="0"/>
                <a:ea typeface="Calibri" pitchFamily="34" charset="-122"/>
                <a:cs typeface="Calibri" pitchFamily="34" charset="-120"/>
              </a:rPr>
              <a:t>Viability-gap funding &amp; PLI de-risk economics</a:t>
            </a:r>
            <a:endParaRPr lang="en-US" sz="1020" dirty="0"/>
          </a:p>
          <a:p>
            <a:pPr marL="165100" indent="-165100">
              <a:lnSpc>
                <a:spcPct val="99000"/>
              </a:lnSpc>
              <a:spcAft>
                <a:spcPts val="600"/>
              </a:spcAft>
              <a:buSzPct val="100000"/>
              <a:buChar char="•"/>
            </a:pPr>
            <a:r>
              <a:rPr lang="en-US" sz="1020" dirty="0">
                <a:solidFill>
                  <a:srgbClr val="374952"/>
                </a:solidFill>
                <a:latin typeface="Calibri" pitchFamily="34" charset="0"/>
                <a:ea typeface="Calibri" pitchFamily="34" charset="-122"/>
                <a:cs typeface="Calibri" pitchFamily="34" charset="-120"/>
              </a:rPr>
              <a:t>Round-the-clock green-power &amp; peak-tariff arbitrage</a:t>
            </a:r>
            <a:endParaRPr lang="en-US" sz="1020" dirty="0"/>
          </a:p>
          <a:p>
            <a:pPr marL="165100" indent="-165100">
              <a:lnSpc>
                <a:spcPct val="99000"/>
              </a:lnSpc>
              <a:spcAft>
                <a:spcPts val="600"/>
              </a:spcAft>
              <a:buSzPct val="100000"/>
              <a:buChar char="•"/>
            </a:pPr>
            <a:r>
              <a:rPr lang="en-US" sz="1020" dirty="0">
                <a:solidFill>
                  <a:srgbClr val="374952"/>
                </a:solidFill>
                <a:latin typeface="Calibri" pitchFamily="34" charset="0"/>
                <a:ea typeface="Calibri" pitchFamily="34" charset="-122"/>
                <a:cs typeface="Calibri" pitchFamily="34" charset="-120"/>
              </a:rPr>
              <a:t>Data-centre &amp; EV load growth firming demand</a:t>
            </a:r>
            <a:endParaRPr lang="en-US" sz="1020" dirty="0"/>
          </a:p>
          <a:p>
            <a:pPr marL="165100" indent="-165100">
              <a:lnSpc>
                <a:spcPct val="99000"/>
              </a:lnSpc>
              <a:spcAft>
                <a:spcPts val="600"/>
              </a:spcAft>
              <a:buSzPct val="100000"/>
              <a:buChar char="•"/>
            </a:pPr>
            <a:r>
              <a:rPr lang="en-US" sz="1020" dirty="0">
                <a:solidFill>
                  <a:srgbClr val="374952"/>
                </a:solidFill>
                <a:latin typeface="Calibri" pitchFamily="34" charset="0"/>
                <a:ea typeface="Calibri" pitchFamily="34" charset="-122"/>
                <a:cs typeface="Calibri" pitchFamily="34" charset="-120"/>
              </a:rPr>
              <a:t>2 GWh+ mega-projects (Avaada, Adani) normalising scale</a:t>
            </a:r>
            <a:endParaRPr lang="en-US" sz="1020" dirty="0"/>
          </a:p>
        </p:txBody>
      </p:sp>
      <p:sp>
        <p:nvSpPr>
          <p:cNvPr id="26" name="Text 22"/>
          <p:cNvSpPr/>
          <p:nvPr/>
        </p:nvSpPr>
        <p:spPr>
          <a:xfrm>
            <a:off x="566928" y="6464808"/>
            <a:ext cx="10241280" cy="256032"/>
          </a:xfrm>
          <a:prstGeom prst="rect">
            <a:avLst/>
          </a:prstGeom>
          <a:noFill/>
          <a:ln/>
        </p:spPr>
        <p:txBody>
          <a:bodyPr wrap="square" lIns="0" tIns="0" rIns="0" bIns="0" rtlCol="0" anchor="ctr"/>
          <a:lstStyle/>
          <a:p>
            <a:pPr marL="0" indent="0">
              <a:buNone/>
            </a:pPr>
            <a:r>
              <a:rPr lang="en-US" sz="750" i="1" dirty="0">
                <a:solidFill>
                  <a:srgbClr val="6E7F87"/>
                </a:solidFill>
                <a:latin typeface="Calibri" pitchFamily="34" charset="0"/>
                <a:ea typeface="Calibri" pitchFamily="34" charset="-122"/>
                <a:cs typeface="Calibri" pitchFamily="34" charset="-120"/>
              </a:rPr>
              <a:t>Note: third-party market-value estimates vary widely (≈$9–32B by 2030–33); volume targets (CEA) are the more reliable anchor. Sources: CEA, IEEFA, MNRE, market research.</a:t>
            </a:r>
            <a:endParaRPr lang="en-US" sz="750" dirty="0"/>
          </a:p>
        </p:txBody>
      </p:sp>
      <p:sp>
        <p:nvSpPr>
          <p:cNvPr id="27" name="Text 23"/>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07  ·  COMPETITIVE LANDSCAPE</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A crowded field — but AmpereHour owns a distinct lane</a:t>
            </a:r>
            <a:endParaRPr lang="en-US" sz="2700" dirty="0"/>
          </a:p>
        </p:txBody>
      </p:sp>
      <p:sp>
        <p:nvSpPr>
          <p:cNvPr id="4" name="Shape 2"/>
          <p:cNvSpPr/>
          <p:nvPr/>
        </p:nvSpPr>
        <p:spPr>
          <a:xfrm>
            <a:off x="566928" y="1572768"/>
            <a:ext cx="5806440" cy="4572000"/>
          </a:xfrm>
          <a:prstGeom prst="roundRect">
            <a:avLst>
              <a:gd name="adj" fmla="val 1200"/>
            </a:avLst>
          </a:prstGeom>
          <a:solidFill>
            <a:srgbClr val="F3F7F7"/>
          </a:solidFill>
          <a:ln w="12700">
            <a:solidFill>
              <a:srgbClr val="E3EAEC"/>
            </a:solidFill>
            <a:prstDash val="solid"/>
          </a:ln>
        </p:spPr>
        <p:txBody>
          <a:bodyPr/>
          <a:lstStyle/>
          <a:p>
            <a:endParaRPr lang="en-US"/>
          </a:p>
        </p:txBody>
      </p:sp>
      <p:sp>
        <p:nvSpPr>
          <p:cNvPr id="5" name="Shape 3"/>
          <p:cNvSpPr/>
          <p:nvPr/>
        </p:nvSpPr>
        <p:spPr>
          <a:xfrm>
            <a:off x="1069848" y="5641848"/>
            <a:ext cx="4892040" cy="0"/>
          </a:xfrm>
          <a:prstGeom prst="line">
            <a:avLst/>
          </a:prstGeom>
          <a:noFill/>
          <a:ln w="19050">
            <a:solidFill>
              <a:srgbClr val="B9C7C8"/>
            </a:solidFill>
            <a:prstDash val="solid"/>
          </a:ln>
        </p:spPr>
        <p:txBody>
          <a:bodyPr/>
          <a:lstStyle/>
          <a:p>
            <a:endParaRPr lang="en-US"/>
          </a:p>
        </p:txBody>
      </p:sp>
      <p:sp>
        <p:nvSpPr>
          <p:cNvPr id="6" name="Shape 4"/>
          <p:cNvSpPr/>
          <p:nvPr/>
        </p:nvSpPr>
        <p:spPr>
          <a:xfrm>
            <a:off x="1069848" y="1892808"/>
            <a:ext cx="0" cy="3749040"/>
          </a:xfrm>
          <a:prstGeom prst="line">
            <a:avLst/>
          </a:prstGeom>
          <a:noFill/>
          <a:ln w="19050">
            <a:solidFill>
              <a:srgbClr val="B9C7C8"/>
            </a:solidFill>
            <a:prstDash val="solid"/>
          </a:ln>
        </p:spPr>
        <p:txBody>
          <a:bodyPr/>
          <a:lstStyle/>
          <a:p>
            <a:endParaRPr lang="en-US"/>
          </a:p>
        </p:txBody>
      </p:sp>
      <p:sp>
        <p:nvSpPr>
          <p:cNvPr id="7" name="Text 5"/>
          <p:cNvSpPr/>
          <p:nvPr/>
        </p:nvSpPr>
        <p:spPr>
          <a:xfrm>
            <a:off x="1069848" y="5724144"/>
            <a:ext cx="4892040" cy="274320"/>
          </a:xfrm>
          <a:prstGeom prst="rect">
            <a:avLst/>
          </a:prstGeom>
          <a:noFill/>
          <a:ln/>
        </p:spPr>
        <p:txBody>
          <a:bodyPr wrap="square" lIns="0" tIns="0" rIns="0" bIns="0" rtlCol="0" anchor="ctr"/>
          <a:lstStyle/>
          <a:p>
            <a:pPr marL="0" indent="0" algn="ctr">
              <a:buNone/>
            </a:pPr>
            <a:r>
              <a:rPr lang="en-US" sz="880" i="1" dirty="0">
                <a:solidFill>
                  <a:srgbClr val="6E7F87"/>
                </a:solidFill>
              </a:rPr>
              <a:t>Capital firepower / balance-sheet scale  →</a:t>
            </a:r>
            <a:endParaRPr lang="en-US" sz="880" dirty="0"/>
          </a:p>
        </p:txBody>
      </p:sp>
      <p:sp>
        <p:nvSpPr>
          <p:cNvPr id="8" name="Text 6"/>
          <p:cNvSpPr/>
          <p:nvPr/>
        </p:nvSpPr>
        <p:spPr>
          <a:xfrm rot="16200000">
            <a:off x="429768" y="1847088"/>
            <a:ext cx="3749040" cy="274320"/>
          </a:xfrm>
          <a:prstGeom prst="rect">
            <a:avLst/>
          </a:prstGeom>
          <a:noFill/>
          <a:ln/>
        </p:spPr>
        <p:txBody>
          <a:bodyPr wrap="square" lIns="0" tIns="0" rIns="0" bIns="0" rtlCol="0" anchor="ctr"/>
          <a:lstStyle/>
          <a:p>
            <a:pPr marL="0" indent="0" algn="ctr">
              <a:buNone/>
            </a:pPr>
            <a:r>
              <a:rPr lang="en-US" sz="880" i="1" dirty="0">
                <a:solidFill>
                  <a:srgbClr val="6E7F87"/>
                </a:solidFill>
              </a:rPr>
              <a:t>Software &amp; integration depth  →</a:t>
            </a:r>
            <a:endParaRPr lang="en-US" sz="880" dirty="0"/>
          </a:p>
        </p:txBody>
      </p:sp>
      <p:sp>
        <p:nvSpPr>
          <p:cNvPr id="9" name="Shape 7"/>
          <p:cNvSpPr/>
          <p:nvPr/>
        </p:nvSpPr>
        <p:spPr>
          <a:xfrm>
            <a:off x="4573829" y="4007815"/>
            <a:ext cx="1143000" cy="1143000"/>
          </a:xfrm>
          <a:prstGeom prst="ellipse">
            <a:avLst/>
          </a:prstGeom>
          <a:solidFill>
            <a:srgbClr val="0E2A38"/>
          </a:solidFill>
          <a:ln w="19050">
            <a:solidFill>
              <a:srgbClr val="FFFFFF"/>
            </a:solidFill>
            <a:prstDash val="solid"/>
          </a:ln>
          <a:effectLst>
            <a:outerShdw blurRad="76200" dist="25400" dir="8100000" algn="bl" rotWithShape="0">
              <a:srgbClr val="0E2A38">
                <a:alpha val="10000"/>
              </a:srgbClr>
            </a:outerShdw>
          </a:effectLst>
        </p:spPr>
        <p:txBody>
          <a:bodyPr/>
          <a:lstStyle/>
          <a:p>
            <a:endParaRPr lang="en-US"/>
          </a:p>
        </p:txBody>
      </p:sp>
      <p:sp>
        <p:nvSpPr>
          <p:cNvPr id="10" name="Text 8"/>
          <p:cNvSpPr/>
          <p:nvPr/>
        </p:nvSpPr>
        <p:spPr>
          <a:xfrm>
            <a:off x="4276649" y="4414723"/>
            <a:ext cx="1737360" cy="329184"/>
          </a:xfrm>
          <a:prstGeom prst="rect">
            <a:avLst/>
          </a:prstGeom>
          <a:noFill/>
          <a:ln/>
        </p:spPr>
        <p:txBody>
          <a:bodyPr wrap="square" lIns="0" tIns="0" rIns="0" bIns="0" rtlCol="0" anchor="ctr"/>
          <a:lstStyle/>
          <a:p>
            <a:pPr marL="0" indent="0" algn="ctr">
              <a:lnSpc>
                <a:spcPct val="85000"/>
              </a:lnSpc>
              <a:buNone/>
            </a:pPr>
            <a:r>
              <a:rPr lang="en-US" sz="820" b="1" dirty="0">
                <a:solidFill>
                  <a:srgbClr val="FFFFFF"/>
                </a:solidFill>
              </a:rPr>
              <a:t>Adani / Reliance</a:t>
            </a:r>
            <a:endParaRPr lang="en-US" sz="820" dirty="0"/>
          </a:p>
        </p:txBody>
      </p:sp>
      <p:sp>
        <p:nvSpPr>
          <p:cNvPr id="11" name="Shape 9"/>
          <p:cNvSpPr/>
          <p:nvPr/>
        </p:nvSpPr>
        <p:spPr>
          <a:xfrm>
            <a:off x="3533242" y="3512210"/>
            <a:ext cx="1051560" cy="1051560"/>
          </a:xfrm>
          <a:prstGeom prst="ellipse">
            <a:avLst/>
          </a:prstGeom>
          <a:solidFill>
            <a:srgbClr val="27535F"/>
          </a:solidFill>
          <a:ln w="19050">
            <a:solidFill>
              <a:srgbClr val="FFFFFF"/>
            </a:solidFill>
            <a:prstDash val="solid"/>
          </a:ln>
          <a:effectLst>
            <a:outerShdw blurRad="76200" dist="25400" dir="8100000" algn="bl" rotWithShape="0">
              <a:srgbClr val="0E2A38">
                <a:alpha val="10000"/>
              </a:srgbClr>
            </a:outerShdw>
          </a:effectLst>
        </p:spPr>
        <p:txBody>
          <a:bodyPr/>
          <a:lstStyle/>
          <a:p>
            <a:endParaRPr lang="en-US"/>
          </a:p>
        </p:txBody>
      </p:sp>
      <p:sp>
        <p:nvSpPr>
          <p:cNvPr id="12" name="Text 10"/>
          <p:cNvSpPr/>
          <p:nvPr/>
        </p:nvSpPr>
        <p:spPr>
          <a:xfrm>
            <a:off x="3190342" y="3873398"/>
            <a:ext cx="1737360" cy="329184"/>
          </a:xfrm>
          <a:prstGeom prst="rect">
            <a:avLst/>
          </a:prstGeom>
          <a:noFill/>
          <a:ln/>
        </p:spPr>
        <p:txBody>
          <a:bodyPr wrap="square" lIns="0" tIns="0" rIns="0" bIns="0" rtlCol="0" anchor="ctr"/>
          <a:lstStyle/>
          <a:p>
            <a:pPr marL="0" indent="0" algn="ctr">
              <a:lnSpc>
                <a:spcPct val="85000"/>
              </a:lnSpc>
              <a:buNone/>
            </a:pPr>
            <a:r>
              <a:rPr lang="en-US" sz="820" b="1" dirty="0">
                <a:solidFill>
                  <a:srgbClr val="FFFFFF"/>
                </a:solidFill>
              </a:rPr>
              <a:t>Tata / Avaada / ReNew</a:t>
            </a:r>
            <a:endParaRPr lang="en-US" sz="820" dirty="0"/>
          </a:p>
        </p:txBody>
      </p:sp>
      <p:sp>
        <p:nvSpPr>
          <p:cNvPr id="13" name="Shape 11"/>
          <p:cNvSpPr/>
          <p:nvPr/>
        </p:nvSpPr>
        <p:spPr>
          <a:xfrm>
            <a:off x="3081528" y="4618634"/>
            <a:ext cx="868680" cy="868680"/>
          </a:xfrm>
          <a:prstGeom prst="ellipse">
            <a:avLst/>
          </a:prstGeom>
          <a:solidFill>
            <a:srgbClr val="94A7AB"/>
          </a:solidFill>
          <a:ln w="19050">
            <a:solidFill>
              <a:srgbClr val="FFFFFF"/>
            </a:solidFill>
            <a:prstDash val="solid"/>
          </a:ln>
          <a:effectLst>
            <a:outerShdw blurRad="76200" dist="25400" dir="8100000" algn="bl" rotWithShape="0">
              <a:srgbClr val="0E2A38">
                <a:alpha val="10000"/>
              </a:srgbClr>
            </a:outerShdw>
          </a:effectLst>
        </p:spPr>
        <p:txBody>
          <a:bodyPr/>
          <a:lstStyle/>
          <a:p>
            <a:endParaRPr lang="en-US"/>
          </a:p>
        </p:txBody>
      </p:sp>
      <p:sp>
        <p:nvSpPr>
          <p:cNvPr id="14" name="Text 12"/>
          <p:cNvSpPr/>
          <p:nvPr/>
        </p:nvSpPr>
        <p:spPr>
          <a:xfrm>
            <a:off x="2647188" y="4888382"/>
            <a:ext cx="1737360" cy="329184"/>
          </a:xfrm>
          <a:prstGeom prst="rect">
            <a:avLst/>
          </a:prstGeom>
          <a:noFill/>
          <a:ln/>
        </p:spPr>
        <p:txBody>
          <a:bodyPr wrap="square" lIns="0" tIns="0" rIns="0" bIns="0" rtlCol="0" anchor="ctr"/>
          <a:lstStyle/>
          <a:p>
            <a:pPr marL="0" indent="0" algn="ctr">
              <a:lnSpc>
                <a:spcPct val="85000"/>
              </a:lnSpc>
              <a:buNone/>
            </a:pPr>
            <a:r>
              <a:rPr lang="en-US" sz="820" b="1" dirty="0">
                <a:solidFill>
                  <a:srgbClr val="15262F"/>
                </a:solidFill>
              </a:rPr>
              <a:t>Exide / Amara Raja</a:t>
            </a:r>
            <a:endParaRPr lang="en-US" sz="820" dirty="0"/>
          </a:p>
        </p:txBody>
      </p:sp>
      <p:sp>
        <p:nvSpPr>
          <p:cNvPr id="15" name="Shape 13"/>
          <p:cNvSpPr/>
          <p:nvPr/>
        </p:nvSpPr>
        <p:spPr>
          <a:xfrm>
            <a:off x="4303166" y="2339950"/>
            <a:ext cx="960120" cy="960120"/>
          </a:xfrm>
          <a:prstGeom prst="ellipse">
            <a:avLst/>
          </a:prstGeom>
          <a:solidFill>
            <a:srgbClr val="16B8A6"/>
          </a:solidFill>
          <a:ln w="19050">
            <a:solidFill>
              <a:srgbClr val="FFFFFF"/>
            </a:solidFill>
            <a:prstDash val="solid"/>
          </a:ln>
          <a:effectLst>
            <a:outerShdw blurRad="76200" dist="25400" dir="8100000" algn="bl" rotWithShape="0">
              <a:srgbClr val="0E2A38">
                <a:alpha val="10000"/>
              </a:srgbClr>
            </a:outerShdw>
          </a:effectLst>
        </p:spPr>
        <p:txBody>
          <a:bodyPr/>
          <a:lstStyle/>
          <a:p>
            <a:endParaRPr lang="en-US"/>
          </a:p>
        </p:txBody>
      </p:sp>
      <p:sp>
        <p:nvSpPr>
          <p:cNvPr id="16" name="Text 14"/>
          <p:cNvSpPr/>
          <p:nvPr/>
        </p:nvSpPr>
        <p:spPr>
          <a:xfrm>
            <a:off x="3914546" y="2655418"/>
            <a:ext cx="1737360" cy="329184"/>
          </a:xfrm>
          <a:prstGeom prst="rect">
            <a:avLst/>
          </a:prstGeom>
          <a:noFill/>
          <a:ln/>
        </p:spPr>
        <p:txBody>
          <a:bodyPr wrap="square" lIns="0" tIns="0" rIns="0" bIns="0" rtlCol="0" anchor="ctr"/>
          <a:lstStyle/>
          <a:p>
            <a:pPr marL="0" indent="0" algn="ctr">
              <a:lnSpc>
                <a:spcPct val="85000"/>
              </a:lnSpc>
              <a:buNone/>
            </a:pPr>
            <a:r>
              <a:rPr lang="en-US" sz="820" b="1" dirty="0">
                <a:solidFill>
                  <a:srgbClr val="15262F"/>
                </a:solidFill>
              </a:rPr>
              <a:t>Fluence / Sungrow</a:t>
            </a:r>
            <a:endParaRPr lang="en-US" sz="820" dirty="0"/>
          </a:p>
        </p:txBody>
      </p:sp>
      <p:sp>
        <p:nvSpPr>
          <p:cNvPr id="17" name="Shape 15"/>
          <p:cNvSpPr/>
          <p:nvPr/>
        </p:nvSpPr>
        <p:spPr>
          <a:xfrm>
            <a:off x="1926184" y="2203704"/>
            <a:ext cx="1097280" cy="1097280"/>
          </a:xfrm>
          <a:prstGeom prst="ellipse">
            <a:avLst/>
          </a:prstGeom>
          <a:solidFill>
            <a:srgbClr val="F2A516"/>
          </a:solidFill>
          <a:ln w="19050">
            <a:solidFill>
              <a:srgbClr val="FFFFFF"/>
            </a:solidFill>
            <a:prstDash val="solid"/>
          </a:ln>
          <a:effectLst>
            <a:outerShdw blurRad="76200" dist="25400" dir="8100000" algn="bl" rotWithShape="0">
              <a:srgbClr val="0E2A38">
                <a:alpha val="10000"/>
              </a:srgbClr>
            </a:outerShdw>
          </a:effectLst>
        </p:spPr>
        <p:txBody>
          <a:bodyPr/>
          <a:lstStyle/>
          <a:p>
            <a:endParaRPr lang="en-US"/>
          </a:p>
        </p:txBody>
      </p:sp>
      <p:sp>
        <p:nvSpPr>
          <p:cNvPr id="18" name="Text 16"/>
          <p:cNvSpPr/>
          <p:nvPr/>
        </p:nvSpPr>
        <p:spPr>
          <a:xfrm>
            <a:off x="1606144" y="2587752"/>
            <a:ext cx="1737360" cy="329184"/>
          </a:xfrm>
          <a:prstGeom prst="rect">
            <a:avLst/>
          </a:prstGeom>
          <a:noFill/>
          <a:ln/>
        </p:spPr>
        <p:txBody>
          <a:bodyPr wrap="square" lIns="0" tIns="0" rIns="0" bIns="0" rtlCol="0" anchor="ctr"/>
          <a:lstStyle/>
          <a:p>
            <a:pPr marL="0" indent="0" algn="ctr">
              <a:lnSpc>
                <a:spcPct val="85000"/>
              </a:lnSpc>
              <a:buNone/>
            </a:pPr>
            <a:r>
              <a:rPr lang="en-US" sz="820" b="1" dirty="0">
                <a:solidFill>
                  <a:srgbClr val="15262F"/>
                </a:solidFill>
              </a:rPr>
              <a:t>AmpereHour</a:t>
            </a:r>
            <a:endParaRPr lang="en-US" sz="820" dirty="0"/>
          </a:p>
        </p:txBody>
      </p:sp>
      <p:sp>
        <p:nvSpPr>
          <p:cNvPr id="19" name="Shape 17"/>
          <p:cNvSpPr/>
          <p:nvPr/>
        </p:nvSpPr>
        <p:spPr>
          <a:xfrm>
            <a:off x="1606144" y="1883664"/>
            <a:ext cx="1737360" cy="1737360"/>
          </a:xfrm>
          <a:prstGeom prst="ellipse">
            <a:avLst/>
          </a:prstGeom>
          <a:ln w="19050">
            <a:solidFill>
              <a:srgbClr val="F2A516"/>
            </a:solidFill>
            <a:prstDash val="dash"/>
          </a:ln>
        </p:spPr>
        <p:txBody>
          <a:bodyPr/>
          <a:lstStyle/>
          <a:p>
            <a:endParaRPr lang="en-US"/>
          </a:p>
        </p:txBody>
      </p:sp>
      <p:sp>
        <p:nvSpPr>
          <p:cNvPr id="20" name="Shape 18"/>
          <p:cNvSpPr/>
          <p:nvPr/>
        </p:nvSpPr>
        <p:spPr>
          <a:xfrm>
            <a:off x="6629400" y="1572768"/>
            <a:ext cx="4995367" cy="1078992"/>
          </a:xfrm>
          <a:prstGeom prst="roundRect">
            <a:avLst>
              <a:gd name="adj" fmla="val 5085"/>
            </a:avLst>
          </a:prstGeom>
          <a:solidFill>
            <a:srgbClr val="FFFFFF"/>
          </a:solidFill>
          <a:ln w="15240">
            <a:solidFill>
              <a:srgbClr val="E3EAEC"/>
            </a:solidFill>
            <a:prstDash val="solid"/>
          </a:ln>
        </p:spPr>
        <p:txBody>
          <a:bodyPr/>
          <a:lstStyle/>
          <a:p>
            <a:endParaRPr lang="en-US"/>
          </a:p>
        </p:txBody>
      </p:sp>
      <p:sp>
        <p:nvSpPr>
          <p:cNvPr id="21" name="Shape 19"/>
          <p:cNvSpPr/>
          <p:nvPr/>
        </p:nvSpPr>
        <p:spPr>
          <a:xfrm>
            <a:off x="6848856" y="1847088"/>
            <a:ext cx="530352" cy="530352"/>
          </a:xfrm>
          <a:prstGeom prst="ellipse">
            <a:avLst/>
          </a:prstGeom>
          <a:solidFill>
            <a:srgbClr val="0E7C77"/>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6986748" y="1984980"/>
            <a:ext cx="254569" cy="254569"/>
          </a:xfrm>
          <a:prstGeom prst="rect">
            <a:avLst/>
          </a:prstGeom>
        </p:spPr>
      </p:pic>
      <p:sp>
        <p:nvSpPr>
          <p:cNvPr id="23" name="Text 20"/>
          <p:cNvSpPr/>
          <p:nvPr/>
        </p:nvSpPr>
        <p:spPr>
          <a:xfrm>
            <a:off x="7525512" y="1691640"/>
            <a:ext cx="3898087" cy="292608"/>
          </a:xfrm>
          <a:prstGeom prst="rect">
            <a:avLst/>
          </a:prstGeom>
          <a:noFill/>
          <a:ln/>
        </p:spPr>
        <p:txBody>
          <a:bodyPr wrap="square" lIns="0" tIns="0" rIns="0" bIns="0" rtlCol="0" anchor="ctr"/>
          <a:lstStyle/>
          <a:p>
            <a:pPr marL="0" indent="0">
              <a:buNone/>
            </a:pPr>
            <a:r>
              <a:rPr lang="en-US" sz="1250" b="1" dirty="0">
                <a:solidFill>
                  <a:srgbClr val="15262F"/>
                </a:solidFill>
                <a:latin typeface="Georgia" pitchFamily="34" charset="0"/>
                <a:ea typeface="Georgia" pitchFamily="34" charset="-122"/>
                <a:cs typeface="Georgia" pitchFamily="34" charset="-120"/>
              </a:rPr>
              <a:t>Integrated giants</a:t>
            </a:r>
            <a:endParaRPr lang="en-US" sz="1250" dirty="0"/>
          </a:p>
        </p:txBody>
      </p:sp>
      <p:sp>
        <p:nvSpPr>
          <p:cNvPr id="24" name="Text 21"/>
          <p:cNvSpPr/>
          <p:nvPr/>
        </p:nvSpPr>
        <p:spPr>
          <a:xfrm>
            <a:off x="7525512" y="1984248"/>
            <a:ext cx="3879799" cy="621792"/>
          </a:xfrm>
          <a:prstGeom prst="rect">
            <a:avLst/>
          </a:prstGeom>
          <a:noFill/>
          <a:ln/>
        </p:spPr>
        <p:txBody>
          <a:bodyPr wrap="square" lIns="0" tIns="0" rIns="0" bIns="0" rtlCol="0" anchor="t"/>
          <a:lstStyle/>
          <a:p>
            <a:pPr marL="0" indent="0">
              <a:lnSpc>
                <a:spcPct val="96000"/>
              </a:lnSpc>
              <a:buNone/>
            </a:pPr>
            <a:r>
              <a:rPr lang="en-US" sz="980" dirty="0">
                <a:solidFill>
                  <a:srgbClr val="374952"/>
                </a:solidFill>
                <a:latin typeface="Calibri" pitchFamily="34" charset="0"/>
                <a:ea typeface="Calibri" pitchFamily="34" charset="-122"/>
                <a:cs typeface="Calibri" pitchFamily="34" charset="-120"/>
              </a:rPr>
              <a:t>Adani, Tata, Reliance, ReNew, Avaada, JSW (+Fluence), Waaree — own balance sheets, cells &amp; GWh pipelines.</a:t>
            </a:r>
            <a:endParaRPr lang="en-US" sz="980" dirty="0"/>
          </a:p>
        </p:txBody>
      </p:sp>
      <p:sp>
        <p:nvSpPr>
          <p:cNvPr id="25" name="Shape 22"/>
          <p:cNvSpPr/>
          <p:nvPr/>
        </p:nvSpPr>
        <p:spPr>
          <a:xfrm>
            <a:off x="6629400" y="2761488"/>
            <a:ext cx="4995367" cy="1078992"/>
          </a:xfrm>
          <a:prstGeom prst="roundRect">
            <a:avLst>
              <a:gd name="adj" fmla="val 5085"/>
            </a:avLst>
          </a:prstGeom>
          <a:solidFill>
            <a:srgbClr val="FFFFFF"/>
          </a:solidFill>
          <a:ln w="15240">
            <a:solidFill>
              <a:srgbClr val="E3EAEC"/>
            </a:solidFill>
            <a:prstDash val="solid"/>
          </a:ln>
        </p:spPr>
        <p:txBody>
          <a:bodyPr/>
          <a:lstStyle/>
          <a:p>
            <a:endParaRPr lang="en-US"/>
          </a:p>
        </p:txBody>
      </p:sp>
      <p:sp>
        <p:nvSpPr>
          <p:cNvPr id="26" name="Shape 23"/>
          <p:cNvSpPr/>
          <p:nvPr/>
        </p:nvSpPr>
        <p:spPr>
          <a:xfrm>
            <a:off x="6848856" y="3035808"/>
            <a:ext cx="530352" cy="530352"/>
          </a:xfrm>
          <a:prstGeom prst="ellipse">
            <a:avLst/>
          </a:prstGeom>
          <a:solidFill>
            <a:srgbClr val="0E7C77"/>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6986748" y="3173700"/>
            <a:ext cx="254569" cy="254569"/>
          </a:xfrm>
          <a:prstGeom prst="rect">
            <a:avLst/>
          </a:prstGeom>
        </p:spPr>
      </p:pic>
      <p:sp>
        <p:nvSpPr>
          <p:cNvPr id="28" name="Text 24"/>
          <p:cNvSpPr/>
          <p:nvPr/>
        </p:nvSpPr>
        <p:spPr>
          <a:xfrm>
            <a:off x="7525512" y="2880360"/>
            <a:ext cx="3898087" cy="292608"/>
          </a:xfrm>
          <a:prstGeom prst="rect">
            <a:avLst/>
          </a:prstGeom>
          <a:noFill/>
          <a:ln/>
        </p:spPr>
        <p:txBody>
          <a:bodyPr wrap="square" lIns="0" tIns="0" rIns="0" bIns="0" rtlCol="0" anchor="ctr"/>
          <a:lstStyle/>
          <a:p>
            <a:pPr marL="0" indent="0">
              <a:buNone/>
            </a:pPr>
            <a:r>
              <a:rPr lang="en-US" sz="1250" b="1" dirty="0">
                <a:solidFill>
                  <a:srgbClr val="15262F"/>
                </a:solidFill>
                <a:latin typeface="Georgia" pitchFamily="34" charset="0"/>
                <a:ea typeface="Georgia" pitchFamily="34" charset="-122"/>
                <a:cs typeface="Georgia" pitchFamily="34" charset="-120"/>
              </a:rPr>
              <a:t>Cell &amp; equipment makers</a:t>
            </a:r>
            <a:endParaRPr lang="en-US" sz="1250" dirty="0"/>
          </a:p>
        </p:txBody>
      </p:sp>
      <p:sp>
        <p:nvSpPr>
          <p:cNvPr id="29" name="Text 25"/>
          <p:cNvSpPr/>
          <p:nvPr/>
        </p:nvSpPr>
        <p:spPr>
          <a:xfrm>
            <a:off x="7525512" y="3172968"/>
            <a:ext cx="3879799" cy="621792"/>
          </a:xfrm>
          <a:prstGeom prst="rect">
            <a:avLst/>
          </a:prstGeom>
          <a:noFill/>
          <a:ln/>
        </p:spPr>
        <p:txBody>
          <a:bodyPr wrap="square" lIns="0" tIns="0" rIns="0" bIns="0" rtlCol="0" anchor="t"/>
          <a:lstStyle/>
          <a:p>
            <a:pPr marL="0" indent="0">
              <a:lnSpc>
                <a:spcPct val="96000"/>
              </a:lnSpc>
              <a:buNone/>
            </a:pPr>
            <a:r>
              <a:rPr lang="en-US" sz="980" dirty="0">
                <a:solidFill>
                  <a:srgbClr val="374952"/>
                </a:solidFill>
                <a:latin typeface="Calibri" pitchFamily="34" charset="0"/>
                <a:ea typeface="Calibri" pitchFamily="34" charset="-122"/>
                <a:cs typeface="Calibri" pitchFamily="34" charset="-120"/>
              </a:rPr>
              <a:t>Exide, Amara Raja, Agratas, HBL — moving downstream into packs and integration.</a:t>
            </a:r>
            <a:endParaRPr lang="en-US" sz="980" dirty="0"/>
          </a:p>
        </p:txBody>
      </p:sp>
      <p:sp>
        <p:nvSpPr>
          <p:cNvPr id="30" name="Shape 26"/>
          <p:cNvSpPr/>
          <p:nvPr/>
        </p:nvSpPr>
        <p:spPr>
          <a:xfrm>
            <a:off x="6629400" y="3950208"/>
            <a:ext cx="4995367" cy="1078992"/>
          </a:xfrm>
          <a:prstGeom prst="roundRect">
            <a:avLst>
              <a:gd name="adj" fmla="val 5085"/>
            </a:avLst>
          </a:prstGeom>
          <a:solidFill>
            <a:srgbClr val="FFFFFF"/>
          </a:solidFill>
          <a:ln w="15240">
            <a:solidFill>
              <a:srgbClr val="E3EAEC"/>
            </a:solidFill>
            <a:prstDash val="solid"/>
          </a:ln>
        </p:spPr>
        <p:txBody>
          <a:bodyPr/>
          <a:lstStyle/>
          <a:p>
            <a:endParaRPr lang="en-US"/>
          </a:p>
        </p:txBody>
      </p:sp>
      <p:sp>
        <p:nvSpPr>
          <p:cNvPr id="31" name="Shape 27"/>
          <p:cNvSpPr/>
          <p:nvPr/>
        </p:nvSpPr>
        <p:spPr>
          <a:xfrm>
            <a:off x="6848856" y="4224528"/>
            <a:ext cx="530352" cy="530352"/>
          </a:xfrm>
          <a:prstGeom prst="ellipse">
            <a:avLst/>
          </a:prstGeom>
          <a:solidFill>
            <a:srgbClr val="0E7C77"/>
          </a:solidFill>
          <a:ln/>
        </p:spPr>
        <p:txBody>
          <a:bodyPr/>
          <a:lstStyle/>
          <a:p>
            <a:endParaRPr lang="en-US"/>
          </a:p>
        </p:txBody>
      </p:sp>
      <p:pic>
        <p:nvPicPr>
          <p:cNvPr id="32" name="Image 2" descr="preencoded.png"/>
          <p:cNvPicPr>
            <a:picLocks noChangeAspect="1"/>
          </p:cNvPicPr>
          <p:nvPr/>
        </p:nvPicPr>
        <p:blipFill>
          <a:blip r:embed="rId5"/>
          <a:stretch>
            <a:fillRect/>
          </a:stretch>
        </p:blipFill>
        <p:spPr>
          <a:xfrm>
            <a:off x="6986748" y="4362420"/>
            <a:ext cx="254569" cy="254569"/>
          </a:xfrm>
          <a:prstGeom prst="rect">
            <a:avLst/>
          </a:prstGeom>
        </p:spPr>
      </p:pic>
      <p:sp>
        <p:nvSpPr>
          <p:cNvPr id="33" name="Text 28"/>
          <p:cNvSpPr/>
          <p:nvPr/>
        </p:nvSpPr>
        <p:spPr>
          <a:xfrm>
            <a:off x="7525512" y="4069080"/>
            <a:ext cx="3898087" cy="292608"/>
          </a:xfrm>
          <a:prstGeom prst="rect">
            <a:avLst/>
          </a:prstGeom>
          <a:noFill/>
          <a:ln/>
        </p:spPr>
        <p:txBody>
          <a:bodyPr wrap="square" lIns="0" tIns="0" rIns="0" bIns="0" rtlCol="0" anchor="ctr"/>
          <a:lstStyle/>
          <a:p>
            <a:pPr marL="0" indent="0">
              <a:buNone/>
            </a:pPr>
            <a:r>
              <a:rPr lang="en-US" sz="1250" b="1" dirty="0">
                <a:solidFill>
                  <a:srgbClr val="15262F"/>
                </a:solidFill>
                <a:latin typeface="Georgia" pitchFamily="34" charset="0"/>
                <a:ea typeface="Georgia" pitchFamily="34" charset="-122"/>
                <a:cs typeface="Georgia" pitchFamily="34" charset="-120"/>
              </a:rPr>
              <a:t>Global integrators</a:t>
            </a:r>
            <a:endParaRPr lang="en-US" sz="1250" dirty="0"/>
          </a:p>
        </p:txBody>
      </p:sp>
      <p:sp>
        <p:nvSpPr>
          <p:cNvPr id="34" name="Text 29"/>
          <p:cNvSpPr/>
          <p:nvPr/>
        </p:nvSpPr>
        <p:spPr>
          <a:xfrm>
            <a:off x="7525512" y="4361688"/>
            <a:ext cx="3879799" cy="621792"/>
          </a:xfrm>
          <a:prstGeom prst="rect">
            <a:avLst/>
          </a:prstGeom>
          <a:noFill/>
          <a:ln/>
        </p:spPr>
        <p:txBody>
          <a:bodyPr wrap="square" lIns="0" tIns="0" rIns="0" bIns="0" rtlCol="0" anchor="t"/>
          <a:lstStyle/>
          <a:p>
            <a:pPr marL="0" indent="0">
              <a:lnSpc>
                <a:spcPct val="96000"/>
              </a:lnSpc>
              <a:buNone/>
            </a:pPr>
            <a:r>
              <a:rPr lang="en-US" sz="980" dirty="0">
                <a:solidFill>
                  <a:srgbClr val="374952"/>
                </a:solidFill>
                <a:latin typeface="Calibri" pitchFamily="34" charset="0"/>
                <a:ea typeface="Calibri" pitchFamily="34" charset="-122"/>
                <a:cs typeface="Calibri" pitchFamily="34" charset="-120"/>
              </a:rPr>
              <a:t>Fluence, Sungrow, AES, Tesla, Wärtsilä — software-strong but face localisation &amp; service-depth hurdles in India.</a:t>
            </a:r>
            <a:endParaRPr lang="en-US" sz="980" dirty="0"/>
          </a:p>
        </p:txBody>
      </p:sp>
      <p:sp>
        <p:nvSpPr>
          <p:cNvPr id="35" name="Shape 30"/>
          <p:cNvSpPr/>
          <p:nvPr/>
        </p:nvSpPr>
        <p:spPr>
          <a:xfrm>
            <a:off x="6629400" y="5138928"/>
            <a:ext cx="4995367" cy="1005840"/>
          </a:xfrm>
          <a:prstGeom prst="roundRect">
            <a:avLst>
              <a:gd name="adj" fmla="val 5455"/>
            </a:avLst>
          </a:prstGeom>
          <a:solidFill>
            <a:srgbClr val="0E2A38"/>
          </a:solidFill>
          <a:ln/>
          <a:effectLst>
            <a:outerShdw blurRad="76200" dist="25400" dir="8100000" algn="bl" rotWithShape="0">
              <a:srgbClr val="0E2A38">
                <a:alpha val="10000"/>
              </a:srgbClr>
            </a:outerShdw>
          </a:effectLst>
        </p:spPr>
        <p:txBody>
          <a:bodyPr/>
          <a:lstStyle/>
          <a:p>
            <a:endParaRPr lang="en-US"/>
          </a:p>
        </p:txBody>
      </p:sp>
      <p:sp>
        <p:nvSpPr>
          <p:cNvPr id="36" name="Shape 31"/>
          <p:cNvSpPr/>
          <p:nvPr/>
        </p:nvSpPr>
        <p:spPr>
          <a:xfrm>
            <a:off x="6867144" y="5340096"/>
            <a:ext cx="566928" cy="566928"/>
          </a:xfrm>
          <a:prstGeom prst="ellipse">
            <a:avLst/>
          </a:prstGeom>
          <a:solidFill>
            <a:srgbClr val="F2A516"/>
          </a:solidFill>
          <a:ln/>
        </p:spPr>
        <p:txBody>
          <a:bodyPr/>
          <a:lstStyle/>
          <a:p>
            <a:endParaRPr lang="en-US"/>
          </a:p>
        </p:txBody>
      </p:sp>
      <p:pic>
        <p:nvPicPr>
          <p:cNvPr id="37" name="Image 3" descr="preencoded.png"/>
          <p:cNvPicPr>
            <a:picLocks noChangeAspect="1"/>
          </p:cNvPicPr>
          <p:nvPr/>
        </p:nvPicPr>
        <p:blipFill>
          <a:blip r:embed="rId6"/>
          <a:stretch>
            <a:fillRect/>
          </a:stretch>
        </p:blipFill>
        <p:spPr>
          <a:xfrm>
            <a:off x="7014545" y="5487497"/>
            <a:ext cx="272125" cy="272125"/>
          </a:xfrm>
          <a:prstGeom prst="rect">
            <a:avLst/>
          </a:prstGeom>
        </p:spPr>
      </p:pic>
      <p:sp>
        <p:nvSpPr>
          <p:cNvPr id="38" name="Text 32"/>
          <p:cNvSpPr/>
          <p:nvPr/>
        </p:nvSpPr>
        <p:spPr>
          <a:xfrm>
            <a:off x="7580376" y="5212080"/>
            <a:ext cx="3852367" cy="859536"/>
          </a:xfrm>
          <a:prstGeom prst="rect">
            <a:avLst/>
          </a:prstGeom>
          <a:noFill/>
          <a:ln/>
        </p:spPr>
        <p:txBody>
          <a:bodyPr wrap="square" lIns="0" tIns="0" rIns="0" bIns="0" rtlCol="0" anchor="ctr"/>
          <a:lstStyle/>
          <a:p>
            <a:pPr marL="0" indent="0">
              <a:lnSpc>
                <a:spcPct val="100000"/>
              </a:lnSpc>
              <a:buNone/>
            </a:pPr>
            <a:r>
              <a:rPr lang="en-US" sz="1150" b="1" dirty="0">
                <a:solidFill>
                  <a:srgbClr val="FBBF24"/>
                </a:solidFill>
              </a:rPr>
              <a:t>AmpereHour's lane: </a:t>
            </a:r>
            <a:r>
              <a:rPr lang="en-US" sz="1100" dirty="0">
                <a:solidFill>
                  <a:srgbClr val="E2EEEF"/>
                </a:solidFill>
              </a:rPr>
              <a:t>the independent, software-led, asset-light integrator — competing on ELINA and speed, not on cells or balance sheet.</a:t>
            </a:r>
            <a:endParaRPr lang="en-US" sz="1150" dirty="0"/>
          </a:p>
        </p:txBody>
      </p:sp>
      <p:sp>
        <p:nvSpPr>
          <p:cNvPr id="39" name="Text 33"/>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6E7F87"/>
                </a:solidFill>
                <a:latin typeface="Calibri" pitchFamily="34" charset="0"/>
                <a:ea typeface="Calibri" pitchFamily="34" charset="-122"/>
                <a:cs typeface="Calibri" pitchFamily="34" charset="-120"/>
              </a:rPr>
              <a:t>AmpereHour Energy  ·  Investment Thesis</a:t>
            </a:r>
            <a:endParaRPr lang="en-US" sz="850" dirty="0"/>
          </a:p>
        </p:txBody>
      </p:sp>
      <p:sp>
        <p:nvSpPr>
          <p:cNvPr id="40" name="Text 34"/>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08  ·  TRACTION &amp; VALIDATION</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Proof the model works at utility scale</a:t>
            </a:r>
            <a:endParaRPr lang="en-US" sz="2700" dirty="0"/>
          </a:p>
        </p:txBody>
      </p:sp>
      <p:sp>
        <p:nvSpPr>
          <p:cNvPr id="4" name="Shape 2"/>
          <p:cNvSpPr/>
          <p:nvPr/>
        </p:nvSpPr>
        <p:spPr>
          <a:xfrm>
            <a:off x="566928" y="1517904"/>
            <a:ext cx="5852160" cy="4663440"/>
          </a:xfrm>
          <a:prstGeom prst="roundRect">
            <a:avLst>
              <a:gd name="adj" fmla="val 1373"/>
            </a:avLst>
          </a:prstGeom>
          <a:solidFill>
            <a:srgbClr val="0E2A38"/>
          </a:solidFill>
          <a:ln/>
          <a:effectLst>
            <a:outerShdw blurRad="114300" dist="38100" dir="8100000" algn="bl" rotWithShape="0">
              <a:srgbClr val="0E2A38">
                <a:alpha val="13000"/>
              </a:srgbClr>
            </a:outerShdw>
          </a:effectLst>
        </p:spPr>
        <p:txBody>
          <a:bodyPr/>
          <a:lstStyle/>
          <a:p>
            <a:endParaRPr lang="en-US"/>
          </a:p>
        </p:txBody>
      </p:sp>
      <p:sp>
        <p:nvSpPr>
          <p:cNvPr id="5" name="Shape 3"/>
          <p:cNvSpPr/>
          <p:nvPr/>
        </p:nvSpPr>
        <p:spPr>
          <a:xfrm>
            <a:off x="841248" y="1783080"/>
            <a:ext cx="2651760" cy="384048"/>
          </a:xfrm>
          <a:prstGeom prst="roundRect">
            <a:avLst>
              <a:gd name="adj" fmla="val 50000"/>
            </a:avLst>
          </a:prstGeom>
          <a:solidFill>
            <a:srgbClr val="F2A516"/>
          </a:solidFill>
          <a:ln/>
        </p:spPr>
        <p:txBody>
          <a:bodyPr/>
          <a:lstStyle/>
          <a:p>
            <a:endParaRPr lang="en-US"/>
          </a:p>
        </p:txBody>
      </p:sp>
      <p:sp>
        <p:nvSpPr>
          <p:cNvPr id="6" name="Text 4"/>
          <p:cNvSpPr/>
          <p:nvPr/>
        </p:nvSpPr>
        <p:spPr>
          <a:xfrm>
            <a:off x="841248" y="1783080"/>
            <a:ext cx="2651760" cy="384048"/>
          </a:xfrm>
          <a:prstGeom prst="rect">
            <a:avLst/>
          </a:prstGeom>
          <a:noFill/>
          <a:ln/>
        </p:spPr>
        <p:txBody>
          <a:bodyPr wrap="square" lIns="0" tIns="0" rIns="0" bIns="0" rtlCol="0" anchor="ctr"/>
          <a:lstStyle/>
          <a:p>
            <a:pPr marL="0" indent="0" algn="ctr">
              <a:buNone/>
            </a:pPr>
            <a:r>
              <a:rPr lang="en-US" sz="950" b="1" kern="0" spc="120" dirty="0">
                <a:solidFill>
                  <a:srgbClr val="0E2A38"/>
                </a:solidFill>
              </a:rPr>
              <a:t>FLAGSHIP PROJECT</a:t>
            </a:r>
            <a:endParaRPr lang="en-US" sz="950" dirty="0"/>
          </a:p>
        </p:txBody>
      </p:sp>
      <p:sp>
        <p:nvSpPr>
          <p:cNvPr id="7" name="Text 5"/>
          <p:cNvSpPr/>
          <p:nvPr/>
        </p:nvSpPr>
        <p:spPr>
          <a:xfrm>
            <a:off x="841248" y="2286000"/>
            <a:ext cx="5349240" cy="841248"/>
          </a:xfrm>
          <a:prstGeom prst="rect">
            <a:avLst/>
          </a:prstGeom>
          <a:noFill/>
          <a:ln/>
        </p:spPr>
        <p:txBody>
          <a:bodyPr wrap="square" lIns="0" tIns="0" rIns="0" bIns="0" rtlCol="0" anchor="t"/>
          <a:lstStyle/>
          <a:p>
            <a:pPr marL="0" indent="0">
              <a:lnSpc>
                <a:spcPct val="97000"/>
              </a:lnSpc>
              <a:buNone/>
            </a:pPr>
            <a:r>
              <a:rPr lang="en-US" sz="1800" b="1" dirty="0">
                <a:solidFill>
                  <a:srgbClr val="FFFFFF"/>
                </a:solidFill>
                <a:latin typeface="Georgia" pitchFamily="34" charset="0"/>
                <a:ea typeface="Georgia" pitchFamily="34" charset="-122"/>
                <a:cs typeface="Georgia" pitchFamily="34" charset="-120"/>
              </a:rPr>
              <a:t>India's first regulatory-approved utility-scale standalone BESS</a:t>
            </a:r>
            <a:endParaRPr lang="en-US" sz="1800" dirty="0"/>
          </a:p>
        </p:txBody>
      </p:sp>
      <p:sp>
        <p:nvSpPr>
          <p:cNvPr id="8" name="Text 6"/>
          <p:cNvSpPr/>
          <p:nvPr/>
        </p:nvSpPr>
        <p:spPr>
          <a:xfrm>
            <a:off x="841248" y="3200400"/>
            <a:ext cx="5349240" cy="914400"/>
          </a:xfrm>
          <a:prstGeom prst="rect">
            <a:avLst/>
          </a:prstGeom>
          <a:noFill/>
          <a:ln/>
        </p:spPr>
        <p:txBody>
          <a:bodyPr wrap="square" lIns="0" tIns="0" rIns="0" bIns="0" rtlCol="0" anchor="t"/>
          <a:lstStyle/>
          <a:p>
            <a:pPr marL="0" indent="0">
              <a:lnSpc>
                <a:spcPct val="102000"/>
              </a:lnSpc>
              <a:buNone/>
            </a:pPr>
            <a:r>
              <a:rPr lang="en-US" sz="1100" dirty="0">
                <a:solidFill>
                  <a:srgbClr val="D7E6E7"/>
                </a:solidFill>
                <a:latin typeface="Calibri" pitchFamily="34" charset="0"/>
                <a:ea typeface="Calibri" pitchFamily="34" charset="-122"/>
                <a:cs typeface="Calibri" pitchFamily="34" charset="-120"/>
              </a:rPr>
              <a:t>20 MW / 40 MWh for BSES Rajdhani (BRPL) at Kilokari, Delhi — with IndiGrid, financed by GEAPP. Approved under Section 63 of the Electricity Act and commissioned in 11 months, ahead of schedule.</a:t>
            </a:r>
            <a:endParaRPr lang="en-US" sz="1100" dirty="0"/>
          </a:p>
        </p:txBody>
      </p:sp>
      <p:sp>
        <p:nvSpPr>
          <p:cNvPr id="9" name="Text 7"/>
          <p:cNvSpPr/>
          <p:nvPr/>
        </p:nvSpPr>
        <p:spPr>
          <a:xfrm>
            <a:off x="841248" y="4261104"/>
            <a:ext cx="1645920" cy="420624"/>
          </a:xfrm>
          <a:prstGeom prst="rect">
            <a:avLst/>
          </a:prstGeom>
          <a:noFill/>
          <a:ln/>
        </p:spPr>
        <p:txBody>
          <a:bodyPr wrap="square" lIns="0" tIns="0" rIns="0" bIns="0" rtlCol="0" anchor="ctr"/>
          <a:lstStyle/>
          <a:p>
            <a:pPr marL="0" indent="0">
              <a:buNone/>
            </a:pPr>
            <a:r>
              <a:rPr lang="en-US" sz="2100" b="1" dirty="0">
                <a:solidFill>
                  <a:srgbClr val="FBBF24"/>
                </a:solidFill>
                <a:latin typeface="Georgia" pitchFamily="34" charset="0"/>
                <a:ea typeface="Georgia" pitchFamily="34" charset="-122"/>
                <a:cs typeface="Georgia" pitchFamily="34" charset="-120"/>
              </a:rPr>
              <a:t>11 mo</a:t>
            </a:r>
            <a:endParaRPr lang="en-US" sz="2100" dirty="0"/>
          </a:p>
        </p:txBody>
      </p:sp>
      <p:sp>
        <p:nvSpPr>
          <p:cNvPr id="10" name="Text 8"/>
          <p:cNvSpPr/>
          <p:nvPr/>
        </p:nvSpPr>
        <p:spPr>
          <a:xfrm>
            <a:off x="841248" y="4681728"/>
            <a:ext cx="1645920" cy="274320"/>
          </a:xfrm>
          <a:prstGeom prst="rect">
            <a:avLst/>
          </a:prstGeom>
          <a:noFill/>
          <a:ln/>
        </p:spPr>
        <p:txBody>
          <a:bodyPr wrap="square" lIns="0" tIns="0" rIns="0" bIns="0" rtlCol="0" anchor="ctr"/>
          <a:lstStyle/>
          <a:p>
            <a:pPr marL="0" indent="0">
              <a:buNone/>
            </a:pPr>
            <a:r>
              <a:rPr lang="en-US" sz="920" dirty="0">
                <a:solidFill>
                  <a:srgbClr val="9FBCC0"/>
                </a:solidFill>
                <a:latin typeface="Calibri" pitchFamily="34" charset="0"/>
                <a:ea typeface="Calibri" pitchFamily="34" charset="-122"/>
                <a:cs typeface="Calibri" pitchFamily="34" charset="-120"/>
              </a:rPr>
              <a:t>to commission</a:t>
            </a:r>
            <a:endParaRPr lang="en-US" sz="920" dirty="0"/>
          </a:p>
        </p:txBody>
      </p:sp>
      <p:sp>
        <p:nvSpPr>
          <p:cNvPr id="11" name="Shape 9"/>
          <p:cNvSpPr/>
          <p:nvPr/>
        </p:nvSpPr>
        <p:spPr>
          <a:xfrm>
            <a:off x="2606040" y="4297680"/>
            <a:ext cx="0" cy="713232"/>
          </a:xfrm>
          <a:prstGeom prst="line">
            <a:avLst/>
          </a:prstGeom>
          <a:noFill/>
          <a:ln w="12700">
            <a:solidFill>
              <a:srgbClr val="1C4250"/>
            </a:solidFill>
            <a:prstDash val="solid"/>
          </a:ln>
        </p:spPr>
        <p:txBody>
          <a:bodyPr/>
          <a:lstStyle/>
          <a:p>
            <a:endParaRPr lang="en-US"/>
          </a:p>
        </p:txBody>
      </p:sp>
      <p:sp>
        <p:nvSpPr>
          <p:cNvPr id="12" name="Text 10"/>
          <p:cNvSpPr/>
          <p:nvPr/>
        </p:nvSpPr>
        <p:spPr>
          <a:xfrm>
            <a:off x="2624328" y="4261104"/>
            <a:ext cx="1645920" cy="420624"/>
          </a:xfrm>
          <a:prstGeom prst="rect">
            <a:avLst/>
          </a:prstGeom>
          <a:noFill/>
          <a:ln/>
        </p:spPr>
        <p:txBody>
          <a:bodyPr wrap="square" lIns="0" tIns="0" rIns="0" bIns="0" rtlCol="0" anchor="ctr"/>
          <a:lstStyle/>
          <a:p>
            <a:pPr marL="0" indent="0">
              <a:buNone/>
            </a:pPr>
            <a:r>
              <a:rPr lang="en-US" sz="2100" b="1" dirty="0">
                <a:solidFill>
                  <a:srgbClr val="FBBF24"/>
                </a:solidFill>
                <a:latin typeface="Georgia" pitchFamily="34" charset="0"/>
                <a:ea typeface="Georgia" pitchFamily="34" charset="-122"/>
                <a:cs typeface="Georgia" pitchFamily="34" charset="-120"/>
              </a:rPr>
              <a:t>100k</a:t>
            </a:r>
            <a:endParaRPr lang="en-US" sz="2100" dirty="0"/>
          </a:p>
        </p:txBody>
      </p:sp>
      <p:sp>
        <p:nvSpPr>
          <p:cNvPr id="13" name="Text 11"/>
          <p:cNvSpPr/>
          <p:nvPr/>
        </p:nvSpPr>
        <p:spPr>
          <a:xfrm>
            <a:off x="2624328" y="4681728"/>
            <a:ext cx="1645920" cy="274320"/>
          </a:xfrm>
          <a:prstGeom prst="rect">
            <a:avLst/>
          </a:prstGeom>
          <a:noFill/>
          <a:ln/>
        </p:spPr>
        <p:txBody>
          <a:bodyPr wrap="square" lIns="0" tIns="0" rIns="0" bIns="0" rtlCol="0" anchor="ctr"/>
          <a:lstStyle/>
          <a:p>
            <a:pPr marL="0" indent="0">
              <a:buNone/>
            </a:pPr>
            <a:r>
              <a:rPr lang="en-US" sz="920" dirty="0">
                <a:solidFill>
                  <a:srgbClr val="9FBCC0"/>
                </a:solidFill>
                <a:latin typeface="Calibri" pitchFamily="34" charset="0"/>
                <a:ea typeface="Calibri" pitchFamily="34" charset="-122"/>
                <a:cs typeface="Calibri" pitchFamily="34" charset="-120"/>
              </a:rPr>
              <a:t>residents served</a:t>
            </a:r>
            <a:endParaRPr lang="en-US" sz="920" dirty="0"/>
          </a:p>
        </p:txBody>
      </p:sp>
      <p:sp>
        <p:nvSpPr>
          <p:cNvPr id="14" name="Shape 12"/>
          <p:cNvSpPr/>
          <p:nvPr/>
        </p:nvSpPr>
        <p:spPr>
          <a:xfrm>
            <a:off x="4389120" y="4297680"/>
            <a:ext cx="0" cy="713232"/>
          </a:xfrm>
          <a:prstGeom prst="line">
            <a:avLst/>
          </a:prstGeom>
          <a:noFill/>
          <a:ln w="12700">
            <a:solidFill>
              <a:srgbClr val="1C4250"/>
            </a:solidFill>
            <a:prstDash val="solid"/>
          </a:ln>
        </p:spPr>
        <p:txBody>
          <a:bodyPr/>
          <a:lstStyle/>
          <a:p>
            <a:endParaRPr lang="en-US"/>
          </a:p>
        </p:txBody>
      </p:sp>
      <p:sp>
        <p:nvSpPr>
          <p:cNvPr id="15" name="Text 13"/>
          <p:cNvSpPr/>
          <p:nvPr/>
        </p:nvSpPr>
        <p:spPr>
          <a:xfrm>
            <a:off x="4407408" y="4261104"/>
            <a:ext cx="1645920" cy="420624"/>
          </a:xfrm>
          <a:prstGeom prst="rect">
            <a:avLst/>
          </a:prstGeom>
          <a:noFill/>
          <a:ln/>
        </p:spPr>
        <p:txBody>
          <a:bodyPr wrap="square" lIns="0" tIns="0" rIns="0" bIns="0" rtlCol="0" anchor="ctr"/>
          <a:lstStyle/>
          <a:p>
            <a:pPr marL="0" indent="0">
              <a:buNone/>
            </a:pPr>
            <a:r>
              <a:rPr lang="en-US" sz="2100" b="1" dirty="0">
                <a:solidFill>
                  <a:srgbClr val="FBBF24"/>
                </a:solidFill>
                <a:latin typeface="Georgia" pitchFamily="34" charset="0"/>
                <a:ea typeface="Georgia" pitchFamily="34" charset="-122"/>
                <a:cs typeface="Georgia" pitchFamily="34" charset="-120"/>
              </a:rPr>
              <a:t>Turnkey</a:t>
            </a:r>
            <a:endParaRPr lang="en-US" sz="2100" dirty="0"/>
          </a:p>
        </p:txBody>
      </p:sp>
      <p:sp>
        <p:nvSpPr>
          <p:cNvPr id="16" name="Text 14"/>
          <p:cNvSpPr/>
          <p:nvPr/>
        </p:nvSpPr>
        <p:spPr>
          <a:xfrm>
            <a:off x="4407408" y="4681728"/>
            <a:ext cx="1645920" cy="274320"/>
          </a:xfrm>
          <a:prstGeom prst="rect">
            <a:avLst/>
          </a:prstGeom>
          <a:noFill/>
          <a:ln/>
        </p:spPr>
        <p:txBody>
          <a:bodyPr wrap="square" lIns="0" tIns="0" rIns="0" bIns="0" rtlCol="0" anchor="ctr"/>
          <a:lstStyle/>
          <a:p>
            <a:pPr marL="0" indent="0">
              <a:buNone/>
            </a:pPr>
            <a:r>
              <a:rPr lang="en-US" sz="920" dirty="0">
                <a:solidFill>
                  <a:srgbClr val="9FBCC0"/>
                </a:solidFill>
                <a:latin typeface="Calibri" pitchFamily="34" charset="0"/>
                <a:ea typeface="Calibri" pitchFamily="34" charset="-122"/>
                <a:cs typeface="Calibri" pitchFamily="34" charset="-120"/>
              </a:rPr>
              <a:t>BESPA contract</a:t>
            </a:r>
            <a:endParaRPr lang="en-US" sz="920" dirty="0"/>
          </a:p>
        </p:txBody>
      </p:sp>
      <p:sp>
        <p:nvSpPr>
          <p:cNvPr id="17" name="Text 15"/>
          <p:cNvSpPr/>
          <p:nvPr/>
        </p:nvSpPr>
        <p:spPr>
          <a:xfrm>
            <a:off x="841248" y="5138928"/>
            <a:ext cx="5349240" cy="868680"/>
          </a:xfrm>
          <a:prstGeom prst="rect">
            <a:avLst/>
          </a:prstGeom>
          <a:noFill/>
          <a:ln/>
        </p:spPr>
        <p:txBody>
          <a:bodyPr wrap="square" lIns="0" tIns="0" rIns="0" bIns="0" rtlCol="0" anchor="t"/>
          <a:lstStyle/>
          <a:p>
            <a:pPr marL="0" indent="0">
              <a:lnSpc>
                <a:spcPct val="100000"/>
              </a:lnSpc>
              <a:buNone/>
            </a:pPr>
            <a:r>
              <a:rPr lang="en-US" sz="1030" i="1" dirty="0">
                <a:solidFill>
                  <a:srgbClr val="BCD2D4"/>
                </a:solidFill>
                <a:latin typeface="Calibri" pitchFamily="34" charset="0"/>
                <a:ea typeface="Calibri" pitchFamily="34" charset="-122"/>
                <a:cs typeface="Calibri" pitchFamily="34" charset="-120"/>
              </a:rPr>
              <a:t>A replicable blueprint for urban, behind-the-substation storage — the template AmpereHour intends to scale nationwide.</a:t>
            </a:r>
            <a:endParaRPr lang="en-US" sz="1030" dirty="0"/>
          </a:p>
        </p:txBody>
      </p:sp>
      <p:sp>
        <p:nvSpPr>
          <p:cNvPr id="18" name="Shape 16"/>
          <p:cNvSpPr/>
          <p:nvPr/>
        </p:nvSpPr>
        <p:spPr>
          <a:xfrm>
            <a:off x="6629400" y="1517904"/>
            <a:ext cx="4995367" cy="1060704"/>
          </a:xfrm>
          <a:prstGeom prst="roundRect">
            <a:avLst>
              <a:gd name="adj" fmla="val 5172"/>
            </a:avLst>
          </a:prstGeom>
          <a:solidFill>
            <a:srgbClr val="F3F7F7"/>
          </a:solidFill>
          <a:ln w="12700">
            <a:solidFill>
              <a:srgbClr val="E3EAEC"/>
            </a:solidFill>
            <a:prstDash val="solid"/>
          </a:ln>
        </p:spPr>
        <p:txBody>
          <a:bodyPr/>
          <a:lstStyle/>
          <a:p>
            <a:endParaRPr lang="en-US"/>
          </a:p>
        </p:txBody>
      </p:sp>
      <p:sp>
        <p:nvSpPr>
          <p:cNvPr id="19" name="Shape 17"/>
          <p:cNvSpPr/>
          <p:nvPr/>
        </p:nvSpPr>
        <p:spPr>
          <a:xfrm>
            <a:off x="6629400" y="1517904"/>
            <a:ext cx="64008" cy="1060704"/>
          </a:xfrm>
          <a:prstGeom prst="rect">
            <a:avLst/>
          </a:prstGeom>
          <a:solidFill>
            <a:srgbClr val="0E7C77"/>
          </a:solidFill>
          <a:ln/>
        </p:spPr>
        <p:txBody>
          <a:bodyPr/>
          <a:lstStyle/>
          <a:p>
            <a:endParaRPr lang="en-US"/>
          </a:p>
        </p:txBody>
      </p:sp>
      <p:sp>
        <p:nvSpPr>
          <p:cNvPr id="20" name="Shape 18"/>
          <p:cNvSpPr/>
          <p:nvPr/>
        </p:nvSpPr>
        <p:spPr>
          <a:xfrm>
            <a:off x="6848856" y="1773936"/>
            <a:ext cx="548640" cy="548640"/>
          </a:xfrm>
          <a:prstGeom prst="ellipse">
            <a:avLst/>
          </a:prstGeom>
          <a:solidFill>
            <a:srgbClr val="0E7C77"/>
          </a:solidFill>
          <a:ln/>
        </p:spPr>
        <p:txBody>
          <a:bodyPr/>
          <a:lstStyle/>
          <a:p>
            <a:endParaRPr lang="en-US"/>
          </a:p>
        </p:txBody>
      </p:sp>
      <p:pic>
        <p:nvPicPr>
          <p:cNvPr id="21" name="Image 0" descr="preencoded.png"/>
          <p:cNvPicPr>
            <a:picLocks noChangeAspect="1"/>
          </p:cNvPicPr>
          <p:nvPr/>
        </p:nvPicPr>
        <p:blipFill>
          <a:blip r:embed="rId3"/>
          <a:stretch>
            <a:fillRect/>
          </a:stretch>
        </p:blipFill>
        <p:spPr>
          <a:xfrm>
            <a:off x="6991502" y="1916582"/>
            <a:ext cx="263347" cy="263347"/>
          </a:xfrm>
          <a:prstGeom prst="rect">
            <a:avLst/>
          </a:prstGeom>
        </p:spPr>
      </p:pic>
      <p:sp>
        <p:nvSpPr>
          <p:cNvPr id="22" name="Text 19"/>
          <p:cNvSpPr/>
          <p:nvPr/>
        </p:nvSpPr>
        <p:spPr>
          <a:xfrm>
            <a:off x="7543800" y="1636776"/>
            <a:ext cx="3898087" cy="292608"/>
          </a:xfrm>
          <a:prstGeom prst="rect">
            <a:avLst/>
          </a:prstGeom>
          <a:noFill/>
          <a:ln/>
        </p:spPr>
        <p:txBody>
          <a:bodyPr wrap="square" lIns="0" tIns="0" rIns="0" bIns="0" rtlCol="0" anchor="ctr"/>
          <a:lstStyle/>
          <a:p>
            <a:pPr marL="0" indent="0">
              <a:buNone/>
            </a:pPr>
            <a:r>
              <a:rPr lang="en-US" sz="1300" b="1" dirty="0">
                <a:solidFill>
                  <a:srgbClr val="15262F"/>
                </a:solidFill>
                <a:latin typeface="Georgia" pitchFamily="34" charset="0"/>
                <a:ea typeface="Georgia" pitchFamily="34" charset="-122"/>
                <a:cs typeface="Georgia" pitchFamily="34" charset="-120"/>
              </a:rPr>
              <a:t>Pipeline momentum</a:t>
            </a:r>
            <a:endParaRPr lang="en-US" sz="1300" dirty="0"/>
          </a:p>
        </p:txBody>
      </p:sp>
      <p:sp>
        <p:nvSpPr>
          <p:cNvPr id="23" name="Text 20"/>
          <p:cNvSpPr/>
          <p:nvPr/>
        </p:nvSpPr>
        <p:spPr>
          <a:xfrm>
            <a:off x="7543800" y="1929384"/>
            <a:ext cx="3879799" cy="603504"/>
          </a:xfrm>
          <a:prstGeom prst="rect">
            <a:avLst/>
          </a:prstGeom>
          <a:noFill/>
          <a:ln/>
        </p:spPr>
        <p:txBody>
          <a:bodyPr wrap="square" lIns="0" tIns="0" rIns="0" bIns="0" rtlCol="0" anchor="t"/>
          <a:lstStyle/>
          <a:p>
            <a:pPr marL="0" indent="0">
              <a:lnSpc>
                <a:spcPct val="96000"/>
              </a:lnSpc>
              <a:buNone/>
            </a:pPr>
            <a:r>
              <a:rPr lang="en-US" sz="990" dirty="0">
                <a:solidFill>
                  <a:srgbClr val="374952"/>
                </a:solidFill>
                <a:latin typeface="Calibri" pitchFamily="34" charset="0"/>
                <a:ea typeface="Calibri" pitchFamily="34" charset="-122"/>
                <a:cs typeface="Calibri" pitchFamily="34" charset="-120"/>
              </a:rPr>
              <a:t>~100 MWh commissioned and ~1 GWh contracted / under execution, including 180 MW/360 MWh and 250 MW/500 MWh projects.</a:t>
            </a:r>
            <a:endParaRPr lang="en-US" sz="990" dirty="0"/>
          </a:p>
        </p:txBody>
      </p:sp>
      <p:sp>
        <p:nvSpPr>
          <p:cNvPr id="24" name="Shape 21"/>
          <p:cNvSpPr/>
          <p:nvPr/>
        </p:nvSpPr>
        <p:spPr>
          <a:xfrm>
            <a:off x="6629400" y="2697480"/>
            <a:ext cx="4995367" cy="1060704"/>
          </a:xfrm>
          <a:prstGeom prst="roundRect">
            <a:avLst>
              <a:gd name="adj" fmla="val 5172"/>
            </a:avLst>
          </a:prstGeom>
          <a:solidFill>
            <a:srgbClr val="F3F7F7"/>
          </a:solidFill>
          <a:ln w="12700">
            <a:solidFill>
              <a:srgbClr val="E3EAEC"/>
            </a:solidFill>
            <a:prstDash val="solid"/>
          </a:ln>
        </p:spPr>
        <p:txBody>
          <a:bodyPr/>
          <a:lstStyle/>
          <a:p>
            <a:endParaRPr lang="en-US"/>
          </a:p>
        </p:txBody>
      </p:sp>
      <p:sp>
        <p:nvSpPr>
          <p:cNvPr id="25" name="Shape 22"/>
          <p:cNvSpPr/>
          <p:nvPr/>
        </p:nvSpPr>
        <p:spPr>
          <a:xfrm>
            <a:off x="6629400" y="2697480"/>
            <a:ext cx="64008" cy="1060704"/>
          </a:xfrm>
          <a:prstGeom prst="rect">
            <a:avLst/>
          </a:prstGeom>
          <a:solidFill>
            <a:srgbClr val="0E7C77"/>
          </a:solidFill>
          <a:ln/>
        </p:spPr>
        <p:txBody>
          <a:bodyPr/>
          <a:lstStyle/>
          <a:p>
            <a:endParaRPr lang="en-US"/>
          </a:p>
        </p:txBody>
      </p:sp>
      <p:sp>
        <p:nvSpPr>
          <p:cNvPr id="26" name="Shape 23"/>
          <p:cNvSpPr/>
          <p:nvPr/>
        </p:nvSpPr>
        <p:spPr>
          <a:xfrm>
            <a:off x="6848856" y="2953512"/>
            <a:ext cx="548640" cy="548640"/>
          </a:xfrm>
          <a:prstGeom prst="ellipse">
            <a:avLst/>
          </a:prstGeom>
          <a:solidFill>
            <a:srgbClr val="0E7C77"/>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6991502" y="3096158"/>
            <a:ext cx="263347" cy="263347"/>
          </a:xfrm>
          <a:prstGeom prst="rect">
            <a:avLst/>
          </a:prstGeom>
        </p:spPr>
      </p:pic>
      <p:sp>
        <p:nvSpPr>
          <p:cNvPr id="28" name="Text 24"/>
          <p:cNvSpPr/>
          <p:nvPr/>
        </p:nvSpPr>
        <p:spPr>
          <a:xfrm>
            <a:off x="7543800" y="2816352"/>
            <a:ext cx="3898087" cy="292608"/>
          </a:xfrm>
          <a:prstGeom prst="rect">
            <a:avLst/>
          </a:prstGeom>
          <a:noFill/>
          <a:ln/>
        </p:spPr>
        <p:txBody>
          <a:bodyPr wrap="square" lIns="0" tIns="0" rIns="0" bIns="0" rtlCol="0" anchor="ctr"/>
          <a:lstStyle/>
          <a:p>
            <a:pPr marL="0" indent="0">
              <a:buNone/>
            </a:pPr>
            <a:r>
              <a:rPr lang="en-US" sz="1300" b="1" dirty="0">
                <a:solidFill>
                  <a:srgbClr val="15262F"/>
                </a:solidFill>
                <a:latin typeface="Georgia" pitchFamily="34" charset="0"/>
                <a:ea typeface="Georgia" pitchFamily="34" charset="-122"/>
                <a:cs typeface="Georgia" pitchFamily="34" charset="-120"/>
              </a:rPr>
              <a:t>Blue-chip demand</a:t>
            </a:r>
            <a:endParaRPr lang="en-US" sz="1300" dirty="0"/>
          </a:p>
        </p:txBody>
      </p:sp>
      <p:sp>
        <p:nvSpPr>
          <p:cNvPr id="29" name="Text 25"/>
          <p:cNvSpPr/>
          <p:nvPr/>
        </p:nvSpPr>
        <p:spPr>
          <a:xfrm>
            <a:off x="7543800" y="3108960"/>
            <a:ext cx="3879799" cy="603504"/>
          </a:xfrm>
          <a:prstGeom prst="rect">
            <a:avLst/>
          </a:prstGeom>
          <a:noFill/>
          <a:ln/>
        </p:spPr>
        <p:txBody>
          <a:bodyPr wrap="square" lIns="0" tIns="0" rIns="0" bIns="0" rtlCol="0" anchor="t"/>
          <a:lstStyle/>
          <a:p>
            <a:pPr marL="0" indent="0">
              <a:lnSpc>
                <a:spcPct val="96000"/>
              </a:lnSpc>
              <a:buNone/>
            </a:pPr>
            <a:r>
              <a:rPr lang="en-US" sz="990" dirty="0">
                <a:solidFill>
                  <a:srgbClr val="374952"/>
                </a:solidFill>
                <a:latin typeface="Calibri" pitchFamily="34" charset="0"/>
                <a:ea typeface="Calibri" pitchFamily="34" charset="-122"/>
                <a:cs typeface="Calibri" pitchFamily="34" charset="-120"/>
              </a:rPr>
              <a:t>Amazon, Siemens, Coca-Cola, IndiGrid and Yellow Door (UAE) — enterprise validation across sectors.</a:t>
            </a:r>
            <a:endParaRPr lang="en-US" sz="990" dirty="0"/>
          </a:p>
        </p:txBody>
      </p:sp>
      <p:sp>
        <p:nvSpPr>
          <p:cNvPr id="30" name="Shape 26"/>
          <p:cNvSpPr/>
          <p:nvPr/>
        </p:nvSpPr>
        <p:spPr>
          <a:xfrm>
            <a:off x="6629400" y="3877056"/>
            <a:ext cx="4995367" cy="1060704"/>
          </a:xfrm>
          <a:prstGeom prst="roundRect">
            <a:avLst>
              <a:gd name="adj" fmla="val 5172"/>
            </a:avLst>
          </a:prstGeom>
          <a:solidFill>
            <a:srgbClr val="F3F7F7"/>
          </a:solidFill>
          <a:ln w="12700">
            <a:solidFill>
              <a:srgbClr val="E3EAEC"/>
            </a:solidFill>
            <a:prstDash val="solid"/>
          </a:ln>
        </p:spPr>
        <p:txBody>
          <a:bodyPr/>
          <a:lstStyle/>
          <a:p>
            <a:endParaRPr lang="en-US"/>
          </a:p>
        </p:txBody>
      </p:sp>
      <p:sp>
        <p:nvSpPr>
          <p:cNvPr id="31" name="Shape 27"/>
          <p:cNvSpPr/>
          <p:nvPr/>
        </p:nvSpPr>
        <p:spPr>
          <a:xfrm>
            <a:off x="6629400" y="3877056"/>
            <a:ext cx="64008" cy="1060704"/>
          </a:xfrm>
          <a:prstGeom prst="rect">
            <a:avLst/>
          </a:prstGeom>
          <a:solidFill>
            <a:srgbClr val="0E7C77"/>
          </a:solidFill>
          <a:ln/>
        </p:spPr>
        <p:txBody>
          <a:bodyPr/>
          <a:lstStyle/>
          <a:p>
            <a:endParaRPr lang="en-US"/>
          </a:p>
        </p:txBody>
      </p:sp>
      <p:sp>
        <p:nvSpPr>
          <p:cNvPr id="32" name="Shape 28"/>
          <p:cNvSpPr/>
          <p:nvPr/>
        </p:nvSpPr>
        <p:spPr>
          <a:xfrm>
            <a:off x="6848856" y="4133088"/>
            <a:ext cx="548640" cy="548640"/>
          </a:xfrm>
          <a:prstGeom prst="ellipse">
            <a:avLst/>
          </a:prstGeom>
          <a:solidFill>
            <a:srgbClr val="0E7C77"/>
          </a:solidFill>
          <a:ln/>
        </p:spPr>
        <p:txBody>
          <a:bodyPr/>
          <a:lstStyle/>
          <a:p>
            <a:endParaRPr lang="en-US"/>
          </a:p>
        </p:txBody>
      </p:sp>
      <p:pic>
        <p:nvPicPr>
          <p:cNvPr id="33" name="Image 2" descr="preencoded.png"/>
          <p:cNvPicPr>
            <a:picLocks noChangeAspect="1"/>
          </p:cNvPicPr>
          <p:nvPr/>
        </p:nvPicPr>
        <p:blipFill>
          <a:blip r:embed="rId5"/>
          <a:stretch>
            <a:fillRect/>
          </a:stretch>
        </p:blipFill>
        <p:spPr>
          <a:xfrm>
            <a:off x="6991502" y="4275734"/>
            <a:ext cx="263347" cy="263347"/>
          </a:xfrm>
          <a:prstGeom prst="rect">
            <a:avLst/>
          </a:prstGeom>
        </p:spPr>
      </p:pic>
      <p:sp>
        <p:nvSpPr>
          <p:cNvPr id="34" name="Text 29"/>
          <p:cNvSpPr/>
          <p:nvPr/>
        </p:nvSpPr>
        <p:spPr>
          <a:xfrm>
            <a:off x="7543800" y="3995928"/>
            <a:ext cx="3898087" cy="292608"/>
          </a:xfrm>
          <a:prstGeom prst="rect">
            <a:avLst/>
          </a:prstGeom>
          <a:noFill/>
          <a:ln/>
        </p:spPr>
        <p:txBody>
          <a:bodyPr wrap="square" lIns="0" tIns="0" rIns="0" bIns="0" rtlCol="0" anchor="ctr"/>
          <a:lstStyle/>
          <a:p>
            <a:pPr marL="0" indent="0">
              <a:buNone/>
            </a:pPr>
            <a:r>
              <a:rPr lang="en-US" sz="1300" b="1" dirty="0">
                <a:solidFill>
                  <a:srgbClr val="15262F"/>
                </a:solidFill>
                <a:latin typeface="Georgia" pitchFamily="34" charset="0"/>
                <a:ea typeface="Georgia" pitchFamily="34" charset="-122"/>
                <a:cs typeface="Georgia" pitchFamily="34" charset="-120"/>
              </a:rPr>
              <a:t>Multi-market reach</a:t>
            </a:r>
            <a:endParaRPr lang="en-US" sz="1300" dirty="0"/>
          </a:p>
        </p:txBody>
      </p:sp>
      <p:sp>
        <p:nvSpPr>
          <p:cNvPr id="35" name="Text 30"/>
          <p:cNvSpPr/>
          <p:nvPr/>
        </p:nvSpPr>
        <p:spPr>
          <a:xfrm>
            <a:off x="7543800" y="4288536"/>
            <a:ext cx="3879799" cy="603504"/>
          </a:xfrm>
          <a:prstGeom prst="rect">
            <a:avLst/>
          </a:prstGeom>
          <a:noFill/>
          <a:ln/>
        </p:spPr>
        <p:txBody>
          <a:bodyPr wrap="square" lIns="0" tIns="0" rIns="0" bIns="0" rtlCol="0" anchor="t"/>
          <a:lstStyle/>
          <a:p>
            <a:pPr marL="0" indent="0">
              <a:lnSpc>
                <a:spcPct val="96000"/>
              </a:lnSpc>
              <a:buNone/>
            </a:pPr>
            <a:r>
              <a:rPr lang="en-US" sz="990" dirty="0">
                <a:solidFill>
                  <a:srgbClr val="374952"/>
                </a:solidFill>
                <a:latin typeface="Calibri" pitchFamily="34" charset="0"/>
                <a:ea typeface="Calibri" pitchFamily="34" charset="-122"/>
                <a:cs typeface="Calibri" pitchFamily="34" charset="-120"/>
              </a:rPr>
              <a:t>50+ sites across India, the Middle East (Oman, UAE), Africa (Nigeria) and Europe (Belgium).</a:t>
            </a:r>
            <a:endParaRPr lang="en-US" sz="990" dirty="0"/>
          </a:p>
        </p:txBody>
      </p:sp>
      <p:sp>
        <p:nvSpPr>
          <p:cNvPr id="36" name="Shape 31"/>
          <p:cNvSpPr/>
          <p:nvPr/>
        </p:nvSpPr>
        <p:spPr>
          <a:xfrm>
            <a:off x="6629400" y="5056632"/>
            <a:ext cx="4995367" cy="1060704"/>
          </a:xfrm>
          <a:prstGeom prst="roundRect">
            <a:avLst>
              <a:gd name="adj" fmla="val 5172"/>
            </a:avLst>
          </a:prstGeom>
          <a:solidFill>
            <a:srgbClr val="F3F7F7"/>
          </a:solidFill>
          <a:ln w="12700">
            <a:solidFill>
              <a:srgbClr val="E3EAEC"/>
            </a:solidFill>
            <a:prstDash val="solid"/>
          </a:ln>
        </p:spPr>
        <p:txBody>
          <a:bodyPr/>
          <a:lstStyle/>
          <a:p>
            <a:endParaRPr lang="en-US"/>
          </a:p>
        </p:txBody>
      </p:sp>
      <p:sp>
        <p:nvSpPr>
          <p:cNvPr id="37" name="Shape 32"/>
          <p:cNvSpPr/>
          <p:nvPr/>
        </p:nvSpPr>
        <p:spPr>
          <a:xfrm>
            <a:off x="6629400" y="5056632"/>
            <a:ext cx="64008" cy="1060704"/>
          </a:xfrm>
          <a:prstGeom prst="rect">
            <a:avLst/>
          </a:prstGeom>
          <a:solidFill>
            <a:srgbClr val="F2A516"/>
          </a:solidFill>
          <a:ln/>
        </p:spPr>
        <p:txBody>
          <a:bodyPr/>
          <a:lstStyle/>
          <a:p>
            <a:endParaRPr lang="en-US"/>
          </a:p>
        </p:txBody>
      </p:sp>
      <p:sp>
        <p:nvSpPr>
          <p:cNvPr id="38" name="Shape 33"/>
          <p:cNvSpPr/>
          <p:nvPr/>
        </p:nvSpPr>
        <p:spPr>
          <a:xfrm>
            <a:off x="6848856" y="5312664"/>
            <a:ext cx="548640" cy="548640"/>
          </a:xfrm>
          <a:prstGeom prst="ellipse">
            <a:avLst/>
          </a:prstGeom>
          <a:solidFill>
            <a:srgbClr val="F2A516"/>
          </a:solidFill>
          <a:ln/>
        </p:spPr>
        <p:txBody>
          <a:bodyPr/>
          <a:lstStyle/>
          <a:p>
            <a:endParaRPr lang="en-US"/>
          </a:p>
        </p:txBody>
      </p:sp>
      <p:pic>
        <p:nvPicPr>
          <p:cNvPr id="39" name="Image 3" descr="preencoded.png"/>
          <p:cNvPicPr>
            <a:picLocks noChangeAspect="1"/>
          </p:cNvPicPr>
          <p:nvPr/>
        </p:nvPicPr>
        <p:blipFill>
          <a:blip r:embed="rId6"/>
          <a:stretch>
            <a:fillRect/>
          </a:stretch>
        </p:blipFill>
        <p:spPr>
          <a:xfrm>
            <a:off x="6991502" y="5455310"/>
            <a:ext cx="263347" cy="263347"/>
          </a:xfrm>
          <a:prstGeom prst="rect">
            <a:avLst/>
          </a:prstGeom>
        </p:spPr>
      </p:pic>
      <p:sp>
        <p:nvSpPr>
          <p:cNvPr id="40" name="Text 34"/>
          <p:cNvSpPr/>
          <p:nvPr/>
        </p:nvSpPr>
        <p:spPr>
          <a:xfrm>
            <a:off x="7543800" y="5175504"/>
            <a:ext cx="3898087" cy="292608"/>
          </a:xfrm>
          <a:prstGeom prst="rect">
            <a:avLst/>
          </a:prstGeom>
          <a:noFill/>
          <a:ln/>
        </p:spPr>
        <p:txBody>
          <a:bodyPr wrap="square" lIns="0" tIns="0" rIns="0" bIns="0" rtlCol="0" anchor="ctr"/>
          <a:lstStyle/>
          <a:p>
            <a:pPr marL="0" indent="0">
              <a:buNone/>
            </a:pPr>
            <a:r>
              <a:rPr lang="en-US" sz="1300" b="1" dirty="0">
                <a:solidFill>
                  <a:srgbClr val="15262F"/>
                </a:solidFill>
                <a:latin typeface="Georgia" pitchFamily="34" charset="0"/>
                <a:ea typeface="Georgia" pitchFamily="34" charset="-122"/>
                <a:cs typeface="Georgia" pitchFamily="34" charset="-120"/>
              </a:rPr>
              <a:t>Share leadership*</a:t>
            </a:r>
            <a:endParaRPr lang="en-US" sz="1300" dirty="0"/>
          </a:p>
        </p:txBody>
      </p:sp>
      <p:sp>
        <p:nvSpPr>
          <p:cNvPr id="41" name="Text 35"/>
          <p:cNvSpPr/>
          <p:nvPr/>
        </p:nvSpPr>
        <p:spPr>
          <a:xfrm>
            <a:off x="7543800" y="5468112"/>
            <a:ext cx="3879799" cy="603504"/>
          </a:xfrm>
          <a:prstGeom prst="rect">
            <a:avLst/>
          </a:prstGeom>
          <a:noFill/>
          <a:ln/>
        </p:spPr>
        <p:txBody>
          <a:bodyPr wrap="square" lIns="0" tIns="0" rIns="0" bIns="0" rtlCol="0" anchor="t"/>
          <a:lstStyle/>
          <a:p>
            <a:pPr marL="0" indent="0">
              <a:lnSpc>
                <a:spcPct val="96000"/>
              </a:lnSpc>
              <a:buNone/>
            </a:pPr>
            <a:r>
              <a:rPr lang="en-US" sz="990" dirty="0">
                <a:solidFill>
                  <a:srgbClr val="374952"/>
                </a:solidFill>
                <a:latin typeface="Calibri" pitchFamily="34" charset="0"/>
                <a:ea typeface="Calibri" pitchFamily="34" charset="-122"/>
                <a:cs typeface="Calibri" pitchFamily="34" charset="-120"/>
              </a:rPr>
              <a:t>Claims ~one-third of all BESS capacity contracted in India to date and 'India's #1 full-stack' position.</a:t>
            </a:r>
            <a:endParaRPr lang="en-US" sz="990" dirty="0"/>
          </a:p>
        </p:txBody>
      </p:sp>
      <p:sp>
        <p:nvSpPr>
          <p:cNvPr id="42" name="Text 36"/>
          <p:cNvSpPr/>
          <p:nvPr/>
        </p:nvSpPr>
        <p:spPr>
          <a:xfrm>
            <a:off x="566928" y="6473952"/>
            <a:ext cx="10241280" cy="228600"/>
          </a:xfrm>
          <a:prstGeom prst="rect">
            <a:avLst/>
          </a:prstGeom>
          <a:noFill/>
          <a:ln/>
        </p:spPr>
        <p:txBody>
          <a:bodyPr wrap="square" lIns="0" tIns="0" rIns="0" bIns="0" rtlCol="0" anchor="ctr"/>
          <a:lstStyle/>
          <a:p>
            <a:pPr marL="0" indent="0">
              <a:buNone/>
            </a:pPr>
            <a:r>
              <a:rPr lang="en-US" sz="750" i="1" dirty="0">
                <a:solidFill>
                  <a:srgbClr val="6E7F87"/>
                </a:solidFill>
                <a:latin typeface="Calibri" pitchFamily="34" charset="0"/>
                <a:ea typeface="Calibri" pitchFamily="34" charset="-122"/>
                <a:cs typeface="Calibri" pitchFamily="34" charset="-120"/>
              </a:rPr>
              <a:t>*Company / investor-reported share claims — to be independently validated against CEA / IESA / tender data in diligence.</a:t>
            </a:r>
            <a:endParaRPr lang="en-US" sz="750" dirty="0"/>
          </a:p>
        </p:txBody>
      </p:sp>
      <p:sp>
        <p:nvSpPr>
          <p:cNvPr id="43" name="Text 37"/>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09  ·  KEY RISKS</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What could break the thesis — and how we'd test it</a:t>
            </a:r>
            <a:endParaRPr lang="en-US" sz="2700" dirty="0"/>
          </a:p>
        </p:txBody>
      </p:sp>
      <p:sp>
        <p:nvSpPr>
          <p:cNvPr id="4" name="Shape 2"/>
          <p:cNvSpPr/>
          <p:nvPr/>
        </p:nvSpPr>
        <p:spPr>
          <a:xfrm>
            <a:off x="566928" y="1517904"/>
            <a:ext cx="3503066" cy="2121408"/>
          </a:xfrm>
          <a:prstGeom prst="roundRect">
            <a:avLst>
              <a:gd name="adj" fmla="val 2586"/>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5" name="Shape 3"/>
          <p:cNvSpPr/>
          <p:nvPr/>
        </p:nvSpPr>
        <p:spPr>
          <a:xfrm>
            <a:off x="786384" y="1737360"/>
            <a:ext cx="512064" cy="512064"/>
          </a:xfrm>
          <a:prstGeom prst="ellipse">
            <a:avLst/>
          </a:prstGeom>
          <a:solidFill>
            <a:srgbClr val="0E2A38"/>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919521" y="1870497"/>
            <a:ext cx="245791" cy="245791"/>
          </a:xfrm>
          <a:prstGeom prst="rect">
            <a:avLst/>
          </a:prstGeom>
        </p:spPr>
      </p:pic>
      <p:sp>
        <p:nvSpPr>
          <p:cNvPr id="7" name="Shape 4"/>
          <p:cNvSpPr/>
          <p:nvPr/>
        </p:nvSpPr>
        <p:spPr>
          <a:xfrm>
            <a:off x="3137306" y="1755648"/>
            <a:ext cx="713232" cy="292608"/>
          </a:xfrm>
          <a:prstGeom prst="roundRect">
            <a:avLst>
              <a:gd name="adj" fmla="val 50000"/>
            </a:avLst>
          </a:prstGeom>
          <a:solidFill>
            <a:srgbClr val="C2483B"/>
          </a:solidFill>
          <a:ln/>
        </p:spPr>
        <p:txBody>
          <a:bodyPr/>
          <a:lstStyle/>
          <a:p>
            <a:endParaRPr lang="en-US"/>
          </a:p>
        </p:txBody>
      </p:sp>
      <p:sp>
        <p:nvSpPr>
          <p:cNvPr id="8" name="Text 5"/>
          <p:cNvSpPr/>
          <p:nvPr/>
        </p:nvSpPr>
        <p:spPr>
          <a:xfrm>
            <a:off x="3137306" y="1755648"/>
            <a:ext cx="713232" cy="292608"/>
          </a:xfrm>
          <a:prstGeom prst="rect">
            <a:avLst/>
          </a:prstGeom>
          <a:noFill/>
          <a:ln/>
        </p:spPr>
        <p:txBody>
          <a:bodyPr wrap="square" lIns="0" tIns="0" rIns="0" bIns="0" rtlCol="0" anchor="ctr"/>
          <a:lstStyle/>
          <a:p>
            <a:pPr marL="0" indent="0" algn="ctr">
              <a:buNone/>
            </a:pPr>
            <a:r>
              <a:rPr lang="en-US" sz="850" b="1" kern="0" spc="80" dirty="0">
                <a:solidFill>
                  <a:srgbClr val="FFFFFF"/>
                </a:solidFill>
              </a:rPr>
              <a:t>HIGH</a:t>
            </a:r>
            <a:endParaRPr lang="en-US" sz="850" dirty="0"/>
          </a:p>
        </p:txBody>
      </p:sp>
      <p:sp>
        <p:nvSpPr>
          <p:cNvPr id="9" name="Text 6"/>
          <p:cNvSpPr/>
          <p:nvPr/>
        </p:nvSpPr>
        <p:spPr>
          <a:xfrm>
            <a:off x="786384" y="2304288"/>
            <a:ext cx="3082442" cy="457200"/>
          </a:xfrm>
          <a:prstGeom prst="rect">
            <a:avLst/>
          </a:prstGeom>
          <a:noFill/>
          <a:ln/>
        </p:spPr>
        <p:txBody>
          <a:bodyPr wrap="square" lIns="0" tIns="0" rIns="0" bIns="0" rtlCol="0" anchor="t"/>
          <a:lstStyle/>
          <a:p>
            <a:pPr marL="0" indent="0">
              <a:lnSpc>
                <a:spcPct val="92000"/>
              </a:lnSpc>
              <a:buNone/>
            </a:pPr>
            <a:r>
              <a:rPr lang="en-US" sz="1300" b="1" dirty="0">
                <a:solidFill>
                  <a:srgbClr val="15262F"/>
                </a:solidFill>
                <a:latin typeface="Georgia" pitchFamily="34" charset="0"/>
                <a:ea typeface="Georgia" pitchFamily="34" charset="-122"/>
                <a:cs typeface="Georgia" pitchFamily="34" charset="-120"/>
              </a:rPr>
              <a:t>Capital-depth mismatch</a:t>
            </a:r>
            <a:endParaRPr lang="en-US" sz="1300" dirty="0"/>
          </a:p>
        </p:txBody>
      </p:sp>
      <p:sp>
        <p:nvSpPr>
          <p:cNvPr id="10" name="Text 7"/>
          <p:cNvSpPr/>
          <p:nvPr/>
        </p:nvSpPr>
        <p:spPr>
          <a:xfrm>
            <a:off x="786384" y="2724912"/>
            <a:ext cx="3082442" cy="566928"/>
          </a:xfrm>
          <a:prstGeom prst="rect">
            <a:avLst/>
          </a:prstGeom>
          <a:noFill/>
          <a:ln/>
        </p:spPr>
        <p:txBody>
          <a:bodyPr wrap="square" lIns="0" tIns="0" rIns="0" bIns="0" rtlCol="0" anchor="t"/>
          <a:lstStyle/>
          <a:p>
            <a:pPr marL="0" indent="0">
              <a:lnSpc>
                <a:spcPct val="95000"/>
              </a:lnSpc>
              <a:buNone/>
            </a:pPr>
            <a:r>
              <a:rPr lang="en-US" sz="950" dirty="0">
                <a:solidFill>
                  <a:srgbClr val="374952"/>
                </a:solidFill>
                <a:latin typeface="Calibri" pitchFamily="34" charset="0"/>
                <a:ea typeface="Calibri" pitchFamily="34" charset="-122"/>
                <a:cs typeface="Calibri" pitchFamily="34" charset="-120"/>
              </a:rPr>
              <a:t>Turnkey BESS is working-capital heavy; ~$7M raised is thin against Adani/Tata/Reliance.</a:t>
            </a:r>
            <a:endParaRPr lang="en-US" sz="950" dirty="0"/>
          </a:p>
        </p:txBody>
      </p:sp>
      <p:sp>
        <p:nvSpPr>
          <p:cNvPr id="11" name="Text 8"/>
          <p:cNvSpPr/>
          <p:nvPr/>
        </p:nvSpPr>
        <p:spPr>
          <a:xfrm>
            <a:off x="786384" y="3273552"/>
            <a:ext cx="3082442" cy="329184"/>
          </a:xfrm>
          <a:prstGeom prst="rect">
            <a:avLst/>
          </a:prstGeom>
          <a:noFill/>
          <a:ln/>
        </p:spPr>
        <p:txBody>
          <a:bodyPr wrap="square" lIns="0" tIns="0" rIns="0" bIns="0" rtlCol="0" anchor="t"/>
          <a:lstStyle/>
          <a:p>
            <a:pPr marL="0" indent="0">
              <a:lnSpc>
                <a:spcPct val="92000"/>
              </a:lnSpc>
              <a:buNone/>
            </a:pPr>
            <a:r>
              <a:rPr lang="en-US" sz="880" b="1" dirty="0">
                <a:solidFill>
                  <a:srgbClr val="0E7C77"/>
                </a:solidFill>
                <a:latin typeface="Calibri" pitchFamily="34" charset="0"/>
                <a:ea typeface="Calibri" pitchFamily="34" charset="-122"/>
                <a:cs typeface="Calibri" pitchFamily="34" charset="-120"/>
              </a:rPr>
              <a:t>Test:  </a:t>
            </a:r>
            <a:r>
              <a:rPr lang="en-US" sz="880" i="1" dirty="0">
                <a:solidFill>
                  <a:srgbClr val="6E7F87"/>
                </a:solidFill>
                <a:latin typeface="Calibri" pitchFamily="34" charset="0"/>
                <a:ea typeface="Calibri" pitchFamily="34" charset="-122"/>
                <a:cs typeface="Calibri" pitchFamily="34" charset="-120"/>
              </a:rPr>
              <a:t>Capital plan; project-finance &amp; BESPA structures</a:t>
            </a:r>
            <a:endParaRPr lang="en-US" sz="880" dirty="0"/>
          </a:p>
        </p:txBody>
      </p:sp>
      <p:sp>
        <p:nvSpPr>
          <p:cNvPr id="12" name="Shape 9"/>
          <p:cNvSpPr/>
          <p:nvPr/>
        </p:nvSpPr>
        <p:spPr>
          <a:xfrm>
            <a:off x="4344314" y="1517904"/>
            <a:ext cx="3503066" cy="2121408"/>
          </a:xfrm>
          <a:prstGeom prst="roundRect">
            <a:avLst>
              <a:gd name="adj" fmla="val 2586"/>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13" name="Shape 10"/>
          <p:cNvSpPr/>
          <p:nvPr/>
        </p:nvSpPr>
        <p:spPr>
          <a:xfrm>
            <a:off x="4563770" y="1737360"/>
            <a:ext cx="512064" cy="512064"/>
          </a:xfrm>
          <a:prstGeom prst="ellipse">
            <a:avLst/>
          </a:prstGeom>
          <a:solidFill>
            <a:srgbClr val="0E2A38"/>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696907" y="1870497"/>
            <a:ext cx="245791" cy="245791"/>
          </a:xfrm>
          <a:prstGeom prst="rect">
            <a:avLst/>
          </a:prstGeom>
        </p:spPr>
      </p:pic>
      <p:sp>
        <p:nvSpPr>
          <p:cNvPr id="15" name="Shape 11"/>
          <p:cNvSpPr/>
          <p:nvPr/>
        </p:nvSpPr>
        <p:spPr>
          <a:xfrm>
            <a:off x="6914693" y="1755648"/>
            <a:ext cx="713232" cy="292608"/>
          </a:xfrm>
          <a:prstGeom prst="roundRect">
            <a:avLst>
              <a:gd name="adj" fmla="val 50000"/>
            </a:avLst>
          </a:prstGeom>
          <a:solidFill>
            <a:srgbClr val="C2483B"/>
          </a:solidFill>
          <a:ln/>
        </p:spPr>
        <p:txBody>
          <a:bodyPr/>
          <a:lstStyle/>
          <a:p>
            <a:endParaRPr lang="en-US"/>
          </a:p>
        </p:txBody>
      </p:sp>
      <p:sp>
        <p:nvSpPr>
          <p:cNvPr id="16" name="Text 12"/>
          <p:cNvSpPr/>
          <p:nvPr/>
        </p:nvSpPr>
        <p:spPr>
          <a:xfrm>
            <a:off x="6914693" y="1755648"/>
            <a:ext cx="713232" cy="292608"/>
          </a:xfrm>
          <a:prstGeom prst="rect">
            <a:avLst/>
          </a:prstGeom>
          <a:noFill/>
          <a:ln/>
        </p:spPr>
        <p:txBody>
          <a:bodyPr wrap="square" lIns="0" tIns="0" rIns="0" bIns="0" rtlCol="0" anchor="ctr"/>
          <a:lstStyle/>
          <a:p>
            <a:pPr marL="0" indent="0" algn="ctr">
              <a:buNone/>
            </a:pPr>
            <a:r>
              <a:rPr lang="en-US" sz="850" b="1" kern="0" spc="80" dirty="0">
                <a:solidFill>
                  <a:srgbClr val="FFFFFF"/>
                </a:solidFill>
              </a:rPr>
              <a:t>HIGH</a:t>
            </a:r>
            <a:endParaRPr lang="en-US" sz="850" dirty="0"/>
          </a:p>
        </p:txBody>
      </p:sp>
      <p:sp>
        <p:nvSpPr>
          <p:cNvPr id="17" name="Text 13"/>
          <p:cNvSpPr/>
          <p:nvPr/>
        </p:nvSpPr>
        <p:spPr>
          <a:xfrm>
            <a:off x="4563770" y="2304288"/>
            <a:ext cx="3082442" cy="457200"/>
          </a:xfrm>
          <a:prstGeom prst="rect">
            <a:avLst/>
          </a:prstGeom>
          <a:noFill/>
          <a:ln/>
        </p:spPr>
        <p:txBody>
          <a:bodyPr wrap="square" lIns="0" tIns="0" rIns="0" bIns="0" rtlCol="0" anchor="t"/>
          <a:lstStyle/>
          <a:p>
            <a:pPr marL="0" indent="0">
              <a:lnSpc>
                <a:spcPct val="92000"/>
              </a:lnSpc>
              <a:buNone/>
            </a:pPr>
            <a:r>
              <a:rPr lang="en-US" sz="1300" b="1" dirty="0">
                <a:solidFill>
                  <a:srgbClr val="15262F"/>
                </a:solidFill>
                <a:latin typeface="Georgia" pitchFamily="34" charset="0"/>
                <a:ea typeface="Georgia" pitchFamily="34" charset="-122"/>
                <a:cs typeface="Georgia" pitchFamily="34" charset="-120"/>
              </a:rPr>
              <a:t>Margin commoditisation</a:t>
            </a:r>
            <a:endParaRPr lang="en-US" sz="1300" dirty="0"/>
          </a:p>
        </p:txBody>
      </p:sp>
      <p:sp>
        <p:nvSpPr>
          <p:cNvPr id="18" name="Text 14"/>
          <p:cNvSpPr/>
          <p:nvPr/>
        </p:nvSpPr>
        <p:spPr>
          <a:xfrm>
            <a:off x="4563770" y="2724912"/>
            <a:ext cx="3082442" cy="566928"/>
          </a:xfrm>
          <a:prstGeom prst="rect">
            <a:avLst/>
          </a:prstGeom>
          <a:noFill/>
          <a:ln/>
        </p:spPr>
        <p:txBody>
          <a:bodyPr wrap="square" lIns="0" tIns="0" rIns="0" bIns="0" rtlCol="0" anchor="t"/>
          <a:lstStyle/>
          <a:p>
            <a:pPr marL="0" indent="0">
              <a:lnSpc>
                <a:spcPct val="95000"/>
              </a:lnSpc>
              <a:buNone/>
            </a:pPr>
            <a:r>
              <a:rPr lang="en-US" sz="950" dirty="0">
                <a:solidFill>
                  <a:srgbClr val="374952"/>
                </a:solidFill>
                <a:latin typeface="Calibri" pitchFamily="34" charset="0"/>
                <a:ea typeface="Calibri" pitchFamily="34" charset="-122"/>
                <a:cs typeface="Calibri" pitchFamily="34" charset="-120"/>
              </a:rPr>
              <a:t>Hardware is largely pass-through; if ELINA isn't sticky, integration margins compress.</a:t>
            </a:r>
            <a:endParaRPr lang="en-US" sz="950" dirty="0"/>
          </a:p>
        </p:txBody>
      </p:sp>
      <p:sp>
        <p:nvSpPr>
          <p:cNvPr id="19" name="Text 15"/>
          <p:cNvSpPr/>
          <p:nvPr/>
        </p:nvSpPr>
        <p:spPr>
          <a:xfrm>
            <a:off x="4563770" y="3273552"/>
            <a:ext cx="3082442" cy="329184"/>
          </a:xfrm>
          <a:prstGeom prst="rect">
            <a:avLst/>
          </a:prstGeom>
          <a:noFill/>
          <a:ln/>
        </p:spPr>
        <p:txBody>
          <a:bodyPr wrap="square" lIns="0" tIns="0" rIns="0" bIns="0" rtlCol="0" anchor="t"/>
          <a:lstStyle/>
          <a:p>
            <a:pPr marL="0" indent="0">
              <a:lnSpc>
                <a:spcPct val="92000"/>
              </a:lnSpc>
              <a:buNone/>
            </a:pPr>
            <a:r>
              <a:rPr lang="en-US" sz="880" b="1" dirty="0">
                <a:solidFill>
                  <a:srgbClr val="0E7C77"/>
                </a:solidFill>
                <a:latin typeface="Calibri" pitchFamily="34" charset="0"/>
                <a:ea typeface="Calibri" pitchFamily="34" charset="-122"/>
                <a:cs typeface="Calibri" pitchFamily="34" charset="-120"/>
              </a:rPr>
              <a:t>Test:  </a:t>
            </a:r>
            <a:r>
              <a:rPr lang="en-US" sz="880" i="1" dirty="0">
                <a:solidFill>
                  <a:srgbClr val="6E7F87"/>
                </a:solidFill>
                <a:latin typeface="Calibri" pitchFamily="34" charset="0"/>
                <a:ea typeface="Calibri" pitchFamily="34" charset="-122"/>
                <a:cs typeface="Calibri" pitchFamily="34" charset="-120"/>
              </a:rPr>
              <a:t>Software value-share &amp; gross-margin bridge</a:t>
            </a:r>
            <a:endParaRPr lang="en-US" sz="880" dirty="0"/>
          </a:p>
        </p:txBody>
      </p:sp>
      <p:sp>
        <p:nvSpPr>
          <p:cNvPr id="20" name="Shape 16"/>
          <p:cNvSpPr/>
          <p:nvPr/>
        </p:nvSpPr>
        <p:spPr>
          <a:xfrm>
            <a:off x="8121701" y="1517904"/>
            <a:ext cx="3503066" cy="2121408"/>
          </a:xfrm>
          <a:prstGeom prst="roundRect">
            <a:avLst>
              <a:gd name="adj" fmla="val 2586"/>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1" name="Shape 17"/>
          <p:cNvSpPr/>
          <p:nvPr/>
        </p:nvSpPr>
        <p:spPr>
          <a:xfrm>
            <a:off x="8341157" y="1737360"/>
            <a:ext cx="512064" cy="512064"/>
          </a:xfrm>
          <a:prstGeom prst="ellipse">
            <a:avLst/>
          </a:prstGeom>
          <a:solidFill>
            <a:srgbClr val="0E2A38"/>
          </a:solidFill>
          <a:ln/>
        </p:spPr>
        <p:txBody>
          <a:bodyPr/>
          <a:lstStyle/>
          <a:p>
            <a:endParaRPr lang="en-US"/>
          </a:p>
        </p:txBody>
      </p:sp>
      <p:pic>
        <p:nvPicPr>
          <p:cNvPr id="22" name="Image 2" descr="preencoded.png"/>
          <p:cNvPicPr>
            <a:picLocks noChangeAspect="1"/>
          </p:cNvPicPr>
          <p:nvPr/>
        </p:nvPicPr>
        <p:blipFill>
          <a:blip r:embed="rId5"/>
          <a:stretch>
            <a:fillRect/>
          </a:stretch>
        </p:blipFill>
        <p:spPr>
          <a:xfrm>
            <a:off x="8474293" y="1870497"/>
            <a:ext cx="245791" cy="245791"/>
          </a:xfrm>
          <a:prstGeom prst="rect">
            <a:avLst/>
          </a:prstGeom>
        </p:spPr>
      </p:pic>
      <p:sp>
        <p:nvSpPr>
          <p:cNvPr id="23" name="Shape 18"/>
          <p:cNvSpPr/>
          <p:nvPr/>
        </p:nvSpPr>
        <p:spPr>
          <a:xfrm>
            <a:off x="10692079" y="1755648"/>
            <a:ext cx="713232" cy="292608"/>
          </a:xfrm>
          <a:prstGeom prst="roundRect">
            <a:avLst>
              <a:gd name="adj" fmla="val 50000"/>
            </a:avLst>
          </a:prstGeom>
          <a:solidFill>
            <a:srgbClr val="F2A516"/>
          </a:solidFill>
          <a:ln/>
        </p:spPr>
        <p:txBody>
          <a:bodyPr/>
          <a:lstStyle/>
          <a:p>
            <a:endParaRPr lang="en-US"/>
          </a:p>
        </p:txBody>
      </p:sp>
      <p:sp>
        <p:nvSpPr>
          <p:cNvPr id="24" name="Text 19"/>
          <p:cNvSpPr/>
          <p:nvPr/>
        </p:nvSpPr>
        <p:spPr>
          <a:xfrm>
            <a:off x="10692079" y="1755648"/>
            <a:ext cx="713232" cy="292608"/>
          </a:xfrm>
          <a:prstGeom prst="rect">
            <a:avLst/>
          </a:prstGeom>
          <a:noFill/>
          <a:ln/>
        </p:spPr>
        <p:txBody>
          <a:bodyPr wrap="square" lIns="0" tIns="0" rIns="0" bIns="0" rtlCol="0" anchor="ctr"/>
          <a:lstStyle/>
          <a:p>
            <a:pPr marL="0" indent="0" algn="ctr">
              <a:buNone/>
            </a:pPr>
            <a:r>
              <a:rPr lang="en-US" sz="850" b="1" kern="0" spc="80" dirty="0">
                <a:solidFill>
                  <a:srgbClr val="FFFFFF"/>
                </a:solidFill>
              </a:rPr>
              <a:t>MED</a:t>
            </a:r>
            <a:endParaRPr lang="en-US" sz="850" dirty="0"/>
          </a:p>
        </p:txBody>
      </p:sp>
      <p:sp>
        <p:nvSpPr>
          <p:cNvPr id="25" name="Text 20"/>
          <p:cNvSpPr/>
          <p:nvPr/>
        </p:nvSpPr>
        <p:spPr>
          <a:xfrm>
            <a:off x="8341157" y="2304288"/>
            <a:ext cx="3082442" cy="457200"/>
          </a:xfrm>
          <a:prstGeom prst="rect">
            <a:avLst/>
          </a:prstGeom>
          <a:noFill/>
          <a:ln/>
        </p:spPr>
        <p:txBody>
          <a:bodyPr wrap="square" lIns="0" tIns="0" rIns="0" bIns="0" rtlCol="0" anchor="t"/>
          <a:lstStyle/>
          <a:p>
            <a:pPr marL="0" indent="0">
              <a:lnSpc>
                <a:spcPct val="92000"/>
              </a:lnSpc>
              <a:buNone/>
            </a:pPr>
            <a:r>
              <a:rPr lang="en-US" sz="1300" b="1" dirty="0">
                <a:solidFill>
                  <a:srgbClr val="15262F"/>
                </a:solidFill>
                <a:latin typeface="Georgia" pitchFamily="34" charset="0"/>
                <a:ea typeface="Georgia" pitchFamily="34" charset="-122"/>
                <a:cs typeface="Georgia" pitchFamily="34" charset="-120"/>
              </a:rPr>
              <a:t>Policy / tender dependence</a:t>
            </a:r>
            <a:endParaRPr lang="en-US" sz="1300" dirty="0"/>
          </a:p>
        </p:txBody>
      </p:sp>
      <p:sp>
        <p:nvSpPr>
          <p:cNvPr id="26" name="Text 21"/>
          <p:cNvSpPr/>
          <p:nvPr/>
        </p:nvSpPr>
        <p:spPr>
          <a:xfrm>
            <a:off x="8341157" y="2724912"/>
            <a:ext cx="3082442" cy="566928"/>
          </a:xfrm>
          <a:prstGeom prst="rect">
            <a:avLst/>
          </a:prstGeom>
          <a:noFill/>
          <a:ln/>
        </p:spPr>
        <p:txBody>
          <a:bodyPr wrap="square" lIns="0" tIns="0" rIns="0" bIns="0" rtlCol="0" anchor="t"/>
          <a:lstStyle/>
          <a:p>
            <a:pPr marL="0" indent="0">
              <a:lnSpc>
                <a:spcPct val="95000"/>
              </a:lnSpc>
              <a:buNone/>
            </a:pPr>
            <a:r>
              <a:rPr lang="en-US" sz="950" dirty="0">
                <a:solidFill>
                  <a:srgbClr val="374952"/>
                </a:solidFill>
                <a:latin typeface="Calibri" pitchFamily="34" charset="0"/>
                <a:ea typeface="Calibri" pitchFamily="34" charset="-122"/>
                <a:cs typeface="Calibri" pitchFamily="34" charset="-120"/>
              </a:rPr>
              <a:t>Demand is policy-driven; tenders have slipped/cancelled (e.g. SECI 1,000 MWh, Jan-25).</a:t>
            </a:r>
            <a:endParaRPr lang="en-US" sz="950" dirty="0"/>
          </a:p>
        </p:txBody>
      </p:sp>
      <p:sp>
        <p:nvSpPr>
          <p:cNvPr id="27" name="Text 22"/>
          <p:cNvSpPr/>
          <p:nvPr/>
        </p:nvSpPr>
        <p:spPr>
          <a:xfrm>
            <a:off x="8341157" y="3273552"/>
            <a:ext cx="3082442" cy="329184"/>
          </a:xfrm>
          <a:prstGeom prst="rect">
            <a:avLst/>
          </a:prstGeom>
          <a:noFill/>
          <a:ln/>
        </p:spPr>
        <p:txBody>
          <a:bodyPr wrap="square" lIns="0" tIns="0" rIns="0" bIns="0" rtlCol="0" anchor="t"/>
          <a:lstStyle/>
          <a:p>
            <a:pPr marL="0" indent="0">
              <a:lnSpc>
                <a:spcPct val="92000"/>
              </a:lnSpc>
              <a:buNone/>
            </a:pPr>
            <a:r>
              <a:rPr lang="en-US" sz="880" b="1" dirty="0">
                <a:solidFill>
                  <a:srgbClr val="0E7C77"/>
                </a:solidFill>
                <a:latin typeface="Calibri" pitchFamily="34" charset="0"/>
                <a:ea typeface="Calibri" pitchFamily="34" charset="-122"/>
                <a:cs typeface="Calibri" pitchFamily="34" charset="-120"/>
              </a:rPr>
              <a:t>Test:  </a:t>
            </a:r>
            <a:r>
              <a:rPr lang="en-US" sz="880" i="1" dirty="0">
                <a:solidFill>
                  <a:srgbClr val="6E7F87"/>
                </a:solidFill>
                <a:latin typeface="Calibri" pitchFamily="34" charset="0"/>
                <a:ea typeface="Calibri" pitchFamily="34" charset="-122"/>
                <a:cs typeface="Calibri" pitchFamily="34" charset="-120"/>
              </a:rPr>
              <a:t>Order-book quality, counterparty &amp; PPA status</a:t>
            </a:r>
            <a:endParaRPr lang="en-US" sz="880" dirty="0"/>
          </a:p>
        </p:txBody>
      </p:sp>
      <p:sp>
        <p:nvSpPr>
          <p:cNvPr id="28" name="Shape 23"/>
          <p:cNvSpPr/>
          <p:nvPr/>
        </p:nvSpPr>
        <p:spPr>
          <a:xfrm>
            <a:off x="566928" y="3877056"/>
            <a:ext cx="3503066" cy="2121408"/>
          </a:xfrm>
          <a:prstGeom prst="roundRect">
            <a:avLst>
              <a:gd name="adj" fmla="val 2586"/>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9" name="Shape 24"/>
          <p:cNvSpPr/>
          <p:nvPr/>
        </p:nvSpPr>
        <p:spPr>
          <a:xfrm>
            <a:off x="786384" y="4096512"/>
            <a:ext cx="512064" cy="512064"/>
          </a:xfrm>
          <a:prstGeom prst="ellipse">
            <a:avLst/>
          </a:prstGeom>
          <a:solidFill>
            <a:srgbClr val="0E2A38"/>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919521" y="4229649"/>
            <a:ext cx="245791" cy="245791"/>
          </a:xfrm>
          <a:prstGeom prst="rect">
            <a:avLst/>
          </a:prstGeom>
        </p:spPr>
      </p:pic>
      <p:sp>
        <p:nvSpPr>
          <p:cNvPr id="31" name="Shape 25"/>
          <p:cNvSpPr/>
          <p:nvPr/>
        </p:nvSpPr>
        <p:spPr>
          <a:xfrm>
            <a:off x="3137306" y="4114800"/>
            <a:ext cx="713232" cy="292608"/>
          </a:xfrm>
          <a:prstGeom prst="roundRect">
            <a:avLst>
              <a:gd name="adj" fmla="val 50000"/>
            </a:avLst>
          </a:prstGeom>
          <a:solidFill>
            <a:srgbClr val="F2A516"/>
          </a:solidFill>
          <a:ln/>
        </p:spPr>
        <p:txBody>
          <a:bodyPr/>
          <a:lstStyle/>
          <a:p>
            <a:endParaRPr lang="en-US"/>
          </a:p>
        </p:txBody>
      </p:sp>
      <p:sp>
        <p:nvSpPr>
          <p:cNvPr id="32" name="Text 26"/>
          <p:cNvSpPr/>
          <p:nvPr/>
        </p:nvSpPr>
        <p:spPr>
          <a:xfrm>
            <a:off x="3137306" y="4114800"/>
            <a:ext cx="713232" cy="292608"/>
          </a:xfrm>
          <a:prstGeom prst="rect">
            <a:avLst/>
          </a:prstGeom>
          <a:noFill/>
          <a:ln/>
        </p:spPr>
        <p:txBody>
          <a:bodyPr wrap="square" lIns="0" tIns="0" rIns="0" bIns="0" rtlCol="0" anchor="ctr"/>
          <a:lstStyle/>
          <a:p>
            <a:pPr marL="0" indent="0" algn="ctr">
              <a:buNone/>
            </a:pPr>
            <a:r>
              <a:rPr lang="en-US" sz="850" b="1" kern="0" spc="80" dirty="0">
                <a:solidFill>
                  <a:srgbClr val="FFFFFF"/>
                </a:solidFill>
              </a:rPr>
              <a:t>MED</a:t>
            </a:r>
            <a:endParaRPr lang="en-US" sz="850" dirty="0"/>
          </a:p>
        </p:txBody>
      </p:sp>
      <p:sp>
        <p:nvSpPr>
          <p:cNvPr id="33" name="Text 27"/>
          <p:cNvSpPr/>
          <p:nvPr/>
        </p:nvSpPr>
        <p:spPr>
          <a:xfrm>
            <a:off x="786384" y="4663440"/>
            <a:ext cx="3082442" cy="457200"/>
          </a:xfrm>
          <a:prstGeom prst="rect">
            <a:avLst/>
          </a:prstGeom>
          <a:noFill/>
          <a:ln/>
        </p:spPr>
        <p:txBody>
          <a:bodyPr wrap="square" lIns="0" tIns="0" rIns="0" bIns="0" rtlCol="0" anchor="t"/>
          <a:lstStyle/>
          <a:p>
            <a:pPr marL="0" indent="0">
              <a:lnSpc>
                <a:spcPct val="92000"/>
              </a:lnSpc>
              <a:buNone/>
            </a:pPr>
            <a:r>
              <a:rPr lang="en-US" sz="1300" b="1" dirty="0">
                <a:solidFill>
                  <a:srgbClr val="15262F"/>
                </a:solidFill>
                <a:latin typeface="Georgia" pitchFamily="34" charset="0"/>
                <a:ea typeface="Georgia" pitchFamily="34" charset="-122"/>
                <a:cs typeface="Georgia" pitchFamily="34" charset="-120"/>
              </a:rPr>
              <a:t>Customer concentration</a:t>
            </a:r>
            <a:endParaRPr lang="en-US" sz="1300" dirty="0"/>
          </a:p>
        </p:txBody>
      </p:sp>
      <p:sp>
        <p:nvSpPr>
          <p:cNvPr id="34" name="Text 28"/>
          <p:cNvSpPr/>
          <p:nvPr/>
        </p:nvSpPr>
        <p:spPr>
          <a:xfrm>
            <a:off x="786384" y="5084064"/>
            <a:ext cx="3082442" cy="566928"/>
          </a:xfrm>
          <a:prstGeom prst="rect">
            <a:avLst/>
          </a:prstGeom>
          <a:noFill/>
          <a:ln/>
        </p:spPr>
        <p:txBody>
          <a:bodyPr wrap="square" lIns="0" tIns="0" rIns="0" bIns="0" rtlCol="0" anchor="t"/>
          <a:lstStyle/>
          <a:p>
            <a:pPr marL="0" indent="0">
              <a:lnSpc>
                <a:spcPct val="95000"/>
              </a:lnSpc>
              <a:buNone/>
            </a:pPr>
            <a:r>
              <a:rPr lang="en-US" sz="950" dirty="0">
                <a:solidFill>
                  <a:srgbClr val="374952"/>
                </a:solidFill>
                <a:latin typeface="Calibri" pitchFamily="34" charset="0"/>
                <a:ea typeface="Calibri" pitchFamily="34" charset="-122"/>
                <a:cs typeface="Calibri" pitchFamily="34" charset="-120"/>
              </a:rPr>
              <a:t>Revenue tied to a few large utility projects — lumpy and timing-sensitive.</a:t>
            </a:r>
            <a:endParaRPr lang="en-US" sz="950" dirty="0"/>
          </a:p>
        </p:txBody>
      </p:sp>
      <p:sp>
        <p:nvSpPr>
          <p:cNvPr id="35" name="Text 29"/>
          <p:cNvSpPr/>
          <p:nvPr/>
        </p:nvSpPr>
        <p:spPr>
          <a:xfrm>
            <a:off x="786384" y="5632704"/>
            <a:ext cx="3082442" cy="329184"/>
          </a:xfrm>
          <a:prstGeom prst="rect">
            <a:avLst/>
          </a:prstGeom>
          <a:noFill/>
          <a:ln/>
        </p:spPr>
        <p:txBody>
          <a:bodyPr wrap="square" lIns="0" tIns="0" rIns="0" bIns="0" rtlCol="0" anchor="t"/>
          <a:lstStyle/>
          <a:p>
            <a:pPr marL="0" indent="0">
              <a:lnSpc>
                <a:spcPct val="92000"/>
              </a:lnSpc>
              <a:buNone/>
            </a:pPr>
            <a:r>
              <a:rPr lang="en-US" sz="880" b="1" dirty="0">
                <a:solidFill>
                  <a:srgbClr val="0E7C77"/>
                </a:solidFill>
                <a:latin typeface="Calibri" pitchFamily="34" charset="0"/>
                <a:ea typeface="Calibri" pitchFamily="34" charset="-122"/>
                <a:cs typeface="Calibri" pitchFamily="34" charset="-120"/>
              </a:rPr>
              <a:t>Test:  </a:t>
            </a:r>
            <a:r>
              <a:rPr lang="en-US" sz="880" i="1" dirty="0">
                <a:solidFill>
                  <a:srgbClr val="6E7F87"/>
                </a:solidFill>
                <a:latin typeface="Calibri" pitchFamily="34" charset="0"/>
                <a:ea typeface="Calibri" pitchFamily="34" charset="-122"/>
                <a:cs typeface="Calibri" pitchFamily="34" charset="-120"/>
              </a:rPr>
              <a:t>Contract mix; repeat-customer evidence</a:t>
            </a:r>
            <a:endParaRPr lang="en-US" sz="880" dirty="0"/>
          </a:p>
        </p:txBody>
      </p:sp>
      <p:sp>
        <p:nvSpPr>
          <p:cNvPr id="36" name="Shape 30"/>
          <p:cNvSpPr/>
          <p:nvPr/>
        </p:nvSpPr>
        <p:spPr>
          <a:xfrm>
            <a:off x="4344314" y="3877056"/>
            <a:ext cx="3503066" cy="2121408"/>
          </a:xfrm>
          <a:prstGeom prst="roundRect">
            <a:avLst>
              <a:gd name="adj" fmla="val 2586"/>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37" name="Shape 31"/>
          <p:cNvSpPr/>
          <p:nvPr/>
        </p:nvSpPr>
        <p:spPr>
          <a:xfrm>
            <a:off x="4563770" y="4096512"/>
            <a:ext cx="512064" cy="512064"/>
          </a:xfrm>
          <a:prstGeom prst="ellipse">
            <a:avLst/>
          </a:prstGeom>
          <a:solidFill>
            <a:srgbClr val="0E2A38"/>
          </a:solidFill>
          <a:ln/>
        </p:spPr>
        <p:txBody>
          <a:bodyPr/>
          <a:lstStyle/>
          <a:p>
            <a:endParaRPr lang="en-US"/>
          </a:p>
        </p:txBody>
      </p:sp>
      <p:pic>
        <p:nvPicPr>
          <p:cNvPr id="38" name="Image 4" descr="preencoded.png"/>
          <p:cNvPicPr>
            <a:picLocks noChangeAspect="1"/>
          </p:cNvPicPr>
          <p:nvPr/>
        </p:nvPicPr>
        <p:blipFill>
          <a:blip r:embed="rId7"/>
          <a:stretch>
            <a:fillRect/>
          </a:stretch>
        </p:blipFill>
        <p:spPr>
          <a:xfrm>
            <a:off x="4696907" y="4229649"/>
            <a:ext cx="245791" cy="245791"/>
          </a:xfrm>
          <a:prstGeom prst="rect">
            <a:avLst/>
          </a:prstGeom>
        </p:spPr>
      </p:pic>
      <p:sp>
        <p:nvSpPr>
          <p:cNvPr id="39" name="Shape 32"/>
          <p:cNvSpPr/>
          <p:nvPr/>
        </p:nvSpPr>
        <p:spPr>
          <a:xfrm>
            <a:off x="6914693" y="4114800"/>
            <a:ext cx="713232" cy="292608"/>
          </a:xfrm>
          <a:prstGeom prst="roundRect">
            <a:avLst>
              <a:gd name="adj" fmla="val 50000"/>
            </a:avLst>
          </a:prstGeom>
          <a:solidFill>
            <a:srgbClr val="F2A516"/>
          </a:solidFill>
          <a:ln/>
        </p:spPr>
        <p:txBody>
          <a:bodyPr/>
          <a:lstStyle/>
          <a:p>
            <a:endParaRPr lang="en-US"/>
          </a:p>
        </p:txBody>
      </p:sp>
      <p:sp>
        <p:nvSpPr>
          <p:cNvPr id="40" name="Text 33"/>
          <p:cNvSpPr/>
          <p:nvPr/>
        </p:nvSpPr>
        <p:spPr>
          <a:xfrm>
            <a:off x="6914693" y="4114800"/>
            <a:ext cx="713232" cy="292608"/>
          </a:xfrm>
          <a:prstGeom prst="rect">
            <a:avLst/>
          </a:prstGeom>
          <a:noFill/>
          <a:ln/>
        </p:spPr>
        <p:txBody>
          <a:bodyPr wrap="square" lIns="0" tIns="0" rIns="0" bIns="0" rtlCol="0" anchor="ctr"/>
          <a:lstStyle/>
          <a:p>
            <a:pPr marL="0" indent="0" algn="ctr">
              <a:buNone/>
            </a:pPr>
            <a:r>
              <a:rPr lang="en-US" sz="850" b="1" kern="0" spc="80" dirty="0">
                <a:solidFill>
                  <a:srgbClr val="FFFFFF"/>
                </a:solidFill>
              </a:rPr>
              <a:t>MED</a:t>
            </a:r>
            <a:endParaRPr lang="en-US" sz="850" dirty="0"/>
          </a:p>
        </p:txBody>
      </p:sp>
      <p:sp>
        <p:nvSpPr>
          <p:cNvPr id="41" name="Text 34"/>
          <p:cNvSpPr/>
          <p:nvPr/>
        </p:nvSpPr>
        <p:spPr>
          <a:xfrm>
            <a:off x="4563770" y="4663440"/>
            <a:ext cx="3082442" cy="457200"/>
          </a:xfrm>
          <a:prstGeom prst="rect">
            <a:avLst/>
          </a:prstGeom>
          <a:noFill/>
          <a:ln/>
        </p:spPr>
        <p:txBody>
          <a:bodyPr wrap="square" lIns="0" tIns="0" rIns="0" bIns="0" rtlCol="0" anchor="t"/>
          <a:lstStyle/>
          <a:p>
            <a:pPr marL="0" indent="0">
              <a:lnSpc>
                <a:spcPct val="92000"/>
              </a:lnSpc>
              <a:buNone/>
            </a:pPr>
            <a:r>
              <a:rPr lang="en-US" sz="1300" b="1" dirty="0">
                <a:solidFill>
                  <a:srgbClr val="15262F"/>
                </a:solidFill>
                <a:latin typeface="Georgia" pitchFamily="34" charset="0"/>
                <a:ea typeface="Georgia" pitchFamily="34" charset="-122"/>
                <a:cs typeface="Georgia" pitchFamily="34" charset="-120"/>
              </a:rPr>
              <a:t>Cell supply chain</a:t>
            </a:r>
            <a:endParaRPr lang="en-US" sz="1300" dirty="0"/>
          </a:p>
        </p:txBody>
      </p:sp>
      <p:sp>
        <p:nvSpPr>
          <p:cNvPr id="42" name="Text 35"/>
          <p:cNvSpPr/>
          <p:nvPr/>
        </p:nvSpPr>
        <p:spPr>
          <a:xfrm>
            <a:off x="4563770" y="5084064"/>
            <a:ext cx="3082442" cy="566928"/>
          </a:xfrm>
          <a:prstGeom prst="rect">
            <a:avLst/>
          </a:prstGeom>
          <a:noFill/>
          <a:ln/>
        </p:spPr>
        <p:txBody>
          <a:bodyPr wrap="square" lIns="0" tIns="0" rIns="0" bIns="0" rtlCol="0" anchor="t"/>
          <a:lstStyle/>
          <a:p>
            <a:pPr marL="0" indent="0">
              <a:lnSpc>
                <a:spcPct val="95000"/>
              </a:lnSpc>
              <a:buNone/>
            </a:pPr>
            <a:r>
              <a:rPr lang="en-US" sz="950" dirty="0">
                <a:solidFill>
                  <a:srgbClr val="374952"/>
                </a:solidFill>
                <a:latin typeface="Calibri" pitchFamily="34" charset="0"/>
                <a:ea typeface="Calibri" pitchFamily="34" charset="-122"/>
                <a:cs typeface="Calibri" pitchFamily="34" charset="-120"/>
              </a:rPr>
              <a:t>Lithium-cell pricing/availability dependent on China; localisation pressure.</a:t>
            </a:r>
            <a:endParaRPr lang="en-US" sz="950" dirty="0"/>
          </a:p>
        </p:txBody>
      </p:sp>
      <p:sp>
        <p:nvSpPr>
          <p:cNvPr id="43" name="Text 36"/>
          <p:cNvSpPr/>
          <p:nvPr/>
        </p:nvSpPr>
        <p:spPr>
          <a:xfrm>
            <a:off x="4563770" y="5632704"/>
            <a:ext cx="3082442" cy="329184"/>
          </a:xfrm>
          <a:prstGeom prst="rect">
            <a:avLst/>
          </a:prstGeom>
          <a:noFill/>
          <a:ln/>
        </p:spPr>
        <p:txBody>
          <a:bodyPr wrap="square" lIns="0" tIns="0" rIns="0" bIns="0" rtlCol="0" anchor="t"/>
          <a:lstStyle/>
          <a:p>
            <a:pPr marL="0" indent="0">
              <a:lnSpc>
                <a:spcPct val="92000"/>
              </a:lnSpc>
              <a:buNone/>
            </a:pPr>
            <a:r>
              <a:rPr lang="en-US" sz="880" b="1" dirty="0">
                <a:solidFill>
                  <a:srgbClr val="0E7C77"/>
                </a:solidFill>
                <a:latin typeface="Calibri" pitchFamily="34" charset="0"/>
                <a:ea typeface="Calibri" pitchFamily="34" charset="-122"/>
                <a:cs typeface="Calibri" pitchFamily="34" charset="-120"/>
              </a:rPr>
              <a:t>Test:  </a:t>
            </a:r>
            <a:r>
              <a:rPr lang="en-US" sz="880" i="1" dirty="0">
                <a:solidFill>
                  <a:srgbClr val="6E7F87"/>
                </a:solidFill>
                <a:latin typeface="Calibri" pitchFamily="34" charset="0"/>
                <a:ea typeface="Calibri" pitchFamily="34" charset="-122"/>
                <a:cs typeface="Calibri" pitchFamily="34" charset="-120"/>
              </a:rPr>
              <a:t>Sourcing strategy &amp; PLI participation</a:t>
            </a:r>
            <a:endParaRPr lang="en-US" sz="880" dirty="0"/>
          </a:p>
        </p:txBody>
      </p:sp>
      <p:sp>
        <p:nvSpPr>
          <p:cNvPr id="44" name="Shape 37"/>
          <p:cNvSpPr/>
          <p:nvPr/>
        </p:nvSpPr>
        <p:spPr>
          <a:xfrm>
            <a:off x="8121701" y="3877056"/>
            <a:ext cx="3503066" cy="2121408"/>
          </a:xfrm>
          <a:prstGeom prst="roundRect">
            <a:avLst>
              <a:gd name="adj" fmla="val 2586"/>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45" name="Shape 38"/>
          <p:cNvSpPr/>
          <p:nvPr/>
        </p:nvSpPr>
        <p:spPr>
          <a:xfrm>
            <a:off x="8341157" y="4096512"/>
            <a:ext cx="512064" cy="512064"/>
          </a:xfrm>
          <a:prstGeom prst="ellipse">
            <a:avLst/>
          </a:prstGeom>
          <a:solidFill>
            <a:srgbClr val="0E2A38"/>
          </a:solidFill>
          <a:ln/>
        </p:spPr>
        <p:txBody>
          <a:bodyPr/>
          <a:lstStyle/>
          <a:p>
            <a:endParaRPr lang="en-US"/>
          </a:p>
        </p:txBody>
      </p:sp>
      <p:pic>
        <p:nvPicPr>
          <p:cNvPr id="46" name="Image 5" descr="preencoded.png"/>
          <p:cNvPicPr>
            <a:picLocks noChangeAspect="1"/>
          </p:cNvPicPr>
          <p:nvPr/>
        </p:nvPicPr>
        <p:blipFill>
          <a:blip r:embed="rId8"/>
          <a:stretch>
            <a:fillRect/>
          </a:stretch>
        </p:blipFill>
        <p:spPr>
          <a:xfrm>
            <a:off x="8474293" y="4229649"/>
            <a:ext cx="245791" cy="245791"/>
          </a:xfrm>
          <a:prstGeom prst="rect">
            <a:avLst/>
          </a:prstGeom>
        </p:spPr>
      </p:pic>
      <p:sp>
        <p:nvSpPr>
          <p:cNvPr id="47" name="Shape 39"/>
          <p:cNvSpPr/>
          <p:nvPr/>
        </p:nvSpPr>
        <p:spPr>
          <a:xfrm>
            <a:off x="10692079" y="4114800"/>
            <a:ext cx="713232" cy="292608"/>
          </a:xfrm>
          <a:prstGeom prst="roundRect">
            <a:avLst>
              <a:gd name="adj" fmla="val 50000"/>
            </a:avLst>
          </a:prstGeom>
          <a:solidFill>
            <a:srgbClr val="F2A516"/>
          </a:solidFill>
          <a:ln/>
        </p:spPr>
        <p:txBody>
          <a:bodyPr/>
          <a:lstStyle/>
          <a:p>
            <a:endParaRPr lang="en-US"/>
          </a:p>
        </p:txBody>
      </p:sp>
      <p:sp>
        <p:nvSpPr>
          <p:cNvPr id="48" name="Text 40"/>
          <p:cNvSpPr/>
          <p:nvPr/>
        </p:nvSpPr>
        <p:spPr>
          <a:xfrm>
            <a:off x="10692079" y="4114800"/>
            <a:ext cx="713232" cy="292608"/>
          </a:xfrm>
          <a:prstGeom prst="rect">
            <a:avLst/>
          </a:prstGeom>
          <a:noFill/>
          <a:ln/>
        </p:spPr>
        <p:txBody>
          <a:bodyPr wrap="square" lIns="0" tIns="0" rIns="0" bIns="0" rtlCol="0" anchor="ctr"/>
          <a:lstStyle/>
          <a:p>
            <a:pPr marL="0" indent="0" algn="ctr">
              <a:buNone/>
            </a:pPr>
            <a:r>
              <a:rPr lang="en-US" sz="850" b="1" kern="0" spc="80" dirty="0">
                <a:solidFill>
                  <a:srgbClr val="FFFFFF"/>
                </a:solidFill>
              </a:rPr>
              <a:t>MED</a:t>
            </a:r>
            <a:endParaRPr lang="en-US" sz="850" dirty="0"/>
          </a:p>
        </p:txBody>
      </p:sp>
      <p:sp>
        <p:nvSpPr>
          <p:cNvPr id="49" name="Text 41"/>
          <p:cNvSpPr/>
          <p:nvPr/>
        </p:nvSpPr>
        <p:spPr>
          <a:xfrm>
            <a:off x="8341157" y="4663440"/>
            <a:ext cx="3082442" cy="457200"/>
          </a:xfrm>
          <a:prstGeom prst="rect">
            <a:avLst/>
          </a:prstGeom>
          <a:noFill/>
          <a:ln/>
        </p:spPr>
        <p:txBody>
          <a:bodyPr wrap="square" lIns="0" tIns="0" rIns="0" bIns="0" rtlCol="0" anchor="t"/>
          <a:lstStyle/>
          <a:p>
            <a:pPr marL="0" indent="0">
              <a:lnSpc>
                <a:spcPct val="92000"/>
              </a:lnSpc>
              <a:buNone/>
            </a:pPr>
            <a:r>
              <a:rPr lang="en-US" sz="1300" b="1" dirty="0">
                <a:solidFill>
                  <a:srgbClr val="15262F"/>
                </a:solidFill>
                <a:latin typeface="Georgia" pitchFamily="34" charset="0"/>
                <a:ea typeface="Georgia" pitchFamily="34" charset="-122"/>
                <a:cs typeface="Georgia" pitchFamily="34" charset="-120"/>
              </a:rPr>
              <a:t>Execution at GWh scale</a:t>
            </a:r>
            <a:endParaRPr lang="en-US" sz="1300" dirty="0"/>
          </a:p>
        </p:txBody>
      </p:sp>
      <p:sp>
        <p:nvSpPr>
          <p:cNvPr id="50" name="Text 42"/>
          <p:cNvSpPr/>
          <p:nvPr/>
        </p:nvSpPr>
        <p:spPr>
          <a:xfrm>
            <a:off x="8341157" y="5084064"/>
            <a:ext cx="3082442" cy="566928"/>
          </a:xfrm>
          <a:prstGeom prst="rect">
            <a:avLst/>
          </a:prstGeom>
          <a:noFill/>
          <a:ln/>
        </p:spPr>
        <p:txBody>
          <a:bodyPr wrap="square" lIns="0" tIns="0" rIns="0" bIns="0" rtlCol="0" anchor="t"/>
          <a:lstStyle/>
          <a:p>
            <a:pPr marL="0" indent="0">
              <a:lnSpc>
                <a:spcPct val="95000"/>
              </a:lnSpc>
              <a:buNone/>
            </a:pPr>
            <a:r>
              <a:rPr lang="en-US" sz="950" dirty="0">
                <a:solidFill>
                  <a:srgbClr val="374952"/>
                </a:solidFill>
                <a:latin typeface="Calibri" pitchFamily="34" charset="0"/>
                <a:ea typeface="Calibri" pitchFamily="34" charset="-122"/>
                <a:cs typeface="Calibri" pitchFamily="34" charset="-120"/>
              </a:rPr>
              <a:t>Leap from ~100 MWh to GWh delivery strains ops, safety and the org.</a:t>
            </a:r>
            <a:endParaRPr lang="en-US" sz="950" dirty="0"/>
          </a:p>
        </p:txBody>
      </p:sp>
      <p:sp>
        <p:nvSpPr>
          <p:cNvPr id="51" name="Text 43"/>
          <p:cNvSpPr/>
          <p:nvPr/>
        </p:nvSpPr>
        <p:spPr>
          <a:xfrm>
            <a:off x="8341157" y="5632704"/>
            <a:ext cx="3082442" cy="329184"/>
          </a:xfrm>
          <a:prstGeom prst="rect">
            <a:avLst/>
          </a:prstGeom>
          <a:noFill/>
          <a:ln/>
        </p:spPr>
        <p:txBody>
          <a:bodyPr wrap="square" lIns="0" tIns="0" rIns="0" bIns="0" rtlCol="0" anchor="t"/>
          <a:lstStyle/>
          <a:p>
            <a:pPr marL="0" indent="0">
              <a:lnSpc>
                <a:spcPct val="92000"/>
              </a:lnSpc>
              <a:buNone/>
            </a:pPr>
            <a:r>
              <a:rPr lang="en-US" sz="880" b="1" dirty="0">
                <a:solidFill>
                  <a:srgbClr val="0E7C77"/>
                </a:solidFill>
                <a:latin typeface="Calibri" pitchFamily="34" charset="0"/>
                <a:ea typeface="Calibri" pitchFamily="34" charset="-122"/>
                <a:cs typeface="Calibri" pitchFamily="34" charset="-120"/>
              </a:rPr>
              <a:t>Test:  </a:t>
            </a:r>
            <a:r>
              <a:rPr lang="en-US" sz="880" i="1" dirty="0">
                <a:solidFill>
                  <a:srgbClr val="6E7F87"/>
                </a:solidFill>
                <a:latin typeface="Calibri" pitchFamily="34" charset="0"/>
                <a:ea typeface="Calibri" pitchFamily="34" charset="-122"/>
                <a:cs typeface="Calibri" pitchFamily="34" charset="-120"/>
              </a:rPr>
              <a:t>Delivery track record; team depth; QA/safety</a:t>
            </a:r>
            <a:endParaRPr lang="en-US" sz="880" dirty="0"/>
          </a:p>
        </p:txBody>
      </p:sp>
      <p:sp>
        <p:nvSpPr>
          <p:cNvPr id="52" name="Text 44"/>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6E7F87"/>
                </a:solidFill>
                <a:latin typeface="Calibri" pitchFamily="34" charset="0"/>
                <a:ea typeface="Calibri" pitchFamily="34" charset="-122"/>
                <a:cs typeface="Calibri" pitchFamily="34" charset="-120"/>
              </a:rPr>
              <a:t>AmpereHour Energy  ·  Investment Thesis</a:t>
            </a:r>
            <a:endParaRPr lang="en-US" sz="850" dirty="0"/>
          </a:p>
        </p:txBody>
      </p:sp>
      <p:sp>
        <p:nvSpPr>
          <p:cNvPr id="53" name="Text 45"/>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10  ·  INVESTMENT RECOMMENDATION</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Would we invest? Conditional yes.</a:t>
            </a:r>
            <a:endParaRPr lang="en-US" sz="2700" dirty="0"/>
          </a:p>
        </p:txBody>
      </p:sp>
      <p:sp>
        <p:nvSpPr>
          <p:cNvPr id="4" name="Shape 2"/>
          <p:cNvSpPr/>
          <p:nvPr/>
        </p:nvSpPr>
        <p:spPr>
          <a:xfrm>
            <a:off x="566928" y="1481328"/>
            <a:ext cx="11057839" cy="1024128"/>
          </a:xfrm>
          <a:prstGeom prst="roundRect">
            <a:avLst>
              <a:gd name="adj" fmla="val 6250"/>
            </a:avLst>
          </a:prstGeom>
          <a:solidFill>
            <a:srgbClr val="0E7C77"/>
          </a:solidFill>
          <a:ln/>
          <a:effectLst>
            <a:outerShdw blurRad="114300" dist="38100" dir="8100000" algn="bl" rotWithShape="0">
              <a:srgbClr val="0E2A38">
                <a:alpha val="13000"/>
              </a:srgbClr>
            </a:outerShdw>
          </a:effectLst>
        </p:spPr>
        <p:txBody>
          <a:bodyPr/>
          <a:lstStyle/>
          <a:p>
            <a:endParaRPr lang="en-US"/>
          </a:p>
        </p:txBody>
      </p:sp>
      <p:sp>
        <p:nvSpPr>
          <p:cNvPr id="5" name="Shape 3"/>
          <p:cNvSpPr/>
          <p:nvPr/>
        </p:nvSpPr>
        <p:spPr>
          <a:xfrm>
            <a:off x="859536" y="1682496"/>
            <a:ext cx="640080" cy="640080"/>
          </a:xfrm>
          <a:prstGeom prst="ellipse">
            <a:avLst/>
          </a:prstGeom>
          <a:solidFill>
            <a:srgbClr val="F2A516"/>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25957" y="1848917"/>
            <a:ext cx="307238" cy="307238"/>
          </a:xfrm>
          <a:prstGeom prst="rect">
            <a:avLst/>
          </a:prstGeom>
        </p:spPr>
      </p:pic>
      <p:sp>
        <p:nvSpPr>
          <p:cNvPr id="7" name="Text 4"/>
          <p:cNvSpPr/>
          <p:nvPr/>
        </p:nvSpPr>
        <p:spPr>
          <a:xfrm>
            <a:off x="1709928" y="1481328"/>
            <a:ext cx="9686239" cy="1024128"/>
          </a:xfrm>
          <a:prstGeom prst="rect">
            <a:avLst/>
          </a:prstGeom>
          <a:noFill/>
          <a:ln/>
        </p:spPr>
        <p:txBody>
          <a:bodyPr wrap="square" lIns="0" tIns="0" rIns="0" bIns="0" rtlCol="0" anchor="ctr"/>
          <a:lstStyle/>
          <a:p>
            <a:pPr marL="0" indent="0">
              <a:lnSpc>
                <a:spcPct val="100000"/>
              </a:lnSpc>
              <a:buNone/>
            </a:pPr>
            <a:r>
              <a:rPr lang="en-US" sz="1650" b="1" dirty="0">
                <a:solidFill>
                  <a:srgbClr val="FFFFFF"/>
                </a:solidFill>
              </a:rPr>
              <a:t>PROCEED TO DILIGENCE WITH CONVICTION   </a:t>
            </a:r>
            <a:r>
              <a:rPr lang="en-US" sz="1200" dirty="0">
                <a:solidFill>
                  <a:srgbClr val="E2F1F0"/>
                </a:solidFill>
              </a:rPr>
              <a:t>— best framed as a Series B entry, milestone-gated, with pro-rata &amp; information rights.</a:t>
            </a:r>
            <a:endParaRPr lang="en-US" sz="1650" dirty="0"/>
          </a:p>
        </p:txBody>
      </p:sp>
      <p:sp>
        <p:nvSpPr>
          <p:cNvPr id="8" name="Shape 5"/>
          <p:cNvSpPr/>
          <p:nvPr/>
        </p:nvSpPr>
        <p:spPr>
          <a:xfrm>
            <a:off x="566928" y="2688336"/>
            <a:ext cx="5368900" cy="2788920"/>
          </a:xfrm>
          <a:prstGeom prst="roundRect">
            <a:avLst>
              <a:gd name="adj" fmla="val 1967"/>
            </a:avLst>
          </a:prstGeom>
          <a:solidFill>
            <a:srgbClr val="EAF5F0"/>
          </a:solidFill>
          <a:ln w="15240">
            <a:solidFill>
              <a:srgbClr val="BFE0D2"/>
            </a:solidFill>
            <a:prstDash val="solid"/>
          </a:ln>
        </p:spPr>
        <p:txBody>
          <a:bodyPr/>
          <a:lstStyle/>
          <a:p>
            <a:endParaRPr lang="en-US"/>
          </a:p>
        </p:txBody>
      </p:sp>
      <p:sp>
        <p:nvSpPr>
          <p:cNvPr id="9" name="Shape 6"/>
          <p:cNvSpPr/>
          <p:nvPr/>
        </p:nvSpPr>
        <p:spPr>
          <a:xfrm>
            <a:off x="804672" y="2889504"/>
            <a:ext cx="512064" cy="512064"/>
          </a:xfrm>
          <a:prstGeom prst="ellipse">
            <a:avLst/>
          </a:prstGeom>
          <a:solidFill>
            <a:srgbClr val="2E8B6B"/>
          </a:solidFill>
          <a:ln/>
        </p:spPr>
        <p:txBody>
          <a:bodyPr/>
          <a:lstStyle/>
          <a:p>
            <a:endParaRPr lang="en-US"/>
          </a:p>
        </p:txBody>
      </p:sp>
      <p:pic>
        <p:nvPicPr>
          <p:cNvPr id="10" name="Image 1" descr="preencoded.png"/>
          <p:cNvPicPr>
            <a:picLocks noChangeAspect="1"/>
          </p:cNvPicPr>
          <p:nvPr/>
        </p:nvPicPr>
        <p:blipFill>
          <a:blip r:embed="rId3"/>
          <a:stretch>
            <a:fillRect/>
          </a:stretch>
        </p:blipFill>
        <p:spPr>
          <a:xfrm>
            <a:off x="937809" y="3022641"/>
            <a:ext cx="245791" cy="245791"/>
          </a:xfrm>
          <a:prstGeom prst="rect">
            <a:avLst/>
          </a:prstGeom>
        </p:spPr>
      </p:pic>
      <p:sp>
        <p:nvSpPr>
          <p:cNvPr id="11" name="Text 7"/>
          <p:cNvSpPr/>
          <p:nvPr/>
        </p:nvSpPr>
        <p:spPr>
          <a:xfrm>
            <a:off x="1444752" y="2889504"/>
            <a:ext cx="4271620" cy="512064"/>
          </a:xfrm>
          <a:prstGeom prst="rect">
            <a:avLst/>
          </a:prstGeom>
          <a:noFill/>
          <a:ln/>
        </p:spPr>
        <p:txBody>
          <a:bodyPr wrap="square" lIns="0" tIns="0" rIns="0" bIns="0" rtlCol="0" anchor="ctr"/>
          <a:lstStyle/>
          <a:p>
            <a:pPr marL="0" indent="0">
              <a:buNone/>
            </a:pPr>
            <a:r>
              <a:rPr lang="en-US" sz="1450" b="1" dirty="0">
                <a:solidFill>
                  <a:srgbClr val="1F6B4F"/>
                </a:solidFill>
                <a:latin typeface="Georgia" pitchFamily="34" charset="0"/>
                <a:ea typeface="Georgia" pitchFamily="34" charset="-122"/>
                <a:cs typeface="Georgia" pitchFamily="34" charset="-120"/>
              </a:rPr>
              <a:t>Why we'd lean in</a:t>
            </a:r>
            <a:endParaRPr lang="en-US" sz="1450" dirty="0"/>
          </a:p>
        </p:txBody>
      </p:sp>
      <p:sp>
        <p:nvSpPr>
          <p:cNvPr id="12" name="Text 8"/>
          <p:cNvSpPr/>
          <p:nvPr/>
        </p:nvSpPr>
        <p:spPr>
          <a:xfrm>
            <a:off x="841248" y="3456432"/>
            <a:ext cx="4856836" cy="1920240"/>
          </a:xfrm>
          <a:prstGeom prst="rect">
            <a:avLst/>
          </a:prstGeom>
          <a:noFill/>
          <a:ln/>
        </p:spPr>
        <p:txBody>
          <a:bodyPr wrap="square" lIns="0" tIns="0" rIns="0" bIns="0" rtlCol="0" anchor="t"/>
          <a:lstStyle/>
          <a:p>
            <a:pPr marL="177800" indent="-177800">
              <a:lnSpc>
                <a:spcPct val="100000"/>
              </a:lnSpc>
              <a:spcAft>
                <a:spcPts val="700"/>
              </a:spcAft>
              <a:buSzPct val="100000"/>
              <a:buChar char="•"/>
            </a:pPr>
            <a:r>
              <a:rPr lang="en-US" sz="1060" dirty="0">
                <a:solidFill>
                  <a:srgbClr val="27543F"/>
                </a:solidFill>
                <a:latin typeface="Calibri" pitchFamily="34" charset="0"/>
                <a:ea typeface="Calibri" pitchFamily="34" charset="-122"/>
                <a:cs typeface="Calibri" pitchFamily="34" charset="-120"/>
              </a:rPr>
              <a:t>Secular, policy-underwritten demand — a &gt;450x build-out to FY32</a:t>
            </a:r>
            <a:endParaRPr lang="en-US" sz="1060" dirty="0"/>
          </a:p>
          <a:p>
            <a:pPr marL="177800" indent="-177800">
              <a:lnSpc>
                <a:spcPct val="100000"/>
              </a:lnSpc>
              <a:spcAft>
                <a:spcPts val="700"/>
              </a:spcAft>
              <a:buSzPct val="100000"/>
              <a:buChar char="•"/>
            </a:pPr>
            <a:r>
              <a:rPr lang="en-US" sz="1060" dirty="0">
                <a:solidFill>
                  <a:srgbClr val="27543F"/>
                </a:solidFill>
                <a:latin typeface="Calibri" pitchFamily="34" charset="0"/>
                <a:ea typeface="Calibri" pitchFamily="34" charset="-122"/>
                <a:cs typeface="Calibri" pitchFamily="34" charset="-120"/>
              </a:rPr>
              <a:t>Differentiated asset-light, software-led model that can scale fast</a:t>
            </a:r>
            <a:endParaRPr lang="en-US" sz="1060" dirty="0"/>
          </a:p>
          <a:p>
            <a:pPr marL="177800" indent="-177800">
              <a:lnSpc>
                <a:spcPct val="100000"/>
              </a:lnSpc>
              <a:spcAft>
                <a:spcPts val="700"/>
              </a:spcAft>
              <a:buSzPct val="100000"/>
              <a:buChar char="•"/>
            </a:pPr>
            <a:r>
              <a:rPr lang="en-US" sz="1060" dirty="0">
                <a:solidFill>
                  <a:srgbClr val="27543F"/>
                </a:solidFill>
                <a:latin typeface="Calibri" pitchFamily="34" charset="0"/>
                <a:ea typeface="Calibri" pitchFamily="34" charset="-122"/>
                <a:cs typeface="Calibri" pitchFamily="34" charset="-120"/>
              </a:rPr>
              <a:t>Credible early leadership and a first-of-kind regulatory milestone</a:t>
            </a:r>
            <a:endParaRPr lang="en-US" sz="1060" dirty="0"/>
          </a:p>
          <a:p>
            <a:pPr marL="177800" indent="-177800">
              <a:lnSpc>
                <a:spcPct val="100000"/>
              </a:lnSpc>
              <a:spcAft>
                <a:spcPts val="700"/>
              </a:spcAft>
              <a:buSzPct val="100000"/>
              <a:buChar char="•"/>
            </a:pPr>
            <a:r>
              <a:rPr lang="en-US" sz="1060" dirty="0">
                <a:solidFill>
                  <a:srgbClr val="27543F"/>
                </a:solidFill>
                <a:latin typeface="Calibri" pitchFamily="34" charset="0"/>
                <a:ea typeface="Calibri" pitchFamily="34" charset="-122"/>
                <a:cs typeface="Calibri" pitchFamily="34" charset="-120"/>
              </a:rPr>
              <a:t>Strong technical founding team with blue-chip customer validation</a:t>
            </a:r>
            <a:endParaRPr lang="en-US" sz="1060" dirty="0"/>
          </a:p>
          <a:p>
            <a:pPr marL="177800" indent="-177800">
              <a:lnSpc>
                <a:spcPct val="100000"/>
              </a:lnSpc>
              <a:spcAft>
                <a:spcPts val="700"/>
              </a:spcAft>
              <a:buSzPct val="100000"/>
              <a:buChar char="•"/>
            </a:pPr>
            <a:r>
              <a:rPr lang="en-US" sz="1060" dirty="0">
                <a:solidFill>
                  <a:srgbClr val="27543F"/>
                </a:solidFill>
                <a:latin typeface="Calibri" pitchFamily="34" charset="0"/>
                <a:ea typeface="Calibri" pitchFamily="34" charset="-122"/>
                <a:cs typeface="Calibri" pitchFamily="34" charset="-120"/>
              </a:rPr>
              <a:t>Reputable lead investor (Avaana) already underwriting the thesis</a:t>
            </a:r>
            <a:endParaRPr lang="en-US" sz="1060" dirty="0"/>
          </a:p>
        </p:txBody>
      </p:sp>
      <p:sp>
        <p:nvSpPr>
          <p:cNvPr id="13" name="Shape 9"/>
          <p:cNvSpPr/>
          <p:nvPr/>
        </p:nvSpPr>
        <p:spPr>
          <a:xfrm>
            <a:off x="6255868" y="2688336"/>
            <a:ext cx="5368900" cy="2788920"/>
          </a:xfrm>
          <a:prstGeom prst="roundRect">
            <a:avLst>
              <a:gd name="adj" fmla="val 1967"/>
            </a:avLst>
          </a:prstGeom>
          <a:solidFill>
            <a:srgbClr val="FBF1E6"/>
          </a:solidFill>
          <a:ln w="15240">
            <a:solidFill>
              <a:srgbClr val="EFD3AE"/>
            </a:solidFill>
            <a:prstDash val="solid"/>
          </a:ln>
        </p:spPr>
        <p:txBody>
          <a:bodyPr/>
          <a:lstStyle/>
          <a:p>
            <a:endParaRPr lang="en-US"/>
          </a:p>
        </p:txBody>
      </p:sp>
      <p:sp>
        <p:nvSpPr>
          <p:cNvPr id="14" name="Shape 10"/>
          <p:cNvSpPr/>
          <p:nvPr/>
        </p:nvSpPr>
        <p:spPr>
          <a:xfrm>
            <a:off x="6493612" y="2889504"/>
            <a:ext cx="512064" cy="512064"/>
          </a:xfrm>
          <a:prstGeom prst="ellipse">
            <a:avLst/>
          </a:prstGeom>
          <a:solidFill>
            <a:srgbClr val="F2A516"/>
          </a:solidFill>
          <a:ln/>
        </p:spPr>
        <p:txBody>
          <a:bodyPr/>
          <a:lstStyle/>
          <a:p>
            <a:endParaRPr lang="en-US"/>
          </a:p>
        </p:txBody>
      </p:sp>
      <p:pic>
        <p:nvPicPr>
          <p:cNvPr id="15" name="Image 2" descr="preencoded.png"/>
          <p:cNvPicPr>
            <a:picLocks noChangeAspect="1"/>
          </p:cNvPicPr>
          <p:nvPr/>
        </p:nvPicPr>
        <p:blipFill>
          <a:blip r:embed="rId4"/>
          <a:stretch>
            <a:fillRect/>
          </a:stretch>
        </p:blipFill>
        <p:spPr>
          <a:xfrm>
            <a:off x="6626748" y="3022641"/>
            <a:ext cx="245791" cy="245791"/>
          </a:xfrm>
          <a:prstGeom prst="rect">
            <a:avLst/>
          </a:prstGeom>
        </p:spPr>
      </p:pic>
      <p:sp>
        <p:nvSpPr>
          <p:cNvPr id="16" name="Text 11"/>
          <p:cNvSpPr/>
          <p:nvPr/>
        </p:nvSpPr>
        <p:spPr>
          <a:xfrm>
            <a:off x="7133692" y="2889504"/>
            <a:ext cx="4271620" cy="512064"/>
          </a:xfrm>
          <a:prstGeom prst="rect">
            <a:avLst/>
          </a:prstGeom>
          <a:noFill/>
          <a:ln/>
        </p:spPr>
        <p:txBody>
          <a:bodyPr wrap="square" lIns="0" tIns="0" rIns="0" bIns="0" rtlCol="0" anchor="ctr"/>
          <a:lstStyle/>
          <a:p>
            <a:pPr marL="0" indent="0">
              <a:buNone/>
            </a:pPr>
            <a:r>
              <a:rPr lang="en-US" sz="1450" b="1" dirty="0">
                <a:solidFill>
                  <a:srgbClr val="9A6B0E"/>
                </a:solidFill>
                <a:latin typeface="Georgia" pitchFamily="34" charset="0"/>
                <a:ea typeface="Georgia" pitchFamily="34" charset="-122"/>
                <a:cs typeface="Georgia" pitchFamily="34" charset="-120"/>
              </a:rPr>
              <a:t>What must hold true</a:t>
            </a:r>
            <a:endParaRPr lang="en-US" sz="1450" dirty="0"/>
          </a:p>
        </p:txBody>
      </p:sp>
      <p:sp>
        <p:nvSpPr>
          <p:cNvPr id="17" name="Text 12"/>
          <p:cNvSpPr/>
          <p:nvPr/>
        </p:nvSpPr>
        <p:spPr>
          <a:xfrm>
            <a:off x="6530188" y="3456432"/>
            <a:ext cx="4856836" cy="1920240"/>
          </a:xfrm>
          <a:prstGeom prst="rect">
            <a:avLst/>
          </a:prstGeom>
          <a:noFill/>
          <a:ln/>
        </p:spPr>
        <p:txBody>
          <a:bodyPr wrap="square" lIns="0" tIns="0" rIns="0" bIns="0" rtlCol="0" anchor="t"/>
          <a:lstStyle/>
          <a:p>
            <a:pPr marL="177800" indent="-177800">
              <a:lnSpc>
                <a:spcPct val="100000"/>
              </a:lnSpc>
              <a:spcAft>
                <a:spcPts val="700"/>
              </a:spcAft>
              <a:buSzPct val="100000"/>
              <a:buChar char="•"/>
            </a:pPr>
            <a:r>
              <a:rPr lang="en-US" sz="1060" dirty="0">
                <a:solidFill>
                  <a:srgbClr val="6E4E14"/>
                </a:solidFill>
                <a:latin typeface="Calibri" pitchFamily="34" charset="0"/>
                <a:ea typeface="Calibri" pitchFamily="34" charset="-122"/>
                <a:cs typeface="Calibri" pitchFamily="34" charset="-120"/>
              </a:rPr>
              <a:t>ELINA must be a genuine, defensible margin &amp; stickiness moat</a:t>
            </a:r>
            <a:endParaRPr lang="en-US" sz="1060" dirty="0"/>
          </a:p>
          <a:p>
            <a:pPr marL="177800" indent="-177800">
              <a:lnSpc>
                <a:spcPct val="100000"/>
              </a:lnSpc>
              <a:spcAft>
                <a:spcPts val="700"/>
              </a:spcAft>
              <a:buSzPct val="100000"/>
              <a:buChar char="•"/>
            </a:pPr>
            <a:r>
              <a:rPr lang="en-US" sz="1060" dirty="0">
                <a:solidFill>
                  <a:srgbClr val="6E4E14"/>
                </a:solidFill>
                <a:latin typeface="Calibri" pitchFamily="34" charset="0"/>
                <a:ea typeface="Calibri" pitchFamily="34" charset="-122"/>
                <a:cs typeface="Calibri" pitchFamily="34" charset="-120"/>
              </a:rPr>
              <a:t>A credible capital plan to fund working capital &amp; pipeline</a:t>
            </a:r>
            <a:endParaRPr lang="en-US" sz="1060" dirty="0"/>
          </a:p>
          <a:p>
            <a:pPr marL="177800" indent="-177800">
              <a:lnSpc>
                <a:spcPct val="100000"/>
              </a:lnSpc>
              <a:spcAft>
                <a:spcPts val="700"/>
              </a:spcAft>
              <a:buSzPct val="100000"/>
              <a:buChar char="•"/>
            </a:pPr>
            <a:r>
              <a:rPr lang="en-US" sz="1060" dirty="0">
                <a:solidFill>
                  <a:srgbClr val="6E4E14"/>
                </a:solidFill>
                <a:latin typeface="Calibri" pitchFamily="34" charset="0"/>
                <a:ea typeface="Calibri" pitchFamily="34" charset="-122"/>
                <a:cs typeface="Calibri" pitchFamily="34" charset="-120"/>
              </a:rPr>
              <a:t>Unit economics (LCOS, gross margin, project IRRs) that hold up</a:t>
            </a:r>
            <a:endParaRPr lang="en-US" sz="1060" dirty="0"/>
          </a:p>
          <a:p>
            <a:pPr marL="177800" indent="-177800">
              <a:lnSpc>
                <a:spcPct val="100000"/>
              </a:lnSpc>
              <a:spcAft>
                <a:spcPts val="700"/>
              </a:spcAft>
              <a:buSzPct val="100000"/>
              <a:buChar char="•"/>
            </a:pPr>
            <a:r>
              <a:rPr lang="en-US" sz="1060" dirty="0">
                <a:solidFill>
                  <a:srgbClr val="6E4E14"/>
                </a:solidFill>
                <a:latin typeface="Calibri" pitchFamily="34" charset="0"/>
                <a:ea typeface="Calibri" pitchFamily="34" charset="-122"/>
                <a:cs typeface="Calibri" pitchFamily="34" charset="-120"/>
              </a:rPr>
              <a:t>Order book that converts — quality counterparties, signed PPAs</a:t>
            </a:r>
            <a:endParaRPr lang="en-US" sz="1060" dirty="0"/>
          </a:p>
          <a:p>
            <a:pPr marL="177800" indent="-177800">
              <a:lnSpc>
                <a:spcPct val="100000"/>
              </a:lnSpc>
              <a:spcAft>
                <a:spcPts val="700"/>
              </a:spcAft>
              <a:buSzPct val="100000"/>
              <a:buChar char="•"/>
            </a:pPr>
            <a:r>
              <a:rPr lang="en-US" sz="1060" dirty="0">
                <a:solidFill>
                  <a:srgbClr val="6E4E14"/>
                </a:solidFill>
                <a:latin typeface="Calibri" pitchFamily="34" charset="0"/>
                <a:ea typeface="Calibri" pitchFamily="34" charset="-122"/>
                <a:cs typeface="Calibri" pitchFamily="34" charset="-120"/>
              </a:rPr>
              <a:t>Ability to defend share as cell-backed giants scale aggressively</a:t>
            </a:r>
            <a:endParaRPr lang="en-US" sz="1060" dirty="0"/>
          </a:p>
        </p:txBody>
      </p:sp>
      <p:sp>
        <p:nvSpPr>
          <p:cNvPr id="18" name="Shape 13"/>
          <p:cNvSpPr/>
          <p:nvPr/>
        </p:nvSpPr>
        <p:spPr>
          <a:xfrm>
            <a:off x="566928" y="5632704"/>
            <a:ext cx="11057839" cy="548640"/>
          </a:xfrm>
          <a:prstGeom prst="roundRect">
            <a:avLst>
              <a:gd name="adj" fmla="val 50000"/>
            </a:avLst>
          </a:prstGeom>
          <a:solidFill>
            <a:srgbClr val="0E2A38"/>
          </a:solidFill>
          <a:ln/>
        </p:spPr>
        <p:txBody>
          <a:bodyPr/>
          <a:lstStyle/>
          <a:p>
            <a:endParaRPr lang="en-US"/>
          </a:p>
        </p:txBody>
      </p:sp>
      <p:sp>
        <p:nvSpPr>
          <p:cNvPr id="19" name="Text 14"/>
          <p:cNvSpPr/>
          <p:nvPr/>
        </p:nvSpPr>
        <p:spPr>
          <a:xfrm>
            <a:off x="566928" y="5632704"/>
            <a:ext cx="11057839" cy="548640"/>
          </a:xfrm>
          <a:prstGeom prst="rect">
            <a:avLst/>
          </a:prstGeom>
          <a:noFill/>
          <a:ln/>
        </p:spPr>
        <p:txBody>
          <a:bodyPr wrap="square" lIns="0" tIns="0" rIns="0" bIns="0" rtlCol="0" anchor="ctr"/>
          <a:lstStyle/>
          <a:p>
            <a:pPr marL="0" indent="0" algn="ctr">
              <a:buNone/>
            </a:pPr>
            <a:r>
              <a:rPr lang="en-US" sz="1200" b="1" dirty="0">
                <a:solidFill>
                  <a:srgbClr val="FBBF24"/>
                </a:solidFill>
              </a:rPr>
              <a:t>The bet:  </a:t>
            </a:r>
            <a:r>
              <a:rPr lang="en-US" sz="1200" i="1" dirty="0">
                <a:solidFill>
                  <a:srgbClr val="E2EEEF"/>
                </a:solidFill>
              </a:rPr>
              <a:t>software + speed beat balance sheet in a market growing fast enough for an independent leader to thrive.</a:t>
            </a:r>
            <a:endParaRPr lang="en-US" sz="1200" dirty="0"/>
          </a:p>
        </p:txBody>
      </p:sp>
      <p:sp>
        <p:nvSpPr>
          <p:cNvPr id="20" name="Text 15"/>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6E7F87"/>
                </a:solidFill>
                <a:latin typeface="Calibri" pitchFamily="34" charset="0"/>
                <a:ea typeface="Calibri" pitchFamily="34" charset="-122"/>
                <a:cs typeface="Calibri" pitchFamily="34" charset="-120"/>
              </a:rPr>
              <a:t>AmpereHour Energy  ·  Investment Thesis</a:t>
            </a:r>
            <a:endParaRPr lang="en-US" sz="850" dirty="0"/>
          </a:p>
        </p:txBody>
      </p:sp>
      <p:sp>
        <p:nvSpPr>
          <p:cNvPr id="21" name="Text 16"/>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457200"/>
            <a:ext cx="8229600" cy="292608"/>
          </a:xfrm>
          <a:prstGeom prst="rect">
            <a:avLst/>
          </a:prstGeom>
          <a:noFill/>
          <a:ln/>
        </p:spPr>
        <p:txBody>
          <a:bodyPr wrap="square" lIns="0" tIns="0" rIns="0" bIns="0" rtlCol="0" anchor="ctr"/>
          <a:lstStyle/>
          <a:p>
            <a:pPr marL="0" indent="0" algn="l">
              <a:buNone/>
            </a:pPr>
            <a:r>
              <a:rPr lang="en-US" sz="1100" b="1" kern="0" spc="100" dirty="0">
                <a:solidFill>
                  <a:srgbClr val="0E7C77"/>
                </a:solidFill>
                <a:latin typeface="Calibri" pitchFamily="34" charset="0"/>
                <a:ea typeface="Calibri" pitchFamily="34" charset="-122"/>
                <a:cs typeface="Calibri" pitchFamily="34" charset="-120"/>
              </a:rPr>
              <a:t>11  ·  DILIGENCE ROADMAP</a:t>
            </a:r>
            <a:endParaRPr lang="en-US" sz="1100" spc="100" dirty="0"/>
          </a:p>
        </p:txBody>
      </p:sp>
      <p:sp>
        <p:nvSpPr>
          <p:cNvPr id="3" name="Text 1"/>
          <p:cNvSpPr/>
          <p:nvPr/>
        </p:nvSpPr>
        <p:spPr>
          <a:xfrm>
            <a:off x="566928" y="768096"/>
            <a:ext cx="10515600" cy="566928"/>
          </a:xfrm>
          <a:prstGeom prst="rect">
            <a:avLst/>
          </a:prstGeom>
          <a:noFill/>
          <a:ln/>
        </p:spPr>
        <p:txBody>
          <a:bodyPr wrap="square" lIns="0" tIns="0" rIns="0" bIns="0" rtlCol="0" anchor="ctr"/>
          <a:lstStyle/>
          <a:p>
            <a:pPr marL="0" indent="0" algn="l">
              <a:buNone/>
            </a:pPr>
            <a:r>
              <a:rPr lang="en-US" sz="2700" b="1" dirty="0">
                <a:solidFill>
                  <a:srgbClr val="15262F"/>
                </a:solidFill>
                <a:latin typeface="Georgia" pitchFamily="34" charset="0"/>
                <a:ea typeface="Georgia" pitchFamily="34" charset="-122"/>
                <a:cs typeface="Georgia" pitchFamily="34" charset="-120"/>
              </a:rPr>
              <a:t>What we'd pressure-test before a term sheet</a:t>
            </a:r>
            <a:endParaRPr lang="en-US" sz="2700" dirty="0"/>
          </a:p>
        </p:txBody>
      </p:sp>
      <p:sp>
        <p:nvSpPr>
          <p:cNvPr id="4" name="Shape 2"/>
          <p:cNvSpPr/>
          <p:nvPr/>
        </p:nvSpPr>
        <p:spPr>
          <a:xfrm>
            <a:off x="566928" y="1554480"/>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5" name="Text 3"/>
          <p:cNvSpPr/>
          <p:nvPr/>
        </p:nvSpPr>
        <p:spPr>
          <a:xfrm>
            <a:off x="2448992" y="1682496"/>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01</a:t>
            </a:r>
            <a:endParaRPr lang="en-US" sz="1500" dirty="0"/>
          </a:p>
        </p:txBody>
      </p:sp>
      <p:sp>
        <p:nvSpPr>
          <p:cNvPr id="6" name="Shape 4"/>
          <p:cNvSpPr/>
          <p:nvPr/>
        </p:nvSpPr>
        <p:spPr>
          <a:xfrm>
            <a:off x="786384" y="1773936"/>
            <a:ext cx="566928" cy="566928"/>
          </a:xfrm>
          <a:prstGeom prst="ellipse">
            <a:avLst/>
          </a:prstGeom>
          <a:solidFill>
            <a:srgbClr val="0E7C77"/>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933785" y="1921337"/>
            <a:ext cx="272125" cy="272125"/>
          </a:xfrm>
          <a:prstGeom prst="rect">
            <a:avLst/>
          </a:prstGeom>
        </p:spPr>
      </p:pic>
      <p:sp>
        <p:nvSpPr>
          <p:cNvPr id="8" name="Text 5"/>
          <p:cNvSpPr/>
          <p:nvPr/>
        </p:nvSpPr>
        <p:spPr>
          <a:xfrm>
            <a:off x="786384" y="2450592"/>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Financials &amp; unit economics</a:t>
            </a:r>
            <a:endParaRPr lang="en-US" sz="1250" dirty="0"/>
          </a:p>
        </p:txBody>
      </p:sp>
      <p:sp>
        <p:nvSpPr>
          <p:cNvPr id="9" name="Text 6"/>
          <p:cNvSpPr/>
          <p:nvPr/>
        </p:nvSpPr>
        <p:spPr>
          <a:xfrm>
            <a:off x="786384" y="2926080"/>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Audited accounts, gross margin by project, LCOS vs peers, project IRRs, working-capital cycle and cash runway.</a:t>
            </a:r>
            <a:endParaRPr lang="en-US" sz="940" dirty="0"/>
          </a:p>
        </p:txBody>
      </p:sp>
      <p:sp>
        <p:nvSpPr>
          <p:cNvPr id="10" name="Shape 7"/>
          <p:cNvSpPr/>
          <p:nvPr/>
        </p:nvSpPr>
        <p:spPr>
          <a:xfrm>
            <a:off x="3399968" y="1554480"/>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11" name="Text 8"/>
          <p:cNvSpPr/>
          <p:nvPr/>
        </p:nvSpPr>
        <p:spPr>
          <a:xfrm>
            <a:off x="5282032" y="1682496"/>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02</a:t>
            </a:r>
            <a:endParaRPr lang="en-US" sz="1500" dirty="0"/>
          </a:p>
        </p:txBody>
      </p:sp>
      <p:sp>
        <p:nvSpPr>
          <p:cNvPr id="12" name="Shape 9"/>
          <p:cNvSpPr/>
          <p:nvPr/>
        </p:nvSpPr>
        <p:spPr>
          <a:xfrm>
            <a:off x="3619424" y="1773936"/>
            <a:ext cx="566928" cy="566928"/>
          </a:xfrm>
          <a:prstGeom prst="ellipse">
            <a:avLst/>
          </a:prstGeom>
          <a:solidFill>
            <a:srgbClr val="0E2A38"/>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3766825" y="1921337"/>
            <a:ext cx="272125" cy="272125"/>
          </a:xfrm>
          <a:prstGeom prst="rect">
            <a:avLst/>
          </a:prstGeom>
        </p:spPr>
      </p:pic>
      <p:sp>
        <p:nvSpPr>
          <p:cNvPr id="14" name="Text 10"/>
          <p:cNvSpPr/>
          <p:nvPr/>
        </p:nvSpPr>
        <p:spPr>
          <a:xfrm>
            <a:off x="3619424" y="2450592"/>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Order-book quality</a:t>
            </a:r>
            <a:endParaRPr lang="en-US" sz="1250" dirty="0"/>
          </a:p>
        </p:txBody>
      </p:sp>
      <p:sp>
        <p:nvSpPr>
          <p:cNvPr id="15" name="Text 11"/>
          <p:cNvSpPr/>
          <p:nvPr/>
        </p:nvSpPr>
        <p:spPr>
          <a:xfrm>
            <a:off x="3619424" y="2926080"/>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Contracted vs LOI vs pipeline; conversion rates; counterparty strength; validate the '~1/3 share' and '#1' claims.</a:t>
            </a:r>
            <a:endParaRPr lang="en-US" sz="940" dirty="0"/>
          </a:p>
        </p:txBody>
      </p:sp>
      <p:sp>
        <p:nvSpPr>
          <p:cNvPr id="16" name="Shape 12"/>
          <p:cNvSpPr/>
          <p:nvPr/>
        </p:nvSpPr>
        <p:spPr>
          <a:xfrm>
            <a:off x="6233008" y="1554480"/>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17" name="Text 13"/>
          <p:cNvSpPr/>
          <p:nvPr/>
        </p:nvSpPr>
        <p:spPr>
          <a:xfrm>
            <a:off x="8115071" y="1682496"/>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03</a:t>
            </a:r>
            <a:endParaRPr lang="en-US" sz="1500" dirty="0"/>
          </a:p>
        </p:txBody>
      </p:sp>
      <p:sp>
        <p:nvSpPr>
          <p:cNvPr id="18" name="Shape 14"/>
          <p:cNvSpPr/>
          <p:nvPr/>
        </p:nvSpPr>
        <p:spPr>
          <a:xfrm>
            <a:off x="6452464" y="1773936"/>
            <a:ext cx="566928" cy="566928"/>
          </a:xfrm>
          <a:prstGeom prst="ellipse">
            <a:avLst/>
          </a:prstGeom>
          <a:solidFill>
            <a:srgbClr val="0E7C77"/>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6599865" y="1921337"/>
            <a:ext cx="272125" cy="272125"/>
          </a:xfrm>
          <a:prstGeom prst="rect">
            <a:avLst/>
          </a:prstGeom>
        </p:spPr>
      </p:pic>
      <p:sp>
        <p:nvSpPr>
          <p:cNvPr id="20" name="Text 15"/>
          <p:cNvSpPr/>
          <p:nvPr/>
        </p:nvSpPr>
        <p:spPr>
          <a:xfrm>
            <a:off x="6452464" y="2450592"/>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ELINA defensibility</a:t>
            </a:r>
            <a:endParaRPr lang="en-US" sz="1250" dirty="0"/>
          </a:p>
        </p:txBody>
      </p:sp>
      <p:sp>
        <p:nvSpPr>
          <p:cNvPr id="21" name="Text 16"/>
          <p:cNvSpPr/>
          <p:nvPr/>
        </p:nvSpPr>
        <p:spPr>
          <a:xfrm>
            <a:off x="6452464" y="2926080"/>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IP/patents, % of value &amp; margin from software, recurring revenue, switching costs — vs Fluence / Stem.</a:t>
            </a:r>
            <a:endParaRPr lang="en-US" sz="940" dirty="0"/>
          </a:p>
        </p:txBody>
      </p:sp>
      <p:sp>
        <p:nvSpPr>
          <p:cNvPr id="22" name="Shape 17"/>
          <p:cNvSpPr/>
          <p:nvPr/>
        </p:nvSpPr>
        <p:spPr>
          <a:xfrm>
            <a:off x="9066047" y="1554480"/>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3" name="Text 18"/>
          <p:cNvSpPr/>
          <p:nvPr/>
        </p:nvSpPr>
        <p:spPr>
          <a:xfrm>
            <a:off x="10948111" y="1682496"/>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04</a:t>
            </a:r>
            <a:endParaRPr lang="en-US" sz="1500" dirty="0"/>
          </a:p>
        </p:txBody>
      </p:sp>
      <p:sp>
        <p:nvSpPr>
          <p:cNvPr id="24" name="Shape 19"/>
          <p:cNvSpPr/>
          <p:nvPr/>
        </p:nvSpPr>
        <p:spPr>
          <a:xfrm>
            <a:off x="9285503" y="1773936"/>
            <a:ext cx="566928" cy="566928"/>
          </a:xfrm>
          <a:prstGeom prst="ellipse">
            <a:avLst/>
          </a:prstGeom>
          <a:solidFill>
            <a:srgbClr val="0E2A38"/>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9432905" y="1921337"/>
            <a:ext cx="272125" cy="272125"/>
          </a:xfrm>
          <a:prstGeom prst="rect">
            <a:avLst/>
          </a:prstGeom>
        </p:spPr>
      </p:pic>
      <p:sp>
        <p:nvSpPr>
          <p:cNvPr id="26" name="Text 20"/>
          <p:cNvSpPr/>
          <p:nvPr/>
        </p:nvSpPr>
        <p:spPr>
          <a:xfrm>
            <a:off x="9285503" y="2450592"/>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Capital strategy</a:t>
            </a:r>
            <a:endParaRPr lang="en-US" sz="1250" dirty="0"/>
          </a:p>
        </p:txBody>
      </p:sp>
      <p:sp>
        <p:nvSpPr>
          <p:cNvPr id="27" name="Text 21"/>
          <p:cNvSpPr/>
          <p:nvPr/>
        </p:nvSpPr>
        <p:spPr>
          <a:xfrm>
            <a:off x="9285503" y="2926080"/>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How turnkey working capital is funded (project finance, BESPA, balance sheet) and the implied dilution path.</a:t>
            </a:r>
            <a:endParaRPr lang="en-US" sz="940" dirty="0"/>
          </a:p>
        </p:txBody>
      </p:sp>
      <p:sp>
        <p:nvSpPr>
          <p:cNvPr id="28" name="Shape 22"/>
          <p:cNvSpPr/>
          <p:nvPr/>
        </p:nvSpPr>
        <p:spPr>
          <a:xfrm>
            <a:off x="566928" y="4032504"/>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29" name="Text 23"/>
          <p:cNvSpPr/>
          <p:nvPr/>
        </p:nvSpPr>
        <p:spPr>
          <a:xfrm>
            <a:off x="2448992" y="4160520"/>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05</a:t>
            </a:r>
            <a:endParaRPr lang="en-US" sz="1500" dirty="0"/>
          </a:p>
        </p:txBody>
      </p:sp>
      <p:sp>
        <p:nvSpPr>
          <p:cNvPr id="30" name="Shape 24"/>
          <p:cNvSpPr/>
          <p:nvPr/>
        </p:nvSpPr>
        <p:spPr>
          <a:xfrm>
            <a:off x="786384" y="4251960"/>
            <a:ext cx="566928" cy="566928"/>
          </a:xfrm>
          <a:prstGeom prst="ellipse">
            <a:avLst/>
          </a:prstGeom>
          <a:solidFill>
            <a:srgbClr val="0E7C77"/>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933785" y="4399361"/>
            <a:ext cx="272125" cy="272125"/>
          </a:xfrm>
          <a:prstGeom prst="rect">
            <a:avLst/>
          </a:prstGeom>
        </p:spPr>
      </p:pic>
      <p:sp>
        <p:nvSpPr>
          <p:cNvPr id="32" name="Text 25"/>
          <p:cNvSpPr/>
          <p:nvPr/>
        </p:nvSpPr>
        <p:spPr>
          <a:xfrm>
            <a:off x="786384" y="4928616"/>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Supply chain</a:t>
            </a:r>
            <a:endParaRPr lang="en-US" sz="1250" dirty="0"/>
          </a:p>
        </p:txBody>
      </p:sp>
      <p:sp>
        <p:nvSpPr>
          <p:cNvPr id="33" name="Text 26"/>
          <p:cNvSpPr/>
          <p:nvPr/>
        </p:nvSpPr>
        <p:spPr>
          <a:xfrm>
            <a:off x="786384" y="5404104"/>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Cell-sourcing strategy, China exposure, localisation / PLI participation and price hedging.</a:t>
            </a:r>
            <a:endParaRPr lang="en-US" sz="940" dirty="0"/>
          </a:p>
        </p:txBody>
      </p:sp>
      <p:sp>
        <p:nvSpPr>
          <p:cNvPr id="34" name="Shape 27"/>
          <p:cNvSpPr/>
          <p:nvPr/>
        </p:nvSpPr>
        <p:spPr>
          <a:xfrm>
            <a:off x="3399968" y="4032504"/>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35" name="Text 28"/>
          <p:cNvSpPr/>
          <p:nvPr/>
        </p:nvSpPr>
        <p:spPr>
          <a:xfrm>
            <a:off x="5282032" y="4160520"/>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06</a:t>
            </a:r>
            <a:endParaRPr lang="en-US" sz="1500" dirty="0"/>
          </a:p>
        </p:txBody>
      </p:sp>
      <p:sp>
        <p:nvSpPr>
          <p:cNvPr id="36" name="Shape 29"/>
          <p:cNvSpPr/>
          <p:nvPr/>
        </p:nvSpPr>
        <p:spPr>
          <a:xfrm>
            <a:off x="3619424" y="4251960"/>
            <a:ext cx="566928" cy="566928"/>
          </a:xfrm>
          <a:prstGeom prst="ellipse">
            <a:avLst/>
          </a:prstGeom>
          <a:solidFill>
            <a:srgbClr val="0E2A38"/>
          </a:solidFill>
          <a:ln/>
        </p:spPr>
        <p:txBody>
          <a:bodyPr/>
          <a:lstStyle/>
          <a:p>
            <a:endParaRPr lang="en-US"/>
          </a:p>
        </p:txBody>
      </p:sp>
      <p:pic>
        <p:nvPicPr>
          <p:cNvPr id="37" name="Image 5" descr="preencoded.png"/>
          <p:cNvPicPr>
            <a:picLocks noChangeAspect="1"/>
          </p:cNvPicPr>
          <p:nvPr/>
        </p:nvPicPr>
        <p:blipFill>
          <a:blip r:embed="rId8"/>
          <a:stretch>
            <a:fillRect/>
          </a:stretch>
        </p:blipFill>
        <p:spPr>
          <a:xfrm>
            <a:off x="3766825" y="4399361"/>
            <a:ext cx="272125" cy="272125"/>
          </a:xfrm>
          <a:prstGeom prst="rect">
            <a:avLst/>
          </a:prstGeom>
        </p:spPr>
      </p:pic>
      <p:sp>
        <p:nvSpPr>
          <p:cNvPr id="38" name="Text 30"/>
          <p:cNvSpPr/>
          <p:nvPr/>
        </p:nvSpPr>
        <p:spPr>
          <a:xfrm>
            <a:off x="3619424" y="4928616"/>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Team &amp; scalability</a:t>
            </a:r>
            <a:endParaRPr lang="en-US" sz="1250" dirty="0"/>
          </a:p>
        </p:txBody>
      </p:sp>
      <p:sp>
        <p:nvSpPr>
          <p:cNvPr id="39" name="Text 31"/>
          <p:cNvSpPr/>
          <p:nvPr/>
        </p:nvSpPr>
        <p:spPr>
          <a:xfrm>
            <a:off x="3619424" y="5404104"/>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Depth beyond founders, GWh-execution capability, key-person risk and the hiring plan.</a:t>
            </a:r>
            <a:endParaRPr lang="en-US" sz="940" dirty="0"/>
          </a:p>
        </p:txBody>
      </p:sp>
      <p:sp>
        <p:nvSpPr>
          <p:cNvPr id="40" name="Shape 32"/>
          <p:cNvSpPr/>
          <p:nvPr/>
        </p:nvSpPr>
        <p:spPr>
          <a:xfrm>
            <a:off x="6233008" y="4032504"/>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41" name="Text 33"/>
          <p:cNvSpPr/>
          <p:nvPr/>
        </p:nvSpPr>
        <p:spPr>
          <a:xfrm>
            <a:off x="8115071" y="4160520"/>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07</a:t>
            </a:r>
            <a:endParaRPr lang="en-US" sz="1500" dirty="0"/>
          </a:p>
        </p:txBody>
      </p:sp>
      <p:sp>
        <p:nvSpPr>
          <p:cNvPr id="42" name="Shape 34"/>
          <p:cNvSpPr/>
          <p:nvPr/>
        </p:nvSpPr>
        <p:spPr>
          <a:xfrm>
            <a:off x="6452464" y="4251960"/>
            <a:ext cx="566928" cy="566928"/>
          </a:xfrm>
          <a:prstGeom prst="ellipse">
            <a:avLst/>
          </a:prstGeom>
          <a:solidFill>
            <a:srgbClr val="0E7C77"/>
          </a:solidFill>
          <a:ln/>
        </p:spPr>
        <p:txBody>
          <a:bodyPr/>
          <a:lstStyle/>
          <a:p>
            <a:endParaRPr lang="en-US"/>
          </a:p>
        </p:txBody>
      </p:sp>
      <p:pic>
        <p:nvPicPr>
          <p:cNvPr id="43" name="Image 6" descr="preencoded.png"/>
          <p:cNvPicPr>
            <a:picLocks noChangeAspect="1"/>
          </p:cNvPicPr>
          <p:nvPr/>
        </p:nvPicPr>
        <p:blipFill>
          <a:blip r:embed="rId9"/>
          <a:stretch>
            <a:fillRect/>
          </a:stretch>
        </p:blipFill>
        <p:spPr>
          <a:xfrm>
            <a:off x="6599865" y="4399361"/>
            <a:ext cx="272125" cy="272125"/>
          </a:xfrm>
          <a:prstGeom prst="rect">
            <a:avLst/>
          </a:prstGeom>
        </p:spPr>
      </p:pic>
      <p:sp>
        <p:nvSpPr>
          <p:cNvPr id="44" name="Text 35"/>
          <p:cNvSpPr/>
          <p:nvPr/>
        </p:nvSpPr>
        <p:spPr>
          <a:xfrm>
            <a:off x="6452464" y="4928616"/>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Customer references</a:t>
            </a:r>
            <a:endParaRPr lang="en-US" sz="1250" dirty="0"/>
          </a:p>
        </p:txBody>
      </p:sp>
      <p:sp>
        <p:nvSpPr>
          <p:cNvPr id="45" name="Text 36"/>
          <p:cNvSpPr/>
          <p:nvPr/>
        </p:nvSpPr>
        <p:spPr>
          <a:xfrm>
            <a:off x="6452464" y="5404104"/>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Calls with IndiGrid, BRPL, Amazon/Siemens on performance vs SLA and repeat intent.</a:t>
            </a:r>
            <a:endParaRPr lang="en-US" sz="940" dirty="0"/>
          </a:p>
        </p:txBody>
      </p:sp>
      <p:sp>
        <p:nvSpPr>
          <p:cNvPr id="46" name="Shape 37"/>
          <p:cNvSpPr/>
          <p:nvPr/>
        </p:nvSpPr>
        <p:spPr>
          <a:xfrm>
            <a:off x="9066047" y="4032504"/>
            <a:ext cx="2558720" cy="2240280"/>
          </a:xfrm>
          <a:prstGeom prst="roundRect">
            <a:avLst>
              <a:gd name="adj" fmla="val 2449"/>
            </a:avLst>
          </a:prstGeom>
          <a:solidFill>
            <a:srgbClr val="F3F7F7"/>
          </a:solidFill>
          <a:ln w="12700">
            <a:solidFill>
              <a:srgbClr val="E3EAEC"/>
            </a:solidFill>
            <a:prstDash val="solid"/>
          </a:ln>
          <a:effectLst>
            <a:outerShdw blurRad="76200" dist="25400" dir="8100000" algn="bl" rotWithShape="0">
              <a:srgbClr val="0E2A38">
                <a:alpha val="10000"/>
              </a:srgbClr>
            </a:outerShdw>
          </a:effectLst>
        </p:spPr>
        <p:txBody>
          <a:bodyPr/>
          <a:lstStyle/>
          <a:p>
            <a:endParaRPr lang="en-US"/>
          </a:p>
        </p:txBody>
      </p:sp>
      <p:sp>
        <p:nvSpPr>
          <p:cNvPr id="47" name="Text 38"/>
          <p:cNvSpPr/>
          <p:nvPr/>
        </p:nvSpPr>
        <p:spPr>
          <a:xfrm>
            <a:off x="10948111" y="4160520"/>
            <a:ext cx="548640" cy="365760"/>
          </a:xfrm>
          <a:prstGeom prst="rect">
            <a:avLst/>
          </a:prstGeom>
          <a:noFill/>
          <a:ln/>
        </p:spPr>
        <p:txBody>
          <a:bodyPr wrap="square" lIns="0" tIns="0" rIns="0" bIns="0" rtlCol="0" anchor="ctr"/>
          <a:lstStyle/>
          <a:p>
            <a:pPr marL="0" indent="0" algn="r">
              <a:buNone/>
            </a:pPr>
            <a:r>
              <a:rPr lang="en-US" sz="1500" b="1" dirty="0">
                <a:solidFill>
                  <a:srgbClr val="C7D5D6"/>
                </a:solidFill>
                <a:latin typeface="Georgia" pitchFamily="34" charset="0"/>
                <a:ea typeface="Georgia" pitchFamily="34" charset="-122"/>
                <a:cs typeface="Georgia" pitchFamily="34" charset="-120"/>
              </a:rPr>
              <a:t>08</a:t>
            </a:r>
            <a:endParaRPr lang="en-US" sz="1500" dirty="0"/>
          </a:p>
        </p:txBody>
      </p:sp>
      <p:sp>
        <p:nvSpPr>
          <p:cNvPr id="48" name="Shape 39"/>
          <p:cNvSpPr/>
          <p:nvPr/>
        </p:nvSpPr>
        <p:spPr>
          <a:xfrm>
            <a:off x="9285503" y="4251960"/>
            <a:ext cx="566928" cy="566928"/>
          </a:xfrm>
          <a:prstGeom prst="ellipse">
            <a:avLst/>
          </a:prstGeom>
          <a:solidFill>
            <a:srgbClr val="0E2A38"/>
          </a:solidFill>
          <a:ln/>
        </p:spPr>
        <p:txBody>
          <a:bodyPr/>
          <a:lstStyle/>
          <a:p>
            <a:endParaRPr lang="en-US"/>
          </a:p>
        </p:txBody>
      </p:sp>
      <p:pic>
        <p:nvPicPr>
          <p:cNvPr id="49" name="Image 7" descr="preencoded.png"/>
          <p:cNvPicPr>
            <a:picLocks noChangeAspect="1"/>
          </p:cNvPicPr>
          <p:nvPr/>
        </p:nvPicPr>
        <p:blipFill>
          <a:blip r:embed="rId10"/>
          <a:stretch>
            <a:fillRect/>
          </a:stretch>
        </p:blipFill>
        <p:spPr>
          <a:xfrm>
            <a:off x="9432905" y="4399361"/>
            <a:ext cx="272125" cy="272125"/>
          </a:xfrm>
          <a:prstGeom prst="rect">
            <a:avLst/>
          </a:prstGeom>
        </p:spPr>
      </p:pic>
      <p:sp>
        <p:nvSpPr>
          <p:cNvPr id="50" name="Text 40"/>
          <p:cNvSpPr/>
          <p:nvPr/>
        </p:nvSpPr>
        <p:spPr>
          <a:xfrm>
            <a:off x="9285503" y="4928616"/>
            <a:ext cx="2138096" cy="502920"/>
          </a:xfrm>
          <a:prstGeom prst="rect">
            <a:avLst/>
          </a:prstGeom>
          <a:noFill/>
          <a:ln/>
        </p:spPr>
        <p:txBody>
          <a:bodyPr wrap="square" lIns="0" tIns="0" rIns="0" bIns="0" rtlCol="0" anchor="t"/>
          <a:lstStyle/>
          <a:p>
            <a:pPr marL="0" indent="0">
              <a:lnSpc>
                <a:spcPct val="92000"/>
              </a:lnSpc>
              <a:buNone/>
            </a:pPr>
            <a:r>
              <a:rPr lang="en-US" sz="1250" b="1" dirty="0">
                <a:solidFill>
                  <a:srgbClr val="15262F"/>
                </a:solidFill>
                <a:latin typeface="Georgia" pitchFamily="34" charset="0"/>
                <a:ea typeface="Georgia" pitchFamily="34" charset="-122"/>
                <a:cs typeface="Georgia" pitchFamily="34" charset="-120"/>
              </a:rPr>
              <a:t>Safety &amp; governance</a:t>
            </a:r>
            <a:endParaRPr lang="en-US" sz="1250" dirty="0"/>
          </a:p>
        </p:txBody>
      </p:sp>
      <p:sp>
        <p:nvSpPr>
          <p:cNvPr id="51" name="Text 41"/>
          <p:cNvSpPr/>
          <p:nvPr/>
        </p:nvSpPr>
        <p:spPr>
          <a:xfrm>
            <a:off x="9285503" y="5404104"/>
            <a:ext cx="2138096" cy="786384"/>
          </a:xfrm>
          <a:prstGeom prst="rect">
            <a:avLst/>
          </a:prstGeom>
          <a:noFill/>
          <a:ln/>
        </p:spPr>
        <p:txBody>
          <a:bodyPr wrap="square" lIns="0" tIns="0" rIns="0" bIns="0" rtlCol="0" anchor="t"/>
          <a:lstStyle/>
          <a:p>
            <a:pPr marL="0" indent="0">
              <a:lnSpc>
                <a:spcPct val="96000"/>
              </a:lnSpc>
              <a:buNone/>
            </a:pPr>
            <a:r>
              <a:rPr lang="en-US" sz="940" dirty="0">
                <a:solidFill>
                  <a:srgbClr val="374952"/>
                </a:solidFill>
                <a:latin typeface="Calibri" pitchFamily="34" charset="0"/>
                <a:ea typeface="Calibri" pitchFamily="34" charset="-122"/>
                <a:cs typeface="Calibri" pitchFamily="34" charset="-120"/>
              </a:rPr>
              <a:t>Thermal-event / O&amp;M track record, warranty exposure, cap-table cleanliness and prior-investor rights.</a:t>
            </a:r>
            <a:endParaRPr lang="en-US" sz="940" dirty="0"/>
          </a:p>
        </p:txBody>
      </p:sp>
      <p:sp>
        <p:nvSpPr>
          <p:cNvPr id="52" name="Text 42"/>
          <p:cNvSpPr/>
          <p:nvPr/>
        </p:nvSpPr>
        <p:spPr>
          <a:xfrm>
            <a:off x="566928" y="6473952"/>
            <a:ext cx="5486400" cy="274320"/>
          </a:xfrm>
          <a:prstGeom prst="rect">
            <a:avLst/>
          </a:prstGeom>
          <a:noFill/>
          <a:ln/>
        </p:spPr>
        <p:txBody>
          <a:bodyPr wrap="square" lIns="0" tIns="0" rIns="0" bIns="0" rtlCol="0" anchor="ctr"/>
          <a:lstStyle/>
          <a:p>
            <a:pPr marL="0" indent="0" algn="l">
              <a:buNone/>
            </a:pPr>
            <a:r>
              <a:rPr lang="en-US" sz="850" kern="0" spc="150" dirty="0">
                <a:solidFill>
                  <a:srgbClr val="6E7F87"/>
                </a:solidFill>
                <a:latin typeface="Calibri" pitchFamily="34" charset="0"/>
                <a:ea typeface="Calibri" pitchFamily="34" charset="-122"/>
                <a:cs typeface="Calibri" pitchFamily="34" charset="-120"/>
              </a:rPr>
              <a:t>AmpereHour Energy  ·  Investment Thesis</a:t>
            </a:r>
            <a:endParaRPr lang="en-US" sz="850" dirty="0"/>
          </a:p>
        </p:txBody>
      </p:sp>
      <p:sp>
        <p:nvSpPr>
          <p:cNvPr id="53" name="Text 43"/>
          <p:cNvSpPr/>
          <p:nvPr/>
        </p:nvSpPr>
        <p:spPr>
          <a:xfrm>
            <a:off x="11076127" y="6473952"/>
            <a:ext cx="548640" cy="274320"/>
          </a:xfrm>
          <a:prstGeom prst="rect">
            <a:avLst/>
          </a:prstGeom>
          <a:noFill/>
          <a:ln/>
        </p:spPr>
        <p:txBody>
          <a:bodyPr wrap="square" lIns="0" tIns="0" rIns="0" bIns="0" rtlCol="0" anchor="ctr"/>
          <a:lstStyle/>
          <a:p>
            <a:pPr marL="0" indent="0" algn="r">
              <a:buNone/>
            </a:pPr>
            <a:r>
              <a:rPr lang="en-US" sz="900" b="1" dirty="0">
                <a:solidFill>
                  <a:srgbClr val="6E7F8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2A516"/>
          </a:solidFill>
          <a:ln/>
        </p:spPr>
        <p:txBody>
          <a:bodyPr/>
          <a:lstStyle/>
          <a:p>
            <a:endParaRPr lang="en-US"/>
          </a:p>
        </p:txBody>
      </p:sp>
      <p:pic>
        <p:nvPicPr>
          <p:cNvPr id="3" name="Image 0" descr="preencoded.png"/>
          <p:cNvPicPr>
            <a:picLocks noChangeAspect="1"/>
          </p:cNvPicPr>
          <p:nvPr/>
        </p:nvPicPr>
        <p:blipFill>
          <a:blip r:embed="rId3">
            <a:alphaModFix amt="12000"/>
          </a:blip>
          <a:stretch>
            <a:fillRect/>
          </a:stretch>
        </p:blipFill>
        <p:spPr>
          <a:xfrm>
            <a:off x="9509760" y="3657600"/>
            <a:ext cx="2560320" cy="3108960"/>
          </a:xfrm>
          <a:prstGeom prst="rect">
            <a:avLst/>
          </a:prstGeom>
        </p:spPr>
      </p:pic>
      <p:sp>
        <p:nvSpPr>
          <p:cNvPr id="4" name="Text 1"/>
          <p:cNvSpPr/>
          <p:nvPr/>
        </p:nvSpPr>
        <p:spPr>
          <a:xfrm>
            <a:off x="566928" y="960120"/>
            <a:ext cx="9144000" cy="365760"/>
          </a:xfrm>
          <a:prstGeom prst="rect">
            <a:avLst/>
          </a:prstGeom>
          <a:noFill/>
          <a:ln/>
        </p:spPr>
        <p:txBody>
          <a:bodyPr wrap="square" lIns="0" tIns="0" rIns="0" bIns="0" rtlCol="0" anchor="ctr"/>
          <a:lstStyle/>
          <a:p>
            <a:pPr marL="0" indent="0">
              <a:buNone/>
            </a:pPr>
            <a:r>
              <a:rPr lang="en-US" sz="1250" b="1" kern="0" spc="100" dirty="0">
                <a:solidFill>
                  <a:srgbClr val="FBBF24"/>
                </a:solidFill>
                <a:latin typeface="Calibri" pitchFamily="34" charset="0"/>
                <a:ea typeface="Calibri" pitchFamily="34" charset="-122"/>
                <a:cs typeface="Calibri" pitchFamily="34" charset="-120"/>
              </a:rPr>
              <a:t>THE INVESTMENT CASE, DISTILLED</a:t>
            </a:r>
            <a:endParaRPr lang="en-US" sz="1250" spc="100" dirty="0"/>
          </a:p>
        </p:txBody>
      </p:sp>
      <p:sp>
        <p:nvSpPr>
          <p:cNvPr id="5" name="Text 2"/>
          <p:cNvSpPr/>
          <p:nvPr/>
        </p:nvSpPr>
        <p:spPr>
          <a:xfrm>
            <a:off x="566928" y="1554480"/>
            <a:ext cx="8686800" cy="1828800"/>
          </a:xfrm>
          <a:prstGeom prst="rect">
            <a:avLst/>
          </a:prstGeom>
          <a:noFill/>
          <a:ln/>
        </p:spPr>
        <p:txBody>
          <a:bodyPr wrap="square" lIns="0" tIns="0" rIns="0" bIns="0" rtlCol="0" anchor="t"/>
          <a:lstStyle/>
          <a:p>
            <a:pPr marL="0" indent="0">
              <a:lnSpc>
                <a:spcPct val="106000"/>
              </a:lnSpc>
              <a:buNone/>
            </a:pPr>
            <a:r>
              <a:rPr lang="en-US" sz="3300" b="1" dirty="0">
                <a:solidFill>
                  <a:srgbClr val="FFFFFF"/>
                </a:solidFill>
                <a:latin typeface="Georgia" pitchFamily="34" charset="0"/>
                <a:ea typeface="Georgia" pitchFamily="34" charset="-122"/>
                <a:cs typeface="Georgia" pitchFamily="34" charset="-120"/>
              </a:rPr>
              <a:t>Back the </a:t>
            </a:r>
            <a:r>
              <a:rPr lang="en-US" sz="3300" b="1" dirty="0">
                <a:solidFill>
                  <a:srgbClr val="16B8A6"/>
                </a:solidFill>
                <a:latin typeface="Georgia" pitchFamily="34" charset="0"/>
                <a:ea typeface="Georgia" pitchFamily="34" charset="-122"/>
                <a:cs typeface="Georgia" pitchFamily="34" charset="-120"/>
              </a:rPr>
              <a:t>software brain</a:t>
            </a:r>
            <a:r>
              <a:rPr lang="en-US" sz="3300" b="1" dirty="0">
                <a:solidFill>
                  <a:srgbClr val="FFFFFF"/>
                </a:solidFill>
                <a:latin typeface="Georgia" pitchFamily="34" charset="0"/>
                <a:ea typeface="Georgia" pitchFamily="34" charset="-122"/>
                <a:cs typeface="Georgia" pitchFamily="34" charset="-120"/>
              </a:rPr>
              <a:t> of India's energy-storage build-out — </a:t>
            </a:r>
            <a:r>
              <a:rPr lang="en-US" sz="3300" b="1" i="1" dirty="0">
                <a:solidFill>
                  <a:srgbClr val="FBBF24"/>
                </a:solidFill>
                <a:latin typeface="Georgia" pitchFamily="34" charset="0"/>
                <a:ea typeface="Georgia" pitchFamily="34" charset="-122"/>
                <a:cs typeface="Georgia" pitchFamily="34" charset="-120"/>
              </a:rPr>
              <a:t>before</a:t>
            </a:r>
            <a:r>
              <a:rPr lang="en-US" sz="3300" b="1" dirty="0">
                <a:solidFill>
                  <a:srgbClr val="FFFFFF"/>
                </a:solidFill>
                <a:latin typeface="Georgia" pitchFamily="34" charset="0"/>
                <a:ea typeface="Georgia" pitchFamily="34" charset="-122"/>
                <a:cs typeface="Georgia" pitchFamily="34" charset="-120"/>
              </a:rPr>
              <a:t> the giants commoditise the hardware.</a:t>
            </a:r>
            <a:endParaRPr lang="en-US" sz="3300" dirty="0"/>
          </a:p>
        </p:txBody>
      </p:sp>
      <p:sp>
        <p:nvSpPr>
          <p:cNvPr id="6" name="Shape 3"/>
          <p:cNvSpPr/>
          <p:nvPr/>
        </p:nvSpPr>
        <p:spPr>
          <a:xfrm>
            <a:off x="566928" y="3977640"/>
            <a:ext cx="640080" cy="0"/>
          </a:xfrm>
          <a:prstGeom prst="line">
            <a:avLst/>
          </a:prstGeom>
          <a:noFill/>
          <a:ln w="31750">
            <a:solidFill>
              <a:srgbClr val="16B8A6"/>
            </a:solidFill>
            <a:prstDash val="solid"/>
          </a:ln>
        </p:spPr>
        <p:txBody>
          <a:bodyPr/>
          <a:lstStyle/>
          <a:p>
            <a:endParaRPr lang="en-US"/>
          </a:p>
        </p:txBody>
      </p:sp>
      <p:sp>
        <p:nvSpPr>
          <p:cNvPr id="7" name="Shape 4"/>
          <p:cNvSpPr/>
          <p:nvPr/>
        </p:nvSpPr>
        <p:spPr>
          <a:xfrm>
            <a:off x="566928" y="4160520"/>
            <a:ext cx="548640" cy="548640"/>
          </a:xfrm>
          <a:prstGeom prst="ellipse">
            <a:avLst/>
          </a:prstGeom>
          <a:solidFill>
            <a:srgbClr val="0E7C77"/>
          </a:solidFill>
          <a:ln/>
        </p:spPr>
        <p:txBody>
          <a:bodyPr/>
          <a:lstStyle/>
          <a:p>
            <a:endParaRPr lang="en-US"/>
          </a:p>
        </p:txBody>
      </p:sp>
      <p:pic>
        <p:nvPicPr>
          <p:cNvPr id="8" name="Image 1" descr="preencoded.png"/>
          <p:cNvPicPr>
            <a:picLocks noChangeAspect="1"/>
          </p:cNvPicPr>
          <p:nvPr/>
        </p:nvPicPr>
        <p:blipFill>
          <a:blip r:embed="rId4"/>
          <a:stretch>
            <a:fillRect/>
          </a:stretch>
        </p:blipFill>
        <p:spPr>
          <a:xfrm>
            <a:off x="709574" y="4303166"/>
            <a:ext cx="263347" cy="263347"/>
          </a:xfrm>
          <a:prstGeom prst="rect">
            <a:avLst/>
          </a:prstGeom>
        </p:spPr>
      </p:pic>
      <p:sp>
        <p:nvSpPr>
          <p:cNvPr id="9" name="Text 5"/>
          <p:cNvSpPr/>
          <p:nvPr/>
        </p:nvSpPr>
        <p:spPr>
          <a:xfrm>
            <a:off x="566928" y="4791456"/>
            <a:ext cx="2590800" cy="457200"/>
          </a:xfrm>
          <a:prstGeom prst="rect">
            <a:avLst/>
          </a:prstGeom>
          <a:noFill/>
          <a:ln/>
        </p:spPr>
        <p:txBody>
          <a:bodyPr wrap="square" lIns="0" tIns="0" rIns="0" bIns="0" rtlCol="0" anchor="t"/>
          <a:lstStyle/>
          <a:p>
            <a:pPr marL="0" indent="0">
              <a:lnSpc>
                <a:spcPct val="95000"/>
              </a:lnSpc>
              <a:buNone/>
            </a:pPr>
            <a:r>
              <a:rPr lang="en-US" sz="1350" b="1" dirty="0">
                <a:solidFill>
                  <a:srgbClr val="FFFFFF"/>
                </a:solidFill>
                <a:latin typeface="Georgia" pitchFamily="34" charset="0"/>
                <a:ea typeface="Georgia" pitchFamily="34" charset="-122"/>
                <a:cs typeface="Georgia" pitchFamily="34" charset="-120"/>
              </a:rPr>
              <a:t>Huge, certain demand</a:t>
            </a:r>
            <a:endParaRPr lang="en-US" sz="1350" dirty="0"/>
          </a:p>
        </p:txBody>
      </p:sp>
      <p:sp>
        <p:nvSpPr>
          <p:cNvPr id="10" name="Text 6"/>
          <p:cNvSpPr/>
          <p:nvPr/>
        </p:nvSpPr>
        <p:spPr>
          <a:xfrm>
            <a:off x="566928" y="5248656"/>
            <a:ext cx="2590800" cy="777240"/>
          </a:xfrm>
          <a:prstGeom prst="rect">
            <a:avLst/>
          </a:prstGeom>
          <a:noFill/>
          <a:ln/>
        </p:spPr>
        <p:txBody>
          <a:bodyPr wrap="square" lIns="0" tIns="0" rIns="0" bIns="0" rtlCol="0" anchor="t"/>
          <a:lstStyle/>
          <a:p>
            <a:pPr marL="0" indent="0">
              <a:lnSpc>
                <a:spcPct val="100000"/>
              </a:lnSpc>
              <a:buNone/>
            </a:pPr>
            <a:r>
              <a:rPr lang="en-US" sz="1030" dirty="0">
                <a:solidFill>
                  <a:srgbClr val="BCD2D4"/>
                </a:solidFill>
                <a:latin typeface="Calibri" pitchFamily="34" charset="0"/>
                <a:ea typeface="Calibri" pitchFamily="34" charset="-122"/>
                <a:cs typeface="Calibri" pitchFamily="34" charset="-120"/>
              </a:rPr>
              <a:t>236 GWh of BESS by FY32 from a ~0.5 GWh base — policy-underwritten.</a:t>
            </a:r>
            <a:endParaRPr lang="en-US" sz="1030" dirty="0"/>
          </a:p>
        </p:txBody>
      </p:sp>
      <p:sp>
        <p:nvSpPr>
          <p:cNvPr id="11" name="Shape 7"/>
          <p:cNvSpPr/>
          <p:nvPr/>
        </p:nvSpPr>
        <p:spPr>
          <a:xfrm>
            <a:off x="3523488" y="3977640"/>
            <a:ext cx="640080" cy="0"/>
          </a:xfrm>
          <a:prstGeom prst="line">
            <a:avLst/>
          </a:prstGeom>
          <a:noFill/>
          <a:ln w="31750">
            <a:solidFill>
              <a:srgbClr val="16B8A6"/>
            </a:solidFill>
            <a:prstDash val="solid"/>
          </a:ln>
        </p:spPr>
        <p:txBody>
          <a:bodyPr/>
          <a:lstStyle/>
          <a:p>
            <a:endParaRPr lang="en-US"/>
          </a:p>
        </p:txBody>
      </p:sp>
      <p:sp>
        <p:nvSpPr>
          <p:cNvPr id="12" name="Shape 8"/>
          <p:cNvSpPr/>
          <p:nvPr/>
        </p:nvSpPr>
        <p:spPr>
          <a:xfrm>
            <a:off x="3523488" y="4160520"/>
            <a:ext cx="548640" cy="548640"/>
          </a:xfrm>
          <a:prstGeom prst="ellipse">
            <a:avLst/>
          </a:prstGeom>
          <a:solidFill>
            <a:srgbClr val="0E7C77"/>
          </a:solidFill>
          <a:ln/>
        </p:spPr>
        <p:txBody>
          <a:bodyPr/>
          <a:lstStyle/>
          <a:p>
            <a:endParaRPr lang="en-US"/>
          </a:p>
        </p:txBody>
      </p:sp>
      <p:pic>
        <p:nvPicPr>
          <p:cNvPr id="13" name="Image 2" descr="preencoded.png"/>
          <p:cNvPicPr>
            <a:picLocks noChangeAspect="1"/>
          </p:cNvPicPr>
          <p:nvPr/>
        </p:nvPicPr>
        <p:blipFill>
          <a:blip r:embed="rId5"/>
          <a:stretch>
            <a:fillRect/>
          </a:stretch>
        </p:blipFill>
        <p:spPr>
          <a:xfrm>
            <a:off x="3666134" y="4303166"/>
            <a:ext cx="263347" cy="263347"/>
          </a:xfrm>
          <a:prstGeom prst="rect">
            <a:avLst/>
          </a:prstGeom>
        </p:spPr>
      </p:pic>
      <p:sp>
        <p:nvSpPr>
          <p:cNvPr id="14" name="Text 9"/>
          <p:cNvSpPr/>
          <p:nvPr/>
        </p:nvSpPr>
        <p:spPr>
          <a:xfrm>
            <a:off x="3523488" y="4791456"/>
            <a:ext cx="2590800" cy="457200"/>
          </a:xfrm>
          <a:prstGeom prst="rect">
            <a:avLst/>
          </a:prstGeom>
          <a:noFill/>
          <a:ln/>
        </p:spPr>
        <p:txBody>
          <a:bodyPr wrap="square" lIns="0" tIns="0" rIns="0" bIns="0" rtlCol="0" anchor="t"/>
          <a:lstStyle/>
          <a:p>
            <a:pPr marL="0" indent="0">
              <a:lnSpc>
                <a:spcPct val="95000"/>
              </a:lnSpc>
              <a:buNone/>
            </a:pPr>
            <a:r>
              <a:rPr lang="en-US" sz="1350" b="1" dirty="0">
                <a:solidFill>
                  <a:srgbClr val="FFFFFF"/>
                </a:solidFill>
                <a:latin typeface="Georgia" pitchFamily="34" charset="0"/>
                <a:ea typeface="Georgia" pitchFamily="34" charset="-122"/>
                <a:cs typeface="Georgia" pitchFamily="34" charset="-120"/>
              </a:rPr>
              <a:t>A differentiated lane</a:t>
            </a:r>
            <a:endParaRPr lang="en-US" sz="1350" dirty="0"/>
          </a:p>
        </p:txBody>
      </p:sp>
      <p:sp>
        <p:nvSpPr>
          <p:cNvPr id="15" name="Text 10"/>
          <p:cNvSpPr/>
          <p:nvPr/>
        </p:nvSpPr>
        <p:spPr>
          <a:xfrm>
            <a:off x="3523488" y="5248656"/>
            <a:ext cx="2590800" cy="777240"/>
          </a:xfrm>
          <a:prstGeom prst="rect">
            <a:avLst/>
          </a:prstGeom>
          <a:noFill/>
          <a:ln/>
        </p:spPr>
        <p:txBody>
          <a:bodyPr wrap="square" lIns="0" tIns="0" rIns="0" bIns="0" rtlCol="0" anchor="t"/>
          <a:lstStyle/>
          <a:p>
            <a:pPr marL="0" indent="0">
              <a:lnSpc>
                <a:spcPct val="100000"/>
              </a:lnSpc>
              <a:buNone/>
            </a:pPr>
            <a:r>
              <a:rPr lang="en-US" sz="1030" dirty="0">
                <a:solidFill>
                  <a:srgbClr val="BCD2D4"/>
                </a:solidFill>
                <a:latin typeface="Calibri" pitchFamily="34" charset="0"/>
                <a:ea typeface="Calibri" pitchFamily="34" charset="-122"/>
                <a:cs typeface="Calibri" pitchFamily="34" charset="-120"/>
              </a:rPr>
              <a:t>Asset-light, chemistry-agnostic, software-led — distinct from cell-heavy peers.</a:t>
            </a:r>
            <a:endParaRPr lang="en-US" sz="1030" dirty="0"/>
          </a:p>
        </p:txBody>
      </p:sp>
      <p:sp>
        <p:nvSpPr>
          <p:cNvPr id="16" name="Shape 11"/>
          <p:cNvSpPr/>
          <p:nvPr/>
        </p:nvSpPr>
        <p:spPr>
          <a:xfrm>
            <a:off x="6480048" y="3977640"/>
            <a:ext cx="640080" cy="0"/>
          </a:xfrm>
          <a:prstGeom prst="line">
            <a:avLst/>
          </a:prstGeom>
          <a:noFill/>
          <a:ln w="31750">
            <a:solidFill>
              <a:srgbClr val="F2A516"/>
            </a:solidFill>
            <a:prstDash val="solid"/>
          </a:ln>
        </p:spPr>
        <p:txBody>
          <a:bodyPr/>
          <a:lstStyle/>
          <a:p>
            <a:endParaRPr lang="en-US"/>
          </a:p>
        </p:txBody>
      </p:sp>
      <p:sp>
        <p:nvSpPr>
          <p:cNvPr id="17" name="Shape 12"/>
          <p:cNvSpPr/>
          <p:nvPr/>
        </p:nvSpPr>
        <p:spPr>
          <a:xfrm>
            <a:off x="6480048" y="4160520"/>
            <a:ext cx="548640" cy="548640"/>
          </a:xfrm>
          <a:prstGeom prst="ellipse">
            <a:avLst/>
          </a:prstGeom>
          <a:solidFill>
            <a:srgbClr val="F2A516"/>
          </a:solidFill>
          <a:ln/>
        </p:spPr>
        <p:txBody>
          <a:bodyPr/>
          <a:lstStyle/>
          <a:p>
            <a:endParaRPr lang="en-US"/>
          </a:p>
        </p:txBody>
      </p:sp>
      <p:pic>
        <p:nvPicPr>
          <p:cNvPr id="18" name="Image 3" descr="preencoded.png"/>
          <p:cNvPicPr>
            <a:picLocks noChangeAspect="1"/>
          </p:cNvPicPr>
          <p:nvPr/>
        </p:nvPicPr>
        <p:blipFill>
          <a:blip r:embed="rId6"/>
          <a:stretch>
            <a:fillRect/>
          </a:stretch>
        </p:blipFill>
        <p:spPr>
          <a:xfrm>
            <a:off x="6622694" y="4303166"/>
            <a:ext cx="263347" cy="263347"/>
          </a:xfrm>
          <a:prstGeom prst="rect">
            <a:avLst/>
          </a:prstGeom>
        </p:spPr>
      </p:pic>
      <p:sp>
        <p:nvSpPr>
          <p:cNvPr id="19" name="Text 13"/>
          <p:cNvSpPr/>
          <p:nvPr/>
        </p:nvSpPr>
        <p:spPr>
          <a:xfrm>
            <a:off x="6480048" y="4791456"/>
            <a:ext cx="2590800" cy="457200"/>
          </a:xfrm>
          <a:prstGeom prst="rect">
            <a:avLst/>
          </a:prstGeom>
          <a:noFill/>
          <a:ln/>
        </p:spPr>
        <p:txBody>
          <a:bodyPr wrap="square" lIns="0" tIns="0" rIns="0" bIns="0" rtlCol="0" anchor="t"/>
          <a:lstStyle/>
          <a:p>
            <a:pPr marL="0" indent="0">
              <a:lnSpc>
                <a:spcPct val="95000"/>
              </a:lnSpc>
              <a:buNone/>
            </a:pPr>
            <a:r>
              <a:rPr lang="en-US" sz="1350" b="1" dirty="0">
                <a:solidFill>
                  <a:srgbClr val="FFFFFF"/>
                </a:solidFill>
                <a:latin typeface="Georgia" pitchFamily="34" charset="0"/>
                <a:ea typeface="Georgia" pitchFamily="34" charset="-122"/>
                <a:cs typeface="Georgia" pitchFamily="34" charset="-120"/>
              </a:rPr>
              <a:t>But validate the moat</a:t>
            </a:r>
            <a:endParaRPr lang="en-US" sz="1350" dirty="0"/>
          </a:p>
        </p:txBody>
      </p:sp>
      <p:sp>
        <p:nvSpPr>
          <p:cNvPr id="20" name="Text 14"/>
          <p:cNvSpPr/>
          <p:nvPr/>
        </p:nvSpPr>
        <p:spPr>
          <a:xfrm>
            <a:off x="6480048" y="5248656"/>
            <a:ext cx="2590800" cy="777240"/>
          </a:xfrm>
          <a:prstGeom prst="rect">
            <a:avLst/>
          </a:prstGeom>
          <a:noFill/>
          <a:ln/>
        </p:spPr>
        <p:txBody>
          <a:bodyPr wrap="square" lIns="0" tIns="0" rIns="0" bIns="0" rtlCol="0" anchor="t"/>
          <a:lstStyle/>
          <a:p>
            <a:pPr marL="0" indent="0">
              <a:lnSpc>
                <a:spcPct val="100000"/>
              </a:lnSpc>
              <a:buNone/>
            </a:pPr>
            <a:r>
              <a:rPr lang="en-US" sz="1030" dirty="0">
                <a:solidFill>
                  <a:srgbClr val="BCD2D4"/>
                </a:solidFill>
                <a:latin typeface="Calibri" pitchFamily="34" charset="0"/>
                <a:ea typeface="Calibri" pitchFamily="34" charset="-122"/>
                <a:cs typeface="Calibri" pitchFamily="34" charset="-120"/>
              </a:rPr>
              <a:t>Conviction rides on ELINA's stickiness, unit economics and a capital plan.</a:t>
            </a:r>
            <a:endParaRPr lang="en-US" sz="1030" dirty="0"/>
          </a:p>
        </p:txBody>
      </p:sp>
      <p:sp>
        <p:nvSpPr>
          <p:cNvPr id="21" name="Shape 15"/>
          <p:cNvSpPr/>
          <p:nvPr/>
        </p:nvSpPr>
        <p:spPr>
          <a:xfrm>
            <a:off x="566928" y="6144768"/>
            <a:ext cx="5120640" cy="502920"/>
          </a:xfrm>
          <a:prstGeom prst="roundRect">
            <a:avLst>
              <a:gd name="adj" fmla="val 50000"/>
            </a:avLst>
          </a:prstGeom>
          <a:solidFill>
            <a:srgbClr val="0E7C77"/>
          </a:solidFill>
          <a:ln/>
        </p:spPr>
        <p:txBody>
          <a:bodyPr/>
          <a:lstStyle/>
          <a:p>
            <a:endParaRPr lang="en-US"/>
          </a:p>
        </p:txBody>
      </p:sp>
      <p:sp>
        <p:nvSpPr>
          <p:cNvPr id="22" name="Text 16"/>
          <p:cNvSpPr/>
          <p:nvPr/>
        </p:nvSpPr>
        <p:spPr>
          <a:xfrm>
            <a:off x="566928" y="6144768"/>
            <a:ext cx="5120640" cy="502920"/>
          </a:xfrm>
          <a:prstGeom prst="rect">
            <a:avLst/>
          </a:prstGeom>
          <a:noFill/>
          <a:ln/>
        </p:spPr>
        <p:txBody>
          <a:bodyPr wrap="square" lIns="0" tIns="0" rIns="0" bIns="0" rtlCol="0" anchor="ctr"/>
          <a:lstStyle/>
          <a:p>
            <a:pPr marL="0" indent="0" algn="ctr">
              <a:buNone/>
            </a:pPr>
            <a:r>
              <a:rPr lang="en-US" sz="1050" b="1" kern="0" spc="150" dirty="0">
                <a:solidFill>
                  <a:srgbClr val="BFE6E2"/>
                </a:solidFill>
              </a:rPr>
              <a:t>VERDICT   </a:t>
            </a:r>
            <a:r>
              <a:rPr lang="en-US" sz="1200" b="1" dirty="0">
                <a:solidFill>
                  <a:srgbClr val="FFFFFF"/>
                </a:solidFill>
              </a:rPr>
              <a:t>Conditional YES — proceed to diligence</a:t>
            </a:r>
            <a:endParaRPr lang="en-US" sz="1050" dirty="0"/>
          </a:p>
        </p:txBody>
      </p:sp>
      <p:sp>
        <p:nvSpPr>
          <p:cNvPr id="23" name="Text 17"/>
          <p:cNvSpPr/>
          <p:nvPr/>
        </p:nvSpPr>
        <p:spPr>
          <a:xfrm>
            <a:off x="6035040" y="6272784"/>
            <a:ext cx="5577840" cy="274320"/>
          </a:xfrm>
          <a:prstGeom prst="rect">
            <a:avLst/>
          </a:prstGeom>
          <a:noFill/>
          <a:ln/>
        </p:spPr>
        <p:txBody>
          <a:bodyPr wrap="square" lIns="0" tIns="0" rIns="0" bIns="0" rtlCol="0" anchor="ctr"/>
          <a:lstStyle/>
          <a:p>
            <a:pPr marL="0" indent="0" algn="r">
              <a:buNone/>
            </a:pPr>
            <a:r>
              <a:rPr lang="en-US" sz="950" dirty="0">
                <a:solidFill>
                  <a:srgbClr val="7C9DA3"/>
                </a:solidFill>
              </a:rPr>
              <a:t>AmpereHour Energy  ·  Analyst Assessment, Part A  ·  June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2208</Words>
  <Application>Microsoft Office PowerPoint</Application>
  <PresentationFormat>Widescreen</PresentationFormat>
  <Paragraphs>286</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AmpereHour Energy — Investment Thesis</dc:title>
  <dc:subject>PptxGenJS Presentation</dc:subject>
  <dc:creator>Analyst Assessment</dc:creator>
  <cp:lastModifiedBy>Bhattacharya, Bodhisatwa</cp:lastModifiedBy>
  <cp:revision>2</cp:revision>
  <dcterms:created xsi:type="dcterms:W3CDTF">2026-06-08T06:34:58Z</dcterms:created>
  <dcterms:modified xsi:type="dcterms:W3CDTF">2026-06-08T14:25:34Z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5c4f4-7a29-4385-b7a5-afbe2154ae6f_Enabled">
    <vt:lpwstr>true</vt:lpwstr>
  </property>
  <property fmtid="{D5CDD505-2E9C-101B-9397-08002B2CF9AE}" pid="3" name="MSIP_Label_b0d5c4f4-7a29-4385-b7a5-afbe2154ae6f_SetDate">
    <vt:lpwstr>2026-06-08T14:25:34Z</vt:lpwstr>
  </property>
  <property fmtid="{D5CDD505-2E9C-101B-9397-08002B2CF9AE}" pid="4" name="MSIP_Label_b0d5c4f4-7a29-4385-b7a5-afbe2154ae6f_Method">
    <vt:lpwstr>Standard</vt:lpwstr>
  </property>
  <property fmtid="{D5CDD505-2E9C-101B-9397-08002B2CF9AE}" pid="5" name="MSIP_Label_b0d5c4f4-7a29-4385-b7a5-afbe2154ae6f_Name">
    <vt:lpwstr>Confidential</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ActionId">
    <vt:lpwstr>f8d4f496-2abf-4acb-b42e-75a2d2d9c9f2</vt:lpwstr>
  </property>
  <property fmtid="{D5CDD505-2E9C-101B-9397-08002B2CF9AE}" pid="8" name="MSIP_Label_b0d5c4f4-7a29-4385-b7a5-afbe2154ae6f_ContentBits">
    <vt:lpwstr>0</vt:lpwstr>
  </property>
  <property fmtid="{D5CDD505-2E9C-101B-9397-08002B2CF9AE}" pid="9" name="MSIP_Label_b0d5c4f4-7a29-4385-b7a5-afbe2154ae6f_Tag">
    <vt:lpwstr>10, 3, 0, 1</vt:lpwstr>
  </property>
</Properties>
</file>